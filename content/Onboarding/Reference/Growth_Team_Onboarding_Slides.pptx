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1675"/>
  <p:notesSz cx="6858000" cy="9144000"/>
  <p:embeddedFontLst>
    <p:embeddedFont>
      <p:font typeface="Montserra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hpYmj4qCDRT6cM8ynlDH8cAdnO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1792288" y="612775"/>
            <a:ext cx="5486400" cy="4114800"/>
          </a:xfrm>
          <a:prstGeom prst="rect">
            <a:avLst/>
          </a:prstGeom>
          <a:noFill/>
          <a:ln>
            <a:noFill/>
          </a:ln>
        </p:spPr>
      </p:sp>
      <p:sp>
        <p:nvSpPr>
          <p:cNvPr id="64" name="Google Shape;64;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83" name="Shape 83"/>
        <p:cNvGrpSpPr/>
        <p:nvPr/>
      </p:nvGrpSpPr>
      <p:grpSpPr>
        <a:xfrm>
          <a:off x="0" y="0"/>
          <a:ext cx="0" cy="0"/>
          <a:chOff x="0" y="0"/>
          <a:chExt cx="0" cy="0"/>
        </a:xfrm>
      </p:grpSpPr>
      <p:sp>
        <p:nvSpPr>
          <p:cNvPr id="84" name="Google Shape;84;p1"/>
          <p:cNvSpPr/>
          <p:nvPr/>
        </p:nvSpPr>
        <p:spPr>
          <a:xfrm>
            <a:off x="4114800" y="2560320"/>
            <a:ext cx="3931920" cy="3810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txBox="1"/>
          <p:nvPr/>
        </p:nvSpPr>
        <p:spPr>
          <a:xfrm>
            <a:off x="914400" y="109728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rgbClr val="FFFFFF"/>
                </a:solidFill>
                <a:latin typeface="Montserrat"/>
                <a:ea typeface="Montserrat"/>
                <a:cs typeface="Montserrat"/>
                <a:sym typeface="Montserrat"/>
              </a:rPr>
              <a:t>COVER WHALE</a:t>
            </a:r>
            <a:endParaRPr/>
          </a:p>
        </p:txBody>
      </p:sp>
      <p:sp>
        <p:nvSpPr>
          <p:cNvPr id="86" name="Google Shape;86;p1"/>
          <p:cNvSpPr txBox="1"/>
          <p:nvPr/>
        </p:nvSpPr>
        <p:spPr>
          <a:xfrm>
            <a:off x="914400" y="274320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7B4DB8"/>
                </a:solidFill>
                <a:latin typeface="Montserrat"/>
                <a:ea typeface="Montserrat"/>
                <a:cs typeface="Montserrat"/>
                <a:sym typeface="Montserrat"/>
              </a:rPr>
              <a:t>GROWTH TEAM</a:t>
            </a:r>
            <a:endParaRPr/>
          </a:p>
        </p:txBody>
      </p:sp>
      <p:sp>
        <p:nvSpPr>
          <p:cNvPr id="87" name="Google Shape;87;p1"/>
          <p:cNvSpPr txBox="1"/>
          <p:nvPr/>
        </p:nvSpPr>
        <p:spPr>
          <a:xfrm>
            <a:off x="914400" y="3474720"/>
            <a:ext cx="10058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FFFFFF"/>
                </a:solidFill>
                <a:latin typeface="Montserrat"/>
                <a:ea typeface="Montserrat"/>
                <a:cs typeface="Montserrat"/>
                <a:sym typeface="Montserrat"/>
              </a:rPr>
              <a:t>New Member Onboarding Overview</a:t>
            </a:r>
            <a:endParaRPr/>
          </a:p>
        </p:txBody>
      </p:sp>
      <p:sp>
        <p:nvSpPr>
          <p:cNvPr id="88" name="Google Shape;88;p1"/>
          <p:cNvSpPr txBox="1"/>
          <p:nvPr/>
        </p:nvSpPr>
        <p:spPr>
          <a:xfrm>
            <a:off x="914400" y="4754880"/>
            <a:ext cx="100584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rgbClr val="C4AEDE"/>
                </a:solidFill>
                <a:latin typeface="Montserrat"/>
                <a:ea typeface="Montserrat"/>
                <a:cs typeface="Montserrat"/>
                <a:sym typeface="Montserrat"/>
              </a:rPr>
              <a:t>3-Week Onboarding Program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2"/>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457200" y="13716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Montserrat"/>
                <a:ea typeface="Montserrat"/>
                <a:cs typeface="Montserrat"/>
                <a:sym typeface="Montserrat"/>
              </a:rPr>
              <a:t>WELCOME TO COVER WHALE, [NAME]!</a:t>
            </a:r>
            <a:endParaRPr/>
          </a:p>
        </p:txBody>
      </p:sp>
      <p:sp>
        <p:nvSpPr>
          <p:cNvPr id="95" name="Google Shape;95;p2"/>
          <p:cNvSpPr txBox="1"/>
          <p:nvPr/>
        </p:nvSpPr>
        <p:spPr>
          <a:xfrm>
            <a:off x="731520" y="118872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6B7B8D"/>
                </a:solidFill>
                <a:latin typeface="Montserrat"/>
                <a:ea typeface="Montserrat"/>
                <a:cs typeface="Montserrat"/>
                <a:sym typeface="Montserrat"/>
              </a:rPr>
              <a:t>Start Date:  [INSERT]</a:t>
            </a:r>
            <a:endParaRPr/>
          </a:p>
        </p:txBody>
      </p:sp>
      <p:sp>
        <p:nvSpPr>
          <p:cNvPr id="96" name="Google Shape;96;p2"/>
          <p:cNvSpPr txBox="1"/>
          <p:nvPr/>
        </p:nvSpPr>
        <p:spPr>
          <a:xfrm>
            <a:off x="731520" y="1737360"/>
            <a:ext cx="1051560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A1A2E"/>
                </a:solidFill>
                <a:latin typeface="Montserrat"/>
                <a:ea typeface="Montserrat"/>
                <a:cs typeface="Montserrat"/>
                <a:sym typeface="Montserrat"/>
              </a:rPr>
              <a:t>Welcome to the team! We're thrilled that you've joined a company where energy, collaboration, and purpose drive everything we do. From day one, you'll feel the momentum of a team that moves fast, supports one another, and celebrates the enthusiasm that fuels our success.</a:t>
            </a:r>
            <a:br>
              <a:rPr b="0" i="0" lang="en-US" sz="1100" u="none" cap="none" strike="noStrike">
                <a:solidFill>
                  <a:srgbClr val="1A1A2E"/>
                </a:solidFill>
                <a:latin typeface="Montserrat"/>
                <a:ea typeface="Montserrat"/>
                <a:cs typeface="Montserrat"/>
                <a:sym typeface="Montserrat"/>
              </a:rPr>
            </a:br>
            <a:br>
              <a:rPr b="0" i="0" lang="en-US" sz="1100" u="none" cap="none" strike="noStrike">
                <a:solidFill>
                  <a:srgbClr val="1A1A2E"/>
                </a:solidFill>
                <a:latin typeface="Montserrat"/>
                <a:ea typeface="Montserrat"/>
                <a:cs typeface="Montserrat"/>
                <a:sym typeface="Montserrat"/>
              </a:rPr>
            </a:br>
            <a:r>
              <a:rPr b="0" i="0" lang="en-US" sz="1100" u="none" cap="none" strike="noStrike">
                <a:solidFill>
                  <a:srgbClr val="1A1A2E"/>
                </a:solidFill>
                <a:latin typeface="Montserrat"/>
                <a:ea typeface="Montserrat"/>
                <a:cs typeface="Montserrat"/>
                <a:sym typeface="Montserrat"/>
              </a:rPr>
              <a:t>Your onboarding journey is designed not only to help you understand your role and our business but to connect you with the people and culture that make Cover Whale an extraordinary place to grow your career.</a:t>
            </a:r>
            <a:endParaRPr/>
          </a:p>
        </p:txBody>
      </p:sp>
      <p:sp>
        <p:nvSpPr>
          <p:cNvPr id="97" name="Google Shape;97;p2"/>
          <p:cNvSpPr/>
          <p:nvPr/>
        </p:nvSpPr>
        <p:spPr>
          <a:xfrm>
            <a:off x="365760" y="3657600"/>
            <a:ext cx="11430000" cy="41148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txBox="1"/>
          <p:nvPr/>
        </p:nvSpPr>
        <p:spPr>
          <a:xfrm>
            <a:off x="457200" y="3675887"/>
            <a:ext cx="112471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Montserrat"/>
                <a:ea typeface="Montserrat"/>
                <a:cs typeface="Montserrat"/>
                <a:sym typeface="Montserrat"/>
              </a:rPr>
              <a:t>THE SIX STAGES OF ONBOARDING</a:t>
            </a:r>
            <a:endParaRPr/>
          </a:p>
        </p:txBody>
      </p:sp>
      <p:sp>
        <p:nvSpPr>
          <p:cNvPr id="99" name="Google Shape;99;p2"/>
          <p:cNvSpPr/>
          <p:nvPr/>
        </p:nvSpPr>
        <p:spPr>
          <a:xfrm>
            <a:off x="457200" y="4251960"/>
            <a:ext cx="1783080" cy="1371600"/>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2"/>
          <p:cNvSpPr txBox="1"/>
          <p:nvPr/>
        </p:nvSpPr>
        <p:spPr>
          <a:xfrm>
            <a:off x="548640" y="4389120"/>
            <a:ext cx="1600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D1B4E"/>
                </a:solidFill>
                <a:latin typeface="Montserrat"/>
                <a:ea typeface="Montserrat"/>
                <a:cs typeface="Montserrat"/>
                <a:sym typeface="Montserrat"/>
              </a:rPr>
              <a:t>Preboarding</a:t>
            </a:r>
            <a:endParaRPr/>
          </a:p>
        </p:txBody>
      </p:sp>
      <p:sp>
        <p:nvSpPr>
          <p:cNvPr id="101" name="Google Shape;101;p2"/>
          <p:cNvSpPr txBox="1"/>
          <p:nvPr/>
        </p:nvSpPr>
        <p:spPr>
          <a:xfrm>
            <a:off x="548640" y="4846320"/>
            <a:ext cx="16002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6B7B8D"/>
                </a:solidFill>
                <a:latin typeface="Montserrat"/>
                <a:ea typeface="Montserrat"/>
                <a:cs typeface="Montserrat"/>
                <a:sym typeface="Montserrat"/>
              </a:rPr>
              <a:t>IT Onboarding</a:t>
            </a:r>
            <a:endParaRPr/>
          </a:p>
        </p:txBody>
      </p:sp>
      <p:sp>
        <p:nvSpPr>
          <p:cNvPr id="102" name="Google Shape;102;p2"/>
          <p:cNvSpPr txBox="1"/>
          <p:nvPr/>
        </p:nvSpPr>
        <p:spPr>
          <a:xfrm>
            <a:off x="2240280" y="4617720"/>
            <a:ext cx="182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7B4DB8"/>
                </a:solidFill>
                <a:latin typeface="Montserrat"/>
                <a:ea typeface="Montserrat"/>
                <a:cs typeface="Montserrat"/>
                <a:sym typeface="Montserrat"/>
              </a:rPr>
              <a:t>→</a:t>
            </a:r>
            <a:endParaRPr/>
          </a:p>
        </p:txBody>
      </p:sp>
      <p:sp>
        <p:nvSpPr>
          <p:cNvPr id="103" name="Google Shape;103;p2"/>
          <p:cNvSpPr/>
          <p:nvPr/>
        </p:nvSpPr>
        <p:spPr>
          <a:xfrm>
            <a:off x="2377440" y="4251960"/>
            <a:ext cx="1783080" cy="1371600"/>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2468880" y="4389120"/>
            <a:ext cx="1600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D1B4E"/>
                </a:solidFill>
                <a:latin typeface="Montserrat"/>
                <a:ea typeface="Montserrat"/>
                <a:cs typeface="Montserrat"/>
                <a:sym typeface="Montserrat"/>
              </a:rPr>
              <a:t>Day One</a:t>
            </a:r>
            <a:endParaRPr/>
          </a:p>
        </p:txBody>
      </p:sp>
      <p:sp>
        <p:nvSpPr>
          <p:cNvPr id="105" name="Google Shape;105;p2"/>
          <p:cNvSpPr txBox="1"/>
          <p:nvPr/>
        </p:nvSpPr>
        <p:spPr>
          <a:xfrm>
            <a:off x="2468880" y="4846320"/>
            <a:ext cx="16002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6B7B8D"/>
                </a:solidFill>
                <a:latin typeface="Montserrat"/>
                <a:ea typeface="Montserrat"/>
                <a:cs typeface="Montserrat"/>
                <a:sym typeface="Montserrat"/>
              </a:rPr>
              <a:t>Orientation</a:t>
            </a:r>
            <a:endParaRPr/>
          </a:p>
        </p:txBody>
      </p:sp>
      <p:sp>
        <p:nvSpPr>
          <p:cNvPr id="106" name="Google Shape;106;p2"/>
          <p:cNvSpPr txBox="1"/>
          <p:nvPr/>
        </p:nvSpPr>
        <p:spPr>
          <a:xfrm>
            <a:off x="4160520" y="4617720"/>
            <a:ext cx="182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7B4DB8"/>
                </a:solidFill>
                <a:latin typeface="Montserrat"/>
                <a:ea typeface="Montserrat"/>
                <a:cs typeface="Montserrat"/>
                <a:sym typeface="Montserrat"/>
              </a:rPr>
              <a:t>→</a:t>
            </a:r>
            <a:endParaRPr/>
          </a:p>
        </p:txBody>
      </p:sp>
      <p:sp>
        <p:nvSpPr>
          <p:cNvPr id="107" name="Google Shape;107;p2"/>
          <p:cNvSpPr/>
          <p:nvPr/>
        </p:nvSpPr>
        <p:spPr>
          <a:xfrm>
            <a:off x="4297680" y="4251960"/>
            <a:ext cx="1783080" cy="1371600"/>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txBox="1"/>
          <p:nvPr/>
        </p:nvSpPr>
        <p:spPr>
          <a:xfrm>
            <a:off x="4389120" y="4389120"/>
            <a:ext cx="1600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D1B4E"/>
                </a:solidFill>
                <a:latin typeface="Montserrat"/>
                <a:ea typeface="Montserrat"/>
                <a:cs typeface="Montserrat"/>
                <a:sym typeface="Montserrat"/>
              </a:rPr>
              <a:t>Week One</a:t>
            </a:r>
            <a:endParaRPr/>
          </a:p>
        </p:txBody>
      </p:sp>
      <p:sp>
        <p:nvSpPr>
          <p:cNvPr id="109" name="Google Shape;109;p2"/>
          <p:cNvSpPr txBox="1"/>
          <p:nvPr/>
        </p:nvSpPr>
        <p:spPr>
          <a:xfrm>
            <a:off x="4389120" y="4846320"/>
            <a:ext cx="16002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6B7B8D"/>
                </a:solidFill>
                <a:latin typeface="Montserrat"/>
                <a:ea typeface="Montserrat"/>
                <a:cs typeface="Montserrat"/>
                <a:sym typeface="Montserrat"/>
              </a:rPr>
              <a:t>Inclusion Survey</a:t>
            </a:r>
            <a:endParaRPr/>
          </a:p>
        </p:txBody>
      </p:sp>
      <p:sp>
        <p:nvSpPr>
          <p:cNvPr id="110" name="Google Shape;110;p2"/>
          <p:cNvSpPr txBox="1"/>
          <p:nvPr/>
        </p:nvSpPr>
        <p:spPr>
          <a:xfrm>
            <a:off x="6080760" y="4617720"/>
            <a:ext cx="182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7B4DB8"/>
                </a:solidFill>
                <a:latin typeface="Montserrat"/>
                <a:ea typeface="Montserrat"/>
                <a:cs typeface="Montserrat"/>
                <a:sym typeface="Montserrat"/>
              </a:rPr>
              <a:t>→</a:t>
            </a:r>
            <a:endParaRPr/>
          </a:p>
        </p:txBody>
      </p:sp>
      <p:sp>
        <p:nvSpPr>
          <p:cNvPr id="111" name="Google Shape;111;p2"/>
          <p:cNvSpPr/>
          <p:nvPr/>
        </p:nvSpPr>
        <p:spPr>
          <a:xfrm>
            <a:off x="6217920" y="4251960"/>
            <a:ext cx="1783080" cy="1371600"/>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txBox="1"/>
          <p:nvPr/>
        </p:nvSpPr>
        <p:spPr>
          <a:xfrm>
            <a:off x="6309360" y="4389120"/>
            <a:ext cx="1600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D1B4E"/>
                </a:solidFill>
                <a:latin typeface="Montserrat"/>
                <a:ea typeface="Montserrat"/>
                <a:cs typeface="Montserrat"/>
                <a:sym typeface="Montserrat"/>
              </a:rPr>
              <a:t>30-Day</a:t>
            </a:r>
            <a:endParaRPr/>
          </a:p>
        </p:txBody>
      </p:sp>
      <p:sp>
        <p:nvSpPr>
          <p:cNvPr id="113" name="Google Shape;113;p2"/>
          <p:cNvSpPr txBox="1"/>
          <p:nvPr/>
        </p:nvSpPr>
        <p:spPr>
          <a:xfrm>
            <a:off x="6309360" y="4846320"/>
            <a:ext cx="16002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6B7B8D"/>
                </a:solidFill>
                <a:latin typeface="Montserrat"/>
                <a:ea typeface="Montserrat"/>
                <a:cs typeface="Montserrat"/>
                <a:sym typeface="Montserrat"/>
              </a:rPr>
              <a:t>Learning Check-In</a:t>
            </a:r>
            <a:endParaRPr/>
          </a:p>
        </p:txBody>
      </p:sp>
      <p:sp>
        <p:nvSpPr>
          <p:cNvPr id="114" name="Google Shape;114;p2"/>
          <p:cNvSpPr txBox="1"/>
          <p:nvPr/>
        </p:nvSpPr>
        <p:spPr>
          <a:xfrm>
            <a:off x="8001000" y="4617720"/>
            <a:ext cx="182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7B4DB8"/>
                </a:solidFill>
                <a:latin typeface="Montserrat"/>
                <a:ea typeface="Montserrat"/>
                <a:cs typeface="Montserrat"/>
                <a:sym typeface="Montserrat"/>
              </a:rPr>
              <a:t>→</a:t>
            </a:r>
            <a:endParaRPr/>
          </a:p>
        </p:txBody>
      </p:sp>
      <p:sp>
        <p:nvSpPr>
          <p:cNvPr id="115" name="Google Shape;115;p2"/>
          <p:cNvSpPr/>
          <p:nvPr/>
        </p:nvSpPr>
        <p:spPr>
          <a:xfrm>
            <a:off x="8138160" y="4251960"/>
            <a:ext cx="1783080" cy="1371600"/>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txBox="1"/>
          <p:nvPr/>
        </p:nvSpPr>
        <p:spPr>
          <a:xfrm>
            <a:off x="8229600" y="4389120"/>
            <a:ext cx="1600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D1B4E"/>
                </a:solidFill>
                <a:latin typeface="Montserrat"/>
                <a:ea typeface="Montserrat"/>
                <a:cs typeface="Montserrat"/>
                <a:sym typeface="Montserrat"/>
              </a:rPr>
              <a:t>60-Day</a:t>
            </a:r>
            <a:endParaRPr/>
          </a:p>
        </p:txBody>
      </p:sp>
      <p:sp>
        <p:nvSpPr>
          <p:cNvPr id="117" name="Google Shape;117;p2"/>
          <p:cNvSpPr txBox="1"/>
          <p:nvPr/>
        </p:nvSpPr>
        <p:spPr>
          <a:xfrm>
            <a:off x="8229600" y="4846320"/>
            <a:ext cx="16002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6B7B8D"/>
                </a:solidFill>
                <a:latin typeface="Montserrat"/>
                <a:ea typeface="Montserrat"/>
                <a:cs typeface="Montserrat"/>
                <a:sym typeface="Montserrat"/>
              </a:rPr>
              <a:t>Contributing Check-In</a:t>
            </a:r>
            <a:endParaRPr/>
          </a:p>
        </p:txBody>
      </p:sp>
      <p:sp>
        <p:nvSpPr>
          <p:cNvPr id="118" name="Google Shape;118;p2"/>
          <p:cNvSpPr txBox="1"/>
          <p:nvPr/>
        </p:nvSpPr>
        <p:spPr>
          <a:xfrm>
            <a:off x="9921240" y="4617720"/>
            <a:ext cx="1828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7B4DB8"/>
                </a:solidFill>
                <a:latin typeface="Montserrat"/>
                <a:ea typeface="Montserrat"/>
                <a:cs typeface="Montserrat"/>
                <a:sym typeface="Montserrat"/>
              </a:rPr>
              <a:t>→</a:t>
            </a:r>
            <a:endParaRPr/>
          </a:p>
        </p:txBody>
      </p:sp>
      <p:sp>
        <p:nvSpPr>
          <p:cNvPr id="119" name="Google Shape;119;p2"/>
          <p:cNvSpPr/>
          <p:nvPr/>
        </p:nvSpPr>
        <p:spPr>
          <a:xfrm>
            <a:off x="10058400" y="4251960"/>
            <a:ext cx="1783080" cy="1371600"/>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2"/>
          <p:cNvSpPr txBox="1"/>
          <p:nvPr/>
        </p:nvSpPr>
        <p:spPr>
          <a:xfrm>
            <a:off x="10149840" y="4389120"/>
            <a:ext cx="1600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D1B4E"/>
                </a:solidFill>
                <a:latin typeface="Montserrat"/>
                <a:ea typeface="Montserrat"/>
                <a:cs typeface="Montserrat"/>
                <a:sym typeface="Montserrat"/>
              </a:rPr>
              <a:t>90-Day</a:t>
            </a:r>
            <a:endParaRPr/>
          </a:p>
        </p:txBody>
      </p:sp>
      <p:sp>
        <p:nvSpPr>
          <p:cNvPr id="121" name="Google Shape;121;p2"/>
          <p:cNvSpPr txBox="1"/>
          <p:nvPr/>
        </p:nvSpPr>
        <p:spPr>
          <a:xfrm>
            <a:off x="10149840" y="4846320"/>
            <a:ext cx="16002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6B7B8D"/>
                </a:solidFill>
                <a:latin typeface="Montserrat"/>
                <a:ea typeface="Montserrat"/>
                <a:cs typeface="Montserrat"/>
                <a:sym typeface="Montserrat"/>
              </a:rPr>
              <a:t>Challenging &amp; Safety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3"/>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3"/>
          <p:cNvSpPr txBox="1"/>
          <p:nvPr/>
        </p:nvSpPr>
        <p:spPr>
          <a:xfrm>
            <a:off x="457200" y="137160"/>
            <a:ext cx="9144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Montserrat"/>
                <a:ea typeface="Montserrat"/>
                <a:cs typeface="Montserrat"/>
                <a:sym typeface="Montserrat"/>
              </a:rPr>
              <a:t>PROGRAM OVERVIEW</a:t>
            </a:r>
            <a:endParaRPr/>
          </a:p>
        </p:txBody>
      </p:sp>
      <p:sp>
        <p:nvSpPr>
          <p:cNvPr id="128" name="Google Shape;128;p3"/>
          <p:cNvSpPr/>
          <p:nvPr/>
        </p:nvSpPr>
        <p:spPr>
          <a:xfrm>
            <a:off x="731520" y="1371600"/>
            <a:ext cx="1645920" cy="54864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3"/>
          <p:cNvSpPr txBox="1"/>
          <p:nvPr/>
        </p:nvSpPr>
        <p:spPr>
          <a:xfrm>
            <a:off x="822960" y="1417320"/>
            <a:ext cx="146304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FFFFFF"/>
                </a:solidFill>
                <a:latin typeface="Montserrat"/>
                <a:ea typeface="Montserrat"/>
                <a:cs typeface="Montserrat"/>
                <a:sym typeface="Montserrat"/>
              </a:rPr>
              <a:t>WEEK 1</a:t>
            </a:r>
            <a:endParaRPr/>
          </a:p>
        </p:txBody>
      </p:sp>
      <p:sp>
        <p:nvSpPr>
          <p:cNvPr id="130" name="Google Shape;130;p3"/>
          <p:cNvSpPr txBox="1"/>
          <p:nvPr/>
        </p:nvSpPr>
        <p:spPr>
          <a:xfrm>
            <a:off x="2743200" y="1371600"/>
            <a:ext cx="7315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2D1B4E"/>
                </a:solidFill>
                <a:latin typeface="Montserrat"/>
                <a:ea typeface="Montserrat"/>
                <a:cs typeface="Montserrat"/>
                <a:sym typeface="Montserrat"/>
              </a:rPr>
              <a:t>Introduction to Cover Whale &amp; The Growth Team</a:t>
            </a:r>
            <a:endParaRPr/>
          </a:p>
        </p:txBody>
      </p:sp>
      <p:sp>
        <p:nvSpPr>
          <p:cNvPr id="131" name="Google Shape;131;p3"/>
          <p:cNvSpPr txBox="1"/>
          <p:nvPr/>
        </p:nvSpPr>
        <p:spPr>
          <a:xfrm>
            <a:off x="2743200" y="1874520"/>
            <a:ext cx="7315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6B7B8D"/>
                </a:solidFill>
                <a:latin typeface="Montserrat"/>
                <a:ea typeface="Montserrat"/>
                <a:cs typeface="Montserrat"/>
                <a:sym typeface="Montserrat"/>
              </a:rPr>
              <a:t>Company foundation, culture, product knowledge, and initial tool exposure</a:t>
            </a:r>
            <a:endParaRPr/>
          </a:p>
        </p:txBody>
      </p:sp>
      <p:sp>
        <p:nvSpPr>
          <p:cNvPr id="132" name="Google Shape;132;p3"/>
          <p:cNvSpPr/>
          <p:nvPr/>
        </p:nvSpPr>
        <p:spPr>
          <a:xfrm>
            <a:off x="731520" y="2834640"/>
            <a:ext cx="10515600" cy="12700"/>
          </a:xfrm>
          <a:prstGeom prst="rect">
            <a:avLst/>
          </a:prstGeom>
          <a:solidFill>
            <a:srgbClr val="C4AE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p:nvPr/>
        </p:nvSpPr>
        <p:spPr>
          <a:xfrm>
            <a:off x="731520" y="3108960"/>
            <a:ext cx="1645920" cy="54864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3"/>
          <p:cNvSpPr txBox="1"/>
          <p:nvPr/>
        </p:nvSpPr>
        <p:spPr>
          <a:xfrm>
            <a:off x="822960" y="3154680"/>
            <a:ext cx="146304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FFFFFF"/>
                </a:solidFill>
                <a:latin typeface="Montserrat"/>
                <a:ea typeface="Montserrat"/>
                <a:cs typeface="Montserrat"/>
                <a:sym typeface="Montserrat"/>
              </a:rPr>
              <a:t>WEEK 2</a:t>
            </a:r>
            <a:endParaRPr/>
          </a:p>
        </p:txBody>
      </p:sp>
      <p:sp>
        <p:nvSpPr>
          <p:cNvPr id="135" name="Google Shape;135;p3"/>
          <p:cNvSpPr txBox="1"/>
          <p:nvPr/>
        </p:nvSpPr>
        <p:spPr>
          <a:xfrm>
            <a:off x="2743200" y="3108960"/>
            <a:ext cx="7315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3D2066"/>
                </a:solidFill>
                <a:latin typeface="Montserrat"/>
                <a:ea typeface="Montserrat"/>
                <a:cs typeface="Montserrat"/>
                <a:sym typeface="Montserrat"/>
              </a:rPr>
              <a:t>Partners, Platform &amp; Tech Stack</a:t>
            </a:r>
            <a:endParaRPr/>
          </a:p>
        </p:txBody>
      </p:sp>
      <p:sp>
        <p:nvSpPr>
          <p:cNvPr id="136" name="Google Shape;136;p3"/>
          <p:cNvSpPr txBox="1"/>
          <p:nvPr/>
        </p:nvSpPr>
        <p:spPr>
          <a:xfrm>
            <a:off x="2743200" y="3611880"/>
            <a:ext cx="7315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6B7B8D"/>
                </a:solidFill>
                <a:latin typeface="Montserrat"/>
                <a:ea typeface="Montserrat"/>
                <a:cs typeface="Montserrat"/>
                <a:sym typeface="Montserrat"/>
              </a:rPr>
              <a:t>Partner workflows, shadowing sessions, HubSpot, Metabase, and cross-functional intros</a:t>
            </a:r>
            <a:endParaRPr/>
          </a:p>
        </p:txBody>
      </p:sp>
      <p:sp>
        <p:nvSpPr>
          <p:cNvPr id="137" name="Google Shape;137;p3"/>
          <p:cNvSpPr/>
          <p:nvPr/>
        </p:nvSpPr>
        <p:spPr>
          <a:xfrm>
            <a:off x="731520" y="4572000"/>
            <a:ext cx="10515600" cy="12700"/>
          </a:xfrm>
          <a:prstGeom prst="rect">
            <a:avLst/>
          </a:prstGeom>
          <a:solidFill>
            <a:srgbClr val="C4AE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3"/>
          <p:cNvSpPr/>
          <p:nvPr/>
        </p:nvSpPr>
        <p:spPr>
          <a:xfrm>
            <a:off x="731520" y="4846320"/>
            <a:ext cx="1645920" cy="54864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3"/>
          <p:cNvSpPr txBox="1"/>
          <p:nvPr/>
        </p:nvSpPr>
        <p:spPr>
          <a:xfrm>
            <a:off x="822960" y="4892040"/>
            <a:ext cx="146304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FFFFFF"/>
                </a:solidFill>
                <a:latin typeface="Montserrat"/>
                <a:ea typeface="Montserrat"/>
                <a:cs typeface="Montserrat"/>
                <a:sym typeface="Montserrat"/>
              </a:rPr>
              <a:t>WEEK 3</a:t>
            </a:r>
            <a:endParaRPr/>
          </a:p>
        </p:txBody>
      </p:sp>
      <p:sp>
        <p:nvSpPr>
          <p:cNvPr id="140" name="Google Shape;140;p3"/>
          <p:cNvSpPr txBox="1"/>
          <p:nvPr/>
        </p:nvSpPr>
        <p:spPr>
          <a:xfrm>
            <a:off x="2743200" y="4846320"/>
            <a:ext cx="7315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5B2D8E"/>
                </a:solidFill>
                <a:latin typeface="Montserrat"/>
                <a:ea typeface="Montserrat"/>
                <a:cs typeface="Montserrat"/>
                <a:sym typeface="Montserrat"/>
              </a:rPr>
              <a:t>Application &amp; Execution</a:t>
            </a:r>
            <a:endParaRPr/>
          </a:p>
        </p:txBody>
      </p:sp>
      <p:sp>
        <p:nvSpPr>
          <p:cNvPr id="141" name="Google Shape;141;p3"/>
          <p:cNvSpPr txBox="1"/>
          <p:nvPr/>
        </p:nvSpPr>
        <p:spPr>
          <a:xfrm>
            <a:off x="2743200" y="5349240"/>
            <a:ext cx="7315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6B7B8D"/>
                </a:solidFill>
                <a:latin typeface="Montserrat"/>
                <a:ea typeface="Montserrat"/>
                <a:cs typeface="Montserrat"/>
                <a:sym typeface="Montserrat"/>
              </a:rPr>
              <a:t>Independent outreach, live partner engagement, pipeline building, and readiness assessment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145" name="Shape 145"/>
        <p:cNvGrpSpPr/>
        <p:nvPr/>
      </p:nvGrpSpPr>
      <p:grpSpPr>
        <a:xfrm>
          <a:off x="0" y="0"/>
          <a:ext cx="0" cy="0"/>
          <a:chOff x="0" y="0"/>
          <a:chExt cx="0" cy="0"/>
        </a:xfrm>
      </p:grpSpPr>
      <p:sp>
        <p:nvSpPr>
          <p:cNvPr id="146" name="Google Shape;146;p4"/>
          <p:cNvSpPr txBox="1"/>
          <p:nvPr/>
        </p:nvSpPr>
        <p:spPr>
          <a:xfrm>
            <a:off x="914400" y="137160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rgbClr val="FFFFFF"/>
                </a:solidFill>
                <a:latin typeface="Montserrat"/>
                <a:ea typeface="Montserrat"/>
                <a:cs typeface="Montserrat"/>
                <a:sym typeface="Montserrat"/>
              </a:rPr>
              <a:t>WEEK 1</a:t>
            </a:r>
            <a:endParaRPr/>
          </a:p>
        </p:txBody>
      </p:sp>
      <p:sp>
        <p:nvSpPr>
          <p:cNvPr id="147" name="Google Shape;147;p4"/>
          <p:cNvSpPr/>
          <p:nvPr/>
        </p:nvSpPr>
        <p:spPr>
          <a:xfrm>
            <a:off x="4114800" y="2560320"/>
            <a:ext cx="3931920" cy="3810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4"/>
          <p:cNvSpPr txBox="1"/>
          <p:nvPr/>
        </p:nvSpPr>
        <p:spPr>
          <a:xfrm>
            <a:off x="914400" y="2743200"/>
            <a:ext cx="10058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200" u="none" cap="none" strike="noStrike">
                <a:solidFill>
                  <a:srgbClr val="7B4DB8"/>
                </a:solidFill>
                <a:latin typeface="Montserrat"/>
                <a:ea typeface="Montserrat"/>
                <a:cs typeface="Montserrat"/>
                <a:sym typeface="Montserrat"/>
              </a:rPr>
              <a:t>Introduction to Cover Whale &amp; The Growth Team</a:t>
            </a:r>
            <a:endParaRPr/>
          </a:p>
        </p:txBody>
      </p:sp>
      <p:sp>
        <p:nvSpPr>
          <p:cNvPr id="149" name="Google Shape;149;p4"/>
          <p:cNvSpPr txBox="1"/>
          <p:nvPr/>
        </p:nvSpPr>
        <p:spPr>
          <a:xfrm>
            <a:off x="1828800" y="3840480"/>
            <a:ext cx="8229600" cy="22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C4AEDE"/>
                </a:solidFill>
                <a:latin typeface="Montserrat"/>
                <a:ea typeface="Montserrat"/>
                <a:cs typeface="Montserrat"/>
                <a:sym typeface="Montserrat"/>
              </a:rPr>
              <a:t>•  Understand Cover Whale's mission, culture, organizational structure, and product portfolio</a:t>
            </a:r>
            <a:endParaRPr/>
          </a:p>
          <a:p>
            <a:pPr indent="0" lvl="0" marL="0" marR="0" rtl="0" algn="l">
              <a:spcBef>
                <a:spcPts val="400"/>
              </a:spcBef>
              <a:spcAft>
                <a:spcPts val="0"/>
              </a:spcAft>
              <a:buNone/>
            </a:pPr>
            <a:r>
              <a:rPr b="0" i="0" lang="en-US" sz="1300" u="none" cap="none" strike="noStrike">
                <a:solidFill>
                  <a:srgbClr val="C4AEDE"/>
                </a:solidFill>
                <a:latin typeface="Montserrat"/>
                <a:ea typeface="Montserrat"/>
                <a:cs typeface="Montserrat"/>
                <a:sym typeface="Montserrat"/>
              </a:rPr>
              <a:t>•  Gain initial exposure to the platform, key personnel, and existing tools</a:t>
            </a:r>
            <a:endParaRPr/>
          </a:p>
          <a:p>
            <a:pPr indent="0" lvl="0" marL="0" marR="0" rtl="0" algn="l">
              <a:spcBef>
                <a:spcPts val="400"/>
              </a:spcBef>
              <a:spcAft>
                <a:spcPts val="0"/>
              </a:spcAft>
              <a:buNone/>
            </a:pPr>
            <a:r>
              <a:rPr b="0" i="0" lang="en-US" sz="1300" u="none" cap="none" strike="noStrike">
                <a:solidFill>
                  <a:srgbClr val="C4AEDE"/>
                </a:solidFill>
                <a:latin typeface="Montserrat"/>
                <a:ea typeface="Montserrat"/>
                <a:cs typeface="Montserrat"/>
                <a:sym typeface="Montserrat"/>
              </a:rPr>
              <a:t>•  Begin developing your elevator pitch and understanding of the Ideal Customer Profile</a:t>
            </a:r>
            <a:endParaRPr/>
          </a:p>
          <a:p>
            <a:pPr indent="0" lvl="0" marL="0" marR="0" rtl="0" algn="l">
              <a:spcBef>
                <a:spcPts val="400"/>
              </a:spcBef>
              <a:spcAft>
                <a:spcPts val="0"/>
              </a:spcAft>
              <a:buNone/>
            </a:pPr>
            <a:r>
              <a:rPr b="0" i="0" lang="en-US" sz="1300" u="none" cap="none" strike="noStrike">
                <a:solidFill>
                  <a:srgbClr val="C4AEDE"/>
                </a:solidFill>
                <a:latin typeface="Montserrat"/>
                <a:ea typeface="Montserrat"/>
                <a:cs typeface="Montserrat"/>
                <a:sym typeface="Montserrat"/>
              </a:rPr>
              <a:t>•  Complete all HR, IT, and administrative setup requirements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5"/>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5"/>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Montserrat"/>
                <a:ea typeface="Montserrat"/>
                <a:cs typeface="Montserrat"/>
                <a:sym typeface="Montserrat"/>
              </a:rPr>
              <a:t>WEEK 1  |  DAY 1</a:t>
            </a:r>
            <a:endParaRPr/>
          </a:p>
        </p:txBody>
      </p:sp>
      <p:sp>
        <p:nvSpPr>
          <p:cNvPr id="156" name="Google Shape;156;p5"/>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u="none" cap="none" strike="noStrike">
                <a:solidFill>
                  <a:srgbClr val="C4AEDE"/>
                </a:solidFill>
                <a:latin typeface="Montserrat"/>
                <a:ea typeface="Montserrat"/>
                <a:cs typeface="Montserrat"/>
                <a:sym typeface="Montserrat"/>
              </a:rPr>
              <a:t>Welcome &amp; Orientation</a:t>
            </a:r>
            <a:endParaRPr/>
          </a:p>
        </p:txBody>
      </p:sp>
      <p:sp>
        <p:nvSpPr>
          <p:cNvPr id="157" name="Google Shape;157;p5"/>
          <p:cNvSpPr/>
          <p:nvPr/>
        </p:nvSpPr>
        <p:spPr>
          <a:xfrm>
            <a:off x="274320" y="1188720"/>
            <a:ext cx="8229600" cy="41148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5"/>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Montserrat"/>
                <a:ea typeface="Montserrat"/>
                <a:cs typeface="Montserrat"/>
                <a:sym typeface="Montserrat"/>
              </a:rPr>
              <a:t>TOPIC</a:t>
            </a:r>
            <a:endParaRPr/>
          </a:p>
        </p:txBody>
      </p:sp>
      <p:sp>
        <p:nvSpPr>
          <p:cNvPr id="159" name="Google Shape;159;p5"/>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Montserrat"/>
                <a:ea typeface="Montserrat"/>
                <a:cs typeface="Montserrat"/>
                <a:sym typeface="Montserrat"/>
              </a:rPr>
              <a:t>LEAD</a:t>
            </a:r>
            <a:endParaRPr/>
          </a:p>
        </p:txBody>
      </p:sp>
      <p:sp>
        <p:nvSpPr>
          <p:cNvPr id="160" name="Google Shape;160;p5"/>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Montserrat"/>
                <a:ea typeface="Montserrat"/>
                <a:cs typeface="Montserrat"/>
                <a:sym typeface="Montserrat"/>
              </a:rPr>
              <a:t>DESCRIPTION</a:t>
            </a:r>
            <a:endParaRPr/>
          </a:p>
        </p:txBody>
      </p:sp>
      <p:sp>
        <p:nvSpPr>
          <p:cNvPr id="161" name="Google Shape;161;p5"/>
          <p:cNvSpPr/>
          <p:nvPr/>
        </p:nvSpPr>
        <p:spPr>
          <a:xfrm>
            <a:off x="274320" y="164592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5"/>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2D1B4E"/>
                </a:solidFill>
                <a:latin typeface="Montserrat"/>
                <a:ea typeface="Montserrat"/>
                <a:cs typeface="Montserrat"/>
                <a:sym typeface="Montserrat"/>
              </a:rPr>
              <a:t>IT Orientation</a:t>
            </a:r>
            <a:endParaRPr/>
          </a:p>
        </p:txBody>
      </p:sp>
      <p:sp>
        <p:nvSpPr>
          <p:cNvPr id="163" name="Google Shape;163;p5"/>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4A2D7A"/>
                </a:solidFill>
                <a:latin typeface="Montserrat"/>
                <a:ea typeface="Montserrat"/>
                <a:cs typeface="Montserrat"/>
                <a:sym typeface="Montserrat"/>
              </a:rPr>
              <a:t>Maria Latushko</a:t>
            </a:r>
            <a:endParaRPr/>
          </a:p>
          <a:p>
            <a:pPr indent="0" lvl="0" marL="0" marR="0" rtl="0" algn="l">
              <a:spcBef>
                <a:spcPts val="0"/>
              </a:spcBef>
              <a:spcAft>
                <a:spcPts val="0"/>
              </a:spcAft>
              <a:buNone/>
            </a:pPr>
            <a:r>
              <a:rPr b="0" i="1" lang="en-US" sz="700" u="none" cap="none" strike="noStrike">
                <a:solidFill>
                  <a:srgbClr val="6B7B8D"/>
                </a:solidFill>
                <a:latin typeface="Montserrat"/>
                <a:ea typeface="Montserrat"/>
                <a:cs typeface="Montserrat"/>
                <a:sym typeface="Montserrat"/>
              </a:rPr>
              <a:t>People Team</a:t>
            </a:r>
            <a:endParaRPr/>
          </a:p>
        </p:txBody>
      </p:sp>
      <p:sp>
        <p:nvSpPr>
          <p:cNvPr id="164" name="Google Shape;164;p5"/>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B8D"/>
                </a:solidFill>
                <a:latin typeface="Montserrat"/>
                <a:ea typeface="Montserrat"/>
                <a:cs typeface="Montserrat"/>
                <a:sym typeface="Montserrat"/>
              </a:rPr>
              <a:t>Technology setup, access, and credentials</a:t>
            </a:r>
            <a:endParaRPr/>
          </a:p>
        </p:txBody>
      </p:sp>
      <p:sp>
        <p:nvSpPr>
          <p:cNvPr id="165" name="Google Shape;165;p5"/>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5"/>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2D1B4E"/>
                </a:solidFill>
                <a:latin typeface="Montserrat"/>
                <a:ea typeface="Montserrat"/>
                <a:cs typeface="Montserrat"/>
                <a:sym typeface="Montserrat"/>
              </a:rPr>
              <a:t>HR Orientation</a:t>
            </a:r>
            <a:endParaRPr/>
          </a:p>
        </p:txBody>
      </p:sp>
      <p:sp>
        <p:nvSpPr>
          <p:cNvPr id="167" name="Google Shape;167;p5"/>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4A2D7A"/>
                </a:solidFill>
                <a:latin typeface="Montserrat"/>
                <a:ea typeface="Montserrat"/>
                <a:cs typeface="Montserrat"/>
                <a:sym typeface="Montserrat"/>
              </a:rPr>
              <a:t>Maria Latushko</a:t>
            </a:r>
            <a:endParaRPr/>
          </a:p>
          <a:p>
            <a:pPr indent="0" lvl="0" marL="0" marR="0" rtl="0" algn="l">
              <a:spcBef>
                <a:spcPts val="0"/>
              </a:spcBef>
              <a:spcAft>
                <a:spcPts val="0"/>
              </a:spcAft>
              <a:buNone/>
            </a:pPr>
            <a:r>
              <a:rPr b="0" i="1" lang="en-US" sz="700" u="none" cap="none" strike="noStrike">
                <a:solidFill>
                  <a:srgbClr val="6B7B8D"/>
                </a:solidFill>
                <a:latin typeface="Montserrat"/>
                <a:ea typeface="Montserrat"/>
                <a:cs typeface="Montserrat"/>
                <a:sym typeface="Montserrat"/>
              </a:rPr>
              <a:t>People Team</a:t>
            </a:r>
            <a:endParaRPr/>
          </a:p>
        </p:txBody>
      </p:sp>
      <p:sp>
        <p:nvSpPr>
          <p:cNvPr id="168" name="Google Shape;168;p5"/>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B8D"/>
                </a:solidFill>
                <a:latin typeface="Montserrat"/>
                <a:ea typeface="Montserrat"/>
                <a:cs typeface="Montserrat"/>
                <a:sym typeface="Montserrat"/>
              </a:rPr>
              <a:t>Benefits, PTO, The Harbor, Slack, I-9</a:t>
            </a:r>
            <a:endParaRPr/>
          </a:p>
        </p:txBody>
      </p:sp>
      <p:sp>
        <p:nvSpPr>
          <p:cNvPr id="169" name="Google Shape;169;p5"/>
          <p:cNvSpPr/>
          <p:nvPr/>
        </p:nvSpPr>
        <p:spPr>
          <a:xfrm>
            <a:off x="274320" y="265176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5"/>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2D1B4E"/>
                </a:solidFill>
                <a:latin typeface="Montserrat"/>
                <a:ea typeface="Montserrat"/>
                <a:cs typeface="Montserrat"/>
                <a:sym typeface="Montserrat"/>
              </a:rPr>
              <a:t>Culture Overview</a:t>
            </a:r>
            <a:endParaRPr/>
          </a:p>
        </p:txBody>
      </p:sp>
      <p:sp>
        <p:nvSpPr>
          <p:cNvPr id="171" name="Google Shape;171;p5"/>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4A2D7A"/>
                </a:solidFill>
                <a:latin typeface="Montserrat"/>
                <a:ea typeface="Montserrat"/>
                <a:cs typeface="Montserrat"/>
                <a:sym typeface="Montserrat"/>
              </a:rPr>
              <a:t>April Squillante</a:t>
            </a:r>
            <a:endParaRPr/>
          </a:p>
          <a:p>
            <a:pPr indent="0" lvl="0" marL="0" marR="0" rtl="0" algn="l">
              <a:spcBef>
                <a:spcPts val="0"/>
              </a:spcBef>
              <a:spcAft>
                <a:spcPts val="0"/>
              </a:spcAft>
              <a:buNone/>
            </a:pPr>
            <a:r>
              <a:rPr b="0" i="1" lang="en-US" sz="700" u="none" cap="none" strike="noStrike">
                <a:solidFill>
                  <a:srgbClr val="6B7B8D"/>
                </a:solidFill>
                <a:latin typeface="Montserrat"/>
                <a:ea typeface="Montserrat"/>
                <a:cs typeface="Montserrat"/>
                <a:sym typeface="Montserrat"/>
              </a:rPr>
              <a:t>VP of Human Resources</a:t>
            </a:r>
            <a:endParaRPr/>
          </a:p>
        </p:txBody>
      </p:sp>
      <p:sp>
        <p:nvSpPr>
          <p:cNvPr id="172" name="Google Shape;172;p5"/>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B8D"/>
                </a:solidFill>
                <a:latin typeface="Montserrat"/>
                <a:ea typeface="Montserrat"/>
                <a:cs typeface="Montserrat"/>
                <a:sym typeface="Montserrat"/>
              </a:rPr>
              <a:t>Mission, vision, core values, and history</a:t>
            </a:r>
            <a:endParaRPr/>
          </a:p>
        </p:txBody>
      </p:sp>
      <p:sp>
        <p:nvSpPr>
          <p:cNvPr id="173" name="Google Shape;173;p5"/>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5"/>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2D1B4E"/>
                </a:solidFill>
                <a:latin typeface="Montserrat"/>
                <a:ea typeface="Montserrat"/>
                <a:cs typeface="Montserrat"/>
                <a:sym typeface="Montserrat"/>
              </a:rPr>
              <a:t>Lunch Break</a:t>
            </a:r>
            <a:endParaRPr/>
          </a:p>
        </p:txBody>
      </p:sp>
      <p:sp>
        <p:nvSpPr>
          <p:cNvPr id="175" name="Google Shape;175;p5"/>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4A2D7A"/>
                </a:solidFill>
                <a:latin typeface="Montserrat"/>
                <a:ea typeface="Montserrat"/>
                <a:cs typeface="Montserrat"/>
                <a:sym typeface="Montserrat"/>
              </a:rPr>
              <a:t>—</a:t>
            </a:r>
            <a:endParaRPr/>
          </a:p>
        </p:txBody>
      </p:sp>
      <p:sp>
        <p:nvSpPr>
          <p:cNvPr id="176" name="Google Shape;176;p5"/>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177" name="Google Shape;177;p5"/>
          <p:cNvSpPr/>
          <p:nvPr/>
        </p:nvSpPr>
        <p:spPr>
          <a:xfrm>
            <a:off x="274320" y="365760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5"/>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Manager Welcome</a:t>
            </a:r>
            <a:endParaRPr/>
          </a:p>
        </p:txBody>
      </p:sp>
      <p:sp>
        <p:nvSpPr>
          <p:cNvPr id="179" name="Google Shape;179;p5"/>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Individual Manager</a:t>
            </a:r>
            <a:endParaRPr/>
          </a:p>
        </p:txBody>
      </p:sp>
      <p:sp>
        <p:nvSpPr>
          <p:cNvPr id="180" name="Google Shape;180;p5"/>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Role expectations, team dynamics, 90-day goals</a:t>
            </a:r>
            <a:endParaRPr/>
          </a:p>
        </p:txBody>
      </p:sp>
      <p:sp>
        <p:nvSpPr>
          <p:cNvPr id="181" name="Google Shape;181;p5"/>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5"/>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Onboarding Roadmap</a:t>
            </a:r>
            <a:endParaRPr/>
          </a:p>
        </p:txBody>
      </p:sp>
      <p:sp>
        <p:nvSpPr>
          <p:cNvPr id="183" name="Google Shape;183;p5"/>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184" name="Google Shape;184;p5"/>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Growth Team structure and org chart</a:t>
            </a:r>
            <a:endParaRPr/>
          </a:p>
        </p:txBody>
      </p:sp>
      <p:sp>
        <p:nvSpPr>
          <p:cNvPr id="185" name="Google Shape;185;p5"/>
          <p:cNvSpPr/>
          <p:nvPr/>
        </p:nvSpPr>
        <p:spPr>
          <a:xfrm>
            <a:off x="274320" y="466344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5"/>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KnowBe4 Cyber Security Training</a:t>
            </a:r>
            <a:endParaRPr/>
          </a:p>
        </p:txBody>
      </p:sp>
      <p:sp>
        <p:nvSpPr>
          <p:cNvPr id="187" name="Google Shape;187;p5"/>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Self</a:t>
            </a:r>
            <a:endParaRPr/>
          </a:p>
        </p:txBody>
      </p:sp>
      <p:sp>
        <p:nvSpPr>
          <p:cNvPr id="188" name="Google Shape;188;p5"/>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Cyber security awareness — phishing, data protection</a:t>
            </a:r>
            <a:endParaRPr/>
          </a:p>
        </p:txBody>
      </p:sp>
      <p:sp>
        <p:nvSpPr>
          <p:cNvPr id="189" name="Google Shape;189;p5"/>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5"/>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Self-Study</a:t>
            </a:r>
            <a:endParaRPr/>
          </a:p>
        </p:txBody>
      </p:sp>
      <p:sp>
        <p:nvSpPr>
          <p:cNvPr id="191" name="Google Shape;191;p5"/>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Self</a:t>
            </a:r>
            <a:endParaRPr/>
          </a:p>
        </p:txBody>
      </p:sp>
      <p:sp>
        <p:nvSpPr>
          <p:cNvPr id="192" name="Google Shape;192;p5"/>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193" name="Google Shape;193;p5"/>
          <p:cNvSpPr/>
          <p:nvPr/>
        </p:nvSpPr>
        <p:spPr>
          <a:xfrm>
            <a:off x="274320" y="566928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5"/>
          <p:cNvSpPr txBox="1"/>
          <p:nvPr/>
        </p:nvSpPr>
        <p:spPr>
          <a:xfrm>
            <a:off x="365760" y="57150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Intro to Growth Team</a:t>
            </a:r>
            <a:endParaRPr/>
          </a:p>
        </p:txBody>
      </p:sp>
      <p:sp>
        <p:nvSpPr>
          <p:cNvPr id="195" name="Google Shape;195;p5"/>
          <p:cNvSpPr txBox="1"/>
          <p:nvPr/>
        </p:nvSpPr>
        <p:spPr>
          <a:xfrm>
            <a:off x="2651760" y="56875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196" name="Google Shape;196;p5"/>
          <p:cNvSpPr txBox="1"/>
          <p:nvPr/>
        </p:nvSpPr>
        <p:spPr>
          <a:xfrm>
            <a:off x="4846320" y="57150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Team structure, roles, goals, and operations</a:t>
            </a:r>
            <a:endParaRPr/>
          </a:p>
        </p:txBody>
      </p:sp>
      <p:sp>
        <p:nvSpPr>
          <p:cNvPr id="197" name="Google Shape;197;p5"/>
          <p:cNvSpPr/>
          <p:nvPr/>
        </p:nvSpPr>
        <p:spPr>
          <a:xfrm>
            <a:off x="8778240" y="1188720"/>
            <a:ext cx="3200400" cy="41148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5"/>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199" name="Google Shape;199;p5"/>
          <p:cNvSpPr/>
          <p:nvPr/>
        </p:nvSpPr>
        <p:spPr>
          <a:xfrm>
            <a:off x="8778240" y="1600200"/>
            <a:ext cx="3200400" cy="2194560"/>
          </a:xfrm>
          <a:prstGeom prst="rect">
            <a:avLst/>
          </a:prstGeom>
          <a:solidFill>
            <a:srgbClr val="F6F2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5"/>
          <p:cNvSpPr txBox="1"/>
          <p:nvPr/>
        </p:nvSpPr>
        <p:spPr>
          <a:xfrm>
            <a:off x="8961120" y="1691640"/>
            <a:ext cx="2834640" cy="21945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Complete all HR and administrative tasks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Complete KnowBe4 Cyber Security Training</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Join Slack channels (growth-team, sales-wins)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Subscribe to team members' calendars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Create email signature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6"/>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6"/>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1  |  DAY 2</a:t>
            </a:r>
            <a:endParaRPr/>
          </a:p>
        </p:txBody>
      </p:sp>
      <p:sp>
        <p:nvSpPr>
          <p:cNvPr id="207" name="Google Shape;207;p6"/>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C4AEDE"/>
                </a:solidFill>
                <a:latin typeface="Montserrat"/>
                <a:ea typeface="Montserrat"/>
                <a:cs typeface="Montserrat"/>
                <a:sym typeface="Montserrat"/>
              </a:rPr>
              <a:t>Company Deep-Dive &amp; Team Intros</a:t>
            </a:r>
            <a:endParaRPr/>
          </a:p>
        </p:txBody>
      </p:sp>
      <p:sp>
        <p:nvSpPr>
          <p:cNvPr id="208" name="Google Shape;208;p6"/>
          <p:cNvSpPr/>
          <p:nvPr/>
        </p:nvSpPr>
        <p:spPr>
          <a:xfrm>
            <a:off x="274320" y="1188720"/>
            <a:ext cx="8229600" cy="41148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6"/>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210" name="Google Shape;210;p6"/>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211" name="Google Shape;211;p6"/>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212" name="Google Shape;212;p6"/>
          <p:cNvSpPr/>
          <p:nvPr/>
        </p:nvSpPr>
        <p:spPr>
          <a:xfrm>
            <a:off x="274320" y="164592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6"/>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Retail Daily Stand Up</a:t>
            </a:r>
            <a:endParaRPr/>
          </a:p>
        </p:txBody>
      </p:sp>
      <p:sp>
        <p:nvSpPr>
          <p:cNvPr id="214" name="Google Shape;214;p6"/>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215" name="Google Shape;215;p6"/>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Daily team stand-up (recurring Days 2–5)</a:t>
            </a:r>
            <a:endParaRPr/>
          </a:p>
        </p:txBody>
      </p:sp>
      <p:sp>
        <p:nvSpPr>
          <p:cNvPr id="216" name="Google Shape;216;p6"/>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6"/>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Who is Cover Whale?</a:t>
            </a:r>
            <a:endParaRPr/>
          </a:p>
        </p:txBody>
      </p:sp>
      <p:sp>
        <p:nvSpPr>
          <p:cNvPr id="218" name="Google Shape;218;p6"/>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219" name="Google Shape;219;p6"/>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History, mission, market position, value prop</a:t>
            </a:r>
            <a:endParaRPr/>
          </a:p>
        </p:txBody>
      </p:sp>
      <p:sp>
        <p:nvSpPr>
          <p:cNvPr id="220" name="Google Shape;220;p6"/>
          <p:cNvSpPr/>
          <p:nvPr/>
        </p:nvSpPr>
        <p:spPr>
          <a:xfrm>
            <a:off x="274320" y="265176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6"/>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ICP / Agent Personas</a:t>
            </a:r>
            <a:endParaRPr/>
          </a:p>
        </p:txBody>
      </p:sp>
      <p:sp>
        <p:nvSpPr>
          <p:cNvPr id="222" name="Google Shape;222;p6"/>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223" name="Google Shape;223;p6"/>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Ideal Customer Profile deep-dive</a:t>
            </a:r>
            <a:endParaRPr/>
          </a:p>
        </p:txBody>
      </p:sp>
      <p:sp>
        <p:nvSpPr>
          <p:cNvPr id="224" name="Google Shape;224;p6"/>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6"/>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Lunch Break</a:t>
            </a:r>
            <a:endParaRPr/>
          </a:p>
        </p:txBody>
      </p:sp>
      <p:sp>
        <p:nvSpPr>
          <p:cNvPr id="226" name="Google Shape;226;p6"/>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a:t>
            </a:r>
            <a:endParaRPr/>
          </a:p>
        </p:txBody>
      </p:sp>
      <p:sp>
        <p:nvSpPr>
          <p:cNvPr id="227" name="Google Shape;227;p6"/>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228" name="Google Shape;228;p6"/>
          <p:cNvSpPr/>
          <p:nvPr/>
        </p:nvSpPr>
        <p:spPr>
          <a:xfrm>
            <a:off x="274320" y="365760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6"/>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Cory Arnette: Growth &amp; Distribution Strategy</a:t>
            </a:r>
            <a:endParaRPr/>
          </a:p>
        </p:txBody>
      </p:sp>
      <p:sp>
        <p:nvSpPr>
          <p:cNvPr id="230" name="Google Shape;230;p6"/>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Cory Arnette</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Growth and Distribution Strategy</a:t>
            </a:r>
            <a:endParaRPr/>
          </a:p>
        </p:txBody>
      </p:sp>
      <p:sp>
        <p:nvSpPr>
          <p:cNvPr id="231" name="Google Shape;231;p6"/>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Team introduction — role overview</a:t>
            </a:r>
            <a:endParaRPr/>
          </a:p>
        </p:txBody>
      </p:sp>
      <p:sp>
        <p:nvSpPr>
          <p:cNvPr id="232" name="Google Shape;232;p6"/>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6"/>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Kevin McKernan: Fleet Sales VP</a:t>
            </a:r>
            <a:endParaRPr/>
          </a:p>
        </p:txBody>
      </p:sp>
      <p:sp>
        <p:nvSpPr>
          <p:cNvPr id="234" name="Google Shape;234;p6"/>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Kevin McKernan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VP, Fleet Sales</a:t>
            </a:r>
            <a:endParaRPr/>
          </a:p>
        </p:txBody>
      </p:sp>
      <p:sp>
        <p:nvSpPr>
          <p:cNvPr id="235" name="Google Shape;235;p6"/>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Team introduction — role overview</a:t>
            </a:r>
            <a:endParaRPr/>
          </a:p>
        </p:txBody>
      </p:sp>
      <p:sp>
        <p:nvSpPr>
          <p:cNvPr id="236" name="Google Shape;236;p6"/>
          <p:cNvSpPr/>
          <p:nvPr/>
        </p:nvSpPr>
        <p:spPr>
          <a:xfrm>
            <a:off x="274320" y="466344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6"/>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Self-Study</a:t>
            </a:r>
            <a:endParaRPr/>
          </a:p>
        </p:txBody>
      </p:sp>
      <p:sp>
        <p:nvSpPr>
          <p:cNvPr id="238" name="Google Shape;238;p6"/>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Self</a:t>
            </a:r>
            <a:endParaRPr/>
          </a:p>
        </p:txBody>
      </p:sp>
      <p:sp>
        <p:nvSpPr>
          <p:cNvPr id="239" name="Google Shape;239;p6"/>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240" name="Google Shape;240;p6"/>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6"/>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Agent Resource Center</a:t>
            </a:r>
            <a:endParaRPr/>
          </a:p>
        </p:txBody>
      </p:sp>
      <p:sp>
        <p:nvSpPr>
          <p:cNvPr id="242" name="Google Shape;242;p6"/>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243" name="Google Shape;243;p6"/>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Products, coverages, key sales resources</a:t>
            </a:r>
            <a:endParaRPr/>
          </a:p>
        </p:txBody>
      </p:sp>
      <p:sp>
        <p:nvSpPr>
          <p:cNvPr id="244" name="Google Shape;244;p6"/>
          <p:cNvSpPr/>
          <p:nvPr/>
        </p:nvSpPr>
        <p:spPr>
          <a:xfrm>
            <a:off x="8778240" y="1188720"/>
            <a:ext cx="3200400" cy="41148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6"/>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246" name="Google Shape;246;p6"/>
          <p:cNvSpPr/>
          <p:nvPr/>
        </p:nvSpPr>
        <p:spPr>
          <a:xfrm>
            <a:off x="8778240" y="1600200"/>
            <a:ext cx="3200400" cy="1810512"/>
          </a:xfrm>
          <a:prstGeom prst="rect">
            <a:avLst/>
          </a:prstGeom>
          <a:solidFill>
            <a:srgbClr val="F6F2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6"/>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Study Agent Resource Center — Coverage Options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Follow Cover Whale on LinkedIn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Connect with all team members on LinkedIn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Begin drafting your elevator pitch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7"/>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7"/>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1  |  DAY 3</a:t>
            </a:r>
            <a:endParaRPr/>
          </a:p>
        </p:txBody>
      </p:sp>
      <p:sp>
        <p:nvSpPr>
          <p:cNvPr id="254" name="Google Shape;254;p7"/>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C4AEDE"/>
                </a:solidFill>
                <a:latin typeface="Montserrat"/>
                <a:ea typeface="Montserrat"/>
                <a:cs typeface="Montserrat"/>
                <a:sym typeface="Montserrat"/>
              </a:rPr>
              <a:t>Platform Demos &amp; HubSpot Foundations</a:t>
            </a:r>
            <a:endParaRPr/>
          </a:p>
        </p:txBody>
      </p:sp>
      <p:sp>
        <p:nvSpPr>
          <p:cNvPr id="255" name="Google Shape;255;p7"/>
          <p:cNvSpPr/>
          <p:nvPr/>
        </p:nvSpPr>
        <p:spPr>
          <a:xfrm>
            <a:off x="274320" y="1188720"/>
            <a:ext cx="8229600" cy="41148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7"/>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257" name="Google Shape;257;p7"/>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258" name="Google Shape;258;p7"/>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259" name="Google Shape;259;p7"/>
          <p:cNvSpPr/>
          <p:nvPr/>
        </p:nvSpPr>
        <p:spPr>
          <a:xfrm>
            <a:off x="274320" y="164592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7"/>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Platform Overview</a:t>
            </a:r>
            <a:endParaRPr/>
          </a:p>
        </p:txBody>
      </p:sp>
      <p:sp>
        <p:nvSpPr>
          <p:cNvPr id="261" name="Google Shape;261;p7"/>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Tamera Pfeiffer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Agency Success Lead</a:t>
            </a:r>
            <a:endParaRPr/>
          </a:p>
        </p:txBody>
      </p:sp>
      <p:sp>
        <p:nvSpPr>
          <p:cNvPr id="262" name="Google Shape;262;p7"/>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Product overview and agent-facing tools</a:t>
            </a:r>
            <a:endParaRPr/>
          </a:p>
        </p:txBody>
      </p:sp>
      <p:sp>
        <p:nvSpPr>
          <p:cNvPr id="263" name="Google Shape;263;p7"/>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7"/>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Ian Abrahamsen: CRM &amp; Marketing Operations</a:t>
            </a:r>
            <a:endParaRPr/>
          </a:p>
        </p:txBody>
      </p:sp>
      <p:sp>
        <p:nvSpPr>
          <p:cNvPr id="265" name="Google Shape;265;p7"/>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Ian Abrahamsen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CRM and Marketing Operations Specialist</a:t>
            </a:r>
            <a:endParaRPr/>
          </a:p>
        </p:txBody>
      </p:sp>
      <p:sp>
        <p:nvSpPr>
          <p:cNvPr id="266" name="Google Shape;266;p7"/>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HubSpot fundamentals — contacts, companies, deals</a:t>
            </a:r>
            <a:endParaRPr/>
          </a:p>
        </p:txBody>
      </p:sp>
      <p:sp>
        <p:nvSpPr>
          <p:cNvPr id="267" name="Google Shape;267;p7"/>
          <p:cNvSpPr/>
          <p:nvPr/>
        </p:nvSpPr>
        <p:spPr>
          <a:xfrm>
            <a:off x="274320" y="265176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7"/>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James Reid: Networks Distribution</a:t>
            </a:r>
            <a:endParaRPr/>
          </a:p>
        </p:txBody>
      </p:sp>
      <p:sp>
        <p:nvSpPr>
          <p:cNvPr id="269" name="Google Shape;269;p7"/>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James Reid</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Networks Distribution Leader</a:t>
            </a:r>
            <a:endParaRPr/>
          </a:p>
        </p:txBody>
      </p:sp>
      <p:sp>
        <p:nvSpPr>
          <p:cNvPr id="270" name="Google Shape;270;p7"/>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Team introduction — role overview</a:t>
            </a:r>
            <a:endParaRPr/>
          </a:p>
        </p:txBody>
      </p:sp>
      <p:sp>
        <p:nvSpPr>
          <p:cNvPr id="271" name="Google Shape;271;p7"/>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7"/>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Lunch Break</a:t>
            </a:r>
            <a:endParaRPr/>
          </a:p>
        </p:txBody>
      </p:sp>
      <p:sp>
        <p:nvSpPr>
          <p:cNvPr id="273" name="Google Shape;273;p7"/>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a:t>
            </a:r>
            <a:endParaRPr/>
          </a:p>
        </p:txBody>
      </p:sp>
      <p:sp>
        <p:nvSpPr>
          <p:cNvPr id="274" name="Google Shape;274;p7"/>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275" name="Google Shape;275;p7"/>
          <p:cNvSpPr/>
          <p:nvPr/>
        </p:nvSpPr>
        <p:spPr>
          <a:xfrm>
            <a:off x="274320" y="365760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7"/>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Pat Flood: Growth Marketing &amp; Partnerships Strategy</a:t>
            </a:r>
            <a:endParaRPr/>
          </a:p>
        </p:txBody>
      </p:sp>
      <p:sp>
        <p:nvSpPr>
          <p:cNvPr id="277" name="Google Shape;277;p7"/>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Pat Flood</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Growth Marketing &amp; Partnerships Strategy Manager</a:t>
            </a:r>
            <a:endParaRPr/>
          </a:p>
        </p:txBody>
      </p:sp>
      <p:sp>
        <p:nvSpPr>
          <p:cNvPr id="278" name="Google Shape;278;p7"/>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Campaigns, brand guidelines, agent content</a:t>
            </a:r>
            <a:endParaRPr/>
          </a:p>
        </p:txBody>
      </p:sp>
      <p:sp>
        <p:nvSpPr>
          <p:cNvPr id="279" name="Google Shape;279;p7"/>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7"/>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Elevator Pitch Intro</a:t>
            </a:r>
            <a:endParaRPr/>
          </a:p>
        </p:txBody>
      </p:sp>
      <p:sp>
        <p:nvSpPr>
          <p:cNvPr id="281" name="Google Shape;281;p7"/>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282" name="Google Shape;282;p7"/>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Craft your Cover Whale pitch — 60-second version</a:t>
            </a:r>
            <a:endParaRPr/>
          </a:p>
        </p:txBody>
      </p:sp>
      <p:sp>
        <p:nvSpPr>
          <p:cNvPr id="283" name="Google Shape;283;p7"/>
          <p:cNvSpPr/>
          <p:nvPr/>
        </p:nvSpPr>
        <p:spPr>
          <a:xfrm>
            <a:off x="274320" y="466344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7"/>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Self-Study</a:t>
            </a:r>
            <a:endParaRPr/>
          </a:p>
        </p:txBody>
      </p:sp>
      <p:sp>
        <p:nvSpPr>
          <p:cNvPr id="285" name="Google Shape;285;p7"/>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Self</a:t>
            </a:r>
            <a:endParaRPr/>
          </a:p>
        </p:txBody>
      </p:sp>
      <p:sp>
        <p:nvSpPr>
          <p:cNvPr id="286" name="Google Shape;286;p7"/>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287" name="Google Shape;287;p7"/>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7"/>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Mid-Week Check-In</a:t>
            </a:r>
            <a:endParaRPr/>
          </a:p>
        </p:txBody>
      </p:sp>
      <p:sp>
        <p:nvSpPr>
          <p:cNvPr id="289" name="Google Shape;289;p7"/>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Individual Manager</a:t>
            </a:r>
            <a:endParaRPr/>
          </a:p>
        </p:txBody>
      </p:sp>
      <p:sp>
        <p:nvSpPr>
          <p:cNvPr id="290" name="Google Shape;290;p7"/>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Informal manager touchpoint — progress check, questions, and support</a:t>
            </a:r>
            <a:endParaRPr/>
          </a:p>
        </p:txBody>
      </p:sp>
      <p:sp>
        <p:nvSpPr>
          <p:cNvPr id="291" name="Google Shape;291;p7"/>
          <p:cNvSpPr/>
          <p:nvPr/>
        </p:nvSpPr>
        <p:spPr>
          <a:xfrm>
            <a:off x="8778240" y="1188720"/>
            <a:ext cx="3200400" cy="41148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7"/>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293" name="Google Shape;293;p7"/>
          <p:cNvSpPr/>
          <p:nvPr/>
        </p:nvSpPr>
        <p:spPr>
          <a:xfrm>
            <a:off x="8778240" y="1600200"/>
            <a:ext cx="3200400" cy="1426464"/>
          </a:xfrm>
          <a:prstGeom prst="rect">
            <a:avLst/>
          </a:prstGeom>
          <a:solidFill>
            <a:srgbClr val="F6F2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7"/>
          <p:cNvSpPr txBox="1"/>
          <p:nvPr/>
        </p:nvSpPr>
        <p:spPr>
          <a:xfrm>
            <a:off x="8961120" y="1691640"/>
            <a:ext cx="28346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Complete HubSpot Academy intro modules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Finalize elevator pitch — practice delivery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Review marketing materials and sell sheets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8"/>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8"/>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1  |  DAY 4</a:t>
            </a:r>
            <a:endParaRPr/>
          </a:p>
        </p:txBody>
      </p:sp>
      <p:sp>
        <p:nvSpPr>
          <p:cNvPr id="301" name="Google Shape;301;p8"/>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C4AEDE"/>
                </a:solidFill>
                <a:latin typeface="Montserrat"/>
                <a:ea typeface="Montserrat"/>
                <a:cs typeface="Montserrat"/>
                <a:sym typeface="Montserrat"/>
              </a:rPr>
              <a:t>Product Deep Dive &amp; Competitive Landscape</a:t>
            </a:r>
            <a:endParaRPr/>
          </a:p>
        </p:txBody>
      </p:sp>
      <p:sp>
        <p:nvSpPr>
          <p:cNvPr id="302" name="Google Shape;302;p8"/>
          <p:cNvSpPr/>
          <p:nvPr/>
        </p:nvSpPr>
        <p:spPr>
          <a:xfrm>
            <a:off x="274320" y="1188720"/>
            <a:ext cx="8229600" cy="41148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8"/>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304" name="Google Shape;304;p8"/>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305" name="Google Shape;305;p8"/>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306" name="Google Shape;306;p8"/>
          <p:cNvSpPr/>
          <p:nvPr/>
        </p:nvSpPr>
        <p:spPr>
          <a:xfrm>
            <a:off x="274320" y="164592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8"/>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Coverage Deep Dive</a:t>
            </a:r>
            <a:endParaRPr/>
          </a:p>
        </p:txBody>
      </p:sp>
      <p:sp>
        <p:nvSpPr>
          <p:cNvPr id="308" name="Google Shape;308;p8"/>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309" name="Google Shape;309;p8"/>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Coverage types, appetite, pricing, state availability</a:t>
            </a:r>
            <a:endParaRPr/>
          </a:p>
        </p:txBody>
      </p:sp>
      <p:sp>
        <p:nvSpPr>
          <p:cNvPr id="310" name="Google Shape;310;p8"/>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Competitors</a:t>
            </a:r>
            <a:endParaRPr/>
          </a:p>
        </p:txBody>
      </p:sp>
      <p:sp>
        <p:nvSpPr>
          <p:cNvPr id="312" name="Google Shape;312;p8"/>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Kevin McKernan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VP, Fleet Sales</a:t>
            </a:r>
            <a:endParaRPr/>
          </a:p>
        </p:txBody>
      </p:sp>
      <p:sp>
        <p:nvSpPr>
          <p:cNvPr id="313" name="Google Shape;313;p8"/>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Key competitors, differentiators, CW advantages</a:t>
            </a:r>
            <a:endParaRPr/>
          </a:p>
        </p:txBody>
      </p:sp>
      <p:sp>
        <p:nvSpPr>
          <p:cNvPr id="314" name="Google Shape;314;p8"/>
          <p:cNvSpPr/>
          <p:nvPr/>
        </p:nvSpPr>
        <p:spPr>
          <a:xfrm>
            <a:off x="274320" y="265176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8"/>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Lunch Break</a:t>
            </a:r>
            <a:endParaRPr/>
          </a:p>
        </p:txBody>
      </p:sp>
      <p:sp>
        <p:nvSpPr>
          <p:cNvPr id="316" name="Google Shape;316;p8"/>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a:t>
            </a:r>
            <a:endParaRPr/>
          </a:p>
        </p:txBody>
      </p:sp>
      <p:sp>
        <p:nvSpPr>
          <p:cNvPr id="317" name="Google Shape;317;p8"/>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318" name="Google Shape;318;p8"/>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8"/>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Elevator Pitch Delivery</a:t>
            </a:r>
            <a:endParaRPr/>
          </a:p>
        </p:txBody>
      </p:sp>
      <p:sp>
        <p:nvSpPr>
          <p:cNvPr id="320" name="Google Shape;320;p8"/>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321" name="Google Shape;321;p8"/>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Pitch workshop — peer practice with feedback</a:t>
            </a:r>
            <a:endParaRPr/>
          </a:p>
        </p:txBody>
      </p:sp>
      <p:sp>
        <p:nvSpPr>
          <p:cNvPr id="322" name="Google Shape;322;p8"/>
          <p:cNvSpPr/>
          <p:nvPr/>
        </p:nvSpPr>
        <p:spPr>
          <a:xfrm>
            <a:off x="274320" y="365760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8"/>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Self-Study</a:t>
            </a:r>
            <a:endParaRPr/>
          </a:p>
        </p:txBody>
      </p:sp>
      <p:sp>
        <p:nvSpPr>
          <p:cNvPr id="324" name="Google Shape;324;p8"/>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Self</a:t>
            </a:r>
            <a:endParaRPr/>
          </a:p>
        </p:txBody>
      </p:sp>
      <p:sp>
        <p:nvSpPr>
          <p:cNvPr id="325" name="Google Shape;325;p8"/>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326" name="Google Shape;326;p8"/>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8"/>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SAFER SNAP/BASIC</a:t>
            </a:r>
            <a:endParaRPr/>
          </a:p>
        </p:txBody>
      </p:sp>
      <p:sp>
        <p:nvSpPr>
          <p:cNvPr id="328" name="Google Shape;328;p8"/>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329" name="Google Shape;329;p8"/>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SAFER system — SNAP/BASIC report interpretation</a:t>
            </a:r>
            <a:endParaRPr/>
          </a:p>
        </p:txBody>
      </p:sp>
      <p:sp>
        <p:nvSpPr>
          <p:cNvPr id="330" name="Google Shape;330;p8"/>
          <p:cNvSpPr/>
          <p:nvPr/>
        </p:nvSpPr>
        <p:spPr>
          <a:xfrm>
            <a:off x="8778240" y="1188720"/>
            <a:ext cx="3200400" cy="41148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8"/>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332" name="Google Shape;332;p8"/>
          <p:cNvSpPr/>
          <p:nvPr/>
        </p:nvSpPr>
        <p:spPr>
          <a:xfrm>
            <a:off x="8778240" y="1600200"/>
            <a:ext cx="3200400" cy="1810512"/>
          </a:xfrm>
          <a:prstGeom prst="rect">
            <a:avLst/>
          </a:prstGeom>
          <a:solidFill>
            <a:srgbClr val="F6F2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8"/>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Research top 3 competitors — document differentiators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Refine elevator pitch based on feedback</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Review Cover Whale appetite guide</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Explore SAFER reports for sample agencies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9"/>
          <p:cNvSpPr/>
          <p:nvPr/>
        </p:nvSpPr>
        <p:spPr>
          <a:xfrm>
            <a:off x="0" y="0"/>
            <a:ext cx="12191695" cy="914400"/>
          </a:xfrm>
          <a:prstGeom prst="rect">
            <a:avLst/>
          </a:prstGeom>
          <a:solidFill>
            <a:srgbClr val="2D1B4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9"/>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1  |  DAY 5</a:t>
            </a:r>
            <a:endParaRPr/>
          </a:p>
        </p:txBody>
      </p:sp>
      <p:sp>
        <p:nvSpPr>
          <p:cNvPr id="340" name="Google Shape;340;p9"/>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C4AEDE"/>
                </a:solidFill>
                <a:latin typeface="Montserrat"/>
                <a:ea typeface="Montserrat"/>
                <a:cs typeface="Montserrat"/>
                <a:sym typeface="Montserrat"/>
              </a:rPr>
              <a:t>Week 1 Wrap-Up &amp; Readiness Check</a:t>
            </a:r>
            <a:endParaRPr/>
          </a:p>
        </p:txBody>
      </p:sp>
      <p:sp>
        <p:nvSpPr>
          <p:cNvPr id="341" name="Google Shape;341;p9"/>
          <p:cNvSpPr/>
          <p:nvPr/>
        </p:nvSpPr>
        <p:spPr>
          <a:xfrm>
            <a:off x="274320" y="1188720"/>
            <a:ext cx="8229600" cy="411480"/>
          </a:xfrm>
          <a:prstGeom prst="rect">
            <a:avLst/>
          </a:prstGeom>
          <a:solidFill>
            <a:srgbClr val="4A2D7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9"/>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343" name="Google Shape;343;p9"/>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344" name="Google Shape;344;p9"/>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345" name="Google Shape;345;p9"/>
          <p:cNvSpPr/>
          <p:nvPr/>
        </p:nvSpPr>
        <p:spPr>
          <a:xfrm>
            <a:off x="274320" y="164592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9"/>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Territory Introduction</a:t>
            </a:r>
            <a:endParaRPr/>
          </a:p>
        </p:txBody>
      </p:sp>
      <p:sp>
        <p:nvSpPr>
          <p:cNvPr id="347" name="Google Shape;347;p9"/>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348" name="Google Shape;348;p9"/>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Territory assignment and initial account mapping</a:t>
            </a:r>
            <a:endParaRPr/>
          </a:p>
        </p:txBody>
      </p:sp>
      <p:sp>
        <p:nvSpPr>
          <p:cNvPr id="349" name="Google Shape;349;p9"/>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9"/>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Tamera Pfeiffer: Agency Success &amp; Onboarding</a:t>
            </a:r>
            <a:endParaRPr/>
          </a:p>
        </p:txBody>
      </p:sp>
      <p:sp>
        <p:nvSpPr>
          <p:cNvPr id="351" name="Google Shape;351;p9"/>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Tamera Pfeiffer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Agency Success Lead</a:t>
            </a:r>
            <a:endParaRPr/>
          </a:p>
        </p:txBody>
      </p:sp>
      <p:sp>
        <p:nvSpPr>
          <p:cNvPr id="352" name="Google Shape;352;p9"/>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Agency onboarding process overview</a:t>
            </a:r>
            <a:endParaRPr/>
          </a:p>
        </p:txBody>
      </p:sp>
      <p:sp>
        <p:nvSpPr>
          <p:cNvPr id="353" name="Google Shape;353;p9"/>
          <p:cNvSpPr/>
          <p:nvPr/>
        </p:nvSpPr>
        <p:spPr>
          <a:xfrm>
            <a:off x="274320" y="265176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9"/>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Meet Cassandra Kenna: Billing &amp; Renewals</a:t>
            </a:r>
            <a:endParaRPr/>
          </a:p>
        </p:txBody>
      </p:sp>
      <p:sp>
        <p:nvSpPr>
          <p:cNvPr id="355" name="Google Shape;355;p9"/>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Cassandra Kenna</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Product Manager, Experience and Finance</a:t>
            </a:r>
            <a:endParaRPr/>
          </a:p>
        </p:txBody>
      </p:sp>
      <p:sp>
        <p:nvSpPr>
          <p:cNvPr id="356" name="Google Shape;356;p9"/>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Billing and renewals overview</a:t>
            </a:r>
            <a:endParaRPr/>
          </a:p>
        </p:txBody>
      </p:sp>
      <p:sp>
        <p:nvSpPr>
          <p:cNvPr id="357" name="Google Shape;357;p9"/>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9"/>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Lunch Break</a:t>
            </a:r>
            <a:endParaRPr/>
          </a:p>
        </p:txBody>
      </p:sp>
      <p:sp>
        <p:nvSpPr>
          <p:cNvPr id="359" name="Google Shape;359;p9"/>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a:t>
            </a:r>
            <a:endParaRPr/>
          </a:p>
        </p:txBody>
      </p:sp>
      <p:sp>
        <p:nvSpPr>
          <p:cNvPr id="360" name="Google Shape;360;p9"/>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361" name="Google Shape;361;p9"/>
          <p:cNvSpPr/>
          <p:nvPr/>
        </p:nvSpPr>
        <p:spPr>
          <a:xfrm>
            <a:off x="274320" y="365760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9"/>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Introduction to Nyles</a:t>
            </a:r>
            <a:endParaRPr/>
          </a:p>
        </p:txBody>
      </p:sp>
      <p:sp>
        <p:nvSpPr>
          <p:cNvPr id="363" name="Google Shape;363;p9"/>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Nyles Oppenheimer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Chief Revenue Officer</a:t>
            </a:r>
            <a:endParaRPr/>
          </a:p>
        </p:txBody>
      </p:sp>
      <p:sp>
        <p:nvSpPr>
          <p:cNvPr id="364" name="Google Shape;364;p9"/>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CRO perspective, expectations, growth vision</a:t>
            </a:r>
            <a:endParaRPr/>
          </a:p>
        </p:txBody>
      </p:sp>
      <p:sp>
        <p:nvSpPr>
          <p:cNvPr id="365" name="Google Shape;365;p9"/>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9"/>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Sequence Overview</a:t>
            </a:r>
            <a:endParaRPr/>
          </a:p>
        </p:txBody>
      </p:sp>
      <p:sp>
        <p:nvSpPr>
          <p:cNvPr id="367" name="Google Shape;367;p9"/>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Cameron Brader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Business Development Associate, Eastern Region</a:t>
            </a:r>
            <a:endParaRPr/>
          </a:p>
        </p:txBody>
      </p:sp>
      <p:sp>
        <p:nvSpPr>
          <p:cNvPr id="368" name="Google Shape;368;p9"/>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Outreach sequences, cadence, and templates</a:t>
            </a:r>
            <a:endParaRPr/>
          </a:p>
        </p:txBody>
      </p:sp>
      <p:sp>
        <p:nvSpPr>
          <p:cNvPr id="369" name="Google Shape;369;p9"/>
          <p:cNvSpPr/>
          <p:nvPr/>
        </p:nvSpPr>
        <p:spPr>
          <a:xfrm>
            <a:off x="274320" y="466344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9"/>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Week 1 Knowledge Check</a:t>
            </a:r>
            <a:endParaRPr/>
          </a:p>
        </p:txBody>
      </p:sp>
      <p:sp>
        <p:nvSpPr>
          <p:cNvPr id="371" name="Google Shape;371;p9"/>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372" name="Google Shape;372;p9"/>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Assessment — products, ICP, values, tools</a:t>
            </a:r>
            <a:endParaRPr/>
          </a:p>
        </p:txBody>
      </p:sp>
      <p:sp>
        <p:nvSpPr>
          <p:cNvPr id="373" name="Google Shape;373;p9"/>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9"/>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Self-Study</a:t>
            </a:r>
            <a:endParaRPr/>
          </a:p>
        </p:txBody>
      </p:sp>
      <p:sp>
        <p:nvSpPr>
          <p:cNvPr id="375" name="Google Shape;375;p9"/>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Self</a:t>
            </a:r>
            <a:endParaRPr/>
          </a:p>
        </p:txBody>
      </p:sp>
      <p:sp>
        <p:nvSpPr>
          <p:cNvPr id="376" name="Google Shape;376;p9"/>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377" name="Google Shape;377;p9"/>
          <p:cNvSpPr/>
          <p:nvPr/>
        </p:nvSpPr>
        <p:spPr>
          <a:xfrm>
            <a:off x="274320" y="5669280"/>
            <a:ext cx="8229600" cy="484632"/>
          </a:xfrm>
          <a:prstGeom prst="rect">
            <a:avLst/>
          </a:prstGeom>
          <a:solidFill>
            <a:srgbClr val="F0E8F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9"/>
          <p:cNvSpPr txBox="1"/>
          <p:nvPr/>
        </p:nvSpPr>
        <p:spPr>
          <a:xfrm>
            <a:off x="365760" y="57150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2D1B4E"/>
                </a:solidFill>
                <a:latin typeface="Montserrat"/>
                <a:ea typeface="Montserrat"/>
                <a:cs typeface="Montserrat"/>
                <a:sym typeface="Montserrat"/>
              </a:rPr>
              <a:t>Weekly Recap &amp; Debrief</a:t>
            </a:r>
            <a:endParaRPr/>
          </a:p>
        </p:txBody>
      </p:sp>
      <p:sp>
        <p:nvSpPr>
          <p:cNvPr id="379" name="Google Shape;379;p9"/>
          <p:cNvSpPr txBox="1"/>
          <p:nvPr/>
        </p:nvSpPr>
        <p:spPr>
          <a:xfrm>
            <a:off x="2651760" y="56875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4A2D7A"/>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380" name="Google Shape;380;p9"/>
          <p:cNvSpPr txBox="1"/>
          <p:nvPr/>
        </p:nvSpPr>
        <p:spPr>
          <a:xfrm>
            <a:off x="4846320" y="57150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Week 1 summary and Week 2 preview</a:t>
            </a:r>
            <a:endParaRPr/>
          </a:p>
        </p:txBody>
      </p:sp>
      <p:sp>
        <p:nvSpPr>
          <p:cNvPr id="381" name="Google Shape;381;p9"/>
          <p:cNvSpPr/>
          <p:nvPr/>
        </p:nvSpPr>
        <p:spPr>
          <a:xfrm>
            <a:off x="8778240" y="1188720"/>
            <a:ext cx="3200400" cy="41148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9"/>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383" name="Google Shape;383;p9"/>
          <p:cNvSpPr/>
          <p:nvPr/>
        </p:nvSpPr>
        <p:spPr>
          <a:xfrm>
            <a:off x="8778240" y="1600200"/>
            <a:ext cx="3200400" cy="1810512"/>
          </a:xfrm>
          <a:prstGeom prst="rect">
            <a:avLst/>
          </a:prstGeom>
          <a:solidFill>
            <a:srgbClr val="F6F2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9"/>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Complete Week 1 self-assessment</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Review offsite prep materials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Prepare questions for Week 2 shadow sessions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Recommended: Agent Resource Center deep-dive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2066"/>
        </a:solidFill>
      </p:bgPr>
    </p:bg>
    <p:spTree>
      <p:nvGrpSpPr>
        <p:cNvPr id="388" name="Shape 388"/>
        <p:cNvGrpSpPr/>
        <p:nvPr/>
      </p:nvGrpSpPr>
      <p:grpSpPr>
        <a:xfrm>
          <a:off x="0" y="0"/>
          <a:ext cx="0" cy="0"/>
          <a:chOff x="0" y="0"/>
          <a:chExt cx="0" cy="0"/>
        </a:xfrm>
      </p:grpSpPr>
      <p:sp>
        <p:nvSpPr>
          <p:cNvPr id="389" name="Google Shape;389;p10"/>
          <p:cNvSpPr txBox="1"/>
          <p:nvPr/>
        </p:nvSpPr>
        <p:spPr>
          <a:xfrm>
            <a:off x="914400" y="137160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a:solidFill>
                  <a:srgbClr val="FFFFFF"/>
                </a:solidFill>
                <a:latin typeface="Montserrat"/>
                <a:ea typeface="Montserrat"/>
                <a:cs typeface="Montserrat"/>
                <a:sym typeface="Montserrat"/>
              </a:rPr>
              <a:t>WEEK 2</a:t>
            </a:r>
            <a:endParaRPr/>
          </a:p>
        </p:txBody>
      </p:sp>
      <p:sp>
        <p:nvSpPr>
          <p:cNvPr id="390" name="Google Shape;390;p10"/>
          <p:cNvSpPr/>
          <p:nvPr/>
        </p:nvSpPr>
        <p:spPr>
          <a:xfrm>
            <a:off x="4114800" y="2560320"/>
            <a:ext cx="3931920" cy="3810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0"/>
          <p:cNvSpPr txBox="1"/>
          <p:nvPr/>
        </p:nvSpPr>
        <p:spPr>
          <a:xfrm>
            <a:off x="914400" y="2743200"/>
            <a:ext cx="10058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200">
                <a:solidFill>
                  <a:srgbClr val="9B59D0"/>
                </a:solidFill>
                <a:latin typeface="Montserrat"/>
                <a:ea typeface="Montserrat"/>
                <a:cs typeface="Montserrat"/>
                <a:sym typeface="Montserrat"/>
              </a:rPr>
              <a:t>Partners, Platform &amp; Tech Stack</a:t>
            </a:r>
            <a:endParaRPr/>
          </a:p>
        </p:txBody>
      </p:sp>
      <p:sp>
        <p:nvSpPr>
          <p:cNvPr id="392" name="Google Shape;392;p10"/>
          <p:cNvSpPr txBox="1"/>
          <p:nvPr/>
        </p:nvSpPr>
        <p:spPr>
          <a:xfrm>
            <a:off x="1828800" y="3840480"/>
            <a:ext cx="8229600" cy="22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D4B8E8"/>
                </a:solidFill>
                <a:latin typeface="Montserrat"/>
                <a:ea typeface="Montserrat"/>
                <a:cs typeface="Montserrat"/>
                <a:sym typeface="Montserrat"/>
              </a:rPr>
              <a:t>•  Understand how to qualify and work with agency partners</a:t>
            </a:r>
            <a:endParaRPr/>
          </a:p>
          <a:p>
            <a:pPr indent="0" lvl="0" marL="0" marR="0" rtl="0" algn="l">
              <a:spcBef>
                <a:spcPts val="400"/>
              </a:spcBef>
              <a:spcAft>
                <a:spcPts val="0"/>
              </a:spcAft>
              <a:buNone/>
            </a:pPr>
            <a:r>
              <a:rPr lang="en-US" sz="1300">
                <a:solidFill>
                  <a:srgbClr val="D4B8E8"/>
                </a:solidFill>
                <a:latin typeface="Montserrat"/>
                <a:ea typeface="Montserrat"/>
                <a:cs typeface="Montserrat"/>
                <a:sym typeface="Montserrat"/>
              </a:rPr>
              <a:t>•  Learn the basics of managing a portfolio and conducting quarterly reviews</a:t>
            </a:r>
            <a:endParaRPr/>
          </a:p>
          <a:p>
            <a:pPr indent="0" lvl="0" marL="0" marR="0" rtl="0" algn="l">
              <a:spcBef>
                <a:spcPts val="400"/>
              </a:spcBef>
              <a:spcAft>
                <a:spcPts val="0"/>
              </a:spcAft>
              <a:buNone/>
            </a:pPr>
            <a:r>
              <a:rPr lang="en-US" sz="1300">
                <a:solidFill>
                  <a:srgbClr val="D4B8E8"/>
                </a:solidFill>
                <a:latin typeface="Montserrat"/>
                <a:ea typeface="Montserrat"/>
                <a:cs typeface="Montserrat"/>
                <a:sym typeface="Montserrat"/>
              </a:rPr>
              <a:t>•  Develop proficiency in HubSpot workflows and Metabase reporting</a:t>
            </a:r>
            <a:endParaRPr/>
          </a:p>
          <a:p>
            <a:pPr indent="0" lvl="0" marL="0" marR="0" rtl="0" algn="l">
              <a:spcBef>
                <a:spcPts val="400"/>
              </a:spcBef>
              <a:spcAft>
                <a:spcPts val="0"/>
              </a:spcAft>
              <a:buNone/>
            </a:pPr>
            <a:r>
              <a:rPr lang="en-US" sz="1300">
                <a:solidFill>
                  <a:srgbClr val="D4B8E8"/>
                </a:solidFill>
                <a:latin typeface="Montserrat"/>
                <a:ea typeface="Montserrat"/>
                <a:cs typeface="Montserrat"/>
                <a:sym typeface="Montserrat"/>
              </a:rPr>
              <a:t>•  Shadow experienced team members across key functions</a:t>
            </a:r>
            <a:endParaRPr/>
          </a:p>
          <a:p>
            <a:pPr indent="0" lvl="0" marL="0" marR="0" rtl="0" algn="l">
              <a:spcBef>
                <a:spcPts val="400"/>
              </a:spcBef>
              <a:spcAft>
                <a:spcPts val="0"/>
              </a:spcAft>
              <a:buNone/>
            </a:pPr>
            <a:r>
              <a:rPr lang="en-US" sz="1300">
                <a:solidFill>
                  <a:srgbClr val="D4B8E8"/>
                </a:solidFill>
                <a:latin typeface="Montserrat"/>
                <a:ea typeface="Montserrat"/>
                <a:cs typeface="Montserrat"/>
                <a:sym typeface="Montserrat"/>
              </a:rPr>
              <a:t>•  Gain cross-functional exposure to DriveSmart, Billing, and Renewals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11"/>
          <p:cNvSpPr/>
          <p:nvPr/>
        </p:nvSpPr>
        <p:spPr>
          <a:xfrm>
            <a:off x="0" y="0"/>
            <a:ext cx="12191695" cy="914400"/>
          </a:xfrm>
          <a:prstGeom prst="rect">
            <a:avLst/>
          </a:prstGeom>
          <a:solidFill>
            <a:srgbClr val="3D20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1"/>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2  |  DAY 1</a:t>
            </a:r>
            <a:endParaRPr/>
          </a:p>
        </p:txBody>
      </p:sp>
      <p:sp>
        <p:nvSpPr>
          <p:cNvPr id="399" name="Google Shape;399;p11"/>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4B8E8"/>
                </a:solidFill>
                <a:latin typeface="Montserrat"/>
                <a:ea typeface="Montserrat"/>
                <a:cs typeface="Montserrat"/>
                <a:sym typeface="Montserrat"/>
              </a:rPr>
              <a:t>Partner Discovery &amp; Portfolio Management</a:t>
            </a:r>
            <a:endParaRPr/>
          </a:p>
        </p:txBody>
      </p:sp>
      <p:sp>
        <p:nvSpPr>
          <p:cNvPr id="400" name="Google Shape;400;p11"/>
          <p:cNvSpPr/>
          <p:nvPr/>
        </p:nvSpPr>
        <p:spPr>
          <a:xfrm>
            <a:off x="274320" y="1188720"/>
            <a:ext cx="8229600" cy="41148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1"/>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402" name="Google Shape;402;p11"/>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403" name="Google Shape;403;p11"/>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404" name="Google Shape;404;p11"/>
          <p:cNvSpPr/>
          <p:nvPr/>
        </p:nvSpPr>
        <p:spPr>
          <a:xfrm>
            <a:off x="274320" y="164592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1"/>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Partner Discovery</a:t>
            </a:r>
            <a:endParaRPr/>
          </a:p>
        </p:txBody>
      </p:sp>
      <p:sp>
        <p:nvSpPr>
          <p:cNvPr id="406" name="Google Shape;406;p11"/>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407" name="Google Shape;407;p11"/>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Discovery call mastery and follow-up</a:t>
            </a:r>
            <a:endParaRPr/>
          </a:p>
        </p:txBody>
      </p:sp>
      <p:sp>
        <p:nvSpPr>
          <p:cNvPr id="408" name="Google Shape;408;p11"/>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1"/>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Shadow: Fleet Pipeline</a:t>
            </a:r>
            <a:endParaRPr/>
          </a:p>
        </p:txBody>
      </p:sp>
      <p:sp>
        <p:nvSpPr>
          <p:cNvPr id="410" name="Google Shape;410;p11"/>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Christopher Hayes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a:t>
            </a:r>
            <a:endParaRPr/>
          </a:p>
        </p:txBody>
      </p:sp>
      <p:sp>
        <p:nvSpPr>
          <p:cNvPr id="411" name="Google Shape;411;p11"/>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Observe pipeline workflow and progression</a:t>
            </a:r>
            <a:endParaRPr/>
          </a:p>
        </p:txBody>
      </p:sp>
      <p:sp>
        <p:nvSpPr>
          <p:cNvPr id="412" name="Google Shape;412;p11"/>
          <p:cNvSpPr/>
          <p:nvPr/>
        </p:nvSpPr>
        <p:spPr>
          <a:xfrm>
            <a:off x="274320" y="265176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1"/>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Meet Kevin McKernan: Fleet Product Deep Dive</a:t>
            </a:r>
            <a:endParaRPr/>
          </a:p>
        </p:txBody>
      </p:sp>
      <p:sp>
        <p:nvSpPr>
          <p:cNvPr id="414" name="Google Shape;414;p11"/>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Kevin McKernan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VP, Fleet Sales</a:t>
            </a:r>
            <a:endParaRPr/>
          </a:p>
        </p:txBody>
      </p:sp>
      <p:sp>
        <p:nvSpPr>
          <p:cNvPr id="415" name="Google Shape;415;p11"/>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Fleet overview, appetite, underwriting, growth</a:t>
            </a:r>
            <a:endParaRPr/>
          </a:p>
        </p:txBody>
      </p:sp>
      <p:sp>
        <p:nvSpPr>
          <p:cNvPr id="416" name="Google Shape;416;p11"/>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1"/>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Lunch Break</a:t>
            </a:r>
            <a:endParaRPr/>
          </a:p>
        </p:txBody>
      </p:sp>
      <p:sp>
        <p:nvSpPr>
          <p:cNvPr id="418" name="Google Shape;418;p11"/>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a:t>
            </a:r>
            <a:endParaRPr/>
          </a:p>
        </p:txBody>
      </p:sp>
      <p:sp>
        <p:nvSpPr>
          <p:cNvPr id="419" name="Google Shape;419;p11"/>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420" name="Google Shape;420;p11"/>
          <p:cNvSpPr/>
          <p:nvPr/>
        </p:nvSpPr>
        <p:spPr>
          <a:xfrm>
            <a:off x="274320" y="365760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1"/>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Objection Handling</a:t>
            </a:r>
            <a:endParaRPr/>
          </a:p>
        </p:txBody>
      </p:sp>
      <p:sp>
        <p:nvSpPr>
          <p:cNvPr id="422" name="Google Shape;422;p11"/>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423" name="Google Shape;423;p11"/>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Common pushbacks and effective responses</a:t>
            </a:r>
            <a:endParaRPr/>
          </a:p>
        </p:txBody>
      </p:sp>
      <p:sp>
        <p:nvSpPr>
          <p:cNvPr id="424" name="Google Shape;424;p11"/>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1"/>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Manager Check-In</a:t>
            </a:r>
            <a:endParaRPr/>
          </a:p>
        </p:txBody>
      </p:sp>
      <p:sp>
        <p:nvSpPr>
          <p:cNvPr id="426" name="Google Shape;426;p11"/>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Individual Manager</a:t>
            </a:r>
            <a:endParaRPr/>
          </a:p>
        </p:txBody>
      </p:sp>
      <p:sp>
        <p:nvSpPr>
          <p:cNvPr id="427" name="Google Shape;427;p11"/>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Week 1 feedback and Week 2 goals</a:t>
            </a:r>
            <a:endParaRPr/>
          </a:p>
        </p:txBody>
      </p:sp>
      <p:sp>
        <p:nvSpPr>
          <p:cNvPr id="428" name="Google Shape;428;p11"/>
          <p:cNvSpPr/>
          <p:nvPr/>
        </p:nvSpPr>
        <p:spPr>
          <a:xfrm>
            <a:off x="274320" y="466344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1"/>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Self-Study</a:t>
            </a:r>
            <a:endParaRPr/>
          </a:p>
        </p:txBody>
      </p:sp>
      <p:sp>
        <p:nvSpPr>
          <p:cNvPr id="430" name="Google Shape;430;p11"/>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Self</a:t>
            </a:r>
            <a:endParaRPr/>
          </a:p>
        </p:txBody>
      </p:sp>
      <p:sp>
        <p:nvSpPr>
          <p:cNvPr id="431" name="Google Shape;431;p11"/>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432" name="Google Shape;432;p11"/>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1"/>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Onboarding Debrief</a:t>
            </a:r>
            <a:endParaRPr/>
          </a:p>
        </p:txBody>
      </p:sp>
      <p:sp>
        <p:nvSpPr>
          <p:cNvPr id="434" name="Google Shape;434;p11"/>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435" name="Google Shape;435;p11"/>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EOD recap and next-day preview</a:t>
            </a:r>
            <a:endParaRPr/>
          </a:p>
        </p:txBody>
      </p:sp>
      <p:sp>
        <p:nvSpPr>
          <p:cNvPr id="436" name="Google Shape;436;p11"/>
          <p:cNvSpPr/>
          <p:nvPr/>
        </p:nvSpPr>
        <p:spPr>
          <a:xfrm>
            <a:off x="8778240" y="1188720"/>
            <a:ext cx="3200400" cy="41148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1"/>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438" name="Google Shape;438;p11"/>
          <p:cNvSpPr/>
          <p:nvPr/>
        </p:nvSpPr>
        <p:spPr>
          <a:xfrm>
            <a:off x="8778240" y="1600200"/>
            <a:ext cx="3200400" cy="1426464"/>
          </a:xfrm>
          <a:prstGeom prst="rect">
            <a:avLst/>
          </a:prstGeom>
          <a:solidFill>
            <a:srgbClr val="F8F4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1"/>
          <p:cNvSpPr txBox="1"/>
          <p:nvPr/>
        </p:nvSpPr>
        <p:spPr>
          <a:xfrm>
            <a:off x="8961120" y="1691640"/>
            <a:ext cx="28346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Explore the Agent Resource Center</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Begin identifying agencies in your territory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Document fleet pipeline shadow takeaways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12"/>
          <p:cNvSpPr/>
          <p:nvPr/>
        </p:nvSpPr>
        <p:spPr>
          <a:xfrm>
            <a:off x="0" y="0"/>
            <a:ext cx="12191695" cy="914400"/>
          </a:xfrm>
          <a:prstGeom prst="rect">
            <a:avLst/>
          </a:prstGeom>
          <a:solidFill>
            <a:srgbClr val="3D20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2"/>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2  |  DAY 2</a:t>
            </a:r>
            <a:endParaRPr/>
          </a:p>
        </p:txBody>
      </p:sp>
      <p:sp>
        <p:nvSpPr>
          <p:cNvPr id="446" name="Google Shape;446;p12"/>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4B8E8"/>
                </a:solidFill>
                <a:latin typeface="Montserrat"/>
                <a:ea typeface="Montserrat"/>
                <a:cs typeface="Montserrat"/>
                <a:sym typeface="Montserrat"/>
              </a:rPr>
              <a:t>Shadow Sessions &amp; HubSpot Workflows</a:t>
            </a:r>
            <a:endParaRPr/>
          </a:p>
        </p:txBody>
      </p:sp>
      <p:sp>
        <p:nvSpPr>
          <p:cNvPr id="447" name="Google Shape;447;p12"/>
          <p:cNvSpPr/>
          <p:nvPr/>
        </p:nvSpPr>
        <p:spPr>
          <a:xfrm>
            <a:off x="274320" y="1188720"/>
            <a:ext cx="8229600" cy="41148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2"/>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449" name="Google Shape;449;p12"/>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450" name="Google Shape;450;p12"/>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451" name="Google Shape;451;p12"/>
          <p:cNvSpPr/>
          <p:nvPr/>
        </p:nvSpPr>
        <p:spPr>
          <a:xfrm>
            <a:off x="274320" y="164592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2"/>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Shadow: Partner Emails</a:t>
            </a:r>
            <a:endParaRPr/>
          </a:p>
        </p:txBody>
      </p:sp>
      <p:sp>
        <p:nvSpPr>
          <p:cNvPr id="453" name="Google Shape;453;p12"/>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Growth Team Member</a:t>
            </a:r>
            <a:endParaRPr/>
          </a:p>
        </p:txBody>
      </p:sp>
      <p:sp>
        <p:nvSpPr>
          <p:cNvPr id="454" name="Google Shape;454;p12"/>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Observe partner communication and requests</a:t>
            </a:r>
            <a:endParaRPr/>
          </a:p>
        </p:txBody>
      </p:sp>
      <p:sp>
        <p:nvSpPr>
          <p:cNvPr id="455" name="Google Shape;455;p12"/>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2"/>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HubSpot Workflows Part 1</a:t>
            </a:r>
            <a:endParaRPr/>
          </a:p>
        </p:txBody>
      </p:sp>
      <p:sp>
        <p:nvSpPr>
          <p:cNvPr id="457" name="Google Shape;457;p12"/>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458" name="Google Shape;458;p12"/>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Deal stages, pipeline, task automation</a:t>
            </a:r>
            <a:endParaRPr/>
          </a:p>
        </p:txBody>
      </p:sp>
      <p:sp>
        <p:nvSpPr>
          <p:cNvPr id="459" name="Google Shape;459;p12"/>
          <p:cNvSpPr/>
          <p:nvPr/>
        </p:nvSpPr>
        <p:spPr>
          <a:xfrm>
            <a:off x="274320" y="265176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2"/>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Lunch Break</a:t>
            </a:r>
            <a:endParaRPr/>
          </a:p>
        </p:txBody>
      </p:sp>
      <p:sp>
        <p:nvSpPr>
          <p:cNvPr id="461" name="Google Shape;461;p12"/>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a:t>
            </a:r>
            <a:endParaRPr/>
          </a:p>
        </p:txBody>
      </p:sp>
      <p:sp>
        <p:nvSpPr>
          <p:cNvPr id="462" name="Google Shape;462;p12"/>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463" name="Google Shape;463;p12"/>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2"/>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Safer Overview</a:t>
            </a:r>
            <a:endParaRPr/>
          </a:p>
        </p:txBody>
      </p:sp>
      <p:sp>
        <p:nvSpPr>
          <p:cNvPr id="465" name="Google Shape;465;p12"/>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Kevin McKernan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VP, Fleet Sales</a:t>
            </a:r>
            <a:endParaRPr/>
          </a:p>
        </p:txBody>
      </p:sp>
      <p:sp>
        <p:nvSpPr>
          <p:cNvPr id="466" name="Google Shape;466;p12"/>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Telematics, driver behavior, value prop</a:t>
            </a:r>
            <a:endParaRPr/>
          </a:p>
        </p:txBody>
      </p:sp>
      <p:sp>
        <p:nvSpPr>
          <p:cNvPr id="467" name="Google Shape;467;p12"/>
          <p:cNvSpPr/>
          <p:nvPr/>
        </p:nvSpPr>
        <p:spPr>
          <a:xfrm>
            <a:off x="274320" y="365760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2"/>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Agency Expectations &amp; Mgmt</a:t>
            </a:r>
            <a:endParaRPr/>
          </a:p>
        </p:txBody>
      </p:sp>
      <p:sp>
        <p:nvSpPr>
          <p:cNvPr id="469" name="Google Shape;469;p12"/>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470" name="Google Shape;470;p12"/>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Time mgmt, red flags, agent value</a:t>
            </a:r>
            <a:endParaRPr/>
          </a:p>
        </p:txBody>
      </p:sp>
      <p:sp>
        <p:nvSpPr>
          <p:cNvPr id="471" name="Google Shape;471;p12"/>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2"/>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Self-Study</a:t>
            </a:r>
            <a:endParaRPr/>
          </a:p>
        </p:txBody>
      </p:sp>
      <p:sp>
        <p:nvSpPr>
          <p:cNvPr id="473" name="Google Shape;473;p12"/>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Self</a:t>
            </a:r>
            <a:endParaRPr/>
          </a:p>
        </p:txBody>
      </p:sp>
      <p:sp>
        <p:nvSpPr>
          <p:cNvPr id="474" name="Google Shape;474;p12"/>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475" name="Google Shape;475;p12"/>
          <p:cNvSpPr/>
          <p:nvPr/>
        </p:nvSpPr>
        <p:spPr>
          <a:xfrm>
            <a:off x="274320" y="466344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2"/>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Shadow: Partner Meeting</a:t>
            </a:r>
            <a:endParaRPr/>
          </a:p>
        </p:txBody>
      </p:sp>
      <p:sp>
        <p:nvSpPr>
          <p:cNvPr id="477" name="Google Shape;477;p12"/>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478" name="Google Shape;478;p12"/>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Observe meeting prep, execution, follow-up</a:t>
            </a:r>
            <a:endParaRPr/>
          </a:p>
        </p:txBody>
      </p:sp>
      <p:sp>
        <p:nvSpPr>
          <p:cNvPr id="479" name="Google Shape;479;p12"/>
          <p:cNvSpPr/>
          <p:nvPr/>
        </p:nvSpPr>
        <p:spPr>
          <a:xfrm>
            <a:off x="8778240" y="1188720"/>
            <a:ext cx="3200400" cy="41148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2"/>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481" name="Google Shape;481;p12"/>
          <p:cNvSpPr/>
          <p:nvPr/>
        </p:nvSpPr>
        <p:spPr>
          <a:xfrm>
            <a:off x="8778240" y="1600200"/>
            <a:ext cx="3200400" cy="1426464"/>
          </a:xfrm>
          <a:prstGeom prst="rect">
            <a:avLst/>
          </a:prstGeom>
          <a:solidFill>
            <a:srgbClr val="F8F4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2"/>
          <p:cNvSpPr txBox="1"/>
          <p:nvPr/>
        </p:nvSpPr>
        <p:spPr>
          <a:xfrm>
            <a:off x="8961120" y="1691640"/>
            <a:ext cx="28346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Practice navigating HubSpot pipelines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Document shadow session observations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Draft a sample partner follow-up email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13"/>
          <p:cNvSpPr/>
          <p:nvPr/>
        </p:nvSpPr>
        <p:spPr>
          <a:xfrm>
            <a:off x="0" y="0"/>
            <a:ext cx="12191695" cy="914400"/>
          </a:xfrm>
          <a:prstGeom prst="rect">
            <a:avLst/>
          </a:prstGeom>
          <a:solidFill>
            <a:srgbClr val="3D20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3"/>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2  |  DAY 3</a:t>
            </a:r>
            <a:endParaRPr/>
          </a:p>
        </p:txBody>
      </p:sp>
      <p:sp>
        <p:nvSpPr>
          <p:cNvPr id="489" name="Google Shape;489;p13"/>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4B8E8"/>
                </a:solidFill>
                <a:latin typeface="Montserrat"/>
                <a:ea typeface="Montserrat"/>
                <a:cs typeface="Montserrat"/>
                <a:sym typeface="Montserrat"/>
              </a:rPr>
              <a:t>HubSpot &amp; Metabase Deep Dive</a:t>
            </a:r>
            <a:endParaRPr/>
          </a:p>
        </p:txBody>
      </p:sp>
      <p:sp>
        <p:nvSpPr>
          <p:cNvPr id="490" name="Google Shape;490;p13"/>
          <p:cNvSpPr/>
          <p:nvPr/>
        </p:nvSpPr>
        <p:spPr>
          <a:xfrm>
            <a:off x="274320" y="1188720"/>
            <a:ext cx="8229600" cy="41148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3"/>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492" name="Google Shape;492;p13"/>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493" name="Google Shape;493;p13"/>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494" name="Google Shape;494;p13"/>
          <p:cNvSpPr/>
          <p:nvPr/>
        </p:nvSpPr>
        <p:spPr>
          <a:xfrm>
            <a:off x="274320" y="164592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3"/>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HubSpot Workflows Part 2</a:t>
            </a:r>
            <a:endParaRPr/>
          </a:p>
        </p:txBody>
      </p:sp>
      <p:sp>
        <p:nvSpPr>
          <p:cNvPr id="496" name="Google Shape;496;p13"/>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497" name="Google Shape;497;p13"/>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Sequences, dashboards, and filters</a:t>
            </a:r>
            <a:endParaRPr/>
          </a:p>
        </p:txBody>
      </p:sp>
      <p:sp>
        <p:nvSpPr>
          <p:cNvPr id="498" name="Google Shape;498;p13"/>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3"/>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Metabase Training</a:t>
            </a:r>
            <a:endParaRPr/>
          </a:p>
        </p:txBody>
      </p:sp>
      <p:sp>
        <p:nvSpPr>
          <p:cNvPr id="500" name="Google Shape;500;p13"/>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501" name="Google Shape;501;p13"/>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Agency Dashboard and All Submissions</a:t>
            </a:r>
            <a:endParaRPr/>
          </a:p>
        </p:txBody>
      </p:sp>
      <p:sp>
        <p:nvSpPr>
          <p:cNvPr id="502" name="Google Shape;502;p13"/>
          <p:cNvSpPr/>
          <p:nvPr/>
        </p:nvSpPr>
        <p:spPr>
          <a:xfrm>
            <a:off x="274320" y="265176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3"/>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Portfolio Analysis</a:t>
            </a:r>
            <a:endParaRPr/>
          </a:p>
        </p:txBody>
      </p:sp>
      <p:sp>
        <p:nvSpPr>
          <p:cNvPr id="504" name="Google Shape;504;p13"/>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505" name="Google Shape;505;p13"/>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Metrics, quarterly reviews, agency health</a:t>
            </a:r>
            <a:endParaRPr/>
          </a:p>
        </p:txBody>
      </p:sp>
      <p:sp>
        <p:nvSpPr>
          <p:cNvPr id="506" name="Google Shape;506;p13"/>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13"/>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Lunch Break</a:t>
            </a:r>
            <a:endParaRPr/>
          </a:p>
        </p:txBody>
      </p:sp>
      <p:sp>
        <p:nvSpPr>
          <p:cNvPr id="508" name="Google Shape;508;p13"/>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a:t>
            </a:r>
            <a:endParaRPr/>
          </a:p>
        </p:txBody>
      </p:sp>
      <p:sp>
        <p:nvSpPr>
          <p:cNvPr id="509" name="Google Shape;509;p13"/>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510" name="Google Shape;510;p13"/>
          <p:cNvSpPr/>
          <p:nvPr/>
        </p:nvSpPr>
        <p:spPr>
          <a:xfrm>
            <a:off x="274320" y="365760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3"/>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Customer Service Overview 1</a:t>
            </a:r>
            <a:endParaRPr/>
          </a:p>
        </p:txBody>
      </p:sp>
      <p:sp>
        <p:nvSpPr>
          <p:cNvPr id="512" name="Google Shape;512;p13"/>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Brittney Decker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Vice President of Customer Service Operations</a:t>
            </a:r>
            <a:endParaRPr/>
          </a:p>
        </p:txBody>
      </p:sp>
      <p:sp>
        <p:nvSpPr>
          <p:cNvPr id="513" name="Google Shape;513;p13"/>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Inquiry handling, escalation, agent support</a:t>
            </a:r>
            <a:endParaRPr/>
          </a:p>
        </p:txBody>
      </p:sp>
      <p:sp>
        <p:nvSpPr>
          <p:cNvPr id="514" name="Google Shape;514;p13"/>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13"/>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Reporting: What Matters &amp; Why</a:t>
            </a:r>
            <a:endParaRPr/>
          </a:p>
        </p:txBody>
      </p:sp>
      <p:sp>
        <p:nvSpPr>
          <p:cNvPr id="516" name="Google Shape;516;p13"/>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517" name="Google Shape;517;p13"/>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Key reports and data-driven decisions</a:t>
            </a:r>
            <a:endParaRPr/>
          </a:p>
        </p:txBody>
      </p:sp>
      <p:sp>
        <p:nvSpPr>
          <p:cNvPr id="518" name="Google Shape;518;p13"/>
          <p:cNvSpPr/>
          <p:nvPr/>
        </p:nvSpPr>
        <p:spPr>
          <a:xfrm>
            <a:off x="274320" y="466344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3"/>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Self-Study</a:t>
            </a:r>
            <a:endParaRPr/>
          </a:p>
        </p:txBody>
      </p:sp>
      <p:sp>
        <p:nvSpPr>
          <p:cNvPr id="520" name="Google Shape;520;p13"/>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Self</a:t>
            </a:r>
            <a:endParaRPr/>
          </a:p>
        </p:txBody>
      </p:sp>
      <p:sp>
        <p:nvSpPr>
          <p:cNvPr id="521" name="Google Shape;521;p13"/>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522" name="Google Shape;522;p13"/>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13"/>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Mid-Week Check-In</a:t>
            </a:r>
            <a:endParaRPr/>
          </a:p>
        </p:txBody>
      </p:sp>
      <p:sp>
        <p:nvSpPr>
          <p:cNvPr id="524" name="Google Shape;524;p13"/>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Individual Manager</a:t>
            </a:r>
            <a:endParaRPr/>
          </a:p>
        </p:txBody>
      </p:sp>
      <p:sp>
        <p:nvSpPr>
          <p:cNvPr id="525" name="Google Shape;525;p13"/>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Informal manager touchpoint — progress check, questions, and support</a:t>
            </a:r>
            <a:endParaRPr/>
          </a:p>
        </p:txBody>
      </p:sp>
      <p:sp>
        <p:nvSpPr>
          <p:cNvPr id="526" name="Google Shape;526;p13"/>
          <p:cNvSpPr/>
          <p:nvPr/>
        </p:nvSpPr>
        <p:spPr>
          <a:xfrm>
            <a:off x="8778240" y="1188720"/>
            <a:ext cx="3200400" cy="41148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13"/>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528" name="Google Shape;528;p13"/>
          <p:cNvSpPr/>
          <p:nvPr/>
        </p:nvSpPr>
        <p:spPr>
          <a:xfrm>
            <a:off x="8778240" y="1600200"/>
            <a:ext cx="3200400" cy="1426464"/>
          </a:xfrm>
          <a:prstGeom prst="rect">
            <a:avLst/>
          </a:prstGeom>
          <a:solidFill>
            <a:srgbClr val="F8F4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13"/>
          <p:cNvSpPr txBox="1"/>
          <p:nvPr/>
        </p:nvSpPr>
        <p:spPr>
          <a:xfrm>
            <a:off x="8961120" y="1691640"/>
            <a:ext cx="28346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Run sample Metabase queries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Explore your portfolio in Agency Dashboard</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Study HubSpot workflow automation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sp>
        <p:nvSpPr>
          <p:cNvPr id="534" name="Google Shape;534;p14"/>
          <p:cNvSpPr/>
          <p:nvPr/>
        </p:nvSpPr>
        <p:spPr>
          <a:xfrm>
            <a:off x="0" y="0"/>
            <a:ext cx="12191695" cy="914400"/>
          </a:xfrm>
          <a:prstGeom prst="rect">
            <a:avLst/>
          </a:prstGeom>
          <a:solidFill>
            <a:srgbClr val="3D20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14"/>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2  |  DAY 4</a:t>
            </a:r>
            <a:endParaRPr/>
          </a:p>
        </p:txBody>
      </p:sp>
      <p:sp>
        <p:nvSpPr>
          <p:cNvPr id="536" name="Google Shape;536;p14"/>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4B8E8"/>
                </a:solidFill>
                <a:latin typeface="Montserrat"/>
                <a:ea typeface="Montserrat"/>
                <a:cs typeface="Montserrat"/>
                <a:sym typeface="Montserrat"/>
              </a:rPr>
              <a:t>Agency Onboarding &amp; DriveSmart</a:t>
            </a:r>
            <a:endParaRPr/>
          </a:p>
        </p:txBody>
      </p:sp>
      <p:sp>
        <p:nvSpPr>
          <p:cNvPr id="537" name="Google Shape;537;p14"/>
          <p:cNvSpPr/>
          <p:nvPr/>
        </p:nvSpPr>
        <p:spPr>
          <a:xfrm>
            <a:off x="274320" y="1188720"/>
            <a:ext cx="8229600" cy="41148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14"/>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539" name="Google Shape;539;p14"/>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540" name="Google Shape;540;p14"/>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541" name="Google Shape;541;p14"/>
          <p:cNvSpPr/>
          <p:nvPr/>
        </p:nvSpPr>
        <p:spPr>
          <a:xfrm>
            <a:off x="274320" y="164592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4"/>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Shadow: Agency Onboarding #1</a:t>
            </a:r>
            <a:endParaRPr/>
          </a:p>
        </p:txBody>
      </p:sp>
      <p:sp>
        <p:nvSpPr>
          <p:cNvPr id="543" name="Google Shape;543;p14"/>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Tamera Pfeiffer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Agency Success Lead</a:t>
            </a:r>
            <a:endParaRPr/>
          </a:p>
        </p:txBody>
      </p:sp>
      <p:sp>
        <p:nvSpPr>
          <p:cNvPr id="544" name="Google Shape;544;p14"/>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Observe agency onboarding end-to-end</a:t>
            </a:r>
            <a:endParaRPr/>
          </a:p>
        </p:txBody>
      </p:sp>
      <p:sp>
        <p:nvSpPr>
          <p:cNvPr id="545" name="Google Shape;545;p14"/>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4"/>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Shadow: Agency Onboarding #2</a:t>
            </a:r>
            <a:endParaRPr/>
          </a:p>
        </p:txBody>
      </p:sp>
      <p:sp>
        <p:nvSpPr>
          <p:cNvPr id="547" name="Google Shape;547;p14"/>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Tamera Pfeiffer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Agency Success Lead</a:t>
            </a:r>
            <a:endParaRPr/>
          </a:p>
        </p:txBody>
      </p:sp>
      <p:sp>
        <p:nvSpPr>
          <p:cNvPr id="548" name="Google Shape;548;p14"/>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Second onboarding — note patterns</a:t>
            </a:r>
            <a:endParaRPr/>
          </a:p>
        </p:txBody>
      </p:sp>
      <p:sp>
        <p:nvSpPr>
          <p:cNvPr id="549" name="Google Shape;549;p14"/>
          <p:cNvSpPr/>
          <p:nvPr/>
        </p:nvSpPr>
        <p:spPr>
          <a:xfrm>
            <a:off x="274320" y="265176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4"/>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Intro to DriveSmart</a:t>
            </a:r>
            <a:endParaRPr/>
          </a:p>
        </p:txBody>
      </p:sp>
      <p:sp>
        <p:nvSpPr>
          <p:cNvPr id="551" name="Google Shape;551;p14"/>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TBD</a:t>
            </a:r>
            <a:endParaRPr/>
          </a:p>
        </p:txBody>
      </p:sp>
      <p:sp>
        <p:nvSpPr>
          <p:cNvPr id="552" name="Google Shape;552;p14"/>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Features, value proposition, positioning</a:t>
            </a:r>
            <a:endParaRPr/>
          </a:p>
        </p:txBody>
      </p:sp>
      <p:sp>
        <p:nvSpPr>
          <p:cNvPr id="553" name="Google Shape;553;p14"/>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4"/>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Lunch Break</a:t>
            </a:r>
            <a:endParaRPr/>
          </a:p>
        </p:txBody>
      </p:sp>
      <p:sp>
        <p:nvSpPr>
          <p:cNvPr id="555" name="Google Shape;555;p14"/>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a:t>
            </a:r>
            <a:endParaRPr/>
          </a:p>
        </p:txBody>
      </p:sp>
      <p:sp>
        <p:nvSpPr>
          <p:cNvPr id="556" name="Google Shape;556;p14"/>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557" name="Google Shape;557;p14"/>
          <p:cNvSpPr/>
          <p:nvPr/>
        </p:nvSpPr>
        <p:spPr>
          <a:xfrm>
            <a:off x="274320" y="365760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4"/>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Underwriting</a:t>
            </a:r>
            <a:endParaRPr/>
          </a:p>
        </p:txBody>
      </p:sp>
      <p:sp>
        <p:nvSpPr>
          <p:cNvPr id="559" name="Google Shape;559;p14"/>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560" name="Google Shape;560;p14"/>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Submission review, risk assessment, approvals</a:t>
            </a:r>
            <a:endParaRPr/>
          </a:p>
        </p:txBody>
      </p:sp>
      <p:sp>
        <p:nvSpPr>
          <p:cNvPr id="561" name="Google Shape;561;p14"/>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4"/>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Customer Service Overview 2</a:t>
            </a:r>
            <a:endParaRPr/>
          </a:p>
        </p:txBody>
      </p:sp>
      <p:sp>
        <p:nvSpPr>
          <p:cNvPr id="563" name="Google Shape;563;p14"/>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Brittney Decker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Vice President of Customer Service Operations</a:t>
            </a:r>
            <a:endParaRPr/>
          </a:p>
        </p:txBody>
      </p:sp>
      <p:sp>
        <p:nvSpPr>
          <p:cNvPr id="564" name="Google Shape;564;p14"/>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Claims support, policy changes, retention</a:t>
            </a:r>
            <a:endParaRPr/>
          </a:p>
        </p:txBody>
      </p:sp>
      <p:sp>
        <p:nvSpPr>
          <p:cNvPr id="565" name="Google Shape;565;p14"/>
          <p:cNvSpPr/>
          <p:nvPr/>
        </p:nvSpPr>
        <p:spPr>
          <a:xfrm>
            <a:off x="274320" y="466344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4"/>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Self-Study</a:t>
            </a:r>
            <a:endParaRPr/>
          </a:p>
        </p:txBody>
      </p:sp>
      <p:sp>
        <p:nvSpPr>
          <p:cNvPr id="567" name="Google Shape;567;p14"/>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Self</a:t>
            </a:r>
            <a:endParaRPr/>
          </a:p>
        </p:txBody>
      </p:sp>
      <p:sp>
        <p:nvSpPr>
          <p:cNvPr id="568" name="Google Shape;568;p14"/>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569" name="Google Shape;569;p14"/>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4"/>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Objection Handling Roleplay</a:t>
            </a:r>
            <a:endParaRPr/>
          </a:p>
        </p:txBody>
      </p:sp>
      <p:sp>
        <p:nvSpPr>
          <p:cNvPr id="571" name="Google Shape;571;p14"/>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572" name="Google Shape;572;p14"/>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Practice objection handling with coaching</a:t>
            </a:r>
            <a:endParaRPr/>
          </a:p>
        </p:txBody>
      </p:sp>
      <p:sp>
        <p:nvSpPr>
          <p:cNvPr id="573" name="Google Shape;573;p14"/>
          <p:cNvSpPr/>
          <p:nvPr/>
        </p:nvSpPr>
        <p:spPr>
          <a:xfrm>
            <a:off x="8778240" y="1188720"/>
            <a:ext cx="3200400" cy="41148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14"/>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575" name="Google Shape;575;p14"/>
          <p:cNvSpPr/>
          <p:nvPr/>
        </p:nvSpPr>
        <p:spPr>
          <a:xfrm>
            <a:off x="8778240" y="1600200"/>
            <a:ext cx="3200400" cy="1426464"/>
          </a:xfrm>
          <a:prstGeom prst="rect">
            <a:avLst/>
          </a:prstGeom>
          <a:solidFill>
            <a:srgbClr val="F8F4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14"/>
          <p:cNvSpPr txBox="1"/>
          <p:nvPr/>
        </p:nvSpPr>
        <p:spPr>
          <a:xfrm>
            <a:off x="8961120" y="1691640"/>
            <a:ext cx="28346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Review DriveSmart materials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Draft notes on common onboarding questions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Compare the two onboarding sessions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15"/>
          <p:cNvSpPr/>
          <p:nvPr/>
        </p:nvSpPr>
        <p:spPr>
          <a:xfrm>
            <a:off x="0" y="0"/>
            <a:ext cx="12191695" cy="914400"/>
          </a:xfrm>
          <a:prstGeom prst="rect">
            <a:avLst/>
          </a:prstGeom>
          <a:solidFill>
            <a:srgbClr val="3D20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5"/>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2  |  DAY 5</a:t>
            </a:r>
            <a:endParaRPr/>
          </a:p>
        </p:txBody>
      </p:sp>
      <p:sp>
        <p:nvSpPr>
          <p:cNvPr id="583" name="Google Shape;583;p15"/>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4B8E8"/>
                </a:solidFill>
                <a:latin typeface="Montserrat"/>
                <a:ea typeface="Montserrat"/>
                <a:cs typeface="Montserrat"/>
                <a:sym typeface="Montserrat"/>
              </a:rPr>
              <a:t>Billing, Renewals &amp; Reporting</a:t>
            </a:r>
            <a:endParaRPr/>
          </a:p>
        </p:txBody>
      </p:sp>
      <p:sp>
        <p:nvSpPr>
          <p:cNvPr id="584" name="Google Shape;584;p15"/>
          <p:cNvSpPr/>
          <p:nvPr/>
        </p:nvSpPr>
        <p:spPr>
          <a:xfrm>
            <a:off x="274320" y="1188720"/>
            <a:ext cx="8229600" cy="41148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5"/>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586" name="Google Shape;586;p15"/>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587" name="Google Shape;587;p15"/>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588" name="Google Shape;588;p15"/>
          <p:cNvSpPr/>
          <p:nvPr/>
        </p:nvSpPr>
        <p:spPr>
          <a:xfrm>
            <a:off x="274320" y="164592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5"/>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Billing 101</a:t>
            </a:r>
            <a:endParaRPr/>
          </a:p>
        </p:txBody>
      </p:sp>
      <p:sp>
        <p:nvSpPr>
          <p:cNvPr id="590" name="Google Shape;590;p15"/>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Charisse Skeete/Leena Jones</a:t>
            </a:r>
            <a:endParaRPr/>
          </a:p>
        </p:txBody>
      </p:sp>
      <p:sp>
        <p:nvSpPr>
          <p:cNvPr id="591" name="Google Shape;591;p15"/>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Premium finance, payments, agent FAQs</a:t>
            </a:r>
            <a:endParaRPr/>
          </a:p>
        </p:txBody>
      </p:sp>
      <p:sp>
        <p:nvSpPr>
          <p:cNvPr id="592" name="Google Shape;592;p15"/>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5"/>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Renewals</a:t>
            </a:r>
            <a:endParaRPr/>
          </a:p>
        </p:txBody>
      </p:sp>
      <p:sp>
        <p:nvSpPr>
          <p:cNvPr id="594" name="Google Shape;594;p15"/>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Christopher Hayes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a:t>
            </a:r>
            <a:endParaRPr/>
          </a:p>
        </p:txBody>
      </p:sp>
      <p:sp>
        <p:nvSpPr>
          <p:cNvPr id="595" name="Google Shape;595;p15"/>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Renewal lifecycle and retention strategies</a:t>
            </a:r>
            <a:endParaRPr/>
          </a:p>
        </p:txBody>
      </p:sp>
      <p:sp>
        <p:nvSpPr>
          <p:cNvPr id="596" name="Google Shape;596;p15"/>
          <p:cNvSpPr/>
          <p:nvPr/>
        </p:nvSpPr>
        <p:spPr>
          <a:xfrm>
            <a:off x="274320" y="265176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5"/>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Fleet Pipeline</a:t>
            </a:r>
            <a:endParaRPr/>
          </a:p>
        </p:txBody>
      </p:sp>
      <p:sp>
        <p:nvSpPr>
          <p:cNvPr id="598" name="Google Shape;598;p15"/>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599" name="Google Shape;599;p15"/>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Stages, SLAs, escalation, management</a:t>
            </a:r>
            <a:endParaRPr/>
          </a:p>
        </p:txBody>
      </p:sp>
      <p:sp>
        <p:nvSpPr>
          <p:cNvPr id="600" name="Google Shape;600;p15"/>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15"/>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Lunch Break</a:t>
            </a:r>
            <a:endParaRPr/>
          </a:p>
        </p:txBody>
      </p:sp>
      <p:sp>
        <p:nvSpPr>
          <p:cNvPr id="602" name="Google Shape;602;p15"/>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a:t>
            </a:r>
            <a:endParaRPr/>
          </a:p>
        </p:txBody>
      </p:sp>
      <p:sp>
        <p:nvSpPr>
          <p:cNvPr id="603" name="Google Shape;603;p15"/>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604" name="Google Shape;604;p15"/>
          <p:cNvSpPr/>
          <p:nvPr/>
        </p:nvSpPr>
        <p:spPr>
          <a:xfrm>
            <a:off x="274320" y="365760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15"/>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Metabase Training</a:t>
            </a:r>
            <a:endParaRPr/>
          </a:p>
        </p:txBody>
      </p:sp>
      <p:sp>
        <p:nvSpPr>
          <p:cNvPr id="606" name="Google Shape;606;p15"/>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607" name="Google Shape;607;p15"/>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Advanced reporting and custom views</a:t>
            </a:r>
            <a:endParaRPr/>
          </a:p>
        </p:txBody>
      </p:sp>
      <p:sp>
        <p:nvSpPr>
          <p:cNvPr id="608" name="Google Shape;608;p15"/>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5"/>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Meet Nyles Oppenheimer: KPIs &amp; Market Strategy</a:t>
            </a:r>
            <a:endParaRPr/>
          </a:p>
        </p:txBody>
      </p:sp>
      <p:sp>
        <p:nvSpPr>
          <p:cNvPr id="610" name="Google Shape;610;p15"/>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Nyles Oppenheimer</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Chief Revenue Officer</a:t>
            </a:r>
            <a:endParaRPr/>
          </a:p>
        </p:txBody>
      </p:sp>
      <p:sp>
        <p:nvSpPr>
          <p:cNvPr id="611" name="Google Shape;611;p15"/>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KPIs, market trends, growth benchmarking</a:t>
            </a:r>
            <a:endParaRPr/>
          </a:p>
        </p:txBody>
      </p:sp>
      <p:sp>
        <p:nvSpPr>
          <p:cNvPr id="612" name="Google Shape;612;p15"/>
          <p:cNvSpPr/>
          <p:nvPr/>
        </p:nvSpPr>
        <p:spPr>
          <a:xfrm>
            <a:off x="274320" y="4663440"/>
            <a:ext cx="8229600" cy="484632"/>
          </a:xfrm>
          <a:prstGeom prst="rect">
            <a:avLst/>
          </a:prstGeom>
          <a:solidFill>
            <a:srgbClr val="F3EB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15"/>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Self-Study</a:t>
            </a:r>
            <a:endParaRPr/>
          </a:p>
        </p:txBody>
      </p:sp>
      <p:sp>
        <p:nvSpPr>
          <p:cNvPr id="614" name="Google Shape;614;p15"/>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Self</a:t>
            </a:r>
            <a:endParaRPr/>
          </a:p>
        </p:txBody>
      </p:sp>
      <p:sp>
        <p:nvSpPr>
          <p:cNvPr id="615" name="Google Shape;615;p15"/>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616" name="Google Shape;616;p15"/>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15"/>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D2066"/>
                </a:solidFill>
                <a:latin typeface="Montserrat"/>
                <a:ea typeface="Montserrat"/>
                <a:cs typeface="Montserrat"/>
                <a:sym typeface="Montserrat"/>
              </a:rPr>
              <a:t>Weekly Recap &amp; Debrief</a:t>
            </a:r>
            <a:endParaRPr/>
          </a:p>
        </p:txBody>
      </p:sp>
      <p:sp>
        <p:nvSpPr>
          <p:cNvPr id="618" name="Google Shape;618;p15"/>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6B3FA0"/>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619" name="Google Shape;619;p15"/>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Week 2 summary and Week 3 preview</a:t>
            </a:r>
            <a:endParaRPr/>
          </a:p>
        </p:txBody>
      </p:sp>
      <p:sp>
        <p:nvSpPr>
          <p:cNvPr id="620" name="Google Shape;620;p15"/>
          <p:cNvSpPr/>
          <p:nvPr/>
        </p:nvSpPr>
        <p:spPr>
          <a:xfrm>
            <a:off x="8778240" y="1188720"/>
            <a:ext cx="3200400" cy="41148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15"/>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622" name="Google Shape;622;p15"/>
          <p:cNvSpPr/>
          <p:nvPr/>
        </p:nvSpPr>
        <p:spPr>
          <a:xfrm>
            <a:off x="8778240" y="1600200"/>
            <a:ext cx="3200400" cy="1810512"/>
          </a:xfrm>
          <a:prstGeom prst="rect">
            <a:avLst/>
          </a:prstGeom>
          <a:solidFill>
            <a:srgbClr val="F8F4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15"/>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Complete Week 2 self-assessment</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Identify top 5 target agencies from territory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Prepare outreach materials for Week 3</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Recommended: Partner discovery playbook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2D8E"/>
        </a:solidFill>
      </p:bgPr>
    </p:bg>
    <p:spTree>
      <p:nvGrpSpPr>
        <p:cNvPr id="627" name="Shape 627"/>
        <p:cNvGrpSpPr/>
        <p:nvPr/>
      </p:nvGrpSpPr>
      <p:grpSpPr>
        <a:xfrm>
          <a:off x="0" y="0"/>
          <a:ext cx="0" cy="0"/>
          <a:chOff x="0" y="0"/>
          <a:chExt cx="0" cy="0"/>
        </a:xfrm>
      </p:grpSpPr>
      <p:sp>
        <p:nvSpPr>
          <p:cNvPr id="628" name="Google Shape;628;p16"/>
          <p:cNvSpPr txBox="1"/>
          <p:nvPr/>
        </p:nvSpPr>
        <p:spPr>
          <a:xfrm>
            <a:off x="914400" y="137160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a:solidFill>
                  <a:srgbClr val="FFFFFF"/>
                </a:solidFill>
                <a:latin typeface="Montserrat"/>
                <a:ea typeface="Montserrat"/>
                <a:cs typeface="Montserrat"/>
                <a:sym typeface="Montserrat"/>
              </a:rPr>
              <a:t>WEEK 3</a:t>
            </a:r>
            <a:endParaRPr/>
          </a:p>
        </p:txBody>
      </p:sp>
      <p:sp>
        <p:nvSpPr>
          <p:cNvPr id="629" name="Google Shape;629;p16"/>
          <p:cNvSpPr/>
          <p:nvPr/>
        </p:nvSpPr>
        <p:spPr>
          <a:xfrm>
            <a:off x="4114800" y="2560320"/>
            <a:ext cx="3931920" cy="3810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6"/>
          <p:cNvSpPr txBox="1"/>
          <p:nvPr/>
        </p:nvSpPr>
        <p:spPr>
          <a:xfrm>
            <a:off x="914400" y="2743200"/>
            <a:ext cx="10058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200">
                <a:solidFill>
                  <a:srgbClr val="B07CD8"/>
                </a:solidFill>
                <a:latin typeface="Montserrat"/>
                <a:ea typeface="Montserrat"/>
                <a:cs typeface="Montserrat"/>
                <a:sym typeface="Montserrat"/>
              </a:rPr>
              <a:t>Application &amp; Execution</a:t>
            </a:r>
            <a:endParaRPr/>
          </a:p>
        </p:txBody>
      </p:sp>
      <p:sp>
        <p:nvSpPr>
          <p:cNvPr id="631" name="Google Shape;631;p16"/>
          <p:cNvSpPr txBox="1"/>
          <p:nvPr/>
        </p:nvSpPr>
        <p:spPr>
          <a:xfrm>
            <a:off x="1828800" y="3840480"/>
            <a:ext cx="8229600" cy="22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DEC8F0"/>
                </a:solidFill>
                <a:latin typeface="Montserrat"/>
                <a:ea typeface="Montserrat"/>
                <a:cs typeface="Montserrat"/>
                <a:sym typeface="Montserrat"/>
              </a:rPr>
              <a:t>•  Transition from learning to doing — begin independent partner outreach</a:t>
            </a:r>
            <a:endParaRPr/>
          </a:p>
          <a:p>
            <a:pPr indent="0" lvl="0" marL="0" marR="0" rtl="0" algn="l">
              <a:spcBef>
                <a:spcPts val="400"/>
              </a:spcBef>
              <a:spcAft>
                <a:spcPts val="0"/>
              </a:spcAft>
              <a:buNone/>
            </a:pPr>
            <a:r>
              <a:rPr lang="en-US" sz="1300">
                <a:solidFill>
                  <a:srgbClr val="DEC8F0"/>
                </a:solidFill>
                <a:latin typeface="Montserrat"/>
                <a:ea typeface="Montserrat"/>
                <a:cs typeface="Montserrat"/>
                <a:sym typeface="Montserrat"/>
              </a:rPr>
              <a:t>•  Conduct supervised discovery calls and partner meetings with real agencies</a:t>
            </a:r>
            <a:endParaRPr/>
          </a:p>
          <a:p>
            <a:pPr indent="0" lvl="0" marL="0" marR="0" rtl="0" algn="l">
              <a:spcBef>
                <a:spcPts val="400"/>
              </a:spcBef>
              <a:spcAft>
                <a:spcPts val="0"/>
              </a:spcAft>
              <a:buNone/>
            </a:pPr>
            <a:r>
              <a:rPr lang="en-US" sz="1300">
                <a:solidFill>
                  <a:srgbClr val="DEC8F0"/>
                </a:solidFill>
                <a:latin typeface="Montserrat"/>
                <a:ea typeface="Montserrat"/>
                <a:cs typeface="Montserrat"/>
                <a:sym typeface="Montserrat"/>
              </a:rPr>
              <a:t>•  Build and manage your initial pipeline in HubSpot</a:t>
            </a:r>
            <a:endParaRPr/>
          </a:p>
          <a:p>
            <a:pPr indent="0" lvl="0" marL="0" marR="0" rtl="0" algn="l">
              <a:spcBef>
                <a:spcPts val="400"/>
              </a:spcBef>
              <a:spcAft>
                <a:spcPts val="0"/>
              </a:spcAft>
              <a:buNone/>
            </a:pPr>
            <a:r>
              <a:rPr lang="en-US" sz="1300">
                <a:solidFill>
                  <a:srgbClr val="DEC8F0"/>
                </a:solidFill>
                <a:latin typeface="Montserrat"/>
                <a:ea typeface="Montserrat"/>
                <a:cs typeface="Montserrat"/>
                <a:sym typeface="Montserrat"/>
              </a:rPr>
              <a:t>•  Demonstrate proficiency in key tools (HubSpot, Metabase, Agent Resource Center)</a:t>
            </a:r>
            <a:endParaRPr/>
          </a:p>
          <a:p>
            <a:pPr indent="0" lvl="0" marL="0" marR="0" rtl="0" algn="l">
              <a:spcBef>
                <a:spcPts val="400"/>
              </a:spcBef>
              <a:spcAft>
                <a:spcPts val="0"/>
              </a:spcAft>
              <a:buNone/>
            </a:pPr>
            <a:r>
              <a:rPr lang="en-US" sz="1300">
                <a:solidFill>
                  <a:srgbClr val="DEC8F0"/>
                </a:solidFill>
                <a:latin typeface="Montserrat"/>
                <a:ea typeface="Montserrat"/>
                <a:cs typeface="Montserrat"/>
                <a:sym typeface="Montserrat"/>
              </a:rPr>
              <a:t>•  Complete onboarding readiness assessment and establish performance goals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5" name="Shape 635"/>
        <p:cNvGrpSpPr/>
        <p:nvPr/>
      </p:nvGrpSpPr>
      <p:grpSpPr>
        <a:xfrm>
          <a:off x="0" y="0"/>
          <a:ext cx="0" cy="0"/>
          <a:chOff x="0" y="0"/>
          <a:chExt cx="0" cy="0"/>
        </a:xfrm>
      </p:grpSpPr>
      <p:sp>
        <p:nvSpPr>
          <p:cNvPr id="636" name="Google Shape;636;p17"/>
          <p:cNvSpPr/>
          <p:nvPr/>
        </p:nvSpPr>
        <p:spPr>
          <a:xfrm>
            <a:off x="0" y="0"/>
            <a:ext cx="12191695" cy="914400"/>
          </a:xfrm>
          <a:prstGeom prst="rect">
            <a:avLst/>
          </a:prstGeom>
          <a:solidFill>
            <a:srgbClr val="5B2D8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17"/>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3  |  DAY 1</a:t>
            </a:r>
            <a:endParaRPr/>
          </a:p>
        </p:txBody>
      </p:sp>
      <p:sp>
        <p:nvSpPr>
          <p:cNvPr id="638" name="Google Shape;638;p17"/>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EC8F0"/>
                </a:solidFill>
                <a:latin typeface="Montserrat"/>
                <a:ea typeface="Montserrat"/>
                <a:cs typeface="Montserrat"/>
                <a:sym typeface="Montserrat"/>
              </a:rPr>
              <a:t>Outreach Preparation &amp; First Calls</a:t>
            </a:r>
            <a:endParaRPr/>
          </a:p>
        </p:txBody>
      </p:sp>
      <p:sp>
        <p:nvSpPr>
          <p:cNvPr id="639" name="Google Shape;639;p17"/>
          <p:cNvSpPr/>
          <p:nvPr/>
        </p:nvSpPr>
        <p:spPr>
          <a:xfrm>
            <a:off x="274320" y="1188720"/>
            <a:ext cx="8229600" cy="41148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17"/>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641" name="Google Shape;641;p17"/>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642" name="Google Shape;642;p17"/>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643" name="Google Shape;643;p17"/>
          <p:cNvSpPr/>
          <p:nvPr/>
        </p:nvSpPr>
        <p:spPr>
          <a:xfrm>
            <a:off x="274320" y="164592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17"/>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Outreach Strategy</a:t>
            </a:r>
            <a:endParaRPr/>
          </a:p>
        </p:txBody>
      </p:sp>
      <p:sp>
        <p:nvSpPr>
          <p:cNvPr id="645" name="Google Shape;645;p17"/>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646" name="Google Shape;646;p17"/>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Target lists, templates, scripts, CRM standards</a:t>
            </a:r>
            <a:endParaRPr/>
          </a:p>
        </p:txBody>
      </p:sp>
      <p:sp>
        <p:nvSpPr>
          <p:cNvPr id="647" name="Google Shape;647;p17"/>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17"/>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Live Call Prep</a:t>
            </a:r>
            <a:endParaRPr/>
          </a:p>
        </p:txBody>
      </p:sp>
      <p:sp>
        <p:nvSpPr>
          <p:cNvPr id="649" name="Google Shape;649;p17"/>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650" name="Google Shape;650;p17"/>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Role-play — objection handling and positioning</a:t>
            </a:r>
            <a:endParaRPr/>
          </a:p>
        </p:txBody>
      </p:sp>
      <p:sp>
        <p:nvSpPr>
          <p:cNvPr id="651" name="Google Shape;651;p17"/>
          <p:cNvSpPr/>
          <p:nvPr/>
        </p:nvSpPr>
        <p:spPr>
          <a:xfrm>
            <a:off x="274320" y="265176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17"/>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Supervised Calls</a:t>
            </a:r>
            <a:endParaRPr/>
          </a:p>
        </p:txBody>
      </p:sp>
      <p:sp>
        <p:nvSpPr>
          <p:cNvPr id="653" name="Google Shape;653;p17"/>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654" name="Google Shape;654;p17"/>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First outreach calls with live coaching</a:t>
            </a:r>
            <a:endParaRPr/>
          </a:p>
        </p:txBody>
      </p:sp>
      <p:sp>
        <p:nvSpPr>
          <p:cNvPr id="655" name="Google Shape;655;p17"/>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17"/>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Lunch Break</a:t>
            </a:r>
            <a:endParaRPr/>
          </a:p>
        </p:txBody>
      </p:sp>
      <p:sp>
        <p:nvSpPr>
          <p:cNvPr id="657" name="Google Shape;657;p17"/>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a:t>
            </a:r>
            <a:endParaRPr/>
          </a:p>
        </p:txBody>
      </p:sp>
      <p:sp>
        <p:nvSpPr>
          <p:cNvPr id="658" name="Google Shape;658;p17"/>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659" name="Google Shape;659;p17"/>
          <p:cNvSpPr/>
          <p:nvPr/>
        </p:nvSpPr>
        <p:spPr>
          <a:xfrm>
            <a:off x="274320" y="365760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17"/>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Agency Visit Planning &amp; Prep</a:t>
            </a:r>
            <a:endParaRPr/>
          </a:p>
        </p:txBody>
      </p:sp>
      <p:sp>
        <p:nvSpPr>
          <p:cNvPr id="661" name="Google Shape;661;p17"/>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662" name="Google Shape;662;p17"/>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Planning impactful visits, best practices</a:t>
            </a:r>
            <a:endParaRPr/>
          </a:p>
        </p:txBody>
      </p:sp>
      <p:sp>
        <p:nvSpPr>
          <p:cNvPr id="663" name="Google Shape;663;p17"/>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17"/>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Manager Check-In</a:t>
            </a:r>
            <a:endParaRPr/>
          </a:p>
        </p:txBody>
      </p:sp>
      <p:sp>
        <p:nvSpPr>
          <p:cNvPr id="665" name="Google Shape;665;p17"/>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666" name="Google Shape;666;p17"/>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Gap analysis and Week 3 targets</a:t>
            </a:r>
            <a:endParaRPr/>
          </a:p>
        </p:txBody>
      </p:sp>
      <p:sp>
        <p:nvSpPr>
          <p:cNvPr id="667" name="Google Shape;667;p17"/>
          <p:cNvSpPr/>
          <p:nvPr/>
        </p:nvSpPr>
        <p:spPr>
          <a:xfrm>
            <a:off x="274320" y="466344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17"/>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Self-Study</a:t>
            </a:r>
            <a:endParaRPr/>
          </a:p>
        </p:txBody>
      </p:sp>
      <p:sp>
        <p:nvSpPr>
          <p:cNvPr id="669" name="Google Shape;669;p17"/>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Self</a:t>
            </a:r>
            <a:endParaRPr/>
          </a:p>
        </p:txBody>
      </p:sp>
      <p:sp>
        <p:nvSpPr>
          <p:cNvPr id="670" name="Google Shape;670;p17"/>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671" name="Google Shape;671;p17"/>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17"/>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Onboarding Debrief</a:t>
            </a:r>
            <a:endParaRPr/>
          </a:p>
        </p:txBody>
      </p:sp>
      <p:sp>
        <p:nvSpPr>
          <p:cNvPr id="673" name="Google Shape;673;p17"/>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674" name="Google Shape;674;p17"/>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Call review — wins and improvements</a:t>
            </a:r>
            <a:endParaRPr/>
          </a:p>
        </p:txBody>
      </p:sp>
      <p:sp>
        <p:nvSpPr>
          <p:cNvPr id="675" name="Google Shape;675;p17"/>
          <p:cNvSpPr/>
          <p:nvPr/>
        </p:nvSpPr>
        <p:spPr>
          <a:xfrm>
            <a:off x="8778240" y="1188720"/>
            <a:ext cx="3200400" cy="41148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17"/>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677" name="Google Shape;677;p17"/>
          <p:cNvSpPr/>
          <p:nvPr/>
        </p:nvSpPr>
        <p:spPr>
          <a:xfrm>
            <a:off x="8778240" y="1600200"/>
            <a:ext cx="3200400" cy="1810512"/>
          </a:xfrm>
          <a:prstGeom prst="rect">
            <a:avLst/>
          </a:prstGeom>
          <a:solidFill>
            <a:srgbClr val="FAF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17"/>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Log all call activity in HubSpot</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Refine target list based on Day 1 learnings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Draft follow-up emails for contacts made</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Practice objection handling scripts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2" name="Shape 682"/>
        <p:cNvGrpSpPr/>
        <p:nvPr/>
      </p:nvGrpSpPr>
      <p:grpSpPr>
        <a:xfrm>
          <a:off x="0" y="0"/>
          <a:ext cx="0" cy="0"/>
          <a:chOff x="0" y="0"/>
          <a:chExt cx="0" cy="0"/>
        </a:xfrm>
      </p:grpSpPr>
      <p:sp>
        <p:nvSpPr>
          <p:cNvPr id="683" name="Google Shape;683;p18"/>
          <p:cNvSpPr/>
          <p:nvPr/>
        </p:nvSpPr>
        <p:spPr>
          <a:xfrm>
            <a:off x="0" y="0"/>
            <a:ext cx="12191695" cy="914400"/>
          </a:xfrm>
          <a:prstGeom prst="rect">
            <a:avLst/>
          </a:prstGeom>
          <a:solidFill>
            <a:srgbClr val="5B2D8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18"/>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3  |  DAY 2</a:t>
            </a:r>
            <a:endParaRPr/>
          </a:p>
        </p:txBody>
      </p:sp>
      <p:sp>
        <p:nvSpPr>
          <p:cNvPr id="685" name="Google Shape;685;p18"/>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EC8F0"/>
                </a:solidFill>
                <a:latin typeface="Montserrat"/>
                <a:ea typeface="Montserrat"/>
                <a:cs typeface="Montserrat"/>
                <a:sym typeface="Montserrat"/>
              </a:rPr>
              <a:t>Independent Outreach &amp; Pipeline Building</a:t>
            </a:r>
            <a:endParaRPr/>
          </a:p>
        </p:txBody>
      </p:sp>
      <p:sp>
        <p:nvSpPr>
          <p:cNvPr id="686" name="Google Shape;686;p18"/>
          <p:cNvSpPr/>
          <p:nvPr/>
        </p:nvSpPr>
        <p:spPr>
          <a:xfrm>
            <a:off x="274320" y="1188720"/>
            <a:ext cx="8229600" cy="41148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18"/>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688" name="Google Shape;688;p18"/>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689" name="Google Shape;689;p18"/>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690" name="Google Shape;690;p18"/>
          <p:cNvSpPr/>
          <p:nvPr/>
        </p:nvSpPr>
        <p:spPr>
          <a:xfrm>
            <a:off x="274320" y="164592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18"/>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Morning Outreach Block</a:t>
            </a:r>
            <a:endParaRPr/>
          </a:p>
        </p:txBody>
      </p:sp>
      <p:sp>
        <p:nvSpPr>
          <p:cNvPr id="692" name="Google Shape;692;p18"/>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693" name="Google Shape;693;p18"/>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Supervised calls and emails to agencies</a:t>
            </a:r>
            <a:endParaRPr/>
          </a:p>
        </p:txBody>
      </p:sp>
      <p:sp>
        <p:nvSpPr>
          <p:cNvPr id="694" name="Google Shape;694;p18"/>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18"/>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Pipeline Review</a:t>
            </a:r>
            <a:endParaRPr/>
          </a:p>
        </p:txBody>
      </p:sp>
      <p:sp>
        <p:nvSpPr>
          <p:cNvPr id="696" name="Google Shape;696;p18"/>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697" name="Google Shape;697;p18"/>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HubSpot data quality and stage accuracy</a:t>
            </a:r>
            <a:endParaRPr/>
          </a:p>
        </p:txBody>
      </p:sp>
      <p:sp>
        <p:nvSpPr>
          <p:cNvPr id="698" name="Google Shape;698;p18"/>
          <p:cNvSpPr/>
          <p:nvPr/>
        </p:nvSpPr>
        <p:spPr>
          <a:xfrm>
            <a:off x="274320" y="265176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18"/>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Daily Expectations</a:t>
            </a:r>
            <a:endParaRPr/>
          </a:p>
        </p:txBody>
      </p:sp>
      <p:sp>
        <p:nvSpPr>
          <p:cNvPr id="700" name="Google Shape;700;p18"/>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701" name="Google Shape;701;p18"/>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Call volume, email targets, CRM logging</a:t>
            </a:r>
            <a:endParaRPr/>
          </a:p>
        </p:txBody>
      </p:sp>
      <p:sp>
        <p:nvSpPr>
          <p:cNvPr id="702" name="Google Shape;702;p18"/>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18"/>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Lunch Break</a:t>
            </a:r>
            <a:endParaRPr/>
          </a:p>
        </p:txBody>
      </p:sp>
      <p:sp>
        <p:nvSpPr>
          <p:cNvPr id="704" name="Google Shape;704;p18"/>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a:t>
            </a:r>
            <a:endParaRPr/>
          </a:p>
        </p:txBody>
      </p:sp>
      <p:sp>
        <p:nvSpPr>
          <p:cNvPr id="705" name="Google Shape;705;p18"/>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706" name="Google Shape;706;p18"/>
          <p:cNvSpPr/>
          <p:nvPr/>
        </p:nvSpPr>
        <p:spPr>
          <a:xfrm>
            <a:off x="274320" y="365760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18"/>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Quarterly Expectations BDM/BDA</a:t>
            </a:r>
            <a:endParaRPr/>
          </a:p>
        </p:txBody>
      </p:sp>
      <p:sp>
        <p:nvSpPr>
          <p:cNvPr id="708" name="Google Shape;708;p18"/>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709" name="Google Shape;709;p18"/>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Quarterly KPIs, review cadence, accountability</a:t>
            </a:r>
            <a:endParaRPr/>
          </a:p>
        </p:txBody>
      </p:sp>
      <p:sp>
        <p:nvSpPr>
          <p:cNvPr id="710" name="Google Shape;710;p18"/>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18"/>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Agency Mgmt Role Play</a:t>
            </a:r>
            <a:endParaRPr/>
          </a:p>
        </p:txBody>
      </p:sp>
      <p:sp>
        <p:nvSpPr>
          <p:cNvPr id="712" name="Google Shape;712;p18"/>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713" name="Google Shape;713;p18"/>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Practice agency management scenarios</a:t>
            </a:r>
            <a:endParaRPr/>
          </a:p>
        </p:txBody>
      </p:sp>
      <p:sp>
        <p:nvSpPr>
          <p:cNvPr id="714" name="Google Shape;714;p18"/>
          <p:cNvSpPr/>
          <p:nvPr/>
        </p:nvSpPr>
        <p:spPr>
          <a:xfrm>
            <a:off x="274320" y="466344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18"/>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Self-Study</a:t>
            </a:r>
            <a:endParaRPr/>
          </a:p>
        </p:txBody>
      </p:sp>
      <p:sp>
        <p:nvSpPr>
          <p:cNvPr id="716" name="Google Shape;716;p18"/>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Self</a:t>
            </a:r>
            <a:endParaRPr/>
          </a:p>
        </p:txBody>
      </p:sp>
      <p:sp>
        <p:nvSpPr>
          <p:cNvPr id="717" name="Google Shape;717;p18"/>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718" name="Google Shape;718;p18"/>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18"/>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Shadow Session</a:t>
            </a:r>
            <a:endParaRPr/>
          </a:p>
        </p:txBody>
      </p:sp>
      <p:sp>
        <p:nvSpPr>
          <p:cNvPr id="720" name="Google Shape;720;p18"/>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Derek Janssen</a:t>
            </a:r>
            <a:endParaRPr/>
          </a:p>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Antonio Reyes</a:t>
            </a:r>
            <a:endParaRPr/>
          </a:p>
        </p:txBody>
      </p:sp>
      <p:sp>
        <p:nvSpPr>
          <p:cNvPr id="721" name="Google Shape;721;p18"/>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Final shadow — techniques to apply</a:t>
            </a:r>
            <a:endParaRPr/>
          </a:p>
        </p:txBody>
      </p:sp>
      <p:sp>
        <p:nvSpPr>
          <p:cNvPr id="722" name="Google Shape;722;p18"/>
          <p:cNvSpPr/>
          <p:nvPr/>
        </p:nvSpPr>
        <p:spPr>
          <a:xfrm>
            <a:off x="8778240" y="1188720"/>
            <a:ext cx="3200400" cy="41148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18"/>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724" name="Google Shape;724;p18"/>
          <p:cNvSpPr/>
          <p:nvPr/>
        </p:nvSpPr>
        <p:spPr>
          <a:xfrm>
            <a:off x="8778240" y="1600200"/>
            <a:ext cx="3200400" cy="1810512"/>
          </a:xfrm>
          <a:prstGeom prst="rect">
            <a:avLst/>
          </a:prstGeom>
          <a:solidFill>
            <a:srgbClr val="FAF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18"/>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Ensure all outreach is logged in HubSpot</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Send follow-ups from Day 1 contacts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Update pipeline with accurate notes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Ongoing sales development tasks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sp>
        <p:nvSpPr>
          <p:cNvPr id="730" name="Google Shape;730;p19"/>
          <p:cNvSpPr/>
          <p:nvPr/>
        </p:nvSpPr>
        <p:spPr>
          <a:xfrm>
            <a:off x="0" y="0"/>
            <a:ext cx="12191695" cy="914400"/>
          </a:xfrm>
          <a:prstGeom prst="rect">
            <a:avLst/>
          </a:prstGeom>
          <a:solidFill>
            <a:srgbClr val="5B2D8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19"/>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3  |  DAY 3</a:t>
            </a:r>
            <a:endParaRPr/>
          </a:p>
        </p:txBody>
      </p:sp>
      <p:sp>
        <p:nvSpPr>
          <p:cNvPr id="732" name="Google Shape;732;p19"/>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EC8F0"/>
                </a:solidFill>
                <a:latin typeface="Montserrat"/>
                <a:ea typeface="Montserrat"/>
                <a:cs typeface="Montserrat"/>
                <a:sym typeface="Montserrat"/>
              </a:rPr>
              <a:t>Portfolio Analysis &amp; Reporting</a:t>
            </a:r>
            <a:endParaRPr/>
          </a:p>
        </p:txBody>
      </p:sp>
      <p:sp>
        <p:nvSpPr>
          <p:cNvPr id="733" name="Google Shape;733;p19"/>
          <p:cNvSpPr/>
          <p:nvPr/>
        </p:nvSpPr>
        <p:spPr>
          <a:xfrm>
            <a:off x="274320" y="1188720"/>
            <a:ext cx="8229600" cy="41148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19"/>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735" name="Google Shape;735;p19"/>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736" name="Google Shape;736;p19"/>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737" name="Google Shape;737;p19"/>
          <p:cNvSpPr/>
          <p:nvPr/>
        </p:nvSpPr>
        <p:spPr>
          <a:xfrm>
            <a:off x="274320" y="164592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19"/>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Portfolio Deep Dive</a:t>
            </a:r>
            <a:endParaRPr/>
          </a:p>
        </p:txBody>
      </p:sp>
      <p:sp>
        <p:nvSpPr>
          <p:cNvPr id="739" name="Google Shape;739;p19"/>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740" name="Google Shape;740;p19"/>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Metabase analysis — growth opps and at-risk</a:t>
            </a:r>
            <a:endParaRPr/>
          </a:p>
        </p:txBody>
      </p:sp>
      <p:sp>
        <p:nvSpPr>
          <p:cNvPr id="741" name="Google Shape;741;p19"/>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19"/>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Report Building</a:t>
            </a:r>
            <a:endParaRPr/>
          </a:p>
        </p:txBody>
      </p:sp>
      <p:sp>
        <p:nvSpPr>
          <p:cNvPr id="743" name="Google Shape;743;p19"/>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744" name="Google Shape;744;p19"/>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Build portfolio report in Metabase</a:t>
            </a:r>
            <a:endParaRPr/>
          </a:p>
        </p:txBody>
      </p:sp>
      <p:sp>
        <p:nvSpPr>
          <p:cNvPr id="745" name="Google Shape;745;p19"/>
          <p:cNvSpPr/>
          <p:nvPr/>
        </p:nvSpPr>
        <p:spPr>
          <a:xfrm>
            <a:off x="274320" y="265176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19"/>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Territory Breakdown</a:t>
            </a:r>
            <a:endParaRPr/>
          </a:p>
        </p:txBody>
      </p:sp>
      <p:sp>
        <p:nvSpPr>
          <p:cNvPr id="747" name="Google Shape;747;p19"/>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Team</a:t>
            </a:r>
            <a:endParaRPr/>
          </a:p>
        </p:txBody>
      </p:sp>
      <p:sp>
        <p:nvSpPr>
          <p:cNvPr id="748" name="Google Shape;748;p19"/>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Shadow each team member's territory approach</a:t>
            </a:r>
            <a:endParaRPr/>
          </a:p>
        </p:txBody>
      </p:sp>
      <p:sp>
        <p:nvSpPr>
          <p:cNvPr id="749" name="Google Shape;749;p19"/>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19"/>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Lunch Break</a:t>
            </a:r>
            <a:endParaRPr/>
          </a:p>
        </p:txBody>
      </p:sp>
      <p:sp>
        <p:nvSpPr>
          <p:cNvPr id="751" name="Google Shape;751;p19"/>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a:t>
            </a:r>
            <a:endParaRPr/>
          </a:p>
        </p:txBody>
      </p:sp>
      <p:sp>
        <p:nvSpPr>
          <p:cNvPr id="752" name="Google Shape;752;p19"/>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753" name="Google Shape;753;p19"/>
          <p:cNvSpPr/>
          <p:nvPr/>
        </p:nvSpPr>
        <p:spPr>
          <a:xfrm>
            <a:off x="274320" y="365760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19"/>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Workshop: Build a Visit Plan</a:t>
            </a:r>
            <a:endParaRPr/>
          </a:p>
        </p:txBody>
      </p:sp>
      <p:sp>
        <p:nvSpPr>
          <p:cNvPr id="755" name="Google Shape;755;p19"/>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756" name="Google Shape;756;p19"/>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Create a structured visit plan with goals</a:t>
            </a:r>
            <a:endParaRPr/>
          </a:p>
        </p:txBody>
      </p:sp>
      <p:sp>
        <p:nvSpPr>
          <p:cNvPr id="757" name="Google Shape;757;p19"/>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19"/>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Continued Outreach</a:t>
            </a:r>
            <a:endParaRPr/>
          </a:p>
        </p:txBody>
      </p:sp>
      <p:sp>
        <p:nvSpPr>
          <p:cNvPr id="759" name="Google Shape;759;p19"/>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760" name="Google Shape;760;p19"/>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Expand target list and follow up on leads</a:t>
            </a:r>
            <a:endParaRPr/>
          </a:p>
        </p:txBody>
      </p:sp>
      <p:sp>
        <p:nvSpPr>
          <p:cNvPr id="761" name="Google Shape;761;p19"/>
          <p:cNvSpPr/>
          <p:nvPr/>
        </p:nvSpPr>
        <p:spPr>
          <a:xfrm>
            <a:off x="274320" y="466344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19"/>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Self-Study</a:t>
            </a:r>
            <a:endParaRPr/>
          </a:p>
        </p:txBody>
      </p:sp>
      <p:sp>
        <p:nvSpPr>
          <p:cNvPr id="763" name="Google Shape;763;p19"/>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Self</a:t>
            </a:r>
            <a:endParaRPr/>
          </a:p>
        </p:txBody>
      </p:sp>
      <p:sp>
        <p:nvSpPr>
          <p:cNvPr id="764" name="Google Shape;764;p19"/>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765" name="Google Shape;765;p19"/>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19"/>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Mid-Week Check-In</a:t>
            </a:r>
            <a:endParaRPr/>
          </a:p>
        </p:txBody>
      </p:sp>
      <p:sp>
        <p:nvSpPr>
          <p:cNvPr id="767" name="Google Shape;767;p19"/>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Individual Manager</a:t>
            </a:r>
            <a:endParaRPr/>
          </a:p>
        </p:txBody>
      </p:sp>
      <p:sp>
        <p:nvSpPr>
          <p:cNvPr id="768" name="Google Shape;768;p19"/>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Informal manager touchpoint — progress check, questions, and support</a:t>
            </a:r>
            <a:endParaRPr/>
          </a:p>
        </p:txBody>
      </p:sp>
      <p:sp>
        <p:nvSpPr>
          <p:cNvPr id="769" name="Google Shape;769;p19"/>
          <p:cNvSpPr/>
          <p:nvPr/>
        </p:nvSpPr>
        <p:spPr>
          <a:xfrm>
            <a:off x="8778240" y="1188720"/>
            <a:ext cx="3200400" cy="41148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19"/>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771" name="Google Shape;771;p19"/>
          <p:cNvSpPr/>
          <p:nvPr/>
        </p:nvSpPr>
        <p:spPr>
          <a:xfrm>
            <a:off x="8778240" y="1600200"/>
            <a:ext cx="3200400" cy="1426464"/>
          </a:xfrm>
          <a:prstGeom prst="rect">
            <a:avLst/>
          </a:prstGeom>
          <a:solidFill>
            <a:srgbClr val="FAF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19"/>
          <p:cNvSpPr txBox="1"/>
          <p:nvPr/>
        </p:nvSpPr>
        <p:spPr>
          <a:xfrm>
            <a:off x="8961120" y="1691640"/>
            <a:ext cx="28346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Prepare one-page portfolio summary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Identify 3 growth opps and 3 at-risk agencies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Continue logging all activity in HubSpot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20"/>
          <p:cNvSpPr/>
          <p:nvPr/>
        </p:nvSpPr>
        <p:spPr>
          <a:xfrm>
            <a:off x="0" y="0"/>
            <a:ext cx="12191695" cy="914400"/>
          </a:xfrm>
          <a:prstGeom prst="rect">
            <a:avLst/>
          </a:prstGeom>
          <a:solidFill>
            <a:srgbClr val="5B2D8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20"/>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3  |  DAY 4</a:t>
            </a:r>
            <a:endParaRPr/>
          </a:p>
        </p:txBody>
      </p:sp>
      <p:sp>
        <p:nvSpPr>
          <p:cNvPr id="779" name="Google Shape;779;p20"/>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EC8F0"/>
                </a:solidFill>
                <a:latin typeface="Montserrat"/>
                <a:ea typeface="Montserrat"/>
                <a:cs typeface="Montserrat"/>
                <a:sym typeface="Montserrat"/>
              </a:rPr>
              <a:t>Partner Meeting Execution</a:t>
            </a:r>
            <a:endParaRPr/>
          </a:p>
        </p:txBody>
      </p:sp>
      <p:sp>
        <p:nvSpPr>
          <p:cNvPr id="780" name="Google Shape;780;p20"/>
          <p:cNvSpPr/>
          <p:nvPr/>
        </p:nvSpPr>
        <p:spPr>
          <a:xfrm>
            <a:off x="274320" y="1188720"/>
            <a:ext cx="8229600" cy="41148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20"/>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782" name="Google Shape;782;p20"/>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783" name="Google Shape;783;p20"/>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784" name="Google Shape;784;p20"/>
          <p:cNvSpPr/>
          <p:nvPr/>
        </p:nvSpPr>
        <p:spPr>
          <a:xfrm>
            <a:off x="274320" y="164592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20"/>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Meeting Prep</a:t>
            </a:r>
            <a:endParaRPr/>
          </a:p>
        </p:txBody>
      </p:sp>
      <p:sp>
        <p:nvSpPr>
          <p:cNvPr id="786" name="Google Shape;786;p20"/>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787" name="Google Shape;787;p20"/>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Agenda, talking points, materials review</a:t>
            </a:r>
            <a:endParaRPr/>
          </a:p>
        </p:txBody>
      </p:sp>
      <p:sp>
        <p:nvSpPr>
          <p:cNvPr id="788" name="Google Shape;788;p20"/>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20"/>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Live Partner Meeting</a:t>
            </a:r>
            <a:endParaRPr/>
          </a:p>
        </p:txBody>
      </p:sp>
      <p:sp>
        <p:nvSpPr>
          <p:cNvPr id="790" name="Google Shape;790;p20"/>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791" name="Google Shape;791;p20"/>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Conduct meeting with coaching support</a:t>
            </a:r>
            <a:endParaRPr/>
          </a:p>
        </p:txBody>
      </p:sp>
      <p:sp>
        <p:nvSpPr>
          <p:cNvPr id="792" name="Google Shape;792;p20"/>
          <p:cNvSpPr/>
          <p:nvPr/>
        </p:nvSpPr>
        <p:spPr>
          <a:xfrm>
            <a:off x="274320" y="265176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20"/>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Lunch Break</a:t>
            </a:r>
            <a:endParaRPr/>
          </a:p>
        </p:txBody>
      </p:sp>
      <p:sp>
        <p:nvSpPr>
          <p:cNvPr id="794" name="Google Shape;794;p20"/>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a:t>
            </a:r>
            <a:endParaRPr/>
          </a:p>
        </p:txBody>
      </p:sp>
      <p:sp>
        <p:nvSpPr>
          <p:cNvPr id="795" name="Google Shape;795;p20"/>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796" name="Google Shape;796;p20"/>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20"/>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Post-Meeting Debrief</a:t>
            </a:r>
            <a:endParaRPr/>
          </a:p>
        </p:txBody>
      </p:sp>
      <p:sp>
        <p:nvSpPr>
          <p:cNvPr id="798" name="Google Shape;798;p20"/>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799" name="Google Shape;799;p20"/>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Performance analysis and next steps</a:t>
            </a:r>
            <a:endParaRPr/>
          </a:p>
        </p:txBody>
      </p:sp>
      <p:sp>
        <p:nvSpPr>
          <p:cNvPr id="800" name="Google Shape;800;p20"/>
          <p:cNvSpPr/>
          <p:nvPr/>
        </p:nvSpPr>
        <p:spPr>
          <a:xfrm>
            <a:off x="274320" y="365760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20"/>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Platform Roleplay</a:t>
            </a:r>
            <a:endParaRPr/>
          </a:p>
        </p:txBody>
      </p:sp>
      <p:sp>
        <p:nvSpPr>
          <p:cNvPr id="802" name="Google Shape;802;p20"/>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Derek Janssen</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Senior Business Development Manager, Deputy Retail Leader</a:t>
            </a:r>
            <a:endParaRPr/>
          </a:p>
        </p:txBody>
      </p:sp>
      <p:sp>
        <p:nvSpPr>
          <p:cNvPr id="803" name="Google Shape;803;p20"/>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Practice live quoting and navigation</a:t>
            </a:r>
            <a:endParaRPr/>
          </a:p>
        </p:txBody>
      </p:sp>
      <p:sp>
        <p:nvSpPr>
          <p:cNvPr id="804" name="Google Shape;804;p20"/>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20"/>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Self-Study</a:t>
            </a:r>
            <a:endParaRPr/>
          </a:p>
        </p:txBody>
      </p:sp>
      <p:sp>
        <p:nvSpPr>
          <p:cNvPr id="806" name="Google Shape;806;p20"/>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Self</a:t>
            </a:r>
            <a:endParaRPr/>
          </a:p>
        </p:txBody>
      </p:sp>
      <p:sp>
        <p:nvSpPr>
          <p:cNvPr id="807" name="Google Shape;807;p20"/>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808" name="Google Shape;808;p20"/>
          <p:cNvSpPr/>
          <p:nvPr/>
        </p:nvSpPr>
        <p:spPr>
          <a:xfrm>
            <a:off x="274320" y="466344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20"/>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Continued Outreach</a:t>
            </a:r>
            <a:endParaRPr/>
          </a:p>
        </p:txBody>
      </p:sp>
      <p:sp>
        <p:nvSpPr>
          <p:cNvPr id="810" name="Google Shape;810;p20"/>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811" name="Google Shape;811;p20"/>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Independent outreach and pipeline mgmt</a:t>
            </a:r>
            <a:endParaRPr/>
          </a:p>
        </p:txBody>
      </p:sp>
      <p:sp>
        <p:nvSpPr>
          <p:cNvPr id="812" name="Google Shape;812;p20"/>
          <p:cNvSpPr/>
          <p:nvPr/>
        </p:nvSpPr>
        <p:spPr>
          <a:xfrm>
            <a:off x="8778240" y="1188720"/>
            <a:ext cx="3200400" cy="41148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20"/>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814" name="Google Shape;814;p20"/>
          <p:cNvSpPr/>
          <p:nvPr/>
        </p:nvSpPr>
        <p:spPr>
          <a:xfrm>
            <a:off x="8778240" y="1600200"/>
            <a:ext cx="3200400" cy="1810512"/>
          </a:xfrm>
          <a:prstGeom prst="rect">
            <a:avLst/>
          </a:prstGeom>
          <a:solidFill>
            <a:srgbClr val="FAF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20"/>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Send meeting follow-up within 2 hours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Update HubSpot with meeting notes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Prepare for Day 5 readiness assessment</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Ongoing sales development tasks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9" name="Shape 819"/>
        <p:cNvGrpSpPr/>
        <p:nvPr/>
      </p:nvGrpSpPr>
      <p:grpSpPr>
        <a:xfrm>
          <a:off x="0" y="0"/>
          <a:ext cx="0" cy="0"/>
          <a:chOff x="0" y="0"/>
          <a:chExt cx="0" cy="0"/>
        </a:xfrm>
      </p:grpSpPr>
      <p:sp>
        <p:nvSpPr>
          <p:cNvPr id="820" name="Google Shape;820;p21"/>
          <p:cNvSpPr/>
          <p:nvPr/>
        </p:nvSpPr>
        <p:spPr>
          <a:xfrm>
            <a:off x="0" y="0"/>
            <a:ext cx="12191695" cy="914400"/>
          </a:xfrm>
          <a:prstGeom prst="rect">
            <a:avLst/>
          </a:prstGeom>
          <a:solidFill>
            <a:srgbClr val="5B2D8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21"/>
          <p:cNvSpPr txBox="1"/>
          <p:nvPr/>
        </p:nvSpPr>
        <p:spPr>
          <a:xfrm>
            <a:off x="457200" y="91440"/>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FFFFFF"/>
                </a:solidFill>
                <a:latin typeface="Montserrat"/>
                <a:ea typeface="Montserrat"/>
                <a:cs typeface="Montserrat"/>
                <a:sym typeface="Montserrat"/>
              </a:rPr>
              <a:t>WEEK 3  |  DAY 5</a:t>
            </a:r>
            <a:endParaRPr/>
          </a:p>
        </p:txBody>
      </p:sp>
      <p:sp>
        <p:nvSpPr>
          <p:cNvPr id="822" name="Google Shape;822;p21"/>
          <p:cNvSpPr txBox="1"/>
          <p:nvPr/>
        </p:nvSpPr>
        <p:spPr>
          <a:xfrm>
            <a:off x="5486400" y="137160"/>
            <a:ext cx="59436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EC8F0"/>
                </a:solidFill>
                <a:latin typeface="Montserrat"/>
                <a:ea typeface="Montserrat"/>
                <a:cs typeface="Montserrat"/>
                <a:sym typeface="Montserrat"/>
              </a:rPr>
              <a:t>Readiness Assessment &amp; Transition</a:t>
            </a:r>
            <a:endParaRPr/>
          </a:p>
        </p:txBody>
      </p:sp>
      <p:sp>
        <p:nvSpPr>
          <p:cNvPr id="823" name="Google Shape;823;p21"/>
          <p:cNvSpPr/>
          <p:nvPr/>
        </p:nvSpPr>
        <p:spPr>
          <a:xfrm>
            <a:off x="274320" y="1188720"/>
            <a:ext cx="8229600" cy="41148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21"/>
          <p:cNvSpPr txBox="1"/>
          <p:nvPr/>
        </p:nvSpPr>
        <p:spPr>
          <a:xfrm>
            <a:off x="365760" y="1207008"/>
            <a:ext cx="2286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TOPIC</a:t>
            </a:r>
            <a:endParaRPr/>
          </a:p>
        </p:txBody>
      </p:sp>
      <p:sp>
        <p:nvSpPr>
          <p:cNvPr id="825" name="Google Shape;825;p21"/>
          <p:cNvSpPr txBox="1"/>
          <p:nvPr/>
        </p:nvSpPr>
        <p:spPr>
          <a:xfrm>
            <a:off x="2651760" y="1207008"/>
            <a:ext cx="2103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LEAD</a:t>
            </a:r>
            <a:endParaRPr/>
          </a:p>
        </p:txBody>
      </p:sp>
      <p:sp>
        <p:nvSpPr>
          <p:cNvPr id="826" name="Google Shape;826;p21"/>
          <p:cNvSpPr txBox="1"/>
          <p:nvPr/>
        </p:nvSpPr>
        <p:spPr>
          <a:xfrm>
            <a:off x="4846320" y="1207008"/>
            <a:ext cx="35661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DESCRIPTION</a:t>
            </a:r>
            <a:endParaRPr/>
          </a:p>
        </p:txBody>
      </p:sp>
      <p:sp>
        <p:nvSpPr>
          <p:cNvPr id="827" name="Google Shape;827;p21"/>
          <p:cNvSpPr/>
          <p:nvPr/>
        </p:nvSpPr>
        <p:spPr>
          <a:xfrm>
            <a:off x="274320" y="164592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21"/>
          <p:cNvSpPr txBox="1"/>
          <p:nvPr/>
        </p:nvSpPr>
        <p:spPr>
          <a:xfrm>
            <a:off x="365760" y="16916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Onboarding Assessment</a:t>
            </a:r>
            <a:endParaRPr/>
          </a:p>
        </p:txBody>
      </p:sp>
      <p:sp>
        <p:nvSpPr>
          <p:cNvPr id="829" name="Google Shape;829;p21"/>
          <p:cNvSpPr txBox="1"/>
          <p:nvPr/>
        </p:nvSpPr>
        <p:spPr>
          <a:xfrm>
            <a:off x="2651760" y="16642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830" name="Google Shape;830;p21"/>
          <p:cNvSpPr txBox="1"/>
          <p:nvPr/>
        </p:nvSpPr>
        <p:spPr>
          <a:xfrm>
            <a:off x="4846320" y="16916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Final assessment — products, tools, processes</a:t>
            </a:r>
            <a:endParaRPr/>
          </a:p>
        </p:txBody>
      </p:sp>
      <p:sp>
        <p:nvSpPr>
          <p:cNvPr id="831" name="Google Shape;831;p21"/>
          <p:cNvSpPr/>
          <p:nvPr/>
        </p:nvSpPr>
        <p:spPr>
          <a:xfrm>
            <a:off x="274320" y="214884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21"/>
          <p:cNvSpPr txBox="1"/>
          <p:nvPr/>
        </p:nvSpPr>
        <p:spPr>
          <a:xfrm>
            <a:off x="365760" y="21945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Elevator Pitch Delivery</a:t>
            </a:r>
            <a:endParaRPr/>
          </a:p>
        </p:txBody>
      </p:sp>
      <p:sp>
        <p:nvSpPr>
          <p:cNvPr id="833" name="Google Shape;833;p21"/>
          <p:cNvSpPr txBox="1"/>
          <p:nvPr/>
        </p:nvSpPr>
        <p:spPr>
          <a:xfrm>
            <a:off x="2651760" y="21671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Director, Go to Market</a:t>
            </a:r>
            <a:endParaRPr/>
          </a:p>
        </p:txBody>
      </p:sp>
      <p:sp>
        <p:nvSpPr>
          <p:cNvPr id="834" name="Google Shape;834;p21"/>
          <p:cNvSpPr txBox="1"/>
          <p:nvPr/>
        </p:nvSpPr>
        <p:spPr>
          <a:xfrm>
            <a:off x="4846320" y="21945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Pitch cert — clarity, confidence, accuracy</a:t>
            </a:r>
            <a:endParaRPr/>
          </a:p>
        </p:txBody>
      </p:sp>
      <p:sp>
        <p:nvSpPr>
          <p:cNvPr id="835" name="Google Shape;835;p21"/>
          <p:cNvSpPr/>
          <p:nvPr/>
        </p:nvSpPr>
        <p:spPr>
          <a:xfrm>
            <a:off x="274320" y="265176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6" name="Google Shape;836;p21"/>
          <p:cNvSpPr txBox="1"/>
          <p:nvPr/>
        </p:nvSpPr>
        <p:spPr>
          <a:xfrm>
            <a:off x="365760" y="26974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Partner Discovery Roleplay</a:t>
            </a:r>
            <a:endParaRPr/>
          </a:p>
        </p:txBody>
      </p:sp>
      <p:sp>
        <p:nvSpPr>
          <p:cNvPr id="837" name="Google Shape;837;p21"/>
          <p:cNvSpPr txBox="1"/>
          <p:nvPr/>
        </p:nvSpPr>
        <p:spPr>
          <a:xfrm>
            <a:off x="2651760" y="26700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George Soteropoulos</a:t>
            </a:r>
            <a:endParaRPr/>
          </a:p>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Derek Janssen</a:t>
            </a:r>
            <a:endParaRPr/>
          </a:p>
        </p:txBody>
      </p:sp>
      <p:sp>
        <p:nvSpPr>
          <p:cNvPr id="838" name="Google Shape;838;p21"/>
          <p:cNvSpPr txBox="1"/>
          <p:nvPr/>
        </p:nvSpPr>
        <p:spPr>
          <a:xfrm>
            <a:off x="4846320" y="26974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Simulate full discovery call with scoring</a:t>
            </a:r>
            <a:endParaRPr/>
          </a:p>
        </p:txBody>
      </p:sp>
      <p:sp>
        <p:nvSpPr>
          <p:cNvPr id="839" name="Google Shape;839;p21"/>
          <p:cNvSpPr/>
          <p:nvPr/>
        </p:nvSpPr>
        <p:spPr>
          <a:xfrm>
            <a:off x="274320" y="315468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21"/>
          <p:cNvSpPr txBox="1"/>
          <p:nvPr/>
        </p:nvSpPr>
        <p:spPr>
          <a:xfrm>
            <a:off x="365760" y="320040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Lunch Break</a:t>
            </a:r>
            <a:endParaRPr/>
          </a:p>
        </p:txBody>
      </p:sp>
      <p:sp>
        <p:nvSpPr>
          <p:cNvPr id="841" name="Google Shape;841;p21"/>
          <p:cNvSpPr txBox="1"/>
          <p:nvPr/>
        </p:nvSpPr>
        <p:spPr>
          <a:xfrm>
            <a:off x="2651760" y="317296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a:t>
            </a:r>
            <a:endParaRPr/>
          </a:p>
        </p:txBody>
      </p:sp>
      <p:sp>
        <p:nvSpPr>
          <p:cNvPr id="842" name="Google Shape;842;p21"/>
          <p:cNvSpPr txBox="1"/>
          <p:nvPr/>
        </p:nvSpPr>
        <p:spPr>
          <a:xfrm>
            <a:off x="4846320" y="320040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Midday break</a:t>
            </a:r>
            <a:endParaRPr/>
          </a:p>
        </p:txBody>
      </p:sp>
      <p:sp>
        <p:nvSpPr>
          <p:cNvPr id="843" name="Google Shape;843;p21"/>
          <p:cNvSpPr/>
          <p:nvPr/>
        </p:nvSpPr>
        <p:spPr>
          <a:xfrm>
            <a:off x="274320" y="365760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21"/>
          <p:cNvSpPr txBox="1"/>
          <p:nvPr/>
        </p:nvSpPr>
        <p:spPr>
          <a:xfrm>
            <a:off x="365760" y="370332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Pipeline Presentation</a:t>
            </a:r>
            <a:endParaRPr/>
          </a:p>
        </p:txBody>
      </p:sp>
      <p:sp>
        <p:nvSpPr>
          <p:cNvPr id="845" name="Google Shape;845;p21"/>
          <p:cNvSpPr txBox="1"/>
          <p:nvPr/>
        </p:nvSpPr>
        <p:spPr>
          <a:xfrm>
            <a:off x="2651760" y="367588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846" name="Google Shape;846;p21"/>
          <p:cNvSpPr txBox="1"/>
          <p:nvPr/>
        </p:nvSpPr>
        <p:spPr>
          <a:xfrm>
            <a:off x="4846320" y="370332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Present pipeline and 30-day action plan</a:t>
            </a:r>
            <a:endParaRPr/>
          </a:p>
        </p:txBody>
      </p:sp>
      <p:sp>
        <p:nvSpPr>
          <p:cNvPr id="847" name="Google Shape;847;p21"/>
          <p:cNvSpPr/>
          <p:nvPr/>
        </p:nvSpPr>
        <p:spPr>
          <a:xfrm>
            <a:off x="274320" y="416052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21"/>
          <p:cNvSpPr txBox="1"/>
          <p:nvPr/>
        </p:nvSpPr>
        <p:spPr>
          <a:xfrm>
            <a:off x="365760" y="420624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90-Day Goal Setting</a:t>
            </a:r>
            <a:endParaRPr/>
          </a:p>
        </p:txBody>
      </p:sp>
      <p:sp>
        <p:nvSpPr>
          <p:cNvPr id="849" name="Google Shape;849;p21"/>
          <p:cNvSpPr txBox="1"/>
          <p:nvPr/>
        </p:nvSpPr>
        <p:spPr>
          <a:xfrm>
            <a:off x="2651760" y="417880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i="1" lang="en-US" sz="700">
                <a:solidFill>
                  <a:srgbClr val="6B7B8D"/>
                </a:solidFill>
                <a:latin typeface="Montserrat"/>
                <a:ea typeface="Montserrat"/>
                <a:cs typeface="Montserrat"/>
                <a:sym typeface="Montserrat"/>
              </a:rPr>
              <a:t>Retail Distribution Leader</a:t>
            </a:r>
            <a:endParaRPr/>
          </a:p>
        </p:txBody>
      </p:sp>
      <p:sp>
        <p:nvSpPr>
          <p:cNvPr id="850" name="Google Shape;850;p21"/>
          <p:cNvSpPr txBox="1"/>
          <p:nvPr/>
        </p:nvSpPr>
        <p:spPr>
          <a:xfrm>
            <a:off x="4846320" y="420624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30/60/90-day targets and check-in cadence</a:t>
            </a:r>
            <a:endParaRPr/>
          </a:p>
        </p:txBody>
      </p:sp>
      <p:sp>
        <p:nvSpPr>
          <p:cNvPr id="851" name="Google Shape;851;p21"/>
          <p:cNvSpPr/>
          <p:nvPr/>
        </p:nvSpPr>
        <p:spPr>
          <a:xfrm>
            <a:off x="274320" y="4663440"/>
            <a:ext cx="8229600" cy="484632"/>
          </a:xfrm>
          <a:prstGeom prst="rect">
            <a:avLst/>
          </a:prstGeom>
          <a:solidFill>
            <a:srgbClr val="F8F0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2" name="Google Shape;852;p21"/>
          <p:cNvSpPr txBox="1"/>
          <p:nvPr/>
        </p:nvSpPr>
        <p:spPr>
          <a:xfrm>
            <a:off x="365760" y="470916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Self-Study</a:t>
            </a:r>
            <a:endParaRPr/>
          </a:p>
        </p:txBody>
      </p:sp>
      <p:sp>
        <p:nvSpPr>
          <p:cNvPr id="853" name="Google Shape;853;p21"/>
          <p:cNvSpPr txBox="1"/>
          <p:nvPr/>
        </p:nvSpPr>
        <p:spPr>
          <a:xfrm>
            <a:off x="2651760" y="468172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8B5CC2"/>
                </a:solidFill>
                <a:latin typeface="Montserrat"/>
                <a:ea typeface="Montserrat"/>
                <a:cs typeface="Montserrat"/>
                <a:sym typeface="Montserrat"/>
              </a:rPr>
              <a:t>Self</a:t>
            </a:r>
            <a:endParaRPr/>
          </a:p>
        </p:txBody>
      </p:sp>
      <p:sp>
        <p:nvSpPr>
          <p:cNvPr id="854" name="Google Shape;854;p21"/>
          <p:cNvSpPr txBox="1"/>
          <p:nvPr/>
        </p:nvSpPr>
        <p:spPr>
          <a:xfrm>
            <a:off x="4846320" y="470916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Review materials &amp; independent practice</a:t>
            </a:r>
            <a:endParaRPr/>
          </a:p>
        </p:txBody>
      </p:sp>
      <p:sp>
        <p:nvSpPr>
          <p:cNvPr id="855" name="Google Shape;855;p21"/>
          <p:cNvSpPr/>
          <p:nvPr/>
        </p:nvSpPr>
        <p:spPr>
          <a:xfrm>
            <a:off x="274320" y="5166360"/>
            <a:ext cx="8229600" cy="4846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6" name="Google Shape;856;p21"/>
          <p:cNvSpPr txBox="1"/>
          <p:nvPr/>
        </p:nvSpPr>
        <p:spPr>
          <a:xfrm>
            <a:off x="365760" y="5212080"/>
            <a:ext cx="21945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5B2D8E"/>
                </a:solidFill>
                <a:latin typeface="Montserrat"/>
                <a:ea typeface="Montserrat"/>
                <a:cs typeface="Montserrat"/>
                <a:sym typeface="Montserrat"/>
              </a:rPr>
              <a:t>Onboarding Graduation</a:t>
            </a:r>
            <a:endParaRPr/>
          </a:p>
        </p:txBody>
      </p:sp>
      <p:sp>
        <p:nvSpPr>
          <p:cNvPr id="857" name="Google Shape;857;p21"/>
          <p:cNvSpPr txBox="1"/>
          <p:nvPr/>
        </p:nvSpPr>
        <p:spPr>
          <a:xfrm>
            <a:off x="2651760" y="5184648"/>
            <a:ext cx="2103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Roland Massey</a:t>
            </a:r>
            <a:endParaRPr/>
          </a:p>
          <a:p>
            <a:pPr indent="0" lvl="0" marL="0" marR="0" rtl="0" algn="l">
              <a:spcBef>
                <a:spcPts val="0"/>
              </a:spcBef>
              <a:spcAft>
                <a:spcPts val="0"/>
              </a:spcAft>
              <a:buNone/>
            </a:pPr>
            <a:r>
              <a:rPr b="1" lang="en-US" sz="800">
                <a:solidFill>
                  <a:srgbClr val="8B5CC2"/>
                </a:solidFill>
                <a:latin typeface="Montserrat"/>
                <a:ea typeface="Montserrat"/>
                <a:cs typeface="Montserrat"/>
                <a:sym typeface="Montserrat"/>
              </a:rPr>
              <a:t>George Soteropoulos</a:t>
            </a:r>
            <a:endParaRPr/>
          </a:p>
        </p:txBody>
      </p:sp>
      <p:sp>
        <p:nvSpPr>
          <p:cNvPr id="858" name="Google Shape;858;p21"/>
          <p:cNvSpPr txBox="1"/>
          <p:nvPr/>
        </p:nvSpPr>
        <p:spPr>
          <a:xfrm>
            <a:off x="4846320" y="5212080"/>
            <a:ext cx="34747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6B7B8D"/>
                </a:solidFill>
                <a:latin typeface="Montserrat"/>
                <a:ea typeface="Montserrat"/>
                <a:cs typeface="Montserrat"/>
                <a:sym typeface="Montserrat"/>
              </a:rPr>
              <a:t>Feedback and official transition</a:t>
            </a:r>
            <a:endParaRPr/>
          </a:p>
        </p:txBody>
      </p:sp>
      <p:sp>
        <p:nvSpPr>
          <p:cNvPr id="859" name="Google Shape;859;p21"/>
          <p:cNvSpPr/>
          <p:nvPr/>
        </p:nvSpPr>
        <p:spPr>
          <a:xfrm>
            <a:off x="8778240" y="1188720"/>
            <a:ext cx="3200400" cy="41148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0" name="Google Shape;860;p21"/>
          <p:cNvSpPr txBox="1"/>
          <p:nvPr/>
        </p:nvSpPr>
        <p:spPr>
          <a:xfrm>
            <a:off x="8869680" y="1207008"/>
            <a:ext cx="3017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TO-DOS</a:t>
            </a:r>
            <a:endParaRPr/>
          </a:p>
        </p:txBody>
      </p:sp>
      <p:sp>
        <p:nvSpPr>
          <p:cNvPr id="861" name="Google Shape;861;p21"/>
          <p:cNvSpPr/>
          <p:nvPr/>
        </p:nvSpPr>
        <p:spPr>
          <a:xfrm>
            <a:off x="8778240" y="1600200"/>
            <a:ext cx="3200400" cy="1810512"/>
          </a:xfrm>
          <a:prstGeom prst="rect">
            <a:avLst/>
          </a:prstGeom>
          <a:solidFill>
            <a:srgbClr val="FAF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2" name="Google Shape;862;p21"/>
          <p:cNvSpPr txBox="1"/>
          <p:nvPr/>
        </p:nvSpPr>
        <p:spPr>
          <a:xfrm>
            <a:off x="8961120" y="1691640"/>
            <a:ext cx="2834640" cy="18105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Finalize all HubSpot entries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Submit onboarding self-assessment</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Share 30-day action plan with manager</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Celebrate — you're officially onboarded!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6" name="Shape 866"/>
        <p:cNvGrpSpPr/>
        <p:nvPr/>
      </p:nvGrpSpPr>
      <p:grpSpPr>
        <a:xfrm>
          <a:off x="0" y="0"/>
          <a:ext cx="0" cy="0"/>
          <a:chOff x="0" y="0"/>
          <a:chExt cx="0" cy="0"/>
        </a:xfrm>
      </p:grpSpPr>
      <p:sp>
        <p:nvSpPr>
          <p:cNvPr id="867" name="Google Shape;867;p22"/>
          <p:cNvSpPr/>
          <p:nvPr/>
        </p:nvSpPr>
        <p:spPr>
          <a:xfrm>
            <a:off x="0" y="0"/>
            <a:ext cx="12191695" cy="914400"/>
          </a:xfrm>
          <a:prstGeom prst="rect">
            <a:avLst/>
          </a:prstGeom>
          <a:solidFill>
            <a:srgbClr val="3D20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22"/>
          <p:cNvSpPr txBox="1"/>
          <p:nvPr/>
        </p:nvSpPr>
        <p:spPr>
          <a:xfrm>
            <a:off x="457200" y="91440"/>
            <a:ext cx="73152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Montserrat"/>
                <a:ea typeface="Montserrat"/>
                <a:cs typeface="Montserrat"/>
                <a:sym typeface="Montserrat"/>
              </a:rPr>
              <a:t>60-DAY REVIEW</a:t>
            </a:r>
            <a:endParaRPr/>
          </a:p>
        </p:txBody>
      </p:sp>
      <p:sp>
        <p:nvSpPr>
          <p:cNvPr id="869" name="Google Shape;869;p22"/>
          <p:cNvSpPr txBox="1"/>
          <p:nvPr/>
        </p:nvSpPr>
        <p:spPr>
          <a:xfrm>
            <a:off x="7772400" y="137160"/>
            <a:ext cx="41148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4B8E8"/>
                </a:solidFill>
                <a:latin typeface="Montserrat"/>
                <a:ea typeface="Montserrat"/>
                <a:cs typeface="Montserrat"/>
                <a:sym typeface="Montserrat"/>
              </a:rPr>
              <a:t>Performance Check-In</a:t>
            </a:r>
            <a:endParaRPr/>
          </a:p>
        </p:txBody>
      </p:sp>
      <p:sp>
        <p:nvSpPr>
          <p:cNvPr id="870" name="Google Shape;870;p22"/>
          <p:cNvSpPr/>
          <p:nvPr/>
        </p:nvSpPr>
        <p:spPr>
          <a:xfrm>
            <a:off x="365760" y="1188720"/>
            <a:ext cx="5486400" cy="411480"/>
          </a:xfrm>
          <a:prstGeom prst="rect">
            <a:avLst/>
          </a:prstGeom>
          <a:solidFill>
            <a:srgbClr val="6B3FA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22"/>
          <p:cNvSpPr txBox="1"/>
          <p:nvPr/>
        </p:nvSpPr>
        <p:spPr>
          <a:xfrm>
            <a:off x="457200" y="1207008"/>
            <a:ext cx="53035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REVIEW AREAS</a:t>
            </a:r>
            <a:endParaRPr/>
          </a:p>
        </p:txBody>
      </p:sp>
      <p:sp>
        <p:nvSpPr>
          <p:cNvPr id="872" name="Google Shape;872;p22"/>
          <p:cNvSpPr txBox="1"/>
          <p:nvPr/>
        </p:nvSpPr>
        <p:spPr>
          <a:xfrm>
            <a:off x="548640" y="1737360"/>
            <a:ext cx="530352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Pipeline Performance — deal count, conversion rates, quota tracking</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Partner Engagement — meeting frequency, follow-up cadence, relationships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Product Knowledge — coverage options, appetite, conversation skills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Tool Proficiency — HubSpot data hygiene, Metabase reporting</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Territory Management — target progress, agency prioritization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Professional Development — strengths, growth areas, training needs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Check-In with Nyles Oppenheimer — progress review and growth alignment</a:t>
            </a:r>
            <a:endParaRPr/>
          </a:p>
        </p:txBody>
      </p:sp>
      <p:sp>
        <p:nvSpPr>
          <p:cNvPr id="873" name="Google Shape;873;p22"/>
          <p:cNvSpPr/>
          <p:nvPr/>
        </p:nvSpPr>
        <p:spPr>
          <a:xfrm>
            <a:off x="6400800" y="1188720"/>
            <a:ext cx="5486400" cy="411480"/>
          </a:xfrm>
          <a:prstGeom prst="rect">
            <a:avLst/>
          </a:prstGeom>
          <a:solidFill>
            <a:srgbClr val="9B59D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22"/>
          <p:cNvSpPr txBox="1"/>
          <p:nvPr/>
        </p:nvSpPr>
        <p:spPr>
          <a:xfrm>
            <a:off x="6492240" y="1207008"/>
            <a:ext cx="5303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60-DAY CHECKLIST</a:t>
            </a:r>
            <a:endParaRPr/>
          </a:p>
        </p:txBody>
      </p:sp>
      <p:sp>
        <p:nvSpPr>
          <p:cNvPr id="875" name="Google Shape;875;p22"/>
          <p:cNvSpPr/>
          <p:nvPr/>
        </p:nvSpPr>
        <p:spPr>
          <a:xfrm>
            <a:off x="6400800" y="1600200"/>
            <a:ext cx="5486400" cy="4572000"/>
          </a:xfrm>
          <a:prstGeom prst="rect">
            <a:avLst/>
          </a:prstGeom>
          <a:solidFill>
            <a:srgbClr val="F8F4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6" name="Google Shape;876;p22"/>
          <p:cNvSpPr txBox="1"/>
          <p:nvPr/>
        </p:nvSpPr>
        <p:spPr>
          <a:xfrm>
            <a:off x="6583680" y="1737360"/>
            <a:ext cx="5120640" cy="43891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Averaging target outbound calls/emails per week</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Pipeline has 10+ active agencies in various stages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Conducted 5+ independent partner meetings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Relationships with at least 3 active agencies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Handles common objections without coaching</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Logging all activity accurately in HubSpot daily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Can navigate and present from Metabase</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Sending follow-ups within 24 hours of meetings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Implementing coaching suggestions consistently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Contributing to team meetings and sharing learnings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0" name="Shape 880"/>
        <p:cNvGrpSpPr/>
        <p:nvPr/>
      </p:nvGrpSpPr>
      <p:grpSpPr>
        <a:xfrm>
          <a:off x="0" y="0"/>
          <a:ext cx="0" cy="0"/>
          <a:chOff x="0" y="0"/>
          <a:chExt cx="0" cy="0"/>
        </a:xfrm>
      </p:grpSpPr>
      <p:sp>
        <p:nvSpPr>
          <p:cNvPr id="881" name="Google Shape;881;p23"/>
          <p:cNvSpPr/>
          <p:nvPr/>
        </p:nvSpPr>
        <p:spPr>
          <a:xfrm>
            <a:off x="0" y="0"/>
            <a:ext cx="12191695" cy="914400"/>
          </a:xfrm>
          <a:prstGeom prst="rect">
            <a:avLst/>
          </a:prstGeom>
          <a:solidFill>
            <a:srgbClr val="5B2D8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2" name="Google Shape;882;p23"/>
          <p:cNvSpPr txBox="1"/>
          <p:nvPr/>
        </p:nvSpPr>
        <p:spPr>
          <a:xfrm>
            <a:off x="457200" y="91440"/>
            <a:ext cx="73152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Montserrat"/>
                <a:ea typeface="Montserrat"/>
                <a:cs typeface="Montserrat"/>
                <a:sym typeface="Montserrat"/>
              </a:rPr>
              <a:t>90-DAY REVIEW</a:t>
            </a:r>
            <a:endParaRPr/>
          </a:p>
        </p:txBody>
      </p:sp>
      <p:sp>
        <p:nvSpPr>
          <p:cNvPr id="883" name="Google Shape;883;p23"/>
          <p:cNvSpPr txBox="1"/>
          <p:nvPr/>
        </p:nvSpPr>
        <p:spPr>
          <a:xfrm>
            <a:off x="7772400" y="137160"/>
            <a:ext cx="4114800" cy="6400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600">
                <a:solidFill>
                  <a:srgbClr val="DEC8F0"/>
                </a:solidFill>
                <a:latin typeface="Montserrat"/>
                <a:ea typeface="Montserrat"/>
                <a:cs typeface="Montserrat"/>
                <a:sym typeface="Montserrat"/>
              </a:rPr>
              <a:t>Full Performance Review</a:t>
            </a:r>
            <a:endParaRPr/>
          </a:p>
        </p:txBody>
      </p:sp>
      <p:sp>
        <p:nvSpPr>
          <p:cNvPr id="884" name="Google Shape;884;p23"/>
          <p:cNvSpPr/>
          <p:nvPr/>
        </p:nvSpPr>
        <p:spPr>
          <a:xfrm>
            <a:off x="365760" y="1188720"/>
            <a:ext cx="5486400" cy="411480"/>
          </a:xfrm>
          <a:prstGeom prst="rect">
            <a:avLst/>
          </a:prstGeom>
          <a:solidFill>
            <a:srgbClr val="8B5CC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23"/>
          <p:cNvSpPr txBox="1"/>
          <p:nvPr/>
        </p:nvSpPr>
        <p:spPr>
          <a:xfrm>
            <a:off x="457200" y="1207008"/>
            <a:ext cx="53035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FFFF"/>
                </a:solidFill>
                <a:latin typeface="Montserrat"/>
                <a:ea typeface="Montserrat"/>
                <a:cs typeface="Montserrat"/>
                <a:sym typeface="Montserrat"/>
              </a:rPr>
              <a:t>REVIEW AREAS</a:t>
            </a:r>
            <a:endParaRPr/>
          </a:p>
        </p:txBody>
      </p:sp>
      <p:sp>
        <p:nvSpPr>
          <p:cNvPr id="886" name="Google Shape;886;p23"/>
          <p:cNvSpPr txBox="1"/>
          <p:nvPr/>
        </p:nvSpPr>
        <p:spPr>
          <a:xfrm>
            <a:off x="548640" y="1737360"/>
            <a:ext cx="530352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Revenue &amp; Pipeline — bound premium, pipeline value, conversion, quarterly targets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Agency Portfolio Health — appointments, submission volume, retention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Partner Relationships — recurring meetings, proactive outreach, satisfaction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Cross-Functional Collaboration — underwriting, billing, renewals teams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Strategic Thinking — growth opportunities, territory strategy, prioritization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Goal Setting — Q2 targets, career development, ongoing coaching</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Check-In with Nyles Oppenheimer — performance review and career development</a:t>
            </a:r>
            <a:endParaRPr/>
          </a:p>
        </p:txBody>
      </p:sp>
      <p:sp>
        <p:nvSpPr>
          <p:cNvPr id="887" name="Google Shape;887;p23"/>
          <p:cNvSpPr/>
          <p:nvPr/>
        </p:nvSpPr>
        <p:spPr>
          <a:xfrm>
            <a:off x="6400800" y="1188720"/>
            <a:ext cx="5486400" cy="411480"/>
          </a:xfrm>
          <a:prstGeom prst="rect">
            <a:avLst/>
          </a:prstGeom>
          <a:solidFill>
            <a:srgbClr val="B07CD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8" name="Google Shape;888;p23"/>
          <p:cNvSpPr txBox="1"/>
          <p:nvPr/>
        </p:nvSpPr>
        <p:spPr>
          <a:xfrm>
            <a:off x="6492240" y="1207008"/>
            <a:ext cx="53035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FFFF"/>
                </a:solidFill>
                <a:latin typeface="Montserrat"/>
                <a:ea typeface="Montserrat"/>
                <a:cs typeface="Montserrat"/>
                <a:sym typeface="Montserrat"/>
              </a:rPr>
              <a:t>90-DAY CHECKLIST</a:t>
            </a:r>
            <a:endParaRPr/>
          </a:p>
        </p:txBody>
      </p:sp>
      <p:sp>
        <p:nvSpPr>
          <p:cNvPr id="889" name="Google Shape;889;p23"/>
          <p:cNvSpPr/>
          <p:nvPr/>
        </p:nvSpPr>
        <p:spPr>
          <a:xfrm>
            <a:off x="6400800" y="1600200"/>
            <a:ext cx="5486400" cy="4572000"/>
          </a:xfrm>
          <a:prstGeom prst="rect">
            <a:avLst/>
          </a:prstGeom>
          <a:solidFill>
            <a:srgbClr val="FAF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0" name="Google Shape;890;p23"/>
          <p:cNvSpPr txBox="1"/>
          <p:nvPr/>
        </p:nvSpPr>
        <p:spPr>
          <a:xfrm>
            <a:off x="6583680" y="1737360"/>
            <a:ext cx="5120640" cy="43891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A1A2E"/>
                </a:solidFill>
                <a:latin typeface="Montserrat"/>
                <a:ea typeface="Montserrat"/>
                <a:cs typeface="Montserrat"/>
                <a:sym typeface="Montserrat"/>
              </a:rPr>
              <a:t>•  Meeting or on track for quarterly premium targets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Pipeline conversion at or above team average</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Conducting quarterly reviews independently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Managing at-risk agencies proactively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Running full sales cycle without supervision</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Building custom Metabase reports for analysis</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Leveraging HubSpot automation effectively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Contributing ideas to team strategy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Representing Cover Whale professionally</a:t>
            </a:r>
            <a:endParaRPr/>
          </a:p>
          <a:p>
            <a:pPr indent="0" lvl="0" marL="0" marR="0" rtl="0" algn="l">
              <a:spcBef>
                <a:spcPts val="400"/>
              </a:spcBef>
              <a:spcAft>
                <a:spcPts val="0"/>
              </a:spcAft>
              <a:buNone/>
            </a:pPr>
            <a:r>
              <a:rPr lang="en-US" sz="1000">
                <a:solidFill>
                  <a:srgbClr val="1A1A2E"/>
                </a:solidFill>
                <a:latin typeface="Montserrat"/>
                <a:ea typeface="Montserrat"/>
                <a:cs typeface="Montserrat"/>
                <a:sym typeface="Montserrat"/>
              </a:rPr>
              <a:t>•  Aligned on career development path with manager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894" name="Shape 894"/>
        <p:cNvGrpSpPr/>
        <p:nvPr/>
      </p:nvGrpSpPr>
      <p:grpSpPr>
        <a:xfrm>
          <a:off x="0" y="0"/>
          <a:ext cx="0" cy="0"/>
          <a:chOff x="0" y="0"/>
          <a:chExt cx="0" cy="0"/>
        </a:xfrm>
      </p:grpSpPr>
      <p:sp>
        <p:nvSpPr>
          <p:cNvPr id="895" name="Google Shape;895;p24"/>
          <p:cNvSpPr/>
          <p:nvPr/>
        </p:nvSpPr>
        <p:spPr>
          <a:xfrm>
            <a:off x="4114800" y="2560320"/>
            <a:ext cx="3931920" cy="38100"/>
          </a:xfrm>
          <a:prstGeom prst="rect">
            <a:avLst/>
          </a:prstGeom>
          <a:solidFill>
            <a:srgbClr val="7B4DB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24"/>
          <p:cNvSpPr txBox="1"/>
          <p:nvPr/>
        </p:nvSpPr>
        <p:spPr>
          <a:xfrm>
            <a:off x="914400" y="109728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a:solidFill>
                  <a:srgbClr val="FFFFFF"/>
                </a:solidFill>
                <a:latin typeface="Montserrat"/>
                <a:ea typeface="Montserrat"/>
                <a:cs typeface="Montserrat"/>
                <a:sym typeface="Montserrat"/>
              </a:rPr>
              <a:t>COVER WHALE</a:t>
            </a:r>
            <a:endParaRPr/>
          </a:p>
        </p:txBody>
      </p:sp>
      <p:sp>
        <p:nvSpPr>
          <p:cNvPr id="897" name="Google Shape;897;p24"/>
          <p:cNvSpPr txBox="1"/>
          <p:nvPr/>
        </p:nvSpPr>
        <p:spPr>
          <a:xfrm>
            <a:off x="914400" y="274320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a:solidFill>
                  <a:srgbClr val="7B4DB8"/>
                </a:solidFill>
                <a:latin typeface="Montserrat"/>
                <a:ea typeface="Montserrat"/>
                <a:cs typeface="Montserrat"/>
                <a:sym typeface="Montserrat"/>
              </a:rPr>
              <a:t>GROWTH TEAM</a:t>
            </a:r>
            <a:endParaRPr/>
          </a:p>
        </p:txBody>
      </p:sp>
      <p:sp>
        <p:nvSpPr>
          <p:cNvPr id="898" name="Google Shape;898;p24"/>
          <p:cNvSpPr txBox="1"/>
          <p:nvPr/>
        </p:nvSpPr>
        <p:spPr>
          <a:xfrm>
            <a:off x="914400" y="3474720"/>
            <a:ext cx="10058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a:solidFill>
                  <a:srgbClr val="FFFFFF"/>
                </a:solidFill>
                <a:latin typeface="Montserrat"/>
                <a:ea typeface="Montserrat"/>
                <a:cs typeface="Montserrat"/>
                <a:sym typeface="Montserrat"/>
              </a:rPr>
              <a:t>New Member Onboarding Overview</a:t>
            </a:r>
            <a:endParaRPr/>
          </a:p>
        </p:txBody>
      </p:sp>
      <p:sp>
        <p:nvSpPr>
          <p:cNvPr id="899" name="Google Shape;899;p24"/>
          <p:cNvSpPr txBox="1"/>
          <p:nvPr/>
        </p:nvSpPr>
        <p:spPr>
          <a:xfrm>
            <a:off x="914400" y="4754880"/>
            <a:ext cx="100584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400">
                <a:solidFill>
                  <a:srgbClr val="C4AEDE"/>
                </a:solidFill>
                <a:latin typeface="Montserrat"/>
                <a:ea typeface="Montserrat"/>
                <a:cs typeface="Montserrat"/>
                <a:sym typeface="Montserrat"/>
              </a:rPr>
              <a:t>3-Week Onboarding Program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