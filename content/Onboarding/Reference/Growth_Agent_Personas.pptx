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3840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Agent Personas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EDE9FE"/>
                </a:solidFill>
                <a:latin typeface="Calibri"/>
              </a:rPr>
              <a:t>A Growth Team Primer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9FE"/>
                </a:solidFill>
                <a:latin typeface="Calibri"/>
              </a:rPr>
              <a:t>Cover Whale  | 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1B69"/>
                </a:solidFill>
                <a:latin typeface="Calibri"/>
              </a:rPr>
              <a:t>What Are Agent Personas?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574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700">
                <a:solidFill>
                  <a:srgbClr val="1F1F1F"/>
                </a:solidFill>
                <a:latin typeface="Calibri"/>
              </a:rPr>
              <a:t>•  Semi-fictional, research-based representations of ideal customer segments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1F1F1F"/>
                </a:solidFill>
                <a:latin typeface="Calibri"/>
              </a:rPr>
              <a:t>•  Help identify customer needs, preferences, and pain points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1F1F1F"/>
                </a:solidFill>
                <a:latin typeface="Calibri"/>
              </a:rPr>
              <a:t>•  Guide tailored messaging, targeting, and rapport-building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303520"/>
            <a:ext cx="32918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Improved Targeting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453128" y="5303520"/>
            <a:ext cx="32918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Messaging Alignment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394192" y="5303520"/>
            <a:ext cx="32918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Enhanced Rapport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1B69"/>
                </a:solidFill>
                <a:latin typeface="Calibri"/>
              </a:rPr>
              <a:t>Retail vs. Wholesale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574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212080" cy="50292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Retail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212080" cy="4617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20"/>
            <a:ext cx="47548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500">
                <a:solidFill>
                  <a:srgbClr val="1F1F1F"/>
                </a:solidFill>
                <a:latin typeface="Calibri"/>
              </a:rPr>
              <a:t>•  Works directly with clients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F1F1F"/>
                </a:solidFill>
                <a:latin typeface="Calibri"/>
              </a:rPr>
              <a:t>•  Higher first-year commission rates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F1F1F"/>
                </a:solidFill>
                <a:latin typeface="Calibri"/>
              </a:rPr>
              <a:t>•  Focus on acquiring new business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F1F1F"/>
                </a:solidFill>
                <a:latin typeface="Calibri"/>
              </a:rPr>
              <a:t>Examples: Hub International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234440"/>
            <a:ext cx="52120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Wholesale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737360"/>
            <a:ext cx="5212080" cy="4617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874520"/>
            <a:ext cx="47548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500">
                <a:solidFill>
                  <a:srgbClr val="1F1F1F"/>
                </a:solidFill>
                <a:latin typeface="Calibri"/>
              </a:rPr>
              <a:t>•  Intermediary between retail agents and carriers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F1F1F"/>
                </a:solidFill>
                <a:latin typeface="Calibri"/>
              </a:rPr>
              <a:t>•  Specializes in hard-to-place / unique risks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F1F1F"/>
                </a:solidFill>
                <a:latin typeface="Calibri"/>
              </a:rPr>
              <a:t>•  More consistent commission across policy life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F1F1F"/>
                </a:solidFill>
                <a:latin typeface="Calibri"/>
              </a:rPr>
              <a:t>Example: Amwins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  <a:latin typeface="Calibri"/>
              </a:rPr>
              <a:t>Bryan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1">
                <a:solidFill>
                  <a:srgbClr val="EDE9FE"/>
                </a:solidFill>
                <a:latin typeface="Calibri"/>
              </a:rPr>
              <a:t>The Young Gun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1436" y="4754880"/>
            <a:ext cx="29260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Retail Agent Persona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1B69"/>
                </a:solidFill>
                <a:latin typeface="Calibri"/>
              </a:rPr>
              <a:t>Who is Bryan?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574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212080" cy="4572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Who He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212080" cy="46634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Self-made entrepreneur, owns his own insurance brokerage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Young, ambitious, and energetic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Leverages digital marketing and social media to build his brand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A "maximizer" — highly scheduled, collects lifehacks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May have multiple income streams (real estate, wholesale importing)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234440"/>
            <a:ext cx="52120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VALs Profile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691640"/>
            <a:ext cx="5212080" cy="46634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Primary: Achiever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    Driven by success, prestige, and ambition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Secondary: Experiencer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    Seeks novelty, excitement, and new trends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1B69"/>
                </a:solidFill>
                <a:latin typeface="Calibri"/>
              </a:rPr>
              <a:t>Bryan's Motivations &amp; Aspirations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574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41148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Motivations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74552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Entrepreneurship, personal growth, financial success, establishing himself as a successful insurance professional.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Aspirations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29000"/>
            <a:ext cx="11274552" cy="2651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547872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•  Become a well-respected industry influencer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•  Make substantial income while young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•  Build a strong personal brand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•  Grow his brokerage significantly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1B69"/>
                </a:solidFill>
                <a:latin typeface="Calibri"/>
              </a:rPr>
              <a:t>Bryan's Pain Points &amp; Concerns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574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212080" cy="4572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Pain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212080" cy="46634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Juggling professional growth with personal commitments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Staying current with industry knowledge &amp; tech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Establishing credibility as a young, self-taught professional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Convincing clients of his industry knowledge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Values streamlined, time-saving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234440"/>
            <a:ext cx="52120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Concerns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691640"/>
            <a:ext cx="5212080" cy="46634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Managing reputation in an experience-dominated industry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Juggling multiple income streams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Building trust with skeptical clients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1B69"/>
                </a:solidFill>
                <a:latin typeface="Calibri"/>
              </a:rPr>
              <a:t>How to Reach Bryan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574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280160"/>
            <a:ext cx="2651760" cy="50292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What Resonates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83080"/>
            <a:ext cx="2651760" cy="44348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2468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Competition, ambition, being a trailblazer. Speed-to-quote and exclusive tools.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82696" y="1280160"/>
            <a:ext cx="2651760" cy="50292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Communication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82696" y="1783080"/>
            <a:ext cx="2651760" cy="44348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1920240"/>
            <a:ext cx="2468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Tech-savvy, dynamic. Email newsletters, 24/7 chatbots, experienced advisors.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280160"/>
            <a:ext cx="2651760" cy="50292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Where He Lives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3912" y="1783080"/>
            <a:ext cx="2651760" cy="44348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1920240"/>
            <a:ext cx="2468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YouTube, LinkedIn, entrepreneur networks, insurance forums.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25128" y="1280160"/>
            <a:ext cx="2651760" cy="50292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Words That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25128" y="1783080"/>
            <a:ext cx="2651760" cy="44348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8" y="1920240"/>
            <a:ext cx="2468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Accelerate  •  Hustle  •  Breakthrough  •  Innovative  •  Fast-paced  •  Results-oriented  •  Elite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  <a:latin typeface="Calibri"/>
              </a:rPr>
              <a:t>Tina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1">
                <a:solidFill>
                  <a:srgbClr val="EDE9FE"/>
                </a:solidFill>
                <a:latin typeface="Calibri"/>
              </a:rPr>
              <a:t>The Local Luminary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1436" y="4754880"/>
            <a:ext cx="29260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Retail Agent Persona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1B69"/>
                </a:solidFill>
                <a:latin typeface="Calibri"/>
              </a:rPr>
              <a:t>Who is Tina?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574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212080" cy="4572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Who She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212080" cy="46634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Small insurance agency owner, diverse insurance offerings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Not trucking-focused but committed to her trucking clients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Detail-oriented strategist, attends workshops and seminars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Actively involved in industry associations and community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234440"/>
            <a:ext cx="52120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VALs Profile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691640"/>
            <a:ext cx="5212080" cy="46634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Primary: Achiever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    Success, prestige, quality from reputable brands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Secondary: Believer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    Stability, traditional values, proven track record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1B69"/>
                </a:solidFill>
                <a:latin typeface="Calibri"/>
              </a:rPr>
              <a:t>Tina's Motivations &amp; Aspirations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574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41148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Motivations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74552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Supporting her family, assisting diverse clientele, providing personalized customer service, building a business that makes a difference.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Aspirations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29000"/>
            <a:ext cx="11274552" cy="2651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547872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•  Steady agency growth with a strong reputation for excellence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•  Professional success paired with family stability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•  Mentoring her team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1B69"/>
                </a:solidFill>
                <a:latin typeface="Calibri"/>
              </a:rPr>
              <a:t>Tina's Pain Points &amp; Concerns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574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212080" cy="4572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Pain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212080" cy="46634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Balancing personal life with managing agents and commissions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Adapting to changes in niche areas like trucking insurance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Nurturing relationships while growing profitability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Finding partners with prompt quotes and specialized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234440"/>
            <a:ext cx="52120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Concerns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691640"/>
            <a:ext cx="5212080" cy="46634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Ensuring steady referrals while keeping business personal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Budgeting for family while growing agency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Needs transparency and a streamlined quoting/binding process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1B69"/>
                </a:solidFill>
                <a:latin typeface="Calibri"/>
              </a:rPr>
              <a:t>How to Reach Tina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574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280160"/>
            <a:ext cx="2651760" cy="50292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What Resonates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83080"/>
            <a:ext cx="2651760" cy="44348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2468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Reputation, trust, protecting clients' livelihoods. Success stories from similar agents.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82696" y="1280160"/>
            <a:ext cx="2651760" cy="50292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Communication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82696" y="1783080"/>
            <a:ext cx="2651760" cy="44348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1920240"/>
            <a:ext cx="2468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Professional, informative, industry-focused. Webinars, newsletters, knowledgeable reps.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280160"/>
            <a:ext cx="2651760" cy="50292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Where She Lives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3912" y="1783080"/>
            <a:ext cx="2651760" cy="44348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1920240"/>
            <a:ext cx="2468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LinkedIn, Facebook, insurance associations, community organizations.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25128" y="1280160"/>
            <a:ext cx="2651760" cy="50292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Words That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25128" y="1783080"/>
            <a:ext cx="2651760" cy="44348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8" y="1920240"/>
            <a:ext cx="2468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Trust  •  Relationships  •  Quality  •  Partnership  •  Integrity  •  Client-focused  •  Stability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  <a:latin typeface="Calibri"/>
              </a:rPr>
              <a:t>Wendy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1">
                <a:solidFill>
                  <a:srgbClr val="EDE9FE"/>
                </a:solidFill>
                <a:latin typeface="Calibri"/>
              </a:rPr>
              <a:t>The E &amp; S Expert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1436" y="4754880"/>
            <a:ext cx="29260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Wholesale Agent Persona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1B69"/>
                </a:solidFill>
                <a:latin typeface="Calibri"/>
              </a:rPr>
              <a:t>Who is Wendy?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574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212080" cy="4572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Who She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212080" cy="46634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Wholesale insurance agent specializing in hard-to-place risks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Intermediary between retail agents and carriers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Voracious learner — workshops, continued education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Built reputation for responsiveness and nuanced expertise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Degree in risk management and insurance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234440"/>
            <a:ext cx="52120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VALs Profile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691640"/>
            <a:ext cx="5212080" cy="46634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Primary: Innovator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    Drawn to cutting-edge brands, challenges the status quo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Secondary: Experiencer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    Excitement, adventure, novel experiences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1B69"/>
                </a:solidFill>
                <a:latin typeface="Calibri"/>
              </a:rPr>
              <a:t>Wendy's Motivations &amp; Aspirations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574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41148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Motivations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74552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Finding the best coverage for retail agent partners. Consistent commission model lets her focus on complex risks. Continuous learning and innovation.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Aspirations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29000"/>
            <a:ext cx="11274552" cy="2651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547872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•  Expand her wholesale agency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•  Deepen expertise in niche markets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•  Cultivate strong professional networks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F1F1F"/>
                </a:solidFill>
                <a:latin typeface="Calibri"/>
              </a:rPr>
              <a:t>•  Recognized as an industry expert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1B69"/>
                </a:solidFill>
                <a:latin typeface="Calibri"/>
              </a:rPr>
              <a:t>Wendy's Pain Points &amp; Concerns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574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212080" cy="4572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Pain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212080" cy="46634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Balancing complex workload with personal commitments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Staying current with non-admitted and surplus lines developments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Cultivating relationships while growing profitability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Seeking partners with prompt quotes and specialized expertise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234440"/>
            <a:ext cx="52120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Concerns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691640"/>
            <a:ext cx="5212080" cy="46634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Conveying expertise while maintaining quality service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Ensuring efficiency from submission to binding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F1F1F"/>
                </a:solidFill>
                <a:latin typeface="Calibri"/>
              </a:rPr>
              <a:t>•  Partners who strengthen agency reputation in specialized markets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1B69"/>
                </a:solidFill>
                <a:latin typeface="Calibri"/>
              </a:rPr>
              <a:t>How to Reach Wendy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574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280160"/>
            <a:ext cx="2651760" cy="50292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What Resonates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83080"/>
            <a:ext cx="2651760" cy="44348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2468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Security of businesses she serves, community impact, helping clients overcome adversity.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82696" y="1280160"/>
            <a:ext cx="2651760" cy="50292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Communication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82696" y="1783080"/>
            <a:ext cx="2651760" cy="44348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1920240"/>
            <a:ext cx="2468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Direct, insightful, market-driven. Face-to-face, concise emails, well-prepared calls.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280160"/>
            <a:ext cx="2651760" cy="50292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Where She Lives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3912" y="1783080"/>
            <a:ext cx="2651760" cy="44348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1920240"/>
            <a:ext cx="2468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LinkedIn, Twitter, industry conferences, surplus lines associations.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25128" y="1280160"/>
            <a:ext cx="2651760" cy="50292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Words That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25128" y="1783080"/>
            <a:ext cx="2651760" cy="44348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8" y="1920240"/>
            <a:ext cx="2468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Pioneering  •  Innovative  •  Mastery  •  Solutions-driven  •  Comprehensive  •  Industry-savvy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1B69"/>
                </a:solidFill>
                <a:latin typeface="Calibri"/>
              </a:rPr>
              <a:t>The Three Personas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574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3474720" cy="50292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Bryan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474720" cy="694944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73936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9339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Bryan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32304"/>
            <a:ext cx="347472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The Young Gun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27248"/>
            <a:ext cx="3474720" cy="694944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63824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Retail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22192"/>
            <a:ext cx="347472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58768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PRIMARY 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78224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Achiever / Experiencer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17136"/>
            <a:ext cx="3474720" cy="694944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53712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KEY 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7316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Competition &amp; ambition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12080"/>
            <a:ext cx="347472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248656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BEST 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6811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YouTube / Social Media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8808" y="1234440"/>
            <a:ext cx="34747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Tina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78808" y="1737360"/>
            <a:ext cx="3474720" cy="694944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1773936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199339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Tina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78808" y="2432304"/>
            <a:ext cx="347472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0248" y="246888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TITLE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0248" y="2688336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The Local Luminary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78808" y="3127248"/>
            <a:ext cx="3474720" cy="694944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70248" y="3163824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0248" y="338328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Retail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78808" y="3822192"/>
            <a:ext cx="347472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0248" y="3858768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PRIMARY VALS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0248" y="4078224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Achiever / Believer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8808" y="4517136"/>
            <a:ext cx="3474720" cy="694944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0248" y="4553712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KEY TRIGGER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477316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Trust &amp; reputation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78808" y="5212080"/>
            <a:ext cx="347472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70248" y="5248656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BEST CHANNEL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0248" y="546811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LinkedIn / Associations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00416" y="1234440"/>
            <a:ext cx="3474720" cy="50292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Wendy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00416" y="1737360"/>
            <a:ext cx="3474720" cy="694944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91856" y="1773936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NAME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91856" y="199339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Wendy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0416" y="2432304"/>
            <a:ext cx="347472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91856" y="246888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TITLE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1856" y="2688336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The E &amp; S Expert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00416" y="3127248"/>
            <a:ext cx="3474720" cy="694944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91856" y="3163824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TYPE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91856" y="338328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Wholesale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00416" y="3822192"/>
            <a:ext cx="347472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91856" y="3858768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PRIMARY VALS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91856" y="4078224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Innovator / Experiencer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00416" y="4517136"/>
            <a:ext cx="3474720" cy="694944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91856" y="4553712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KEY TRIGGER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91856" y="477316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Innovation &amp; community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00416" y="5212080"/>
            <a:ext cx="347472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91856" y="5248656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alibri"/>
              </a:rPr>
              <a:t>BEST CHANNEL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91856" y="546811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LinkedIn / Conferences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Cover Whale  |  Keep Moving.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DE9FE"/>
                </a:solidFill>
                <a:latin typeface="Calibri"/>
              </a:rPr>
              <a:t>Internal Use Only — Growth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