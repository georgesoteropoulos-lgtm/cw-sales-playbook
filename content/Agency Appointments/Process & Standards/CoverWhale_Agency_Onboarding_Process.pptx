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Whale's Agency Onboarding Process — how we take a newly appointed agency from credential handoff all the way to BDA graduation. Goal: agent is confident on the platform, first bind by Day 30, clean BDA handoff at Day 30, and the agency is on track to hit $125K quarterly new-business GWP by the end of their first full quarter. This deck walks through every stage, the SLAs, the email templates, and the probation playbook.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Onboarding flows linearly: appointment closes the Turris/legal side, then the queue picks up. Stages 1 and 2 happen in the first two weeks. Stage 3 plus the BDM→BDA handoff close out the active onboarding around Day 30. Then it's 30/60/90 check-ins and a quarterly performance review against production thresholds.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role has a clear lane. Product/Turris finishes the legal/appointment side. Onboarding Lead drives the first ~30 days. BDA takes over at Day 30 and runs the 30/60/90 checks. Growth Team takes the relationship after graduation. When Onboarding Lead is OOO, in-flight sessions are picked up by the regional BDA so the agency never goes dark.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SLAs are the heartbeat of the onboarding queue. If the welcome email or Session 1 booking slips, the rest of the chain compresses or misses entirely. Onboarding Lead owns the first four; agent owns first sub and bind; BDA + Growth own graduation. Tracked in HubSpot via the property map (see Slide 20).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any of these are false, the onboarding queue does NOT pick up the agency — credentials might not be active, paperwork could be missing, or HubSpot won't match against the company record on first submission. NPN in particular is critical for commissions to flow correctly.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 source of handoff failures is meeting notes living only on the ticket. The BDA opens the company record on Day 30 and sees no context. Discipline: every meeting, after marking complete, paste notes on BOTH the meeting record AND the company record. This is the single most important habit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sets the tone. The welcome email books both sessions in advance. The production expectations email is critical — it makes the $125K/$500K thresholds explicit while the relationship is fresh, so probation conversations later aren't surprises. The optional intro call is best for larger agencies where you want to capture goals before the platform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thresholds are the heart of the program. The two required metrics are the ones that trigger probation: quarterly NB GWP below $125K starts the cure clock. Annual GWP is the partnership health metric. The four 'reviewed' metrics aren't probation triggers but feed the quarterly partnership conversation with the BDA.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agency profile is the single source of truth that powers the handoff. If it's incomplete by Session 1, you'll do a slow walkthrough; if it's complete, you tailor the Session 1 quote-build to their target lines and states. All of this is captured on the HubSpot company record so the BDA inherits full context on Day 30.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training session. Always ask permission to record — agents want to rewatch. The goal isn't to lecture; it's to BUILD A QUOTE TOGETHER. If the agent has a target insured in mind, use that. Wrap with a recording link and an ARC bookmark so they can self-serve. Confirm Session 2 is on the calendar before the call ends.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Session 1. Most underwriting friction downstream traces to bad data on Drivers, Losses, or Cargo tabs. Drill in here. The ARC has a specific article for nearly every tab — open the article and bookmark it with the agent so they can self-rescue when they're stuck.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2 is the operational session — money, billing, escalation. Walk a live submission. The Instant Bind flow (DocuSign + down payment in one email) is the single feature that drives close speed; make sure they know it. Cap the session by introducing the BDA. That introduction sets up the handoff in Slide 12.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handoff is where most onboarding programs break. Two things prevent that: (1) the introduction email actually NAMES the BDA, summarizes the book in one line, and gives the agent permission to keep emailing the Onboarding Lead for two more weeks; (2) the checklist on the right is closed before you call it done. BDA assignment in HubSpot is what makes the agency show up in their dashboard.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30/60/90 is owned by the BDA but the Onboarding Lead stays close on the 30-day to catch any onboarding-experience gaps. 90-day is the graduation decision — either fully into Growth or extended onboarding support. Don't let agencies drift past 90 days without an explicit decision; that's how dead agencies accumulate in the book.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quarterly review is where data meets relationship. The hard line is $125K NB GWP — below it, the probation playbook fires. The 'reviewed' metrics (loss ratio, DOT %, renewal/cancel rates) inform what kind of intervention is appropriate — different problem, different fix.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Probation is a structured cure window, not a punishment. The first 30 days of the cure are intensive — weekly working sessions where the BDA helps unblock stuck deals. The decision at Q+30 is critical: either we see a credible path to cure by next quarter close, or we start the deactivation conversation. Deactivation requires ALL THREE criteria — that prevents premature offboarding.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flag has an explicit owner and a specific action — that's what makes this actionable rather than aspirational. The endorsement-heavy quoting flag is sneaky: an agency can look healthy on submission volume but generate zero new-business GWP. Probation thresholds count NB only, so this matters.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Program-level metrics close the loop. If time-to-Session-1 is creeping past 10 days, the queue is overloaded. If % hitting $125K Q1 drops, the cohort quality is degrading or the process isn't preparing them. Track weekly/monthly/quarterly — different metrics, different cadences.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in-between comms — the moments between the big sessions where small touches keep the relationship alive. The Week-2 nudge is the highest-ROI email in the program: agents who haven't submitted by Day 14 either need help or are about to ghost. The nudge surfaces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glossary — useful for new hires and cross-functional stakeholders who may not have lived in the trucking insurance vocabulary before.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property map is the blueprint for automating the onboarding workflow. Every stage in the process has a corresponding HubSpot field — populating these consistently is what unlocks the dashboard reporting and the SLA queue-age metric. Eventually these fire workflow automations (welcome email on appointment_complete, graduation email on graduated status, etc.).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572000" cy="68580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137160" cy="68580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3657600" cy="457200"/>
          </a:xfrm>
          <a:prstGeom prst="rect">
            <a:avLst/>
          </a:prstGeom>
          <a:noFill/>
        </p:spPr>
        <p:txBody>
          <a:bodyPr wrap="square" lIns="0" rIns="0" tIns="0" bIns="0">
            <a:spAutoFit/>
          </a:bodyPr>
          <a:lstStyle/>
          <a:p>
            <a:pPr algn="l"/>
            <a:r>
              <a:rPr sz="1400" b="1">
                <a:solidFill>
                  <a:srgbClr val="C4B5FD"/>
                </a:solidFill>
                <a:latin typeface="Segoe UI"/>
              </a:rPr>
              <a:t>COVER WHALE</a:t>
            </a:r>
          </a:p>
        </p:txBody>
      </p:sp>
      <p:sp>
        <p:nvSpPr>
          <p:cNvPr id="5" name="TextBox 4"/>
          <p:cNvSpPr txBox="1"/>
          <p:nvPr/>
        </p:nvSpPr>
        <p:spPr>
          <a:xfrm>
            <a:off x="548640" y="2286000"/>
            <a:ext cx="3657600" cy="1463040"/>
          </a:xfrm>
          <a:prstGeom prst="rect">
            <a:avLst/>
          </a:prstGeom>
          <a:noFill/>
        </p:spPr>
        <p:txBody>
          <a:bodyPr wrap="square" lIns="0" rIns="0" tIns="0" bIns="0">
            <a:spAutoFit/>
          </a:bodyPr>
          <a:lstStyle/>
          <a:p>
            <a:pPr algn="l"/>
            <a:r>
              <a:rPr sz="3000" b="1">
                <a:solidFill>
                  <a:srgbClr val="FFFFFF"/>
                </a:solidFill>
                <a:latin typeface="Segoe UI"/>
              </a:rPr>
              <a:t>Agency Onboarding Process</a:t>
            </a:r>
          </a:p>
        </p:txBody>
      </p:sp>
      <p:sp>
        <p:nvSpPr>
          <p:cNvPr id="6" name="TextBox 5"/>
          <p:cNvSpPr txBox="1"/>
          <p:nvPr/>
        </p:nvSpPr>
        <p:spPr>
          <a:xfrm>
            <a:off x="548640" y="3749039"/>
            <a:ext cx="3657600" cy="457200"/>
          </a:xfrm>
          <a:prstGeom prst="rect">
            <a:avLst/>
          </a:prstGeom>
          <a:noFill/>
        </p:spPr>
        <p:txBody>
          <a:bodyPr wrap="square" lIns="0" rIns="0" tIns="0" bIns="0">
            <a:spAutoFit/>
          </a:bodyPr>
          <a:lstStyle/>
          <a:p>
            <a:pPr algn="l"/>
            <a:r>
              <a:rPr sz="1300" b="0">
                <a:solidFill>
                  <a:srgbClr val="C4B5FD"/>
                </a:solidFill>
                <a:latin typeface="Segoe UI"/>
              </a:rPr>
              <a:t>From credential handoff to BDA graduation</a:t>
            </a:r>
          </a:p>
        </p:txBody>
      </p:sp>
      <p:sp>
        <p:nvSpPr>
          <p:cNvPr id="7" name="TextBox 6"/>
          <p:cNvSpPr txBox="1"/>
          <p:nvPr/>
        </p:nvSpPr>
        <p:spPr>
          <a:xfrm>
            <a:off x="548640" y="6126480"/>
            <a:ext cx="3657600" cy="274320"/>
          </a:xfrm>
          <a:prstGeom prst="rect">
            <a:avLst/>
          </a:prstGeom>
          <a:noFill/>
        </p:spPr>
        <p:txBody>
          <a:bodyPr wrap="square" lIns="0" rIns="0" tIns="0" bIns="0">
            <a:spAutoFit/>
          </a:bodyPr>
          <a:lstStyle/>
          <a:p>
            <a:pPr algn="l"/>
            <a:r>
              <a:rPr sz="1000" b="0">
                <a:solidFill>
                  <a:srgbClr val="C4B5FD"/>
                </a:solidFill>
                <a:latin typeface="Segoe UI"/>
              </a:rPr>
              <a:t>Updated May 2026</a:t>
            </a:r>
          </a:p>
        </p:txBody>
      </p:sp>
      <p:sp>
        <p:nvSpPr>
          <p:cNvPr id="8" name="TextBox 7"/>
          <p:cNvSpPr txBox="1"/>
          <p:nvPr/>
        </p:nvSpPr>
        <p:spPr>
          <a:xfrm>
            <a:off x="5120640" y="1280160"/>
            <a:ext cx="6766560" cy="457200"/>
          </a:xfrm>
          <a:prstGeom prst="rect">
            <a:avLst/>
          </a:prstGeom>
          <a:noFill/>
        </p:spPr>
        <p:txBody>
          <a:bodyPr wrap="square" lIns="0" rIns="0" tIns="0" bIns="0">
            <a:spAutoFit/>
          </a:bodyPr>
          <a:lstStyle/>
          <a:p>
            <a:pPr algn="l"/>
            <a:r>
              <a:rPr sz="1800" b="1">
                <a:solidFill>
                  <a:srgbClr val="1E073B"/>
                </a:solidFill>
                <a:latin typeface="Segoe UI"/>
              </a:rPr>
              <a:t>Process at a glance</a:t>
            </a:r>
          </a:p>
        </p:txBody>
      </p:sp>
      <p:sp>
        <p:nvSpPr>
          <p:cNvPr id="9" name="TextBox 8"/>
          <p:cNvSpPr txBox="1"/>
          <p:nvPr/>
        </p:nvSpPr>
        <p:spPr>
          <a:xfrm>
            <a:off x="5120640" y="1828800"/>
            <a:ext cx="6766560" cy="4114800"/>
          </a:xfrm>
          <a:prstGeom prst="rect">
            <a:avLst/>
          </a:prstGeom>
          <a:noFill/>
        </p:spPr>
        <p:txBody>
          <a:bodyPr wrap="square" lIns="0" rIns="0" tIns="0" bIns="0">
            <a:spAutoFit/>
          </a:bodyPr>
          <a:lstStyle/>
          <a:p>
            <a:pPr>
              <a:lnSpc>
                <a:spcPct val="125000"/>
              </a:lnSpc>
            </a:pPr>
            <a:r>
              <a:rPr sz="1400">
                <a:solidFill>
                  <a:srgbClr val="6D28D9"/>
                </a:solidFill>
                <a:latin typeface="Segoe UI"/>
              </a:rPr>
              <a:t>● </a:t>
            </a:r>
            <a:r>
              <a:rPr sz="1400">
                <a:solidFill>
                  <a:srgbClr val="111827"/>
                </a:solidFill>
                <a:latin typeface="Segoe UI"/>
              </a:rPr>
              <a:t>4-week active onboarding, 90-day BDA graduation</a:t>
            </a:r>
          </a:p>
          <a:p>
            <a:pPr>
              <a:lnSpc>
                <a:spcPct val="125000"/>
              </a:lnSpc>
            </a:pPr>
            <a:r>
              <a:rPr sz="1400">
                <a:solidFill>
                  <a:srgbClr val="6D28D9"/>
                </a:solidFill>
                <a:latin typeface="Segoe UI"/>
              </a:rPr>
              <a:t>● </a:t>
            </a:r>
            <a:r>
              <a:rPr sz="1400">
                <a:solidFill>
                  <a:srgbClr val="111827"/>
                </a:solidFill>
                <a:latin typeface="Segoe UI"/>
              </a:rPr>
              <a:t>First bind target: ≤ 30 days from appointment</a:t>
            </a:r>
          </a:p>
          <a:p>
            <a:pPr>
              <a:lnSpc>
                <a:spcPct val="125000"/>
              </a:lnSpc>
            </a:pPr>
            <a:r>
              <a:rPr sz="1400">
                <a:solidFill>
                  <a:srgbClr val="6D28D9"/>
                </a:solidFill>
                <a:latin typeface="Segoe UI"/>
              </a:rPr>
              <a:t>● </a:t>
            </a:r>
            <a:r>
              <a:rPr sz="1400">
                <a:solidFill>
                  <a:srgbClr val="111827"/>
                </a:solidFill>
                <a:latin typeface="Segoe UI"/>
              </a:rPr>
              <a:t>Retail partner thresholds: $500K annual / $125K quarterly GWP</a:t>
            </a:r>
          </a:p>
          <a:p>
            <a:pPr>
              <a:lnSpc>
                <a:spcPct val="125000"/>
              </a:lnSpc>
            </a:pPr>
            <a:r>
              <a:rPr sz="1400">
                <a:solidFill>
                  <a:srgbClr val="6D28D9"/>
                </a:solidFill>
                <a:latin typeface="Segoe UI"/>
              </a:rPr>
              <a:t>● </a:t>
            </a:r>
            <a:r>
              <a:rPr sz="1400">
                <a:solidFill>
                  <a:srgbClr val="111827"/>
                </a:solidFill>
                <a:latin typeface="Segoe UI"/>
              </a:rPr>
              <a:t>Owners: Onboarding Lead → BDA → Growth Team</a:t>
            </a:r>
          </a:p>
          <a:p>
            <a:pPr>
              <a:lnSpc>
                <a:spcPct val="125000"/>
              </a:lnSpc>
            </a:pPr>
            <a:r>
              <a:rPr sz="1400">
                <a:solidFill>
                  <a:srgbClr val="6D28D9"/>
                </a:solidFill>
                <a:latin typeface="Segoe UI"/>
              </a:rPr>
              <a:t>● </a:t>
            </a:r>
            <a:r>
              <a:rPr sz="1400">
                <a:solidFill>
                  <a:srgbClr val="111827"/>
                </a:solidFill>
                <a:latin typeface="Segoe UI"/>
              </a:rPr>
              <a:t>Tracked end-to-end in HubSpot Main Support pipeline</a:t>
            </a:r>
          </a:p>
        </p:txBody>
      </p:sp>
      <p:sp>
        <p:nvSpPr>
          <p:cNvPr id="10" name="TextBox 9"/>
          <p:cNvSpPr txBox="1"/>
          <p:nvPr/>
        </p:nvSpPr>
        <p:spPr>
          <a:xfrm>
            <a:off x="5120640" y="6126480"/>
            <a:ext cx="6766560" cy="365760"/>
          </a:xfrm>
          <a:prstGeom prst="rect">
            <a:avLst/>
          </a:prstGeom>
          <a:noFill/>
        </p:spPr>
        <p:txBody>
          <a:bodyPr wrap="square" lIns="0" rIns="0" tIns="0" bIns="0">
            <a:spAutoFit/>
          </a:bodyPr>
          <a:lstStyle/>
          <a:p>
            <a:pPr algn="l"/>
            <a:r>
              <a:rPr sz="1100" b="0">
                <a:solidFill>
                  <a:srgbClr val="6B7280"/>
                </a:solidFill>
                <a:latin typeface="Segoe UI"/>
              </a:rPr>
              <a:t>Audience: Onboarding · BDM · BDA · Growth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 · Process Overview</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Active onboarding ~4 weeks; full graduation at Day 90</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289407" y="1828800"/>
            <a:ext cx="1463040" cy="15544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0847" y="1965960"/>
            <a:ext cx="1280160" cy="914400"/>
          </a:xfrm>
          <a:prstGeom prst="rect">
            <a:avLst/>
          </a:prstGeom>
          <a:noFill/>
        </p:spPr>
        <p:txBody>
          <a:bodyPr wrap="square" lIns="0" rIns="0" tIns="0" bIns="0">
            <a:spAutoFit/>
          </a:bodyPr>
          <a:lstStyle/>
          <a:p>
            <a:pPr algn="ctr"/>
            <a:r>
              <a:rPr sz="1100" b="1">
                <a:solidFill>
                  <a:srgbClr val="FFFFFF"/>
                </a:solidFill>
                <a:latin typeface="Segoe UI"/>
              </a:rPr>
              <a:t>Appointment
Complete</a:t>
            </a:r>
          </a:p>
        </p:txBody>
      </p:sp>
      <p:sp>
        <p:nvSpPr>
          <p:cNvPr id="8" name="TextBox 7"/>
          <p:cNvSpPr txBox="1"/>
          <p:nvPr/>
        </p:nvSpPr>
        <p:spPr>
          <a:xfrm>
            <a:off x="380847" y="2971800"/>
            <a:ext cx="1280160" cy="274320"/>
          </a:xfrm>
          <a:prstGeom prst="rect">
            <a:avLst/>
          </a:prstGeom>
          <a:noFill/>
        </p:spPr>
        <p:txBody>
          <a:bodyPr wrap="square" lIns="0" rIns="0" tIns="0" bIns="0">
            <a:spAutoFit/>
          </a:bodyPr>
          <a:lstStyle/>
          <a:p>
            <a:pPr algn="ctr"/>
            <a:r>
              <a:rPr sz="900" b="0">
                <a:solidFill>
                  <a:srgbClr val="C4B5FD"/>
                </a:solidFill>
                <a:latin typeface="Segoe UI"/>
              </a:rPr>
              <a:t>Trigger</a:t>
            </a:r>
          </a:p>
        </p:txBody>
      </p:sp>
      <p:sp>
        <p:nvSpPr>
          <p:cNvPr id="9" name="Right Triangle 8"/>
          <p:cNvSpPr/>
          <p:nvPr/>
        </p:nvSpPr>
        <p:spPr>
          <a:xfrm>
            <a:off x="1770735" y="2468880"/>
            <a:ext cx="164592" cy="274320"/>
          </a:xfrm>
          <a:prstGeom prst="rtTriangl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81047" y="1828800"/>
            <a:ext cx="1463040" cy="1554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72487" y="1965960"/>
            <a:ext cx="1280160" cy="914400"/>
          </a:xfrm>
          <a:prstGeom prst="rect">
            <a:avLst/>
          </a:prstGeom>
          <a:noFill/>
        </p:spPr>
        <p:txBody>
          <a:bodyPr wrap="square" lIns="0" rIns="0" tIns="0" bIns="0">
            <a:spAutoFit/>
          </a:bodyPr>
          <a:lstStyle/>
          <a:p>
            <a:pPr algn="ctr"/>
            <a:r>
              <a:rPr sz="1100" b="1">
                <a:solidFill>
                  <a:srgbClr val="FFFFFF"/>
                </a:solidFill>
                <a:latin typeface="Segoe UI"/>
              </a:rPr>
              <a:t>Stage 1
Welcome &amp; Kickoff</a:t>
            </a:r>
          </a:p>
        </p:txBody>
      </p:sp>
      <p:sp>
        <p:nvSpPr>
          <p:cNvPr id="12" name="TextBox 11"/>
          <p:cNvSpPr txBox="1"/>
          <p:nvPr/>
        </p:nvSpPr>
        <p:spPr>
          <a:xfrm>
            <a:off x="2072487" y="2971800"/>
            <a:ext cx="1280160" cy="274320"/>
          </a:xfrm>
          <a:prstGeom prst="rect">
            <a:avLst/>
          </a:prstGeom>
          <a:noFill/>
        </p:spPr>
        <p:txBody>
          <a:bodyPr wrap="square" lIns="0" rIns="0" tIns="0" bIns="0">
            <a:spAutoFit/>
          </a:bodyPr>
          <a:lstStyle/>
          <a:p>
            <a:pPr algn="ctr"/>
            <a:r>
              <a:rPr sz="900" b="0">
                <a:solidFill>
                  <a:srgbClr val="C4B5FD"/>
                </a:solidFill>
                <a:latin typeface="Segoe UI"/>
              </a:rPr>
              <a:t>Days 1–5</a:t>
            </a:r>
          </a:p>
        </p:txBody>
      </p:sp>
      <p:sp>
        <p:nvSpPr>
          <p:cNvPr id="13" name="Right Triangle 12"/>
          <p:cNvSpPr/>
          <p:nvPr/>
        </p:nvSpPr>
        <p:spPr>
          <a:xfrm>
            <a:off x="3462375" y="2468880"/>
            <a:ext cx="164592" cy="274320"/>
          </a:xfrm>
          <a:prstGeom prst="rtTriangl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72687" y="1828800"/>
            <a:ext cx="1463040" cy="1554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4127" y="1965960"/>
            <a:ext cx="1280160" cy="914400"/>
          </a:xfrm>
          <a:prstGeom prst="rect">
            <a:avLst/>
          </a:prstGeom>
          <a:noFill/>
        </p:spPr>
        <p:txBody>
          <a:bodyPr wrap="square" lIns="0" rIns="0" tIns="0" bIns="0">
            <a:spAutoFit/>
          </a:bodyPr>
          <a:lstStyle/>
          <a:p>
            <a:pPr algn="ctr"/>
            <a:r>
              <a:rPr sz="1100" b="1">
                <a:solidFill>
                  <a:srgbClr val="FFFFFF"/>
                </a:solidFill>
                <a:latin typeface="Segoe UI"/>
              </a:rPr>
              <a:t>Stage 2
Platform Walkthrough</a:t>
            </a:r>
          </a:p>
        </p:txBody>
      </p:sp>
      <p:sp>
        <p:nvSpPr>
          <p:cNvPr id="16" name="TextBox 15"/>
          <p:cNvSpPr txBox="1"/>
          <p:nvPr/>
        </p:nvSpPr>
        <p:spPr>
          <a:xfrm>
            <a:off x="3764127" y="2971800"/>
            <a:ext cx="1280160" cy="274320"/>
          </a:xfrm>
          <a:prstGeom prst="rect">
            <a:avLst/>
          </a:prstGeom>
          <a:noFill/>
        </p:spPr>
        <p:txBody>
          <a:bodyPr wrap="square" lIns="0" rIns="0" tIns="0" bIns="0">
            <a:spAutoFit/>
          </a:bodyPr>
          <a:lstStyle/>
          <a:p>
            <a:pPr algn="ctr"/>
            <a:r>
              <a:rPr sz="900" b="0">
                <a:solidFill>
                  <a:srgbClr val="C4B5FD"/>
                </a:solidFill>
                <a:latin typeface="Segoe UI"/>
              </a:rPr>
              <a:t>Days 5–10</a:t>
            </a:r>
          </a:p>
        </p:txBody>
      </p:sp>
      <p:sp>
        <p:nvSpPr>
          <p:cNvPr id="17" name="Right Triangle 16"/>
          <p:cNvSpPr/>
          <p:nvPr/>
        </p:nvSpPr>
        <p:spPr>
          <a:xfrm>
            <a:off x="5154015" y="2468880"/>
            <a:ext cx="164592" cy="274320"/>
          </a:xfrm>
          <a:prstGeom prst="rtTriangl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64327" y="1828800"/>
            <a:ext cx="1463040" cy="1554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55767" y="1965960"/>
            <a:ext cx="1280160" cy="914400"/>
          </a:xfrm>
          <a:prstGeom prst="rect">
            <a:avLst/>
          </a:prstGeom>
          <a:noFill/>
        </p:spPr>
        <p:txBody>
          <a:bodyPr wrap="square" lIns="0" rIns="0" tIns="0" bIns="0">
            <a:spAutoFit/>
          </a:bodyPr>
          <a:lstStyle/>
          <a:p>
            <a:pPr algn="ctr"/>
            <a:r>
              <a:rPr sz="1100" b="1">
                <a:solidFill>
                  <a:srgbClr val="FFFFFF"/>
                </a:solidFill>
                <a:latin typeface="Segoe UI"/>
              </a:rPr>
              <a:t>Stage 3
Commissions / PFC / Billing</a:t>
            </a:r>
          </a:p>
        </p:txBody>
      </p:sp>
      <p:sp>
        <p:nvSpPr>
          <p:cNvPr id="20" name="TextBox 19"/>
          <p:cNvSpPr txBox="1"/>
          <p:nvPr/>
        </p:nvSpPr>
        <p:spPr>
          <a:xfrm>
            <a:off x="5455767" y="2971800"/>
            <a:ext cx="1280160" cy="274320"/>
          </a:xfrm>
          <a:prstGeom prst="rect">
            <a:avLst/>
          </a:prstGeom>
          <a:noFill/>
        </p:spPr>
        <p:txBody>
          <a:bodyPr wrap="square" lIns="0" rIns="0" tIns="0" bIns="0">
            <a:spAutoFit/>
          </a:bodyPr>
          <a:lstStyle/>
          <a:p>
            <a:pPr algn="ctr"/>
            <a:r>
              <a:rPr sz="900" b="0">
                <a:solidFill>
                  <a:srgbClr val="C4B5FD"/>
                </a:solidFill>
                <a:latin typeface="Segoe UI"/>
              </a:rPr>
              <a:t>Days 21–30</a:t>
            </a:r>
          </a:p>
        </p:txBody>
      </p:sp>
      <p:sp>
        <p:nvSpPr>
          <p:cNvPr id="21" name="Right Triangle 20"/>
          <p:cNvSpPr/>
          <p:nvPr/>
        </p:nvSpPr>
        <p:spPr>
          <a:xfrm>
            <a:off x="6845655" y="2468880"/>
            <a:ext cx="164592" cy="274320"/>
          </a:xfrm>
          <a:prstGeom prst="rtTriangl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55967" y="1828800"/>
            <a:ext cx="1463040" cy="15544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47407" y="1965960"/>
            <a:ext cx="1280160" cy="914400"/>
          </a:xfrm>
          <a:prstGeom prst="rect">
            <a:avLst/>
          </a:prstGeom>
          <a:noFill/>
        </p:spPr>
        <p:txBody>
          <a:bodyPr wrap="square" lIns="0" rIns="0" tIns="0" bIns="0">
            <a:spAutoFit/>
          </a:bodyPr>
          <a:lstStyle/>
          <a:p>
            <a:pPr algn="ctr"/>
            <a:r>
              <a:rPr sz="1100" b="1">
                <a:solidFill>
                  <a:srgbClr val="FFFFFF"/>
                </a:solidFill>
                <a:latin typeface="Segoe UI"/>
              </a:rPr>
              <a:t>BDM → BDA
Handoff</a:t>
            </a:r>
          </a:p>
        </p:txBody>
      </p:sp>
      <p:sp>
        <p:nvSpPr>
          <p:cNvPr id="24" name="TextBox 23"/>
          <p:cNvSpPr txBox="1"/>
          <p:nvPr/>
        </p:nvSpPr>
        <p:spPr>
          <a:xfrm>
            <a:off x="7147407" y="2971800"/>
            <a:ext cx="1280160" cy="274320"/>
          </a:xfrm>
          <a:prstGeom prst="rect">
            <a:avLst/>
          </a:prstGeom>
          <a:noFill/>
        </p:spPr>
        <p:txBody>
          <a:bodyPr wrap="square" lIns="0" rIns="0" tIns="0" bIns="0">
            <a:spAutoFit/>
          </a:bodyPr>
          <a:lstStyle/>
          <a:p>
            <a:pPr algn="ctr"/>
            <a:r>
              <a:rPr sz="900" b="0">
                <a:solidFill>
                  <a:srgbClr val="C4B5FD"/>
                </a:solidFill>
                <a:latin typeface="Segoe UI"/>
              </a:rPr>
              <a:t>Day 30</a:t>
            </a:r>
          </a:p>
        </p:txBody>
      </p:sp>
      <p:sp>
        <p:nvSpPr>
          <p:cNvPr id="25" name="Right Triangle 24"/>
          <p:cNvSpPr/>
          <p:nvPr/>
        </p:nvSpPr>
        <p:spPr>
          <a:xfrm>
            <a:off x="8537295" y="2468880"/>
            <a:ext cx="164592" cy="274320"/>
          </a:xfrm>
          <a:prstGeom prst="rtTriangl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747607" y="1828800"/>
            <a:ext cx="1463040" cy="15544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39047" y="1965960"/>
            <a:ext cx="1280160" cy="914400"/>
          </a:xfrm>
          <a:prstGeom prst="rect">
            <a:avLst/>
          </a:prstGeom>
          <a:noFill/>
        </p:spPr>
        <p:txBody>
          <a:bodyPr wrap="square" lIns="0" rIns="0" tIns="0" bIns="0">
            <a:spAutoFit/>
          </a:bodyPr>
          <a:lstStyle/>
          <a:p>
            <a:pPr algn="ctr"/>
            <a:r>
              <a:rPr sz="1100" b="1">
                <a:solidFill>
                  <a:srgbClr val="FFFFFF"/>
                </a:solidFill>
                <a:latin typeface="Segoe UI"/>
              </a:rPr>
              <a:t>30 / 60 / 90-Day
Check-Ins</a:t>
            </a:r>
          </a:p>
        </p:txBody>
      </p:sp>
      <p:sp>
        <p:nvSpPr>
          <p:cNvPr id="28" name="TextBox 27"/>
          <p:cNvSpPr txBox="1"/>
          <p:nvPr/>
        </p:nvSpPr>
        <p:spPr>
          <a:xfrm>
            <a:off x="8839047" y="2971800"/>
            <a:ext cx="1280160" cy="274320"/>
          </a:xfrm>
          <a:prstGeom prst="rect">
            <a:avLst/>
          </a:prstGeom>
          <a:noFill/>
        </p:spPr>
        <p:txBody>
          <a:bodyPr wrap="square" lIns="0" rIns="0" tIns="0" bIns="0">
            <a:spAutoFit/>
          </a:bodyPr>
          <a:lstStyle/>
          <a:p>
            <a:pPr algn="ctr"/>
            <a:r>
              <a:rPr sz="900" b="0">
                <a:solidFill>
                  <a:srgbClr val="C4B5FD"/>
                </a:solidFill>
                <a:latin typeface="Segoe UI"/>
              </a:rPr>
              <a:t>Day 30, 60, 90</a:t>
            </a:r>
          </a:p>
        </p:txBody>
      </p:sp>
      <p:sp>
        <p:nvSpPr>
          <p:cNvPr id="29" name="Right Triangle 28"/>
          <p:cNvSpPr/>
          <p:nvPr/>
        </p:nvSpPr>
        <p:spPr>
          <a:xfrm>
            <a:off x="10228935" y="2468880"/>
            <a:ext cx="164592" cy="274320"/>
          </a:xfrm>
          <a:prstGeom prst="rtTriangl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439247" y="1828800"/>
            <a:ext cx="1463040" cy="155448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30687" y="1965960"/>
            <a:ext cx="1280160" cy="914400"/>
          </a:xfrm>
          <a:prstGeom prst="rect">
            <a:avLst/>
          </a:prstGeom>
          <a:noFill/>
        </p:spPr>
        <p:txBody>
          <a:bodyPr wrap="square" lIns="0" rIns="0" tIns="0" bIns="0">
            <a:spAutoFit/>
          </a:bodyPr>
          <a:lstStyle/>
          <a:p>
            <a:pPr algn="ctr"/>
            <a:r>
              <a:rPr sz="1100" b="1">
                <a:solidFill>
                  <a:srgbClr val="FFFFFF"/>
                </a:solidFill>
                <a:latin typeface="Segoe UI"/>
              </a:rPr>
              <a:t>Quarterly
Performance Review</a:t>
            </a:r>
          </a:p>
        </p:txBody>
      </p:sp>
      <p:sp>
        <p:nvSpPr>
          <p:cNvPr id="32" name="TextBox 31"/>
          <p:cNvSpPr txBox="1"/>
          <p:nvPr/>
        </p:nvSpPr>
        <p:spPr>
          <a:xfrm>
            <a:off x="10530687" y="2971800"/>
            <a:ext cx="1280160" cy="274320"/>
          </a:xfrm>
          <a:prstGeom prst="rect">
            <a:avLst/>
          </a:prstGeom>
          <a:noFill/>
        </p:spPr>
        <p:txBody>
          <a:bodyPr wrap="square" lIns="0" rIns="0" tIns="0" bIns="0">
            <a:spAutoFit/>
          </a:bodyPr>
          <a:lstStyle/>
          <a:p>
            <a:pPr algn="ctr"/>
            <a:r>
              <a:rPr sz="900" b="0">
                <a:solidFill>
                  <a:srgbClr val="C4B5FD"/>
                </a:solidFill>
                <a:latin typeface="Segoe UI"/>
              </a:rPr>
              <a:t>Every Q</a:t>
            </a:r>
          </a:p>
        </p:txBody>
      </p:sp>
      <p:sp>
        <p:nvSpPr>
          <p:cNvPr id="33" name="TextBox 32"/>
          <p:cNvSpPr txBox="1"/>
          <p:nvPr/>
        </p:nvSpPr>
        <p:spPr>
          <a:xfrm>
            <a:off x="457200" y="4023360"/>
            <a:ext cx="11247120" cy="548640"/>
          </a:xfrm>
          <a:prstGeom prst="rect">
            <a:avLst/>
          </a:prstGeom>
          <a:noFill/>
        </p:spPr>
        <p:txBody>
          <a:bodyPr wrap="square" lIns="0" rIns="0" tIns="0" bIns="0">
            <a:spAutoFit/>
          </a:bodyPr>
          <a:lstStyle/>
          <a:p>
            <a:pPr algn="ctr"/>
            <a:r>
              <a:rPr sz="1300" b="0">
                <a:solidFill>
                  <a:srgbClr val="111827"/>
                </a:solidFill>
                <a:latin typeface="Segoe UI"/>
              </a:rPr>
              <a:t>Goal: agent is confident on the platform, first bind by Day 30, clean BDA handoff, agency on track to hit production thresholds by end of first full quarter.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2 · Roles &amp; Ownership</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Clear handoff between Product, Onboarding, BDA, and Growth</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371600"/>
            <a:ext cx="11430000" cy="86868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109728"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36192"/>
            <a:ext cx="3200400" cy="274320"/>
          </a:xfrm>
          <a:prstGeom prst="rect">
            <a:avLst/>
          </a:prstGeom>
          <a:noFill/>
        </p:spPr>
        <p:txBody>
          <a:bodyPr wrap="square" lIns="0" rIns="0" tIns="0" bIns="0">
            <a:spAutoFit/>
          </a:bodyPr>
          <a:lstStyle/>
          <a:p>
            <a:pPr algn="l"/>
            <a:r>
              <a:rPr sz="1400" b="1">
                <a:solidFill>
                  <a:srgbClr val="1E073B"/>
                </a:solidFill>
                <a:latin typeface="Segoe UI"/>
              </a:rPr>
              <a:t>Product / Turris</a:t>
            </a:r>
          </a:p>
        </p:txBody>
      </p:sp>
      <p:sp>
        <p:nvSpPr>
          <p:cNvPr id="9" name="TextBox 8"/>
          <p:cNvSpPr txBox="1"/>
          <p:nvPr/>
        </p:nvSpPr>
        <p:spPr>
          <a:xfrm>
            <a:off x="4023360" y="1536192"/>
            <a:ext cx="7772400" cy="548640"/>
          </a:xfrm>
          <a:prstGeom prst="rect">
            <a:avLst/>
          </a:prstGeom>
          <a:noFill/>
        </p:spPr>
        <p:txBody>
          <a:bodyPr wrap="square" lIns="0" rIns="0" tIns="0" bIns="0">
            <a:spAutoFit/>
          </a:bodyPr>
          <a:lstStyle/>
          <a:p>
            <a:pPr algn="l"/>
            <a:r>
              <a:rPr sz="1200" b="0">
                <a:solidFill>
                  <a:srgbClr val="111827"/>
                </a:solidFill>
                <a:latin typeface="Segoe UI"/>
              </a:rPr>
              <a:t>Appoints agency, creates company in Cover Whale, sends credentials</a:t>
            </a:r>
          </a:p>
        </p:txBody>
      </p:sp>
      <p:sp>
        <p:nvSpPr>
          <p:cNvPr id="10" name="Rectangle 9"/>
          <p:cNvSpPr/>
          <p:nvPr/>
        </p:nvSpPr>
        <p:spPr>
          <a:xfrm>
            <a:off x="365760" y="2423160"/>
            <a:ext cx="11430000" cy="86868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423160"/>
            <a:ext cx="109728"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87752"/>
            <a:ext cx="3200400" cy="274320"/>
          </a:xfrm>
          <a:prstGeom prst="rect">
            <a:avLst/>
          </a:prstGeom>
          <a:noFill/>
        </p:spPr>
        <p:txBody>
          <a:bodyPr wrap="square" lIns="0" rIns="0" tIns="0" bIns="0">
            <a:spAutoFit/>
          </a:bodyPr>
          <a:lstStyle/>
          <a:p>
            <a:pPr algn="l"/>
            <a:r>
              <a:rPr sz="1400" b="1">
                <a:solidFill>
                  <a:srgbClr val="1E073B"/>
                </a:solidFill>
                <a:latin typeface="Segoe UI"/>
              </a:rPr>
              <a:t>Onboarding Lead</a:t>
            </a:r>
          </a:p>
        </p:txBody>
      </p:sp>
      <p:sp>
        <p:nvSpPr>
          <p:cNvPr id="13" name="TextBox 12"/>
          <p:cNvSpPr txBox="1"/>
          <p:nvPr/>
        </p:nvSpPr>
        <p:spPr>
          <a:xfrm>
            <a:off x="4023360" y="2587752"/>
            <a:ext cx="7772400" cy="548640"/>
          </a:xfrm>
          <a:prstGeom prst="rect">
            <a:avLst/>
          </a:prstGeom>
          <a:noFill/>
        </p:spPr>
        <p:txBody>
          <a:bodyPr wrap="square" lIns="0" rIns="0" tIns="0" bIns="0">
            <a:spAutoFit/>
          </a:bodyPr>
          <a:lstStyle/>
          <a:p>
            <a:pPr algn="l"/>
            <a:r>
              <a:rPr sz="1200" b="0">
                <a:solidFill>
                  <a:srgbClr val="111827"/>
                </a:solidFill>
                <a:latin typeface="Segoe UI"/>
              </a:rPr>
              <a:t>Drives Stages 1–3, owns HubSpot tracking, owns BDM→BDA handoff</a:t>
            </a:r>
          </a:p>
        </p:txBody>
      </p:sp>
      <p:sp>
        <p:nvSpPr>
          <p:cNvPr id="14" name="Rectangle 13"/>
          <p:cNvSpPr/>
          <p:nvPr/>
        </p:nvSpPr>
        <p:spPr>
          <a:xfrm>
            <a:off x="365760" y="3474720"/>
            <a:ext cx="11430000" cy="86868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474720"/>
            <a:ext cx="109728"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39312"/>
            <a:ext cx="3200400" cy="274320"/>
          </a:xfrm>
          <a:prstGeom prst="rect">
            <a:avLst/>
          </a:prstGeom>
          <a:noFill/>
        </p:spPr>
        <p:txBody>
          <a:bodyPr wrap="square" lIns="0" rIns="0" tIns="0" bIns="0">
            <a:spAutoFit/>
          </a:bodyPr>
          <a:lstStyle/>
          <a:p>
            <a:pPr algn="l"/>
            <a:r>
              <a:rPr sz="1400" b="1">
                <a:solidFill>
                  <a:srgbClr val="1E073B"/>
                </a:solidFill>
                <a:latin typeface="Segoe UI"/>
              </a:rPr>
              <a:t>BDA</a:t>
            </a:r>
          </a:p>
        </p:txBody>
      </p:sp>
      <p:sp>
        <p:nvSpPr>
          <p:cNvPr id="17" name="TextBox 16"/>
          <p:cNvSpPr txBox="1"/>
          <p:nvPr/>
        </p:nvSpPr>
        <p:spPr>
          <a:xfrm>
            <a:off x="4023360" y="3639312"/>
            <a:ext cx="7772400" cy="548640"/>
          </a:xfrm>
          <a:prstGeom prst="rect">
            <a:avLst/>
          </a:prstGeom>
          <a:noFill/>
        </p:spPr>
        <p:txBody>
          <a:bodyPr wrap="square" lIns="0" rIns="0" tIns="0" bIns="0">
            <a:spAutoFit/>
          </a:bodyPr>
          <a:lstStyle/>
          <a:p>
            <a:pPr algn="l"/>
            <a:r>
              <a:rPr sz="1200" b="0">
                <a:solidFill>
                  <a:srgbClr val="111827"/>
                </a:solidFill>
                <a:latin typeface="Segoe UI"/>
              </a:rPr>
              <a:t>Owns post-handoff goals, production review, deactivation prevention</a:t>
            </a:r>
          </a:p>
        </p:txBody>
      </p:sp>
      <p:sp>
        <p:nvSpPr>
          <p:cNvPr id="18" name="Rectangle 17"/>
          <p:cNvSpPr/>
          <p:nvPr/>
        </p:nvSpPr>
        <p:spPr>
          <a:xfrm>
            <a:off x="365760" y="4526279"/>
            <a:ext cx="11430000" cy="86868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526279"/>
            <a:ext cx="109728"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690871"/>
            <a:ext cx="3200400" cy="274320"/>
          </a:xfrm>
          <a:prstGeom prst="rect">
            <a:avLst/>
          </a:prstGeom>
          <a:noFill/>
        </p:spPr>
        <p:txBody>
          <a:bodyPr wrap="square" lIns="0" rIns="0" tIns="0" bIns="0">
            <a:spAutoFit/>
          </a:bodyPr>
          <a:lstStyle/>
          <a:p>
            <a:pPr algn="l"/>
            <a:r>
              <a:rPr sz="1400" b="1">
                <a:solidFill>
                  <a:srgbClr val="1E073B"/>
                </a:solidFill>
                <a:latin typeface="Segoe UI"/>
              </a:rPr>
              <a:t>Growth Team</a:t>
            </a:r>
          </a:p>
        </p:txBody>
      </p:sp>
      <p:sp>
        <p:nvSpPr>
          <p:cNvPr id="21" name="TextBox 20"/>
          <p:cNvSpPr txBox="1"/>
          <p:nvPr/>
        </p:nvSpPr>
        <p:spPr>
          <a:xfrm>
            <a:off x="4023360" y="4690871"/>
            <a:ext cx="7772400" cy="548640"/>
          </a:xfrm>
          <a:prstGeom prst="rect">
            <a:avLst/>
          </a:prstGeom>
          <a:noFill/>
        </p:spPr>
        <p:txBody>
          <a:bodyPr wrap="square" lIns="0" rIns="0" tIns="0" bIns="0">
            <a:spAutoFit/>
          </a:bodyPr>
          <a:lstStyle/>
          <a:p>
            <a:pPr algn="l"/>
            <a:r>
              <a:rPr sz="1200" b="0">
                <a:solidFill>
                  <a:srgbClr val="111827"/>
                </a:solidFill>
                <a:latin typeface="Segoe UI"/>
              </a:rPr>
              <a:t>Receives graduated agencies for ongoing relationship</a:t>
            </a:r>
          </a:p>
        </p:txBody>
      </p:sp>
      <p:sp>
        <p:nvSpPr>
          <p:cNvPr id="22" name="TextBox 21"/>
          <p:cNvSpPr txBox="1"/>
          <p:nvPr/>
        </p:nvSpPr>
        <p:spPr>
          <a:xfrm>
            <a:off x="365760" y="5852160"/>
            <a:ext cx="11430000" cy="365760"/>
          </a:xfrm>
          <a:prstGeom prst="rect">
            <a:avLst/>
          </a:prstGeom>
          <a:noFill/>
        </p:spPr>
        <p:txBody>
          <a:bodyPr wrap="square" lIns="0" rIns="0" tIns="0" bIns="0">
            <a:spAutoFit/>
          </a:bodyPr>
          <a:lstStyle/>
          <a:p>
            <a:pPr algn="l"/>
            <a:r>
              <a:rPr sz="1100" b="0">
                <a:solidFill>
                  <a:srgbClr val="6B7280"/>
                </a:solidFill>
                <a:latin typeface="Segoe UI"/>
              </a:rPr>
              <a:t>OOO coverage: queue paused at welcome-email stage; in-flight Sessions 1 &amp; 2 covered by regional BDA.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3 · SLA Targets</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Measurable timelines so drift in the queue is visible</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371600"/>
            <a:ext cx="11430000" cy="411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408176"/>
            <a:ext cx="3145536" cy="338328"/>
          </a:xfrm>
          <a:prstGeom prst="rect">
            <a:avLst/>
          </a:prstGeom>
          <a:noFill/>
        </p:spPr>
        <p:txBody>
          <a:bodyPr wrap="square" lIns="0" rIns="0" tIns="0" bIns="0">
            <a:spAutoFit/>
          </a:bodyPr>
          <a:lstStyle/>
          <a:p>
            <a:pPr algn="l"/>
            <a:r>
              <a:rPr sz="1100" b="1">
                <a:solidFill>
                  <a:srgbClr val="FFFFFF"/>
                </a:solidFill>
                <a:latin typeface="Segoe UI"/>
              </a:rPr>
              <a:t>Milestone</a:t>
            </a:r>
          </a:p>
        </p:txBody>
      </p:sp>
      <p:sp>
        <p:nvSpPr>
          <p:cNvPr id="8" name="TextBox 7"/>
          <p:cNvSpPr txBox="1"/>
          <p:nvPr/>
        </p:nvSpPr>
        <p:spPr>
          <a:xfrm>
            <a:off x="3730752" y="1408176"/>
            <a:ext cx="4791456" cy="338328"/>
          </a:xfrm>
          <a:prstGeom prst="rect">
            <a:avLst/>
          </a:prstGeom>
          <a:noFill/>
        </p:spPr>
        <p:txBody>
          <a:bodyPr wrap="square" lIns="0" rIns="0" tIns="0" bIns="0">
            <a:spAutoFit/>
          </a:bodyPr>
          <a:lstStyle/>
          <a:p>
            <a:pPr algn="l"/>
            <a:r>
              <a:rPr sz="1100" b="1">
                <a:solidFill>
                  <a:srgbClr val="FFFFFF"/>
                </a:solidFill>
                <a:latin typeface="Segoe UI"/>
              </a:rPr>
              <a:t>Target</a:t>
            </a:r>
          </a:p>
        </p:txBody>
      </p:sp>
      <p:sp>
        <p:nvSpPr>
          <p:cNvPr id="9" name="TextBox 8"/>
          <p:cNvSpPr txBox="1"/>
          <p:nvPr/>
        </p:nvSpPr>
        <p:spPr>
          <a:xfrm>
            <a:off x="8668512" y="1408176"/>
            <a:ext cx="3054096" cy="338328"/>
          </a:xfrm>
          <a:prstGeom prst="rect">
            <a:avLst/>
          </a:prstGeom>
          <a:noFill/>
        </p:spPr>
        <p:txBody>
          <a:bodyPr wrap="square" lIns="0" rIns="0" tIns="0" bIns="0">
            <a:spAutoFit/>
          </a:bodyPr>
          <a:lstStyle/>
          <a:p>
            <a:pPr algn="l"/>
            <a:r>
              <a:rPr sz="1100" b="1">
                <a:solidFill>
                  <a:srgbClr val="FFFFFF"/>
                </a:solidFill>
                <a:latin typeface="Segoe UI"/>
              </a:rPr>
              <a:t>Owner</a:t>
            </a:r>
          </a:p>
        </p:txBody>
      </p:sp>
      <p:sp>
        <p:nvSpPr>
          <p:cNvPr id="10" name="Rectangle 9"/>
          <p:cNvSpPr/>
          <p:nvPr/>
        </p:nvSpPr>
        <p:spPr>
          <a:xfrm>
            <a:off x="365760" y="1783080"/>
            <a:ext cx="11430000" cy="41148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819656"/>
            <a:ext cx="3145536" cy="338328"/>
          </a:xfrm>
          <a:prstGeom prst="rect">
            <a:avLst/>
          </a:prstGeom>
          <a:noFill/>
        </p:spPr>
        <p:txBody>
          <a:bodyPr wrap="square" lIns="0" rIns="0" tIns="0" bIns="0">
            <a:spAutoFit/>
          </a:bodyPr>
          <a:lstStyle/>
          <a:p>
            <a:pPr algn="l"/>
            <a:r>
              <a:rPr sz="1100" b="1">
                <a:solidFill>
                  <a:srgbClr val="6D28D9"/>
                </a:solidFill>
                <a:latin typeface="Segoe UI"/>
              </a:rPr>
              <a:t>Welcome email sent</a:t>
            </a:r>
          </a:p>
        </p:txBody>
      </p:sp>
      <p:sp>
        <p:nvSpPr>
          <p:cNvPr id="12" name="TextBox 11"/>
          <p:cNvSpPr txBox="1"/>
          <p:nvPr/>
        </p:nvSpPr>
        <p:spPr>
          <a:xfrm>
            <a:off x="3730752" y="1819656"/>
            <a:ext cx="4791456" cy="338328"/>
          </a:xfrm>
          <a:prstGeom prst="rect">
            <a:avLst/>
          </a:prstGeom>
          <a:noFill/>
        </p:spPr>
        <p:txBody>
          <a:bodyPr wrap="square" lIns="0" rIns="0" tIns="0" bIns="0">
            <a:spAutoFit/>
          </a:bodyPr>
          <a:lstStyle/>
          <a:p>
            <a:pPr algn="l"/>
            <a:r>
              <a:rPr sz="1100" b="0">
                <a:solidFill>
                  <a:srgbClr val="111827"/>
                </a:solidFill>
                <a:latin typeface="Segoe UI"/>
              </a:rPr>
              <a:t>≤ 1 business day after appointment</a:t>
            </a:r>
          </a:p>
        </p:txBody>
      </p:sp>
      <p:sp>
        <p:nvSpPr>
          <p:cNvPr id="13" name="TextBox 12"/>
          <p:cNvSpPr txBox="1"/>
          <p:nvPr/>
        </p:nvSpPr>
        <p:spPr>
          <a:xfrm>
            <a:off x="8668512" y="1819656"/>
            <a:ext cx="3054096" cy="338328"/>
          </a:xfrm>
          <a:prstGeom prst="rect">
            <a:avLst/>
          </a:prstGeom>
          <a:noFill/>
        </p:spPr>
        <p:txBody>
          <a:bodyPr wrap="square" lIns="0" rIns="0" tIns="0" bIns="0">
            <a:spAutoFit/>
          </a:bodyPr>
          <a:lstStyle/>
          <a:p>
            <a:pPr algn="l"/>
            <a:r>
              <a:rPr sz="1100" b="0">
                <a:solidFill>
                  <a:srgbClr val="111827"/>
                </a:solidFill>
                <a:latin typeface="Segoe UI"/>
              </a:rPr>
              <a:t>Onboarding Lead</a:t>
            </a:r>
          </a:p>
        </p:txBody>
      </p:sp>
      <p:sp>
        <p:nvSpPr>
          <p:cNvPr id="14" name="TextBox 13"/>
          <p:cNvSpPr txBox="1"/>
          <p:nvPr/>
        </p:nvSpPr>
        <p:spPr>
          <a:xfrm>
            <a:off x="438912" y="2231136"/>
            <a:ext cx="3145536" cy="338328"/>
          </a:xfrm>
          <a:prstGeom prst="rect">
            <a:avLst/>
          </a:prstGeom>
          <a:noFill/>
        </p:spPr>
        <p:txBody>
          <a:bodyPr wrap="square" lIns="0" rIns="0" tIns="0" bIns="0">
            <a:spAutoFit/>
          </a:bodyPr>
          <a:lstStyle/>
          <a:p>
            <a:pPr algn="l"/>
            <a:r>
              <a:rPr sz="1100" b="1">
                <a:solidFill>
                  <a:srgbClr val="6D28D9"/>
                </a:solidFill>
                <a:latin typeface="Segoe UI"/>
              </a:rPr>
              <a:t>Login confirmed by agent</a:t>
            </a:r>
          </a:p>
        </p:txBody>
      </p:sp>
      <p:sp>
        <p:nvSpPr>
          <p:cNvPr id="15" name="TextBox 14"/>
          <p:cNvSpPr txBox="1"/>
          <p:nvPr/>
        </p:nvSpPr>
        <p:spPr>
          <a:xfrm>
            <a:off x="3730752" y="2231136"/>
            <a:ext cx="4791456" cy="338328"/>
          </a:xfrm>
          <a:prstGeom prst="rect">
            <a:avLst/>
          </a:prstGeom>
          <a:noFill/>
        </p:spPr>
        <p:txBody>
          <a:bodyPr wrap="square" lIns="0" rIns="0" tIns="0" bIns="0">
            <a:spAutoFit/>
          </a:bodyPr>
          <a:lstStyle/>
          <a:p>
            <a:pPr algn="l"/>
            <a:r>
              <a:rPr sz="1100" b="0">
                <a:solidFill>
                  <a:srgbClr val="111827"/>
                </a:solidFill>
                <a:latin typeface="Segoe UI"/>
              </a:rPr>
              <a:t>≤ 3 business days</a:t>
            </a:r>
          </a:p>
        </p:txBody>
      </p:sp>
      <p:sp>
        <p:nvSpPr>
          <p:cNvPr id="16" name="TextBox 15"/>
          <p:cNvSpPr txBox="1"/>
          <p:nvPr/>
        </p:nvSpPr>
        <p:spPr>
          <a:xfrm>
            <a:off x="8668512" y="2231136"/>
            <a:ext cx="3054096" cy="338328"/>
          </a:xfrm>
          <a:prstGeom prst="rect">
            <a:avLst/>
          </a:prstGeom>
          <a:noFill/>
        </p:spPr>
        <p:txBody>
          <a:bodyPr wrap="square" lIns="0" rIns="0" tIns="0" bIns="0">
            <a:spAutoFit/>
          </a:bodyPr>
          <a:lstStyle/>
          <a:p>
            <a:pPr algn="l"/>
            <a:r>
              <a:rPr sz="1100" b="0">
                <a:solidFill>
                  <a:srgbClr val="111827"/>
                </a:solidFill>
                <a:latin typeface="Segoe UI"/>
              </a:rPr>
              <a:t>Onboarding Lead chases</a:t>
            </a:r>
          </a:p>
        </p:txBody>
      </p:sp>
      <p:sp>
        <p:nvSpPr>
          <p:cNvPr id="17" name="Rectangle 16"/>
          <p:cNvSpPr/>
          <p:nvPr/>
        </p:nvSpPr>
        <p:spPr>
          <a:xfrm>
            <a:off x="365760" y="2606040"/>
            <a:ext cx="11430000" cy="41148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642616"/>
            <a:ext cx="3145536" cy="338328"/>
          </a:xfrm>
          <a:prstGeom prst="rect">
            <a:avLst/>
          </a:prstGeom>
          <a:noFill/>
        </p:spPr>
        <p:txBody>
          <a:bodyPr wrap="square" lIns="0" rIns="0" tIns="0" bIns="0">
            <a:spAutoFit/>
          </a:bodyPr>
          <a:lstStyle/>
          <a:p>
            <a:pPr algn="l"/>
            <a:r>
              <a:rPr sz="1100" b="1">
                <a:solidFill>
                  <a:srgbClr val="6D28D9"/>
                </a:solidFill>
                <a:latin typeface="Segoe UI"/>
              </a:rPr>
              <a:t>Session 1 booked</a:t>
            </a:r>
          </a:p>
        </p:txBody>
      </p:sp>
      <p:sp>
        <p:nvSpPr>
          <p:cNvPr id="19" name="TextBox 18"/>
          <p:cNvSpPr txBox="1"/>
          <p:nvPr/>
        </p:nvSpPr>
        <p:spPr>
          <a:xfrm>
            <a:off x="3730752" y="2642616"/>
            <a:ext cx="4791456" cy="338328"/>
          </a:xfrm>
          <a:prstGeom prst="rect">
            <a:avLst/>
          </a:prstGeom>
          <a:noFill/>
        </p:spPr>
        <p:txBody>
          <a:bodyPr wrap="square" lIns="0" rIns="0" tIns="0" bIns="0">
            <a:spAutoFit/>
          </a:bodyPr>
          <a:lstStyle/>
          <a:p>
            <a:pPr algn="l"/>
            <a:r>
              <a:rPr sz="1100" b="0">
                <a:solidFill>
                  <a:srgbClr val="111827"/>
                </a:solidFill>
                <a:latin typeface="Segoe UI"/>
              </a:rPr>
              <a:t>≤ 5 business days after appointment</a:t>
            </a:r>
          </a:p>
        </p:txBody>
      </p:sp>
      <p:sp>
        <p:nvSpPr>
          <p:cNvPr id="20" name="TextBox 19"/>
          <p:cNvSpPr txBox="1"/>
          <p:nvPr/>
        </p:nvSpPr>
        <p:spPr>
          <a:xfrm>
            <a:off x="8668512" y="2642616"/>
            <a:ext cx="3054096" cy="338328"/>
          </a:xfrm>
          <a:prstGeom prst="rect">
            <a:avLst/>
          </a:prstGeom>
          <a:noFill/>
        </p:spPr>
        <p:txBody>
          <a:bodyPr wrap="square" lIns="0" rIns="0" tIns="0" bIns="0">
            <a:spAutoFit/>
          </a:bodyPr>
          <a:lstStyle/>
          <a:p>
            <a:pPr algn="l"/>
            <a:r>
              <a:rPr sz="1100" b="0">
                <a:solidFill>
                  <a:srgbClr val="111827"/>
                </a:solidFill>
                <a:latin typeface="Segoe UI"/>
              </a:rPr>
              <a:t>Onboarding Lead</a:t>
            </a:r>
          </a:p>
        </p:txBody>
      </p:sp>
      <p:sp>
        <p:nvSpPr>
          <p:cNvPr id="21" name="TextBox 20"/>
          <p:cNvSpPr txBox="1"/>
          <p:nvPr/>
        </p:nvSpPr>
        <p:spPr>
          <a:xfrm>
            <a:off x="438912" y="3054096"/>
            <a:ext cx="3145536" cy="338328"/>
          </a:xfrm>
          <a:prstGeom prst="rect">
            <a:avLst/>
          </a:prstGeom>
          <a:noFill/>
        </p:spPr>
        <p:txBody>
          <a:bodyPr wrap="square" lIns="0" rIns="0" tIns="0" bIns="0">
            <a:spAutoFit/>
          </a:bodyPr>
          <a:lstStyle/>
          <a:p>
            <a:pPr algn="l"/>
            <a:r>
              <a:rPr sz="1100" b="1">
                <a:solidFill>
                  <a:srgbClr val="6D28D9"/>
                </a:solidFill>
                <a:latin typeface="Segoe UI"/>
              </a:rPr>
              <a:t>Session 1 held</a:t>
            </a:r>
          </a:p>
        </p:txBody>
      </p:sp>
      <p:sp>
        <p:nvSpPr>
          <p:cNvPr id="22" name="TextBox 21"/>
          <p:cNvSpPr txBox="1"/>
          <p:nvPr/>
        </p:nvSpPr>
        <p:spPr>
          <a:xfrm>
            <a:off x="3730752" y="3054096"/>
            <a:ext cx="4791456" cy="338328"/>
          </a:xfrm>
          <a:prstGeom prst="rect">
            <a:avLst/>
          </a:prstGeom>
          <a:noFill/>
        </p:spPr>
        <p:txBody>
          <a:bodyPr wrap="square" lIns="0" rIns="0" tIns="0" bIns="0">
            <a:spAutoFit/>
          </a:bodyPr>
          <a:lstStyle/>
          <a:p>
            <a:pPr algn="l"/>
            <a:r>
              <a:rPr sz="1100" b="0">
                <a:solidFill>
                  <a:srgbClr val="111827"/>
                </a:solidFill>
                <a:latin typeface="Segoe UI"/>
              </a:rPr>
              <a:t>≤ 10 business days after appointment</a:t>
            </a:r>
          </a:p>
        </p:txBody>
      </p:sp>
      <p:sp>
        <p:nvSpPr>
          <p:cNvPr id="23" name="TextBox 22"/>
          <p:cNvSpPr txBox="1"/>
          <p:nvPr/>
        </p:nvSpPr>
        <p:spPr>
          <a:xfrm>
            <a:off x="8668512" y="3054096"/>
            <a:ext cx="3054096" cy="338328"/>
          </a:xfrm>
          <a:prstGeom prst="rect">
            <a:avLst/>
          </a:prstGeom>
          <a:noFill/>
        </p:spPr>
        <p:txBody>
          <a:bodyPr wrap="square" lIns="0" rIns="0" tIns="0" bIns="0">
            <a:spAutoFit/>
          </a:bodyPr>
          <a:lstStyle/>
          <a:p>
            <a:pPr algn="l"/>
            <a:r>
              <a:rPr sz="1100" b="0">
                <a:solidFill>
                  <a:srgbClr val="111827"/>
                </a:solidFill>
                <a:latin typeface="Segoe UI"/>
              </a:rPr>
              <a:t>Onboarding Lead</a:t>
            </a:r>
          </a:p>
        </p:txBody>
      </p:sp>
      <p:sp>
        <p:nvSpPr>
          <p:cNvPr id="24" name="Rectangle 23"/>
          <p:cNvSpPr/>
          <p:nvPr/>
        </p:nvSpPr>
        <p:spPr>
          <a:xfrm>
            <a:off x="365760" y="3429000"/>
            <a:ext cx="11430000" cy="41148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3465576"/>
            <a:ext cx="3145536" cy="338328"/>
          </a:xfrm>
          <a:prstGeom prst="rect">
            <a:avLst/>
          </a:prstGeom>
          <a:noFill/>
        </p:spPr>
        <p:txBody>
          <a:bodyPr wrap="square" lIns="0" rIns="0" tIns="0" bIns="0">
            <a:spAutoFit/>
          </a:bodyPr>
          <a:lstStyle/>
          <a:p>
            <a:pPr algn="l"/>
            <a:r>
              <a:rPr sz="1100" b="1">
                <a:solidFill>
                  <a:srgbClr val="6D28D9"/>
                </a:solidFill>
                <a:latin typeface="Segoe UI"/>
              </a:rPr>
              <a:t>First submission</a:t>
            </a:r>
          </a:p>
        </p:txBody>
      </p:sp>
      <p:sp>
        <p:nvSpPr>
          <p:cNvPr id="26" name="TextBox 25"/>
          <p:cNvSpPr txBox="1"/>
          <p:nvPr/>
        </p:nvSpPr>
        <p:spPr>
          <a:xfrm>
            <a:off x="3730752" y="3465576"/>
            <a:ext cx="4791456" cy="338328"/>
          </a:xfrm>
          <a:prstGeom prst="rect">
            <a:avLst/>
          </a:prstGeom>
          <a:noFill/>
        </p:spPr>
        <p:txBody>
          <a:bodyPr wrap="square" lIns="0" rIns="0" tIns="0" bIns="0">
            <a:spAutoFit/>
          </a:bodyPr>
          <a:lstStyle/>
          <a:p>
            <a:pPr algn="l"/>
            <a:r>
              <a:rPr sz="1100" b="0">
                <a:solidFill>
                  <a:srgbClr val="111827"/>
                </a:solidFill>
                <a:latin typeface="Segoe UI"/>
              </a:rPr>
              <a:t>≤ 14 days after Session 1</a:t>
            </a:r>
          </a:p>
        </p:txBody>
      </p:sp>
      <p:sp>
        <p:nvSpPr>
          <p:cNvPr id="27" name="TextBox 26"/>
          <p:cNvSpPr txBox="1"/>
          <p:nvPr/>
        </p:nvSpPr>
        <p:spPr>
          <a:xfrm>
            <a:off x="8668512" y="3465576"/>
            <a:ext cx="3054096" cy="338328"/>
          </a:xfrm>
          <a:prstGeom prst="rect">
            <a:avLst/>
          </a:prstGeom>
          <a:noFill/>
        </p:spPr>
        <p:txBody>
          <a:bodyPr wrap="square" lIns="0" rIns="0" tIns="0" bIns="0">
            <a:spAutoFit/>
          </a:bodyPr>
          <a:lstStyle/>
          <a:p>
            <a:pPr algn="l"/>
            <a:r>
              <a:rPr sz="1100" b="0">
                <a:solidFill>
                  <a:srgbClr val="111827"/>
                </a:solidFill>
                <a:latin typeface="Segoe UI"/>
              </a:rPr>
              <a:t>Agent (chase if absent)</a:t>
            </a:r>
          </a:p>
        </p:txBody>
      </p:sp>
      <p:sp>
        <p:nvSpPr>
          <p:cNvPr id="28" name="TextBox 27"/>
          <p:cNvSpPr txBox="1"/>
          <p:nvPr/>
        </p:nvSpPr>
        <p:spPr>
          <a:xfrm>
            <a:off x="438912" y="3877056"/>
            <a:ext cx="3145536" cy="338328"/>
          </a:xfrm>
          <a:prstGeom prst="rect">
            <a:avLst/>
          </a:prstGeom>
          <a:noFill/>
        </p:spPr>
        <p:txBody>
          <a:bodyPr wrap="square" lIns="0" rIns="0" tIns="0" bIns="0">
            <a:spAutoFit/>
          </a:bodyPr>
          <a:lstStyle/>
          <a:p>
            <a:pPr algn="l"/>
            <a:r>
              <a:rPr sz="1100" b="1">
                <a:solidFill>
                  <a:srgbClr val="6D28D9"/>
                </a:solidFill>
                <a:latin typeface="Segoe UI"/>
              </a:rPr>
              <a:t>First bind</a:t>
            </a:r>
          </a:p>
        </p:txBody>
      </p:sp>
      <p:sp>
        <p:nvSpPr>
          <p:cNvPr id="29" name="TextBox 28"/>
          <p:cNvSpPr txBox="1"/>
          <p:nvPr/>
        </p:nvSpPr>
        <p:spPr>
          <a:xfrm>
            <a:off x="3730752" y="3877056"/>
            <a:ext cx="4791456" cy="338328"/>
          </a:xfrm>
          <a:prstGeom prst="rect">
            <a:avLst/>
          </a:prstGeom>
          <a:noFill/>
        </p:spPr>
        <p:txBody>
          <a:bodyPr wrap="square" lIns="0" rIns="0" tIns="0" bIns="0">
            <a:spAutoFit/>
          </a:bodyPr>
          <a:lstStyle/>
          <a:p>
            <a:pPr algn="l"/>
            <a:r>
              <a:rPr sz="1100" b="0">
                <a:solidFill>
                  <a:srgbClr val="111827"/>
                </a:solidFill>
                <a:latin typeface="Segoe UI"/>
              </a:rPr>
              <a:t>≤ 30 days after appointment</a:t>
            </a:r>
          </a:p>
        </p:txBody>
      </p:sp>
      <p:sp>
        <p:nvSpPr>
          <p:cNvPr id="30" name="TextBox 29"/>
          <p:cNvSpPr txBox="1"/>
          <p:nvPr/>
        </p:nvSpPr>
        <p:spPr>
          <a:xfrm>
            <a:off x="8668512" y="3877056"/>
            <a:ext cx="3054096" cy="338328"/>
          </a:xfrm>
          <a:prstGeom prst="rect">
            <a:avLst/>
          </a:prstGeom>
          <a:noFill/>
        </p:spPr>
        <p:txBody>
          <a:bodyPr wrap="square" lIns="0" rIns="0" tIns="0" bIns="0">
            <a:spAutoFit/>
          </a:bodyPr>
          <a:lstStyle/>
          <a:p>
            <a:pPr algn="l"/>
            <a:r>
              <a:rPr sz="1100" b="0">
                <a:solidFill>
                  <a:srgbClr val="111827"/>
                </a:solidFill>
                <a:latin typeface="Segoe UI"/>
              </a:rPr>
              <a:t>Agent / BDA</a:t>
            </a:r>
          </a:p>
        </p:txBody>
      </p:sp>
      <p:sp>
        <p:nvSpPr>
          <p:cNvPr id="31" name="Rectangle 30"/>
          <p:cNvSpPr/>
          <p:nvPr/>
        </p:nvSpPr>
        <p:spPr>
          <a:xfrm>
            <a:off x="365760" y="4251960"/>
            <a:ext cx="11430000" cy="41148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4288536"/>
            <a:ext cx="3145536" cy="338328"/>
          </a:xfrm>
          <a:prstGeom prst="rect">
            <a:avLst/>
          </a:prstGeom>
          <a:noFill/>
        </p:spPr>
        <p:txBody>
          <a:bodyPr wrap="square" lIns="0" rIns="0" tIns="0" bIns="0">
            <a:spAutoFit/>
          </a:bodyPr>
          <a:lstStyle/>
          <a:p>
            <a:pPr algn="l"/>
            <a:r>
              <a:rPr sz="1100" b="1">
                <a:solidFill>
                  <a:srgbClr val="6D28D9"/>
                </a:solidFill>
                <a:latin typeface="Segoe UI"/>
              </a:rPr>
              <a:t>Session 2 + BDA handoff</a:t>
            </a:r>
          </a:p>
        </p:txBody>
      </p:sp>
      <p:sp>
        <p:nvSpPr>
          <p:cNvPr id="33" name="TextBox 32"/>
          <p:cNvSpPr txBox="1"/>
          <p:nvPr/>
        </p:nvSpPr>
        <p:spPr>
          <a:xfrm>
            <a:off x="3730752" y="4288536"/>
            <a:ext cx="4791456" cy="338328"/>
          </a:xfrm>
          <a:prstGeom prst="rect">
            <a:avLst/>
          </a:prstGeom>
          <a:noFill/>
        </p:spPr>
        <p:txBody>
          <a:bodyPr wrap="square" lIns="0" rIns="0" tIns="0" bIns="0">
            <a:spAutoFit/>
          </a:bodyPr>
          <a:lstStyle/>
          <a:p>
            <a:pPr algn="l"/>
            <a:r>
              <a:rPr sz="1100" b="0">
                <a:solidFill>
                  <a:srgbClr val="111827"/>
                </a:solidFill>
                <a:latin typeface="Segoe UI"/>
              </a:rPr>
              <a:t>≤ 21 days after Session 1</a:t>
            </a:r>
          </a:p>
        </p:txBody>
      </p:sp>
      <p:sp>
        <p:nvSpPr>
          <p:cNvPr id="34" name="TextBox 33"/>
          <p:cNvSpPr txBox="1"/>
          <p:nvPr/>
        </p:nvSpPr>
        <p:spPr>
          <a:xfrm>
            <a:off x="8668512" y="4288536"/>
            <a:ext cx="3054096" cy="338328"/>
          </a:xfrm>
          <a:prstGeom prst="rect">
            <a:avLst/>
          </a:prstGeom>
          <a:noFill/>
        </p:spPr>
        <p:txBody>
          <a:bodyPr wrap="square" lIns="0" rIns="0" tIns="0" bIns="0">
            <a:spAutoFit/>
          </a:bodyPr>
          <a:lstStyle/>
          <a:p>
            <a:pPr algn="l"/>
            <a:r>
              <a:rPr sz="1100" b="0">
                <a:solidFill>
                  <a:srgbClr val="111827"/>
                </a:solidFill>
                <a:latin typeface="Segoe UI"/>
              </a:rPr>
              <a:t>Onboarding Lead → BDA</a:t>
            </a:r>
          </a:p>
        </p:txBody>
      </p:sp>
      <p:sp>
        <p:nvSpPr>
          <p:cNvPr id="35" name="TextBox 34"/>
          <p:cNvSpPr txBox="1"/>
          <p:nvPr/>
        </p:nvSpPr>
        <p:spPr>
          <a:xfrm>
            <a:off x="438912" y="4700016"/>
            <a:ext cx="3145536" cy="338328"/>
          </a:xfrm>
          <a:prstGeom prst="rect">
            <a:avLst/>
          </a:prstGeom>
          <a:noFill/>
        </p:spPr>
        <p:txBody>
          <a:bodyPr wrap="square" lIns="0" rIns="0" tIns="0" bIns="0">
            <a:spAutoFit/>
          </a:bodyPr>
          <a:lstStyle/>
          <a:p>
            <a:pPr algn="l"/>
            <a:r>
              <a:rPr sz="1100" b="1">
                <a:solidFill>
                  <a:srgbClr val="6D28D9"/>
                </a:solidFill>
                <a:latin typeface="Segoe UI"/>
              </a:rPr>
              <a:t>BDA graduation</a:t>
            </a:r>
          </a:p>
        </p:txBody>
      </p:sp>
      <p:sp>
        <p:nvSpPr>
          <p:cNvPr id="36" name="TextBox 35"/>
          <p:cNvSpPr txBox="1"/>
          <p:nvPr/>
        </p:nvSpPr>
        <p:spPr>
          <a:xfrm>
            <a:off x="3730752" y="4700016"/>
            <a:ext cx="4791456" cy="338328"/>
          </a:xfrm>
          <a:prstGeom prst="rect">
            <a:avLst/>
          </a:prstGeom>
          <a:noFill/>
        </p:spPr>
        <p:txBody>
          <a:bodyPr wrap="square" lIns="0" rIns="0" tIns="0" bIns="0">
            <a:spAutoFit/>
          </a:bodyPr>
          <a:lstStyle/>
          <a:p>
            <a:pPr algn="l"/>
            <a:r>
              <a:rPr sz="1100" b="0">
                <a:solidFill>
                  <a:srgbClr val="111827"/>
                </a:solidFill>
                <a:latin typeface="Segoe UI"/>
              </a:rPr>
              <a:t>Day 90</a:t>
            </a:r>
          </a:p>
        </p:txBody>
      </p:sp>
      <p:sp>
        <p:nvSpPr>
          <p:cNvPr id="37" name="TextBox 36"/>
          <p:cNvSpPr txBox="1"/>
          <p:nvPr/>
        </p:nvSpPr>
        <p:spPr>
          <a:xfrm>
            <a:off x="8668512" y="4700016"/>
            <a:ext cx="3054096" cy="338328"/>
          </a:xfrm>
          <a:prstGeom prst="rect">
            <a:avLst/>
          </a:prstGeom>
          <a:noFill/>
        </p:spPr>
        <p:txBody>
          <a:bodyPr wrap="square" lIns="0" rIns="0" tIns="0" bIns="0">
            <a:spAutoFit/>
          </a:bodyPr>
          <a:lstStyle/>
          <a:p>
            <a:pPr algn="l"/>
            <a:r>
              <a:rPr sz="1100" b="0">
                <a:solidFill>
                  <a:srgbClr val="111827"/>
                </a:solidFill>
                <a:latin typeface="Segoe UI"/>
              </a:rPr>
              <a:t>BDA + Growth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4 · Appointment Trigger</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Conditions that must be true before the onboarding queue picks up an agency</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TextBox 5"/>
          <p:cNvSpPr txBox="1"/>
          <p:nvPr/>
        </p:nvSpPr>
        <p:spPr>
          <a:xfrm>
            <a:off x="365760" y="1280160"/>
            <a:ext cx="11430000" cy="365760"/>
          </a:xfrm>
          <a:prstGeom prst="rect">
            <a:avLst/>
          </a:prstGeom>
          <a:noFill/>
        </p:spPr>
        <p:txBody>
          <a:bodyPr wrap="square" lIns="0" rIns="0" tIns="0" bIns="0">
            <a:spAutoFit/>
          </a:bodyPr>
          <a:lstStyle/>
          <a:p>
            <a:pPr algn="l"/>
            <a:r>
              <a:rPr sz="1400" b="1">
                <a:solidFill>
                  <a:srgbClr val="1E073B"/>
                </a:solidFill>
                <a:latin typeface="Segoe UI"/>
              </a:rPr>
              <a:t>All four must be TRUE:</a:t>
            </a:r>
          </a:p>
        </p:txBody>
      </p:sp>
      <p:sp>
        <p:nvSpPr>
          <p:cNvPr id="7" name="TextBox 6"/>
          <p:cNvSpPr txBox="1"/>
          <p:nvPr/>
        </p:nvSpPr>
        <p:spPr>
          <a:xfrm>
            <a:off x="548640" y="1783080"/>
            <a:ext cx="10972800" cy="2743200"/>
          </a:xfrm>
          <a:prstGeom prst="rect">
            <a:avLst/>
          </a:prstGeom>
          <a:noFill/>
        </p:spPr>
        <p:txBody>
          <a:bodyPr wrap="square" lIns="0" rIns="0" tIns="0" bIns="0">
            <a:spAutoFit/>
          </a:bodyPr>
          <a:lstStyle/>
          <a:p>
            <a:pPr>
              <a:lnSpc>
                <a:spcPct val="160000"/>
              </a:lnSpc>
            </a:pPr>
            <a:r>
              <a:rPr sz="1500">
                <a:solidFill>
                  <a:srgbClr val="6D28D9"/>
                </a:solidFill>
                <a:latin typeface="Segoe UI"/>
              </a:rPr>
              <a:t>● </a:t>
            </a:r>
            <a:r>
              <a:rPr sz="1500">
                <a:solidFill>
                  <a:srgbClr val="111827"/>
                </a:solidFill>
                <a:latin typeface="Segoe UI"/>
              </a:rPr>
              <a:t>Agency created in Cover Whale platform</a:t>
            </a:r>
          </a:p>
          <a:p>
            <a:pPr>
              <a:lnSpc>
                <a:spcPct val="160000"/>
              </a:lnSpc>
            </a:pPr>
            <a:r>
              <a:rPr sz="1500">
                <a:solidFill>
                  <a:srgbClr val="6D28D9"/>
                </a:solidFill>
                <a:latin typeface="Segoe UI"/>
              </a:rPr>
              <a:t>● </a:t>
            </a:r>
            <a:r>
              <a:rPr sz="1500">
                <a:solidFill>
                  <a:srgbClr val="111827"/>
                </a:solidFill>
                <a:latin typeface="Segoe UI"/>
              </a:rPr>
              <a:t>Producer agreement, E&amp;O, W9, ACH on file</a:t>
            </a:r>
          </a:p>
          <a:p>
            <a:pPr>
              <a:lnSpc>
                <a:spcPct val="160000"/>
              </a:lnSpc>
            </a:pPr>
            <a:r>
              <a:rPr sz="1500">
                <a:solidFill>
                  <a:srgbClr val="6D28D9"/>
                </a:solidFill>
                <a:latin typeface="Segoe UI"/>
              </a:rPr>
              <a:t>● </a:t>
            </a:r>
            <a:r>
              <a:rPr sz="1500">
                <a:solidFill>
                  <a:srgbClr val="111827"/>
                </a:solidFill>
                <a:latin typeface="Segoe UI"/>
              </a:rPr>
              <a:t>Login credentials sent to primary agent</a:t>
            </a:r>
          </a:p>
          <a:p>
            <a:pPr>
              <a:lnSpc>
                <a:spcPct val="160000"/>
              </a:lnSpc>
            </a:pPr>
            <a:r>
              <a:rPr sz="1500">
                <a:solidFill>
                  <a:srgbClr val="6D28D9"/>
                </a:solidFill>
                <a:latin typeface="Segoe UI"/>
              </a:rPr>
              <a:t>● </a:t>
            </a:r>
            <a:r>
              <a:rPr sz="1500">
                <a:solidFill>
                  <a:srgbClr val="111827"/>
                </a:solidFill>
                <a:latin typeface="Segoe UI"/>
              </a:rPr>
              <a:t>HubSpot company record exists with NPN populated</a:t>
            </a:r>
          </a:p>
        </p:txBody>
      </p:sp>
      <p:sp>
        <p:nvSpPr>
          <p:cNvPr id="8" name="Rectangle 7"/>
          <p:cNvSpPr/>
          <p:nvPr/>
        </p:nvSpPr>
        <p:spPr>
          <a:xfrm>
            <a:off x="365760" y="5029200"/>
            <a:ext cx="11430000" cy="12801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166360"/>
            <a:ext cx="10972800" cy="320040"/>
          </a:xfrm>
          <a:prstGeom prst="rect">
            <a:avLst/>
          </a:prstGeom>
          <a:noFill/>
        </p:spPr>
        <p:txBody>
          <a:bodyPr wrap="square" lIns="0" rIns="0" tIns="0" bIns="0">
            <a:spAutoFit/>
          </a:bodyPr>
          <a:lstStyle/>
          <a:p>
            <a:pPr algn="l"/>
            <a:r>
              <a:rPr sz="1300" b="1">
                <a:solidFill>
                  <a:srgbClr val="1E073B"/>
                </a:solidFill>
                <a:latin typeface="Segoe UI"/>
              </a:rPr>
              <a:t>Notification path</a:t>
            </a:r>
          </a:p>
        </p:txBody>
      </p:sp>
      <p:sp>
        <p:nvSpPr>
          <p:cNvPr id="10" name="TextBox 9"/>
          <p:cNvSpPr txBox="1"/>
          <p:nvPr/>
        </p:nvSpPr>
        <p:spPr>
          <a:xfrm>
            <a:off x="640080" y="5486400"/>
            <a:ext cx="10972800" cy="731520"/>
          </a:xfrm>
          <a:prstGeom prst="rect">
            <a:avLst/>
          </a:prstGeom>
          <a:noFill/>
        </p:spPr>
        <p:txBody>
          <a:bodyPr wrap="square" lIns="0" rIns="0" tIns="0" bIns="0">
            <a:spAutoFit/>
          </a:bodyPr>
          <a:lstStyle/>
          <a:p>
            <a:pPr algn="l"/>
            <a:r>
              <a:rPr sz="1200" b="0">
                <a:solidFill>
                  <a:srgbClr val="111827"/>
                </a:solidFill>
                <a:latin typeface="Segoe UI"/>
              </a:rPr>
              <a:t>Slack channel #agency-platform-onboarding + HubSpot ticket assigned to Onboarding Lead.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5 · HubSpot Ticket Standard</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Every onboarding session tracked under a ticket — visible, measurable, handoff-ready</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280160"/>
            <a:ext cx="5486400" cy="49377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5120640" cy="320040"/>
          </a:xfrm>
          <a:prstGeom prst="rect">
            <a:avLst/>
          </a:prstGeom>
          <a:noFill/>
        </p:spPr>
        <p:txBody>
          <a:bodyPr wrap="square" lIns="0" rIns="0" tIns="0" bIns="0">
            <a:spAutoFit/>
          </a:bodyPr>
          <a:lstStyle/>
          <a:p>
            <a:pPr algn="l"/>
            <a:r>
              <a:rPr sz="1300" b="1">
                <a:solidFill>
                  <a:srgbClr val="1E073B"/>
                </a:solidFill>
                <a:latin typeface="Segoe UI"/>
              </a:rPr>
              <a:t>Ticket configuration</a:t>
            </a:r>
          </a:p>
        </p:txBody>
      </p:sp>
      <p:sp>
        <p:nvSpPr>
          <p:cNvPr id="8" name="TextBox 7"/>
          <p:cNvSpPr txBox="1"/>
          <p:nvPr/>
        </p:nvSpPr>
        <p:spPr>
          <a:xfrm>
            <a:off x="640080" y="1828800"/>
            <a:ext cx="1645920" cy="274320"/>
          </a:xfrm>
          <a:prstGeom prst="rect">
            <a:avLst/>
          </a:prstGeom>
          <a:noFill/>
        </p:spPr>
        <p:txBody>
          <a:bodyPr wrap="square" lIns="0" rIns="0" tIns="0" bIns="0">
            <a:spAutoFit/>
          </a:bodyPr>
          <a:lstStyle/>
          <a:p>
            <a:pPr algn="l"/>
            <a:r>
              <a:rPr sz="1100" b="1">
                <a:solidFill>
                  <a:srgbClr val="111827"/>
                </a:solidFill>
                <a:latin typeface="Segoe UI"/>
              </a:rPr>
              <a:t>Pipeline:</a:t>
            </a:r>
          </a:p>
        </p:txBody>
      </p:sp>
      <p:sp>
        <p:nvSpPr>
          <p:cNvPr id="9" name="TextBox 8"/>
          <p:cNvSpPr txBox="1"/>
          <p:nvPr/>
        </p:nvSpPr>
        <p:spPr>
          <a:xfrm>
            <a:off x="2286000" y="1828800"/>
            <a:ext cx="3474720" cy="548640"/>
          </a:xfrm>
          <a:prstGeom prst="rect">
            <a:avLst/>
          </a:prstGeom>
          <a:noFill/>
        </p:spPr>
        <p:txBody>
          <a:bodyPr wrap="square" lIns="0" rIns="0" tIns="0" bIns="0">
            <a:spAutoFit/>
          </a:bodyPr>
          <a:lstStyle/>
          <a:p>
            <a:pPr algn="l"/>
            <a:r>
              <a:rPr sz="1100" b="0">
                <a:solidFill>
                  <a:srgbClr val="111827"/>
                </a:solidFill>
                <a:latin typeface="Segoe UI"/>
              </a:rPr>
              <a:t>Main Support</a:t>
            </a:r>
          </a:p>
        </p:txBody>
      </p:sp>
      <p:sp>
        <p:nvSpPr>
          <p:cNvPr id="10" name="TextBox 9"/>
          <p:cNvSpPr txBox="1"/>
          <p:nvPr/>
        </p:nvSpPr>
        <p:spPr>
          <a:xfrm>
            <a:off x="640080" y="2606040"/>
            <a:ext cx="1645920" cy="274320"/>
          </a:xfrm>
          <a:prstGeom prst="rect">
            <a:avLst/>
          </a:prstGeom>
          <a:noFill/>
        </p:spPr>
        <p:txBody>
          <a:bodyPr wrap="square" lIns="0" rIns="0" tIns="0" bIns="0">
            <a:spAutoFit/>
          </a:bodyPr>
          <a:lstStyle/>
          <a:p>
            <a:pPr algn="l"/>
            <a:r>
              <a:rPr sz="1100" b="1">
                <a:solidFill>
                  <a:srgbClr val="111827"/>
                </a:solidFill>
                <a:latin typeface="Segoe UI"/>
              </a:rPr>
              <a:t>Category:</a:t>
            </a:r>
          </a:p>
        </p:txBody>
      </p:sp>
      <p:sp>
        <p:nvSpPr>
          <p:cNvPr id="11" name="TextBox 10"/>
          <p:cNvSpPr txBox="1"/>
          <p:nvPr/>
        </p:nvSpPr>
        <p:spPr>
          <a:xfrm>
            <a:off x="2286000" y="2606040"/>
            <a:ext cx="3474720" cy="548640"/>
          </a:xfrm>
          <a:prstGeom prst="rect">
            <a:avLst/>
          </a:prstGeom>
          <a:noFill/>
        </p:spPr>
        <p:txBody>
          <a:bodyPr wrap="square" lIns="0" rIns="0" tIns="0" bIns="0">
            <a:spAutoFit/>
          </a:bodyPr>
          <a:lstStyle/>
          <a:p>
            <a:pPr algn="l"/>
            <a:r>
              <a:rPr sz="1100" b="0">
                <a:solidFill>
                  <a:srgbClr val="111827"/>
                </a:solidFill>
                <a:latin typeface="Segoe UI"/>
              </a:rPr>
              <a:t>Growth</a:t>
            </a:r>
          </a:p>
        </p:txBody>
      </p:sp>
      <p:sp>
        <p:nvSpPr>
          <p:cNvPr id="12" name="TextBox 11"/>
          <p:cNvSpPr txBox="1"/>
          <p:nvPr/>
        </p:nvSpPr>
        <p:spPr>
          <a:xfrm>
            <a:off x="640080" y="3383280"/>
            <a:ext cx="1645920" cy="274320"/>
          </a:xfrm>
          <a:prstGeom prst="rect">
            <a:avLst/>
          </a:prstGeom>
          <a:noFill/>
        </p:spPr>
        <p:txBody>
          <a:bodyPr wrap="square" lIns="0" rIns="0" tIns="0" bIns="0">
            <a:spAutoFit/>
          </a:bodyPr>
          <a:lstStyle/>
          <a:p>
            <a:pPr algn="l"/>
            <a:r>
              <a:rPr sz="1100" b="1">
                <a:solidFill>
                  <a:srgbClr val="111827"/>
                </a:solidFill>
                <a:latin typeface="Segoe UI"/>
              </a:rPr>
              <a:t>Stage 1 ticket label:</a:t>
            </a:r>
          </a:p>
        </p:txBody>
      </p:sp>
      <p:sp>
        <p:nvSpPr>
          <p:cNvPr id="13" name="TextBox 12"/>
          <p:cNvSpPr txBox="1"/>
          <p:nvPr/>
        </p:nvSpPr>
        <p:spPr>
          <a:xfrm>
            <a:off x="2286000" y="3383280"/>
            <a:ext cx="3474720" cy="548640"/>
          </a:xfrm>
          <a:prstGeom prst="rect">
            <a:avLst/>
          </a:prstGeom>
          <a:noFill/>
        </p:spPr>
        <p:txBody>
          <a:bodyPr wrap="square" lIns="0" rIns="0" tIns="0" bIns="0">
            <a:spAutoFit/>
          </a:bodyPr>
          <a:lstStyle/>
          <a:p>
            <a:pPr algn="l"/>
            <a:r>
              <a:rPr sz="1100" b="0">
                <a:solidFill>
                  <a:srgbClr val="111827"/>
                </a:solidFill>
                <a:latin typeface="Segoe UI"/>
              </a:rPr>
              <a:t>Onboard new agent - [East / West / Central], (Agency Name)</a:t>
            </a:r>
          </a:p>
        </p:txBody>
      </p:sp>
      <p:sp>
        <p:nvSpPr>
          <p:cNvPr id="14" name="TextBox 13"/>
          <p:cNvSpPr txBox="1"/>
          <p:nvPr/>
        </p:nvSpPr>
        <p:spPr>
          <a:xfrm>
            <a:off x="640080" y="4160520"/>
            <a:ext cx="1645920" cy="274320"/>
          </a:xfrm>
          <a:prstGeom prst="rect">
            <a:avLst/>
          </a:prstGeom>
          <a:noFill/>
        </p:spPr>
        <p:txBody>
          <a:bodyPr wrap="square" lIns="0" rIns="0" tIns="0" bIns="0">
            <a:spAutoFit/>
          </a:bodyPr>
          <a:lstStyle/>
          <a:p>
            <a:pPr algn="l"/>
            <a:r>
              <a:rPr sz="1100" b="1">
                <a:solidFill>
                  <a:srgbClr val="111827"/>
                </a:solidFill>
                <a:latin typeface="Segoe UI"/>
              </a:rPr>
              <a:t>Stage 3 ticket label:</a:t>
            </a:r>
          </a:p>
        </p:txBody>
      </p:sp>
      <p:sp>
        <p:nvSpPr>
          <p:cNvPr id="15" name="TextBox 14"/>
          <p:cNvSpPr txBox="1"/>
          <p:nvPr/>
        </p:nvSpPr>
        <p:spPr>
          <a:xfrm>
            <a:off x="2286000" y="4160520"/>
            <a:ext cx="3474720" cy="548640"/>
          </a:xfrm>
          <a:prstGeom prst="rect">
            <a:avLst/>
          </a:prstGeom>
          <a:noFill/>
        </p:spPr>
        <p:txBody>
          <a:bodyPr wrap="square" lIns="0" rIns="0" tIns="0" bIns="0">
            <a:spAutoFit/>
          </a:bodyPr>
          <a:lstStyle/>
          <a:p>
            <a:pPr algn="l"/>
            <a:r>
              <a:rPr sz="1100" b="0">
                <a:solidFill>
                  <a:srgbClr val="111827"/>
                </a:solidFill>
                <a:latin typeface="Segoe UI"/>
              </a:rPr>
              <a:t>Follow up with new agent - [East / West / Central], (Agency Name)</a:t>
            </a:r>
          </a:p>
        </p:txBody>
      </p:sp>
      <p:sp>
        <p:nvSpPr>
          <p:cNvPr id="16" name="Rectangle 15"/>
          <p:cNvSpPr/>
          <p:nvPr/>
        </p:nvSpPr>
        <p:spPr>
          <a:xfrm>
            <a:off x="6126480" y="1280160"/>
            <a:ext cx="5760720" cy="49377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417320"/>
            <a:ext cx="5394960" cy="320040"/>
          </a:xfrm>
          <a:prstGeom prst="rect">
            <a:avLst/>
          </a:prstGeom>
          <a:noFill/>
        </p:spPr>
        <p:txBody>
          <a:bodyPr wrap="square" lIns="0" rIns="0" tIns="0" bIns="0">
            <a:spAutoFit/>
          </a:bodyPr>
          <a:lstStyle/>
          <a:p>
            <a:pPr algn="l"/>
            <a:r>
              <a:rPr sz="1300" b="1">
                <a:solidFill>
                  <a:srgbClr val="1E073B"/>
                </a:solidFill>
                <a:latin typeface="Segoe UI"/>
              </a:rPr>
              <a:t>Meeting logging convention</a:t>
            </a:r>
          </a:p>
        </p:txBody>
      </p:sp>
      <p:sp>
        <p:nvSpPr>
          <p:cNvPr id="18" name="TextBox 17"/>
          <p:cNvSpPr txBox="1"/>
          <p:nvPr/>
        </p:nvSpPr>
        <p:spPr>
          <a:xfrm>
            <a:off x="6400800" y="1874519"/>
            <a:ext cx="5486400" cy="2743200"/>
          </a:xfrm>
          <a:prstGeom prst="rect">
            <a:avLst/>
          </a:prstGeom>
          <a:noFill/>
        </p:spPr>
        <p:txBody>
          <a:bodyPr wrap="square" lIns="0" rIns="0" tIns="0" bIns="0">
            <a:spAutoFit/>
          </a:bodyPr>
          <a:lstStyle/>
          <a:p>
            <a:pPr>
              <a:lnSpc>
                <a:spcPct val="125000"/>
              </a:lnSpc>
            </a:pPr>
            <a:r>
              <a:rPr sz="1300">
                <a:solidFill>
                  <a:srgbClr val="6D28D9"/>
                </a:solidFill>
                <a:latin typeface="Segoe UI"/>
              </a:rPr>
              <a:t>● </a:t>
            </a:r>
            <a:r>
              <a:rPr sz="1300">
                <a:solidFill>
                  <a:srgbClr val="111827"/>
                </a:solidFill>
                <a:latin typeface="Segoe UI"/>
              </a:rPr>
              <a:t>Create the meeting UNDER the ticket</a:t>
            </a:r>
          </a:p>
          <a:p>
            <a:pPr>
              <a:lnSpc>
                <a:spcPct val="125000"/>
              </a:lnSpc>
            </a:pPr>
            <a:r>
              <a:rPr sz="1300">
                <a:solidFill>
                  <a:srgbClr val="6D28D9"/>
                </a:solidFill>
                <a:latin typeface="Segoe UI"/>
              </a:rPr>
              <a:t>● </a:t>
            </a:r>
            <a:r>
              <a:rPr sz="1300">
                <a:solidFill>
                  <a:srgbClr val="111827"/>
                </a:solidFill>
                <a:latin typeface="Segoe UI"/>
              </a:rPr>
              <a:t>Mark complete after the meeting</a:t>
            </a:r>
          </a:p>
          <a:p>
            <a:pPr>
              <a:lnSpc>
                <a:spcPct val="125000"/>
              </a:lnSpc>
            </a:pPr>
            <a:r>
              <a:rPr sz="1300">
                <a:solidFill>
                  <a:srgbClr val="6D28D9"/>
                </a:solidFill>
                <a:latin typeface="Segoe UI"/>
              </a:rPr>
              <a:t>● </a:t>
            </a:r>
            <a:r>
              <a:rPr sz="1300">
                <a:solidFill>
                  <a:srgbClr val="111827"/>
                </a:solidFill>
                <a:latin typeface="Segoe UI"/>
              </a:rPr>
              <a:t>Paste notes on the meeting AND on the company record</a:t>
            </a:r>
          </a:p>
        </p:txBody>
      </p:sp>
      <p:sp>
        <p:nvSpPr>
          <p:cNvPr id="19" name="Rectangle 18"/>
          <p:cNvSpPr/>
          <p:nvPr/>
        </p:nvSpPr>
        <p:spPr>
          <a:xfrm>
            <a:off x="6400800" y="4937760"/>
            <a:ext cx="5394960"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74920"/>
            <a:ext cx="5029200" cy="822960"/>
          </a:xfrm>
          <a:prstGeom prst="rect">
            <a:avLst/>
          </a:prstGeom>
          <a:noFill/>
        </p:spPr>
        <p:txBody>
          <a:bodyPr wrap="square" lIns="0" rIns="0" tIns="0" bIns="0">
            <a:spAutoFit/>
          </a:bodyPr>
          <a:lstStyle/>
          <a:p>
            <a:pPr algn="l"/>
            <a:r>
              <a:rPr sz="1100" b="1">
                <a:solidFill>
                  <a:srgbClr val="FFFFFF"/>
                </a:solidFill>
                <a:latin typeface="Segoe UI"/>
              </a:rPr>
              <a:t>HubSpot does not auto-copy meeting notes to the company record. Log notes in BOTH places, every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6 · Stage 1 — Welcome &amp; Kickoff</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Trigger: appointment complete, credentials sent · Owner: Onboarding Lead</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280160"/>
            <a:ext cx="11430000" cy="13716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80160"/>
            <a:ext cx="109728" cy="1371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44751"/>
            <a:ext cx="10972800" cy="365760"/>
          </a:xfrm>
          <a:prstGeom prst="rect">
            <a:avLst/>
          </a:prstGeom>
          <a:noFill/>
        </p:spPr>
        <p:txBody>
          <a:bodyPr wrap="square" lIns="0" rIns="0" tIns="0" bIns="0">
            <a:spAutoFit/>
          </a:bodyPr>
          <a:lstStyle/>
          <a:p>
            <a:pPr algn="l"/>
            <a:r>
              <a:rPr sz="1400" b="1">
                <a:solidFill>
                  <a:srgbClr val="1E073B"/>
                </a:solidFill>
                <a:latin typeface="Segoe UI"/>
              </a:rPr>
              <a:t>6.1  Agent welcome email</a:t>
            </a:r>
          </a:p>
        </p:txBody>
      </p:sp>
      <p:sp>
        <p:nvSpPr>
          <p:cNvPr id="9" name="TextBox 8"/>
          <p:cNvSpPr txBox="1"/>
          <p:nvPr/>
        </p:nvSpPr>
        <p:spPr>
          <a:xfrm>
            <a:off x="640080" y="1874519"/>
            <a:ext cx="10972800" cy="731520"/>
          </a:xfrm>
          <a:prstGeom prst="rect">
            <a:avLst/>
          </a:prstGeom>
          <a:noFill/>
        </p:spPr>
        <p:txBody>
          <a:bodyPr wrap="square" lIns="0" rIns="0" tIns="0" bIns="0">
            <a:spAutoFit/>
          </a:bodyPr>
          <a:lstStyle/>
          <a:p>
            <a:pPr algn="l"/>
            <a:r>
              <a:rPr sz="1200" b="0">
                <a:solidFill>
                  <a:srgbClr val="111827"/>
                </a:solidFill>
                <a:latin typeface="Segoe UI"/>
              </a:rPr>
              <a:t>Confirms login, books 2 sessions, links to Agent Resource Center. Subject: "Welcome to Cover Whale — let's get you live and quoting".</a:t>
            </a:r>
          </a:p>
        </p:txBody>
      </p:sp>
      <p:sp>
        <p:nvSpPr>
          <p:cNvPr id="10" name="Rectangle 9"/>
          <p:cNvSpPr/>
          <p:nvPr/>
        </p:nvSpPr>
        <p:spPr>
          <a:xfrm>
            <a:off x="365760" y="2880360"/>
            <a:ext cx="11430000" cy="13716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880360"/>
            <a:ext cx="109728" cy="1371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44952"/>
            <a:ext cx="10972800" cy="365760"/>
          </a:xfrm>
          <a:prstGeom prst="rect">
            <a:avLst/>
          </a:prstGeom>
          <a:noFill/>
        </p:spPr>
        <p:txBody>
          <a:bodyPr wrap="square" lIns="0" rIns="0" tIns="0" bIns="0">
            <a:spAutoFit/>
          </a:bodyPr>
          <a:lstStyle/>
          <a:p>
            <a:pPr algn="l"/>
            <a:r>
              <a:rPr sz="1400" b="1">
                <a:solidFill>
                  <a:srgbClr val="1E073B"/>
                </a:solidFill>
                <a:latin typeface="Segoe UI"/>
              </a:rPr>
              <a:t>6.2  Retail partner production expectations email</a:t>
            </a:r>
          </a:p>
        </p:txBody>
      </p:sp>
      <p:sp>
        <p:nvSpPr>
          <p:cNvPr id="13" name="TextBox 12"/>
          <p:cNvSpPr txBox="1"/>
          <p:nvPr/>
        </p:nvSpPr>
        <p:spPr>
          <a:xfrm>
            <a:off x="640080" y="3474720"/>
            <a:ext cx="10972800" cy="731520"/>
          </a:xfrm>
          <a:prstGeom prst="rect">
            <a:avLst/>
          </a:prstGeom>
          <a:noFill/>
        </p:spPr>
        <p:txBody>
          <a:bodyPr wrap="square" lIns="0" rIns="0" tIns="0" bIns="0">
            <a:spAutoFit/>
          </a:bodyPr>
          <a:lstStyle/>
          <a:p>
            <a:pPr algn="l"/>
            <a:r>
              <a:rPr sz="1200" b="0">
                <a:solidFill>
                  <a:srgbClr val="111827"/>
                </a:solidFill>
                <a:latin typeface="Segoe UI"/>
              </a:rPr>
              <a:t>Sent within Week 1. Documents production targets up front to avoid probation surprises later.</a:t>
            </a:r>
          </a:p>
        </p:txBody>
      </p:sp>
      <p:sp>
        <p:nvSpPr>
          <p:cNvPr id="14" name="Rectangle 13"/>
          <p:cNvSpPr/>
          <p:nvPr/>
        </p:nvSpPr>
        <p:spPr>
          <a:xfrm>
            <a:off x="365760" y="4480560"/>
            <a:ext cx="11430000" cy="13716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480560"/>
            <a:ext cx="109728" cy="1371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645152"/>
            <a:ext cx="10972800" cy="365760"/>
          </a:xfrm>
          <a:prstGeom prst="rect">
            <a:avLst/>
          </a:prstGeom>
          <a:noFill/>
        </p:spPr>
        <p:txBody>
          <a:bodyPr wrap="square" lIns="0" rIns="0" tIns="0" bIns="0">
            <a:spAutoFit/>
          </a:bodyPr>
          <a:lstStyle/>
          <a:p>
            <a:pPr algn="l"/>
            <a:r>
              <a:rPr sz="1400" b="1">
                <a:solidFill>
                  <a:srgbClr val="1E073B"/>
                </a:solidFill>
                <a:latin typeface="Segoe UI"/>
              </a:rPr>
              <a:t>6.3  Pre-Session 1 intro call (optional, ~15 min)</a:t>
            </a:r>
          </a:p>
        </p:txBody>
      </p:sp>
      <p:sp>
        <p:nvSpPr>
          <p:cNvPr id="17" name="TextBox 16"/>
          <p:cNvSpPr txBox="1"/>
          <p:nvPr/>
        </p:nvSpPr>
        <p:spPr>
          <a:xfrm>
            <a:off x="640080" y="5074920"/>
            <a:ext cx="10972800" cy="731520"/>
          </a:xfrm>
          <a:prstGeom prst="rect">
            <a:avLst/>
          </a:prstGeom>
          <a:noFill/>
        </p:spPr>
        <p:txBody>
          <a:bodyPr wrap="square" lIns="0" rIns="0" tIns="0" bIns="0">
            <a:spAutoFit/>
          </a:bodyPr>
          <a:lstStyle/>
          <a:p>
            <a:pPr algn="l"/>
            <a:r>
              <a:rPr sz="1200" b="0">
                <a:solidFill>
                  <a:srgbClr val="111827"/>
                </a:solidFill>
                <a:latin typeface="Segoe UI"/>
              </a:rPr>
              <a:t>Confirm login worked, agency profile complete, capture goals (target lines, states, monthly subs).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6.2 · Retail Partner Production Thresholds</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Shared with the agency in Week 1 — documented up front, no surprises later</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TextBox 5"/>
          <p:cNvSpPr txBox="1"/>
          <p:nvPr/>
        </p:nvSpPr>
        <p:spPr>
          <a:xfrm>
            <a:off x="365760" y="1188720"/>
            <a:ext cx="11430000" cy="365760"/>
          </a:xfrm>
          <a:prstGeom prst="rect">
            <a:avLst/>
          </a:prstGeom>
          <a:noFill/>
        </p:spPr>
        <p:txBody>
          <a:bodyPr wrap="square" lIns="0" rIns="0" tIns="0" bIns="0">
            <a:spAutoFit/>
          </a:bodyPr>
          <a:lstStyle/>
          <a:p>
            <a:pPr algn="l"/>
            <a:r>
              <a:rPr sz="1200" b="1">
                <a:solidFill>
                  <a:srgbClr val="DC2626"/>
                </a:solidFill>
                <a:latin typeface="Segoe UI"/>
              </a:rPr>
              <a:t>REQUIRED — drives probation status</a:t>
            </a:r>
          </a:p>
        </p:txBody>
      </p:sp>
      <p:sp>
        <p:nvSpPr>
          <p:cNvPr id="7" name="Rectangle 6"/>
          <p:cNvSpPr/>
          <p:nvPr/>
        </p:nvSpPr>
        <p:spPr>
          <a:xfrm>
            <a:off x="365760" y="1600200"/>
            <a:ext cx="11430000" cy="77724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600200"/>
            <a:ext cx="109728" cy="7772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91640"/>
            <a:ext cx="2743200" cy="274320"/>
          </a:xfrm>
          <a:prstGeom prst="rect">
            <a:avLst/>
          </a:prstGeom>
          <a:noFill/>
        </p:spPr>
        <p:txBody>
          <a:bodyPr wrap="square" lIns="0" rIns="0" tIns="0" bIns="0">
            <a:spAutoFit/>
          </a:bodyPr>
          <a:lstStyle/>
          <a:p>
            <a:pPr algn="l"/>
            <a:r>
              <a:rPr sz="1300" b="1">
                <a:solidFill>
                  <a:srgbClr val="1E073B"/>
                </a:solidFill>
                <a:latin typeface="Segoe UI"/>
              </a:rPr>
              <a:t>Annual GWP</a:t>
            </a:r>
          </a:p>
        </p:txBody>
      </p:sp>
      <p:sp>
        <p:nvSpPr>
          <p:cNvPr id="10" name="TextBox 9"/>
          <p:cNvSpPr txBox="1"/>
          <p:nvPr/>
        </p:nvSpPr>
        <p:spPr>
          <a:xfrm>
            <a:off x="3657600" y="1691640"/>
            <a:ext cx="3200400" cy="274320"/>
          </a:xfrm>
          <a:prstGeom prst="rect">
            <a:avLst/>
          </a:prstGeom>
          <a:noFill/>
        </p:spPr>
        <p:txBody>
          <a:bodyPr wrap="square" lIns="0" rIns="0" tIns="0" bIns="0">
            <a:spAutoFit/>
          </a:bodyPr>
          <a:lstStyle/>
          <a:p>
            <a:pPr algn="l"/>
            <a:r>
              <a:rPr sz="1300" b="1">
                <a:solidFill>
                  <a:srgbClr val="DC2626"/>
                </a:solidFill>
                <a:latin typeface="Segoe UI"/>
              </a:rPr>
              <a:t>Minimum $500,000</a:t>
            </a:r>
          </a:p>
        </p:txBody>
      </p:sp>
      <p:sp>
        <p:nvSpPr>
          <p:cNvPr id="11" name="TextBox 10"/>
          <p:cNvSpPr txBox="1"/>
          <p:nvPr/>
        </p:nvSpPr>
        <p:spPr>
          <a:xfrm>
            <a:off x="6949440" y="1691640"/>
            <a:ext cx="4572000" cy="594360"/>
          </a:xfrm>
          <a:prstGeom prst="rect">
            <a:avLst/>
          </a:prstGeom>
          <a:noFill/>
        </p:spPr>
        <p:txBody>
          <a:bodyPr wrap="square" lIns="0" rIns="0" tIns="0" bIns="0">
            <a:spAutoFit/>
          </a:bodyPr>
          <a:lstStyle/>
          <a:p>
            <a:pPr algn="l"/>
            <a:r>
              <a:rPr sz="1100" b="0">
                <a:solidFill>
                  <a:srgbClr val="6B7280"/>
                </a:solidFill>
                <a:latin typeface="Segoe UI"/>
              </a:rPr>
              <a:t>≈ 33 trucks per year</a:t>
            </a:r>
          </a:p>
        </p:txBody>
      </p:sp>
      <p:sp>
        <p:nvSpPr>
          <p:cNvPr id="12" name="Rectangle 11"/>
          <p:cNvSpPr/>
          <p:nvPr/>
        </p:nvSpPr>
        <p:spPr>
          <a:xfrm>
            <a:off x="365760" y="2514600"/>
            <a:ext cx="11430000" cy="77724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514600"/>
            <a:ext cx="109728" cy="7772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06040"/>
            <a:ext cx="2743200" cy="274320"/>
          </a:xfrm>
          <a:prstGeom prst="rect">
            <a:avLst/>
          </a:prstGeom>
          <a:noFill/>
        </p:spPr>
        <p:txBody>
          <a:bodyPr wrap="square" lIns="0" rIns="0" tIns="0" bIns="0">
            <a:spAutoFit/>
          </a:bodyPr>
          <a:lstStyle/>
          <a:p>
            <a:pPr algn="l"/>
            <a:r>
              <a:rPr sz="1300" b="1">
                <a:solidFill>
                  <a:srgbClr val="1E073B"/>
                </a:solidFill>
                <a:latin typeface="Segoe UI"/>
              </a:rPr>
              <a:t>Quarterly GWP</a:t>
            </a:r>
          </a:p>
        </p:txBody>
      </p:sp>
      <p:sp>
        <p:nvSpPr>
          <p:cNvPr id="15" name="TextBox 14"/>
          <p:cNvSpPr txBox="1"/>
          <p:nvPr/>
        </p:nvSpPr>
        <p:spPr>
          <a:xfrm>
            <a:off x="3657600" y="2606040"/>
            <a:ext cx="3200400" cy="274320"/>
          </a:xfrm>
          <a:prstGeom prst="rect">
            <a:avLst/>
          </a:prstGeom>
          <a:noFill/>
        </p:spPr>
        <p:txBody>
          <a:bodyPr wrap="square" lIns="0" rIns="0" tIns="0" bIns="0">
            <a:spAutoFit/>
          </a:bodyPr>
          <a:lstStyle/>
          <a:p>
            <a:pPr algn="l"/>
            <a:r>
              <a:rPr sz="1300" b="1">
                <a:solidFill>
                  <a:srgbClr val="DC2626"/>
                </a:solidFill>
                <a:latin typeface="Segoe UI"/>
              </a:rPr>
              <a:t>Minimum $125,000 / quarter</a:t>
            </a:r>
          </a:p>
        </p:txBody>
      </p:sp>
      <p:sp>
        <p:nvSpPr>
          <p:cNvPr id="16" name="TextBox 15"/>
          <p:cNvSpPr txBox="1"/>
          <p:nvPr/>
        </p:nvSpPr>
        <p:spPr>
          <a:xfrm>
            <a:off x="6949440" y="2606040"/>
            <a:ext cx="4572000" cy="594360"/>
          </a:xfrm>
          <a:prstGeom prst="rect">
            <a:avLst/>
          </a:prstGeom>
          <a:noFill/>
        </p:spPr>
        <p:txBody>
          <a:bodyPr wrap="square" lIns="0" rIns="0" tIns="0" bIns="0">
            <a:spAutoFit/>
          </a:bodyPr>
          <a:lstStyle/>
          <a:p>
            <a:pPr algn="l"/>
            <a:r>
              <a:rPr sz="1100" b="0">
                <a:solidFill>
                  <a:srgbClr val="6B7280"/>
                </a:solidFill>
                <a:latin typeface="Segoe UI"/>
              </a:rPr>
              <a:t>New business only — renewals / endorsements excluded</a:t>
            </a:r>
          </a:p>
        </p:txBody>
      </p:sp>
      <p:sp>
        <p:nvSpPr>
          <p:cNvPr id="17" name="TextBox 16"/>
          <p:cNvSpPr txBox="1"/>
          <p:nvPr/>
        </p:nvSpPr>
        <p:spPr>
          <a:xfrm>
            <a:off x="365760" y="3657600"/>
            <a:ext cx="11430000" cy="365760"/>
          </a:xfrm>
          <a:prstGeom prst="rect">
            <a:avLst/>
          </a:prstGeom>
          <a:noFill/>
        </p:spPr>
        <p:txBody>
          <a:bodyPr wrap="square" lIns="0" rIns="0" tIns="0" bIns="0">
            <a:spAutoFit/>
          </a:bodyPr>
          <a:lstStyle/>
          <a:p>
            <a:pPr algn="l"/>
            <a:r>
              <a:rPr sz="1200" b="1">
                <a:solidFill>
                  <a:srgbClr val="6D28D9"/>
                </a:solidFill>
                <a:latin typeface="Segoe UI"/>
              </a:rPr>
              <a:t>REVIEWED WITH BDA — quarterly cadence</a:t>
            </a:r>
          </a:p>
        </p:txBody>
      </p:sp>
      <p:sp>
        <p:nvSpPr>
          <p:cNvPr id="18" name="TextBox 17"/>
          <p:cNvSpPr txBox="1"/>
          <p:nvPr/>
        </p:nvSpPr>
        <p:spPr>
          <a:xfrm>
            <a:off x="640080" y="4023360"/>
            <a:ext cx="2743200" cy="274320"/>
          </a:xfrm>
          <a:prstGeom prst="rect">
            <a:avLst/>
          </a:prstGeom>
          <a:noFill/>
        </p:spPr>
        <p:txBody>
          <a:bodyPr wrap="square" lIns="0" rIns="0" tIns="0" bIns="0">
            <a:spAutoFit/>
          </a:bodyPr>
          <a:lstStyle/>
          <a:p>
            <a:pPr algn="l"/>
            <a:r>
              <a:rPr sz="1200" b="1">
                <a:solidFill>
                  <a:srgbClr val="6D28D9"/>
                </a:solidFill>
                <a:latin typeface="Segoe UI"/>
              </a:rPr>
              <a:t>● Unique DOT count</a:t>
            </a:r>
          </a:p>
        </p:txBody>
      </p:sp>
      <p:sp>
        <p:nvSpPr>
          <p:cNvPr id="19" name="TextBox 18"/>
          <p:cNvSpPr txBox="1"/>
          <p:nvPr/>
        </p:nvSpPr>
        <p:spPr>
          <a:xfrm>
            <a:off x="3657600" y="4023360"/>
            <a:ext cx="7772400" cy="274320"/>
          </a:xfrm>
          <a:prstGeom prst="rect">
            <a:avLst/>
          </a:prstGeom>
          <a:noFill/>
        </p:spPr>
        <p:txBody>
          <a:bodyPr wrap="square" lIns="0" rIns="0" tIns="0" bIns="0">
            <a:spAutoFit/>
          </a:bodyPr>
          <a:lstStyle/>
          <a:p>
            <a:pPr algn="l"/>
            <a:r>
              <a:rPr sz="1200" b="0">
                <a:solidFill>
                  <a:srgbClr val="111827"/>
                </a:solidFill>
                <a:latin typeface="Segoe UI"/>
              </a:rPr>
              <a:t>≥ 40% of DOTs quoted should be unique to Cover Whale</a:t>
            </a:r>
          </a:p>
        </p:txBody>
      </p:sp>
      <p:sp>
        <p:nvSpPr>
          <p:cNvPr id="20" name="TextBox 19"/>
          <p:cNvSpPr txBox="1"/>
          <p:nvPr/>
        </p:nvSpPr>
        <p:spPr>
          <a:xfrm>
            <a:off x="640080" y="4434840"/>
            <a:ext cx="2743200" cy="274320"/>
          </a:xfrm>
          <a:prstGeom prst="rect">
            <a:avLst/>
          </a:prstGeom>
          <a:noFill/>
        </p:spPr>
        <p:txBody>
          <a:bodyPr wrap="square" lIns="0" rIns="0" tIns="0" bIns="0">
            <a:spAutoFit/>
          </a:bodyPr>
          <a:lstStyle/>
          <a:p>
            <a:pPr algn="l"/>
            <a:r>
              <a:rPr sz="1200" b="1">
                <a:solidFill>
                  <a:srgbClr val="6D28D9"/>
                </a:solidFill>
                <a:latin typeface="Segoe UI"/>
              </a:rPr>
              <a:t>● Loss ratio</a:t>
            </a:r>
          </a:p>
        </p:txBody>
      </p:sp>
      <p:sp>
        <p:nvSpPr>
          <p:cNvPr id="21" name="TextBox 20"/>
          <p:cNvSpPr txBox="1"/>
          <p:nvPr/>
        </p:nvSpPr>
        <p:spPr>
          <a:xfrm>
            <a:off x="3657600" y="4434840"/>
            <a:ext cx="7772400" cy="274320"/>
          </a:xfrm>
          <a:prstGeom prst="rect">
            <a:avLst/>
          </a:prstGeom>
          <a:noFill/>
        </p:spPr>
        <p:txBody>
          <a:bodyPr wrap="square" lIns="0" rIns="0" tIns="0" bIns="0">
            <a:spAutoFit/>
          </a:bodyPr>
          <a:lstStyle/>
          <a:p>
            <a:pPr algn="l"/>
            <a:r>
              <a:rPr sz="1200" b="0">
                <a:solidFill>
                  <a:srgbClr val="111827"/>
                </a:solidFill>
                <a:latin typeface="Segoe UI"/>
              </a:rPr>
              <a:t>Developed loss ratio &lt; 60% (claims paid vs. GWP)</a:t>
            </a:r>
          </a:p>
        </p:txBody>
      </p:sp>
      <p:sp>
        <p:nvSpPr>
          <p:cNvPr id="22" name="TextBox 21"/>
          <p:cNvSpPr txBox="1"/>
          <p:nvPr/>
        </p:nvSpPr>
        <p:spPr>
          <a:xfrm>
            <a:off x="640080" y="4846320"/>
            <a:ext cx="2743200" cy="274320"/>
          </a:xfrm>
          <a:prstGeom prst="rect">
            <a:avLst/>
          </a:prstGeom>
          <a:noFill/>
        </p:spPr>
        <p:txBody>
          <a:bodyPr wrap="square" lIns="0" rIns="0" tIns="0" bIns="0">
            <a:spAutoFit/>
          </a:bodyPr>
          <a:lstStyle/>
          <a:p>
            <a:pPr algn="l"/>
            <a:r>
              <a:rPr sz="1200" b="1">
                <a:solidFill>
                  <a:srgbClr val="6D28D9"/>
                </a:solidFill>
                <a:latin typeface="Segoe UI"/>
              </a:rPr>
              <a:t>● Cancellation rate</a:t>
            </a:r>
          </a:p>
        </p:txBody>
      </p:sp>
      <p:sp>
        <p:nvSpPr>
          <p:cNvPr id="23" name="TextBox 22"/>
          <p:cNvSpPr txBox="1"/>
          <p:nvPr/>
        </p:nvSpPr>
        <p:spPr>
          <a:xfrm>
            <a:off x="3657600" y="4846320"/>
            <a:ext cx="7772400" cy="274320"/>
          </a:xfrm>
          <a:prstGeom prst="rect">
            <a:avLst/>
          </a:prstGeom>
          <a:noFill/>
        </p:spPr>
        <p:txBody>
          <a:bodyPr wrap="square" lIns="0" rIns="0" tIns="0" bIns="0">
            <a:spAutoFit/>
          </a:bodyPr>
          <a:lstStyle/>
          <a:p>
            <a:pPr algn="l"/>
            <a:r>
              <a:rPr sz="1200" b="0">
                <a:solidFill>
                  <a:srgbClr val="111827"/>
                </a:solidFill>
                <a:latin typeface="Segoe UI"/>
              </a:rPr>
              <a:t>Should not exceed 50%</a:t>
            </a:r>
          </a:p>
        </p:txBody>
      </p:sp>
      <p:sp>
        <p:nvSpPr>
          <p:cNvPr id="24" name="TextBox 23"/>
          <p:cNvSpPr txBox="1"/>
          <p:nvPr/>
        </p:nvSpPr>
        <p:spPr>
          <a:xfrm>
            <a:off x="640080" y="5257800"/>
            <a:ext cx="2743200" cy="274320"/>
          </a:xfrm>
          <a:prstGeom prst="rect">
            <a:avLst/>
          </a:prstGeom>
          <a:noFill/>
        </p:spPr>
        <p:txBody>
          <a:bodyPr wrap="square" lIns="0" rIns="0" tIns="0" bIns="0">
            <a:spAutoFit/>
          </a:bodyPr>
          <a:lstStyle/>
          <a:p>
            <a:pPr algn="l"/>
            <a:r>
              <a:rPr sz="1200" b="1">
                <a:solidFill>
                  <a:srgbClr val="6D28D9"/>
                </a:solidFill>
                <a:latin typeface="Segoe UI"/>
              </a:rPr>
              <a:t>● Renewal rate</a:t>
            </a:r>
          </a:p>
        </p:txBody>
      </p:sp>
      <p:sp>
        <p:nvSpPr>
          <p:cNvPr id="25" name="TextBox 24"/>
          <p:cNvSpPr txBox="1"/>
          <p:nvPr/>
        </p:nvSpPr>
        <p:spPr>
          <a:xfrm>
            <a:off x="3657600" y="5257800"/>
            <a:ext cx="7772400" cy="274320"/>
          </a:xfrm>
          <a:prstGeom prst="rect">
            <a:avLst/>
          </a:prstGeom>
          <a:noFill/>
        </p:spPr>
        <p:txBody>
          <a:bodyPr wrap="square" lIns="0" rIns="0" tIns="0" bIns="0">
            <a:spAutoFit/>
          </a:bodyPr>
          <a:lstStyle/>
          <a:p>
            <a:pPr algn="l"/>
            <a:r>
              <a:rPr sz="1200" b="0">
                <a:solidFill>
                  <a:srgbClr val="111827"/>
                </a:solidFill>
                <a:latin typeface="Segoe UI"/>
              </a:rPr>
              <a:t>≥ 50% of policies should renew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7 · Agency Profile</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Complete before Session 1 — drives the conversation and the BDA handoff</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TextBox 5"/>
          <p:cNvSpPr txBox="1"/>
          <p:nvPr/>
        </p:nvSpPr>
        <p:spPr>
          <a:xfrm>
            <a:off x="548640" y="1371600"/>
            <a:ext cx="10972800" cy="5029200"/>
          </a:xfrm>
          <a:prstGeom prst="rect">
            <a:avLst/>
          </a:prstGeom>
          <a:noFill/>
        </p:spPr>
        <p:txBody>
          <a:bodyPr wrap="square" lIns="0" rIns="0" tIns="0" bIns="0">
            <a:spAutoFit/>
          </a:bodyPr>
          <a:lstStyle/>
          <a:p>
            <a:pPr>
              <a:lnSpc>
                <a:spcPct val="140000"/>
              </a:lnSpc>
            </a:pPr>
            <a:r>
              <a:rPr sz="1400">
                <a:solidFill>
                  <a:srgbClr val="6D28D9"/>
                </a:solidFill>
                <a:latin typeface="Segoe UI"/>
              </a:rPr>
              <a:t>● </a:t>
            </a:r>
            <a:r>
              <a:rPr sz="1400">
                <a:solidFill>
                  <a:srgbClr val="111827"/>
                </a:solidFill>
                <a:latin typeface="Segoe UI"/>
              </a:rPr>
              <a:t>Agency legal name, DBA, NPN</a:t>
            </a:r>
          </a:p>
          <a:p>
            <a:pPr>
              <a:lnSpc>
                <a:spcPct val="140000"/>
              </a:lnSpc>
            </a:pPr>
            <a:r>
              <a:rPr sz="1400">
                <a:solidFill>
                  <a:srgbClr val="6D28D9"/>
                </a:solidFill>
                <a:latin typeface="Segoe UI"/>
              </a:rPr>
              <a:t>● </a:t>
            </a:r>
            <a:r>
              <a:rPr sz="1400">
                <a:solidFill>
                  <a:srgbClr val="111827"/>
                </a:solidFill>
                <a:latin typeface="Segoe UI"/>
              </a:rPr>
              <a:t>Primary contact: name, email, direct phone</a:t>
            </a:r>
          </a:p>
          <a:p>
            <a:pPr>
              <a:lnSpc>
                <a:spcPct val="140000"/>
              </a:lnSpc>
            </a:pPr>
            <a:r>
              <a:rPr sz="1400">
                <a:solidFill>
                  <a:srgbClr val="6D28D9"/>
                </a:solidFill>
                <a:latin typeface="Segoe UI"/>
              </a:rPr>
              <a:t>● </a:t>
            </a:r>
            <a:r>
              <a:rPr sz="1400">
                <a:solidFill>
                  <a:srgbClr val="111827"/>
                </a:solidFill>
                <a:latin typeface="Segoe UI"/>
              </a:rPr>
              <a:t>States licensed; target states for Cover Whale production</a:t>
            </a:r>
          </a:p>
          <a:p>
            <a:pPr>
              <a:lnSpc>
                <a:spcPct val="140000"/>
              </a:lnSpc>
            </a:pPr>
            <a:r>
              <a:rPr sz="1400">
                <a:solidFill>
                  <a:srgbClr val="6D28D9"/>
                </a:solidFill>
                <a:latin typeface="Segoe UI"/>
              </a:rPr>
              <a:t>● </a:t>
            </a:r>
            <a:r>
              <a:rPr sz="1400">
                <a:solidFill>
                  <a:srgbClr val="111827"/>
                </a:solidFill>
                <a:latin typeface="Segoe UI"/>
              </a:rPr>
              <a:t>Lines currently writing; target lines with Cover Whale</a:t>
            </a:r>
          </a:p>
          <a:p>
            <a:pPr>
              <a:lnSpc>
                <a:spcPct val="140000"/>
              </a:lnSpc>
            </a:pPr>
            <a:r>
              <a:rPr sz="1400">
                <a:solidFill>
                  <a:srgbClr val="6D28D9"/>
                </a:solidFill>
                <a:latin typeface="Segoe UI"/>
              </a:rPr>
              <a:t>● </a:t>
            </a:r>
            <a:r>
              <a:rPr sz="1400">
                <a:solidFill>
                  <a:srgbClr val="111827"/>
                </a:solidFill>
                <a:latin typeface="Segoe UI"/>
              </a:rPr>
              <a:t>Expected monthly submissions</a:t>
            </a:r>
          </a:p>
          <a:p>
            <a:pPr>
              <a:lnSpc>
                <a:spcPct val="140000"/>
              </a:lnSpc>
            </a:pPr>
            <a:r>
              <a:rPr sz="1400">
                <a:solidFill>
                  <a:srgbClr val="6D28D9"/>
                </a:solidFill>
                <a:latin typeface="Segoe UI"/>
              </a:rPr>
              <a:t>● </a:t>
            </a:r>
            <a:r>
              <a:rPr sz="1400">
                <a:solidFill>
                  <a:srgbClr val="111827"/>
                </a:solidFill>
                <a:latin typeface="Segoe UI"/>
              </a:rPr>
              <a:t>Current trucking markets used</a:t>
            </a:r>
          </a:p>
          <a:p>
            <a:pPr>
              <a:lnSpc>
                <a:spcPct val="140000"/>
              </a:lnSpc>
            </a:pPr>
            <a:r>
              <a:rPr sz="1400">
                <a:solidFill>
                  <a:srgbClr val="6D28D9"/>
                </a:solidFill>
                <a:latin typeface="Segoe UI"/>
              </a:rPr>
              <a:t>● </a:t>
            </a:r>
            <a:r>
              <a:rPr sz="1400">
                <a:solidFill>
                  <a:srgbClr val="111827"/>
                </a:solidFill>
                <a:latin typeface="Segoe UI"/>
              </a:rPr>
              <a:t>Niche or specialty (long-haul, regional, hazmat, specialty cargo)</a:t>
            </a:r>
          </a:p>
          <a:p>
            <a:pPr>
              <a:lnSpc>
                <a:spcPct val="140000"/>
              </a:lnSpc>
            </a:pPr>
            <a:r>
              <a:rPr sz="1400">
                <a:solidFill>
                  <a:srgbClr val="6D28D9"/>
                </a:solidFill>
                <a:latin typeface="Segoe UI"/>
              </a:rPr>
              <a:t>● </a:t>
            </a:r>
            <a:r>
              <a:rPr sz="1400">
                <a:solidFill>
                  <a:srgbClr val="111827"/>
                </a:solidFill>
                <a:latin typeface="Segoe UI"/>
              </a:rPr>
              <a:t>Existing book size — commercial auto / trucking</a:t>
            </a:r>
          </a:p>
          <a:p>
            <a:pPr>
              <a:lnSpc>
                <a:spcPct val="140000"/>
              </a:lnSpc>
            </a:pPr>
            <a:r>
              <a:rPr sz="1400">
                <a:solidFill>
                  <a:srgbClr val="6D28D9"/>
                </a:solidFill>
                <a:latin typeface="Segoe UI"/>
              </a:rPr>
              <a:t>● </a:t>
            </a:r>
            <a:r>
              <a:rPr sz="1400">
                <a:solidFill>
                  <a:srgbClr val="111827"/>
                </a:solidFill>
                <a:latin typeface="Segoe UI"/>
              </a:rPr>
              <a:t>Goals: 30 / 60 / 90-day production targets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8 · Stage 2 — Platform Walkthrough (Session 1)</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45–60 min · live Google Meet · agent shares screen · build a quote together</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11430000" cy="9601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109728" cy="960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972800" cy="320040"/>
          </a:xfrm>
          <a:prstGeom prst="rect">
            <a:avLst/>
          </a:prstGeom>
          <a:noFill/>
        </p:spPr>
        <p:txBody>
          <a:bodyPr wrap="square" lIns="0" rIns="0" tIns="0" bIns="0">
            <a:spAutoFit/>
          </a:bodyPr>
          <a:lstStyle/>
          <a:p>
            <a:pPr algn="l"/>
            <a:r>
              <a:rPr sz="1300" b="1">
                <a:solidFill>
                  <a:srgbClr val="1E073B"/>
                </a:solidFill>
                <a:latin typeface="Segoe UI"/>
              </a:rPr>
              <a:t>8.1  All Submissions view</a:t>
            </a:r>
          </a:p>
        </p:txBody>
      </p:sp>
      <p:sp>
        <p:nvSpPr>
          <p:cNvPr id="9" name="TextBox 8"/>
          <p:cNvSpPr txBox="1"/>
          <p:nvPr/>
        </p:nvSpPr>
        <p:spPr>
          <a:xfrm>
            <a:off x="640080" y="1645920"/>
            <a:ext cx="10972800" cy="502920"/>
          </a:xfrm>
          <a:prstGeom prst="rect">
            <a:avLst/>
          </a:prstGeom>
          <a:noFill/>
        </p:spPr>
        <p:txBody>
          <a:bodyPr wrap="square" lIns="0" rIns="0" tIns="0" bIns="0">
            <a:spAutoFit/>
          </a:bodyPr>
          <a:lstStyle/>
          <a:p>
            <a:pPr algn="l"/>
            <a:r>
              <a:rPr sz="1100" b="0">
                <a:solidFill>
                  <a:srgbClr val="111827"/>
                </a:solidFill>
                <a:latin typeface="Segoe UI"/>
              </a:rPr>
              <a:t>Search by submission #, DOT #, policy #, or insured business name. Cancellations by sub date. Renewals by legal name (quotes 30 days out).</a:t>
            </a:r>
          </a:p>
        </p:txBody>
      </p:sp>
      <p:sp>
        <p:nvSpPr>
          <p:cNvPr id="10" name="Rectangle 9"/>
          <p:cNvSpPr/>
          <p:nvPr/>
        </p:nvSpPr>
        <p:spPr>
          <a:xfrm>
            <a:off x="365760" y="2267712"/>
            <a:ext cx="11430000" cy="9601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267712"/>
            <a:ext cx="109728" cy="960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359152"/>
            <a:ext cx="10972800" cy="320040"/>
          </a:xfrm>
          <a:prstGeom prst="rect">
            <a:avLst/>
          </a:prstGeom>
          <a:noFill/>
        </p:spPr>
        <p:txBody>
          <a:bodyPr wrap="square" lIns="0" rIns="0" tIns="0" bIns="0">
            <a:spAutoFit/>
          </a:bodyPr>
          <a:lstStyle/>
          <a:p>
            <a:pPr algn="l"/>
            <a:r>
              <a:rPr sz="1300" b="1">
                <a:solidFill>
                  <a:srgbClr val="1E073B"/>
                </a:solidFill>
                <a:latin typeface="Segoe UI"/>
              </a:rPr>
              <a:t>8.2  Agent Resource Center</a:t>
            </a:r>
          </a:p>
        </p:txBody>
      </p:sp>
      <p:sp>
        <p:nvSpPr>
          <p:cNvPr id="13" name="TextBox 12"/>
          <p:cNvSpPr txBox="1"/>
          <p:nvPr/>
        </p:nvSpPr>
        <p:spPr>
          <a:xfrm>
            <a:off x="640080" y="2724912"/>
            <a:ext cx="10972800" cy="502920"/>
          </a:xfrm>
          <a:prstGeom prst="rect">
            <a:avLst/>
          </a:prstGeom>
          <a:noFill/>
        </p:spPr>
        <p:txBody>
          <a:bodyPr wrap="square" lIns="0" rIns="0" tIns="0" bIns="0">
            <a:spAutoFit/>
          </a:bodyPr>
          <a:lstStyle/>
          <a:p>
            <a:pPr algn="l"/>
            <a:r>
              <a:rPr sz="1100" b="0">
                <a:solidFill>
                  <a:srgbClr val="111827"/>
                </a:solidFill>
                <a:latin typeface="Segoe UI"/>
              </a:rPr>
              <a:t>Walk help.coverwhale.com: Guidelines tab for ineligible vehicle/cargo, Search for drivers/filings/etc.</a:t>
            </a:r>
          </a:p>
        </p:txBody>
      </p:sp>
      <p:sp>
        <p:nvSpPr>
          <p:cNvPr id="14" name="Rectangle 13"/>
          <p:cNvSpPr/>
          <p:nvPr/>
        </p:nvSpPr>
        <p:spPr>
          <a:xfrm>
            <a:off x="365760" y="3346704"/>
            <a:ext cx="11430000" cy="9601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346704"/>
            <a:ext cx="109728" cy="960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438144"/>
            <a:ext cx="10972800" cy="320040"/>
          </a:xfrm>
          <a:prstGeom prst="rect">
            <a:avLst/>
          </a:prstGeom>
          <a:noFill/>
        </p:spPr>
        <p:txBody>
          <a:bodyPr wrap="square" lIns="0" rIns="0" tIns="0" bIns="0">
            <a:spAutoFit/>
          </a:bodyPr>
          <a:lstStyle/>
          <a:p>
            <a:pPr algn="l"/>
            <a:r>
              <a:rPr sz="1300" b="1">
                <a:solidFill>
                  <a:srgbClr val="1E073B"/>
                </a:solidFill>
                <a:latin typeface="Segoe UI"/>
              </a:rPr>
              <a:t>8.3  Build a quote together — tab by tab</a:t>
            </a:r>
          </a:p>
        </p:txBody>
      </p:sp>
      <p:sp>
        <p:nvSpPr>
          <p:cNvPr id="17" name="TextBox 16"/>
          <p:cNvSpPr txBox="1"/>
          <p:nvPr/>
        </p:nvSpPr>
        <p:spPr>
          <a:xfrm>
            <a:off x="640080" y="3803904"/>
            <a:ext cx="10972800" cy="502920"/>
          </a:xfrm>
          <a:prstGeom prst="rect">
            <a:avLst/>
          </a:prstGeom>
          <a:noFill/>
        </p:spPr>
        <p:txBody>
          <a:bodyPr wrap="square" lIns="0" rIns="0" tIns="0" bIns="0">
            <a:spAutoFit/>
          </a:bodyPr>
          <a:lstStyle/>
          <a:p>
            <a:pPr algn="l"/>
            <a:r>
              <a:rPr sz="1100" b="0">
                <a:solidFill>
                  <a:srgbClr val="111827"/>
                </a:solidFill>
                <a:latin typeface="Segoe UI"/>
              </a:rPr>
              <a:t>13 tabs covered in the next slide: Coverages → Guidelines → Insured → Filings → Producer → Limits → Operations → Radius → Cargo → Terminals &amp; Vehicles → Trailers → Drivers → Losses → Summary.</a:t>
            </a:r>
          </a:p>
        </p:txBody>
      </p:sp>
      <p:sp>
        <p:nvSpPr>
          <p:cNvPr id="18" name="Rectangle 17"/>
          <p:cNvSpPr/>
          <p:nvPr/>
        </p:nvSpPr>
        <p:spPr>
          <a:xfrm>
            <a:off x="365760" y="4425696"/>
            <a:ext cx="11430000" cy="9601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425696"/>
            <a:ext cx="109728" cy="960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17136"/>
            <a:ext cx="10972800" cy="320040"/>
          </a:xfrm>
          <a:prstGeom prst="rect">
            <a:avLst/>
          </a:prstGeom>
          <a:noFill/>
        </p:spPr>
        <p:txBody>
          <a:bodyPr wrap="square" lIns="0" rIns="0" tIns="0" bIns="0">
            <a:spAutoFit/>
          </a:bodyPr>
          <a:lstStyle/>
          <a:p>
            <a:pPr algn="l"/>
            <a:r>
              <a:rPr sz="1300" b="1">
                <a:solidFill>
                  <a:srgbClr val="1E073B"/>
                </a:solidFill>
                <a:latin typeface="Segoe UI"/>
              </a:rPr>
              <a:t>8.4  Additional questions</a:t>
            </a:r>
          </a:p>
        </p:txBody>
      </p:sp>
      <p:sp>
        <p:nvSpPr>
          <p:cNvPr id="21" name="TextBox 20"/>
          <p:cNvSpPr txBox="1"/>
          <p:nvPr/>
        </p:nvSpPr>
        <p:spPr>
          <a:xfrm>
            <a:off x="640080" y="4882896"/>
            <a:ext cx="10972800" cy="502920"/>
          </a:xfrm>
          <a:prstGeom prst="rect">
            <a:avLst/>
          </a:prstGeom>
          <a:noFill/>
        </p:spPr>
        <p:txBody>
          <a:bodyPr wrap="square" lIns="0" rIns="0" tIns="0" bIns="0">
            <a:spAutoFit/>
          </a:bodyPr>
          <a:lstStyle/>
          <a:p>
            <a:pPr algn="l"/>
            <a:r>
              <a:rPr sz="1100" b="0">
                <a:solidFill>
                  <a:srgbClr val="111827"/>
                </a:solidFill>
                <a:latin typeface="Segoe UI"/>
              </a:rPr>
              <a:t>Prior insurance cancelled, bankruptcy, time operating, losses, operation type, personal use.</a:t>
            </a:r>
          </a:p>
        </p:txBody>
      </p:sp>
      <p:sp>
        <p:nvSpPr>
          <p:cNvPr id="22" name="Rectangle 21"/>
          <p:cNvSpPr/>
          <p:nvPr/>
        </p:nvSpPr>
        <p:spPr>
          <a:xfrm>
            <a:off x="365760" y="5504688"/>
            <a:ext cx="11430000" cy="9601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5504688"/>
            <a:ext cx="109728" cy="960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596127"/>
            <a:ext cx="10972800" cy="320040"/>
          </a:xfrm>
          <a:prstGeom prst="rect">
            <a:avLst/>
          </a:prstGeom>
          <a:noFill/>
        </p:spPr>
        <p:txBody>
          <a:bodyPr wrap="square" lIns="0" rIns="0" tIns="0" bIns="0">
            <a:spAutoFit/>
          </a:bodyPr>
          <a:lstStyle/>
          <a:p>
            <a:pPr algn="l"/>
            <a:r>
              <a:rPr sz="1300" b="1">
                <a:solidFill>
                  <a:srgbClr val="1E073B"/>
                </a:solidFill>
                <a:latin typeface="Segoe UI"/>
              </a:rPr>
              <a:t>8.5  Wrap</a:t>
            </a:r>
          </a:p>
        </p:txBody>
      </p:sp>
      <p:sp>
        <p:nvSpPr>
          <p:cNvPr id="25" name="TextBox 24"/>
          <p:cNvSpPr txBox="1"/>
          <p:nvPr/>
        </p:nvSpPr>
        <p:spPr>
          <a:xfrm>
            <a:off x="640080" y="5961888"/>
            <a:ext cx="10972800" cy="502920"/>
          </a:xfrm>
          <a:prstGeom prst="rect">
            <a:avLst/>
          </a:prstGeom>
          <a:noFill/>
        </p:spPr>
        <p:txBody>
          <a:bodyPr wrap="square" lIns="0" rIns="0" tIns="0" bIns="0">
            <a:spAutoFit/>
          </a:bodyPr>
          <a:lstStyle/>
          <a:p>
            <a:pPr algn="l"/>
            <a:r>
              <a:rPr sz="1100" b="0">
                <a:solidFill>
                  <a:srgbClr val="111827"/>
                </a:solidFill>
                <a:latin typeface="Segoe UI"/>
              </a:rPr>
              <a:t>Confirm Session 2 booked (2–3 weeks out). Send recording + ARC links. Update HubSpot ticket — notes on meeting AND company record.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8.3 · Build a Quote — Tab by Tab</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Reference points and ARC links you cover with the agent</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234440"/>
            <a:ext cx="11430000"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271016"/>
            <a:ext cx="2414015" cy="274320"/>
          </a:xfrm>
          <a:prstGeom prst="rect">
            <a:avLst/>
          </a:prstGeom>
          <a:noFill/>
        </p:spPr>
        <p:txBody>
          <a:bodyPr wrap="square" lIns="0" rIns="0" tIns="0" bIns="0">
            <a:spAutoFit/>
          </a:bodyPr>
          <a:lstStyle/>
          <a:p>
            <a:pPr algn="l"/>
            <a:r>
              <a:rPr sz="1000" b="1">
                <a:solidFill>
                  <a:srgbClr val="FFFFFF"/>
                </a:solidFill>
                <a:latin typeface="Segoe UI"/>
              </a:rPr>
              <a:t>Tab</a:t>
            </a:r>
          </a:p>
        </p:txBody>
      </p:sp>
      <p:sp>
        <p:nvSpPr>
          <p:cNvPr id="8" name="TextBox 7"/>
          <p:cNvSpPr txBox="1"/>
          <p:nvPr/>
        </p:nvSpPr>
        <p:spPr>
          <a:xfrm>
            <a:off x="2999232" y="1271016"/>
            <a:ext cx="8723376" cy="274320"/>
          </a:xfrm>
          <a:prstGeom prst="rect">
            <a:avLst/>
          </a:prstGeom>
          <a:noFill/>
        </p:spPr>
        <p:txBody>
          <a:bodyPr wrap="square" lIns="0" rIns="0" tIns="0" bIns="0">
            <a:spAutoFit/>
          </a:bodyPr>
          <a:lstStyle/>
          <a:p>
            <a:pPr algn="l"/>
            <a:r>
              <a:rPr sz="1000" b="1">
                <a:solidFill>
                  <a:srgbClr val="FFFFFF"/>
                </a:solidFill>
                <a:latin typeface="Segoe UI"/>
              </a:rPr>
              <a:t>What to cover</a:t>
            </a:r>
          </a:p>
        </p:txBody>
      </p:sp>
      <p:sp>
        <p:nvSpPr>
          <p:cNvPr id="9" name="Rectangle 8"/>
          <p:cNvSpPr/>
          <p:nvPr/>
        </p:nvSpPr>
        <p:spPr>
          <a:xfrm>
            <a:off x="365760" y="1581912"/>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618488"/>
            <a:ext cx="2414015" cy="274320"/>
          </a:xfrm>
          <a:prstGeom prst="rect">
            <a:avLst/>
          </a:prstGeom>
          <a:noFill/>
        </p:spPr>
        <p:txBody>
          <a:bodyPr wrap="square" lIns="0" rIns="0" tIns="0" bIns="0">
            <a:spAutoFit/>
          </a:bodyPr>
          <a:lstStyle/>
          <a:p>
            <a:pPr algn="l"/>
            <a:r>
              <a:rPr sz="950" b="1">
                <a:solidFill>
                  <a:srgbClr val="6D28D9"/>
                </a:solidFill>
                <a:latin typeface="Segoe UI"/>
              </a:rPr>
              <a:t>Coverages</a:t>
            </a:r>
          </a:p>
        </p:txBody>
      </p:sp>
      <p:sp>
        <p:nvSpPr>
          <p:cNvPr id="11" name="TextBox 10"/>
          <p:cNvSpPr txBox="1"/>
          <p:nvPr/>
        </p:nvSpPr>
        <p:spPr>
          <a:xfrm>
            <a:off x="2999232" y="1618488"/>
            <a:ext cx="8723376" cy="274320"/>
          </a:xfrm>
          <a:prstGeom prst="rect">
            <a:avLst/>
          </a:prstGeom>
          <a:noFill/>
        </p:spPr>
        <p:txBody>
          <a:bodyPr wrap="square" lIns="0" rIns="0" tIns="0" bIns="0">
            <a:spAutoFit/>
          </a:bodyPr>
          <a:lstStyle/>
          <a:p>
            <a:pPr algn="l"/>
            <a:r>
              <a:rPr sz="950" b="0">
                <a:solidFill>
                  <a:srgbClr val="111827"/>
                </a:solidFill>
                <a:latin typeface="Segoe UI"/>
              </a:rPr>
              <a:t>States Cover Whale writes in</a:t>
            </a:r>
          </a:p>
        </p:txBody>
      </p:sp>
      <p:sp>
        <p:nvSpPr>
          <p:cNvPr id="12" name="TextBox 11"/>
          <p:cNvSpPr txBox="1"/>
          <p:nvPr/>
        </p:nvSpPr>
        <p:spPr>
          <a:xfrm>
            <a:off x="438912" y="1965960"/>
            <a:ext cx="2414015" cy="274320"/>
          </a:xfrm>
          <a:prstGeom prst="rect">
            <a:avLst/>
          </a:prstGeom>
          <a:noFill/>
        </p:spPr>
        <p:txBody>
          <a:bodyPr wrap="square" lIns="0" rIns="0" tIns="0" bIns="0">
            <a:spAutoFit/>
          </a:bodyPr>
          <a:lstStyle/>
          <a:p>
            <a:pPr algn="l"/>
            <a:r>
              <a:rPr sz="950" b="1">
                <a:solidFill>
                  <a:srgbClr val="6D28D9"/>
                </a:solidFill>
                <a:latin typeface="Segoe UI"/>
              </a:rPr>
              <a:t>Guidelines</a:t>
            </a:r>
          </a:p>
        </p:txBody>
      </p:sp>
      <p:sp>
        <p:nvSpPr>
          <p:cNvPr id="13" name="TextBox 12"/>
          <p:cNvSpPr txBox="1"/>
          <p:nvPr/>
        </p:nvSpPr>
        <p:spPr>
          <a:xfrm>
            <a:off x="2999232" y="1965960"/>
            <a:ext cx="8723376" cy="274320"/>
          </a:xfrm>
          <a:prstGeom prst="rect">
            <a:avLst/>
          </a:prstGeom>
          <a:noFill/>
        </p:spPr>
        <p:txBody>
          <a:bodyPr wrap="square" lIns="0" rIns="0" tIns="0" bIns="0">
            <a:spAutoFit/>
          </a:bodyPr>
          <a:lstStyle/>
          <a:p>
            <a:pPr algn="l"/>
            <a:r>
              <a:rPr sz="950" b="0">
                <a:solidFill>
                  <a:srgbClr val="111827"/>
                </a:solidFill>
                <a:latin typeface="Segoe UI"/>
              </a:rPr>
              <a:t>Cover Whale appetite — what's eligible</a:t>
            </a:r>
          </a:p>
        </p:txBody>
      </p:sp>
      <p:sp>
        <p:nvSpPr>
          <p:cNvPr id="14" name="Rectangle 13"/>
          <p:cNvSpPr/>
          <p:nvPr/>
        </p:nvSpPr>
        <p:spPr>
          <a:xfrm>
            <a:off x="365760" y="2276856"/>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2313432"/>
            <a:ext cx="2414015" cy="274320"/>
          </a:xfrm>
          <a:prstGeom prst="rect">
            <a:avLst/>
          </a:prstGeom>
          <a:noFill/>
        </p:spPr>
        <p:txBody>
          <a:bodyPr wrap="square" lIns="0" rIns="0" tIns="0" bIns="0">
            <a:spAutoFit/>
          </a:bodyPr>
          <a:lstStyle/>
          <a:p>
            <a:pPr algn="l"/>
            <a:r>
              <a:rPr sz="950" b="1">
                <a:solidFill>
                  <a:srgbClr val="6D28D9"/>
                </a:solidFill>
                <a:latin typeface="Segoe UI"/>
              </a:rPr>
              <a:t>Insured</a:t>
            </a:r>
          </a:p>
        </p:txBody>
      </p:sp>
      <p:sp>
        <p:nvSpPr>
          <p:cNvPr id="16" name="TextBox 15"/>
          <p:cNvSpPr txBox="1"/>
          <p:nvPr/>
        </p:nvSpPr>
        <p:spPr>
          <a:xfrm>
            <a:off x="2999232" y="2313432"/>
            <a:ext cx="8723376" cy="274320"/>
          </a:xfrm>
          <a:prstGeom prst="rect">
            <a:avLst/>
          </a:prstGeom>
          <a:noFill/>
        </p:spPr>
        <p:txBody>
          <a:bodyPr wrap="square" lIns="0" rIns="0" tIns="0" bIns="0">
            <a:spAutoFit/>
          </a:bodyPr>
          <a:lstStyle/>
          <a:p>
            <a:pPr algn="l"/>
            <a:r>
              <a:rPr sz="950" b="0">
                <a:solidFill>
                  <a:srgbClr val="111827"/>
                </a:solidFill>
                <a:latin typeface="Segoe UI"/>
              </a:rPr>
              <a:t>DOT prefills info; agent adds DBA, owner, confirms address; discuss filings</a:t>
            </a:r>
          </a:p>
        </p:txBody>
      </p:sp>
      <p:sp>
        <p:nvSpPr>
          <p:cNvPr id="17" name="TextBox 16"/>
          <p:cNvSpPr txBox="1"/>
          <p:nvPr/>
        </p:nvSpPr>
        <p:spPr>
          <a:xfrm>
            <a:off x="438912" y="2660903"/>
            <a:ext cx="2414015" cy="274320"/>
          </a:xfrm>
          <a:prstGeom prst="rect">
            <a:avLst/>
          </a:prstGeom>
          <a:noFill/>
        </p:spPr>
        <p:txBody>
          <a:bodyPr wrap="square" lIns="0" rIns="0" tIns="0" bIns="0">
            <a:spAutoFit/>
          </a:bodyPr>
          <a:lstStyle/>
          <a:p>
            <a:pPr algn="l"/>
            <a:r>
              <a:rPr sz="950" b="1">
                <a:solidFill>
                  <a:srgbClr val="6D28D9"/>
                </a:solidFill>
                <a:latin typeface="Segoe UI"/>
              </a:rPr>
              <a:t>Filings</a:t>
            </a:r>
          </a:p>
        </p:txBody>
      </p:sp>
      <p:sp>
        <p:nvSpPr>
          <p:cNvPr id="18" name="TextBox 17"/>
          <p:cNvSpPr txBox="1"/>
          <p:nvPr/>
        </p:nvSpPr>
        <p:spPr>
          <a:xfrm>
            <a:off x="2999232" y="2660903"/>
            <a:ext cx="8723376" cy="274320"/>
          </a:xfrm>
          <a:prstGeom prst="rect">
            <a:avLst/>
          </a:prstGeom>
          <a:noFill/>
        </p:spPr>
        <p:txBody>
          <a:bodyPr wrap="square" lIns="0" rIns="0" tIns="0" bIns="0">
            <a:spAutoFit/>
          </a:bodyPr>
          <a:lstStyle/>
          <a:p>
            <a:pPr algn="l"/>
            <a:r>
              <a:rPr sz="950" b="0">
                <a:solidFill>
                  <a:srgbClr val="111827"/>
                </a:solidFill>
                <a:latin typeface="Segoe UI"/>
              </a:rPr>
              <a:t>Which filings CW issues + turnaround; garaging must match FMCSA</a:t>
            </a:r>
          </a:p>
        </p:txBody>
      </p:sp>
      <p:sp>
        <p:nvSpPr>
          <p:cNvPr id="19" name="Rectangle 18"/>
          <p:cNvSpPr/>
          <p:nvPr/>
        </p:nvSpPr>
        <p:spPr>
          <a:xfrm>
            <a:off x="365760" y="2971799"/>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3008375"/>
            <a:ext cx="2414015" cy="274320"/>
          </a:xfrm>
          <a:prstGeom prst="rect">
            <a:avLst/>
          </a:prstGeom>
          <a:noFill/>
        </p:spPr>
        <p:txBody>
          <a:bodyPr wrap="square" lIns="0" rIns="0" tIns="0" bIns="0">
            <a:spAutoFit/>
          </a:bodyPr>
          <a:lstStyle/>
          <a:p>
            <a:pPr algn="l"/>
            <a:r>
              <a:rPr sz="950" b="1">
                <a:solidFill>
                  <a:srgbClr val="6D28D9"/>
                </a:solidFill>
                <a:latin typeface="Segoe UI"/>
              </a:rPr>
              <a:t>Producer</a:t>
            </a:r>
          </a:p>
        </p:txBody>
      </p:sp>
      <p:sp>
        <p:nvSpPr>
          <p:cNvPr id="21" name="TextBox 20"/>
          <p:cNvSpPr txBox="1"/>
          <p:nvPr/>
        </p:nvSpPr>
        <p:spPr>
          <a:xfrm>
            <a:off x="2999232" y="3008375"/>
            <a:ext cx="8723376" cy="274320"/>
          </a:xfrm>
          <a:prstGeom prst="rect">
            <a:avLst/>
          </a:prstGeom>
          <a:noFill/>
        </p:spPr>
        <p:txBody>
          <a:bodyPr wrap="square" lIns="0" rIns="0" tIns="0" bIns="0">
            <a:spAutoFit/>
          </a:bodyPr>
          <a:lstStyle/>
          <a:p>
            <a:pPr algn="l"/>
            <a:r>
              <a:rPr sz="950" b="0">
                <a:solidFill>
                  <a:srgbClr val="111827"/>
                </a:solidFill>
                <a:latin typeface="Segoe UI"/>
              </a:rPr>
              <a:t>Add agent; confirm state licensing for commissions; pick licensed producer</a:t>
            </a:r>
          </a:p>
        </p:txBody>
      </p:sp>
      <p:sp>
        <p:nvSpPr>
          <p:cNvPr id="22" name="TextBox 21"/>
          <p:cNvSpPr txBox="1"/>
          <p:nvPr/>
        </p:nvSpPr>
        <p:spPr>
          <a:xfrm>
            <a:off x="438912" y="3355847"/>
            <a:ext cx="2414015" cy="274320"/>
          </a:xfrm>
          <a:prstGeom prst="rect">
            <a:avLst/>
          </a:prstGeom>
          <a:noFill/>
        </p:spPr>
        <p:txBody>
          <a:bodyPr wrap="square" lIns="0" rIns="0" tIns="0" bIns="0">
            <a:spAutoFit/>
          </a:bodyPr>
          <a:lstStyle/>
          <a:p>
            <a:pPr algn="l"/>
            <a:r>
              <a:rPr sz="950" b="1">
                <a:solidFill>
                  <a:srgbClr val="6D28D9"/>
                </a:solidFill>
                <a:latin typeface="Segoe UI"/>
              </a:rPr>
              <a:t>Limits</a:t>
            </a:r>
          </a:p>
        </p:txBody>
      </p:sp>
      <p:sp>
        <p:nvSpPr>
          <p:cNvPr id="23" name="TextBox 22"/>
          <p:cNvSpPr txBox="1"/>
          <p:nvPr/>
        </p:nvSpPr>
        <p:spPr>
          <a:xfrm>
            <a:off x="2999232" y="3355847"/>
            <a:ext cx="8723376" cy="274320"/>
          </a:xfrm>
          <a:prstGeom prst="rect">
            <a:avLst/>
          </a:prstGeom>
          <a:noFill/>
        </p:spPr>
        <p:txBody>
          <a:bodyPr wrap="square" lIns="0" rIns="0" tIns="0" bIns="0">
            <a:spAutoFit/>
          </a:bodyPr>
          <a:lstStyle/>
          <a:p>
            <a:pPr algn="l"/>
            <a:r>
              <a:rPr sz="950" b="0">
                <a:solidFill>
                  <a:srgbClr val="111827"/>
                </a:solidFill>
                <a:latin typeface="Segoe UI"/>
              </a:rPr>
              <a:t>Discuss limits and any additional questions</a:t>
            </a:r>
          </a:p>
        </p:txBody>
      </p:sp>
      <p:sp>
        <p:nvSpPr>
          <p:cNvPr id="24" name="Rectangle 23"/>
          <p:cNvSpPr/>
          <p:nvPr/>
        </p:nvSpPr>
        <p:spPr>
          <a:xfrm>
            <a:off x="365760" y="3666744"/>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3703320"/>
            <a:ext cx="2414015" cy="274320"/>
          </a:xfrm>
          <a:prstGeom prst="rect">
            <a:avLst/>
          </a:prstGeom>
          <a:noFill/>
        </p:spPr>
        <p:txBody>
          <a:bodyPr wrap="square" lIns="0" rIns="0" tIns="0" bIns="0">
            <a:spAutoFit/>
          </a:bodyPr>
          <a:lstStyle/>
          <a:p>
            <a:pPr algn="l"/>
            <a:r>
              <a:rPr sz="950" b="1">
                <a:solidFill>
                  <a:srgbClr val="6D28D9"/>
                </a:solidFill>
                <a:latin typeface="Segoe UI"/>
              </a:rPr>
              <a:t>Operations</a:t>
            </a:r>
          </a:p>
        </p:txBody>
      </p:sp>
      <p:sp>
        <p:nvSpPr>
          <p:cNvPr id="26" name="TextBox 25"/>
          <p:cNvSpPr txBox="1"/>
          <p:nvPr/>
        </p:nvSpPr>
        <p:spPr>
          <a:xfrm>
            <a:off x="2999232" y="3703320"/>
            <a:ext cx="8723376" cy="274320"/>
          </a:xfrm>
          <a:prstGeom prst="rect">
            <a:avLst/>
          </a:prstGeom>
          <a:noFill/>
        </p:spPr>
        <p:txBody>
          <a:bodyPr wrap="square" lIns="0" rIns="0" tIns="0" bIns="0">
            <a:spAutoFit/>
          </a:bodyPr>
          <a:lstStyle/>
          <a:p>
            <a:pPr algn="l"/>
            <a:r>
              <a:rPr sz="950" b="0">
                <a:solidFill>
                  <a:srgbClr val="111827"/>
                </a:solidFill>
                <a:latin typeface="Segoe UI"/>
              </a:rPr>
              <a:t>Driver Safety Program — telematics, dashcam, coaching, coverage</a:t>
            </a:r>
          </a:p>
        </p:txBody>
      </p:sp>
      <p:sp>
        <p:nvSpPr>
          <p:cNvPr id="27" name="TextBox 26"/>
          <p:cNvSpPr txBox="1"/>
          <p:nvPr/>
        </p:nvSpPr>
        <p:spPr>
          <a:xfrm>
            <a:off x="438912" y="4050791"/>
            <a:ext cx="2414015" cy="274320"/>
          </a:xfrm>
          <a:prstGeom prst="rect">
            <a:avLst/>
          </a:prstGeom>
          <a:noFill/>
        </p:spPr>
        <p:txBody>
          <a:bodyPr wrap="square" lIns="0" rIns="0" tIns="0" bIns="0">
            <a:spAutoFit/>
          </a:bodyPr>
          <a:lstStyle/>
          <a:p>
            <a:pPr algn="l"/>
            <a:r>
              <a:rPr sz="950" b="1">
                <a:solidFill>
                  <a:srgbClr val="6D28D9"/>
                </a:solidFill>
                <a:latin typeface="Segoe UI"/>
              </a:rPr>
              <a:t>Radius</a:t>
            </a:r>
          </a:p>
        </p:txBody>
      </p:sp>
      <p:sp>
        <p:nvSpPr>
          <p:cNvPr id="28" name="TextBox 27"/>
          <p:cNvSpPr txBox="1"/>
          <p:nvPr/>
        </p:nvSpPr>
        <p:spPr>
          <a:xfrm>
            <a:off x="2999232" y="4050791"/>
            <a:ext cx="8723376" cy="274320"/>
          </a:xfrm>
          <a:prstGeom prst="rect">
            <a:avLst/>
          </a:prstGeom>
          <a:noFill/>
        </p:spPr>
        <p:txBody>
          <a:bodyPr wrap="square" lIns="0" rIns="0" tIns="0" bIns="0">
            <a:spAutoFit/>
          </a:bodyPr>
          <a:lstStyle/>
          <a:p>
            <a:pPr algn="l"/>
            <a:r>
              <a:rPr sz="950" b="0">
                <a:solidFill>
                  <a:srgbClr val="111827"/>
                </a:solidFill>
                <a:latin typeface="Segoe UI"/>
              </a:rPr>
              <a:t>Interstate/intrastate + annual mileage from FMCSA; radius to 100%</a:t>
            </a:r>
          </a:p>
        </p:txBody>
      </p:sp>
      <p:sp>
        <p:nvSpPr>
          <p:cNvPr id="29" name="Rectangle 28"/>
          <p:cNvSpPr/>
          <p:nvPr/>
        </p:nvSpPr>
        <p:spPr>
          <a:xfrm>
            <a:off x="365760" y="4361688"/>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4398264"/>
            <a:ext cx="2414015" cy="274320"/>
          </a:xfrm>
          <a:prstGeom prst="rect">
            <a:avLst/>
          </a:prstGeom>
          <a:noFill/>
        </p:spPr>
        <p:txBody>
          <a:bodyPr wrap="square" lIns="0" rIns="0" tIns="0" bIns="0">
            <a:spAutoFit/>
          </a:bodyPr>
          <a:lstStyle/>
          <a:p>
            <a:pPr algn="l"/>
            <a:r>
              <a:rPr sz="950" b="1">
                <a:solidFill>
                  <a:srgbClr val="6D28D9"/>
                </a:solidFill>
                <a:latin typeface="Segoe UI"/>
              </a:rPr>
              <a:t>Cargo</a:t>
            </a:r>
          </a:p>
        </p:txBody>
      </p:sp>
      <p:sp>
        <p:nvSpPr>
          <p:cNvPr id="31" name="TextBox 30"/>
          <p:cNvSpPr txBox="1"/>
          <p:nvPr/>
        </p:nvSpPr>
        <p:spPr>
          <a:xfrm>
            <a:off x="2999232" y="4398264"/>
            <a:ext cx="8723376" cy="274320"/>
          </a:xfrm>
          <a:prstGeom prst="rect">
            <a:avLst/>
          </a:prstGeom>
          <a:noFill/>
        </p:spPr>
        <p:txBody>
          <a:bodyPr wrap="square" lIns="0" rIns="0" tIns="0" bIns="0">
            <a:spAutoFit/>
          </a:bodyPr>
          <a:lstStyle/>
          <a:p>
            <a:pPr algn="l"/>
            <a:r>
              <a:rPr sz="950" b="0">
                <a:solidFill>
                  <a:srgbClr val="111827"/>
                </a:solidFill>
                <a:latin typeface="Segoe UI"/>
              </a:rPr>
              <a:t>Commodity list; refrigerated discussion</a:t>
            </a:r>
          </a:p>
        </p:txBody>
      </p:sp>
      <p:sp>
        <p:nvSpPr>
          <p:cNvPr id="32" name="TextBox 31"/>
          <p:cNvSpPr txBox="1"/>
          <p:nvPr/>
        </p:nvSpPr>
        <p:spPr>
          <a:xfrm>
            <a:off x="438912" y="4745736"/>
            <a:ext cx="2414015" cy="274320"/>
          </a:xfrm>
          <a:prstGeom prst="rect">
            <a:avLst/>
          </a:prstGeom>
          <a:noFill/>
        </p:spPr>
        <p:txBody>
          <a:bodyPr wrap="square" lIns="0" rIns="0" tIns="0" bIns="0">
            <a:spAutoFit/>
          </a:bodyPr>
          <a:lstStyle/>
          <a:p>
            <a:pPr algn="l"/>
            <a:r>
              <a:rPr sz="950" b="1">
                <a:solidFill>
                  <a:srgbClr val="6D28D9"/>
                </a:solidFill>
                <a:latin typeface="Segoe UI"/>
              </a:rPr>
              <a:t>Terminals &amp; Vehicles</a:t>
            </a:r>
          </a:p>
        </p:txBody>
      </p:sp>
      <p:sp>
        <p:nvSpPr>
          <p:cNvPr id="33" name="TextBox 32"/>
          <p:cNvSpPr txBox="1"/>
          <p:nvPr/>
        </p:nvSpPr>
        <p:spPr>
          <a:xfrm>
            <a:off x="2999232" y="4745736"/>
            <a:ext cx="8723376" cy="274320"/>
          </a:xfrm>
          <a:prstGeom prst="rect">
            <a:avLst/>
          </a:prstGeom>
          <a:noFill/>
        </p:spPr>
        <p:txBody>
          <a:bodyPr wrap="square" lIns="0" rIns="0" tIns="0" bIns="0">
            <a:spAutoFit/>
          </a:bodyPr>
          <a:lstStyle/>
          <a:p>
            <a:pPr algn="l"/>
            <a:r>
              <a:rPr sz="950" b="0">
                <a:solidFill>
                  <a:srgbClr val="111827"/>
                </a:solidFill>
                <a:latin typeface="Segoe UI"/>
              </a:rPr>
              <a:t>VIN pull from FMCSA; confirm class &amp; body type; loss payee + AI added here</a:t>
            </a:r>
          </a:p>
        </p:txBody>
      </p:sp>
      <p:sp>
        <p:nvSpPr>
          <p:cNvPr id="34" name="Rectangle 33"/>
          <p:cNvSpPr/>
          <p:nvPr/>
        </p:nvSpPr>
        <p:spPr>
          <a:xfrm>
            <a:off x="365760" y="5056631"/>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5093207"/>
            <a:ext cx="2414015" cy="274320"/>
          </a:xfrm>
          <a:prstGeom prst="rect">
            <a:avLst/>
          </a:prstGeom>
          <a:noFill/>
        </p:spPr>
        <p:txBody>
          <a:bodyPr wrap="square" lIns="0" rIns="0" tIns="0" bIns="0">
            <a:spAutoFit/>
          </a:bodyPr>
          <a:lstStyle/>
          <a:p>
            <a:pPr algn="l"/>
            <a:r>
              <a:rPr sz="950" b="1">
                <a:solidFill>
                  <a:srgbClr val="6D28D9"/>
                </a:solidFill>
                <a:latin typeface="Segoe UI"/>
              </a:rPr>
              <a:t>Trailers</a:t>
            </a:r>
          </a:p>
        </p:txBody>
      </p:sp>
      <p:sp>
        <p:nvSpPr>
          <p:cNvPr id="36" name="TextBox 35"/>
          <p:cNvSpPr txBox="1"/>
          <p:nvPr/>
        </p:nvSpPr>
        <p:spPr>
          <a:xfrm>
            <a:off x="2999232" y="5093207"/>
            <a:ext cx="8723376" cy="274320"/>
          </a:xfrm>
          <a:prstGeom prst="rect">
            <a:avLst/>
          </a:prstGeom>
          <a:noFill/>
        </p:spPr>
        <p:txBody>
          <a:bodyPr wrap="square" lIns="0" rIns="0" tIns="0" bIns="0">
            <a:spAutoFit/>
          </a:bodyPr>
          <a:lstStyle/>
          <a:p>
            <a:pPr algn="l"/>
            <a:r>
              <a:rPr sz="950" b="0">
                <a:solidFill>
                  <a:srgbClr val="111827"/>
                </a:solidFill>
                <a:latin typeface="Segoe UI"/>
              </a:rPr>
              <a:t>Scheduled — list all owned &amp; non-owned trailers</a:t>
            </a:r>
          </a:p>
        </p:txBody>
      </p:sp>
      <p:sp>
        <p:nvSpPr>
          <p:cNvPr id="37" name="TextBox 36"/>
          <p:cNvSpPr txBox="1"/>
          <p:nvPr/>
        </p:nvSpPr>
        <p:spPr>
          <a:xfrm>
            <a:off x="438912" y="5440679"/>
            <a:ext cx="2414015" cy="274320"/>
          </a:xfrm>
          <a:prstGeom prst="rect">
            <a:avLst/>
          </a:prstGeom>
          <a:noFill/>
        </p:spPr>
        <p:txBody>
          <a:bodyPr wrap="square" lIns="0" rIns="0" tIns="0" bIns="0">
            <a:spAutoFit/>
          </a:bodyPr>
          <a:lstStyle/>
          <a:p>
            <a:pPr algn="l"/>
            <a:r>
              <a:rPr sz="950" b="1">
                <a:solidFill>
                  <a:srgbClr val="6D28D9"/>
                </a:solidFill>
                <a:latin typeface="Segoe UI"/>
              </a:rPr>
              <a:t>Drivers</a:t>
            </a:r>
          </a:p>
        </p:txBody>
      </p:sp>
      <p:sp>
        <p:nvSpPr>
          <p:cNvPr id="38" name="TextBox 37"/>
          <p:cNvSpPr txBox="1"/>
          <p:nvPr/>
        </p:nvSpPr>
        <p:spPr>
          <a:xfrm>
            <a:off x="2999232" y="5440679"/>
            <a:ext cx="8723376" cy="274320"/>
          </a:xfrm>
          <a:prstGeom prst="rect">
            <a:avLst/>
          </a:prstGeom>
          <a:noFill/>
        </p:spPr>
        <p:txBody>
          <a:bodyPr wrap="square" lIns="0" rIns="0" tIns="0" bIns="0">
            <a:spAutoFit/>
          </a:bodyPr>
          <a:lstStyle/>
          <a:p>
            <a:pPr algn="l"/>
            <a:r>
              <a:rPr sz="950" b="0">
                <a:solidFill>
                  <a:srgbClr val="111827"/>
                </a:solidFill>
                <a:latin typeface="Segoe UI"/>
              </a:rPr>
              <a:t>Agent input drives pricing — losses/violations/suspensions must be accurate</a:t>
            </a:r>
          </a:p>
        </p:txBody>
      </p:sp>
      <p:sp>
        <p:nvSpPr>
          <p:cNvPr id="39" name="Rectangle 38"/>
          <p:cNvSpPr/>
          <p:nvPr/>
        </p:nvSpPr>
        <p:spPr>
          <a:xfrm>
            <a:off x="365760" y="5751575"/>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8912" y="5788151"/>
            <a:ext cx="2414015" cy="274320"/>
          </a:xfrm>
          <a:prstGeom prst="rect">
            <a:avLst/>
          </a:prstGeom>
          <a:noFill/>
        </p:spPr>
        <p:txBody>
          <a:bodyPr wrap="square" lIns="0" rIns="0" tIns="0" bIns="0">
            <a:spAutoFit/>
          </a:bodyPr>
          <a:lstStyle/>
          <a:p>
            <a:pPr algn="l"/>
            <a:r>
              <a:rPr sz="950" b="1">
                <a:solidFill>
                  <a:srgbClr val="6D28D9"/>
                </a:solidFill>
                <a:latin typeface="Segoe UI"/>
              </a:rPr>
              <a:t>Losses</a:t>
            </a:r>
          </a:p>
        </p:txBody>
      </p:sp>
      <p:sp>
        <p:nvSpPr>
          <p:cNvPr id="41" name="TextBox 40"/>
          <p:cNvSpPr txBox="1"/>
          <p:nvPr/>
        </p:nvSpPr>
        <p:spPr>
          <a:xfrm>
            <a:off x="2999232" y="5788151"/>
            <a:ext cx="8723376" cy="274320"/>
          </a:xfrm>
          <a:prstGeom prst="rect">
            <a:avLst/>
          </a:prstGeom>
          <a:noFill/>
        </p:spPr>
        <p:txBody>
          <a:bodyPr wrap="square" lIns="0" rIns="0" tIns="0" bIns="0">
            <a:spAutoFit/>
          </a:bodyPr>
          <a:lstStyle/>
          <a:p>
            <a:pPr algn="l"/>
            <a:r>
              <a:rPr sz="950" b="0">
                <a:solidFill>
                  <a:srgbClr val="111827"/>
                </a:solidFill>
                <a:latin typeface="Segoe UI"/>
              </a:rPr>
              <a:t>3 years of loss runs required; input losses correctly</a:t>
            </a:r>
          </a:p>
        </p:txBody>
      </p:sp>
      <p:sp>
        <p:nvSpPr>
          <p:cNvPr id="42" name="TextBox 41"/>
          <p:cNvSpPr txBox="1"/>
          <p:nvPr/>
        </p:nvSpPr>
        <p:spPr>
          <a:xfrm>
            <a:off x="438912" y="6135623"/>
            <a:ext cx="2414015" cy="274320"/>
          </a:xfrm>
          <a:prstGeom prst="rect">
            <a:avLst/>
          </a:prstGeom>
          <a:noFill/>
        </p:spPr>
        <p:txBody>
          <a:bodyPr wrap="square" lIns="0" rIns="0" tIns="0" bIns="0">
            <a:spAutoFit/>
          </a:bodyPr>
          <a:lstStyle/>
          <a:p>
            <a:pPr algn="l"/>
            <a:r>
              <a:rPr sz="950" b="1">
                <a:solidFill>
                  <a:srgbClr val="6D28D9"/>
                </a:solidFill>
                <a:latin typeface="Segoe UI"/>
              </a:rPr>
              <a:t>Summary</a:t>
            </a:r>
          </a:p>
        </p:txBody>
      </p:sp>
      <p:sp>
        <p:nvSpPr>
          <p:cNvPr id="43" name="TextBox 42"/>
          <p:cNvSpPr txBox="1"/>
          <p:nvPr/>
        </p:nvSpPr>
        <p:spPr>
          <a:xfrm>
            <a:off x="2999232" y="6135623"/>
            <a:ext cx="8723376" cy="274320"/>
          </a:xfrm>
          <a:prstGeom prst="rect">
            <a:avLst/>
          </a:prstGeom>
          <a:noFill/>
        </p:spPr>
        <p:txBody>
          <a:bodyPr wrap="square" lIns="0" rIns="0" tIns="0" bIns="0">
            <a:spAutoFit/>
          </a:bodyPr>
          <a:lstStyle/>
          <a:p>
            <a:pPr algn="l"/>
            <a:r>
              <a:rPr sz="950" b="0">
                <a:solidFill>
                  <a:srgbClr val="111827"/>
                </a:solidFill>
                <a:latin typeface="Segoe UI"/>
              </a:rPr>
              <a:t>Operations details + anything that may impact eligibility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9 · Stage 3 — Commissions, PFC, Billing (Session 2)</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30–45 min · 2–3 weeks after Session 1 · trigger Follow-up ticket</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5486400" cy="12801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109728" cy="12801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5029200" cy="320040"/>
          </a:xfrm>
          <a:prstGeom prst="rect">
            <a:avLst/>
          </a:prstGeom>
          <a:noFill/>
        </p:spPr>
        <p:txBody>
          <a:bodyPr wrap="square" lIns="0" rIns="0" tIns="0" bIns="0">
            <a:spAutoFit/>
          </a:bodyPr>
          <a:lstStyle/>
          <a:p>
            <a:pPr algn="l"/>
            <a:r>
              <a:rPr sz="1300" b="1">
                <a:solidFill>
                  <a:srgbClr val="1E073B"/>
                </a:solidFill>
                <a:latin typeface="Segoe UI"/>
              </a:rPr>
              <a:t>9.1  Platform review with active submissions</a:t>
            </a:r>
          </a:p>
        </p:txBody>
      </p:sp>
      <p:sp>
        <p:nvSpPr>
          <p:cNvPr id="9" name="TextBox 8"/>
          <p:cNvSpPr txBox="1"/>
          <p:nvPr/>
        </p:nvSpPr>
        <p:spPr>
          <a:xfrm>
            <a:off x="640080" y="1645920"/>
            <a:ext cx="5029200" cy="777240"/>
          </a:xfrm>
          <a:prstGeom prst="rect">
            <a:avLst/>
          </a:prstGeom>
          <a:noFill/>
        </p:spPr>
        <p:txBody>
          <a:bodyPr wrap="square" lIns="0" rIns="0" tIns="0" bIns="0">
            <a:spAutoFit/>
          </a:bodyPr>
          <a:lstStyle/>
          <a:p>
            <a:pPr algn="l"/>
            <a:r>
              <a:rPr sz="1100" b="0">
                <a:solidFill>
                  <a:srgbClr val="111827"/>
                </a:solidFill>
                <a:latin typeface="Segoe UI"/>
              </a:rPr>
              <a:t>Notes (UW / cancellation / decline), Files, walk through a live quote, PFA, snapshot, BASIC scores, Chameleon, Financing rules, Instant Bind flow.</a:t>
            </a:r>
          </a:p>
        </p:txBody>
      </p:sp>
      <p:sp>
        <p:nvSpPr>
          <p:cNvPr id="10" name="Rectangle 9"/>
          <p:cNvSpPr/>
          <p:nvPr/>
        </p:nvSpPr>
        <p:spPr>
          <a:xfrm>
            <a:off x="365760" y="2606040"/>
            <a:ext cx="5486400" cy="12801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606040"/>
            <a:ext cx="109728" cy="12801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97480"/>
            <a:ext cx="5029200" cy="320040"/>
          </a:xfrm>
          <a:prstGeom prst="rect">
            <a:avLst/>
          </a:prstGeom>
          <a:noFill/>
        </p:spPr>
        <p:txBody>
          <a:bodyPr wrap="square" lIns="0" rIns="0" tIns="0" bIns="0">
            <a:spAutoFit/>
          </a:bodyPr>
          <a:lstStyle/>
          <a:p>
            <a:pPr algn="l"/>
            <a:r>
              <a:rPr sz="1300" b="1">
                <a:solidFill>
                  <a:srgbClr val="1E073B"/>
                </a:solidFill>
                <a:latin typeface="Segoe UI"/>
              </a:rPr>
              <a:t>9.2  Commissions</a:t>
            </a:r>
          </a:p>
        </p:txBody>
      </p:sp>
      <p:sp>
        <p:nvSpPr>
          <p:cNvPr id="13" name="TextBox 12"/>
          <p:cNvSpPr txBox="1"/>
          <p:nvPr/>
        </p:nvSpPr>
        <p:spPr>
          <a:xfrm>
            <a:off x="640080" y="3063240"/>
            <a:ext cx="5029200" cy="777240"/>
          </a:xfrm>
          <a:prstGeom prst="rect">
            <a:avLst/>
          </a:prstGeom>
          <a:noFill/>
        </p:spPr>
        <p:txBody>
          <a:bodyPr wrap="square" lIns="0" rIns="0" tIns="0" bIns="0">
            <a:spAutoFit/>
          </a:bodyPr>
          <a:lstStyle/>
          <a:p>
            <a:pPr algn="l"/>
            <a:r>
              <a:rPr sz="1100" b="0">
                <a:solidFill>
                  <a:srgbClr val="111827"/>
                </a:solidFill>
                <a:latin typeface="Segoe UI"/>
              </a:rPr>
              <a:t>Review active submissions for commission eligibility. ARC: How and when commissions are paid.</a:t>
            </a:r>
          </a:p>
        </p:txBody>
      </p:sp>
      <p:sp>
        <p:nvSpPr>
          <p:cNvPr id="14" name="Rectangle 13"/>
          <p:cNvSpPr/>
          <p:nvPr/>
        </p:nvSpPr>
        <p:spPr>
          <a:xfrm>
            <a:off x="6126480" y="1188720"/>
            <a:ext cx="5760720" cy="12801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188720"/>
            <a:ext cx="109728" cy="12801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280160"/>
            <a:ext cx="5303520" cy="320040"/>
          </a:xfrm>
          <a:prstGeom prst="rect">
            <a:avLst/>
          </a:prstGeom>
          <a:noFill/>
        </p:spPr>
        <p:txBody>
          <a:bodyPr wrap="square" lIns="0" rIns="0" tIns="0" bIns="0">
            <a:spAutoFit/>
          </a:bodyPr>
          <a:lstStyle/>
          <a:p>
            <a:pPr algn="l"/>
            <a:r>
              <a:rPr sz="1300" b="1">
                <a:solidFill>
                  <a:srgbClr val="1E073B"/>
                </a:solidFill>
                <a:latin typeface="Segoe UI"/>
              </a:rPr>
              <a:t>9.3  Adding additional agents</a:t>
            </a:r>
          </a:p>
        </p:txBody>
      </p:sp>
      <p:sp>
        <p:nvSpPr>
          <p:cNvPr id="17" name="TextBox 16"/>
          <p:cNvSpPr txBox="1"/>
          <p:nvPr/>
        </p:nvSpPr>
        <p:spPr>
          <a:xfrm>
            <a:off x="6400800" y="1645920"/>
            <a:ext cx="5303520" cy="777240"/>
          </a:xfrm>
          <a:prstGeom prst="rect">
            <a:avLst/>
          </a:prstGeom>
          <a:noFill/>
        </p:spPr>
        <p:txBody>
          <a:bodyPr wrap="square" lIns="0" rIns="0" tIns="0" bIns="0">
            <a:spAutoFit/>
          </a:bodyPr>
          <a:lstStyle/>
          <a:p>
            <a:pPr algn="l"/>
            <a:r>
              <a:rPr sz="1100" b="0">
                <a:solidFill>
                  <a:srgbClr val="111827"/>
                </a:solidFill>
                <a:latin typeface="Segoe UI"/>
              </a:rPr>
              <a:t>Add the agent to the platform; confirm correct NPN &amp; state licensing so commissions aren't lost.</a:t>
            </a:r>
          </a:p>
        </p:txBody>
      </p:sp>
      <p:sp>
        <p:nvSpPr>
          <p:cNvPr id="18" name="Rectangle 17"/>
          <p:cNvSpPr/>
          <p:nvPr/>
        </p:nvSpPr>
        <p:spPr>
          <a:xfrm>
            <a:off x="6126480" y="2606040"/>
            <a:ext cx="5760720" cy="12801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2606040"/>
            <a:ext cx="109728" cy="12801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697480"/>
            <a:ext cx="5303520" cy="320040"/>
          </a:xfrm>
          <a:prstGeom prst="rect">
            <a:avLst/>
          </a:prstGeom>
          <a:noFill/>
        </p:spPr>
        <p:txBody>
          <a:bodyPr wrap="square" lIns="0" rIns="0" tIns="0" bIns="0">
            <a:spAutoFit/>
          </a:bodyPr>
          <a:lstStyle/>
          <a:p>
            <a:pPr algn="l"/>
            <a:r>
              <a:rPr sz="1300" b="1">
                <a:solidFill>
                  <a:srgbClr val="1E073B"/>
                </a:solidFill>
                <a:latin typeface="Segoe UI"/>
              </a:rPr>
              <a:t>9.4  When they get stuck</a:t>
            </a:r>
          </a:p>
        </p:txBody>
      </p:sp>
      <p:sp>
        <p:nvSpPr>
          <p:cNvPr id="21" name="TextBox 20"/>
          <p:cNvSpPr txBox="1"/>
          <p:nvPr/>
        </p:nvSpPr>
        <p:spPr>
          <a:xfrm>
            <a:off x="6400800" y="3063240"/>
            <a:ext cx="5303520" cy="777240"/>
          </a:xfrm>
          <a:prstGeom prst="rect">
            <a:avLst/>
          </a:prstGeom>
          <a:noFill/>
        </p:spPr>
        <p:txBody>
          <a:bodyPr wrap="square" lIns="0" rIns="0" tIns="0" bIns="0">
            <a:spAutoFit/>
          </a:bodyPr>
          <a:lstStyle/>
          <a:p>
            <a:pPr algn="l"/>
            <a:r>
              <a:rPr sz="1100" b="0">
                <a:solidFill>
                  <a:srgbClr val="111827"/>
                </a:solidFill>
                <a:latin typeface="Segoe UI"/>
              </a:rPr>
              <a:t>First stop: Agent Resource Center. Day-to-day contact: BDA, introduced in this session.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10 · BDM → BDA Handoff</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Trigger: end of Session 2 · Owner: Onboarding Lead → BDA</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6400800" cy="49377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943600" cy="365760"/>
          </a:xfrm>
          <a:prstGeom prst="rect">
            <a:avLst/>
          </a:prstGeom>
          <a:noFill/>
        </p:spPr>
        <p:txBody>
          <a:bodyPr wrap="square" lIns="0" rIns="0" tIns="0" bIns="0">
            <a:spAutoFit/>
          </a:bodyPr>
          <a:lstStyle/>
          <a:p>
            <a:pPr algn="l"/>
            <a:r>
              <a:rPr sz="1400" b="1">
                <a:solidFill>
                  <a:srgbClr val="1E073B"/>
                </a:solidFill>
                <a:latin typeface="Segoe UI"/>
              </a:rPr>
              <a:t>10.1  BDA introduction email</a:t>
            </a:r>
          </a:p>
        </p:txBody>
      </p:sp>
      <p:sp>
        <p:nvSpPr>
          <p:cNvPr id="8" name="TextBox 7"/>
          <p:cNvSpPr txBox="1"/>
          <p:nvPr/>
        </p:nvSpPr>
        <p:spPr>
          <a:xfrm>
            <a:off x="640080" y="1828800"/>
            <a:ext cx="5943600" cy="4114800"/>
          </a:xfrm>
          <a:prstGeom prst="rect">
            <a:avLst/>
          </a:prstGeom>
          <a:noFill/>
        </p:spPr>
        <p:txBody>
          <a:bodyPr wrap="square" lIns="0" rIns="0" tIns="0" bIns="0">
            <a:spAutoFit/>
          </a:bodyPr>
          <a:lstStyle/>
          <a:p>
            <a:pPr algn="l"/>
            <a:r>
              <a:rPr sz="1200" b="0">
                <a:solidFill>
                  <a:srgbClr val="111827"/>
                </a:solidFill>
                <a:latin typeface="Segoe UI"/>
              </a:rPr>
              <a:t>Subject: Welcome to your Cover Whale BDA — [BDA Name]
• Thank the agent for the last few weeks
• Introduce BDA by name; one-line intro of agent's book (LOB, states, target subs)
• Link platform + ARC
• Sign off, available for two more weeks of overlap</a:t>
            </a:r>
          </a:p>
        </p:txBody>
      </p:sp>
      <p:sp>
        <p:nvSpPr>
          <p:cNvPr id="9" name="Rectangle 8"/>
          <p:cNvSpPr/>
          <p:nvPr/>
        </p:nvSpPr>
        <p:spPr>
          <a:xfrm>
            <a:off x="6949440" y="1188720"/>
            <a:ext cx="4937760" cy="493776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0" y="1371600"/>
            <a:ext cx="4480560" cy="365760"/>
          </a:xfrm>
          <a:prstGeom prst="rect">
            <a:avLst/>
          </a:prstGeom>
          <a:noFill/>
        </p:spPr>
        <p:txBody>
          <a:bodyPr wrap="square" lIns="0" rIns="0" tIns="0" bIns="0">
            <a:spAutoFit/>
          </a:bodyPr>
          <a:lstStyle/>
          <a:p>
            <a:pPr algn="l"/>
            <a:r>
              <a:rPr sz="1400" b="1">
                <a:solidFill>
                  <a:srgbClr val="1E073B"/>
                </a:solidFill>
                <a:latin typeface="Segoe UI"/>
              </a:rPr>
              <a:t>10.2  Handoff checklist</a:t>
            </a:r>
          </a:p>
        </p:txBody>
      </p:sp>
      <p:sp>
        <p:nvSpPr>
          <p:cNvPr id="11" name="TextBox 10"/>
          <p:cNvSpPr txBox="1"/>
          <p:nvPr/>
        </p:nvSpPr>
        <p:spPr>
          <a:xfrm>
            <a:off x="7223760" y="1874519"/>
            <a:ext cx="4572000" cy="3657600"/>
          </a:xfrm>
          <a:prstGeom prst="rect">
            <a:avLst/>
          </a:prstGeom>
          <a:noFill/>
        </p:spPr>
        <p:txBody>
          <a:bodyPr wrap="square" lIns="0" rIns="0" tIns="0" bIns="0">
            <a:spAutoFit/>
          </a:bodyPr>
          <a:lstStyle/>
          <a:p>
            <a:pPr>
              <a:lnSpc>
                <a:spcPct val="160000"/>
              </a:lnSpc>
            </a:pPr>
            <a:r>
              <a:rPr sz="1300">
                <a:solidFill>
                  <a:srgbClr val="6D28D9"/>
                </a:solidFill>
                <a:latin typeface="Segoe UI"/>
              </a:rPr>
              <a:t>● </a:t>
            </a:r>
            <a:r>
              <a:rPr sz="1300">
                <a:solidFill>
                  <a:srgbClr val="111827"/>
                </a:solidFill>
                <a:latin typeface="Segoe UI"/>
              </a:rPr>
              <a:t>BDA assigned in HubSpot company record</a:t>
            </a:r>
          </a:p>
          <a:p>
            <a:pPr>
              <a:lnSpc>
                <a:spcPct val="160000"/>
              </a:lnSpc>
            </a:pPr>
            <a:r>
              <a:rPr sz="1300">
                <a:solidFill>
                  <a:srgbClr val="6D28D9"/>
                </a:solidFill>
                <a:latin typeface="Segoe UI"/>
              </a:rPr>
              <a:t>● </a:t>
            </a:r>
            <a:r>
              <a:rPr sz="1300">
                <a:solidFill>
                  <a:srgbClr val="111827"/>
                </a:solidFill>
                <a:latin typeface="Segoe UI"/>
              </a:rPr>
              <a:t>Goals from agency profile shared with BDA</a:t>
            </a:r>
          </a:p>
          <a:p>
            <a:pPr>
              <a:lnSpc>
                <a:spcPct val="160000"/>
              </a:lnSpc>
            </a:pPr>
            <a:r>
              <a:rPr sz="1300">
                <a:solidFill>
                  <a:srgbClr val="6D28D9"/>
                </a:solidFill>
                <a:latin typeface="Segoe UI"/>
              </a:rPr>
              <a:t>● </a:t>
            </a:r>
            <a:r>
              <a:rPr sz="1300">
                <a:solidFill>
                  <a:srgbClr val="111827"/>
                </a:solidFill>
                <a:latin typeface="Segoe UI"/>
              </a:rPr>
              <a:t>Stage 1 + Stage 3 tickets closed</a:t>
            </a:r>
          </a:p>
          <a:p>
            <a:pPr>
              <a:lnSpc>
                <a:spcPct val="160000"/>
              </a:lnSpc>
            </a:pPr>
            <a:r>
              <a:rPr sz="1300">
                <a:solidFill>
                  <a:srgbClr val="6D28D9"/>
                </a:solidFill>
                <a:latin typeface="Segoe UI"/>
              </a:rPr>
              <a:t>● </a:t>
            </a:r>
            <a:r>
              <a:rPr sz="1300">
                <a:solidFill>
                  <a:srgbClr val="111827"/>
                </a:solidFill>
                <a:latin typeface="Segoe UI"/>
              </a:rPr>
              <a:t>Company record graduated to Growth pipeline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11 · 30 / 60 / 90-Day Check-Ins</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Owner: BDA (Onboarding Lead has visibility on the 30-day)</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3749039" cy="512064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3749039" cy="411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43584"/>
            <a:ext cx="3474720" cy="320040"/>
          </a:xfrm>
          <a:prstGeom prst="rect">
            <a:avLst/>
          </a:prstGeom>
          <a:noFill/>
        </p:spPr>
        <p:txBody>
          <a:bodyPr wrap="square" lIns="0" rIns="0" tIns="0" bIns="0">
            <a:spAutoFit/>
          </a:bodyPr>
          <a:lstStyle/>
          <a:p>
            <a:pPr algn="l"/>
            <a:r>
              <a:rPr sz="1300" b="1">
                <a:solidFill>
                  <a:srgbClr val="FFFFFF"/>
                </a:solidFill>
                <a:latin typeface="Segoe UI"/>
              </a:rPr>
              <a:t>30-day</a:t>
            </a:r>
          </a:p>
        </p:txBody>
      </p:sp>
      <p:sp>
        <p:nvSpPr>
          <p:cNvPr id="9" name="TextBox 8"/>
          <p:cNvSpPr txBox="1"/>
          <p:nvPr/>
        </p:nvSpPr>
        <p:spPr>
          <a:xfrm>
            <a:off x="502920" y="1783080"/>
            <a:ext cx="3474720" cy="4389120"/>
          </a:xfrm>
          <a:prstGeom prst="rect">
            <a:avLst/>
          </a:prstGeom>
          <a:noFill/>
        </p:spPr>
        <p:txBody>
          <a:bodyPr wrap="square" lIns="0" rIns="0" tIns="0" bIns="0">
            <a:spAutoFit/>
          </a:bodyPr>
          <a:lstStyle/>
          <a:p>
            <a:pPr>
              <a:lnSpc>
                <a:spcPct val="150000"/>
              </a:lnSpc>
            </a:pPr>
            <a:r>
              <a:rPr sz="1200">
                <a:solidFill>
                  <a:srgbClr val="6D28D9"/>
                </a:solidFill>
                <a:latin typeface="Segoe UI"/>
              </a:rPr>
              <a:t>● </a:t>
            </a:r>
            <a:r>
              <a:rPr sz="1200">
                <a:solidFill>
                  <a:srgbClr val="111827"/>
                </a:solidFill>
                <a:latin typeface="Segoe UI"/>
              </a:rPr>
              <a:t>First bind achieved? If not, what's blocking?</a:t>
            </a:r>
          </a:p>
          <a:p>
            <a:pPr>
              <a:lnSpc>
                <a:spcPct val="150000"/>
              </a:lnSpc>
            </a:pPr>
            <a:r>
              <a:rPr sz="1200">
                <a:solidFill>
                  <a:srgbClr val="6D28D9"/>
                </a:solidFill>
                <a:latin typeface="Segoe UI"/>
              </a:rPr>
              <a:t>● </a:t>
            </a:r>
            <a:r>
              <a:rPr sz="1200">
                <a:solidFill>
                  <a:srgbClr val="111827"/>
                </a:solidFill>
                <a:latin typeface="Segoe UI"/>
              </a:rPr>
              <a:t>Submission activity vs. agency-profile goal</a:t>
            </a:r>
          </a:p>
          <a:p>
            <a:pPr>
              <a:lnSpc>
                <a:spcPct val="150000"/>
              </a:lnSpc>
            </a:pPr>
            <a:r>
              <a:rPr sz="1200">
                <a:solidFill>
                  <a:srgbClr val="6D28D9"/>
                </a:solidFill>
                <a:latin typeface="Segoe UI"/>
              </a:rPr>
              <a:t>● </a:t>
            </a:r>
            <a:r>
              <a:rPr sz="1200">
                <a:solidFill>
                  <a:srgbClr val="111827"/>
                </a:solidFill>
                <a:latin typeface="Segoe UI"/>
              </a:rPr>
              <a:t>Quote / UW / billing friction</a:t>
            </a:r>
          </a:p>
          <a:p>
            <a:pPr>
              <a:lnSpc>
                <a:spcPct val="150000"/>
              </a:lnSpc>
            </a:pPr>
            <a:r>
              <a:rPr sz="1200">
                <a:solidFill>
                  <a:srgbClr val="6D28D9"/>
                </a:solidFill>
                <a:latin typeface="Segoe UI"/>
              </a:rPr>
              <a:t>● </a:t>
            </a:r>
            <a:r>
              <a:rPr sz="1200">
                <a:solidFill>
                  <a:srgbClr val="111827"/>
                </a:solidFill>
                <a:latin typeface="Segoe UI"/>
              </a:rPr>
              <a:t>ARC engagement + outstanding questions</a:t>
            </a:r>
          </a:p>
          <a:p>
            <a:pPr>
              <a:lnSpc>
                <a:spcPct val="150000"/>
              </a:lnSpc>
            </a:pPr>
            <a:r>
              <a:rPr sz="1200">
                <a:solidFill>
                  <a:srgbClr val="6D28D9"/>
                </a:solidFill>
                <a:latin typeface="Segoe UI"/>
              </a:rPr>
              <a:t>● </a:t>
            </a:r>
            <a:r>
              <a:rPr sz="1200">
                <a:solidFill>
                  <a:srgbClr val="111827"/>
                </a:solidFill>
                <a:latin typeface="Segoe UI"/>
              </a:rPr>
              <a:t>Celebrate first bind</a:t>
            </a:r>
          </a:p>
        </p:txBody>
      </p:sp>
      <p:sp>
        <p:nvSpPr>
          <p:cNvPr id="10" name="Rectangle 9"/>
          <p:cNvSpPr/>
          <p:nvPr/>
        </p:nvSpPr>
        <p:spPr>
          <a:xfrm>
            <a:off x="4297680" y="1188720"/>
            <a:ext cx="3749039" cy="512064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188720"/>
            <a:ext cx="3749039" cy="411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243584"/>
            <a:ext cx="3474720" cy="320040"/>
          </a:xfrm>
          <a:prstGeom prst="rect">
            <a:avLst/>
          </a:prstGeom>
          <a:noFill/>
        </p:spPr>
        <p:txBody>
          <a:bodyPr wrap="square" lIns="0" rIns="0" tIns="0" bIns="0">
            <a:spAutoFit/>
          </a:bodyPr>
          <a:lstStyle/>
          <a:p>
            <a:pPr algn="l"/>
            <a:r>
              <a:rPr sz="1300" b="1">
                <a:solidFill>
                  <a:srgbClr val="FFFFFF"/>
                </a:solidFill>
                <a:latin typeface="Segoe UI"/>
              </a:rPr>
              <a:t>60-day</a:t>
            </a:r>
          </a:p>
        </p:txBody>
      </p:sp>
      <p:sp>
        <p:nvSpPr>
          <p:cNvPr id="13" name="TextBox 12"/>
          <p:cNvSpPr txBox="1"/>
          <p:nvPr/>
        </p:nvSpPr>
        <p:spPr>
          <a:xfrm>
            <a:off x="4434840" y="1783080"/>
            <a:ext cx="3474720" cy="4389120"/>
          </a:xfrm>
          <a:prstGeom prst="rect">
            <a:avLst/>
          </a:prstGeom>
          <a:noFill/>
        </p:spPr>
        <p:txBody>
          <a:bodyPr wrap="square" lIns="0" rIns="0" tIns="0" bIns="0">
            <a:spAutoFit/>
          </a:bodyPr>
          <a:lstStyle/>
          <a:p>
            <a:pPr>
              <a:lnSpc>
                <a:spcPct val="150000"/>
              </a:lnSpc>
            </a:pPr>
            <a:r>
              <a:rPr sz="1200">
                <a:solidFill>
                  <a:srgbClr val="6D28D9"/>
                </a:solidFill>
                <a:latin typeface="Segoe UI"/>
              </a:rPr>
              <a:t>● </a:t>
            </a:r>
            <a:r>
              <a:rPr sz="1200">
                <a:solidFill>
                  <a:srgbClr val="111827"/>
                </a:solidFill>
                <a:latin typeface="Segoe UI"/>
              </a:rPr>
              <a:t>Submission-to-bind ratio</a:t>
            </a:r>
          </a:p>
          <a:p>
            <a:pPr>
              <a:lnSpc>
                <a:spcPct val="150000"/>
              </a:lnSpc>
            </a:pPr>
            <a:r>
              <a:rPr sz="1200">
                <a:solidFill>
                  <a:srgbClr val="6D28D9"/>
                </a:solidFill>
                <a:latin typeface="Segoe UI"/>
              </a:rPr>
              <a:t>● </a:t>
            </a:r>
            <a:r>
              <a:rPr sz="1200">
                <a:solidFill>
                  <a:srgbClr val="111827"/>
                </a:solidFill>
                <a:latin typeface="Segoe UI"/>
              </a:rPr>
              <a:t>Declined / cancelled submissions to review together</a:t>
            </a:r>
          </a:p>
          <a:p>
            <a:pPr>
              <a:lnSpc>
                <a:spcPct val="150000"/>
              </a:lnSpc>
            </a:pPr>
            <a:r>
              <a:rPr sz="1200">
                <a:solidFill>
                  <a:srgbClr val="6D28D9"/>
                </a:solidFill>
                <a:latin typeface="Segoe UI"/>
              </a:rPr>
              <a:t>● </a:t>
            </a:r>
            <a:r>
              <a:rPr sz="1200">
                <a:solidFill>
                  <a:srgbClr val="111827"/>
                </a:solidFill>
                <a:latin typeface="Segoe UI"/>
              </a:rPr>
              <a:t>Markets or lines they want help opening up</a:t>
            </a:r>
          </a:p>
        </p:txBody>
      </p:sp>
      <p:sp>
        <p:nvSpPr>
          <p:cNvPr id="14" name="Rectangle 13"/>
          <p:cNvSpPr/>
          <p:nvPr/>
        </p:nvSpPr>
        <p:spPr>
          <a:xfrm>
            <a:off x="8229600" y="1188720"/>
            <a:ext cx="3749039" cy="512064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188720"/>
            <a:ext cx="3749039" cy="411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243584"/>
            <a:ext cx="3474720" cy="320040"/>
          </a:xfrm>
          <a:prstGeom prst="rect">
            <a:avLst/>
          </a:prstGeom>
          <a:noFill/>
        </p:spPr>
        <p:txBody>
          <a:bodyPr wrap="square" lIns="0" rIns="0" tIns="0" bIns="0">
            <a:spAutoFit/>
          </a:bodyPr>
          <a:lstStyle/>
          <a:p>
            <a:pPr algn="l"/>
            <a:r>
              <a:rPr sz="1300" b="1">
                <a:solidFill>
                  <a:srgbClr val="FFFFFF"/>
                </a:solidFill>
                <a:latin typeface="Segoe UI"/>
              </a:rPr>
              <a:t>90-day — graduation review</a:t>
            </a:r>
          </a:p>
        </p:txBody>
      </p:sp>
      <p:sp>
        <p:nvSpPr>
          <p:cNvPr id="17" name="TextBox 16"/>
          <p:cNvSpPr txBox="1"/>
          <p:nvPr/>
        </p:nvSpPr>
        <p:spPr>
          <a:xfrm>
            <a:off x="8366760" y="1783080"/>
            <a:ext cx="3474720" cy="4389120"/>
          </a:xfrm>
          <a:prstGeom prst="rect">
            <a:avLst/>
          </a:prstGeom>
          <a:noFill/>
        </p:spPr>
        <p:txBody>
          <a:bodyPr wrap="square" lIns="0" rIns="0" tIns="0" bIns="0">
            <a:spAutoFit/>
          </a:bodyPr>
          <a:lstStyle/>
          <a:p>
            <a:pPr>
              <a:lnSpc>
                <a:spcPct val="150000"/>
              </a:lnSpc>
            </a:pPr>
            <a:r>
              <a:rPr sz="1200">
                <a:solidFill>
                  <a:srgbClr val="6D28D9"/>
                </a:solidFill>
                <a:latin typeface="Segoe UI"/>
              </a:rPr>
              <a:t>● </a:t>
            </a:r>
            <a:r>
              <a:rPr sz="1200">
                <a:solidFill>
                  <a:srgbClr val="111827"/>
                </a:solidFill>
                <a:latin typeface="Segoe UI"/>
              </a:rPr>
              <a:t>Hit / on-track / off-track vs. 90-day goal</a:t>
            </a:r>
          </a:p>
          <a:p>
            <a:pPr>
              <a:lnSpc>
                <a:spcPct val="150000"/>
              </a:lnSpc>
            </a:pPr>
            <a:r>
              <a:rPr sz="1200">
                <a:solidFill>
                  <a:srgbClr val="6D28D9"/>
                </a:solidFill>
                <a:latin typeface="Segoe UI"/>
              </a:rPr>
              <a:t>● </a:t>
            </a:r>
            <a:r>
              <a:rPr sz="1200">
                <a:solidFill>
                  <a:srgbClr val="111827"/>
                </a:solidFill>
                <a:latin typeface="Segoe UI"/>
              </a:rPr>
              <a:t>Risk flags surfaced (see slide on Risk Flags)</a:t>
            </a:r>
          </a:p>
          <a:p>
            <a:pPr>
              <a:lnSpc>
                <a:spcPct val="150000"/>
              </a:lnSpc>
            </a:pPr>
            <a:r>
              <a:rPr sz="1200">
                <a:solidFill>
                  <a:srgbClr val="6D28D9"/>
                </a:solidFill>
                <a:latin typeface="Segoe UI"/>
              </a:rPr>
              <a:t>● </a:t>
            </a:r>
            <a:r>
              <a:rPr sz="1200">
                <a:solidFill>
                  <a:srgbClr val="111827"/>
                </a:solidFill>
                <a:latin typeface="Segoe UI"/>
              </a:rPr>
              <a:t>Decision: graduate to Growth fully, or extend onboarding support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12 · Quarterly Performance Review</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BDA + Growth Lead, against the production thresholds shared in §6.2</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TextBox 5"/>
          <p:cNvSpPr txBox="1"/>
          <p:nvPr/>
        </p:nvSpPr>
        <p:spPr>
          <a:xfrm>
            <a:off x="365760" y="1234440"/>
            <a:ext cx="11430000" cy="365760"/>
          </a:xfrm>
          <a:prstGeom prst="rect">
            <a:avLst/>
          </a:prstGeom>
          <a:noFill/>
        </p:spPr>
        <p:txBody>
          <a:bodyPr wrap="square" lIns="0" rIns="0" tIns="0" bIns="0">
            <a:spAutoFit/>
          </a:bodyPr>
          <a:lstStyle/>
          <a:p>
            <a:pPr algn="l"/>
            <a:r>
              <a:rPr sz="1400" b="1">
                <a:solidFill>
                  <a:srgbClr val="1E073B"/>
                </a:solidFill>
                <a:latin typeface="Segoe UI"/>
              </a:rPr>
              <a:t>What we review</a:t>
            </a:r>
          </a:p>
        </p:txBody>
      </p:sp>
      <p:sp>
        <p:nvSpPr>
          <p:cNvPr id="7" name="TextBox 6"/>
          <p:cNvSpPr txBox="1"/>
          <p:nvPr/>
        </p:nvSpPr>
        <p:spPr>
          <a:xfrm>
            <a:off x="548640" y="1691640"/>
            <a:ext cx="10972800" cy="3108960"/>
          </a:xfrm>
          <a:prstGeom prst="rect">
            <a:avLst/>
          </a:prstGeom>
          <a:noFill/>
        </p:spPr>
        <p:txBody>
          <a:bodyPr wrap="square" lIns="0" rIns="0" tIns="0" bIns="0">
            <a:spAutoFit/>
          </a:bodyPr>
          <a:lstStyle/>
          <a:p>
            <a:pPr>
              <a:lnSpc>
                <a:spcPct val="145000"/>
              </a:lnSpc>
            </a:pPr>
            <a:r>
              <a:rPr sz="1400">
                <a:solidFill>
                  <a:srgbClr val="6D28D9"/>
                </a:solidFill>
                <a:latin typeface="Segoe UI"/>
              </a:rPr>
              <a:t>● </a:t>
            </a:r>
            <a:r>
              <a:rPr sz="1400">
                <a:solidFill>
                  <a:srgbClr val="111827"/>
                </a:solidFill>
                <a:latin typeface="Segoe UI"/>
              </a:rPr>
              <a:t>Quarterly GWP vs. $125K threshold (probation trigger)</a:t>
            </a:r>
          </a:p>
          <a:p>
            <a:pPr>
              <a:lnSpc>
                <a:spcPct val="145000"/>
              </a:lnSpc>
            </a:pPr>
            <a:r>
              <a:rPr sz="1400">
                <a:solidFill>
                  <a:srgbClr val="6D28D9"/>
                </a:solidFill>
                <a:latin typeface="Segoe UI"/>
              </a:rPr>
              <a:t>● </a:t>
            </a:r>
            <a:r>
              <a:rPr sz="1400">
                <a:solidFill>
                  <a:srgbClr val="111827"/>
                </a:solidFill>
                <a:latin typeface="Segoe UI"/>
              </a:rPr>
              <a:t>Annual GWP pace vs. $500K target</a:t>
            </a:r>
          </a:p>
          <a:p>
            <a:pPr>
              <a:lnSpc>
                <a:spcPct val="145000"/>
              </a:lnSpc>
            </a:pPr>
            <a:r>
              <a:rPr sz="1400">
                <a:solidFill>
                  <a:srgbClr val="6D28D9"/>
                </a:solidFill>
                <a:latin typeface="Segoe UI"/>
              </a:rPr>
              <a:t>● </a:t>
            </a:r>
            <a:r>
              <a:rPr sz="1400">
                <a:solidFill>
                  <a:srgbClr val="111827"/>
                </a:solidFill>
                <a:latin typeface="Segoe UI"/>
              </a:rPr>
              <a:t>Unique DOT %, loss ratio, cancellation rate, renewal rate</a:t>
            </a:r>
          </a:p>
          <a:p>
            <a:pPr>
              <a:lnSpc>
                <a:spcPct val="145000"/>
              </a:lnSpc>
            </a:pPr>
            <a:r>
              <a:rPr sz="1400">
                <a:solidFill>
                  <a:srgbClr val="6D28D9"/>
                </a:solidFill>
                <a:latin typeface="Segoe UI"/>
              </a:rPr>
              <a:t>● </a:t>
            </a:r>
            <a:r>
              <a:rPr sz="1400">
                <a:solidFill>
                  <a:srgbClr val="111827"/>
                </a:solidFill>
                <a:latin typeface="Segoe UI"/>
              </a:rPr>
              <a:t>Submission quality — driver / loss / vehicle data accuracy</a:t>
            </a:r>
          </a:p>
          <a:p>
            <a:pPr>
              <a:lnSpc>
                <a:spcPct val="145000"/>
              </a:lnSpc>
            </a:pPr>
            <a:r>
              <a:rPr sz="1400">
                <a:solidFill>
                  <a:srgbClr val="6D28D9"/>
                </a:solidFill>
                <a:latin typeface="Segoe UI"/>
              </a:rPr>
              <a:t>● </a:t>
            </a:r>
            <a:r>
              <a:rPr sz="1400">
                <a:solidFill>
                  <a:srgbClr val="111827"/>
                </a:solidFill>
                <a:latin typeface="Segoe UI"/>
              </a:rPr>
              <a:t>Engagement — ARC usage, session attendance, response time</a:t>
            </a:r>
          </a:p>
        </p:txBody>
      </p:sp>
      <p:sp>
        <p:nvSpPr>
          <p:cNvPr id="8" name="TextBox 7"/>
          <p:cNvSpPr txBox="1"/>
          <p:nvPr/>
        </p:nvSpPr>
        <p:spPr>
          <a:xfrm>
            <a:off x="365760" y="4572000"/>
            <a:ext cx="11430000" cy="365760"/>
          </a:xfrm>
          <a:prstGeom prst="rect">
            <a:avLst/>
          </a:prstGeom>
          <a:noFill/>
        </p:spPr>
        <p:txBody>
          <a:bodyPr wrap="square" lIns="0" rIns="0" tIns="0" bIns="0">
            <a:spAutoFit/>
          </a:bodyPr>
          <a:lstStyle/>
          <a:p>
            <a:pPr algn="l"/>
            <a:r>
              <a:rPr sz="1400" b="1">
                <a:solidFill>
                  <a:srgbClr val="1E073B"/>
                </a:solidFill>
                <a:latin typeface="Segoe UI"/>
              </a:rPr>
              <a:t>Decision</a:t>
            </a:r>
          </a:p>
        </p:txBody>
      </p:sp>
      <p:sp>
        <p:nvSpPr>
          <p:cNvPr id="9" name="TextBox 8"/>
          <p:cNvSpPr txBox="1"/>
          <p:nvPr/>
        </p:nvSpPr>
        <p:spPr>
          <a:xfrm>
            <a:off x="548640" y="4937760"/>
            <a:ext cx="10972800" cy="1645920"/>
          </a:xfrm>
          <a:prstGeom prst="rect">
            <a:avLst/>
          </a:prstGeom>
          <a:noFill/>
        </p:spPr>
        <p:txBody>
          <a:bodyPr wrap="square" lIns="0" rIns="0" tIns="0" bIns="0">
            <a:spAutoFit/>
          </a:bodyPr>
          <a:lstStyle/>
          <a:p>
            <a:pPr>
              <a:lnSpc>
                <a:spcPct val="130000"/>
              </a:lnSpc>
            </a:pPr>
            <a:r>
              <a:rPr sz="1300">
                <a:solidFill>
                  <a:srgbClr val="6D28D9"/>
                </a:solidFill>
                <a:latin typeface="Segoe UI"/>
              </a:rPr>
              <a:t>● </a:t>
            </a:r>
            <a:r>
              <a:rPr sz="1300">
                <a:solidFill>
                  <a:srgbClr val="111827"/>
                </a:solidFill>
                <a:latin typeface="Segoe UI"/>
              </a:rPr>
              <a:t>Continue</a:t>
            </a:r>
          </a:p>
          <a:p>
            <a:pPr>
              <a:lnSpc>
                <a:spcPct val="130000"/>
              </a:lnSpc>
            </a:pPr>
            <a:r>
              <a:rPr sz="1300">
                <a:solidFill>
                  <a:srgbClr val="6D28D9"/>
                </a:solidFill>
                <a:latin typeface="Segoe UI"/>
              </a:rPr>
              <a:t>● </a:t>
            </a:r>
            <a:r>
              <a:rPr sz="1300">
                <a:solidFill>
                  <a:srgbClr val="111827"/>
                </a:solidFill>
                <a:latin typeface="Segoe UI"/>
              </a:rPr>
              <a:t>Intervene — re-train on weakest area</a:t>
            </a:r>
          </a:p>
          <a:p>
            <a:pPr>
              <a:lnSpc>
                <a:spcPct val="130000"/>
              </a:lnSpc>
            </a:pPr>
            <a:r>
              <a:rPr sz="1300">
                <a:solidFill>
                  <a:srgbClr val="6D28D9"/>
                </a:solidFill>
                <a:latin typeface="Segoe UI"/>
              </a:rPr>
              <a:t>● </a:t>
            </a:r>
            <a:r>
              <a:rPr sz="1300">
                <a:solidFill>
                  <a:srgbClr val="111827"/>
                </a:solidFill>
                <a:latin typeface="Segoe UI"/>
              </a:rPr>
              <a:t>Enter probation (see next slide)</a:t>
            </a:r>
          </a:p>
          <a:p>
            <a:pPr>
              <a:lnSpc>
                <a:spcPct val="130000"/>
              </a:lnSpc>
            </a:pPr>
            <a:r>
              <a:rPr sz="1300">
                <a:solidFill>
                  <a:srgbClr val="6D28D9"/>
                </a:solidFill>
                <a:latin typeface="Segoe UI"/>
              </a:rPr>
              <a:t>● </a:t>
            </a:r>
            <a:r>
              <a:rPr sz="1300">
                <a:solidFill>
                  <a:srgbClr val="111827"/>
                </a:solidFill>
                <a:latin typeface="Segoe UI"/>
              </a:rPr>
              <a:t>Deactivate (appetite gap)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13 · Probation Playbook</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Trigger: Quarterly new-business GWP &lt; $125,000 (renewals/endorsements don't count)</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1143000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225296"/>
            <a:ext cx="1408176" cy="310896"/>
          </a:xfrm>
          <a:prstGeom prst="rect">
            <a:avLst/>
          </a:prstGeom>
          <a:noFill/>
        </p:spPr>
        <p:txBody>
          <a:bodyPr wrap="square" lIns="0" rIns="0" tIns="0" bIns="0">
            <a:spAutoFit/>
          </a:bodyPr>
          <a:lstStyle/>
          <a:p>
            <a:pPr algn="l"/>
            <a:r>
              <a:rPr sz="1050" b="1">
                <a:solidFill>
                  <a:srgbClr val="FFFFFF"/>
                </a:solidFill>
                <a:latin typeface="Segoe UI"/>
              </a:rPr>
              <a:t>Day</a:t>
            </a:r>
          </a:p>
        </p:txBody>
      </p:sp>
      <p:sp>
        <p:nvSpPr>
          <p:cNvPr id="8" name="TextBox 7"/>
          <p:cNvSpPr txBox="1"/>
          <p:nvPr/>
        </p:nvSpPr>
        <p:spPr>
          <a:xfrm>
            <a:off x="1993392" y="1225296"/>
            <a:ext cx="7077456" cy="310896"/>
          </a:xfrm>
          <a:prstGeom prst="rect">
            <a:avLst/>
          </a:prstGeom>
          <a:noFill/>
        </p:spPr>
        <p:txBody>
          <a:bodyPr wrap="square" lIns="0" rIns="0" tIns="0" bIns="0">
            <a:spAutoFit/>
          </a:bodyPr>
          <a:lstStyle/>
          <a:p>
            <a:pPr algn="l"/>
            <a:r>
              <a:rPr sz="1050" b="1">
                <a:solidFill>
                  <a:srgbClr val="FFFFFF"/>
                </a:solidFill>
                <a:latin typeface="Segoe UI"/>
              </a:rPr>
              <a:t>Action</a:t>
            </a:r>
          </a:p>
        </p:txBody>
      </p:sp>
      <p:sp>
        <p:nvSpPr>
          <p:cNvPr id="9" name="TextBox 8"/>
          <p:cNvSpPr txBox="1"/>
          <p:nvPr/>
        </p:nvSpPr>
        <p:spPr>
          <a:xfrm>
            <a:off x="9217152" y="1225296"/>
            <a:ext cx="2505456" cy="310896"/>
          </a:xfrm>
          <a:prstGeom prst="rect">
            <a:avLst/>
          </a:prstGeom>
          <a:noFill/>
        </p:spPr>
        <p:txBody>
          <a:bodyPr wrap="square" lIns="0" rIns="0" tIns="0" bIns="0">
            <a:spAutoFit/>
          </a:bodyPr>
          <a:lstStyle/>
          <a:p>
            <a:pPr algn="l"/>
            <a:r>
              <a:rPr sz="1050" b="1">
                <a:solidFill>
                  <a:srgbClr val="FFFFFF"/>
                </a:solidFill>
                <a:latin typeface="Segoe UI"/>
              </a:rPr>
              <a:t>Owner</a:t>
            </a:r>
          </a:p>
        </p:txBody>
      </p:sp>
      <p:sp>
        <p:nvSpPr>
          <p:cNvPr id="10" name="Rectangle 9"/>
          <p:cNvSpPr/>
          <p:nvPr/>
        </p:nvSpPr>
        <p:spPr>
          <a:xfrm>
            <a:off x="365760" y="1572768"/>
            <a:ext cx="11430000" cy="38404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609344"/>
            <a:ext cx="1408176" cy="310896"/>
          </a:xfrm>
          <a:prstGeom prst="rect">
            <a:avLst/>
          </a:prstGeom>
          <a:noFill/>
        </p:spPr>
        <p:txBody>
          <a:bodyPr wrap="square" lIns="0" rIns="0" tIns="0" bIns="0">
            <a:spAutoFit/>
          </a:bodyPr>
          <a:lstStyle/>
          <a:p>
            <a:pPr algn="l"/>
            <a:r>
              <a:rPr sz="1050" b="1">
                <a:solidFill>
                  <a:srgbClr val="6D28D9"/>
                </a:solidFill>
                <a:latin typeface="Segoe UI"/>
              </a:rPr>
              <a:t>Q+1</a:t>
            </a:r>
          </a:p>
        </p:txBody>
      </p:sp>
      <p:sp>
        <p:nvSpPr>
          <p:cNvPr id="12" name="TextBox 11"/>
          <p:cNvSpPr txBox="1"/>
          <p:nvPr/>
        </p:nvSpPr>
        <p:spPr>
          <a:xfrm>
            <a:off x="1993392" y="1609344"/>
            <a:ext cx="7077456" cy="310896"/>
          </a:xfrm>
          <a:prstGeom prst="rect">
            <a:avLst/>
          </a:prstGeom>
          <a:noFill/>
        </p:spPr>
        <p:txBody>
          <a:bodyPr wrap="square" lIns="0" rIns="0" tIns="0" bIns="0">
            <a:spAutoFit/>
          </a:bodyPr>
          <a:lstStyle/>
          <a:p>
            <a:pPr algn="l"/>
            <a:r>
              <a:rPr sz="1050" b="0">
                <a:solidFill>
                  <a:srgbClr val="111827"/>
                </a:solidFill>
                <a:latin typeface="Segoe UI"/>
              </a:rPr>
              <a:t>Confirm shortfall; pull agency Q-by-Q history</a:t>
            </a:r>
          </a:p>
        </p:txBody>
      </p:sp>
      <p:sp>
        <p:nvSpPr>
          <p:cNvPr id="13" name="TextBox 12"/>
          <p:cNvSpPr txBox="1"/>
          <p:nvPr/>
        </p:nvSpPr>
        <p:spPr>
          <a:xfrm>
            <a:off x="9217152" y="1609344"/>
            <a:ext cx="2505456" cy="310896"/>
          </a:xfrm>
          <a:prstGeom prst="rect">
            <a:avLst/>
          </a:prstGeom>
          <a:noFill/>
        </p:spPr>
        <p:txBody>
          <a:bodyPr wrap="square" lIns="0" rIns="0" tIns="0" bIns="0">
            <a:spAutoFit/>
          </a:bodyPr>
          <a:lstStyle/>
          <a:p>
            <a:pPr algn="l"/>
            <a:r>
              <a:rPr sz="1050" b="0">
                <a:solidFill>
                  <a:srgbClr val="111827"/>
                </a:solidFill>
                <a:latin typeface="Segoe UI"/>
              </a:rPr>
              <a:t>Growth</a:t>
            </a:r>
          </a:p>
        </p:txBody>
      </p:sp>
      <p:sp>
        <p:nvSpPr>
          <p:cNvPr id="14" name="TextBox 13"/>
          <p:cNvSpPr txBox="1"/>
          <p:nvPr/>
        </p:nvSpPr>
        <p:spPr>
          <a:xfrm>
            <a:off x="438912" y="1993392"/>
            <a:ext cx="1408176" cy="310896"/>
          </a:xfrm>
          <a:prstGeom prst="rect">
            <a:avLst/>
          </a:prstGeom>
          <a:noFill/>
        </p:spPr>
        <p:txBody>
          <a:bodyPr wrap="square" lIns="0" rIns="0" tIns="0" bIns="0">
            <a:spAutoFit/>
          </a:bodyPr>
          <a:lstStyle/>
          <a:p>
            <a:pPr algn="l"/>
            <a:r>
              <a:rPr sz="1050" b="1">
                <a:solidFill>
                  <a:srgbClr val="6D28D9"/>
                </a:solidFill>
                <a:latin typeface="Segoe UI"/>
              </a:rPr>
              <a:t>Q+3</a:t>
            </a:r>
          </a:p>
        </p:txBody>
      </p:sp>
      <p:sp>
        <p:nvSpPr>
          <p:cNvPr id="15" name="TextBox 14"/>
          <p:cNvSpPr txBox="1"/>
          <p:nvPr/>
        </p:nvSpPr>
        <p:spPr>
          <a:xfrm>
            <a:off x="1993392" y="1993392"/>
            <a:ext cx="7077456" cy="310896"/>
          </a:xfrm>
          <a:prstGeom prst="rect">
            <a:avLst/>
          </a:prstGeom>
          <a:noFill/>
        </p:spPr>
        <p:txBody>
          <a:bodyPr wrap="square" lIns="0" rIns="0" tIns="0" bIns="0">
            <a:spAutoFit/>
          </a:bodyPr>
          <a:lstStyle/>
          <a:p>
            <a:pPr algn="l"/>
            <a:r>
              <a:rPr sz="1050" b="0">
                <a:solidFill>
                  <a:srgbClr val="111827"/>
                </a:solidFill>
                <a:latin typeface="Segoe UI"/>
              </a:rPr>
              <a:t>Send probation warning email (template §14.5)</a:t>
            </a:r>
          </a:p>
        </p:txBody>
      </p:sp>
      <p:sp>
        <p:nvSpPr>
          <p:cNvPr id="16" name="TextBox 15"/>
          <p:cNvSpPr txBox="1"/>
          <p:nvPr/>
        </p:nvSpPr>
        <p:spPr>
          <a:xfrm>
            <a:off x="9217152" y="1993392"/>
            <a:ext cx="2505456" cy="310896"/>
          </a:xfrm>
          <a:prstGeom prst="rect">
            <a:avLst/>
          </a:prstGeom>
          <a:noFill/>
        </p:spPr>
        <p:txBody>
          <a:bodyPr wrap="square" lIns="0" rIns="0" tIns="0" bIns="0">
            <a:spAutoFit/>
          </a:bodyPr>
          <a:lstStyle/>
          <a:p>
            <a:pPr algn="l"/>
            <a:r>
              <a:rPr sz="1050" b="0">
                <a:solidFill>
                  <a:srgbClr val="111827"/>
                </a:solidFill>
                <a:latin typeface="Segoe UI"/>
              </a:rPr>
              <a:t>BDA</a:t>
            </a:r>
          </a:p>
        </p:txBody>
      </p:sp>
      <p:sp>
        <p:nvSpPr>
          <p:cNvPr id="17" name="Rectangle 16"/>
          <p:cNvSpPr/>
          <p:nvPr/>
        </p:nvSpPr>
        <p:spPr>
          <a:xfrm>
            <a:off x="365760" y="2340864"/>
            <a:ext cx="11430000" cy="38404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377440"/>
            <a:ext cx="1408176" cy="310896"/>
          </a:xfrm>
          <a:prstGeom prst="rect">
            <a:avLst/>
          </a:prstGeom>
          <a:noFill/>
        </p:spPr>
        <p:txBody>
          <a:bodyPr wrap="square" lIns="0" rIns="0" tIns="0" bIns="0">
            <a:spAutoFit/>
          </a:bodyPr>
          <a:lstStyle/>
          <a:p>
            <a:pPr algn="l"/>
            <a:r>
              <a:rPr sz="1050" b="1">
                <a:solidFill>
                  <a:srgbClr val="6D28D9"/>
                </a:solidFill>
                <a:latin typeface="Segoe UI"/>
              </a:rPr>
              <a:t>Q+3 → Q+30</a:t>
            </a:r>
          </a:p>
        </p:txBody>
      </p:sp>
      <p:sp>
        <p:nvSpPr>
          <p:cNvPr id="19" name="TextBox 18"/>
          <p:cNvSpPr txBox="1"/>
          <p:nvPr/>
        </p:nvSpPr>
        <p:spPr>
          <a:xfrm>
            <a:off x="1993392" y="2377440"/>
            <a:ext cx="7077456" cy="310896"/>
          </a:xfrm>
          <a:prstGeom prst="rect">
            <a:avLst/>
          </a:prstGeom>
          <a:noFill/>
        </p:spPr>
        <p:txBody>
          <a:bodyPr wrap="square" lIns="0" rIns="0" tIns="0" bIns="0">
            <a:spAutoFit/>
          </a:bodyPr>
          <a:lstStyle/>
          <a:p>
            <a:pPr algn="l"/>
            <a:r>
              <a:rPr sz="1050" b="0">
                <a:solidFill>
                  <a:srgbClr val="111827"/>
                </a:solidFill>
                <a:latin typeface="Segoe UI"/>
              </a:rPr>
              <a:t>Weekly working session: pipeline, unblock deals, escalate UW</a:t>
            </a:r>
          </a:p>
        </p:txBody>
      </p:sp>
      <p:sp>
        <p:nvSpPr>
          <p:cNvPr id="20" name="TextBox 19"/>
          <p:cNvSpPr txBox="1"/>
          <p:nvPr/>
        </p:nvSpPr>
        <p:spPr>
          <a:xfrm>
            <a:off x="9217152" y="2377440"/>
            <a:ext cx="2505456" cy="310896"/>
          </a:xfrm>
          <a:prstGeom prst="rect">
            <a:avLst/>
          </a:prstGeom>
          <a:noFill/>
        </p:spPr>
        <p:txBody>
          <a:bodyPr wrap="square" lIns="0" rIns="0" tIns="0" bIns="0">
            <a:spAutoFit/>
          </a:bodyPr>
          <a:lstStyle/>
          <a:p>
            <a:pPr algn="l"/>
            <a:r>
              <a:rPr sz="1050" b="0">
                <a:solidFill>
                  <a:srgbClr val="111827"/>
                </a:solidFill>
                <a:latin typeface="Segoe UI"/>
              </a:rPr>
              <a:t>BDA</a:t>
            </a:r>
          </a:p>
        </p:txBody>
      </p:sp>
      <p:sp>
        <p:nvSpPr>
          <p:cNvPr id="21" name="TextBox 20"/>
          <p:cNvSpPr txBox="1"/>
          <p:nvPr/>
        </p:nvSpPr>
        <p:spPr>
          <a:xfrm>
            <a:off x="438912" y="2761488"/>
            <a:ext cx="1408176" cy="310896"/>
          </a:xfrm>
          <a:prstGeom prst="rect">
            <a:avLst/>
          </a:prstGeom>
          <a:noFill/>
        </p:spPr>
        <p:txBody>
          <a:bodyPr wrap="square" lIns="0" rIns="0" tIns="0" bIns="0">
            <a:spAutoFit/>
          </a:bodyPr>
          <a:lstStyle/>
          <a:p>
            <a:pPr algn="l"/>
            <a:r>
              <a:rPr sz="1050" b="1">
                <a:solidFill>
                  <a:srgbClr val="6D28D9"/>
                </a:solidFill>
                <a:latin typeface="Segoe UI"/>
              </a:rPr>
              <a:t>Q+15</a:t>
            </a:r>
          </a:p>
        </p:txBody>
      </p:sp>
      <p:sp>
        <p:nvSpPr>
          <p:cNvPr id="22" name="TextBox 21"/>
          <p:cNvSpPr txBox="1"/>
          <p:nvPr/>
        </p:nvSpPr>
        <p:spPr>
          <a:xfrm>
            <a:off x="1993392" y="2761488"/>
            <a:ext cx="7077456" cy="310896"/>
          </a:xfrm>
          <a:prstGeom prst="rect">
            <a:avLst/>
          </a:prstGeom>
          <a:noFill/>
        </p:spPr>
        <p:txBody>
          <a:bodyPr wrap="square" lIns="0" rIns="0" tIns="0" bIns="0">
            <a:spAutoFit/>
          </a:bodyPr>
          <a:lstStyle/>
          <a:p>
            <a:pPr algn="l"/>
            <a:r>
              <a:rPr sz="1050" b="0">
                <a:solidFill>
                  <a:srgbClr val="111827"/>
                </a:solidFill>
                <a:latin typeface="Segoe UI"/>
              </a:rPr>
              <a:t>Mid-cure status check — on-track to cure by next quarter close?</a:t>
            </a:r>
          </a:p>
        </p:txBody>
      </p:sp>
      <p:sp>
        <p:nvSpPr>
          <p:cNvPr id="23" name="TextBox 22"/>
          <p:cNvSpPr txBox="1"/>
          <p:nvPr/>
        </p:nvSpPr>
        <p:spPr>
          <a:xfrm>
            <a:off x="9217152" y="2761488"/>
            <a:ext cx="2505456" cy="310896"/>
          </a:xfrm>
          <a:prstGeom prst="rect">
            <a:avLst/>
          </a:prstGeom>
          <a:noFill/>
        </p:spPr>
        <p:txBody>
          <a:bodyPr wrap="square" lIns="0" rIns="0" tIns="0" bIns="0">
            <a:spAutoFit/>
          </a:bodyPr>
          <a:lstStyle/>
          <a:p>
            <a:pPr algn="l"/>
            <a:r>
              <a:rPr sz="1050" b="0">
                <a:solidFill>
                  <a:srgbClr val="111827"/>
                </a:solidFill>
                <a:latin typeface="Segoe UI"/>
              </a:rPr>
              <a:t>BDA + Growth</a:t>
            </a:r>
          </a:p>
        </p:txBody>
      </p:sp>
      <p:sp>
        <p:nvSpPr>
          <p:cNvPr id="24" name="Rectangle 23"/>
          <p:cNvSpPr/>
          <p:nvPr/>
        </p:nvSpPr>
        <p:spPr>
          <a:xfrm>
            <a:off x="365760" y="3108960"/>
            <a:ext cx="11430000" cy="38404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3145536"/>
            <a:ext cx="1408176" cy="310896"/>
          </a:xfrm>
          <a:prstGeom prst="rect">
            <a:avLst/>
          </a:prstGeom>
          <a:noFill/>
        </p:spPr>
        <p:txBody>
          <a:bodyPr wrap="square" lIns="0" rIns="0" tIns="0" bIns="0">
            <a:spAutoFit/>
          </a:bodyPr>
          <a:lstStyle/>
          <a:p>
            <a:pPr algn="l"/>
            <a:r>
              <a:rPr sz="1050" b="1">
                <a:solidFill>
                  <a:srgbClr val="6D28D9"/>
                </a:solidFill>
                <a:latin typeface="Segoe UI"/>
              </a:rPr>
              <a:t>Q+30</a:t>
            </a:r>
          </a:p>
        </p:txBody>
      </p:sp>
      <p:sp>
        <p:nvSpPr>
          <p:cNvPr id="26" name="TextBox 25"/>
          <p:cNvSpPr txBox="1"/>
          <p:nvPr/>
        </p:nvSpPr>
        <p:spPr>
          <a:xfrm>
            <a:off x="1993392" y="3145536"/>
            <a:ext cx="7077456" cy="310896"/>
          </a:xfrm>
          <a:prstGeom prst="rect">
            <a:avLst/>
          </a:prstGeom>
          <a:noFill/>
        </p:spPr>
        <p:txBody>
          <a:bodyPr wrap="square" lIns="0" rIns="0" tIns="0" bIns="0">
            <a:spAutoFit/>
          </a:bodyPr>
          <a:lstStyle/>
          <a:p>
            <a:pPr algn="l"/>
            <a:r>
              <a:rPr sz="1050" b="0">
                <a:solidFill>
                  <a:srgbClr val="111827"/>
                </a:solidFill>
                <a:latin typeface="Segoe UI"/>
              </a:rPr>
              <a:t>Cure-period decision: continue / extend / move to deactivation</a:t>
            </a:r>
          </a:p>
        </p:txBody>
      </p:sp>
      <p:sp>
        <p:nvSpPr>
          <p:cNvPr id="27" name="TextBox 26"/>
          <p:cNvSpPr txBox="1"/>
          <p:nvPr/>
        </p:nvSpPr>
        <p:spPr>
          <a:xfrm>
            <a:off x="9217152" y="3145536"/>
            <a:ext cx="2505456" cy="310896"/>
          </a:xfrm>
          <a:prstGeom prst="rect">
            <a:avLst/>
          </a:prstGeom>
          <a:noFill/>
        </p:spPr>
        <p:txBody>
          <a:bodyPr wrap="square" lIns="0" rIns="0" tIns="0" bIns="0">
            <a:spAutoFit/>
          </a:bodyPr>
          <a:lstStyle/>
          <a:p>
            <a:pPr algn="l"/>
            <a:r>
              <a:rPr sz="1050" b="0">
                <a:solidFill>
                  <a:srgbClr val="111827"/>
                </a:solidFill>
                <a:latin typeface="Segoe UI"/>
              </a:rPr>
              <a:t>Growth Lead</a:t>
            </a:r>
          </a:p>
        </p:txBody>
      </p:sp>
      <p:sp>
        <p:nvSpPr>
          <p:cNvPr id="28" name="TextBox 27"/>
          <p:cNvSpPr txBox="1"/>
          <p:nvPr/>
        </p:nvSpPr>
        <p:spPr>
          <a:xfrm>
            <a:off x="438912" y="3529584"/>
            <a:ext cx="1408176" cy="310896"/>
          </a:xfrm>
          <a:prstGeom prst="rect">
            <a:avLst/>
          </a:prstGeom>
          <a:noFill/>
        </p:spPr>
        <p:txBody>
          <a:bodyPr wrap="square" lIns="0" rIns="0" tIns="0" bIns="0">
            <a:spAutoFit/>
          </a:bodyPr>
          <a:lstStyle/>
          <a:p>
            <a:pPr algn="l"/>
            <a:r>
              <a:rPr sz="1050" b="1">
                <a:solidFill>
                  <a:srgbClr val="6D28D9"/>
                </a:solidFill>
                <a:latin typeface="Segoe UI"/>
              </a:rPr>
              <a:t>Q+30 → Q+90</a:t>
            </a:r>
          </a:p>
        </p:txBody>
      </p:sp>
      <p:sp>
        <p:nvSpPr>
          <p:cNvPr id="29" name="TextBox 28"/>
          <p:cNvSpPr txBox="1"/>
          <p:nvPr/>
        </p:nvSpPr>
        <p:spPr>
          <a:xfrm>
            <a:off x="1993392" y="3529584"/>
            <a:ext cx="7077456" cy="310896"/>
          </a:xfrm>
          <a:prstGeom prst="rect">
            <a:avLst/>
          </a:prstGeom>
          <a:noFill/>
        </p:spPr>
        <p:txBody>
          <a:bodyPr wrap="square" lIns="0" rIns="0" tIns="0" bIns="0">
            <a:spAutoFit/>
          </a:bodyPr>
          <a:lstStyle/>
          <a:p>
            <a:pPr algn="l"/>
            <a:r>
              <a:rPr sz="1050" b="0">
                <a:solidFill>
                  <a:srgbClr val="111827"/>
                </a:solidFill>
                <a:latin typeface="Segoe UI"/>
              </a:rPr>
              <a:t>Continued monitoring through next full quarter</a:t>
            </a:r>
          </a:p>
        </p:txBody>
      </p:sp>
      <p:sp>
        <p:nvSpPr>
          <p:cNvPr id="30" name="TextBox 29"/>
          <p:cNvSpPr txBox="1"/>
          <p:nvPr/>
        </p:nvSpPr>
        <p:spPr>
          <a:xfrm>
            <a:off x="9217152" y="3529584"/>
            <a:ext cx="2505456" cy="310896"/>
          </a:xfrm>
          <a:prstGeom prst="rect">
            <a:avLst/>
          </a:prstGeom>
          <a:noFill/>
        </p:spPr>
        <p:txBody>
          <a:bodyPr wrap="square" lIns="0" rIns="0" tIns="0" bIns="0">
            <a:spAutoFit/>
          </a:bodyPr>
          <a:lstStyle/>
          <a:p>
            <a:pPr algn="l"/>
            <a:r>
              <a:rPr sz="1050" b="0">
                <a:solidFill>
                  <a:srgbClr val="111827"/>
                </a:solidFill>
                <a:latin typeface="Segoe UI"/>
              </a:rPr>
              <a:t>BDA</a:t>
            </a:r>
          </a:p>
        </p:txBody>
      </p:sp>
      <p:sp>
        <p:nvSpPr>
          <p:cNvPr id="31" name="Rectangle 30"/>
          <p:cNvSpPr/>
          <p:nvPr/>
        </p:nvSpPr>
        <p:spPr>
          <a:xfrm>
            <a:off x="365760" y="3877056"/>
            <a:ext cx="11430000" cy="384048"/>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3913632"/>
            <a:ext cx="1408176" cy="310896"/>
          </a:xfrm>
          <a:prstGeom prst="rect">
            <a:avLst/>
          </a:prstGeom>
          <a:noFill/>
        </p:spPr>
        <p:txBody>
          <a:bodyPr wrap="square" lIns="0" rIns="0" tIns="0" bIns="0">
            <a:spAutoFit/>
          </a:bodyPr>
          <a:lstStyle/>
          <a:p>
            <a:pPr algn="l"/>
            <a:r>
              <a:rPr sz="1050" b="1">
                <a:solidFill>
                  <a:srgbClr val="6D28D9"/>
                </a:solidFill>
                <a:latin typeface="Segoe UI"/>
              </a:rPr>
              <a:t>Q+90</a:t>
            </a:r>
          </a:p>
        </p:txBody>
      </p:sp>
      <p:sp>
        <p:nvSpPr>
          <p:cNvPr id="33" name="TextBox 32"/>
          <p:cNvSpPr txBox="1"/>
          <p:nvPr/>
        </p:nvSpPr>
        <p:spPr>
          <a:xfrm>
            <a:off x="1993392" y="3913632"/>
            <a:ext cx="7077456" cy="310896"/>
          </a:xfrm>
          <a:prstGeom prst="rect">
            <a:avLst/>
          </a:prstGeom>
          <a:noFill/>
        </p:spPr>
        <p:txBody>
          <a:bodyPr wrap="square" lIns="0" rIns="0" tIns="0" bIns="0">
            <a:spAutoFit/>
          </a:bodyPr>
          <a:lstStyle/>
          <a:p>
            <a:pPr algn="l"/>
            <a:r>
              <a:rPr sz="1050" b="0">
                <a:solidFill>
                  <a:srgbClr val="111827"/>
                </a:solidFill>
                <a:latin typeface="Segoe UI"/>
              </a:rPr>
              <a:t>If 2nd consecutive quarter below threshold + no plan: deactivation review</a:t>
            </a:r>
          </a:p>
        </p:txBody>
      </p:sp>
      <p:sp>
        <p:nvSpPr>
          <p:cNvPr id="34" name="TextBox 33"/>
          <p:cNvSpPr txBox="1"/>
          <p:nvPr/>
        </p:nvSpPr>
        <p:spPr>
          <a:xfrm>
            <a:off x="9217152" y="3913632"/>
            <a:ext cx="2505456" cy="310896"/>
          </a:xfrm>
          <a:prstGeom prst="rect">
            <a:avLst/>
          </a:prstGeom>
          <a:noFill/>
        </p:spPr>
        <p:txBody>
          <a:bodyPr wrap="square" lIns="0" rIns="0" tIns="0" bIns="0">
            <a:spAutoFit/>
          </a:bodyPr>
          <a:lstStyle/>
          <a:p>
            <a:pPr algn="l"/>
            <a:r>
              <a:rPr sz="1050" b="0">
                <a:solidFill>
                  <a:srgbClr val="111827"/>
                </a:solidFill>
                <a:latin typeface="Segoe UI"/>
              </a:rPr>
              <a:t>Growth Lead</a:t>
            </a:r>
          </a:p>
        </p:txBody>
      </p:sp>
      <p:sp>
        <p:nvSpPr>
          <p:cNvPr id="35" name="Rectangle 34"/>
          <p:cNvSpPr/>
          <p:nvPr/>
        </p:nvSpPr>
        <p:spPr>
          <a:xfrm>
            <a:off x="365760" y="4937760"/>
            <a:ext cx="11430000" cy="146304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074920"/>
            <a:ext cx="10972800" cy="320040"/>
          </a:xfrm>
          <a:prstGeom prst="rect">
            <a:avLst/>
          </a:prstGeom>
          <a:noFill/>
        </p:spPr>
        <p:txBody>
          <a:bodyPr wrap="square" lIns="0" rIns="0" tIns="0" bIns="0">
            <a:spAutoFit/>
          </a:bodyPr>
          <a:lstStyle/>
          <a:p>
            <a:pPr algn="l"/>
            <a:r>
              <a:rPr sz="1300" b="1">
                <a:solidFill>
                  <a:srgbClr val="DC2626"/>
                </a:solidFill>
                <a:latin typeface="Segoe UI"/>
              </a:rPr>
              <a:t>Deactivation criteria — all three must be true</a:t>
            </a:r>
          </a:p>
        </p:txBody>
      </p:sp>
      <p:sp>
        <p:nvSpPr>
          <p:cNvPr id="37" name="TextBox 36"/>
          <p:cNvSpPr txBox="1"/>
          <p:nvPr/>
        </p:nvSpPr>
        <p:spPr>
          <a:xfrm>
            <a:off x="640080" y="5440680"/>
            <a:ext cx="10972800" cy="1005840"/>
          </a:xfrm>
          <a:prstGeom prst="rect">
            <a:avLst/>
          </a:prstGeom>
          <a:noFill/>
        </p:spPr>
        <p:txBody>
          <a:bodyPr wrap="square" lIns="0" rIns="0" tIns="0" bIns="0">
            <a:spAutoFit/>
          </a:bodyPr>
          <a:lstStyle/>
          <a:p>
            <a:pPr>
              <a:lnSpc>
                <a:spcPct val="130000"/>
              </a:lnSpc>
            </a:pPr>
            <a:r>
              <a:rPr sz="1200">
                <a:solidFill>
                  <a:srgbClr val="6D28D9"/>
                </a:solidFill>
                <a:latin typeface="Segoe UI"/>
              </a:rPr>
              <a:t>● </a:t>
            </a:r>
            <a:r>
              <a:rPr sz="1200">
                <a:solidFill>
                  <a:srgbClr val="111827"/>
                </a:solidFill>
                <a:latin typeface="Segoe UI"/>
              </a:rPr>
              <a:t>Two consecutive quarters below $125K new-business GWP</a:t>
            </a:r>
          </a:p>
          <a:p>
            <a:pPr>
              <a:lnSpc>
                <a:spcPct val="130000"/>
              </a:lnSpc>
            </a:pPr>
            <a:r>
              <a:rPr sz="1200">
                <a:solidFill>
                  <a:srgbClr val="6D28D9"/>
                </a:solidFill>
                <a:latin typeface="Segoe UI"/>
              </a:rPr>
              <a:t>● </a:t>
            </a:r>
            <a:r>
              <a:rPr sz="1200">
                <a:solidFill>
                  <a:srgbClr val="111827"/>
                </a:solidFill>
                <a:latin typeface="Segoe UI"/>
              </a:rPr>
              <a:t>No submission activity in the most recent 30 days</a:t>
            </a:r>
          </a:p>
          <a:p>
            <a:pPr>
              <a:lnSpc>
                <a:spcPct val="130000"/>
              </a:lnSpc>
            </a:pPr>
            <a:r>
              <a:rPr sz="1200">
                <a:solidFill>
                  <a:srgbClr val="6D28D9"/>
                </a:solidFill>
                <a:latin typeface="Segoe UI"/>
              </a:rPr>
              <a:t>● </a:t>
            </a:r>
            <a:r>
              <a:rPr sz="1200">
                <a:solidFill>
                  <a:srgbClr val="111827"/>
                </a:solidFill>
                <a:latin typeface="Segoe UI"/>
              </a:rPr>
              <a:t>No documented growth plan agreed by BDA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14 · Risk Flags &amp; Triggers</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Early-warning signals — act before they escalate</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11430000" cy="3931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225296"/>
            <a:ext cx="2231136" cy="320040"/>
          </a:xfrm>
          <a:prstGeom prst="rect">
            <a:avLst/>
          </a:prstGeom>
          <a:noFill/>
        </p:spPr>
        <p:txBody>
          <a:bodyPr wrap="square" lIns="0" rIns="0" tIns="0" bIns="0">
            <a:spAutoFit/>
          </a:bodyPr>
          <a:lstStyle/>
          <a:p>
            <a:pPr algn="l"/>
            <a:r>
              <a:rPr sz="1050" b="1">
                <a:solidFill>
                  <a:srgbClr val="FFFFFF"/>
                </a:solidFill>
                <a:latin typeface="Segoe UI"/>
              </a:rPr>
              <a:t>Flag</a:t>
            </a:r>
          </a:p>
        </p:txBody>
      </p:sp>
      <p:sp>
        <p:nvSpPr>
          <p:cNvPr id="8" name="TextBox 7"/>
          <p:cNvSpPr txBox="1"/>
          <p:nvPr/>
        </p:nvSpPr>
        <p:spPr>
          <a:xfrm>
            <a:off x="2816352" y="1225296"/>
            <a:ext cx="4791456" cy="320040"/>
          </a:xfrm>
          <a:prstGeom prst="rect">
            <a:avLst/>
          </a:prstGeom>
          <a:noFill/>
        </p:spPr>
        <p:txBody>
          <a:bodyPr wrap="square" lIns="0" rIns="0" tIns="0" bIns="0">
            <a:spAutoFit/>
          </a:bodyPr>
          <a:lstStyle/>
          <a:p>
            <a:pPr algn="l"/>
            <a:r>
              <a:rPr sz="1050" b="1">
                <a:solidFill>
                  <a:srgbClr val="FFFFFF"/>
                </a:solidFill>
                <a:latin typeface="Segoe UI"/>
              </a:rPr>
              <a:t>Trigger</a:t>
            </a:r>
          </a:p>
        </p:txBody>
      </p:sp>
      <p:sp>
        <p:nvSpPr>
          <p:cNvPr id="9" name="TextBox 8"/>
          <p:cNvSpPr txBox="1"/>
          <p:nvPr/>
        </p:nvSpPr>
        <p:spPr>
          <a:xfrm>
            <a:off x="7754112" y="1225296"/>
            <a:ext cx="3968496" cy="320040"/>
          </a:xfrm>
          <a:prstGeom prst="rect">
            <a:avLst/>
          </a:prstGeom>
          <a:noFill/>
        </p:spPr>
        <p:txBody>
          <a:bodyPr wrap="square" lIns="0" rIns="0" tIns="0" bIns="0">
            <a:spAutoFit/>
          </a:bodyPr>
          <a:lstStyle/>
          <a:p>
            <a:pPr algn="l"/>
            <a:r>
              <a:rPr sz="1050" b="1">
                <a:solidFill>
                  <a:srgbClr val="FFFFFF"/>
                </a:solidFill>
                <a:latin typeface="Segoe UI"/>
              </a:rPr>
              <a:t>Action</a:t>
            </a:r>
          </a:p>
        </p:txBody>
      </p:sp>
      <p:sp>
        <p:nvSpPr>
          <p:cNvPr id="10" name="Rectangle 9"/>
          <p:cNvSpPr/>
          <p:nvPr/>
        </p:nvSpPr>
        <p:spPr>
          <a:xfrm>
            <a:off x="365760" y="1581912"/>
            <a:ext cx="11430000" cy="39319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618488"/>
            <a:ext cx="2231136" cy="320040"/>
          </a:xfrm>
          <a:prstGeom prst="rect">
            <a:avLst/>
          </a:prstGeom>
          <a:noFill/>
        </p:spPr>
        <p:txBody>
          <a:bodyPr wrap="square" lIns="0" rIns="0" tIns="0" bIns="0">
            <a:spAutoFit/>
          </a:bodyPr>
          <a:lstStyle/>
          <a:p>
            <a:pPr algn="l"/>
            <a:r>
              <a:rPr sz="1000" b="1">
                <a:solidFill>
                  <a:srgbClr val="6D28D9"/>
                </a:solidFill>
                <a:latin typeface="Segoe UI"/>
              </a:rPr>
              <a:t>No login</a:t>
            </a:r>
          </a:p>
        </p:txBody>
      </p:sp>
      <p:sp>
        <p:nvSpPr>
          <p:cNvPr id="12" name="TextBox 11"/>
          <p:cNvSpPr txBox="1"/>
          <p:nvPr/>
        </p:nvSpPr>
        <p:spPr>
          <a:xfrm>
            <a:off x="2816352" y="1618488"/>
            <a:ext cx="4791456" cy="320040"/>
          </a:xfrm>
          <a:prstGeom prst="rect">
            <a:avLst/>
          </a:prstGeom>
          <a:noFill/>
        </p:spPr>
        <p:txBody>
          <a:bodyPr wrap="square" lIns="0" rIns="0" tIns="0" bIns="0">
            <a:spAutoFit/>
          </a:bodyPr>
          <a:lstStyle/>
          <a:p>
            <a:pPr algn="l"/>
            <a:r>
              <a:rPr sz="1000" b="0">
                <a:solidFill>
                  <a:srgbClr val="111827"/>
                </a:solidFill>
                <a:latin typeface="Segoe UI"/>
              </a:rPr>
              <a:t>No platform login within 5 business days of appointment</a:t>
            </a:r>
          </a:p>
        </p:txBody>
      </p:sp>
      <p:sp>
        <p:nvSpPr>
          <p:cNvPr id="13" name="TextBox 12"/>
          <p:cNvSpPr txBox="1"/>
          <p:nvPr/>
        </p:nvSpPr>
        <p:spPr>
          <a:xfrm>
            <a:off x="7754112" y="1618488"/>
            <a:ext cx="3968496" cy="320040"/>
          </a:xfrm>
          <a:prstGeom prst="rect">
            <a:avLst/>
          </a:prstGeom>
          <a:noFill/>
        </p:spPr>
        <p:txBody>
          <a:bodyPr wrap="square" lIns="0" rIns="0" tIns="0" bIns="0">
            <a:spAutoFit/>
          </a:bodyPr>
          <a:lstStyle/>
          <a:p>
            <a:pPr algn="l"/>
            <a:r>
              <a:rPr sz="1000" b="0">
                <a:solidFill>
                  <a:srgbClr val="111827"/>
                </a:solidFill>
                <a:latin typeface="Segoe UI"/>
              </a:rPr>
              <a:t>Onboarding Lead — call agent directly</a:t>
            </a:r>
          </a:p>
        </p:txBody>
      </p:sp>
      <p:sp>
        <p:nvSpPr>
          <p:cNvPr id="14" name="TextBox 13"/>
          <p:cNvSpPr txBox="1"/>
          <p:nvPr/>
        </p:nvSpPr>
        <p:spPr>
          <a:xfrm>
            <a:off x="438912" y="2011680"/>
            <a:ext cx="2231136" cy="320040"/>
          </a:xfrm>
          <a:prstGeom prst="rect">
            <a:avLst/>
          </a:prstGeom>
          <a:noFill/>
        </p:spPr>
        <p:txBody>
          <a:bodyPr wrap="square" lIns="0" rIns="0" tIns="0" bIns="0">
            <a:spAutoFit/>
          </a:bodyPr>
          <a:lstStyle/>
          <a:p>
            <a:pPr algn="l"/>
            <a:r>
              <a:rPr sz="1000" b="1">
                <a:solidFill>
                  <a:srgbClr val="6D28D9"/>
                </a:solidFill>
                <a:latin typeface="Segoe UI"/>
              </a:rPr>
              <a:t>No submissions</a:t>
            </a:r>
          </a:p>
        </p:txBody>
      </p:sp>
      <p:sp>
        <p:nvSpPr>
          <p:cNvPr id="15" name="TextBox 14"/>
          <p:cNvSpPr txBox="1"/>
          <p:nvPr/>
        </p:nvSpPr>
        <p:spPr>
          <a:xfrm>
            <a:off x="2816352" y="2011680"/>
            <a:ext cx="4791456" cy="320040"/>
          </a:xfrm>
          <a:prstGeom prst="rect">
            <a:avLst/>
          </a:prstGeom>
          <a:noFill/>
        </p:spPr>
        <p:txBody>
          <a:bodyPr wrap="square" lIns="0" rIns="0" tIns="0" bIns="0">
            <a:spAutoFit/>
          </a:bodyPr>
          <a:lstStyle/>
          <a:p>
            <a:pPr algn="l"/>
            <a:r>
              <a:rPr sz="1000" b="0">
                <a:solidFill>
                  <a:srgbClr val="111827"/>
                </a:solidFill>
                <a:latin typeface="Segoe UI"/>
              </a:rPr>
              <a:t>Zero submissions within 14 days of Session 1</a:t>
            </a:r>
          </a:p>
        </p:txBody>
      </p:sp>
      <p:sp>
        <p:nvSpPr>
          <p:cNvPr id="16" name="TextBox 15"/>
          <p:cNvSpPr txBox="1"/>
          <p:nvPr/>
        </p:nvSpPr>
        <p:spPr>
          <a:xfrm>
            <a:off x="7754112" y="2011680"/>
            <a:ext cx="3968496" cy="320040"/>
          </a:xfrm>
          <a:prstGeom prst="rect">
            <a:avLst/>
          </a:prstGeom>
          <a:noFill/>
        </p:spPr>
        <p:txBody>
          <a:bodyPr wrap="square" lIns="0" rIns="0" tIns="0" bIns="0">
            <a:spAutoFit/>
          </a:bodyPr>
          <a:lstStyle/>
          <a:p>
            <a:pPr algn="l"/>
            <a:r>
              <a:rPr sz="1000" b="0">
                <a:solidFill>
                  <a:srgbClr val="111827"/>
                </a:solidFill>
                <a:latin typeface="Segoe UI"/>
              </a:rPr>
              <a:t>Onboarding Lead — Week 2 nudge + offer joint quote build</a:t>
            </a:r>
          </a:p>
        </p:txBody>
      </p:sp>
      <p:sp>
        <p:nvSpPr>
          <p:cNvPr id="17" name="Rectangle 16"/>
          <p:cNvSpPr/>
          <p:nvPr/>
        </p:nvSpPr>
        <p:spPr>
          <a:xfrm>
            <a:off x="365760" y="2368296"/>
            <a:ext cx="11430000" cy="39319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404872"/>
            <a:ext cx="2231136" cy="320040"/>
          </a:xfrm>
          <a:prstGeom prst="rect">
            <a:avLst/>
          </a:prstGeom>
          <a:noFill/>
        </p:spPr>
        <p:txBody>
          <a:bodyPr wrap="square" lIns="0" rIns="0" tIns="0" bIns="0">
            <a:spAutoFit/>
          </a:bodyPr>
          <a:lstStyle/>
          <a:p>
            <a:pPr algn="l"/>
            <a:r>
              <a:rPr sz="1000" b="1">
                <a:solidFill>
                  <a:srgbClr val="6D28D9"/>
                </a:solidFill>
                <a:latin typeface="Segoe UI"/>
              </a:rPr>
              <a:t>Submission quality</a:t>
            </a:r>
          </a:p>
        </p:txBody>
      </p:sp>
      <p:sp>
        <p:nvSpPr>
          <p:cNvPr id="19" name="TextBox 18"/>
          <p:cNvSpPr txBox="1"/>
          <p:nvPr/>
        </p:nvSpPr>
        <p:spPr>
          <a:xfrm>
            <a:off x="2816352" y="2404872"/>
            <a:ext cx="4791456" cy="320040"/>
          </a:xfrm>
          <a:prstGeom prst="rect">
            <a:avLst/>
          </a:prstGeom>
          <a:noFill/>
        </p:spPr>
        <p:txBody>
          <a:bodyPr wrap="square" lIns="0" rIns="0" tIns="0" bIns="0">
            <a:spAutoFit/>
          </a:bodyPr>
          <a:lstStyle/>
          <a:p>
            <a:pPr algn="l"/>
            <a:r>
              <a:rPr sz="1000" b="0">
                <a:solidFill>
                  <a:srgbClr val="111827"/>
                </a:solidFill>
                <a:latin typeface="Segoe UI"/>
              </a:rPr>
              <a:t>First 3 submissions declined or returned</a:t>
            </a:r>
          </a:p>
        </p:txBody>
      </p:sp>
      <p:sp>
        <p:nvSpPr>
          <p:cNvPr id="20" name="TextBox 19"/>
          <p:cNvSpPr txBox="1"/>
          <p:nvPr/>
        </p:nvSpPr>
        <p:spPr>
          <a:xfrm>
            <a:off x="7754112" y="2404872"/>
            <a:ext cx="3968496" cy="320040"/>
          </a:xfrm>
          <a:prstGeom prst="rect">
            <a:avLst/>
          </a:prstGeom>
          <a:noFill/>
        </p:spPr>
        <p:txBody>
          <a:bodyPr wrap="square" lIns="0" rIns="0" tIns="0" bIns="0">
            <a:spAutoFit/>
          </a:bodyPr>
          <a:lstStyle/>
          <a:p>
            <a:pPr algn="l"/>
            <a:r>
              <a:rPr sz="1000" b="0">
                <a:solidFill>
                  <a:srgbClr val="111827"/>
                </a:solidFill>
                <a:latin typeface="Segoe UI"/>
              </a:rPr>
              <a:t>Refresher on Drivers / Losses tabs</a:t>
            </a:r>
          </a:p>
        </p:txBody>
      </p:sp>
      <p:sp>
        <p:nvSpPr>
          <p:cNvPr id="21" name="TextBox 20"/>
          <p:cNvSpPr txBox="1"/>
          <p:nvPr/>
        </p:nvSpPr>
        <p:spPr>
          <a:xfrm>
            <a:off x="438912" y="2798064"/>
            <a:ext cx="2231136" cy="320040"/>
          </a:xfrm>
          <a:prstGeom prst="rect">
            <a:avLst/>
          </a:prstGeom>
          <a:noFill/>
        </p:spPr>
        <p:txBody>
          <a:bodyPr wrap="square" lIns="0" rIns="0" tIns="0" bIns="0">
            <a:spAutoFit/>
          </a:bodyPr>
          <a:lstStyle/>
          <a:p>
            <a:pPr algn="l"/>
            <a:r>
              <a:rPr sz="1000" b="1">
                <a:solidFill>
                  <a:srgbClr val="6D28D9"/>
                </a:solidFill>
                <a:latin typeface="Segoe UI"/>
              </a:rPr>
              <a:t>MVR mismatch</a:t>
            </a:r>
          </a:p>
        </p:txBody>
      </p:sp>
      <p:sp>
        <p:nvSpPr>
          <p:cNvPr id="22" name="TextBox 21"/>
          <p:cNvSpPr txBox="1"/>
          <p:nvPr/>
        </p:nvSpPr>
        <p:spPr>
          <a:xfrm>
            <a:off x="2816352" y="2798064"/>
            <a:ext cx="4791456" cy="320040"/>
          </a:xfrm>
          <a:prstGeom prst="rect">
            <a:avLst/>
          </a:prstGeom>
          <a:noFill/>
        </p:spPr>
        <p:txBody>
          <a:bodyPr wrap="square" lIns="0" rIns="0" tIns="0" bIns="0">
            <a:spAutoFit/>
          </a:bodyPr>
          <a:lstStyle/>
          <a:p>
            <a:pPr algn="l"/>
            <a:r>
              <a:rPr sz="1000" b="0">
                <a:solidFill>
                  <a:srgbClr val="111827"/>
                </a:solidFill>
                <a:latin typeface="Segoe UI"/>
              </a:rPr>
              <a:t>Driver MVR ≠ agent input on first quote</a:t>
            </a:r>
          </a:p>
        </p:txBody>
      </p:sp>
      <p:sp>
        <p:nvSpPr>
          <p:cNvPr id="23" name="TextBox 22"/>
          <p:cNvSpPr txBox="1"/>
          <p:nvPr/>
        </p:nvSpPr>
        <p:spPr>
          <a:xfrm>
            <a:off x="7754112" y="2798064"/>
            <a:ext cx="3968496" cy="320040"/>
          </a:xfrm>
          <a:prstGeom prst="rect">
            <a:avLst/>
          </a:prstGeom>
          <a:noFill/>
        </p:spPr>
        <p:txBody>
          <a:bodyPr wrap="square" lIns="0" rIns="0" tIns="0" bIns="0">
            <a:spAutoFit/>
          </a:bodyPr>
          <a:lstStyle/>
          <a:p>
            <a:pPr algn="l"/>
            <a:r>
              <a:rPr sz="1000" b="0">
                <a:solidFill>
                  <a:srgbClr val="111827"/>
                </a:solidFill>
                <a:latin typeface="Segoe UI"/>
              </a:rPr>
              <a:t>Re-walk §8.3 Drivers tab</a:t>
            </a:r>
          </a:p>
        </p:txBody>
      </p:sp>
      <p:sp>
        <p:nvSpPr>
          <p:cNvPr id="24" name="Rectangle 23"/>
          <p:cNvSpPr/>
          <p:nvPr/>
        </p:nvSpPr>
        <p:spPr>
          <a:xfrm>
            <a:off x="365760" y="3154680"/>
            <a:ext cx="11430000" cy="39319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3191256"/>
            <a:ext cx="2231136" cy="320040"/>
          </a:xfrm>
          <a:prstGeom prst="rect">
            <a:avLst/>
          </a:prstGeom>
          <a:noFill/>
        </p:spPr>
        <p:txBody>
          <a:bodyPr wrap="square" lIns="0" rIns="0" tIns="0" bIns="0">
            <a:spAutoFit/>
          </a:bodyPr>
          <a:lstStyle/>
          <a:p>
            <a:pPr algn="l"/>
            <a:r>
              <a:rPr sz="1000" b="1">
                <a:solidFill>
                  <a:srgbClr val="6D28D9"/>
                </a:solidFill>
                <a:latin typeface="Segoe UI"/>
              </a:rPr>
              <a:t>Ghosting</a:t>
            </a:r>
          </a:p>
        </p:txBody>
      </p:sp>
      <p:sp>
        <p:nvSpPr>
          <p:cNvPr id="26" name="TextBox 25"/>
          <p:cNvSpPr txBox="1"/>
          <p:nvPr/>
        </p:nvSpPr>
        <p:spPr>
          <a:xfrm>
            <a:off x="2816352" y="3191256"/>
            <a:ext cx="4791456" cy="320040"/>
          </a:xfrm>
          <a:prstGeom prst="rect">
            <a:avLst/>
          </a:prstGeom>
          <a:noFill/>
        </p:spPr>
        <p:txBody>
          <a:bodyPr wrap="square" lIns="0" rIns="0" tIns="0" bIns="0">
            <a:spAutoFit/>
          </a:bodyPr>
          <a:lstStyle/>
          <a:p>
            <a:pPr algn="l"/>
            <a:r>
              <a:rPr sz="1000" b="0">
                <a:solidFill>
                  <a:srgbClr val="111827"/>
                </a:solidFill>
                <a:latin typeface="Segoe UI"/>
              </a:rPr>
              <a:t>No reply for 7+ days after Session 1</a:t>
            </a:r>
          </a:p>
        </p:txBody>
      </p:sp>
      <p:sp>
        <p:nvSpPr>
          <p:cNvPr id="27" name="TextBox 26"/>
          <p:cNvSpPr txBox="1"/>
          <p:nvPr/>
        </p:nvSpPr>
        <p:spPr>
          <a:xfrm>
            <a:off x="7754112" y="3191256"/>
            <a:ext cx="3968496" cy="320040"/>
          </a:xfrm>
          <a:prstGeom prst="rect">
            <a:avLst/>
          </a:prstGeom>
          <a:noFill/>
        </p:spPr>
        <p:txBody>
          <a:bodyPr wrap="square" lIns="0" rIns="0" tIns="0" bIns="0">
            <a:spAutoFit/>
          </a:bodyPr>
          <a:lstStyle/>
          <a:p>
            <a:pPr algn="l"/>
            <a:r>
              <a:rPr sz="1000" b="0">
                <a:solidFill>
                  <a:srgbClr val="111827"/>
                </a:solidFill>
                <a:latin typeface="Segoe UI"/>
              </a:rPr>
              <a:t>Short check-in → BDA outreach at 14 days</a:t>
            </a:r>
          </a:p>
        </p:txBody>
      </p:sp>
      <p:sp>
        <p:nvSpPr>
          <p:cNvPr id="28" name="TextBox 27"/>
          <p:cNvSpPr txBox="1"/>
          <p:nvPr/>
        </p:nvSpPr>
        <p:spPr>
          <a:xfrm>
            <a:off x="438912" y="3584448"/>
            <a:ext cx="2231136" cy="320040"/>
          </a:xfrm>
          <a:prstGeom prst="rect">
            <a:avLst/>
          </a:prstGeom>
          <a:noFill/>
        </p:spPr>
        <p:txBody>
          <a:bodyPr wrap="square" lIns="0" rIns="0" tIns="0" bIns="0">
            <a:spAutoFit/>
          </a:bodyPr>
          <a:lstStyle/>
          <a:p>
            <a:pPr algn="l"/>
            <a:r>
              <a:rPr sz="1000" b="1">
                <a:solidFill>
                  <a:srgbClr val="6D28D9"/>
                </a:solidFill>
                <a:latin typeface="Segoe UI"/>
              </a:rPr>
              <a:t>Bind drought</a:t>
            </a:r>
          </a:p>
        </p:txBody>
      </p:sp>
      <p:sp>
        <p:nvSpPr>
          <p:cNvPr id="29" name="TextBox 28"/>
          <p:cNvSpPr txBox="1"/>
          <p:nvPr/>
        </p:nvSpPr>
        <p:spPr>
          <a:xfrm>
            <a:off x="2816352" y="3584448"/>
            <a:ext cx="4791456" cy="320040"/>
          </a:xfrm>
          <a:prstGeom prst="rect">
            <a:avLst/>
          </a:prstGeom>
          <a:noFill/>
        </p:spPr>
        <p:txBody>
          <a:bodyPr wrap="square" lIns="0" rIns="0" tIns="0" bIns="0">
            <a:spAutoFit/>
          </a:bodyPr>
          <a:lstStyle/>
          <a:p>
            <a:pPr algn="l"/>
            <a:r>
              <a:rPr sz="1000" b="0">
                <a:solidFill>
                  <a:srgbClr val="111827"/>
                </a:solidFill>
                <a:latin typeface="Segoe UI"/>
              </a:rPr>
              <a:t>30 days post-Session 1, no bound submissions</a:t>
            </a:r>
          </a:p>
        </p:txBody>
      </p:sp>
      <p:sp>
        <p:nvSpPr>
          <p:cNvPr id="30" name="TextBox 29"/>
          <p:cNvSpPr txBox="1"/>
          <p:nvPr/>
        </p:nvSpPr>
        <p:spPr>
          <a:xfrm>
            <a:off x="7754112" y="3584448"/>
            <a:ext cx="3968496" cy="320040"/>
          </a:xfrm>
          <a:prstGeom prst="rect">
            <a:avLst/>
          </a:prstGeom>
          <a:noFill/>
        </p:spPr>
        <p:txBody>
          <a:bodyPr wrap="square" lIns="0" rIns="0" tIns="0" bIns="0">
            <a:spAutoFit/>
          </a:bodyPr>
          <a:lstStyle/>
          <a:p>
            <a:pPr algn="l"/>
            <a:r>
              <a:rPr sz="1000" b="0">
                <a:solidFill>
                  <a:srgbClr val="111827"/>
                </a:solidFill>
                <a:latin typeface="Segoe UI"/>
              </a:rPr>
              <a:t>BDA — pipeline review call</a:t>
            </a:r>
          </a:p>
        </p:txBody>
      </p:sp>
      <p:sp>
        <p:nvSpPr>
          <p:cNvPr id="31" name="Rectangle 30"/>
          <p:cNvSpPr/>
          <p:nvPr/>
        </p:nvSpPr>
        <p:spPr>
          <a:xfrm>
            <a:off x="365760" y="3941064"/>
            <a:ext cx="11430000" cy="39319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3977640"/>
            <a:ext cx="2231136" cy="320040"/>
          </a:xfrm>
          <a:prstGeom prst="rect">
            <a:avLst/>
          </a:prstGeom>
          <a:noFill/>
        </p:spPr>
        <p:txBody>
          <a:bodyPr wrap="square" lIns="0" rIns="0" tIns="0" bIns="0">
            <a:spAutoFit/>
          </a:bodyPr>
          <a:lstStyle/>
          <a:p>
            <a:pPr algn="l"/>
            <a:r>
              <a:rPr sz="1000" b="1">
                <a:solidFill>
                  <a:srgbClr val="6D28D9"/>
                </a:solidFill>
                <a:latin typeface="Segoe UI"/>
              </a:rPr>
              <a:t>Endorsement-heavy quoting</a:t>
            </a:r>
          </a:p>
        </p:txBody>
      </p:sp>
      <p:sp>
        <p:nvSpPr>
          <p:cNvPr id="33" name="TextBox 32"/>
          <p:cNvSpPr txBox="1"/>
          <p:nvPr/>
        </p:nvSpPr>
        <p:spPr>
          <a:xfrm>
            <a:off x="2816352" y="3977640"/>
            <a:ext cx="4791456" cy="320040"/>
          </a:xfrm>
          <a:prstGeom prst="rect">
            <a:avLst/>
          </a:prstGeom>
          <a:noFill/>
        </p:spPr>
        <p:txBody>
          <a:bodyPr wrap="square" lIns="0" rIns="0" tIns="0" bIns="0">
            <a:spAutoFit/>
          </a:bodyPr>
          <a:lstStyle/>
          <a:p>
            <a:pPr algn="l"/>
            <a:r>
              <a:rPr sz="1000" b="0">
                <a:solidFill>
                  <a:srgbClr val="111827"/>
                </a:solidFill>
                <a:latin typeface="Segoe UI"/>
              </a:rPr>
              <a:t>Submissions concentrated on endorsements vs. new business</a:t>
            </a:r>
          </a:p>
        </p:txBody>
      </p:sp>
      <p:sp>
        <p:nvSpPr>
          <p:cNvPr id="34" name="TextBox 33"/>
          <p:cNvSpPr txBox="1"/>
          <p:nvPr/>
        </p:nvSpPr>
        <p:spPr>
          <a:xfrm>
            <a:off x="7754112" y="3977640"/>
            <a:ext cx="3968496" cy="320040"/>
          </a:xfrm>
          <a:prstGeom prst="rect">
            <a:avLst/>
          </a:prstGeom>
          <a:noFill/>
        </p:spPr>
        <p:txBody>
          <a:bodyPr wrap="square" lIns="0" rIns="0" tIns="0" bIns="0">
            <a:spAutoFit/>
          </a:bodyPr>
          <a:lstStyle/>
          <a:p>
            <a:pPr algn="l"/>
            <a:r>
              <a:rPr sz="1000" b="0">
                <a:solidFill>
                  <a:srgbClr val="111827"/>
                </a:solidFill>
                <a:latin typeface="Segoe UI"/>
              </a:rPr>
              <a:t>BDA — coach toward new business</a:t>
            </a:r>
          </a:p>
        </p:txBody>
      </p:sp>
      <p:sp>
        <p:nvSpPr>
          <p:cNvPr id="35" name="TextBox 34"/>
          <p:cNvSpPr txBox="1"/>
          <p:nvPr/>
        </p:nvSpPr>
        <p:spPr>
          <a:xfrm>
            <a:off x="438912" y="4370832"/>
            <a:ext cx="2231136" cy="320040"/>
          </a:xfrm>
          <a:prstGeom prst="rect">
            <a:avLst/>
          </a:prstGeom>
          <a:noFill/>
        </p:spPr>
        <p:txBody>
          <a:bodyPr wrap="square" lIns="0" rIns="0" tIns="0" bIns="0">
            <a:spAutoFit/>
          </a:bodyPr>
          <a:lstStyle/>
          <a:p>
            <a:pPr algn="l"/>
            <a:r>
              <a:rPr sz="1000" b="1">
                <a:solidFill>
                  <a:srgbClr val="6D28D9"/>
                </a:solidFill>
                <a:latin typeface="Segoe UI"/>
              </a:rPr>
              <a:t>Probation trigger</a:t>
            </a:r>
          </a:p>
        </p:txBody>
      </p:sp>
      <p:sp>
        <p:nvSpPr>
          <p:cNvPr id="36" name="TextBox 35"/>
          <p:cNvSpPr txBox="1"/>
          <p:nvPr/>
        </p:nvSpPr>
        <p:spPr>
          <a:xfrm>
            <a:off x="2816352" y="4370832"/>
            <a:ext cx="4791456" cy="320040"/>
          </a:xfrm>
          <a:prstGeom prst="rect">
            <a:avLst/>
          </a:prstGeom>
          <a:noFill/>
        </p:spPr>
        <p:txBody>
          <a:bodyPr wrap="square" lIns="0" rIns="0" tIns="0" bIns="0">
            <a:spAutoFit/>
          </a:bodyPr>
          <a:lstStyle/>
          <a:p>
            <a:pPr algn="l"/>
            <a:r>
              <a:rPr sz="1000" b="0">
                <a:solidFill>
                  <a:srgbClr val="111827"/>
                </a:solidFill>
                <a:latin typeface="Segoe UI"/>
              </a:rPr>
              <a:t>Quarterly NB GWP &lt; $125K</a:t>
            </a:r>
          </a:p>
        </p:txBody>
      </p:sp>
      <p:sp>
        <p:nvSpPr>
          <p:cNvPr id="37" name="TextBox 36"/>
          <p:cNvSpPr txBox="1"/>
          <p:nvPr/>
        </p:nvSpPr>
        <p:spPr>
          <a:xfrm>
            <a:off x="7754112" y="4370832"/>
            <a:ext cx="3968496" cy="320040"/>
          </a:xfrm>
          <a:prstGeom prst="rect">
            <a:avLst/>
          </a:prstGeom>
          <a:noFill/>
        </p:spPr>
        <p:txBody>
          <a:bodyPr wrap="square" lIns="0" rIns="0" tIns="0" bIns="0">
            <a:spAutoFit/>
          </a:bodyPr>
          <a:lstStyle/>
          <a:p>
            <a:pPr algn="l"/>
            <a:r>
              <a:rPr sz="1000" b="0">
                <a:solidFill>
                  <a:srgbClr val="111827"/>
                </a:solidFill>
                <a:latin typeface="Segoe UI"/>
              </a:rPr>
              <a:t>BDA — execute Probation Playbook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15 · Onboarding Program Metrics</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We measure agencies; we should also measure the program</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11430000" cy="43891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225296"/>
            <a:ext cx="4700016" cy="365759"/>
          </a:xfrm>
          <a:prstGeom prst="rect">
            <a:avLst/>
          </a:prstGeom>
          <a:noFill/>
        </p:spPr>
        <p:txBody>
          <a:bodyPr wrap="square" lIns="0" rIns="0" tIns="0" bIns="0">
            <a:spAutoFit/>
          </a:bodyPr>
          <a:lstStyle/>
          <a:p>
            <a:pPr algn="l"/>
            <a:r>
              <a:rPr sz="1100" b="1">
                <a:solidFill>
                  <a:srgbClr val="FFFFFF"/>
                </a:solidFill>
                <a:latin typeface="Segoe UI"/>
              </a:rPr>
              <a:t>Metric</a:t>
            </a:r>
          </a:p>
        </p:txBody>
      </p:sp>
      <p:sp>
        <p:nvSpPr>
          <p:cNvPr id="8" name="TextBox 7"/>
          <p:cNvSpPr txBox="1"/>
          <p:nvPr/>
        </p:nvSpPr>
        <p:spPr>
          <a:xfrm>
            <a:off x="5285232" y="1225296"/>
            <a:ext cx="3694176" cy="365759"/>
          </a:xfrm>
          <a:prstGeom prst="rect">
            <a:avLst/>
          </a:prstGeom>
          <a:noFill/>
        </p:spPr>
        <p:txBody>
          <a:bodyPr wrap="square" lIns="0" rIns="0" tIns="0" bIns="0">
            <a:spAutoFit/>
          </a:bodyPr>
          <a:lstStyle/>
          <a:p>
            <a:pPr algn="l"/>
            <a:r>
              <a:rPr sz="1100" b="1">
                <a:solidFill>
                  <a:srgbClr val="FFFFFF"/>
                </a:solidFill>
                <a:latin typeface="Segoe UI"/>
              </a:rPr>
              <a:t>Target</a:t>
            </a:r>
          </a:p>
        </p:txBody>
      </p:sp>
      <p:sp>
        <p:nvSpPr>
          <p:cNvPr id="9" name="TextBox 8"/>
          <p:cNvSpPr txBox="1"/>
          <p:nvPr/>
        </p:nvSpPr>
        <p:spPr>
          <a:xfrm>
            <a:off x="9125712" y="1225296"/>
            <a:ext cx="2596896" cy="365759"/>
          </a:xfrm>
          <a:prstGeom prst="rect">
            <a:avLst/>
          </a:prstGeom>
          <a:noFill/>
        </p:spPr>
        <p:txBody>
          <a:bodyPr wrap="square" lIns="0" rIns="0" tIns="0" bIns="0">
            <a:spAutoFit/>
          </a:bodyPr>
          <a:lstStyle/>
          <a:p>
            <a:pPr algn="l"/>
            <a:r>
              <a:rPr sz="1100" b="1">
                <a:solidFill>
                  <a:srgbClr val="FFFFFF"/>
                </a:solidFill>
                <a:latin typeface="Segoe UI"/>
              </a:rPr>
              <a:t>Cadence</a:t>
            </a:r>
          </a:p>
        </p:txBody>
      </p:sp>
      <p:sp>
        <p:nvSpPr>
          <p:cNvPr id="10" name="Rectangle 9"/>
          <p:cNvSpPr/>
          <p:nvPr/>
        </p:nvSpPr>
        <p:spPr>
          <a:xfrm>
            <a:off x="365760" y="1627632"/>
            <a:ext cx="11430000" cy="43891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664208"/>
            <a:ext cx="4700016" cy="365759"/>
          </a:xfrm>
          <a:prstGeom prst="rect">
            <a:avLst/>
          </a:prstGeom>
          <a:noFill/>
        </p:spPr>
        <p:txBody>
          <a:bodyPr wrap="square" lIns="0" rIns="0" tIns="0" bIns="0">
            <a:spAutoFit/>
          </a:bodyPr>
          <a:lstStyle/>
          <a:p>
            <a:pPr algn="l"/>
            <a:r>
              <a:rPr sz="1100" b="1">
                <a:solidFill>
                  <a:srgbClr val="6D28D9"/>
                </a:solidFill>
                <a:latin typeface="Segoe UI"/>
              </a:rPr>
              <a:t>Time-to-Session-1</a:t>
            </a:r>
          </a:p>
        </p:txBody>
      </p:sp>
      <p:sp>
        <p:nvSpPr>
          <p:cNvPr id="12" name="TextBox 11"/>
          <p:cNvSpPr txBox="1"/>
          <p:nvPr/>
        </p:nvSpPr>
        <p:spPr>
          <a:xfrm>
            <a:off x="5285232" y="1664208"/>
            <a:ext cx="3694176" cy="365759"/>
          </a:xfrm>
          <a:prstGeom prst="rect">
            <a:avLst/>
          </a:prstGeom>
          <a:noFill/>
        </p:spPr>
        <p:txBody>
          <a:bodyPr wrap="square" lIns="0" rIns="0" tIns="0" bIns="0">
            <a:spAutoFit/>
          </a:bodyPr>
          <a:lstStyle/>
          <a:p>
            <a:pPr algn="l"/>
            <a:r>
              <a:rPr sz="1100" b="0">
                <a:solidFill>
                  <a:srgbClr val="111827"/>
                </a:solidFill>
                <a:latin typeface="Segoe UI"/>
              </a:rPr>
              <a:t>≤ 10 business days from appointment</a:t>
            </a:r>
          </a:p>
        </p:txBody>
      </p:sp>
      <p:sp>
        <p:nvSpPr>
          <p:cNvPr id="13" name="TextBox 12"/>
          <p:cNvSpPr txBox="1"/>
          <p:nvPr/>
        </p:nvSpPr>
        <p:spPr>
          <a:xfrm>
            <a:off x="9125712" y="1664208"/>
            <a:ext cx="2596896" cy="365759"/>
          </a:xfrm>
          <a:prstGeom prst="rect">
            <a:avLst/>
          </a:prstGeom>
          <a:noFill/>
        </p:spPr>
        <p:txBody>
          <a:bodyPr wrap="square" lIns="0" rIns="0" tIns="0" bIns="0">
            <a:spAutoFit/>
          </a:bodyPr>
          <a:lstStyle/>
          <a:p>
            <a:pPr algn="l"/>
            <a:r>
              <a:rPr sz="1100" b="0">
                <a:solidFill>
                  <a:srgbClr val="111827"/>
                </a:solidFill>
                <a:latin typeface="Segoe UI"/>
              </a:rPr>
              <a:t>Monthly</a:t>
            </a:r>
          </a:p>
        </p:txBody>
      </p:sp>
      <p:sp>
        <p:nvSpPr>
          <p:cNvPr id="14" name="TextBox 13"/>
          <p:cNvSpPr txBox="1"/>
          <p:nvPr/>
        </p:nvSpPr>
        <p:spPr>
          <a:xfrm>
            <a:off x="438912" y="2103120"/>
            <a:ext cx="4700016" cy="365759"/>
          </a:xfrm>
          <a:prstGeom prst="rect">
            <a:avLst/>
          </a:prstGeom>
          <a:noFill/>
        </p:spPr>
        <p:txBody>
          <a:bodyPr wrap="square" lIns="0" rIns="0" tIns="0" bIns="0">
            <a:spAutoFit/>
          </a:bodyPr>
          <a:lstStyle/>
          <a:p>
            <a:pPr algn="l"/>
            <a:r>
              <a:rPr sz="1100" b="1">
                <a:solidFill>
                  <a:srgbClr val="6D28D9"/>
                </a:solidFill>
                <a:latin typeface="Segoe UI"/>
              </a:rPr>
              <a:t>Time-to-first-bind</a:t>
            </a:r>
          </a:p>
        </p:txBody>
      </p:sp>
      <p:sp>
        <p:nvSpPr>
          <p:cNvPr id="15" name="TextBox 14"/>
          <p:cNvSpPr txBox="1"/>
          <p:nvPr/>
        </p:nvSpPr>
        <p:spPr>
          <a:xfrm>
            <a:off x="5285232" y="2103120"/>
            <a:ext cx="3694176" cy="365759"/>
          </a:xfrm>
          <a:prstGeom prst="rect">
            <a:avLst/>
          </a:prstGeom>
          <a:noFill/>
        </p:spPr>
        <p:txBody>
          <a:bodyPr wrap="square" lIns="0" rIns="0" tIns="0" bIns="0">
            <a:spAutoFit/>
          </a:bodyPr>
          <a:lstStyle/>
          <a:p>
            <a:pPr algn="l"/>
            <a:r>
              <a:rPr sz="1100" b="0">
                <a:solidFill>
                  <a:srgbClr val="111827"/>
                </a:solidFill>
                <a:latin typeface="Segoe UI"/>
              </a:rPr>
              <a:t>≤ 30 days from appointment</a:t>
            </a:r>
          </a:p>
        </p:txBody>
      </p:sp>
      <p:sp>
        <p:nvSpPr>
          <p:cNvPr id="16" name="TextBox 15"/>
          <p:cNvSpPr txBox="1"/>
          <p:nvPr/>
        </p:nvSpPr>
        <p:spPr>
          <a:xfrm>
            <a:off x="9125712" y="2103120"/>
            <a:ext cx="2596896" cy="365759"/>
          </a:xfrm>
          <a:prstGeom prst="rect">
            <a:avLst/>
          </a:prstGeom>
          <a:noFill/>
        </p:spPr>
        <p:txBody>
          <a:bodyPr wrap="square" lIns="0" rIns="0" tIns="0" bIns="0">
            <a:spAutoFit/>
          </a:bodyPr>
          <a:lstStyle/>
          <a:p>
            <a:pPr algn="l"/>
            <a:r>
              <a:rPr sz="1100" b="0">
                <a:solidFill>
                  <a:srgbClr val="111827"/>
                </a:solidFill>
                <a:latin typeface="Segoe UI"/>
              </a:rPr>
              <a:t>Monthly</a:t>
            </a:r>
          </a:p>
        </p:txBody>
      </p:sp>
      <p:sp>
        <p:nvSpPr>
          <p:cNvPr id="17" name="Rectangle 16"/>
          <p:cNvSpPr/>
          <p:nvPr/>
        </p:nvSpPr>
        <p:spPr>
          <a:xfrm>
            <a:off x="365760" y="2505456"/>
            <a:ext cx="11430000" cy="43891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542032"/>
            <a:ext cx="4700016" cy="365759"/>
          </a:xfrm>
          <a:prstGeom prst="rect">
            <a:avLst/>
          </a:prstGeom>
          <a:noFill/>
        </p:spPr>
        <p:txBody>
          <a:bodyPr wrap="square" lIns="0" rIns="0" tIns="0" bIns="0">
            <a:spAutoFit/>
          </a:bodyPr>
          <a:lstStyle/>
          <a:p>
            <a:pPr algn="l"/>
            <a:r>
              <a:rPr sz="1100" b="1">
                <a:solidFill>
                  <a:srgbClr val="6D28D9"/>
                </a:solidFill>
                <a:latin typeface="Segoe UI"/>
              </a:rPr>
              <a:t>% graduated to Growth on Day 90</a:t>
            </a:r>
          </a:p>
        </p:txBody>
      </p:sp>
      <p:sp>
        <p:nvSpPr>
          <p:cNvPr id="19" name="TextBox 18"/>
          <p:cNvSpPr txBox="1"/>
          <p:nvPr/>
        </p:nvSpPr>
        <p:spPr>
          <a:xfrm>
            <a:off x="5285232" y="2542032"/>
            <a:ext cx="3694176" cy="365759"/>
          </a:xfrm>
          <a:prstGeom prst="rect">
            <a:avLst/>
          </a:prstGeom>
          <a:noFill/>
        </p:spPr>
        <p:txBody>
          <a:bodyPr wrap="square" lIns="0" rIns="0" tIns="0" bIns="0">
            <a:spAutoFit/>
          </a:bodyPr>
          <a:lstStyle/>
          <a:p>
            <a:pPr algn="l"/>
            <a:r>
              <a:rPr sz="1100" b="0">
                <a:solidFill>
                  <a:srgbClr val="111827"/>
                </a:solidFill>
                <a:latin typeface="Segoe UI"/>
              </a:rPr>
              <a:t>≥ 85%</a:t>
            </a:r>
          </a:p>
        </p:txBody>
      </p:sp>
      <p:sp>
        <p:nvSpPr>
          <p:cNvPr id="20" name="TextBox 19"/>
          <p:cNvSpPr txBox="1"/>
          <p:nvPr/>
        </p:nvSpPr>
        <p:spPr>
          <a:xfrm>
            <a:off x="9125712" y="2542032"/>
            <a:ext cx="2596896" cy="365759"/>
          </a:xfrm>
          <a:prstGeom prst="rect">
            <a:avLst/>
          </a:prstGeom>
          <a:noFill/>
        </p:spPr>
        <p:txBody>
          <a:bodyPr wrap="square" lIns="0" rIns="0" tIns="0" bIns="0">
            <a:spAutoFit/>
          </a:bodyPr>
          <a:lstStyle/>
          <a:p>
            <a:pPr algn="l"/>
            <a:r>
              <a:rPr sz="1100" b="0">
                <a:solidFill>
                  <a:srgbClr val="111827"/>
                </a:solidFill>
                <a:latin typeface="Segoe UI"/>
              </a:rPr>
              <a:t>Quarterly</a:t>
            </a:r>
          </a:p>
        </p:txBody>
      </p:sp>
      <p:sp>
        <p:nvSpPr>
          <p:cNvPr id="21" name="TextBox 20"/>
          <p:cNvSpPr txBox="1"/>
          <p:nvPr/>
        </p:nvSpPr>
        <p:spPr>
          <a:xfrm>
            <a:off x="438912" y="2980944"/>
            <a:ext cx="4700016" cy="365759"/>
          </a:xfrm>
          <a:prstGeom prst="rect">
            <a:avLst/>
          </a:prstGeom>
          <a:noFill/>
        </p:spPr>
        <p:txBody>
          <a:bodyPr wrap="square" lIns="0" rIns="0" tIns="0" bIns="0">
            <a:spAutoFit/>
          </a:bodyPr>
          <a:lstStyle/>
          <a:p>
            <a:pPr algn="l"/>
            <a:r>
              <a:rPr sz="1100" b="1">
                <a:solidFill>
                  <a:srgbClr val="6D28D9"/>
                </a:solidFill>
                <a:latin typeface="Segoe UI"/>
              </a:rPr>
              <a:t>% hitting $125K Q1 NB target</a:t>
            </a:r>
          </a:p>
        </p:txBody>
      </p:sp>
      <p:sp>
        <p:nvSpPr>
          <p:cNvPr id="22" name="TextBox 21"/>
          <p:cNvSpPr txBox="1"/>
          <p:nvPr/>
        </p:nvSpPr>
        <p:spPr>
          <a:xfrm>
            <a:off x="5285232" y="2980944"/>
            <a:ext cx="3694176" cy="365759"/>
          </a:xfrm>
          <a:prstGeom prst="rect">
            <a:avLst/>
          </a:prstGeom>
          <a:noFill/>
        </p:spPr>
        <p:txBody>
          <a:bodyPr wrap="square" lIns="0" rIns="0" tIns="0" bIns="0">
            <a:spAutoFit/>
          </a:bodyPr>
          <a:lstStyle/>
          <a:p>
            <a:pPr algn="l"/>
            <a:r>
              <a:rPr sz="1100" b="0">
                <a:solidFill>
                  <a:srgbClr val="111827"/>
                </a:solidFill>
                <a:latin typeface="Segoe UI"/>
              </a:rPr>
              <a:t>≥ 70%</a:t>
            </a:r>
          </a:p>
        </p:txBody>
      </p:sp>
      <p:sp>
        <p:nvSpPr>
          <p:cNvPr id="23" name="TextBox 22"/>
          <p:cNvSpPr txBox="1"/>
          <p:nvPr/>
        </p:nvSpPr>
        <p:spPr>
          <a:xfrm>
            <a:off x="9125712" y="2980944"/>
            <a:ext cx="2596896" cy="365759"/>
          </a:xfrm>
          <a:prstGeom prst="rect">
            <a:avLst/>
          </a:prstGeom>
          <a:noFill/>
        </p:spPr>
        <p:txBody>
          <a:bodyPr wrap="square" lIns="0" rIns="0" tIns="0" bIns="0">
            <a:spAutoFit/>
          </a:bodyPr>
          <a:lstStyle/>
          <a:p>
            <a:pPr algn="l"/>
            <a:r>
              <a:rPr sz="1100" b="0">
                <a:solidFill>
                  <a:srgbClr val="111827"/>
                </a:solidFill>
                <a:latin typeface="Segoe UI"/>
              </a:rPr>
              <a:t>Quarterly</a:t>
            </a:r>
          </a:p>
        </p:txBody>
      </p:sp>
      <p:sp>
        <p:nvSpPr>
          <p:cNvPr id="24" name="Rectangle 23"/>
          <p:cNvSpPr/>
          <p:nvPr/>
        </p:nvSpPr>
        <p:spPr>
          <a:xfrm>
            <a:off x="365760" y="3383279"/>
            <a:ext cx="11430000" cy="43891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3419856"/>
            <a:ext cx="4700016" cy="365759"/>
          </a:xfrm>
          <a:prstGeom prst="rect">
            <a:avLst/>
          </a:prstGeom>
          <a:noFill/>
        </p:spPr>
        <p:txBody>
          <a:bodyPr wrap="square" lIns="0" rIns="0" tIns="0" bIns="0">
            <a:spAutoFit/>
          </a:bodyPr>
          <a:lstStyle/>
          <a:p>
            <a:pPr algn="l"/>
            <a:r>
              <a:rPr sz="1100" b="1">
                <a:solidFill>
                  <a:srgbClr val="6D28D9"/>
                </a:solidFill>
                <a:latin typeface="Segoe UI"/>
              </a:rPr>
              <a:t>Agent feedback at 30 days</a:t>
            </a:r>
          </a:p>
        </p:txBody>
      </p:sp>
      <p:sp>
        <p:nvSpPr>
          <p:cNvPr id="26" name="TextBox 25"/>
          <p:cNvSpPr txBox="1"/>
          <p:nvPr/>
        </p:nvSpPr>
        <p:spPr>
          <a:xfrm>
            <a:off x="5285232" y="3419856"/>
            <a:ext cx="3694176" cy="365759"/>
          </a:xfrm>
          <a:prstGeom prst="rect">
            <a:avLst/>
          </a:prstGeom>
          <a:noFill/>
        </p:spPr>
        <p:txBody>
          <a:bodyPr wrap="square" lIns="0" rIns="0" tIns="0" bIns="0">
            <a:spAutoFit/>
          </a:bodyPr>
          <a:lstStyle/>
          <a:p>
            <a:pPr algn="l"/>
            <a:r>
              <a:rPr sz="1100" b="0">
                <a:solidFill>
                  <a:srgbClr val="111827"/>
                </a:solidFill>
                <a:latin typeface="Segoe UI"/>
              </a:rPr>
              <a:t>≥ 50 NPS / ≥ 4.5 CSAT</a:t>
            </a:r>
          </a:p>
        </p:txBody>
      </p:sp>
      <p:sp>
        <p:nvSpPr>
          <p:cNvPr id="27" name="TextBox 26"/>
          <p:cNvSpPr txBox="1"/>
          <p:nvPr/>
        </p:nvSpPr>
        <p:spPr>
          <a:xfrm>
            <a:off x="9125712" y="3419856"/>
            <a:ext cx="2596896" cy="365759"/>
          </a:xfrm>
          <a:prstGeom prst="rect">
            <a:avLst/>
          </a:prstGeom>
          <a:noFill/>
        </p:spPr>
        <p:txBody>
          <a:bodyPr wrap="square" lIns="0" rIns="0" tIns="0" bIns="0">
            <a:spAutoFit/>
          </a:bodyPr>
          <a:lstStyle/>
          <a:p>
            <a:pPr algn="l"/>
            <a:r>
              <a:rPr sz="1100" b="0">
                <a:solidFill>
                  <a:srgbClr val="111827"/>
                </a:solidFill>
                <a:latin typeface="Segoe UI"/>
              </a:rPr>
              <a:t>Quarterly</a:t>
            </a:r>
          </a:p>
        </p:txBody>
      </p:sp>
      <p:sp>
        <p:nvSpPr>
          <p:cNvPr id="28" name="TextBox 27"/>
          <p:cNvSpPr txBox="1"/>
          <p:nvPr/>
        </p:nvSpPr>
        <p:spPr>
          <a:xfrm>
            <a:off x="438912" y="3858768"/>
            <a:ext cx="4700016" cy="365759"/>
          </a:xfrm>
          <a:prstGeom prst="rect">
            <a:avLst/>
          </a:prstGeom>
          <a:noFill/>
        </p:spPr>
        <p:txBody>
          <a:bodyPr wrap="square" lIns="0" rIns="0" tIns="0" bIns="0">
            <a:spAutoFit/>
          </a:bodyPr>
          <a:lstStyle/>
          <a:p>
            <a:pPr algn="l"/>
            <a:r>
              <a:rPr sz="1100" b="1">
                <a:solidFill>
                  <a:srgbClr val="6D28D9"/>
                </a:solidFill>
                <a:latin typeface="Segoe UI"/>
              </a:rPr>
              <a:t>Onboarding queue age (&gt;5 days)</a:t>
            </a:r>
          </a:p>
        </p:txBody>
      </p:sp>
      <p:sp>
        <p:nvSpPr>
          <p:cNvPr id="29" name="TextBox 28"/>
          <p:cNvSpPr txBox="1"/>
          <p:nvPr/>
        </p:nvSpPr>
        <p:spPr>
          <a:xfrm>
            <a:off x="5285232" y="3858768"/>
            <a:ext cx="3694176" cy="365759"/>
          </a:xfrm>
          <a:prstGeom prst="rect">
            <a:avLst/>
          </a:prstGeom>
          <a:noFill/>
        </p:spPr>
        <p:txBody>
          <a:bodyPr wrap="square" lIns="0" rIns="0" tIns="0" bIns="0">
            <a:spAutoFit/>
          </a:bodyPr>
          <a:lstStyle/>
          <a:p>
            <a:pPr algn="l"/>
            <a:r>
              <a:rPr sz="1100" b="0">
                <a:solidFill>
                  <a:srgbClr val="111827"/>
                </a:solidFill>
                <a:latin typeface="Segoe UI"/>
              </a:rPr>
              <a:t>= 0 agencies</a:t>
            </a:r>
          </a:p>
        </p:txBody>
      </p:sp>
      <p:sp>
        <p:nvSpPr>
          <p:cNvPr id="30" name="TextBox 29"/>
          <p:cNvSpPr txBox="1"/>
          <p:nvPr/>
        </p:nvSpPr>
        <p:spPr>
          <a:xfrm>
            <a:off x="9125712" y="3858768"/>
            <a:ext cx="2596896" cy="365759"/>
          </a:xfrm>
          <a:prstGeom prst="rect">
            <a:avLst/>
          </a:prstGeom>
          <a:noFill/>
        </p:spPr>
        <p:txBody>
          <a:bodyPr wrap="square" lIns="0" rIns="0" tIns="0" bIns="0">
            <a:spAutoFit/>
          </a:bodyPr>
          <a:lstStyle/>
          <a:p>
            <a:pPr algn="l"/>
            <a:r>
              <a:rPr sz="1100" b="0">
                <a:solidFill>
                  <a:srgbClr val="111827"/>
                </a:solidFill>
                <a:latin typeface="Segoe UI"/>
              </a:rPr>
              <a:t>Weekly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16 · Email Library</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Templates beyond the welcome, production expectations, and BDA handoff emails</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11430000" cy="6858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109728" cy="6858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3931920" cy="274320"/>
          </a:xfrm>
          <a:prstGeom prst="rect">
            <a:avLst/>
          </a:prstGeom>
          <a:noFill/>
        </p:spPr>
        <p:txBody>
          <a:bodyPr wrap="square" lIns="0" rIns="0" tIns="0" bIns="0">
            <a:spAutoFit/>
          </a:bodyPr>
          <a:lstStyle/>
          <a:p>
            <a:pPr algn="l"/>
            <a:r>
              <a:rPr sz="1200" b="1">
                <a:solidFill>
                  <a:srgbClr val="1E073B"/>
                </a:solidFill>
                <a:latin typeface="Segoe UI"/>
              </a:rPr>
              <a:t>15.1  Week-2 nudge</a:t>
            </a:r>
          </a:p>
        </p:txBody>
      </p:sp>
      <p:sp>
        <p:nvSpPr>
          <p:cNvPr id="9" name="TextBox 8"/>
          <p:cNvSpPr txBox="1"/>
          <p:nvPr/>
        </p:nvSpPr>
        <p:spPr>
          <a:xfrm>
            <a:off x="4754880" y="1280160"/>
            <a:ext cx="6858000" cy="457200"/>
          </a:xfrm>
          <a:prstGeom prst="rect">
            <a:avLst/>
          </a:prstGeom>
          <a:noFill/>
        </p:spPr>
        <p:txBody>
          <a:bodyPr wrap="square" lIns="0" rIns="0" tIns="0" bIns="0">
            <a:spAutoFit/>
          </a:bodyPr>
          <a:lstStyle/>
          <a:p>
            <a:pPr algn="l"/>
            <a:r>
              <a:rPr sz="1100" b="0">
                <a:solidFill>
                  <a:srgbClr val="111827"/>
                </a:solidFill>
                <a:latin typeface="Segoe UI"/>
              </a:rPr>
              <a:t>No submissions yet — offer joint quote build</a:t>
            </a:r>
          </a:p>
        </p:txBody>
      </p:sp>
      <p:sp>
        <p:nvSpPr>
          <p:cNvPr id="10" name="Rectangle 9"/>
          <p:cNvSpPr/>
          <p:nvPr/>
        </p:nvSpPr>
        <p:spPr>
          <a:xfrm>
            <a:off x="365760" y="1993392"/>
            <a:ext cx="11430000" cy="6858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993392"/>
            <a:ext cx="109728" cy="6858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84832"/>
            <a:ext cx="3931920" cy="274320"/>
          </a:xfrm>
          <a:prstGeom prst="rect">
            <a:avLst/>
          </a:prstGeom>
          <a:noFill/>
        </p:spPr>
        <p:txBody>
          <a:bodyPr wrap="square" lIns="0" rIns="0" tIns="0" bIns="0">
            <a:spAutoFit/>
          </a:bodyPr>
          <a:lstStyle/>
          <a:p>
            <a:pPr algn="l"/>
            <a:r>
              <a:rPr sz="1200" b="1">
                <a:solidFill>
                  <a:srgbClr val="1E073B"/>
                </a:solidFill>
                <a:latin typeface="Segoe UI"/>
              </a:rPr>
              <a:t>15.2  Profile reminder</a:t>
            </a:r>
          </a:p>
        </p:txBody>
      </p:sp>
      <p:sp>
        <p:nvSpPr>
          <p:cNvPr id="13" name="TextBox 12"/>
          <p:cNvSpPr txBox="1"/>
          <p:nvPr/>
        </p:nvSpPr>
        <p:spPr>
          <a:xfrm>
            <a:off x="4754880" y="2084832"/>
            <a:ext cx="6858000" cy="457200"/>
          </a:xfrm>
          <a:prstGeom prst="rect">
            <a:avLst/>
          </a:prstGeom>
          <a:noFill/>
        </p:spPr>
        <p:txBody>
          <a:bodyPr wrap="square" lIns="0" rIns="0" tIns="0" bIns="0">
            <a:spAutoFit/>
          </a:bodyPr>
          <a:lstStyle/>
          <a:p>
            <a:pPr algn="l"/>
            <a:r>
              <a:rPr sz="1100" b="0">
                <a:solidFill>
                  <a:srgbClr val="111827"/>
                </a:solidFill>
                <a:latin typeface="Segoe UI"/>
              </a:rPr>
              <a:t>Missing fields before Session 1</a:t>
            </a:r>
          </a:p>
        </p:txBody>
      </p:sp>
      <p:sp>
        <p:nvSpPr>
          <p:cNvPr id="14" name="Rectangle 13"/>
          <p:cNvSpPr/>
          <p:nvPr/>
        </p:nvSpPr>
        <p:spPr>
          <a:xfrm>
            <a:off x="365760" y="2798064"/>
            <a:ext cx="11430000" cy="6858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798064"/>
            <a:ext cx="109728" cy="6858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889504"/>
            <a:ext cx="3931920" cy="274320"/>
          </a:xfrm>
          <a:prstGeom prst="rect">
            <a:avLst/>
          </a:prstGeom>
          <a:noFill/>
        </p:spPr>
        <p:txBody>
          <a:bodyPr wrap="square" lIns="0" rIns="0" tIns="0" bIns="0">
            <a:spAutoFit/>
          </a:bodyPr>
          <a:lstStyle/>
          <a:p>
            <a:pPr algn="l"/>
            <a:r>
              <a:rPr sz="1200" b="1">
                <a:solidFill>
                  <a:srgbClr val="1E073B"/>
                </a:solidFill>
                <a:latin typeface="Segoe UI"/>
              </a:rPr>
              <a:t>15.3  First bind celebration</a:t>
            </a:r>
          </a:p>
        </p:txBody>
      </p:sp>
      <p:sp>
        <p:nvSpPr>
          <p:cNvPr id="17" name="TextBox 16"/>
          <p:cNvSpPr txBox="1"/>
          <p:nvPr/>
        </p:nvSpPr>
        <p:spPr>
          <a:xfrm>
            <a:off x="4754880" y="2889504"/>
            <a:ext cx="6858000" cy="457200"/>
          </a:xfrm>
          <a:prstGeom prst="rect">
            <a:avLst/>
          </a:prstGeom>
          <a:noFill/>
        </p:spPr>
        <p:txBody>
          <a:bodyPr wrap="square" lIns="0" rIns="0" tIns="0" bIns="0">
            <a:spAutoFit/>
          </a:bodyPr>
          <a:lstStyle/>
          <a:p>
            <a:pPr algn="l"/>
            <a:r>
              <a:rPr sz="1100" b="0">
                <a:solidFill>
                  <a:srgbClr val="111827"/>
                </a:solidFill>
                <a:latin typeface="Segoe UI"/>
              </a:rPr>
              <a:t>Public congrats; reminder BDA is day-to-day going forward</a:t>
            </a:r>
          </a:p>
        </p:txBody>
      </p:sp>
      <p:sp>
        <p:nvSpPr>
          <p:cNvPr id="18" name="Rectangle 17"/>
          <p:cNvSpPr/>
          <p:nvPr/>
        </p:nvSpPr>
        <p:spPr>
          <a:xfrm>
            <a:off x="365760" y="3602736"/>
            <a:ext cx="11430000" cy="6858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02736"/>
            <a:ext cx="109728" cy="6858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694176"/>
            <a:ext cx="3931920" cy="274320"/>
          </a:xfrm>
          <a:prstGeom prst="rect">
            <a:avLst/>
          </a:prstGeom>
          <a:noFill/>
        </p:spPr>
        <p:txBody>
          <a:bodyPr wrap="square" lIns="0" rIns="0" tIns="0" bIns="0">
            <a:spAutoFit/>
          </a:bodyPr>
          <a:lstStyle/>
          <a:p>
            <a:pPr algn="l"/>
            <a:r>
              <a:rPr sz="1200" b="1">
                <a:solidFill>
                  <a:srgbClr val="1E073B"/>
                </a:solidFill>
                <a:latin typeface="Segoe UI"/>
              </a:rPr>
              <a:t>15.4  30-day check-in invite</a:t>
            </a:r>
          </a:p>
        </p:txBody>
      </p:sp>
      <p:sp>
        <p:nvSpPr>
          <p:cNvPr id="21" name="TextBox 20"/>
          <p:cNvSpPr txBox="1"/>
          <p:nvPr/>
        </p:nvSpPr>
        <p:spPr>
          <a:xfrm>
            <a:off x="4754880" y="3694176"/>
            <a:ext cx="6858000" cy="457200"/>
          </a:xfrm>
          <a:prstGeom prst="rect">
            <a:avLst/>
          </a:prstGeom>
          <a:noFill/>
        </p:spPr>
        <p:txBody>
          <a:bodyPr wrap="square" lIns="0" rIns="0" tIns="0" bIns="0">
            <a:spAutoFit/>
          </a:bodyPr>
          <a:lstStyle/>
          <a:p>
            <a:pPr algn="l"/>
            <a:r>
              <a:rPr sz="1100" b="0">
                <a:solidFill>
                  <a:srgbClr val="111827"/>
                </a:solidFill>
                <a:latin typeface="Segoe UI"/>
              </a:rPr>
              <a:t>20-min recap + pipeline review</a:t>
            </a:r>
          </a:p>
        </p:txBody>
      </p:sp>
      <p:sp>
        <p:nvSpPr>
          <p:cNvPr id="22" name="Rectangle 21"/>
          <p:cNvSpPr/>
          <p:nvPr/>
        </p:nvSpPr>
        <p:spPr>
          <a:xfrm>
            <a:off x="365760" y="4407408"/>
            <a:ext cx="11430000" cy="6858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407408"/>
            <a:ext cx="109728" cy="6858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498848"/>
            <a:ext cx="3931920" cy="274320"/>
          </a:xfrm>
          <a:prstGeom prst="rect">
            <a:avLst/>
          </a:prstGeom>
          <a:noFill/>
        </p:spPr>
        <p:txBody>
          <a:bodyPr wrap="square" lIns="0" rIns="0" tIns="0" bIns="0">
            <a:spAutoFit/>
          </a:bodyPr>
          <a:lstStyle/>
          <a:p>
            <a:pPr algn="l"/>
            <a:r>
              <a:rPr sz="1200" b="1">
                <a:solidFill>
                  <a:srgbClr val="1E073B"/>
                </a:solidFill>
                <a:latin typeface="Segoe UI"/>
              </a:rPr>
              <a:t>15.5  Probation warning</a:t>
            </a:r>
          </a:p>
        </p:txBody>
      </p:sp>
      <p:sp>
        <p:nvSpPr>
          <p:cNvPr id="25" name="TextBox 24"/>
          <p:cNvSpPr txBox="1"/>
          <p:nvPr/>
        </p:nvSpPr>
        <p:spPr>
          <a:xfrm>
            <a:off x="4754880" y="4498848"/>
            <a:ext cx="6858000" cy="457200"/>
          </a:xfrm>
          <a:prstGeom prst="rect">
            <a:avLst/>
          </a:prstGeom>
          <a:noFill/>
        </p:spPr>
        <p:txBody>
          <a:bodyPr wrap="square" lIns="0" rIns="0" tIns="0" bIns="0">
            <a:spAutoFit/>
          </a:bodyPr>
          <a:lstStyle/>
          <a:p>
            <a:pPr algn="l"/>
            <a:r>
              <a:rPr sz="1100" b="0">
                <a:solidFill>
                  <a:srgbClr val="111827"/>
                </a:solidFill>
                <a:latin typeface="Segoe UI"/>
              </a:rPr>
              <a:t>Quarterly review below threshold; entering 30-day cure</a:t>
            </a:r>
          </a:p>
        </p:txBody>
      </p:sp>
      <p:sp>
        <p:nvSpPr>
          <p:cNvPr id="26" name="Rectangle 25"/>
          <p:cNvSpPr/>
          <p:nvPr/>
        </p:nvSpPr>
        <p:spPr>
          <a:xfrm>
            <a:off x="365760" y="5212080"/>
            <a:ext cx="11430000" cy="68580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212080"/>
            <a:ext cx="109728" cy="6858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303520"/>
            <a:ext cx="3931920" cy="274320"/>
          </a:xfrm>
          <a:prstGeom prst="rect">
            <a:avLst/>
          </a:prstGeom>
          <a:noFill/>
        </p:spPr>
        <p:txBody>
          <a:bodyPr wrap="square" lIns="0" rIns="0" tIns="0" bIns="0">
            <a:spAutoFit/>
          </a:bodyPr>
          <a:lstStyle/>
          <a:p>
            <a:pPr algn="l"/>
            <a:r>
              <a:rPr sz="1200" b="1">
                <a:solidFill>
                  <a:srgbClr val="1E073B"/>
                </a:solidFill>
                <a:latin typeface="Segoe UI"/>
              </a:rPr>
              <a:t>15.6  Deactivation notice</a:t>
            </a:r>
          </a:p>
        </p:txBody>
      </p:sp>
      <p:sp>
        <p:nvSpPr>
          <p:cNvPr id="29" name="TextBox 28"/>
          <p:cNvSpPr txBox="1"/>
          <p:nvPr/>
        </p:nvSpPr>
        <p:spPr>
          <a:xfrm>
            <a:off x="4754880" y="5303520"/>
            <a:ext cx="6858000" cy="457200"/>
          </a:xfrm>
          <a:prstGeom prst="rect">
            <a:avLst/>
          </a:prstGeom>
          <a:noFill/>
        </p:spPr>
        <p:txBody>
          <a:bodyPr wrap="square" lIns="0" rIns="0" tIns="0" bIns="0">
            <a:spAutoFit/>
          </a:bodyPr>
          <a:lstStyle/>
          <a:p>
            <a:pPr algn="l"/>
            <a:r>
              <a:rPr sz="1100" b="0">
                <a:solidFill>
                  <a:srgbClr val="111827"/>
                </a:solidFill>
                <a:latin typeface="Segoe UI"/>
              </a:rPr>
              <a:t>After 2 quarters + cure window; existing policies run to expiration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17 · Glossary</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Quick reference for the acronyms used throughout</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TextBox 5"/>
          <p:cNvSpPr txBox="1"/>
          <p:nvPr/>
        </p:nvSpPr>
        <p:spPr>
          <a:xfrm>
            <a:off x="365760" y="1188720"/>
            <a:ext cx="1371600" cy="274320"/>
          </a:xfrm>
          <a:prstGeom prst="rect">
            <a:avLst/>
          </a:prstGeom>
          <a:noFill/>
        </p:spPr>
        <p:txBody>
          <a:bodyPr wrap="square" lIns="0" rIns="0" tIns="0" bIns="0">
            <a:spAutoFit/>
          </a:bodyPr>
          <a:lstStyle/>
          <a:p>
            <a:pPr algn="l"/>
            <a:r>
              <a:rPr sz="1200" b="1">
                <a:solidFill>
                  <a:srgbClr val="6D28D9"/>
                </a:solidFill>
                <a:latin typeface="Segoe UI"/>
              </a:rPr>
              <a:t>ARC</a:t>
            </a:r>
          </a:p>
        </p:txBody>
      </p:sp>
      <p:sp>
        <p:nvSpPr>
          <p:cNvPr id="7" name="TextBox 6"/>
          <p:cNvSpPr txBox="1"/>
          <p:nvPr/>
        </p:nvSpPr>
        <p:spPr>
          <a:xfrm>
            <a:off x="1737360" y="1188720"/>
            <a:ext cx="4297680" cy="274320"/>
          </a:xfrm>
          <a:prstGeom prst="rect">
            <a:avLst/>
          </a:prstGeom>
          <a:noFill/>
        </p:spPr>
        <p:txBody>
          <a:bodyPr wrap="square" lIns="0" rIns="0" tIns="0" bIns="0">
            <a:spAutoFit/>
          </a:bodyPr>
          <a:lstStyle/>
          <a:p>
            <a:pPr algn="l"/>
            <a:r>
              <a:rPr sz="1100" b="0">
                <a:solidFill>
                  <a:srgbClr val="111827"/>
                </a:solidFill>
                <a:latin typeface="Segoe UI"/>
              </a:rPr>
              <a:t>Agent Resource Center — help.coverwhale.com</a:t>
            </a:r>
          </a:p>
        </p:txBody>
      </p:sp>
      <p:sp>
        <p:nvSpPr>
          <p:cNvPr id="8" name="TextBox 7"/>
          <p:cNvSpPr txBox="1"/>
          <p:nvPr/>
        </p:nvSpPr>
        <p:spPr>
          <a:xfrm>
            <a:off x="365760" y="1554480"/>
            <a:ext cx="1371600" cy="274320"/>
          </a:xfrm>
          <a:prstGeom prst="rect">
            <a:avLst/>
          </a:prstGeom>
          <a:noFill/>
        </p:spPr>
        <p:txBody>
          <a:bodyPr wrap="square" lIns="0" rIns="0" tIns="0" bIns="0">
            <a:spAutoFit/>
          </a:bodyPr>
          <a:lstStyle/>
          <a:p>
            <a:pPr algn="l"/>
            <a:r>
              <a:rPr sz="1200" b="1">
                <a:solidFill>
                  <a:srgbClr val="6D28D9"/>
                </a:solidFill>
                <a:latin typeface="Segoe UI"/>
              </a:rPr>
              <a:t>BDA</a:t>
            </a:r>
          </a:p>
        </p:txBody>
      </p:sp>
      <p:sp>
        <p:nvSpPr>
          <p:cNvPr id="9" name="TextBox 8"/>
          <p:cNvSpPr txBox="1"/>
          <p:nvPr/>
        </p:nvSpPr>
        <p:spPr>
          <a:xfrm>
            <a:off x="1737360" y="1554480"/>
            <a:ext cx="4297680" cy="274320"/>
          </a:xfrm>
          <a:prstGeom prst="rect">
            <a:avLst/>
          </a:prstGeom>
          <a:noFill/>
        </p:spPr>
        <p:txBody>
          <a:bodyPr wrap="square" lIns="0" rIns="0" tIns="0" bIns="0">
            <a:spAutoFit/>
          </a:bodyPr>
          <a:lstStyle/>
          <a:p>
            <a:pPr algn="l"/>
            <a:r>
              <a:rPr sz="1100" b="0">
                <a:solidFill>
                  <a:srgbClr val="111827"/>
                </a:solidFill>
                <a:latin typeface="Segoe UI"/>
              </a:rPr>
              <a:t>Business Development Associate — post-handoff owner</a:t>
            </a:r>
          </a:p>
        </p:txBody>
      </p:sp>
      <p:sp>
        <p:nvSpPr>
          <p:cNvPr id="10" name="TextBox 9"/>
          <p:cNvSpPr txBox="1"/>
          <p:nvPr/>
        </p:nvSpPr>
        <p:spPr>
          <a:xfrm>
            <a:off x="365760" y="1920240"/>
            <a:ext cx="1371600" cy="274320"/>
          </a:xfrm>
          <a:prstGeom prst="rect">
            <a:avLst/>
          </a:prstGeom>
          <a:noFill/>
        </p:spPr>
        <p:txBody>
          <a:bodyPr wrap="square" lIns="0" rIns="0" tIns="0" bIns="0">
            <a:spAutoFit/>
          </a:bodyPr>
          <a:lstStyle/>
          <a:p>
            <a:pPr algn="l"/>
            <a:r>
              <a:rPr sz="1200" b="1">
                <a:solidFill>
                  <a:srgbClr val="6D28D9"/>
                </a:solidFill>
                <a:latin typeface="Segoe UI"/>
              </a:rPr>
              <a:t>BDM</a:t>
            </a:r>
          </a:p>
        </p:txBody>
      </p:sp>
      <p:sp>
        <p:nvSpPr>
          <p:cNvPr id="11" name="TextBox 10"/>
          <p:cNvSpPr txBox="1"/>
          <p:nvPr/>
        </p:nvSpPr>
        <p:spPr>
          <a:xfrm>
            <a:off x="1737360" y="1920240"/>
            <a:ext cx="4297680" cy="274320"/>
          </a:xfrm>
          <a:prstGeom prst="rect">
            <a:avLst/>
          </a:prstGeom>
          <a:noFill/>
        </p:spPr>
        <p:txBody>
          <a:bodyPr wrap="square" lIns="0" rIns="0" tIns="0" bIns="0">
            <a:spAutoFit/>
          </a:bodyPr>
          <a:lstStyle/>
          <a:p>
            <a:pPr algn="l"/>
            <a:r>
              <a:rPr sz="1100" b="0">
                <a:solidFill>
                  <a:srgbClr val="111827"/>
                </a:solidFill>
                <a:latin typeface="Segoe UI"/>
              </a:rPr>
              <a:t>Business Development Manager</a:t>
            </a:r>
          </a:p>
        </p:txBody>
      </p:sp>
      <p:sp>
        <p:nvSpPr>
          <p:cNvPr id="12" name="TextBox 11"/>
          <p:cNvSpPr txBox="1"/>
          <p:nvPr/>
        </p:nvSpPr>
        <p:spPr>
          <a:xfrm>
            <a:off x="365760" y="2286000"/>
            <a:ext cx="1371600" cy="274320"/>
          </a:xfrm>
          <a:prstGeom prst="rect">
            <a:avLst/>
          </a:prstGeom>
          <a:noFill/>
        </p:spPr>
        <p:txBody>
          <a:bodyPr wrap="square" lIns="0" rIns="0" tIns="0" bIns="0">
            <a:spAutoFit/>
          </a:bodyPr>
          <a:lstStyle/>
          <a:p>
            <a:pPr algn="l"/>
            <a:r>
              <a:rPr sz="1200" b="1">
                <a:solidFill>
                  <a:srgbClr val="6D28D9"/>
                </a:solidFill>
                <a:latin typeface="Segoe UI"/>
              </a:rPr>
              <a:t>DOT</a:t>
            </a:r>
          </a:p>
        </p:txBody>
      </p:sp>
      <p:sp>
        <p:nvSpPr>
          <p:cNvPr id="13" name="TextBox 12"/>
          <p:cNvSpPr txBox="1"/>
          <p:nvPr/>
        </p:nvSpPr>
        <p:spPr>
          <a:xfrm>
            <a:off x="1737360" y="2286000"/>
            <a:ext cx="4297680" cy="274320"/>
          </a:xfrm>
          <a:prstGeom prst="rect">
            <a:avLst/>
          </a:prstGeom>
          <a:noFill/>
        </p:spPr>
        <p:txBody>
          <a:bodyPr wrap="square" lIns="0" rIns="0" tIns="0" bIns="0">
            <a:spAutoFit/>
          </a:bodyPr>
          <a:lstStyle/>
          <a:p>
            <a:pPr algn="l"/>
            <a:r>
              <a:rPr sz="1100" b="0">
                <a:solidFill>
                  <a:srgbClr val="111827"/>
                </a:solidFill>
                <a:latin typeface="Segoe UI"/>
              </a:rPr>
              <a:t>Department of Transportation number</a:t>
            </a:r>
          </a:p>
        </p:txBody>
      </p:sp>
      <p:sp>
        <p:nvSpPr>
          <p:cNvPr id="14" name="TextBox 13"/>
          <p:cNvSpPr txBox="1"/>
          <p:nvPr/>
        </p:nvSpPr>
        <p:spPr>
          <a:xfrm>
            <a:off x="365760" y="2651760"/>
            <a:ext cx="1371600" cy="274320"/>
          </a:xfrm>
          <a:prstGeom prst="rect">
            <a:avLst/>
          </a:prstGeom>
          <a:noFill/>
        </p:spPr>
        <p:txBody>
          <a:bodyPr wrap="square" lIns="0" rIns="0" tIns="0" bIns="0">
            <a:spAutoFit/>
          </a:bodyPr>
          <a:lstStyle/>
          <a:p>
            <a:pPr algn="l"/>
            <a:r>
              <a:rPr sz="1200" b="1">
                <a:solidFill>
                  <a:srgbClr val="6D28D9"/>
                </a:solidFill>
                <a:latin typeface="Segoe UI"/>
              </a:rPr>
              <a:t>FMCSA</a:t>
            </a:r>
          </a:p>
        </p:txBody>
      </p:sp>
      <p:sp>
        <p:nvSpPr>
          <p:cNvPr id="15" name="TextBox 14"/>
          <p:cNvSpPr txBox="1"/>
          <p:nvPr/>
        </p:nvSpPr>
        <p:spPr>
          <a:xfrm>
            <a:off x="1737360" y="2651760"/>
            <a:ext cx="4297680" cy="274320"/>
          </a:xfrm>
          <a:prstGeom prst="rect">
            <a:avLst/>
          </a:prstGeom>
          <a:noFill/>
        </p:spPr>
        <p:txBody>
          <a:bodyPr wrap="square" lIns="0" rIns="0" tIns="0" bIns="0">
            <a:spAutoFit/>
          </a:bodyPr>
          <a:lstStyle/>
          <a:p>
            <a:pPr algn="l"/>
            <a:r>
              <a:rPr sz="1100" b="0">
                <a:solidFill>
                  <a:srgbClr val="111827"/>
                </a:solidFill>
                <a:latin typeface="Segoe UI"/>
              </a:rPr>
              <a:t>Federal Motor Carrier Safety Administration</a:t>
            </a:r>
          </a:p>
        </p:txBody>
      </p:sp>
      <p:sp>
        <p:nvSpPr>
          <p:cNvPr id="16" name="TextBox 15"/>
          <p:cNvSpPr txBox="1"/>
          <p:nvPr/>
        </p:nvSpPr>
        <p:spPr>
          <a:xfrm>
            <a:off x="365760" y="3017520"/>
            <a:ext cx="1371600" cy="274320"/>
          </a:xfrm>
          <a:prstGeom prst="rect">
            <a:avLst/>
          </a:prstGeom>
          <a:noFill/>
        </p:spPr>
        <p:txBody>
          <a:bodyPr wrap="square" lIns="0" rIns="0" tIns="0" bIns="0">
            <a:spAutoFit/>
          </a:bodyPr>
          <a:lstStyle/>
          <a:p>
            <a:pPr algn="l"/>
            <a:r>
              <a:rPr sz="1200" b="1">
                <a:solidFill>
                  <a:srgbClr val="6D28D9"/>
                </a:solidFill>
                <a:latin typeface="Segoe UI"/>
              </a:rPr>
              <a:t>GWP</a:t>
            </a:r>
          </a:p>
        </p:txBody>
      </p:sp>
      <p:sp>
        <p:nvSpPr>
          <p:cNvPr id="17" name="TextBox 16"/>
          <p:cNvSpPr txBox="1"/>
          <p:nvPr/>
        </p:nvSpPr>
        <p:spPr>
          <a:xfrm>
            <a:off x="1737360" y="3017520"/>
            <a:ext cx="4297680" cy="274320"/>
          </a:xfrm>
          <a:prstGeom prst="rect">
            <a:avLst/>
          </a:prstGeom>
          <a:noFill/>
        </p:spPr>
        <p:txBody>
          <a:bodyPr wrap="square" lIns="0" rIns="0" tIns="0" bIns="0">
            <a:spAutoFit/>
          </a:bodyPr>
          <a:lstStyle/>
          <a:p>
            <a:pPr algn="l"/>
            <a:r>
              <a:rPr sz="1100" b="0">
                <a:solidFill>
                  <a:srgbClr val="111827"/>
                </a:solidFill>
                <a:latin typeface="Segoe UI"/>
              </a:rPr>
              <a:t>Gross Written Premium</a:t>
            </a:r>
          </a:p>
        </p:txBody>
      </p:sp>
      <p:sp>
        <p:nvSpPr>
          <p:cNvPr id="18" name="TextBox 17"/>
          <p:cNvSpPr txBox="1"/>
          <p:nvPr/>
        </p:nvSpPr>
        <p:spPr>
          <a:xfrm>
            <a:off x="365760" y="3383279"/>
            <a:ext cx="1371600" cy="274320"/>
          </a:xfrm>
          <a:prstGeom prst="rect">
            <a:avLst/>
          </a:prstGeom>
          <a:noFill/>
        </p:spPr>
        <p:txBody>
          <a:bodyPr wrap="square" lIns="0" rIns="0" tIns="0" bIns="0">
            <a:spAutoFit/>
          </a:bodyPr>
          <a:lstStyle/>
          <a:p>
            <a:pPr algn="l"/>
            <a:r>
              <a:rPr sz="1200" b="1">
                <a:solidFill>
                  <a:srgbClr val="6D28D9"/>
                </a:solidFill>
                <a:latin typeface="Segoe UI"/>
              </a:rPr>
              <a:t>Instant Bind</a:t>
            </a:r>
          </a:p>
        </p:txBody>
      </p:sp>
      <p:sp>
        <p:nvSpPr>
          <p:cNvPr id="19" name="TextBox 18"/>
          <p:cNvSpPr txBox="1"/>
          <p:nvPr/>
        </p:nvSpPr>
        <p:spPr>
          <a:xfrm>
            <a:off x="1737360" y="3383279"/>
            <a:ext cx="4297680" cy="274320"/>
          </a:xfrm>
          <a:prstGeom prst="rect">
            <a:avLst/>
          </a:prstGeom>
          <a:noFill/>
        </p:spPr>
        <p:txBody>
          <a:bodyPr wrap="square" lIns="0" rIns="0" tIns="0" bIns="0">
            <a:spAutoFit/>
          </a:bodyPr>
          <a:lstStyle/>
          <a:p>
            <a:pPr algn="l"/>
            <a:r>
              <a:rPr sz="1100" b="0">
                <a:solidFill>
                  <a:srgbClr val="111827"/>
                </a:solidFill>
                <a:latin typeface="Segoe UI"/>
              </a:rPr>
              <a:t>Same-day bind via DocuSign + down-payment link in one email</a:t>
            </a:r>
          </a:p>
        </p:txBody>
      </p:sp>
      <p:sp>
        <p:nvSpPr>
          <p:cNvPr id="20" name="TextBox 19"/>
          <p:cNvSpPr txBox="1"/>
          <p:nvPr/>
        </p:nvSpPr>
        <p:spPr>
          <a:xfrm>
            <a:off x="365760" y="3749039"/>
            <a:ext cx="1371600" cy="274320"/>
          </a:xfrm>
          <a:prstGeom prst="rect">
            <a:avLst/>
          </a:prstGeom>
          <a:noFill/>
        </p:spPr>
        <p:txBody>
          <a:bodyPr wrap="square" lIns="0" rIns="0" tIns="0" bIns="0">
            <a:spAutoFit/>
          </a:bodyPr>
          <a:lstStyle/>
          <a:p>
            <a:pPr algn="l"/>
            <a:r>
              <a:rPr sz="1200" b="1">
                <a:solidFill>
                  <a:srgbClr val="6D28D9"/>
                </a:solidFill>
                <a:latin typeface="Segoe UI"/>
              </a:rPr>
              <a:t>MVR</a:t>
            </a:r>
          </a:p>
        </p:txBody>
      </p:sp>
      <p:sp>
        <p:nvSpPr>
          <p:cNvPr id="21" name="TextBox 20"/>
          <p:cNvSpPr txBox="1"/>
          <p:nvPr/>
        </p:nvSpPr>
        <p:spPr>
          <a:xfrm>
            <a:off x="1737360" y="3749039"/>
            <a:ext cx="4297680" cy="274320"/>
          </a:xfrm>
          <a:prstGeom prst="rect">
            <a:avLst/>
          </a:prstGeom>
          <a:noFill/>
        </p:spPr>
        <p:txBody>
          <a:bodyPr wrap="square" lIns="0" rIns="0" tIns="0" bIns="0">
            <a:spAutoFit/>
          </a:bodyPr>
          <a:lstStyle/>
          <a:p>
            <a:pPr algn="l"/>
            <a:r>
              <a:rPr sz="1100" b="0">
                <a:solidFill>
                  <a:srgbClr val="111827"/>
                </a:solidFill>
                <a:latin typeface="Segoe UI"/>
              </a:rPr>
              <a:t>Motor Vehicle Record</a:t>
            </a:r>
          </a:p>
        </p:txBody>
      </p:sp>
      <p:sp>
        <p:nvSpPr>
          <p:cNvPr id="22" name="TextBox 21"/>
          <p:cNvSpPr txBox="1"/>
          <p:nvPr/>
        </p:nvSpPr>
        <p:spPr>
          <a:xfrm>
            <a:off x="365760" y="4114800"/>
            <a:ext cx="1371600" cy="274320"/>
          </a:xfrm>
          <a:prstGeom prst="rect">
            <a:avLst/>
          </a:prstGeom>
          <a:noFill/>
        </p:spPr>
        <p:txBody>
          <a:bodyPr wrap="square" lIns="0" rIns="0" tIns="0" bIns="0">
            <a:spAutoFit/>
          </a:bodyPr>
          <a:lstStyle/>
          <a:p>
            <a:pPr algn="l"/>
            <a:r>
              <a:rPr sz="1200" b="1">
                <a:solidFill>
                  <a:srgbClr val="6D28D9"/>
                </a:solidFill>
                <a:latin typeface="Segoe UI"/>
              </a:rPr>
              <a:t>NB</a:t>
            </a:r>
          </a:p>
        </p:txBody>
      </p:sp>
      <p:sp>
        <p:nvSpPr>
          <p:cNvPr id="23" name="TextBox 22"/>
          <p:cNvSpPr txBox="1"/>
          <p:nvPr/>
        </p:nvSpPr>
        <p:spPr>
          <a:xfrm>
            <a:off x="1737360" y="4114800"/>
            <a:ext cx="4297680" cy="274320"/>
          </a:xfrm>
          <a:prstGeom prst="rect">
            <a:avLst/>
          </a:prstGeom>
          <a:noFill/>
        </p:spPr>
        <p:txBody>
          <a:bodyPr wrap="square" lIns="0" rIns="0" tIns="0" bIns="0">
            <a:spAutoFit/>
          </a:bodyPr>
          <a:lstStyle/>
          <a:p>
            <a:pPr algn="l"/>
            <a:r>
              <a:rPr sz="1100" b="0">
                <a:solidFill>
                  <a:srgbClr val="111827"/>
                </a:solidFill>
                <a:latin typeface="Segoe UI"/>
              </a:rPr>
              <a:t>New Business — counts toward probation threshold</a:t>
            </a:r>
          </a:p>
        </p:txBody>
      </p:sp>
      <p:sp>
        <p:nvSpPr>
          <p:cNvPr id="24" name="TextBox 23"/>
          <p:cNvSpPr txBox="1"/>
          <p:nvPr/>
        </p:nvSpPr>
        <p:spPr>
          <a:xfrm>
            <a:off x="365760" y="4480560"/>
            <a:ext cx="1371600" cy="274320"/>
          </a:xfrm>
          <a:prstGeom prst="rect">
            <a:avLst/>
          </a:prstGeom>
          <a:noFill/>
        </p:spPr>
        <p:txBody>
          <a:bodyPr wrap="square" lIns="0" rIns="0" tIns="0" bIns="0">
            <a:spAutoFit/>
          </a:bodyPr>
          <a:lstStyle/>
          <a:p>
            <a:pPr algn="l"/>
            <a:r>
              <a:rPr sz="1200" b="1">
                <a:solidFill>
                  <a:srgbClr val="6D28D9"/>
                </a:solidFill>
                <a:latin typeface="Segoe UI"/>
              </a:rPr>
              <a:t>NPN</a:t>
            </a:r>
          </a:p>
        </p:txBody>
      </p:sp>
      <p:sp>
        <p:nvSpPr>
          <p:cNvPr id="25" name="TextBox 24"/>
          <p:cNvSpPr txBox="1"/>
          <p:nvPr/>
        </p:nvSpPr>
        <p:spPr>
          <a:xfrm>
            <a:off x="1737360" y="4480560"/>
            <a:ext cx="4297680" cy="274320"/>
          </a:xfrm>
          <a:prstGeom prst="rect">
            <a:avLst/>
          </a:prstGeom>
          <a:noFill/>
        </p:spPr>
        <p:txBody>
          <a:bodyPr wrap="square" lIns="0" rIns="0" tIns="0" bIns="0">
            <a:spAutoFit/>
          </a:bodyPr>
          <a:lstStyle/>
          <a:p>
            <a:pPr algn="l"/>
            <a:r>
              <a:rPr sz="1100" b="0">
                <a:solidFill>
                  <a:srgbClr val="111827"/>
                </a:solidFill>
                <a:latin typeface="Segoe UI"/>
              </a:rPr>
              <a:t>National Producer Number</a:t>
            </a:r>
          </a:p>
        </p:txBody>
      </p:sp>
      <p:sp>
        <p:nvSpPr>
          <p:cNvPr id="26" name="TextBox 25"/>
          <p:cNvSpPr txBox="1"/>
          <p:nvPr/>
        </p:nvSpPr>
        <p:spPr>
          <a:xfrm>
            <a:off x="365760" y="4846320"/>
            <a:ext cx="1371600" cy="274320"/>
          </a:xfrm>
          <a:prstGeom prst="rect">
            <a:avLst/>
          </a:prstGeom>
          <a:noFill/>
        </p:spPr>
        <p:txBody>
          <a:bodyPr wrap="square" lIns="0" rIns="0" tIns="0" bIns="0">
            <a:spAutoFit/>
          </a:bodyPr>
          <a:lstStyle/>
          <a:p>
            <a:pPr algn="l"/>
            <a:r>
              <a:rPr sz="1200" b="1">
                <a:solidFill>
                  <a:srgbClr val="6D28D9"/>
                </a:solidFill>
                <a:latin typeface="Segoe UI"/>
              </a:rPr>
              <a:t>PFA / PFC</a:t>
            </a:r>
          </a:p>
        </p:txBody>
      </p:sp>
      <p:sp>
        <p:nvSpPr>
          <p:cNvPr id="27" name="TextBox 26"/>
          <p:cNvSpPr txBox="1"/>
          <p:nvPr/>
        </p:nvSpPr>
        <p:spPr>
          <a:xfrm>
            <a:off x="1737360" y="4846320"/>
            <a:ext cx="4297680" cy="274320"/>
          </a:xfrm>
          <a:prstGeom prst="rect">
            <a:avLst/>
          </a:prstGeom>
          <a:noFill/>
        </p:spPr>
        <p:txBody>
          <a:bodyPr wrap="square" lIns="0" rIns="0" tIns="0" bIns="0">
            <a:spAutoFit/>
          </a:bodyPr>
          <a:lstStyle/>
          <a:p>
            <a:pPr algn="l"/>
            <a:r>
              <a:rPr sz="1100" b="0">
                <a:solidFill>
                  <a:srgbClr val="111827"/>
                </a:solidFill>
                <a:latin typeface="Segoe UI"/>
              </a:rPr>
              <a:t>Premium Finance Agreement / Premium Finance Company</a:t>
            </a:r>
          </a:p>
        </p:txBody>
      </p:sp>
      <p:sp>
        <p:nvSpPr>
          <p:cNvPr id="28" name="TextBox 27"/>
          <p:cNvSpPr txBox="1"/>
          <p:nvPr/>
        </p:nvSpPr>
        <p:spPr>
          <a:xfrm>
            <a:off x="365760" y="5212080"/>
            <a:ext cx="1371600" cy="274320"/>
          </a:xfrm>
          <a:prstGeom prst="rect">
            <a:avLst/>
          </a:prstGeom>
          <a:noFill/>
        </p:spPr>
        <p:txBody>
          <a:bodyPr wrap="square" lIns="0" rIns="0" tIns="0" bIns="0">
            <a:spAutoFit/>
          </a:bodyPr>
          <a:lstStyle/>
          <a:p>
            <a:pPr algn="l"/>
            <a:r>
              <a:rPr sz="1200" b="1">
                <a:solidFill>
                  <a:srgbClr val="6D28D9"/>
                </a:solidFill>
                <a:latin typeface="Segoe UI"/>
              </a:rPr>
              <a:t>Turris</a:t>
            </a:r>
          </a:p>
        </p:txBody>
      </p:sp>
      <p:sp>
        <p:nvSpPr>
          <p:cNvPr id="29" name="TextBox 28"/>
          <p:cNvSpPr txBox="1"/>
          <p:nvPr/>
        </p:nvSpPr>
        <p:spPr>
          <a:xfrm>
            <a:off x="1737360" y="5212080"/>
            <a:ext cx="4297680" cy="274320"/>
          </a:xfrm>
          <a:prstGeom prst="rect">
            <a:avLst/>
          </a:prstGeom>
          <a:noFill/>
        </p:spPr>
        <p:txBody>
          <a:bodyPr wrap="square" lIns="0" rIns="0" tIns="0" bIns="0">
            <a:spAutoFit/>
          </a:bodyPr>
          <a:lstStyle/>
          <a:p>
            <a:pPr algn="l"/>
            <a:r>
              <a:rPr sz="1100" b="0">
                <a:solidFill>
                  <a:srgbClr val="111827"/>
                </a:solidFill>
                <a:latin typeface="Segoe UI"/>
              </a:rPr>
              <a:t>Agency appointing platform</a:t>
            </a:r>
          </a:p>
        </p:txBody>
      </p:sp>
      <p:sp>
        <p:nvSpPr>
          <p:cNvPr id="30" name="TextBox 29"/>
          <p:cNvSpPr txBox="1"/>
          <p:nvPr/>
        </p:nvSpPr>
        <p:spPr>
          <a:xfrm>
            <a:off x="365760" y="5577840"/>
            <a:ext cx="1371600" cy="274320"/>
          </a:xfrm>
          <a:prstGeom prst="rect">
            <a:avLst/>
          </a:prstGeom>
          <a:noFill/>
        </p:spPr>
        <p:txBody>
          <a:bodyPr wrap="square" lIns="0" rIns="0" tIns="0" bIns="0">
            <a:spAutoFit/>
          </a:bodyPr>
          <a:lstStyle/>
          <a:p>
            <a:pPr algn="l"/>
            <a:r>
              <a:rPr sz="1200" b="1">
                <a:solidFill>
                  <a:srgbClr val="6D28D9"/>
                </a:solidFill>
                <a:latin typeface="Segoe UI"/>
              </a:rPr>
              <a:t>UW</a:t>
            </a:r>
          </a:p>
        </p:txBody>
      </p:sp>
      <p:sp>
        <p:nvSpPr>
          <p:cNvPr id="31" name="TextBox 30"/>
          <p:cNvSpPr txBox="1"/>
          <p:nvPr/>
        </p:nvSpPr>
        <p:spPr>
          <a:xfrm>
            <a:off x="1737360" y="5577840"/>
            <a:ext cx="4297680" cy="274320"/>
          </a:xfrm>
          <a:prstGeom prst="rect">
            <a:avLst/>
          </a:prstGeom>
          <a:noFill/>
        </p:spPr>
        <p:txBody>
          <a:bodyPr wrap="square" lIns="0" rIns="0" tIns="0" bIns="0">
            <a:spAutoFit/>
          </a:bodyPr>
          <a:lstStyle/>
          <a:p>
            <a:pPr algn="l"/>
            <a:r>
              <a:rPr sz="1100" b="0">
                <a:solidFill>
                  <a:srgbClr val="111827"/>
                </a:solidFill>
                <a:latin typeface="Segoe UI"/>
              </a:rPr>
              <a:t>Underwriting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411480"/>
          </a:xfrm>
          <a:prstGeom prst="rect">
            <a:avLst/>
          </a:prstGeom>
          <a:noFill/>
        </p:spPr>
        <p:txBody>
          <a:bodyPr wrap="square" lIns="0" rIns="0" tIns="0" bIns="0">
            <a:spAutoFit/>
          </a:bodyPr>
          <a:lstStyle/>
          <a:p>
            <a:pPr algn="l"/>
            <a:r>
              <a:rPr sz="2200" b="1">
                <a:solidFill>
                  <a:srgbClr val="FFFFFF"/>
                </a:solidFill>
                <a:latin typeface="Segoe UI"/>
              </a:rPr>
              <a:t>18 · Appendix — HubSpot Property Map</a:t>
            </a:r>
          </a:p>
        </p:txBody>
      </p:sp>
      <p:sp>
        <p:nvSpPr>
          <p:cNvPr id="4" name="TextBox 3"/>
          <p:cNvSpPr txBox="1"/>
          <p:nvPr/>
        </p:nvSpPr>
        <p:spPr>
          <a:xfrm>
            <a:off x="365760" y="457200"/>
            <a:ext cx="11430000" cy="274320"/>
          </a:xfrm>
          <a:prstGeom prst="rect">
            <a:avLst/>
          </a:prstGeom>
          <a:noFill/>
        </p:spPr>
        <p:txBody>
          <a:bodyPr wrap="square" lIns="0" rIns="0" tIns="0" bIns="0">
            <a:spAutoFit/>
          </a:bodyPr>
          <a:lstStyle/>
          <a:p>
            <a:pPr algn="l"/>
            <a:r>
              <a:rPr sz="1000" b="0">
                <a:solidFill>
                  <a:srgbClr val="C4B5FD"/>
                </a:solidFill>
                <a:latin typeface="Segoe UI"/>
              </a:rPr>
              <a:t>Foundation for future automation — exact field names per stage</a:t>
            </a:r>
          </a:p>
        </p:txBody>
      </p:sp>
      <p:sp>
        <p:nvSpPr>
          <p:cNvPr id="5" name="TextBox 4"/>
          <p:cNvSpPr txBox="1"/>
          <p:nvPr/>
        </p:nvSpPr>
        <p:spPr>
          <a:xfrm>
            <a:off x="10058400" y="91440"/>
            <a:ext cx="2011680" cy="228600"/>
          </a:xfrm>
          <a:prstGeom prst="rect">
            <a:avLst/>
          </a:prstGeom>
          <a:noFill/>
        </p:spPr>
        <p:txBody>
          <a:bodyPr wrap="square" lIns="0" rIns="0" tIns="0" bIns="0">
            <a:spAutoFit/>
          </a:bodyPr>
          <a:lstStyle/>
          <a:p>
            <a:pPr algn="r"/>
            <a:r>
              <a:rPr sz="800" b="0">
                <a:solidFill>
                  <a:srgbClr val="C4B5FD"/>
                </a:solidFill>
                <a:latin typeface="Segoe UI"/>
              </a:rPr>
              <a:t>Cover Whale · Agency Onboarding</a:t>
            </a:r>
          </a:p>
        </p:txBody>
      </p:sp>
      <p:sp>
        <p:nvSpPr>
          <p:cNvPr id="6" name="Rectangle 5"/>
          <p:cNvSpPr/>
          <p:nvPr/>
        </p:nvSpPr>
        <p:spPr>
          <a:xfrm>
            <a:off x="365760" y="1188720"/>
            <a:ext cx="11430000"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225296"/>
            <a:ext cx="2688336" cy="274320"/>
          </a:xfrm>
          <a:prstGeom prst="rect">
            <a:avLst/>
          </a:prstGeom>
          <a:noFill/>
        </p:spPr>
        <p:txBody>
          <a:bodyPr wrap="square" lIns="0" rIns="0" tIns="0" bIns="0">
            <a:spAutoFit/>
          </a:bodyPr>
          <a:lstStyle/>
          <a:p>
            <a:pPr algn="l"/>
            <a:r>
              <a:rPr sz="1050" b="1">
                <a:solidFill>
                  <a:srgbClr val="FFFFFF"/>
                </a:solidFill>
                <a:latin typeface="Segoe UI"/>
              </a:rPr>
              <a:t>Stage</a:t>
            </a:r>
          </a:p>
        </p:txBody>
      </p:sp>
      <p:sp>
        <p:nvSpPr>
          <p:cNvPr id="8" name="TextBox 7"/>
          <p:cNvSpPr txBox="1"/>
          <p:nvPr/>
        </p:nvSpPr>
        <p:spPr>
          <a:xfrm>
            <a:off x="3273552" y="1225296"/>
            <a:ext cx="3328415" cy="274320"/>
          </a:xfrm>
          <a:prstGeom prst="rect">
            <a:avLst/>
          </a:prstGeom>
          <a:noFill/>
        </p:spPr>
        <p:txBody>
          <a:bodyPr wrap="square" lIns="0" rIns="0" tIns="0" bIns="0">
            <a:spAutoFit/>
          </a:bodyPr>
          <a:lstStyle/>
          <a:p>
            <a:pPr algn="l"/>
            <a:r>
              <a:rPr sz="1050" b="1">
                <a:solidFill>
                  <a:srgbClr val="FFFFFF"/>
                </a:solidFill>
                <a:latin typeface="Segoe UI"/>
              </a:rPr>
              <a:t>Field</a:t>
            </a:r>
          </a:p>
        </p:txBody>
      </p:sp>
      <p:sp>
        <p:nvSpPr>
          <p:cNvPr id="9" name="TextBox 8"/>
          <p:cNvSpPr txBox="1"/>
          <p:nvPr/>
        </p:nvSpPr>
        <p:spPr>
          <a:xfrm>
            <a:off x="6748272" y="1225296"/>
            <a:ext cx="2688336" cy="274320"/>
          </a:xfrm>
          <a:prstGeom prst="rect">
            <a:avLst/>
          </a:prstGeom>
          <a:noFill/>
        </p:spPr>
        <p:txBody>
          <a:bodyPr wrap="square" lIns="0" rIns="0" tIns="0" bIns="0">
            <a:spAutoFit/>
          </a:bodyPr>
          <a:lstStyle/>
          <a:p>
            <a:pPr algn="l"/>
            <a:r>
              <a:rPr sz="1050" b="1">
                <a:solidFill>
                  <a:srgbClr val="FFFFFF"/>
                </a:solidFill>
                <a:latin typeface="Segoe UI"/>
              </a:rPr>
              <a:t>Value</a:t>
            </a:r>
          </a:p>
        </p:txBody>
      </p:sp>
      <p:sp>
        <p:nvSpPr>
          <p:cNvPr id="10" name="TextBox 9"/>
          <p:cNvSpPr txBox="1"/>
          <p:nvPr/>
        </p:nvSpPr>
        <p:spPr>
          <a:xfrm>
            <a:off x="9582912" y="1225296"/>
            <a:ext cx="2139696" cy="274320"/>
          </a:xfrm>
          <a:prstGeom prst="rect">
            <a:avLst/>
          </a:prstGeom>
          <a:noFill/>
        </p:spPr>
        <p:txBody>
          <a:bodyPr wrap="square" lIns="0" rIns="0" tIns="0" bIns="0">
            <a:spAutoFit/>
          </a:bodyPr>
          <a:lstStyle/>
          <a:p>
            <a:pPr algn="l"/>
            <a:r>
              <a:rPr sz="1050" b="1">
                <a:solidFill>
                  <a:srgbClr val="FFFFFF"/>
                </a:solidFill>
                <a:latin typeface="Segoe UI"/>
              </a:rPr>
              <a:t>Type</a:t>
            </a:r>
          </a:p>
        </p:txBody>
      </p:sp>
      <p:sp>
        <p:nvSpPr>
          <p:cNvPr id="11" name="Rectangle 10"/>
          <p:cNvSpPr/>
          <p:nvPr/>
        </p:nvSpPr>
        <p:spPr>
          <a:xfrm>
            <a:off x="365760" y="1536192"/>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572768"/>
            <a:ext cx="2688336" cy="274320"/>
          </a:xfrm>
          <a:prstGeom prst="rect">
            <a:avLst/>
          </a:prstGeom>
          <a:noFill/>
        </p:spPr>
        <p:txBody>
          <a:bodyPr wrap="square" lIns="0" rIns="0" tIns="0" bIns="0">
            <a:spAutoFit/>
          </a:bodyPr>
          <a:lstStyle/>
          <a:p>
            <a:pPr algn="l"/>
            <a:r>
              <a:rPr sz="1000" b="1">
                <a:solidFill>
                  <a:srgbClr val="6D28D9"/>
                </a:solidFill>
                <a:latin typeface="Segoe UI"/>
              </a:rPr>
              <a:t>Appointment Complete</a:t>
            </a:r>
          </a:p>
        </p:txBody>
      </p:sp>
      <p:sp>
        <p:nvSpPr>
          <p:cNvPr id="13" name="TextBox 12"/>
          <p:cNvSpPr txBox="1"/>
          <p:nvPr/>
        </p:nvSpPr>
        <p:spPr>
          <a:xfrm>
            <a:off x="3273552" y="1572768"/>
            <a:ext cx="3328415" cy="274320"/>
          </a:xfrm>
          <a:prstGeom prst="rect">
            <a:avLst/>
          </a:prstGeom>
          <a:noFill/>
        </p:spPr>
        <p:txBody>
          <a:bodyPr wrap="square" lIns="0" rIns="0" tIns="0" bIns="0">
            <a:spAutoFit/>
          </a:bodyPr>
          <a:lstStyle/>
          <a:p>
            <a:pPr algn="l"/>
            <a:r>
              <a:rPr sz="1000" b="0">
                <a:solidFill>
                  <a:srgbClr val="111827"/>
                </a:solidFill>
                <a:latin typeface="Segoe UI"/>
              </a:rPr>
              <a:t>onboarding_status</a:t>
            </a:r>
          </a:p>
        </p:txBody>
      </p:sp>
      <p:sp>
        <p:nvSpPr>
          <p:cNvPr id="14" name="TextBox 13"/>
          <p:cNvSpPr txBox="1"/>
          <p:nvPr/>
        </p:nvSpPr>
        <p:spPr>
          <a:xfrm>
            <a:off x="6748272" y="1572768"/>
            <a:ext cx="2688336" cy="274320"/>
          </a:xfrm>
          <a:prstGeom prst="rect">
            <a:avLst/>
          </a:prstGeom>
          <a:noFill/>
        </p:spPr>
        <p:txBody>
          <a:bodyPr wrap="square" lIns="0" rIns="0" tIns="0" bIns="0">
            <a:spAutoFit/>
          </a:bodyPr>
          <a:lstStyle/>
          <a:p>
            <a:pPr algn="l"/>
            <a:r>
              <a:rPr sz="1000" b="0">
                <a:solidFill>
                  <a:srgbClr val="111827"/>
                </a:solidFill>
                <a:latin typeface="Segoe UI"/>
              </a:rPr>
              <a:t>appointment_complete</a:t>
            </a:r>
          </a:p>
        </p:txBody>
      </p:sp>
      <p:sp>
        <p:nvSpPr>
          <p:cNvPr id="15" name="TextBox 14"/>
          <p:cNvSpPr txBox="1"/>
          <p:nvPr/>
        </p:nvSpPr>
        <p:spPr>
          <a:xfrm>
            <a:off x="9582912" y="1572768"/>
            <a:ext cx="2139696" cy="274320"/>
          </a:xfrm>
          <a:prstGeom prst="rect">
            <a:avLst/>
          </a:prstGeom>
          <a:noFill/>
        </p:spPr>
        <p:txBody>
          <a:bodyPr wrap="square" lIns="0" rIns="0" tIns="0" bIns="0">
            <a:spAutoFit/>
          </a:bodyPr>
          <a:lstStyle/>
          <a:p>
            <a:pPr algn="l"/>
            <a:r>
              <a:rPr sz="1000" b="0">
                <a:solidFill>
                  <a:srgbClr val="111827"/>
                </a:solidFill>
                <a:latin typeface="Segoe UI"/>
              </a:rPr>
              <a:t>enum</a:t>
            </a:r>
          </a:p>
        </p:txBody>
      </p:sp>
      <p:sp>
        <p:nvSpPr>
          <p:cNvPr id="16" name="TextBox 15"/>
          <p:cNvSpPr txBox="1"/>
          <p:nvPr/>
        </p:nvSpPr>
        <p:spPr>
          <a:xfrm>
            <a:off x="438912" y="1920240"/>
            <a:ext cx="2688336" cy="274320"/>
          </a:xfrm>
          <a:prstGeom prst="rect">
            <a:avLst/>
          </a:prstGeom>
          <a:noFill/>
        </p:spPr>
        <p:txBody>
          <a:bodyPr wrap="square" lIns="0" rIns="0" tIns="0" bIns="0">
            <a:spAutoFit/>
          </a:bodyPr>
          <a:lstStyle/>
          <a:p>
            <a:pPr algn="l"/>
            <a:r>
              <a:rPr sz="1000" b="1">
                <a:solidFill>
                  <a:srgbClr val="6D28D9"/>
                </a:solidFill>
                <a:latin typeface="Segoe UI"/>
              </a:rPr>
              <a:t>Welcome Sent</a:t>
            </a:r>
          </a:p>
        </p:txBody>
      </p:sp>
      <p:sp>
        <p:nvSpPr>
          <p:cNvPr id="17" name="TextBox 16"/>
          <p:cNvSpPr txBox="1"/>
          <p:nvPr/>
        </p:nvSpPr>
        <p:spPr>
          <a:xfrm>
            <a:off x="3273552" y="1920240"/>
            <a:ext cx="3328415" cy="274320"/>
          </a:xfrm>
          <a:prstGeom prst="rect">
            <a:avLst/>
          </a:prstGeom>
          <a:noFill/>
        </p:spPr>
        <p:txBody>
          <a:bodyPr wrap="square" lIns="0" rIns="0" tIns="0" bIns="0">
            <a:spAutoFit/>
          </a:bodyPr>
          <a:lstStyle/>
          <a:p>
            <a:pPr algn="l"/>
            <a:r>
              <a:rPr sz="1000" b="0">
                <a:solidFill>
                  <a:srgbClr val="111827"/>
                </a:solidFill>
                <a:latin typeface="Segoe UI"/>
              </a:rPr>
              <a:t>welcome_email_sent_date</a:t>
            </a:r>
          </a:p>
        </p:txBody>
      </p:sp>
      <p:sp>
        <p:nvSpPr>
          <p:cNvPr id="18" name="TextBox 17"/>
          <p:cNvSpPr txBox="1"/>
          <p:nvPr/>
        </p:nvSpPr>
        <p:spPr>
          <a:xfrm>
            <a:off x="6748272" y="1920240"/>
            <a:ext cx="2688336" cy="274320"/>
          </a:xfrm>
          <a:prstGeom prst="rect">
            <a:avLst/>
          </a:prstGeom>
          <a:noFill/>
        </p:spPr>
        <p:txBody>
          <a:bodyPr wrap="square" lIns="0" rIns="0" tIns="0" bIns="0">
            <a:spAutoFit/>
          </a:bodyPr>
          <a:lstStyle/>
          <a:p>
            <a:pPr algn="l"/>
            <a:r>
              <a:rPr sz="1000" b="0">
                <a:solidFill>
                  <a:srgbClr val="111827"/>
                </a:solidFill>
                <a:latin typeface="Segoe UI"/>
              </a:rPr>
              <a:t>[timestamp]</a:t>
            </a:r>
          </a:p>
        </p:txBody>
      </p:sp>
      <p:sp>
        <p:nvSpPr>
          <p:cNvPr id="19" name="TextBox 18"/>
          <p:cNvSpPr txBox="1"/>
          <p:nvPr/>
        </p:nvSpPr>
        <p:spPr>
          <a:xfrm>
            <a:off x="9582912" y="1920240"/>
            <a:ext cx="2139696" cy="274320"/>
          </a:xfrm>
          <a:prstGeom prst="rect">
            <a:avLst/>
          </a:prstGeom>
          <a:noFill/>
        </p:spPr>
        <p:txBody>
          <a:bodyPr wrap="square" lIns="0" rIns="0" tIns="0" bIns="0">
            <a:spAutoFit/>
          </a:bodyPr>
          <a:lstStyle/>
          <a:p>
            <a:pPr algn="l"/>
            <a:r>
              <a:rPr sz="1000" b="0">
                <a:solidFill>
                  <a:srgbClr val="111827"/>
                </a:solidFill>
                <a:latin typeface="Segoe UI"/>
              </a:rPr>
              <a:t>datetime</a:t>
            </a:r>
          </a:p>
        </p:txBody>
      </p:sp>
      <p:sp>
        <p:nvSpPr>
          <p:cNvPr id="20" name="Rectangle 19"/>
          <p:cNvSpPr/>
          <p:nvPr/>
        </p:nvSpPr>
        <p:spPr>
          <a:xfrm>
            <a:off x="365760" y="2231136"/>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2267712"/>
            <a:ext cx="2688336" cy="274320"/>
          </a:xfrm>
          <a:prstGeom prst="rect">
            <a:avLst/>
          </a:prstGeom>
          <a:noFill/>
        </p:spPr>
        <p:txBody>
          <a:bodyPr wrap="square" lIns="0" rIns="0" tIns="0" bIns="0">
            <a:spAutoFit/>
          </a:bodyPr>
          <a:lstStyle/>
          <a:p>
            <a:pPr algn="l"/>
            <a:r>
              <a:rPr sz="1000" b="1">
                <a:solidFill>
                  <a:srgbClr val="6D28D9"/>
                </a:solidFill>
                <a:latin typeface="Segoe UI"/>
              </a:rPr>
              <a:t>Session 1 Booked</a:t>
            </a:r>
          </a:p>
        </p:txBody>
      </p:sp>
      <p:sp>
        <p:nvSpPr>
          <p:cNvPr id="22" name="TextBox 21"/>
          <p:cNvSpPr txBox="1"/>
          <p:nvPr/>
        </p:nvSpPr>
        <p:spPr>
          <a:xfrm>
            <a:off x="3273552" y="2267712"/>
            <a:ext cx="3328415" cy="274320"/>
          </a:xfrm>
          <a:prstGeom prst="rect">
            <a:avLst/>
          </a:prstGeom>
          <a:noFill/>
        </p:spPr>
        <p:txBody>
          <a:bodyPr wrap="square" lIns="0" rIns="0" tIns="0" bIns="0">
            <a:spAutoFit/>
          </a:bodyPr>
          <a:lstStyle/>
          <a:p>
            <a:pPr algn="l"/>
            <a:r>
              <a:rPr sz="1000" b="0">
                <a:solidFill>
                  <a:srgbClr val="111827"/>
                </a:solidFill>
                <a:latin typeface="Segoe UI"/>
              </a:rPr>
              <a:t>session_1_booked_date</a:t>
            </a:r>
          </a:p>
        </p:txBody>
      </p:sp>
      <p:sp>
        <p:nvSpPr>
          <p:cNvPr id="23" name="TextBox 22"/>
          <p:cNvSpPr txBox="1"/>
          <p:nvPr/>
        </p:nvSpPr>
        <p:spPr>
          <a:xfrm>
            <a:off x="6748272" y="2267712"/>
            <a:ext cx="2688336" cy="274320"/>
          </a:xfrm>
          <a:prstGeom prst="rect">
            <a:avLst/>
          </a:prstGeom>
          <a:noFill/>
        </p:spPr>
        <p:txBody>
          <a:bodyPr wrap="square" lIns="0" rIns="0" tIns="0" bIns="0">
            <a:spAutoFit/>
          </a:bodyPr>
          <a:lstStyle/>
          <a:p>
            <a:pPr algn="l"/>
            <a:r>
              <a:rPr sz="1000" b="0">
                <a:solidFill>
                  <a:srgbClr val="111827"/>
                </a:solidFill>
                <a:latin typeface="Segoe UI"/>
              </a:rPr>
              <a:t>[timestamp]</a:t>
            </a:r>
          </a:p>
        </p:txBody>
      </p:sp>
      <p:sp>
        <p:nvSpPr>
          <p:cNvPr id="24" name="TextBox 23"/>
          <p:cNvSpPr txBox="1"/>
          <p:nvPr/>
        </p:nvSpPr>
        <p:spPr>
          <a:xfrm>
            <a:off x="9582912" y="2267712"/>
            <a:ext cx="2139696" cy="274320"/>
          </a:xfrm>
          <a:prstGeom prst="rect">
            <a:avLst/>
          </a:prstGeom>
          <a:noFill/>
        </p:spPr>
        <p:txBody>
          <a:bodyPr wrap="square" lIns="0" rIns="0" tIns="0" bIns="0">
            <a:spAutoFit/>
          </a:bodyPr>
          <a:lstStyle/>
          <a:p>
            <a:pPr algn="l"/>
            <a:r>
              <a:rPr sz="1000" b="0">
                <a:solidFill>
                  <a:srgbClr val="111827"/>
                </a:solidFill>
                <a:latin typeface="Segoe UI"/>
              </a:rPr>
              <a:t>datetime</a:t>
            </a:r>
          </a:p>
        </p:txBody>
      </p:sp>
      <p:sp>
        <p:nvSpPr>
          <p:cNvPr id="25" name="TextBox 24"/>
          <p:cNvSpPr txBox="1"/>
          <p:nvPr/>
        </p:nvSpPr>
        <p:spPr>
          <a:xfrm>
            <a:off x="438912" y="2615184"/>
            <a:ext cx="2688336" cy="274320"/>
          </a:xfrm>
          <a:prstGeom prst="rect">
            <a:avLst/>
          </a:prstGeom>
          <a:noFill/>
        </p:spPr>
        <p:txBody>
          <a:bodyPr wrap="square" lIns="0" rIns="0" tIns="0" bIns="0">
            <a:spAutoFit/>
          </a:bodyPr>
          <a:lstStyle/>
          <a:p>
            <a:pPr algn="l"/>
            <a:r>
              <a:rPr sz="1000" b="1">
                <a:solidFill>
                  <a:srgbClr val="6D28D9"/>
                </a:solidFill>
                <a:latin typeface="Segoe UI"/>
              </a:rPr>
              <a:t>Session 1 Held</a:t>
            </a:r>
          </a:p>
        </p:txBody>
      </p:sp>
      <p:sp>
        <p:nvSpPr>
          <p:cNvPr id="26" name="TextBox 25"/>
          <p:cNvSpPr txBox="1"/>
          <p:nvPr/>
        </p:nvSpPr>
        <p:spPr>
          <a:xfrm>
            <a:off x="3273552" y="2615184"/>
            <a:ext cx="3328415" cy="274320"/>
          </a:xfrm>
          <a:prstGeom prst="rect">
            <a:avLst/>
          </a:prstGeom>
          <a:noFill/>
        </p:spPr>
        <p:txBody>
          <a:bodyPr wrap="square" lIns="0" rIns="0" tIns="0" bIns="0">
            <a:spAutoFit/>
          </a:bodyPr>
          <a:lstStyle/>
          <a:p>
            <a:pPr algn="l"/>
            <a:r>
              <a:rPr sz="1000" b="0">
                <a:solidFill>
                  <a:srgbClr val="111827"/>
                </a:solidFill>
                <a:latin typeface="Segoe UI"/>
              </a:rPr>
              <a:t>session_1_held_date</a:t>
            </a:r>
          </a:p>
        </p:txBody>
      </p:sp>
      <p:sp>
        <p:nvSpPr>
          <p:cNvPr id="27" name="TextBox 26"/>
          <p:cNvSpPr txBox="1"/>
          <p:nvPr/>
        </p:nvSpPr>
        <p:spPr>
          <a:xfrm>
            <a:off x="6748272" y="2615184"/>
            <a:ext cx="2688336" cy="274320"/>
          </a:xfrm>
          <a:prstGeom prst="rect">
            <a:avLst/>
          </a:prstGeom>
          <a:noFill/>
        </p:spPr>
        <p:txBody>
          <a:bodyPr wrap="square" lIns="0" rIns="0" tIns="0" bIns="0">
            <a:spAutoFit/>
          </a:bodyPr>
          <a:lstStyle/>
          <a:p>
            <a:pPr algn="l"/>
            <a:r>
              <a:rPr sz="1000" b="0">
                <a:solidFill>
                  <a:srgbClr val="111827"/>
                </a:solidFill>
                <a:latin typeface="Segoe UI"/>
              </a:rPr>
              <a:t>[timestamp]</a:t>
            </a:r>
          </a:p>
        </p:txBody>
      </p:sp>
      <p:sp>
        <p:nvSpPr>
          <p:cNvPr id="28" name="TextBox 27"/>
          <p:cNvSpPr txBox="1"/>
          <p:nvPr/>
        </p:nvSpPr>
        <p:spPr>
          <a:xfrm>
            <a:off x="9582912" y="2615184"/>
            <a:ext cx="2139696" cy="274320"/>
          </a:xfrm>
          <a:prstGeom prst="rect">
            <a:avLst/>
          </a:prstGeom>
          <a:noFill/>
        </p:spPr>
        <p:txBody>
          <a:bodyPr wrap="square" lIns="0" rIns="0" tIns="0" bIns="0">
            <a:spAutoFit/>
          </a:bodyPr>
          <a:lstStyle/>
          <a:p>
            <a:pPr algn="l"/>
            <a:r>
              <a:rPr sz="1000" b="0">
                <a:solidFill>
                  <a:srgbClr val="111827"/>
                </a:solidFill>
                <a:latin typeface="Segoe UI"/>
              </a:rPr>
              <a:t>datetime</a:t>
            </a:r>
          </a:p>
        </p:txBody>
      </p:sp>
      <p:sp>
        <p:nvSpPr>
          <p:cNvPr id="29" name="Rectangle 28"/>
          <p:cNvSpPr/>
          <p:nvPr/>
        </p:nvSpPr>
        <p:spPr>
          <a:xfrm>
            <a:off x="365760" y="2926079"/>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2962656"/>
            <a:ext cx="2688336" cy="274320"/>
          </a:xfrm>
          <a:prstGeom prst="rect">
            <a:avLst/>
          </a:prstGeom>
          <a:noFill/>
        </p:spPr>
        <p:txBody>
          <a:bodyPr wrap="square" lIns="0" rIns="0" tIns="0" bIns="0">
            <a:spAutoFit/>
          </a:bodyPr>
          <a:lstStyle/>
          <a:p>
            <a:pPr algn="l"/>
            <a:r>
              <a:rPr sz="1000" b="1">
                <a:solidFill>
                  <a:srgbClr val="6D28D9"/>
                </a:solidFill>
                <a:latin typeface="Segoe UI"/>
              </a:rPr>
              <a:t>Session 2 Held</a:t>
            </a:r>
          </a:p>
        </p:txBody>
      </p:sp>
      <p:sp>
        <p:nvSpPr>
          <p:cNvPr id="31" name="TextBox 30"/>
          <p:cNvSpPr txBox="1"/>
          <p:nvPr/>
        </p:nvSpPr>
        <p:spPr>
          <a:xfrm>
            <a:off x="3273552" y="2962656"/>
            <a:ext cx="3328415" cy="274320"/>
          </a:xfrm>
          <a:prstGeom prst="rect">
            <a:avLst/>
          </a:prstGeom>
          <a:noFill/>
        </p:spPr>
        <p:txBody>
          <a:bodyPr wrap="square" lIns="0" rIns="0" tIns="0" bIns="0">
            <a:spAutoFit/>
          </a:bodyPr>
          <a:lstStyle/>
          <a:p>
            <a:pPr algn="l"/>
            <a:r>
              <a:rPr sz="1000" b="0">
                <a:solidFill>
                  <a:srgbClr val="111827"/>
                </a:solidFill>
                <a:latin typeface="Segoe UI"/>
              </a:rPr>
              <a:t>session_2_held_date</a:t>
            </a:r>
          </a:p>
        </p:txBody>
      </p:sp>
      <p:sp>
        <p:nvSpPr>
          <p:cNvPr id="32" name="TextBox 31"/>
          <p:cNvSpPr txBox="1"/>
          <p:nvPr/>
        </p:nvSpPr>
        <p:spPr>
          <a:xfrm>
            <a:off x="6748272" y="2962656"/>
            <a:ext cx="2688336" cy="274320"/>
          </a:xfrm>
          <a:prstGeom prst="rect">
            <a:avLst/>
          </a:prstGeom>
          <a:noFill/>
        </p:spPr>
        <p:txBody>
          <a:bodyPr wrap="square" lIns="0" rIns="0" tIns="0" bIns="0">
            <a:spAutoFit/>
          </a:bodyPr>
          <a:lstStyle/>
          <a:p>
            <a:pPr algn="l"/>
            <a:r>
              <a:rPr sz="1000" b="0">
                <a:solidFill>
                  <a:srgbClr val="111827"/>
                </a:solidFill>
                <a:latin typeface="Segoe UI"/>
              </a:rPr>
              <a:t>[timestamp]</a:t>
            </a:r>
          </a:p>
        </p:txBody>
      </p:sp>
      <p:sp>
        <p:nvSpPr>
          <p:cNvPr id="33" name="TextBox 32"/>
          <p:cNvSpPr txBox="1"/>
          <p:nvPr/>
        </p:nvSpPr>
        <p:spPr>
          <a:xfrm>
            <a:off x="9582912" y="2962656"/>
            <a:ext cx="2139696" cy="274320"/>
          </a:xfrm>
          <a:prstGeom prst="rect">
            <a:avLst/>
          </a:prstGeom>
          <a:noFill/>
        </p:spPr>
        <p:txBody>
          <a:bodyPr wrap="square" lIns="0" rIns="0" tIns="0" bIns="0">
            <a:spAutoFit/>
          </a:bodyPr>
          <a:lstStyle/>
          <a:p>
            <a:pPr algn="l"/>
            <a:r>
              <a:rPr sz="1000" b="0">
                <a:solidFill>
                  <a:srgbClr val="111827"/>
                </a:solidFill>
                <a:latin typeface="Segoe UI"/>
              </a:rPr>
              <a:t>datetime</a:t>
            </a:r>
          </a:p>
        </p:txBody>
      </p:sp>
      <p:sp>
        <p:nvSpPr>
          <p:cNvPr id="34" name="TextBox 33"/>
          <p:cNvSpPr txBox="1"/>
          <p:nvPr/>
        </p:nvSpPr>
        <p:spPr>
          <a:xfrm>
            <a:off x="438912" y="3310127"/>
            <a:ext cx="2688336" cy="274320"/>
          </a:xfrm>
          <a:prstGeom prst="rect">
            <a:avLst/>
          </a:prstGeom>
          <a:noFill/>
        </p:spPr>
        <p:txBody>
          <a:bodyPr wrap="square" lIns="0" rIns="0" tIns="0" bIns="0">
            <a:spAutoFit/>
          </a:bodyPr>
          <a:lstStyle/>
          <a:p>
            <a:pPr algn="l"/>
            <a:r>
              <a:rPr sz="1000" b="1">
                <a:solidFill>
                  <a:srgbClr val="6D28D9"/>
                </a:solidFill>
                <a:latin typeface="Segoe UI"/>
              </a:rPr>
              <a:t>BDA Assigned</a:t>
            </a:r>
          </a:p>
        </p:txBody>
      </p:sp>
      <p:sp>
        <p:nvSpPr>
          <p:cNvPr id="35" name="TextBox 34"/>
          <p:cNvSpPr txBox="1"/>
          <p:nvPr/>
        </p:nvSpPr>
        <p:spPr>
          <a:xfrm>
            <a:off x="3273552" y="3310127"/>
            <a:ext cx="3328415" cy="274320"/>
          </a:xfrm>
          <a:prstGeom prst="rect">
            <a:avLst/>
          </a:prstGeom>
          <a:noFill/>
        </p:spPr>
        <p:txBody>
          <a:bodyPr wrap="square" lIns="0" rIns="0" tIns="0" bIns="0">
            <a:spAutoFit/>
          </a:bodyPr>
          <a:lstStyle/>
          <a:p>
            <a:pPr algn="l"/>
            <a:r>
              <a:rPr sz="1000" b="0">
                <a:solidFill>
                  <a:srgbClr val="111827"/>
                </a:solidFill>
                <a:latin typeface="Segoe UI"/>
              </a:rPr>
              <a:t>onboarding_success_agent</a:t>
            </a:r>
          </a:p>
        </p:txBody>
      </p:sp>
      <p:sp>
        <p:nvSpPr>
          <p:cNvPr id="36" name="TextBox 35"/>
          <p:cNvSpPr txBox="1"/>
          <p:nvPr/>
        </p:nvSpPr>
        <p:spPr>
          <a:xfrm>
            <a:off x="6748272" y="3310127"/>
            <a:ext cx="2688336" cy="274320"/>
          </a:xfrm>
          <a:prstGeom prst="rect">
            <a:avLst/>
          </a:prstGeom>
          <a:noFill/>
        </p:spPr>
        <p:txBody>
          <a:bodyPr wrap="square" lIns="0" rIns="0" tIns="0" bIns="0">
            <a:spAutoFit/>
          </a:bodyPr>
          <a:lstStyle/>
          <a:p>
            <a:pPr algn="l"/>
            <a:r>
              <a:rPr sz="1000" b="0">
                <a:solidFill>
                  <a:srgbClr val="111827"/>
                </a:solidFill>
                <a:latin typeface="Segoe UI"/>
              </a:rPr>
              <a:t>[BDA owner ID]</a:t>
            </a:r>
          </a:p>
        </p:txBody>
      </p:sp>
      <p:sp>
        <p:nvSpPr>
          <p:cNvPr id="37" name="TextBox 36"/>
          <p:cNvSpPr txBox="1"/>
          <p:nvPr/>
        </p:nvSpPr>
        <p:spPr>
          <a:xfrm>
            <a:off x="9582912" y="3310127"/>
            <a:ext cx="2139696" cy="274320"/>
          </a:xfrm>
          <a:prstGeom prst="rect">
            <a:avLst/>
          </a:prstGeom>
          <a:noFill/>
        </p:spPr>
        <p:txBody>
          <a:bodyPr wrap="square" lIns="0" rIns="0" tIns="0" bIns="0">
            <a:spAutoFit/>
          </a:bodyPr>
          <a:lstStyle/>
          <a:p>
            <a:pPr algn="l"/>
            <a:r>
              <a:rPr sz="1000" b="0">
                <a:solidFill>
                  <a:srgbClr val="111827"/>
                </a:solidFill>
                <a:latin typeface="Segoe UI"/>
              </a:rPr>
              <a:t>user</a:t>
            </a:r>
          </a:p>
        </p:txBody>
      </p:sp>
      <p:sp>
        <p:nvSpPr>
          <p:cNvPr id="38" name="Rectangle 37"/>
          <p:cNvSpPr/>
          <p:nvPr/>
        </p:nvSpPr>
        <p:spPr>
          <a:xfrm>
            <a:off x="365760" y="3621023"/>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 y="3657599"/>
            <a:ext cx="2688336" cy="274320"/>
          </a:xfrm>
          <a:prstGeom prst="rect">
            <a:avLst/>
          </a:prstGeom>
          <a:noFill/>
        </p:spPr>
        <p:txBody>
          <a:bodyPr wrap="square" lIns="0" rIns="0" tIns="0" bIns="0">
            <a:spAutoFit/>
          </a:bodyPr>
          <a:lstStyle/>
          <a:p>
            <a:pPr algn="l"/>
            <a:r>
              <a:rPr sz="1000" b="1">
                <a:solidFill>
                  <a:srgbClr val="6D28D9"/>
                </a:solidFill>
                <a:latin typeface="Segoe UI"/>
              </a:rPr>
              <a:t>First Bind</a:t>
            </a:r>
          </a:p>
        </p:txBody>
      </p:sp>
      <p:sp>
        <p:nvSpPr>
          <p:cNvPr id="40" name="TextBox 39"/>
          <p:cNvSpPr txBox="1"/>
          <p:nvPr/>
        </p:nvSpPr>
        <p:spPr>
          <a:xfrm>
            <a:off x="3273552" y="3657599"/>
            <a:ext cx="3328415" cy="274320"/>
          </a:xfrm>
          <a:prstGeom prst="rect">
            <a:avLst/>
          </a:prstGeom>
          <a:noFill/>
        </p:spPr>
        <p:txBody>
          <a:bodyPr wrap="square" lIns="0" rIns="0" tIns="0" bIns="0">
            <a:spAutoFit/>
          </a:bodyPr>
          <a:lstStyle/>
          <a:p>
            <a:pPr algn="l"/>
            <a:r>
              <a:rPr sz="1000" b="0">
                <a:solidFill>
                  <a:srgbClr val="111827"/>
                </a:solidFill>
                <a:latin typeface="Segoe UI"/>
              </a:rPr>
              <a:t>first_bind_date</a:t>
            </a:r>
          </a:p>
        </p:txBody>
      </p:sp>
      <p:sp>
        <p:nvSpPr>
          <p:cNvPr id="41" name="TextBox 40"/>
          <p:cNvSpPr txBox="1"/>
          <p:nvPr/>
        </p:nvSpPr>
        <p:spPr>
          <a:xfrm>
            <a:off x="6748272" y="3657599"/>
            <a:ext cx="2688336" cy="274320"/>
          </a:xfrm>
          <a:prstGeom prst="rect">
            <a:avLst/>
          </a:prstGeom>
          <a:noFill/>
        </p:spPr>
        <p:txBody>
          <a:bodyPr wrap="square" lIns="0" rIns="0" tIns="0" bIns="0">
            <a:spAutoFit/>
          </a:bodyPr>
          <a:lstStyle/>
          <a:p>
            <a:pPr algn="l"/>
            <a:r>
              <a:rPr sz="1000" b="0">
                <a:solidFill>
                  <a:srgbClr val="111827"/>
                </a:solidFill>
                <a:latin typeface="Segoe UI"/>
              </a:rPr>
              <a:t>[timestamp]</a:t>
            </a:r>
          </a:p>
        </p:txBody>
      </p:sp>
      <p:sp>
        <p:nvSpPr>
          <p:cNvPr id="42" name="TextBox 41"/>
          <p:cNvSpPr txBox="1"/>
          <p:nvPr/>
        </p:nvSpPr>
        <p:spPr>
          <a:xfrm>
            <a:off x="9582912" y="3657599"/>
            <a:ext cx="2139696" cy="274320"/>
          </a:xfrm>
          <a:prstGeom prst="rect">
            <a:avLst/>
          </a:prstGeom>
          <a:noFill/>
        </p:spPr>
        <p:txBody>
          <a:bodyPr wrap="square" lIns="0" rIns="0" tIns="0" bIns="0">
            <a:spAutoFit/>
          </a:bodyPr>
          <a:lstStyle/>
          <a:p>
            <a:pPr algn="l"/>
            <a:r>
              <a:rPr sz="1000" b="0">
                <a:solidFill>
                  <a:srgbClr val="111827"/>
                </a:solidFill>
                <a:latin typeface="Segoe UI"/>
              </a:rPr>
              <a:t>datetime</a:t>
            </a:r>
          </a:p>
        </p:txBody>
      </p:sp>
      <p:sp>
        <p:nvSpPr>
          <p:cNvPr id="43" name="TextBox 42"/>
          <p:cNvSpPr txBox="1"/>
          <p:nvPr/>
        </p:nvSpPr>
        <p:spPr>
          <a:xfrm>
            <a:off x="438912" y="4005072"/>
            <a:ext cx="2688336" cy="274320"/>
          </a:xfrm>
          <a:prstGeom prst="rect">
            <a:avLst/>
          </a:prstGeom>
          <a:noFill/>
        </p:spPr>
        <p:txBody>
          <a:bodyPr wrap="square" lIns="0" rIns="0" tIns="0" bIns="0">
            <a:spAutoFit/>
          </a:bodyPr>
          <a:lstStyle/>
          <a:p>
            <a:pPr algn="l"/>
            <a:r>
              <a:rPr sz="1000" b="1">
                <a:solidFill>
                  <a:srgbClr val="6D28D9"/>
                </a:solidFill>
                <a:latin typeface="Segoe UI"/>
              </a:rPr>
              <a:t>Graduated</a:t>
            </a:r>
          </a:p>
        </p:txBody>
      </p:sp>
      <p:sp>
        <p:nvSpPr>
          <p:cNvPr id="44" name="TextBox 43"/>
          <p:cNvSpPr txBox="1"/>
          <p:nvPr/>
        </p:nvSpPr>
        <p:spPr>
          <a:xfrm>
            <a:off x="3273552" y="4005072"/>
            <a:ext cx="3328415" cy="274320"/>
          </a:xfrm>
          <a:prstGeom prst="rect">
            <a:avLst/>
          </a:prstGeom>
          <a:noFill/>
        </p:spPr>
        <p:txBody>
          <a:bodyPr wrap="square" lIns="0" rIns="0" tIns="0" bIns="0">
            <a:spAutoFit/>
          </a:bodyPr>
          <a:lstStyle/>
          <a:p>
            <a:pPr algn="l"/>
            <a:r>
              <a:rPr sz="1000" b="0">
                <a:solidFill>
                  <a:srgbClr val="111827"/>
                </a:solidFill>
                <a:latin typeface="Segoe UI"/>
              </a:rPr>
              <a:t>onboarding_status</a:t>
            </a:r>
          </a:p>
        </p:txBody>
      </p:sp>
      <p:sp>
        <p:nvSpPr>
          <p:cNvPr id="45" name="TextBox 44"/>
          <p:cNvSpPr txBox="1"/>
          <p:nvPr/>
        </p:nvSpPr>
        <p:spPr>
          <a:xfrm>
            <a:off x="6748272" y="4005072"/>
            <a:ext cx="2688336" cy="274320"/>
          </a:xfrm>
          <a:prstGeom prst="rect">
            <a:avLst/>
          </a:prstGeom>
          <a:noFill/>
        </p:spPr>
        <p:txBody>
          <a:bodyPr wrap="square" lIns="0" rIns="0" tIns="0" bIns="0">
            <a:spAutoFit/>
          </a:bodyPr>
          <a:lstStyle/>
          <a:p>
            <a:pPr algn="l"/>
            <a:r>
              <a:rPr sz="1000" b="0">
                <a:solidFill>
                  <a:srgbClr val="111827"/>
                </a:solidFill>
                <a:latin typeface="Segoe UI"/>
              </a:rPr>
              <a:t>graduated</a:t>
            </a:r>
          </a:p>
        </p:txBody>
      </p:sp>
      <p:sp>
        <p:nvSpPr>
          <p:cNvPr id="46" name="TextBox 45"/>
          <p:cNvSpPr txBox="1"/>
          <p:nvPr/>
        </p:nvSpPr>
        <p:spPr>
          <a:xfrm>
            <a:off x="9582912" y="4005072"/>
            <a:ext cx="2139696" cy="274320"/>
          </a:xfrm>
          <a:prstGeom prst="rect">
            <a:avLst/>
          </a:prstGeom>
          <a:noFill/>
        </p:spPr>
        <p:txBody>
          <a:bodyPr wrap="square" lIns="0" rIns="0" tIns="0" bIns="0">
            <a:spAutoFit/>
          </a:bodyPr>
          <a:lstStyle/>
          <a:p>
            <a:pPr algn="l"/>
            <a:r>
              <a:rPr sz="1000" b="0">
                <a:solidFill>
                  <a:srgbClr val="111827"/>
                </a:solidFill>
                <a:latin typeface="Segoe UI"/>
              </a:rPr>
              <a:t>enum</a:t>
            </a:r>
          </a:p>
        </p:txBody>
      </p:sp>
      <p:sp>
        <p:nvSpPr>
          <p:cNvPr id="47" name="Rectangle 46"/>
          <p:cNvSpPr/>
          <p:nvPr/>
        </p:nvSpPr>
        <p:spPr>
          <a:xfrm>
            <a:off x="365760" y="4315968"/>
            <a:ext cx="11430000" cy="347472"/>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912" y="4352544"/>
            <a:ext cx="2688336" cy="274320"/>
          </a:xfrm>
          <a:prstGeom prst="rect">
            <a:avLst/>
          </a:prstGeom>
          <a:noFill/>
        </p:spPr>
        <p:txBody>
          <a:bodyPr wrap="square" lIns="0" rIns="0" tIns="0" bIns="0">
            <a:spAutoFit/>
          </a:bodyPr>
          <a:lstStyle/>
          <a:p>
            <a:pPr algn="l"/>
            <a:r>
              <a:rPr sz="1000" b="1">
                <a:solidFill>
                  <a:srgbClr val="6D28D9"/>
                </a:solidFill>
                <a:latin typeface="Segoe UI"/>
              </a:rPr>
              <a:t>Probation</a:t>
            </a:r>
          </a:p>
        </p:txBody>
      </p:sp>
      <p:sp>
        <p:nvSpPr>
          <p:cNvPr id="49" name="TextBox 48"/>
          <p:cNvSpPr txBox="1"/>
          <p:nvPr/>
        </p:nvSpPr>
        <p:spPr>
          <a:xfrm>
            <a:off x="3273552" y="4352544"/>
            <a:ext cx="3328415" cy="274320"/>
          </a:xfrm>
          <a:prstGeom prst="rect">
            <a:avLst/>
          </a:prstGeom>
          <a:noFill/>
        </p:spPr>
        <p:txBody>
          <a:bodyPr wrap="square" lIns="0" rIns="0" tIns="0" bIns="0">
            <a:spAutoFit/>
          </a:bodyPr>
          <a:lstStyle/>
          <a:p>
            <a:pPr algn="l"/>
            <a:r>
              <a:rPr sz="1000" b="0">
                <a:solidFill>
                  <a:srgbClr val="111827"/>
                </a:solidFill>
                <a:latin typeface="Segoe UI"/>
              </a:rPr>
              <a:t>probation_status / probation_start_date</a:t>
            </a:r>
          </a:p>
        </p:txBody>
      </p:sp>
      <p:sp>
        <p:nvSpPr>
          <p:cNvPr id="50" name="TextBox 49"/>
          <p:cNvSpPr txBox="1"/>
          <p:nvPr/>
        </p:nvSpPr>
        <p:spPr>
          <a:xfrm>
            <a:off x="6748272" y="4352544"/>
            <a:ext cx="2688336" cy="274320"/>
          </a:xfrm>
          <a:prstGeom prst="rect">
            <a:avLst/>
          </a:prstGeom>
          <a:noFill/>
        </p:spPr>
        <p:txBody>
          <a:bodyPr wrap="square" lIns="0" rIns="0" tIns="0" bIns="0">
            <a:spAutoFit/>
          </a:bodyPr>
          <a:lstStyle/>
          <a:p>
            <a:pPr algn="l"/>
            <a:r>
              <a:rPr sz="1000" b="0">
                <a:solidFill>
                  <a:srgbClr val="111827"/>
                </a:solidFill>
                <a:latin typeface="Segoe UI"/>
              </a:rPr>
              <a:t>active / [timestamp]</a:t>
            </a:r>
          </a:p>
        </p:txBody>
      </p:sp>
      <p:sp>
        <p:nvSpPr>
          <p:cNvPr id="51" name="TextBox 50"/>
          <p:cNvSpPr txBox="1"/>
          <p:nvPr/>
        </p:nvSpPr>
        <p:spPr>
          <a:xfrm>
            <a:off x="9582912" y="4352544"/>
            <a:ext cx="2139696" cy="274320"/>
          </a:xfrm>
          <a:prstGeom prst="rect">
            <a:avLst/>
          </a:prstGeom>
          <a:noFill/>
        </p:spPr>
        <p:txBody>
          <a:bodyPr wrap="square" lIns="0" rIns="0" tIns="0" bIns="0">
            <a:spAutoFit/>
          </a:bodyPr>
          <a:lstStyle/>
          <a:p>
            <a:pPr algn="l"/>
            <a:r>
              <a:rPr sz="1000" b="0">
                <a:solidFill>
                  <a:srgbClr val="111827"/>
                </a:solidFill>
                <a:latin typeface="Segoe UI"/>
              </a:rPr>
              <a:t>enum / datetime</a:t>
            </a:r>
          </a:p>
        </p:txBody>
      </p:sp>
      <p:sp>
        <p:nvSpPr>
          <p:cNvPr id="52" name="TextBox 51"/>
          <p:cNvSpPr txBox="1"/>
          <p:nvPr/>
        </p:nvSpPr>
        <p:spPr>
          <a:xfrm>
            <a:off x="438912" y="4700016"/>
            <a:ext cx="2688336" cy="274320"/>
          </a:xfrm>
          <a:prstGeom prst="rect">
            <a:avLst/>
          </a:prstGeom>
          <a:noFill/>
        </p:spPr>
        <p:txBody>
          <a:bodyPr wrap="square" lIns="0" rIns="0" tIns="0" bIns="0">
            <a:spAutoFit/>
          </a:bodyPr>
          <a:lstStyle/>
          <a:p>
            <a:pPr algn="l"/>
            <a:r>
              <a:rPr sz="1000" b="1">
                <a:solidFill>
                  <a:srgbClr val="6D28D9"/>
                </a:solidFill>
                <a:latin typeface="Segoe UI"/>
              </a:rPr>
              <a:t>Deactivated</a:t>
            </a:r>
          </a:p>
        </p:txBody>
      </p:sp>
      <p:sp>
        <p:nvSpPr>
          <p:cNvPr id="53" name="TextBox 52"/>
          <p:cNvSpPr txBox="1"/>
          <p:nvPr/>
        </p:nvSpPr>
        <p:spPr>
          <a:xfrm>
            <a:off x="3273552" y="4700016"/>
            <a:ext cx="3328415" cy="274320"/>
          </a:xfrm>
          <a:prstGeom prst="rect">
            <a:avLst/>
          </a:prstGeom>
          <a:noFill/>
        </p:spPr>
        <p:txBody>
          <a:bodyPr wrap="square" lIns="0" rIns="0" tIns="0" bIns="0">
            <a:spAutoFit/>
          </a:bodyPr>
          <a:lstStyle/>
          <a:p>
            <a:pPr algn="l"/>
            <a:r>
              <a:rPr sz="1000" b="0">
                <a:solidFill>
                  <a:srgbClr val="111827"/>
                </a:solidFill>
                <a:latin typeface="Segoe UI"/>
              </a:rPr>
              <a:t>onboarding_status</a:t>
            </a:r>
          </a:p>
        </p:txBody>
      </p:sp>
      <p:sp>
        <p:nvSpPr>
          <p:cNvPr id="54" name="TextBox 53"/>
          <p:cNvSpPr txBox="1"/>
          <p:nvPr/>
        </p:nvSpPr>
        <p:spPr>
          <a:xfrm>
            <a:off x="6748272" y="4700016"/>
            <a:ext cx="2688336" cy="274320"/>
          </a:xfrm>
          <a:prstGeom prst="rect">
            <a:avLst/>
          </a:prstGeom>
          <a:noFill/>
        </p:spPr>
        <p:txBody>
          <a:bodyPr wrap="square" lIns="0" rIns="0" tIns="0" bIns="0">
            <a:spAutoFit/>
          </a:bodyPr>
          <a:lstStyle/>
          <a:p>
            <a:pPr algn="l"/>
            <a:r>
              <a:rPr sz="1000" b="0">
                <a:solidFill>
                  <a:srgbClr val="111827"/>
                </a:solidFill>
                <a:latin typeface="Segoe UI"/>
              </a:rPr>
              <a:t>deactivated</a:t>
            </a:r>
          </a:p>
        </p:txBody>
      </p:sp>
      <p:sp>
        <p:nvSpPr>
          <p:cNvPr id="55" name="TextBox 54"/>
          <p:cNvSpPr txBox="1"/>
          <p:nvPr/>
        </p:nvSpPr>
        <p:spPr>
          <a:xfrm>
            <a:off x="9582912" y="4700016"/>
            <a:ext cx="2139696" cy="274320"/>
          </a:xfrm>
          <a:prstGeom prst="rect">
            <a:avLst/>
          </a:prstGeom>
          <a:noFill/>
        </p:spPr>
        <p:txBody>
          <a:bodyPr wrap="square" lIns="0" rIns="0" tIns="0" bIns="0">
            <a:spAutoFit/>
          </a:bodyPr>
          <a:lstStyle/>
          <a:p>
            <a:pPr algn="l"/>
            <a:r>
              <a:rPr sz="1000" b="0">
                <a:solidFill>
                  <a:srgbClr val="111827"/>
                </a:solidFill>
                <a:latin typeface="Segoe UI"/>
              </a:rPr>
              <a:t>enum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