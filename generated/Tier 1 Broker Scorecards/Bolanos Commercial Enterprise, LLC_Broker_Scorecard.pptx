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400" b="1">
                <a:solidFill>
                  <a:srgbClr val="FFFFFF"/>
                </a:solidFill>
                <a:latin typeface="Georgia"/>
              </a:rPr>
              <a:t>  Cover Whale Broker Scorecard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731520"/>
          <a:ext cx="8594445" cy="1865376"/>
        </p:xfrm>
        <a:graphic>
          <a:graphicData uri="http://schemas.openxmlformats.org/drawingml/2006/table">
            <a:tbl>
              <a:tblPr firstRow="0" bandRow="0" bandCol="0" lastRow="0" firstCol="0" lastCol="0">
                <a:tableStyleId>{5C22544A-7EE6-4342-B048-85BDC9FD1C3A}</a:tableStyleId>
              </a:tblPr>
              <a:tblGrid>
                <a:gridCol w="2864815"/>
                <a:gridCol w="2864815"/>
                <a:gridCol w="2864815"/>
              </a:tblGrid>
              <a:tr h="256032">
                <a:tc gridSpan="3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Agency: Bolanos Commercial Enterprise, LLC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2025 Full Year GWP / Rolling 12 Mo / YTD GWP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Tier  |  Hit Ratio / DOT Goal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Annual Goal (40% Growth)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latin typeface="Segoe UI"/>
                        </a:rPr>
                        <a:t>$1,014,499.25 / $752,126.57 / $134,802.81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Tier 1  |  12.03% / 15.00%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$1,420,298.95  (9.5% achieved)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56032">
                <a:tc gridSpan="3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Submission Metrics YTD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Submissions &amp; Binds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Bound Premium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Book 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Fleet Subs: 4  |  Binds: 1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Fleet Bound Premium: $44,959.73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Fleet Book %: 33.4%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Non-Fleet Subs: 129  |  Binds: 15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Non-Fleet Bound Premium: $89,843.08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Non-Fleet Book %: 66.6%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56032">
                <a:tc gridSpan="3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Agency Metrics YOY Comparison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2560320"/>
          <a:ext cx="8598097" cy="1417320"/>
        </p:xfrm>
        <a:graphic>
          <a:graphicData uri="http://schemas.openxmlformats.org/drawingml/2006/table">
            <a:tbl>
              <a:tblPr firstRow="0" bandRow="0" bandCol="0" lastRow="0" firstCol="0" lastCol="0">
                <a:tableStyleId>{5C22544A-7EE6-4342-B048-85BDC9FD1C3A}</a:tableStyleId>
              </a:tblPr>
              <a:tblGrid>
                <a:gridCol w="2864815"/>
                <a:gridCol w="955547"/>
                <a:gridCol w="955547"/>
                <a:gridCol w="955547"/>
                <a:gridCol w="955547"/>
                <a:gridCol w="955547"/>
                <a:gridCol w="955547"/>
              </a:tblGrid>
              <a:tr h="320040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Metric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Apr 2025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Apr 2026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May 2025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May 2026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Jun 2025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Jun 2026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Completed Submissions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42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DC2626"/>
                          </a:solidFill>
                          <a:latin typeface="Segoe UI"/>
                        </a:rPr>
                        <a:t>37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51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DC2626"/>
                          </a:solidFill>
                          <a:latin typeface="Segoe UI"/>
                        </a:rPr>
                        <a:t>22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30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Hit Ratio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50.0%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DC2626"/>
                          </a:solidFill>
                          <a:latin typeface="Segoe UI"/>
                        </a:rPr>
                        <a:t>13.5%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29.4%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DC2626"/>
                          </a:solidFill>
                          <a:latin typeface="Segoe UI"/>
                        </a:rPr>
                        <a:t>9.1%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30.0%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Binds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21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DC2626"/>
                          </a:solidFill>
                          <a:latin typeface="Segoe UI"/>
                        </a:rPr>
                        <a:t>5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15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DC2626"/>
                          </a:solidFill>
                          <a:latin typeface="Segoe UI"/>
                        </a:rPr>
                        <a:t>2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9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Bound Premium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latin typeface="Segoe UI"/>
                        </a:rPr>
                        <a:t>$69.2K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DC2626"/>
                          </a:solidFill>
                          <a:latin typeface="Segoe UI"/>
                        </a:rPr>
                        <a:t>$37.9K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latin typeface="Segoe UI"/>
                        </a:rPr>
                        <a:t>$94.7K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latin typeface="Segoe UI"/>
                        </a:rPr>
                        <a:t>$38.1K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