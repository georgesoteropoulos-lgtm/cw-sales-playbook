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9144000" cy="51435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9436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2400" b="1">
                <a:solidFill>
                  <a:srgbClr val="FFFFFF"/>
                </a:solidFill>
                <a:latin typeface="Georgia"/>
              </a:rPr>
              <a:t>  Cover Whale Broker Scorecard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274320" y="731520"/>
          <a:ext cx="8594445" cy="1865376"/>
        </p:xfrm>
        <a:graphic>
          <a:graphicData uri="http://schemas.openxmlformats.org/drawingml/2006/table">
            <a:tbl>
              <a:tblPr firstRow="0" bandRow="0" bandCol="0" lastRow="0" firstCol="0" lastCol="0">
                <a:tableStyleId>{5C22544A-7EE6-4342-B048-85BDC9FD1C3A}</a:tableStyleId>
              </a:tblPr>
              <a:tblGrid>
                <a:gridCol w="2864815"/>
                <a:gridCol w="2864815"/>
                <a:gridCol w="2864815"/>
              </a:tblGrid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Agency: Your Truck Shield LLC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2025 Full Year GWP / Rolling 12 Mo / YTD GWP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Tier  |  Hit Ratio / DOT Goal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Annual Goal (40% Growth)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>
                          <a:latin typeface="Segoe UI"/>
                        </a:rPr>
                        <a:t>$2,306,596.93 / $2,623,287.04 / $1,085,234.11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Tier 1  |  10.54% / 15.00%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$3,229,235.70  (33.6% achieved)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Submission Metrics YTD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Submissions &amp; Binds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Bound Premium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Book 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Subs: 24  |  Binds: 2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Bound Premium: $116,165.26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Book %: 10.7%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Subs: 479  |  Binds: 51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Bound Premium: $969,068.85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Book %: 89.3%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Agency Metrics YOY Comparison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</a:tbl>
          </a:graphicData>
        </a:graphic>
      </p:graphicFrame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274320" y="2560320"/>
          <a:ext cx="8598097" cy="1417320"/>
        </p:xfrm>
        <a:graphic>
          <a:graphicData uri="http://schemas.openxmlformats.org/drawingml/2006/table">
            <a:tbl>
              <a:tblPr firstRow="0" bandRow="0" bandCol="0" lastRow="0" firstCol="0" lastCol="0">
                <a:tableStyleId>{5C22544A-7EE6-4342-B048-85BDC9FD1C3A}</a:tableStyleId>
              </a:tblPr>
              <a:tblGrid>
                <a:gridCol w="2864815"/>
                <a:gridCol w="955547"/>
                <a:gridCol w="955547"/>
                <a:gridCol w="955547"/>
                <a:gridCol w="955547"/>
                <a:gridCol w="955547"/>
                <a:gridCol w="955547"/>
              </a:tblGrid>
              <a:tr h="320040"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Metric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Apr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Apr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May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May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Jun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Jun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Completed Submissions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141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128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123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64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132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Hit Ratio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9.2%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059669"/>
                          </a:solidFill>
                          <a:latin typeface="Segoe UI"/>
                        </a:rPr>
                        <a:t>19.5%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12.2%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059669"/>
                          </a:solidFill>
                          <a:latin typeface="Segoe UI"/>
                        </a:rPr>
                        <a:t>21.9%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11.4%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Binds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13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059669"/>
                          </a:solidFill>
                          <a:latin typeface="Segoe UI"/>
                        </a:rPr>
                        <a:t>25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15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14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15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Bound Premium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$144.0K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059669"/>
                          </a:solidFill>
                          <a:latin typeface="Segoe UI"/>
                        </a:rPr>
                        <a:t>$359.6K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$177.3K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DC2626"/>
                          </a:solidFill>
                          <a:latin typeface="Segoe UI"/>
                        </a:rPr>
                        <a:t>$78.1K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$237.0K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