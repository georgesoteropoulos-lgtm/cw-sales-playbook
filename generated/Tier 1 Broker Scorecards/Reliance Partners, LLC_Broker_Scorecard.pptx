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9144000" cy="51435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94360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2400" b="1">
                <a:solidFill>
                  <a:srgbClr val="FFFFFF"/>
                </a:solidFill>
                <a:latin typeface="Georgia"/>
              </a:rPr>
              <a:t>  Cover Whale Broker Scorecard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274320" y="731520"/>
          <a:ext cx="8594445" cy="1865376"/>
        </p:xfrm>
        <a:graphic>
          <a:graphicData uri="http://schemas.openxmlformats.org/drawingml/2006/table">
            <a:tbl>
              <a:tblPr firstRow="0" bandRow="0" bandCol="0" lastRow="0" firstCol="0" lastCol="0">
                <a:tableStyleId>{5C22544A-7EE6-4342-B048-85BDC9FD1C3A}</a:tableStyleId>
              </a:tblPr>
              <a:tblGrid>
                <a:gridCol w="2864815"/>
                <a:gridCol w="2864815"/>
                <a:gridCol w="2864815"/>
              </a:tblGrid>
              <a:tr h="256032">
                <a:tc gridSpan="3"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Agency: Reliance Partners, LLC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2025 Full Year GWP / Rolling 12 Mo / YTD GWP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Tier  |  Hit Ratio / DOT Goal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Annual Goal (40% Growth)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800">
                          <a:latin typeface="Segoe UI"/>
                        </a:rPr>
                        <a:t>$11,296,745.54 / $11,216,159.96 / $4,214,690.27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Tier 1  |  1.80% / 15.00%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$15,815,443.76  (26.6% achieved)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56032">
                <a:tc gridSpan="3"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Submission Metrics YTD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Submissions &amp; Binds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Bound Premium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Book 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Fleet Subs: 1081  |  Binds: 21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Fleet Bound Premium: $1,994,802.58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Fleet Book %: 47.3%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Non-Fleet Subs: 5347  |  Binds: 95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Non-Fleet Bound Premium: $2,219,887.69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Non-Fleet Book %: 52.7%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56032">
                <a:tc gridSpan="3"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Agency Metrics YOY Comparison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</a:tbl>
          </a:graphicData>
        </a:graphic>
      </p:graphicFrame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274320" y="2560320"/>
          <a:ext cx="8598097" cy="1417320"/>
        </p:xfrm>
        <a:graphic>
          <a:graphicData uri="http://schemas.openxmlformats.org/drawingml/2006/table">
            <a:tbl>
              <a:tblPr firstRow="0" bandRow="0" bandCol="0" lastRow="0" firstCol="0" lastCol="0">
                <a:tableStyleId>{5C22544A-7EE6-4342-B048-85BDC9FD1C3A}</a:tableStyleId>
              </a:tblPr>
              <a:tblGrid>
                <a:gridCol w="2864815"/>
                <a:gridCol w="955547"/>
                <a:gridCol w="955547"/>
                <a:gridCol w="955547"/>
                <a:gridCol w="955547"/>
                <a:gridCol w="955547"/>
                <a:gridCol w="955547"/>
              </a:tblGrid>
              <a:tr h="320040"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Metric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Apr 2025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Apr 2026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May 2025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May 2026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Jun 2025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Jun 2026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latin typeface="Georgia"/>
                        </a:rPr>
                        <a:t>Completed Submissions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1548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DC2626"/>
                          </a:solidFill>
                          <a:latin typeface="Segoe UI"/>
                        </a:rPr>
                        <a:t>1367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1464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DC2626"/>
                          </a:solidFill>
                          <a:latin typeface="Segoe UI"/>
                        </a:rPr>
                        <a:t>1110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1569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/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latin typeface="Georgia"/>
                        </a:rPr>
                        <a:t>Hit Ratio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5.4%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DC2626"/>
                          </a:solidFill>
                          <a:latin typeface="Segoe UI"/>
                        </a:rPr>
                        <a:t>3.4%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4.9%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DC2626"/>
                          </a:solidFill>
                          <a:latin typeface="Segoe UI"/>
                        </a:rPr>
                        <a:t>3.4%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5.7%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/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latin typeface="Georgia"/>
                        </a:rPr>
                        <a:t>Binds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84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DC2626"/>
                          </a:solidFill>
                          <a:latin typeface="Segoe UI"/>
                        </a:rPr>
                        <a:t>46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72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DC2626"/>
                          </a:solidFill>
                          <a:latin typeface="Segoe UI"/>
                        </a:rPr>
                        <a:t>38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89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/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latin typeface="Georgia"/>
                        </a:rPr>
                        <a:t>Bound Premium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latin typeface="Segoe UI"/>
                        </a:rPr>
                        <a:t>$1.16M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solidFill>
                            <a:srgbClr val="059669"/>
                          </a:solidFill>
                          <a:latin typeface="Segoe UI"/>
                        </a:rPr>
                        <a:t>$1.32M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latin typeface="Segoe UI"/>
                        </a:rPr>
                        <a:t>$1.31M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solidFill>
                            <a:srgbClr val="DC2626"/>
                          </a:solidFill>
                          <a:latin typeface="Segoe UI"/>
                        </a:rPr>
                        <a:t>$1.00M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latin typeface="Segoe UI"/>
                        </a:rPr>
                        <a:t>$1.13M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/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