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9436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2400" b="1">
                <a:solidFill>
                  <a:srgbClr val="FFFFFF"/>
                </a:solidFill>
                <a:latin typeface="Georgia"/>
              </a:rPr>
              <a:t>  Cover Whale Broker Scorecard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731520"/>
          <a:ext cx="8594445" cy="1865376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2864815"/>
                <a:gridCol w="2864815"/>
              </a:tblGrid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Agency: CASCADE INSURANCE SERVICES INC DBA: CASCADE MUTUAL INSURANCE SERVICES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2025 Full Year GWP / Rolling 12 Mo / YTD GWP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Tier  |  Hit Ratio / DOT Goal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Annual Goal (40% Growth)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>
                          <a:latin typeface="Segoe UI"/>
                        </a:rPr>
                        <a:t>$1,687,025.60 / $4,771,168.83 / $3,131,951.81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Tier 1  |  10.50% / 15.00%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$2,361,835.84  (132.6% achieved)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Submission Metrics YTD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Submissions &amp; Binds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800" b="1">
                          <a:latin typeface="Georgia"/>
                        </a:rPr>
                        <a:t>Book 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Subs: 103  |  Binds: 12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Bound Premium: $1,518,265.84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Fleet Book %: 48.5%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Subs: 554  |  Binds: 57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Bound Premium: $1,613,685.97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00">
                          <a:latin typeface="Segoe UI"/>
                        </a:rPr>
                        <a:t>Non-Fleet Book %: 51.5%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56032">
                <a:tc gridSpan="3"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Agency Metrics YOY Comparison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74320" y="2560320"/>
          <a:ext cx="8598097" cy="1417320"/>
        </p:xfrm>
        <a:graphic>
          <a:graphicData uri="http://schemas.openxmlformats.org/drawingml/2006/table">
            <a:tbl>
              <a:tblPr firstRow="0" bandRow="0" bandCol="0" lastRow="0" firstCol="0" lastCol="0">
                <a:tableStyleId>{5C22544A-7EE6-4342-B048-85BDC9FD1C3A}</a:tableStyleId>
              </a:tblPr>
              <a:tblGrid>
                <a:gridCol w="2864815"/>
                <a:gridCol w="955547"/>
                <a:gridCol w="955547"/>
                <a:gridCol w="955547"/>
                <a:gridCol w="955547"/>
                <a:gridCol w="955547"/>
                <a:gridCol w="955547"/>
              </a:tblGrid>
              <a:tr h="32004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Metric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Apr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May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2025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Georgia"/>
                        </a:rPr>
                        <a:t>Jun 2026</a:t>
                      </a:r>
                    </a:p>
                  </a:txBody>
                  <a:tcPr marL="114300" marR="91425" marT="45700" marB="45700">
                    <a:solidFill>
                      <a:srgbClr val="7C3AED"/>
                    </a:solidFill>
                    <a:lnL w="6350" cap="flat" cmpd="sng">
                      <a:solidFill>
                        <a:srgbClr val="7C3AED"/>
                      </a:solidFill>
                    </a:lnL>
                    <a:lnR w="6350" cap="flat" cmpd="sng">
                      <a:solidFill>
                        <a:srgbClr val="7C3AED"/>
                      </a:solidFill>
                    </a:lnR>
                    <a:lnT w="6350" cap="flat" cmpd="sng">
                      <a:solidFill>
                        <a:srgbClr val="7C3AED"/>
                      </a:solidFill>
                    </a:lnT>
                    <a:lnB w="6350" cap="flat" cmpd="sng">
                      <a:solidFill>
                        <a:srgbClr val="7C3AED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Completed Submissions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119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198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129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100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125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Hit Ratio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21.0%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14.1%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19.4%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20.0%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22.4%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Binds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059669"/>
                          </a:solidFill>
                          <a:latin typeface="Segoe UI"/>
                        </a:rPr>
                        <a:t>28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25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solidFill>
                            <a:srgbClr val="DC2626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>28</a:t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/>
                      <a:r>
                        <a:rPr sz="900" b="1">
                          <a:latin typeface="Georgia"/>
                        </a:rPr>
                        <a:t>Bound Premium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$5.3K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solidFill>
                            <a:srgbClr val="059669"/>
                          </a:solidFill>
                          <a:latin typeface="Segoe UI"/>
                        </a:rPr>
                        <a:t>$747.5K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$603.6K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 b="1">
                          <a:latin typeface="Segoe UI"/>
                        </a:rPr>
                        <a:t>$9.0K</a:t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800">
                          <a:latin typeface="Segoe UI"/>
                        </a:rPr>
                        <a:t/>
                      </a:r>
                    </a:p>
                  </a:txBody>
                  <a:tcPr marL="114300" marR="91425" marT="45700" marB="45700">
                    <a:solidFill>
                      <a:srgbClr val="F5F3FF"/>
                    </a:solidFill>
                    <a:lnL w="6350" cap="flat" cmpd="sng">
                      <a:solidFill>
                        <a:srgbClr val="E5E7EB"/>
                      </a:solidFill>
                    </a:lnL>
                    <a:lnR w="6350" cap="flat" cmpd="sng">
                      <a:solidFill>
                        <a:srgbClr val="E5E7EB"/>
                      </a:solidFill>
                    </a:lnR>
                    <a:lnT w="6350" cap="flat" cmpd="sng">
                      <a:solidFill>
                        <a:srgbClr val="E5E7EB"/>
                      </a:solidFill>
                    </a:lnT>
                    <a:lnB w="6350" cap="flat" cmpd="sng">
                      <a:solidFill>
                        <a:srgbClr val="E5E7EB"/>
                      </a:solidFill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