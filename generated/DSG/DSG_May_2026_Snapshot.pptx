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0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32720" cy="10972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 Light"/>
              </a:rPr>
              <a:t>COVER WHALE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468880"/>
            <a:ext cx="9418320" cy="7315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3000" b="1">
                <a:solidFill>
                  <a:srgbClr val="E0D4F5"/>
                </a:solidFill>
                <a:latin typeface="Calibri Light"/>
              </a:rPr>
              <a:t>Dirt, Sand &amp; Gravel (DSG) Program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0" y="3291840"/>
            <a:ext cx="2651760" cy="36576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3520440"/>
            <a:ext cx="9418320" cy="5029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libri Light"/>
              </a:rPr>
              <a:t>Performance Snapshot  ·  May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160520"/>
            <a:ext cx="9418320" cy="3657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0">
                <a:solidFill>
                  <a:srgbClr val="88789E"/>
                </a:solidFill>
                <a:latin typeface="Calibri"/>
              </a:rPr>
              <a:t>As of May 30, 2026  | 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846320"/>
            <a:ext cx="9418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●  Dump trucks, sand haulers, gravel operations — classes most carriers decline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138928"/>
            <a:ext cx="9418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●  Available under Auto Physical Damage (APD) — standalone or packaged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431536"/>
            <a:ext cx="9418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●  Towing up to $25K  |  Roadside MASTERS assistance included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724144"/>
            <a:ext cx="9418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●  Nationwide appetite  |  Vehicles up to 23 years old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969264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E0D4F5"/>
                </a:solidFill>
                <a:latin typeface="Calibri"/>
              </a:rPr>
              <a:t>166 Accounts  |  $5.14M GWP  |  May 30,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164592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7947" y="1143000"/>
            <a:ext cx="192024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947" y="1348740"/>
            <a:ext cx="1920240" cy="5486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 Light"/>
              </a:rPr>
              <a:t>7,527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" y="1943100"/>
            <a:ext cx="1920240" cy="3200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 Light"/>
              </a:rPr>
              <a:t>SUBMISSIONS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" y="2263140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E0D4F5"/>
                </a:solidFill>
                <a:latin typeface="Calibri"/>
              </a:rPr>
              <a:t>YTD Processed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77059" y="1143000"/>
            <a:ext cx="192024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77059" y="1348740"/>
            <a:ext cx="1920240" cy="5486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 Light"/>
              </a:rPr>
              <a:t>166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77059" y="1943100"/>
            <a:ext cx="1920240" cy="3200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 Light"/>
              </a:rPr>
              <a:t>BOUND ACCOUNTS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77059" y="2263140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E0D4F5"/>
                </a:solidFill>
                <a:latin typeface="Calibri"/>
              </a:rPr>
              <a:t>Unique DOTs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6171" y="1143000"/>
            <a:ext cx="192024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6171" y="1348740"/>
            <a:ext cx="1920240" cy="5486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 Light"/>
              </a:rPr>
              <a:t>$5.14M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6171" y="1943100"/>
            <a:ext cx="1920240" cy="3200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 Light"/>
              </a:rPr>
              <a:t>GROSS WRITTEN PREM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6171" y="2263140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E0D4F5"/>
                </a:solidFill>
                <a:latin typeface="Calibri"/>
              </a:rPr>
              <a:t>Year-to-Date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55283" y="1143000"/>
            <a:ext cx="192024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55283" y="1348740"/>
            <a:ext cx="1920240" cy="5486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 Light"/>
              </a:rPr>
              <a:t>$30,966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5283" y="1943100"/>
            <a:ext cx="1920240" cy="3200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 Light"/>
              </a:rPr>
              <a:t>AVG PREM / ACCT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5283" y="2263140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E0D4F5"/>
                </a:solidFill>
                <a:latin typeface="Calibri"/>
              </a:rPr>
              <a:t>Per Policy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94395" y="1143000"/>
            <a:ext cx="192024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94395" y="1348740"/>
            <a:ext cx="1920240" cy="5486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 Light"/>
              </a:rPr>
              <a:t>2.2%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4395" y="1943100"/>
            <a:ext cx="1920240" cy="3200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 Light"/>
              </a:rPr>
              <a:t>BIND 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4395" y="2263140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E0D4F5"/>
                </a:solidFill>
                <a:latin typeface="Calibri"/>
              </a:rPr>
              <a:t>Bound ÷ Submissions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33507" y="1143000"/>
            <a:ext cx="192024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33507" y="1348740"/>
            <a:ext cx="1920240" cy="5486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 Light"/>
              </a:rPr>
              <a:t>83/544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33507" y="1943100"/>
            <a:ext cx="1920240" cy="3200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 Light"/>
              </a:rPr>
              <a:t>PRODUCING AGENCIES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33507" y="2263140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E0D4F5"/>
                </a:solidFill>
                <a:latin typeface="Calibri"/>
              </a:rPr>
              <a:t>461 not yet binding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2743200"/>
            <a:ext cx="11064240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Concentration: Top agency = 11% of GWP  ·  Top 5 agencies = 31% of GWP  ·  461 agencies submitting but not yet binding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2971800"/>
            <a:ext cx="1106424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2999232"/>
            <a:ext cx="11064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MONTHLY AT A GLANCE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06727" y="338328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706727" y="338328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706727" y="340156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January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06727" y="365760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18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06727" y="395020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43303" y="422452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$472K GWP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43303" y="449884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1,099 subs · 1.6% bind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80663" y="338328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480663" y="3383280"/>
            <a:ext cx="1682496" cy="237744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480663" y="340156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February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80663" y="365760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80663" y="395020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17239" y="422452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$1,059K GWP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17239" y="449884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1,398 subs · 2.0% bind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54599" y="338328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254599" y="338328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54599" y="340156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March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54599" y="365760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43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4599" y="395020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91175" y="422452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$1,103K GWP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91175" y="449884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1,678 subs · 2.6% bind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28535" y="338328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028535" y="3383280"/>
            <a:ext cx="1682496" cy="237744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028535" y="340156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April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28535" y="365760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42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28535" y="395020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65111" y="422452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$1,016K GWP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065111" y="449884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1,779 subs · 2.4% bind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802471" y="338328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802471" y="338328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802471" y="340156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May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802471" y="365760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36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02471" y="395020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839047" y="422452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$1,490K GWP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839047" y="449884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1,573 subs · 2.3% bind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" y="6510528"/>
            <a:ext cx="109728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May 30,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969264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TOP PRODUCING AGENCIES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E0D4F5"/>
                </a:solidFill>
                <a:latin typeface="Calibri"/>
              </a:rPr>
              <a:t>Ranked by Gross Written Premium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164592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43000"/>
          <a:ext cx="11064240" cy="46817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3520"/>
                <a:gridCol w="1645920"/>
                <a:gridCol w="1005840"/>
                <a:gridCol w="1828800"/>
                <a:gridCol w="128016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Rep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Accounts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Gross Written Premium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% of Total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#1  Cover Badger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$572,313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$343,293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James Reid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$274,849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Paramount Exclusive Insurance Services,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$205,197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$178,715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$173,702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Christopher Hayes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$158,292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Usg Insurance Services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James Reid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$152,121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Your Truck Shield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$139,343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Safeline Insurance Agency,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$136,077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Cal-Valley Insurance Services,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Lydia Ramos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$123,511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Valion Security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$107,975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2.1%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United Advantage Insurance Services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$96,590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Ins Professionals Of Georgia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Portia Lewis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$91,546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Mohsen Ins.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$87,610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1106424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Top 15 agencies = 55% of total GWP  ·  84 producing agencies YTD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109728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 6472  ·  May 30,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969264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BDM / BDA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E0D4F5"/>
                </a:solidFill>
                <a:latin typeface="Calibri"/>
              </a:rPr>
              <a:t>Rep-Level Submission &amp; Production Summary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164592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97280"/>
                <a:gridCol w="1005840"/>
                <a:gridCol w="1005840"/>
                <a:gridCol w="1005840"/>
                <a:gridCol w="1188720"/>
                <a:gridCol w="3383280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Rep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Agencies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Dec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$828,685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James Reid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$532,870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254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$532,605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1051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390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$408,533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447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$299,457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Christopher Hayes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334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$248,338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Lydia Ramos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$234,557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Portia Lewis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$149,352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Alexis Berrysmith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$126,384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Taylor Sloan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$64,793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Erika Cabrera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$61,423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Cameron Brader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$58,633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Antonio Reyes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$35,246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Westy McLaughlin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Unassigned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2812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1192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$1,110,326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109728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 6472 + HubSpot  ·  May 30,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969264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ALL SUBMISSIONS BY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E0D4F5"/>
                </a:solidFill>
                <a:latin typeface="Calibri"/>
              </a:rPr>
              <a:t>Ranked by Volume  |  544 agencies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164592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737360"/>
                <a:gridCol w="914400"/>
                <a:gridCol w="914400"/>
                <a:gridCol w="914400"/>
                <a:gridCol w="1188720"/>
                <a:gridCol w="1737360"/>
              </a:tblGrid>
              <a:tr h="22263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Rep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Dec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1703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$572,313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448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170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$173,702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James Reid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241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$274,849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5.9%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$343,293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United Advantage Insurance Services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$96,590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178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$178,715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Storrs Insurance Group,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Lydia Ramos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$60,643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Christopher Hayes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$158,292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Insurance4Truckers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140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$48,575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R-T Specialty,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$8,225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American Fleet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110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Rodriguez Insurance Agency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USA SPECIALTY INSURANCE/DBA PREVENTTY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$61,459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Horizons Insurance And Financial Services,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Antonio Reyes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$14,980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VL 17 Insurance Agency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Reliance Partners,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Protectgo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$50,317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Truckers Best Insurance dba Trucker Path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Erika Cabrera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$38,628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H2O Commercial Insurance Agency Corp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$20,481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Fast Insurance And Tax Services,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Network Truck Insurance Services,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Alexis Berrysmith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1106424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Showing top 22 of 544 agencies by submission volume  ·  Full list in DSG YTD Word Report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109728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 6472  ·  May 30,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969264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DISTRIBUTION BY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E0D4F5"/>
                </a:solidFill>
                <a:latin typeface="Calibri"/>
              </a:rPr>
              <a:t>Geographic Concentration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164592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143000"/>
          <a:ext cx="978408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371600"/>
                <a:gridCol w="1188720"/>
                <a:gridCol w="1463040"/>
                <a:gridCol w="1280160"/>
                <a:gridCol w="2194560"/>
                <a:gridCol w="1280160"/>
              </a:tblGrid>
              <a:tr h="21945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Category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Accounts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Submissions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% of Total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3,897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$2,482,086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48.3%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1,309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$1,337,183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26.0%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281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$329,545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6.4%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$182,977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$138,776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$32,771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$23,922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$21,130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$20,898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9.1%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$15,764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$15,034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$14,880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$13,649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NH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$12,128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$11,870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$11,445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$11,350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NJ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$8,775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$3,719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LA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$1,100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UT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NM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109728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 6472  ·  May 30,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969264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COVERAGE &amp; FLEET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E0D4F5"/>
                </a:solidFill>
                <a:latin typeface="Calibri"/>
              </a:rPr>
              <a:t>Coverage Line Mix  ·  Body Type  ·  Fleet Size Distribution  |  2026 YTD Bound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164592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704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COVERAGE MIX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36192"/>
            <a:ext cx="5394960" cy="43891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27632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Auto Liability (AL)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627632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$4,057,281  (79%)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011680"/>
            <a:ext cx="5394960" cy="43891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103120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Auto Physical Damage (APD)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103120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$509,170  (10%)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487168"/>
            <a:ext cx="5394960" cy="438912"/>
          </a:xfrm>
          <a:prstGeom prst="rect">
            <a:avLst/>
          </a:prstGeom>
          <a:solidFill>
            <a:srgbClr val="7B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578608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Other / Combined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578608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$573,828  (11%)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108960"/>
            <a:ext cx="5394960" cy="30175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13639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BODY TYPE MIX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493008"/>
            <a:ext cx="5394960" cy="36576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557016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1">
                <a:solidFill>
                  <a:srgbClr val="3A3A4A"/>
                </a:solidFill>
                <a:latin typeface="Calibri"/>
              </a:rPr>
              <a:t>Tractor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557016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100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557016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$2,721,064  (53%)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877056"/>
            <a:ext cx="5394960" cy="36576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941064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Dump Truck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3941064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3941064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$1,129,478  (22%)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261104"/>
            <a:ext cx="5394960" cy="36576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4325112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Unknown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17520" y="4325112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39" y="4325112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$820,566  (16%)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645152"/>
            <a:ext cx="5394960" cy="36576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709160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Box Truck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17520" y="4709160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49039" y="4709160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$20,094  (0%)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11430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11704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FLEET SIZE DISTRIBUTION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1536192"/>
            <a:ext cx="5394960" cy="43891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46520" y="1627632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1 Unit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0" y="1627632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118 accounts  (71%)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09360" y="2011680"/>
            <a:ext cx="5394960" cy="438912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46520" y="2103120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11+ Units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69680" y="2103120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1 accounts  (1%)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2487168"/>
            <a:ext cx="5394960" cy="43891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46520" y="2578608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2-3 Units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69680" y="2578608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38 accounts  (23%)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09360" y="2962656"/>
            <a:ext cx="5394960" cy="438912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46520" y="3054096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4-5 Units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69680" y="3054096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11 accounts  (7%)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9360" y="3438144"/>
            <a:ext cx="5394960" cy="43891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46520" y="3529584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6-10 Units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869680" y="3529584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5 accounts  (3%)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09360" y="3566160"/>
            <a:ext cx="5394960" cy="43891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09360" y="3611880"/>
            <a:ext cx="5394960" cy="34747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 Light"/>
              </a:rPr>
              <a:t>Average Fleet Size: 1.8 units/account  ·  Total Units: 304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09360" y="41148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09360" y="41422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AVG PREMIUM BY BODY TYPE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09360" y="4507992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46520" y="4581144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Tractor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52560" y="4581144"/>
            <a:ext cx="246888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2E0A5A"/>
                </a:solidFill>
                <a:latin typeface="Calibri"/>
              </a:rPr>
              <a:t>$27,211 avg  ·  100 accts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9360" y="4946904"/>
            <a:ext cx="5394960" cy="41148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46520" y="5020056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Dump Truck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52560" y="5020056"/>
            <a:ext cx="246888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2E0A5A"/>
                </a:solidFill>
                <a:latin typeface="Calibri"/>
              </a:rPr>
              <a:t>$28,237 avg  ·  40 accts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5385816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46520" y="5458968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Unknown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052560" y="5458968"/>
            <a:ext cx="246888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2E0A5A"/>
                </a:solidFill>
                <a:latin typeface="Calibri"/>
              </a:rPr>
              <a:t>$25,643 avg  ·  32 accts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309360" y="5824728"/>
            <a:ext cx="5394960" cy="41148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46520" y="5897880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Box Truck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52560" y="5897880"/>
            <a:ext cx="246888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2E0A5A"/>
                </a:solidFill>
                <a:latin typeface="Calibri"/>
              </a:rPr>
              <a:t>$20,094 avg  ·  1 accts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" y="6510528"/>
            <a:ext cx="109728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 6472  ·  May 30,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"/>
            <a:ext cx="969264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DSG Recent Binds — 2026 YTD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164592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515600" cy="3200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0">
                <a:solidFill>
                  <a:srgbClr val="88789E"/>
                </a:solidFill>
                <a:latin typeface="Calibri"/>
              </a:rPr>
              <a:t>166 unique accounts bound YTD — most recent first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554480"/>
          <a:ext cx="100584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286000"/>
                <a:gridCol w="3017520"/>
                <a:gridCol w="1645920"/>
                <a:gridCol w="685800"/>
                <a:gridCol w="1325880"/>
              </a:tblGrid>
              <a:tr h="269507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 Light"/>
                        </a:rPr>
                        <a:t>Date</a:t>
                      </a:r>
                    </a:p>
                  </a:txBody>
                  <a:tcPr anchor="ctr" marL="91440" marR="91440" marT="45720" marB="45720">
                    <a:solidFill>
                      <a:srgbClr val="5C2D9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91440" marR="91440" marT="45720" marB="45720">
                    <a:solidFill>
                      <a:srgbClr val="5C2D9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91440" marR="91440" marT="45720" marB="45720">
                    <a:solidFill>
                      <a:srgbClr val="5C2D9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 Light"/>
                        </a:rPr>
                        <a:t>Rep</a:t>
                      </a:r>
                    </a:p>
                  </a:txBody>
                  <a:tcPr anchor="ctr" marL="91440" marR="91440" marT="45720" marB="45720">
                    <a:solidFill>
                      <a:srgbClr val="5C2D9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91440" marR="91440" marT="45720" marB="45720">
                    <a:solidFill>
                      <a:srgbClr val="5C2D9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 Light"/>
                        </a:rPr>
                        <a:t>Premium</a:t>
                      </a:r>
                    </a:p>
                  </a:txBody>
                  <a:tcPr anchor="ctr" marL="91440" marR="91440" marT="45720" marB="45720">
                    <a:solidFill>
                      <a:srgbClr val="5C2D91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2026-05-28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MOALA &amp; CO LLC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Storrs Insurance Group, Inc.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Lydia Ramos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$19,660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2026-05-27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911 TRUCKING LLC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Checkers Truck Insurance Services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$32,388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2026-05-27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MARK STANFORD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Palerm Insurance Agency LLC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$32,699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2026-05-21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GERARDO CARRANCO GOMEZ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$11,549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2026-05-21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LEON CALDERON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$16,287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2026-05-20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J HADDEN LOGISTICS LLC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The Insurance Store Of Texas LLC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Lydia Ramos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$2,575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2026-05-19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VULCAN TRANSPORT US LLC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$318,765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2026-05-18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GRAY-GOLD READY MIX INC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James Reid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$23,978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2026-05-18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YPV FREIGHT INC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Ewall Insurance Company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$3,169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2026-05-15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G&amp;G DFW LOGISTICS LLC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$26,835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ECL TRUCKING LLC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Storrs Insurance Group, Inc.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Lydia Ramos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$21,496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AUXVAC LLC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Navsav Holdings Ii, LLC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Portia Lewis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$22,774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CASTANO CONSTRUCTION LLC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Valion Security LLC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$8,567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2026-05-13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INEZ FAMILY TRUCKING LLC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 LLC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$18,327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ESCAMILLA TRUCKING INC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$39,423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A &amp; D TRUCKING SERVICES LLC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PR Risk Management Group Inc.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$85,813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MIGUEL ANGEL RODRIGUEZ GARCIA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$11,582</a:t>
                      </a:r>
                    </a:p>
                  </a:txBody>
                  <a:tcPr anchor="ctr" marL="91440" marR="91440" marT="45720" marB="45720">
                    <a:solidFill>
                      <a:srgbClr val="F5F0FC"/>
                    </a:solidFill>
                  </a:tcPr>
                </a:tc>
              </a:tr>
              <a:tr h="2695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AJF HAULING SERVICES LLC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Eastern Underwriting Managers LLC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A3A4A"/>
                          </a:solidFill>
                          <a:latin typeface="Calibri"/>
                        </a:rPr>
                        <a:t>$32,489</a:t>
                      </a:r>
                    </a:p>
                  </a:txBody>
                  <a:tcPr anchor="ctr" marL="91440" marR="91440" marT="45720" marB="45720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109728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 6472  ·  May 30,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