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0A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Calibri Light"/>
              </a:rPr>
              <a:t>COVER WHALE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418320" cy="7315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3000" b="1">
                <a:solidFill>
                  <a:srgbClr val="E0D4F5"/>
                </a:solidFill>
                <a:latin typeface="Calibri Light"/>
              </a:rPr>
              <a:t>Dirt, Sand &amp; Gravel (DSG) Program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3291840"/>
            <a:ext cx="2651760" cy="36576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520440"/>
            <a:ext cx="9418320" cy="5029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 Light"/>
              </a:rPr>
              <a:t>Performance Snapshot  · 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60520"/>
            <a:ext cx="9418320" cy="3657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300" b="0">
                <a:solidFill>
                  <a:srgbClr val="88789E"/>
                </a:solidFill>
                <a:latin typeface="Calibri"/>
              </a:rPr>
              <a:t>As of May 29, 2026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846320"/>
            <a:ext cx="941832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"/>
              </a:rPr>
              <a:t>●  Dump trucks, sand haulers, gravel operations — classes most carriers decline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138928"/>
            <a:ext cx="941832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"/>
              </a:rPr>
              <a:t>●  Available under Auto Physical Damage (APD) — standalone or packaged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431536"/>
            <a:ext cx="941832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"/>
              </a:rPr>
              <a:t>●  Towing up to $25K  |  Roadside MASTERS assistance included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724144"/>
            <a:ext cx="941832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"/>
              </a:rPr>
              <a:t>●  Nationwide appetite  |  Vehicles up to 23 years 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69264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E0D4F5"/>
                </a:solidFill>
                <a:latin typeface="Calibri"/>
              </a:rPr>
              <a:t>164 Accounts  |  $5.08M GWP  |  May 29,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64592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947" y="1143000"/>
            <a:ext cx="1920240" cy="150876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" y="1348740"/>
            <a:ext cx="1920240" cy="5486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 Light"/>
              </a:rPr>
              <a:t>7,446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" y="1943100"/>
            <a:ext cx="1920240" cy="3200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 Light"/>
              </a:rPr>
              <a:t>SUBMISSIONS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" y="2263140"/>
            <a:ext cx="19202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000" b="0">
                <a:solidFill>
                  <a:srgbClr val="E0D4F5"/>
                </a:solidFill>
                <a:latin typeface="Calibri"/>
              </a:rPr>
              <a:t>YTD Processed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77059" y="1143000"/>
            <a:ext cx="1920240" cy="15087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77059" y="1348740"/>
            <a:ext cx="1920240" cy="5486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 Light"/>
              </a:rPr>
              <a:t>164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7059" y="1943100"/>
            <a:ext cx="1920240" cy="3200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 Light"/>
              </a:rPr>
              <a:t>BOUND ACCOUNTS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7059" y="2263140"/>
            <a:ext cx="19202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000" b="0">
                <a:solidFill>
                  <a:srgbClr val="E0D4F5"/>
                </a:solidFill>
                <a:latin typeface="Calibri"/>
              </a:rPr>
              <a:t>Unique DOTs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6171" y="1143000"/>
            <a:ext cx="1920240" cy="150876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6171" y="1348740"/>
            <a:ext cx="1920240" cy="5486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 Light"/>
              </a:rPr>
              <a:t>$5.08M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6171" y="1943100"/>
            <a:ext cx="1920240" cy="3200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 Light"/>
              </a:rPr>
              <a:t>GROSS WRITTEN PREM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6171" y="2263140"/>
            <a:ext cx="19202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000" b="0">
                <a:solidFill>
                  <a:srgbClr val="E0D4F5"/>
                </a:solidFill>
                <a:latin typeface="Calibri"/>
              </a:rPr>
              <a:t>Year-to-Date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5283" y="1143000"/>
            <a:ext cx="1920240" cy="15087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5283" y="1348740"/>
            <a:ext cx="1920240" cy="5486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 Light"/>
              </a:rPr>
              <a:t>$30,947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5283" y="1943100"/>
            <a:ext cx="1920240" cy="3200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 Light"/>
              </a:rPr>
              <a:t>AVG PREM / ACCT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5283" y="2263140"/>
            <a:ext cx="19202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000" b="0">
                <a:solidFill>
                  <a:srgbClr val="E0D4F5"/>
                </a:solidFill>
                <a:latin typeface="Calibri"/>
              </a:rPr>
              <a:t>Per Policy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94395" y="1143000"/>
            <a:ext cx="1920240" cy="150876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4395" y="1348740"/>
            <a:ext cx="1920240" cy="5486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 Light"/>
              </a:rPr>
              <a:t>2.2%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4395" y="1943100"/>
            <a:ext cx="1920240" cy="3200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 Light"/>
              </a:rPr>
              <a:t>BIND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4395" y="2263140"/>
            <a:ext cx="19202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000" b="0">
                <a:solidFill>
                  <a:srgbClr val="E0D4F5"/>
                </a:solidFill>
                <a:latin typeface="Calibri"/>
              </a:rPr>
              <a:t>Bound ÷ Submissions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33507" y="1143000"/>
            <a:ext cx="1920240" cy="15087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33507" y="1348740"/>
            <a:ext cx="1920240" cy="5486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 Light"/>
              </a:rPr>
              <a:t>82/541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33507" y="1943100"/>
            <a:ext cx="1920240" cy="3200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0">
                <a:solidFill>
                  <a:srgbClr val="E0D4F5"/>
                </a:solidFill>
                <a:latin typeface="Calibri Light"/>
              </a:rPr>
              <a:t>PRODUCING AGENCIES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33507" y="2263140"/>
            <a:ext cx="19202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000" b="0">
                <a:solidFill>
                  <a:srgbClr val="E0D4F5"/>
                </a:solidFill>
                <a:latin typeface="Calibri"/>
              </a:rPr>
              <a:t>459 not yet binding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743200"/>
            <a:ext cx="11064240" cy="20116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000" b="0">
                <a:solidFill>
                  <a:srgbClr val="88789E"/>
                </a:solidFill>
                <a:latin typeface="Calibri"/>
              </a:rPr>
              <a:t>Concentration: Top agency = 11% of GWP  ·  Top 5 agencies = 31% of GWP  ·  459 agencies submitting but not yet binding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971800"/>
            <a:ext cx="11064240" cy="301752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999232"/>
            <a:ext cx="110642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MONTHLY AT A GLANCE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06727" y="3383280"/>
            <a:ext cx="1682496" cy="169164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706727" y="3383280"/>
            <a:ext cx="1682496" cy="237744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06727" y="3401568"/>
            <a:ext cx="1682496" cy="20116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 Light"/>
              </a:rPr>
              <a:t>January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06727" y="3657600"/>
            <a:ext cx="1682496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800" b="1">
                <a:solidFill>
                  <a:srgbClr val="2E0A5A"/>
                </a:solidFill>
                <a:latin typeface="Calibri Light"/>
              </a:rPr>
              <a:t>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06727" y="3950208"/>
            <a:ext cx="1682496" cy="18288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700" b="0">
                <a:solidFill>
                  <a:srgbClr val="88789E"/>
                </a:solidFill>
                <a:latin typeface="Calibri Light"/>
              </a:rPr>
              <a:t>BOUND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43303" y="4224528"/>
            <a:ext cx="1609344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3A3A4A"/>
                </a:solidFill>
                <a:latin typeface="Calibri"/>
              </a:rPr>
              <a:t>$472K GWP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43303" y="4498848"/>
            <a:ext cx="1609344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3A3A4A"/>
                </a:solidFill>
                <a:latin typeface="Calibri"/>
              </a:rPr>
              <a:t>1,099 subs · 1.6% bind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80663" y="3383280"/>
            <a:ext cx="1682496" cy="169164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80663" y="3383280"/>
            <a:ext cx="1682496" cy="237744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80663" y="3401568"/>
            <a:ext cx="1682496" cy="20116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 Light"/>
              </a:rPr>
              <a:t>February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80663" y="3657600"/>
            <a:ext cx="1682496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800" b="1">
                <a:solidFill>
                  <a:srgbClr val="2E0A5A"/>
                </a:solidFill>
                <a:latin typeface="Calibri Light"/>
              </a:rPr>
              <a:t>28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80663" y="3950208"/>
            <a:ext cx="1682496" cy="18288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700" b="0">
                <a:solidFill>
                  <a:srgbClr val="88789E"/>
                </a:solidFill>
                <a:latin typeface="Calibri Light"/>
              </a:rPr>
              <a:t>BOUND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17239" y="4224528"/>
            <a:ext cx="1609344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3A3A4A"/>
                </a:solidFill>
                <a:latin typeface="Calibri"/>
              </a:rPr>
              <a:t>$1,059K GWP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17239" y="4498848"/>
            <a:ext cx="1609344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3A3A4A"/>
                </a:solidFill>
                <a:latin typeface="Calibri"/>
              </a:rPr>
              <a:t>1,398 subs · 2.0% bind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54599" y="3383280"/>
            <a:ext cx="1682496" cy="169164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4599" y="3383280"/>
            <a:ext cx="1682496" cy="237744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54599" y="3401568"/>
            <a:ext cx="1682496" cy="20116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 Light"/>
              </a:rPr>
              <a:t>March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54599" y="3657600"/>
            <a:ext cx="1682496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800" b="1">
                <a:solidFill>
                  <a:srgbClr val="2E0A5A"/>
                </a:solidFill>
                <a:latin typeface="Calibri Light"/>
              </a:rPr>
              <a:t>43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54599" y="3950208"/>
            <a:ext cx="1682496" cy="18288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700" b="0">
                <a:solidFill>
                  <a:srgbClr val="88789E"/>
                </a:solidFill>
                <a:latin typeface="Calibri Light"/>
              </a:rPr>
              <a:t>BOUND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91175" y="4224528"/>
            <a:ext cx="1609344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3A3A4A"/>
                </a:solidFill>
                <a:latin typeface="Calibri"/>
              </a:rPr>
              <a:t>$1,103K GWP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91175" y="4498848"/>
            <a:ext cx="1609344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3A3A4A"/>
                </a:solidFill>
                <a:latin typeface="Calibri"/>
              </a:rPr>
              <a:t>1,678 subs · 2.6% bind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28535" y="3383280"/>
            <a:ext cx="1682496" cy="169164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28535" y="3383280"/>
            <a:ext cx="1682496" cy="237744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28535" y="3401568"/>
            <a:ext cx="1682496" cy="20116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 Light"/>
              </a:rPr>
              <a:t>April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28535" y="3657600"/>
            <a:ext cx="1682496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800" b="1">
                <a:solidFill>
                  <a:srgbClr val="2E0A5A"/>
                </a:solidFill>
                <a:latin typeface="Calibri Light"/>
              </a:rPr>
              <a:t>42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28535" y="3950208"/>
            <a:ext cx="1682496" cy="18288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700" b="0">
                <a:solidFill>
                  <a:srgbClr val="88789E"/>
                </a:solidFill>
                <a:latin typeface="Calibri Light"/>
              </a:rPr>
              <a:t>BOUND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65111" y="4224528"/>
            <a:ext cx="1609344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3A3A4A"/>
                </a:solidFill>
                <a:latin typeface="Calibri"/>
              </a:rPr>
              <a:t>$1,016K GWP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65111" y="4498848"/>
            <a:ext cx="1609344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3A3A4A"/>
                </a:solidFill>
                <a:latin typeface="Calibri"/>
              </a:rPr>
              <a:t>1,779 subs · 2.4% bind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02471" y="3383280"/>
            <a:ext cx="1682496" cy="169164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802471" y="3383280"/>
            <a:ext cx="1682496" cy="237744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802471" y="3401568"/>
            <a:ext cx="1682496" cy="201168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 Light"/>
              </a:rPr>
              <a:t>May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02471" y="3657600"/>
            <a:ext cx="1682496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800" b="1">
                <a:solidFill>
                  <a:srgbClr val="2E0A5A"/>
                </a:solidFill>
                <a:latin typeface="Calibri Light"/>
              </a:rPr>
              <a:t>34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02471" y="3950208"/>
            <a:ext cx="1682496" cy="18288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700" b="0">
                <a:solidFill>
                  <a:srgbClr val="88789E"/>
                </a:solidFill>
                <a:latin typeface="Calibri Light"/>
              </a:rPr>
              <a:t>BOUND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39047" y="4224528"/>
            <a:ext cx="1609344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3A3A4A"/>
                </a:solidFill>
                <a:latin typeface="Calibri"/>
              </a:rPr>
              <a:t>$1,425K GWP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39047" y="4498848"/>
            <a:ext cx="1609344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800" b="0">
                <a:solidFill>
                  <a:srgbClr val="3A3A4A"/>
                </a:solidFill>
                <a:latin typeface="Calibri"/>
              </a:rPr>
              <a:t>1,492 subs · 2.3% bind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6510528"/>
            <a:ext cx="109728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Cards 6472 &amp; 10306  ·  May 29,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69264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TOP PRODUCING AGENCIES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E0D4F5"/>
                </a:solidFill>
                <a:latin typeface="Calibri"/>
              </a:rPr>
              <a:t>Ranked by Gross Written Premium  |  2026 YTD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64592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43000"/>
          <a:ext cx="110642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1645920"/>
                <a:gridCol w="1005840"/>
                <a:gridCol w="1828800"/>
                <a:gridCol w="128016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Agency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Rep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Accounts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Gross Written Premium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% of Total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#1  Cover Badger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$572,313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11.3%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AMC Agents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$343,293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6.8%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First Connect Insurance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James Reid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$274,849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5.4%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Paramount Exclusive Insurance Services, Inc.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Derek Janssen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$205,197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Justin Robert Insurance Agency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$178,715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3.5%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Fino Services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$173,702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3.4%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DNIS Inc.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Christopher Hayes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$158,292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3.1%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Usg Insurance Services Inc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James Reid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$152,121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Your Truck Shield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$139,343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Safeline Insurance Agency, Inc.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Derek Janssen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$136,077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Valion Security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Ron Douglas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$107,975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2.1%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United Advantage Insurance Services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Derek Janssen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$96,590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1.9%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Ins Professionals Of Georgia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Portia Lewis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$91,546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Mohsen Ins.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Derek Janssen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$87,610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PR Risk Management Group Inc.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$85,813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1106424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Top 15 agencies = 55% of total GWP  ·  83 producing agencies YTD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109728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 6472  ·  May 29,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69264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BDM / BDA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E0D4F5"/>
                </a:solidFill>
                <a:latin typeface="Calibri"/>
              </a:rPr>
              <a:t>Rep-Level Submission &amp; Production Summary  |  2026 YTD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64592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642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1005840"/>
                <a:gridCol w="1005840"/>
                <a:gridCol w="1005840"/>
                <a:gridCol w="1188720"/>
                <a:gridCol w="338328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Rep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Agencies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Subs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Dec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Bound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Bind Rate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GWP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Derek Janssen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618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241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$796,297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James Reid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322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157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3.7%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$532,870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617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251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3.9%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$532,605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1041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386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1.3%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$408,533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Ron Douglas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443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212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3.6%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$299,457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Christopher Hayes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330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161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4.5%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$248,338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Lydia Ramos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414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165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$169,596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Portia Lewis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158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3.8%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$149,352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Alexis Berrysmith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143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4.2%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$126,384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Taylor Sloan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124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2.4%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$64,793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Erika Cabrera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223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126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$61,423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Cameron Brader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1.5%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$58,633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Antonio Reyes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134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1.5%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$35,246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Westy McLaughlin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Unassigned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234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2790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1182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1.1%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$1,110,326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09728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 6472 + HubSpot  ·  May 29,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69264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ALL SUBMISSIONS BY AGENCY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E0D4F5"/>
                </a:solidFill>
                <a:latin typeface="Calibri"/>
              </a:rPr>
              <a:t>Ranked by Volume  |  541 agencies  |  2026 YTD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64592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642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737360"/>
                <a:gridCol w="914400"/>
                <a:gridCol w="914400"/>
                <a:gridCol w="914400"/>
                <a:gridCol w="1188720"/>
                <a:gridCol w="1737360"/>
              </a:tblGrid>
              <a:tr h="22263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Agency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Rep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Subs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Dec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Bound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Bind Rate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 Light"/>
                        </a:rPr>
                        <a:t>GWP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Cover Badger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1695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629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0.6%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$572,313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Fino Services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444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169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1.1%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$173,702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First Connect Insurance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James Reid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234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2.6%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$274,849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AMC Agents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217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6.0%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$343,293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United Advantage Insurance Services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Derek Janssen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214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3.3%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$96,590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Justin Robert Insurance Agency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178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2.8%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$178,715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Storrs Insurance Group, Inc.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Lydia Ramos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163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$60,643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DNIS Inc.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Christopher Hayes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5.3%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$158,292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Insurance4Truckers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Ron Douglas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139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2.2%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$48,575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R-T Specialty,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0.8%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$8,225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American Fleet Insurance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0.9%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Rodriguez Insurance Agency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USA SPECIALTY INSURANCE/DBA PREVENTTY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Ron Douglas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3.4%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$61,459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Horizons Insurance And Financial Services, Inc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Antonio Reyes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1.2%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$14,980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VL 17 Insurance Agency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1.3%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$3,788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Reliance Partners, LLC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Derek Janssen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Protectgo Services LLC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ECO INSURANCE SERVICES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4.9%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$50,317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Truckers Best Insurance dba Trucker Path Insurance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Erika Cabrera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3.3%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$38,628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Fast Insurance And Tax Services, Inc.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226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H2O Commercial Insurance Agency Corp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$20,481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226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Network Truck Insurance Services, Inc.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Alexis Berrysmith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4A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1106424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Showing top 22 of 541 agencies by submission volume  ·  Full list in DSG YTD Word Report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109728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 6472  ·  May 29,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69264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DISTRIBUTION BY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E0D4F5"/>
                </a:solidFill>
                <a:latin typeface="Calibri"/>
              </a:rPr>
              <a:t>Geographic Concentration  |  2026 YTD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64592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143000"/>
          <a:ext cx="978408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371600"/>
                <a:gridCol w="1188720"/>
                <a:gridCol w="1463040"/>
                <a:gridCol w="1280160"/>
                <a:gridCol w="2194560"/>
                <a:gridCol w="1280160"/>
              </a:tblGrid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State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Category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Accounts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Submissions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Bind Rate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GWP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 Light"/>
                        </a:rPr>
                        <a:t>% of Total</a:t>
                      </a:r>
                    </a:p>
                  </a:txBody>
                  <a:tcPr anchor="ctr" marL="73152" marR="73152" marT="27432" marB="27432">
                    <a:solidFill>
                      <a:srgbClr val="2E0A5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3,855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2.1%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$2,482,086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48.9%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1,295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3.3%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$1,239,834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24.4%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GA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275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2.9%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$329,545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6.5%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PA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5.4%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$182,977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3.6%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VA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$138,776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CO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3.4%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$32,771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0.6%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TN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1.6%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$23,922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0.5%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$21,130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0.4%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MO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$20,898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0.4%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9.1%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$15,764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MN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4.8%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$15,034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1.3%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$14,880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AZ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1.0%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$13,649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NH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7.7%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$12,128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1.4%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$11,870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NC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122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0.8%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$11,445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NE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8.3%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$11,350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NJ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154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1.3%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$8,775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NV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$3,719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0.1%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LA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$1,100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UT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MS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ND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4.8%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F5F0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NM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 marT="27432" marB="27432">
                    <a:solidFill>
                      <a:srgbClr val="EDE8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09728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 6472  ·  May 29,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69264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COVERAGE &amp; FLEET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E0D4F5"/>
                </a:solidFill>
                <a:latin typeface="Calibri"/>
              </a:rPr>
              <a:t>Coverage Line Mix  ·  Body Type  ·  Fleet Size Distribution  |  2026 YTD Bound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64592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394960" cy="301752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539496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COVERAGE MIX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36192"/>
            <a:ext cx="5394960" cy="438912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27632"/>
            <a:ext cx="320040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Auto Liability (AL)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627632"/>
            <a:ext cx="173736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r"/>
            <a:r>
              <a:rPr sz="1200" b="1">
                <a:solidFill>
                  <a:srgbClr val="E0D4F5"/>
                </a:solidFill>
                <a:latin typeface="Calibri"/>
              </a:rPr>
              <a:t>$3,964,966  (78%)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5394960" cy="438912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03120"/>
            <a:ext cx="320040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Auto Physical Damage (APD)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103120"/>
            <a:ext cx="173736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r"/>
            <a:r>
              <a:rPr sz="1200" b="1">
                <a:solidFill>
                  <a:srgbClr val="E0D4F5"/>
                </a:solidFill>
                <a:latin typeface="Calibri"/>
              </a:rPr>
              <a:t>$504,686  (10%)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87168"/>
            <a:ext cx="5394960" cy="438912"/>
          </a:xfrm>
          <a:prstGeom prst="rect">
            <a:avLst/>
          </a:prstGeom>
          <a:solidFill>
            <a:srgbClr val="7B4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578608"/>
            <a:ext cx="320040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Other / Combined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578608"/>
            <a:ext cx="173736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r"/>
            <a:r>
              <a:rPr sz="1200" b="1">
                <a:solidFill>
                  <a:srgbClr val="E0D4F5"/>
                </a:solidFill>
                <a:latin typeface="Calibri"/>
              </a:rPr>
              <a:t>$605,666  (12%)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5394960" cy="301752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36392"/>
            <a:ext cx="539496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BODY TYPE MIX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93008"/>
            <a:ext cx="5394960" cy="36576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557016"/>
            <a:ext cx="23774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1">
                <a:solidFill>
                  <a:srgbClr val="3A3A4A"/>
                </a:solidFill>
                <a:latin typeface="Calibri"/>
              </a:rPr>
              <a:t>Tractor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557016"/>
            <a:ext cx="64008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100" b="1">
                <a:solidFill>
                  <a:srgbClr val="2E0A5A"/>
                </a:solidFill>
                <a:latin typeface="Calibri"/>
              </a:rPr>
              <a:t>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3557016"/>
            <a:ext cx="19202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88789E"/>
                </a:solidFill>
                <a:latin typeface="Calibri"/>
              </a:rPr>
              <a:t>$2,656,103  (52%)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77056"/>
            <a:ext cx="5394960" cy="365760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941064"/>
            <a:ext cx="23774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3A3A4A"/>
                </a:solidFill>
                <a:latin typeface="Calibri"/>
              </a:rPr>
              <a:t>Dump Truck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941064"/>
            <a:ext cx="64008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100" b="1">
                <a:solidFill>
                  <a:srgbClr val="2E0A5A"/>
                </a:solidFill>
                <a:latin typeface="Calibri"/>
              </a:rPr>
              <a:t>39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3941064"/>
            <a:ext cx="19202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88789E"/>
                </a:solidFill>
                <a:latin typeface="Calibri"/>
              </a:rPr>
              <a:t>$1,097,090  (22%)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61104"/>
            <a:ext cx="5394960" cy="36576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325112"/>
            <a:ext cx="23774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3A3A4A"/>
                </a:solidFill>
                <a:latin typeface="Calibri"/>
              </a:rPr>
              <a:t>Unknown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4325112"/>
            <a:ext cx="64008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100" b="1">
                <a:solidFill>
                  <a:srgbClr val="2E0A5A"/>
                </a:solidFill>
                <a:latin typeface="Calibri"/>
              </a:rPr>
              <a:t>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4325112"/>
            <a:ext cx="19202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88789E"/>
                </a:solidFill>
                <a:latin typeface="Calibri"/>
              </a:rPr>
              <a:t>$820,566  (16%)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645152"/>
            <a:ext cx="5394960" cy="365760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709160"/>
            <a:ext cx="23774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3A3A4A"/>
                </a:solidFill>
                <a:latin typeface="Calibri"/>
              </a:rPr>
              <a:t>Box Truck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4709160"/>
            <a:ext cx="64008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100" b="1">
                <a:solidFill>
                  <a:srgbClr val="2E0A5A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4709160"/>
            <a:ext cx="192024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100" b="0">
                <a:solidFill>
                  <a:srgbClr val="88789E"/>
                </a:solidFill>
                <a:latin typeface="Calibri"/>
              </a:rPr>
              <a:t>$20,094  (0%)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1143000"/>
            <a:ext cx="5394960" cy="301752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1170432"/>
            <a:ext cx="539496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FLEET SIZE DISTRIBUTION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1536192"/>
            <a:ext cx="5394960" cy="438912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1627632"/>
            <a:ext cx="228600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3A3A4A"/>
                </a:solidFill>
                <a:latin typeface="Calibri"/>
              </a:rPr>
              <a:t>1 Unit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1627632"/>
            <a:ext cx="256032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2E0A5A"/>
                </a:solidFill>
                <a:latin typeface="Calibri"/>
              </a:rPr>
              <a:t>117 accounts  (71%)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2011680"/>
            <a:ext cx="5394960" cy="438912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2103120"/>
            <a:ext cx="228600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3A3A4A"/>
                </a:solidFill>
                <a:latin typeface="Calibri"/>
              </a:rPr>
              <a:t>11+ Units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2103120"/>
            <a:ext cx="256032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2E0A5A"/>
                </a:solidFill>
                <a:latin typeface="Calibri"/>
              </a:rPr>
              <a:t>1 accounts  (1%)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2487168"/>
            <a:ext cx="5394960" cy="438912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2578608"/>
            <a:ext cx="228600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3A3A4A"/>
                </a:solidFill>
                <a:latin typeface="Calibri"/>
              </a:rPr>
              <a:t>2-3 Units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2578608"/>
            <a:ext cx="256032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2E0A5A"/>
                </a:solidFill>
                <a:latin typeface="Calibri"/>
              </a:rPr>
              <a:t>38 accounts  (23%)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2962656"/>
            <a:ext cx="5394960" cy="438912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3054096"/>
            <a:ext cx="228600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3A3A4A"/>
                </a:solidFill>
                <a:latin typeface="Calibri"/>
              </a:rPr>
              <a:t>4-5 Units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3054096"/>
            <a:ext cx="256032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2E0A5A"/>
                </a:solidFill>
                <a:latin typeface="Calibri"/>
              </a:rPr>
              <a:t>10 accounts  (6%)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3438144"/>
            <a:ext cx="5394960" cy="438912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3529584"/>
            <a:ext cx="228600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3A3A4A"/>
                </a:solidFill>
                <a:latin typeface="Calibri"/>
              </a:rPr>
              <a:t>6-10 Units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3529584"/>
            <a:ext cx="256032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1">
                <a:solidFill>
                  <a:srgbClr val="2E0A5A"/>
                </a:solidFill>
                <a:latin typeface="Calibri"/>
              </a:rPr>
              <a:t>5 accounts  (3%)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3566160"/>
            <a:ext cx="5394960" cy="438912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3611880"/>
            <a:ext cx="5394960" cy="34747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 Light"/>
              </a:rPr>
              <a:t>Average Fleet Size: 1.8 units/account  ·  Total Units: 299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4114800"/>
            <a:ext cx="5394960" cy="301752"/>
          </a:xfrm>
          <a:prstGeom prst="rect">
            <a:avLst/>
          </a:prstGeom>
          <a:solidFill>
            <a:srgbClr val="2E0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9360" y="4142232"/>
            <a:ext cx="5394960" cy="256032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 Light"/>
              </a:rPr>
              <a:t>AVG PREMIUM BY BODY TYPE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4507992"/>
            <a:ext cx="5394960" cy="41148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4581144"/>
            <a:ext cx="256032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1">
                <a:solidFill>
                  <a:srgbClr val="3A3A4A"/>
                </a:solidFill>
                <a:latin typeface="Calibri"/>
              </a:rPr>
              <a:t>Tractor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4581144"/>
            <a:ext cx="246888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r"/>
            <a:r>
              <a:rPr sz="1200" b="1">
                <a:solidFill>
                  <a:srgbClr val="2E0A5A"/>
                </a:solidFill>
                <a:latin typeface="Calibri"/>
              </a:rPr>
              <a:t>$26,829 avg  ·  99 accts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4946904"/>
            <a:ext cx="5394960" cy="411480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6520" y="5020056"/>
            <a:ext cx="256032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1">
                <a:solidFill>
                  <a:srgbClr val="3A3A4A"/>
                </a:solidFill>
                <a:latin typeface="Calibri"/>
              </a:rPr>
              <a:t>Dump Truck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0" y="5020056"/>
            <a:ext cx="246888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r"/>
            <a:r>
              <a:rPr sz="1200" b="1">
                <a:solidFill>
                  <a:srgbClr val="2E0A5A"/>
                </a:solidFill>
                <a:latin typeface="Calibri"/>
              </a:rPr>
              <a:t>$28,131 avg  ·  39 accts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5385816"/>
            <a:ext cx="5394960" cy="411480"/>
          </a:xfrm>
          <a:prstGeom prst="rect">
            <a:avLst/>
          </a:prstGeom>
          <a:solidFill>
            <a:srgbClr val="F5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46520" y="5458968"/>
            <a:ext cx="256032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1">
                <a:solidFill>
                  <a:srgbClr val="3A3A4A"/>
                </a:solidFill>
                <a:latin typeface="Calibri"/>
              </a:rPr>
              <a:t>Unknown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0" y="5458968"/>
            <a:ext cx="246888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r"/>
            <a:r>
              <a:rPr sz="1200" b="1">
                <a:solidFill>
                  <a:srgbClr val="2E0A5A"/>
                </a:solidFill>
                <a:latin typeface="Calibri"/>
              </a:rPr>
              <a:t>$25,643 avg  ·  32 accts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09360" y="5824728"/>
            <a:ext cx="5394960" cy="411480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46520" y="5897880"/>
            <a:ext cx="256032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200" b="1">
                <a:solidFill>
                  <a:srgbClr val="3A3A4A"/>
                </a:solidFill>
                <a:latin typeface="Calibri"/>
              </a:rPr>
              <a:t>Box Truck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0" y="5897880"/>
            <a:ext cx="2468880" cy="27432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r"/>
            <a:r>
              <a:rPr sz="1200" b="1">
                <a:solidFill>
                  <a:srgbClr val="2E0A5A"/>
                </a:solidFill>
                <a:latin typeface="Calibri"/>
              </a:rPr>
              <a:t>$20,094 avg  ·  1 accts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6510528"/>
            <a:ext cx="109728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 6472  ·  May 29,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9692640" cy="59436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DSG Recent Binds — 2026 YTD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45720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300" b="0">
                <a:solidFill>
                  <a:srgbClr val="88789E"/>
                </a:solidFill>
                <a:latin typeface="Calibri"/>
              </a:rPr>
              <a:t>164 unique accounts bound YTD — most recent first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0584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286000"/>
                <a:gridCol w="3017520"/>
                <a:gridCol w="1645920"/>
                <a:gridCol w="685800"/>
                <a:gridCol w="1325880"/>
              </a:tblGrid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 Light"/>
                        </a:rPr>
                        <a:t>Date</a:t>
                      </a:r>
                    </a:p>
                  </a:txBody>
                  <a:tcPr anchor="ctr" marL="91440" marR="91440" marT="45720" marB="45720"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 Light"/>
                        </a:rPr>
                        <a:t>Legal Name</a:t>
                      </a:r>
                    </a:p>
                  </a:txBody>
                  <a:tcPr anchor="ctr" marL="91440" marR="91440" marT="45720" marB="45720"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 Light"/>
                        </a:rPr>
                        <a:t>Agency</a:t>
                      </a:r>
                    </a:p>
                  </a:txBody>
                  <a:tcPr anchor="ctr" marL="91440" marR="91440" marT="45720" marB="45720"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 Light"/>
                        </a:rPr>
                        <a:t>Rep</a:t>
                      </a:r>
                    </a:p>
                  </a:txBody>
                  <a:tcPr anchor="ctr" marL="91440" marR="91440" marT="45720" marB="45720"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 Light"/>
                        </a:rPr>
                        <a:t>State</a:t>
                      </a:r>
                    </a:p>
                  </a:txBody>
                  <a:tcPr anchor="ctr" marL="91440" marR="91440" marT="45720" marB="45720"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 Light"/>
                        </a:rPr>
                        <a:t>Premium</a:t>
                      </a:r>
                    </a:p>
                  </a:txBody>
                  <a:tcPr anchor="ctr" marL="91440" marR="91440" marT="45720" marB="45720">
                    <a:solidFill>
                      <a:srgbClr val="5C2D91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2026-05-28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MOALA &amp; CO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Storrs Insurance Group, Inc.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Lydia Ramos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$19,660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2026-05-27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MARK STANFORD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Palerm Insurance Agency LLC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$32,699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2026-05-21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GERARDO CARRANCO GOMEZ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ECO INSURANCE SERVICES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$11,549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2026-05-21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LEON CALDERON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AMC Agents LLC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$16,287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2026-05-20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J HADDEN LOGISTICS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The Insurance Store Of Texas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Lydia Ramos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GA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$2,575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2026-05-19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VULCAN TRANSPORT US LLC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Cover Badger LLC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$318,765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2026-05-18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GRAY-GOLD READY MIX INC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First Connect Insurance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James Reid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$23,978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2026-05-18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YPV FREIGHT INC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Ewall Insurance Company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Derek Janssen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NV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$3,169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2026-05-15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G&amp;G DFW LOGISTICS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AMC Agents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$26,835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2026-05-14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ECL TRUCKING LLC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Storrs Insurance Group, Inc.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Lydia Ramos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$21,496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2026-05-14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AUXVAC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Navsav Holdings Ii,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Portia Lewis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$22,774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2026-05-14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CASTANO CONSTRUCTION LLC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Valion Security LLC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Ron Douglas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$8,567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2026-05-13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INEZ FAMILY TRUCKING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Justin Robert Insurance Agency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$18,327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2026-05-12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ESCAMILLA TRUCKING INC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Cover Badger LLC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$39,423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2026-05-12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A &amp; D TRUCKING SERVICES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PR Risk Management Group Inc.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$85,813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2026-05-12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MIGUEL ANGEL RODRIGUEZ GARCIA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ECO INSURANCE SERVICES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Derrick Leroy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$11,582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</a:tr>
              <a:tr h="269507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2026-05-12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AJF HAULING SERVICES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Eastern Underwriting Managers LLC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$32,489</a:t>
                      </a:r>
                    </a:p>
                  </a:txBody>
                  <a:tcPr anchor="ctr" marL="91440" marR="91440" marT="45720" marB="45720">
                    <a:solidFill>
                      <a:srgbClr val="F5F0FC"/>
                    </a:solidFill>
                  </a:tcPr>
                </a:tc>
              </a:tr>
              <a:tr h="26951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2026-05-11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TEXAN TRUCKS AND TRAILERS LLC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Justin Robert Insurance Agency LLC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Kurt Butterfield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A3A4A"/>
                          </a:solidFill>
                          <a:latin typeface="Calibri"/>
                        </a:rPr>
                        <a:t>$34,657</a:t>
                      </a:r>
                    </a:p>
                  </a:txBody>
                  <a:tcPr anchor="ctr" marL="91440" marR="91440" marT="45720" marB="45720">
                    <a:solidFill>
                      <a:srgbClr val="EDE8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0972800" cy="228600"/>
          </a:xfrm>
          <a:prstGeom prst="rect">
            <a:avLst/>
          </a:prstGeom>
          <a:noFill/>
        </p:spPr>
        <p:txBody>
          <a:bodyPr wrap="square" tIns="18288" bIns="18288" lIns="0" rIns="0">
            <a:noAutofit/>
          </a:bodyPr>
          <a:lstStyle/>
          <a:p>
            <a:pPr algn="l"/>
            <a:r>
              <a:rPr sz="1000" b="0">
                <a:solidFill>
                  <a:srgbClr val="88789E"/>
                </a:solidFill>
                <a:latin typeface="Calibri"/>
              </a:rPr>
              <a:t>Source: Metabase Card 6472  ·  May 29,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