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5" roundtripDataSignature="AMtx7miv093FpnbthvaCG9SY+IzUsnk8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3DED121-D05A-4B8F-AE33-B49317E5CC43}">
  <a:tblStyle styleId="{E3DED121-D05A-4B8F-AE33-B49317E5CC4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customschemas.google.com/relationships/presentationmetadata" Target="metadata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E0A5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COVER WHALE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1371600" y="2468880"/>
            <a:ext cx="9418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Dirt, Sand &amp; Gravel (DSG) Program</a:t>
            </a:r>
            <a:endParaRPr/>
          </a:p>
        </p:txBody>
      </p:sp>
      <p:sp>
        <p:nvSpPr>
          <p:cNvPr id="88" name="Google Shape;88;p1"/>
          <p:cNvSpPr/>
          <p:nvPr/>
        </p:nvSpPr>
        <p:spPr>
          <a:xfrm>
            <a:off x="4754880" y="329184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1371600" y="3520440"/>
            <a:ext cx="9418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Performance Snapshot  ·  May 2026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1371600" y="4160520"/>
            <a:ext cx="9418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As of May 28, 2026  |  Confidential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1371600" y="4846320"/>
            <a:ext cx="9418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●  Dump trucks, sand haulers, gravel operations — classes most carriers decline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1371600" y="5138928"/>
            <a:ext cx="9418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●  Available under Auto Physical Damage (APD) — standalone or packaged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1371600" y="5431536"/>
            <a:ext cx="9418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●  Towing up to $25K  |  Roadside MASTERS assistance included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1371600" y="5724144"/>
            <a:ext cx="9418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●  Nationwide appetite  |  Vehicles up to 23 years old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0A5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EXECUTIVE SUMMARY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162 Accounts  |  $5.02M GWP  |  May 28, 2026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37947" y="1143000"/>
            <a:ext cx="1920240" cy="1508760"/>
          </a:xfrm>
          <a:prstGeom prst="rect">
            <a:avLst/>
          </a:prstGeom>
          <a:solidFill>
            <a:srgbClr val="2E0A5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37947" y="134874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7,373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37947" y="19431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SUBMISSIONS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37947" y="2263140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YTD Processed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2077059" y="1143000"/>
            <a:ext cx="1920240" cy="1508760"/>
          </a:xfrm>
          <a:prstGeom prst="rect">
            <a:avLst/>
          </a:prstGeom>
          <a:solidFill>
            <a:srgbClr val="5C2D9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2077059" y="134874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162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2077059" y="19431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BOUND ACCOUNTS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2077059" y="2263140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Unique DOTs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4116171" y="1143000"/>
            <a:ext cx="1920240" cy="1508760"/>
          </a:xfrm>
          <a:prstGeom prst="rect">
            <a:avLst/>
          </a:prstGeom>
          <a:solidFill>
            <a:srgbClr val="2E0A5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4116171" y="134874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$5.02M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4116171" y="19431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GROSS WRITTEN PREM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4116171" y="2263140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Year-to-Date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6155283" y="1143000"/>
            <a:ext cx="1920240" cy="1508760"/>
          </a:xfrm>
          <a:prstGeom prst="rect">
            <a:avLst/>
          </a:prstGeom>
          <a:solidFill>
            <a:srgbClr val="5C2D9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6155283" y="134874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$31,006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6155283" y="19431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AVG PREM / ACCT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6155283" y="2263140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Per Policy</a:t>
            </a:r>
            <a:endParaRPr/>
          </a:p>
        </p:txBody>
      </p:sp>
      <p:sp>
        <p:nvSpPr>
          <p:cNvPr id="119" name="Google Shape;119;p2"/>
          <p:cNvSpPr/>
          <p:nvPr/>
        </p:nvSpPr>
        <p:spPr>
          <a:xfrm>
            <a:off x="8194395" y="1143000"/>
            <a:ext cx="1920240" cy="1508760"/>
          </a:xfrm>
          <a:prstGeom prst="rect">
            <a:avLst/>
          </a:prstGeom>
          <a:solidFill>
            <a:srgbClr val="2E0A5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"/>
          <p:cNvSpPr txBox="1"/>
          <p:nvPr/>
        </p:nvSpPr>
        <p:spPr>
          <a:xfrm>
            <a:off x="8194395" y="134874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2.2%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8194395" y="19431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BIND RATE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8194395" y="2263140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Bound ÷ Submissions</a:t>
            </a:r>
            <a:endParaRPr/>
          </a:p>
        </p:txBody>
      </p:sp>
      <p:sp>
        <p:nvSpPr>
          <p:cNvPr id="123" name="Google Shape;123;p2"/>
          <p:cNvSpPr/>
          <p:nvPr/>
        </p:nvSpPr>
        <p:spPr>
          <a:xfrm>
            <a:off x="10233507" y="1143000"/>
            <a:ext cx="1920240" cy="1508760"/>
          </a:xfrm>
          <a:prstGeom prst="rect">
            <a:avLst/>
          </a:prstGeom>
          <a:solidFill>
            <a:srgbClr val="5C2D9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10233507" y="134874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81/539</a:t>
            </a:r>
            <a:endParaRPr/>
          </a:p>
        </p:txBody>
      </p:sp>
      <p:sp>
        <p:nvSpPr>
          <p:cNvPr id="125" name="Google Shape;125;p2"/>
          <p:cNvSpPr txBox="1"/>
          <p:nvPr/>
        </p:nvSpPr>
        <p:spPr>
          <a:xfrm>
            <a:off x="10233507" y="19431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PRODUCING AGENCIES</a:t>
            </a:r>
            <a:endParaRPr/>
          </a:p>
        </p:txBody>
      </p:sp>
      <p:sp>
        <p:nvSpPr>
          <p:cNvPr id="126" name="Google Shape;126;p2"/>
          <p:cNvSpPr txBox="1"/>
          <p:nvPr/>
        </p:nvSpPr>
        <p:spPr>
          <a:xfrm>
            <a:off x="10233507" y="2263140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458 not yet binding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548640" y="2743200"/>
            <a:ext cx="11064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Concentration: Top agency = 11% of GWP  ·  Top 5 agencies = 31% of GWP  ·  458 agencies submitting but not yet binding</a:t>
            </a:r>
            <a:endParaRPr/>
          </a:p>
        </p:txBody>
      </p:sp>
      <p:sp>
        <p:nvSpPr>
          <p:cNvPr id="128" name="Google Shape;128;p2"/>
          <p:cNvSpPr/>
          <p:nvPr/>
        </p:nvSpPr>
        <p:spPr>
          <a:xfrm>
            <a:off x="548640" y="297180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548640" y="2999232"/>
            <a:ext cx="11064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MONTHLY AT A GLANCE</a:t>
            </a:r>
            <a:endParaRPr/>
          </a:p>
        </p:txBody>
      </p:sp>
      <p:sp>
        <p:nvSpPr>
          <p:cNvPr id="130" name="Google Shape;130;p2"/>
          <p:cNvSpPr/>
          <p:nvPr/>
        </p:nvSpPr>
        <p:spPr>
          <a:xfrm>
            <a:off x="1706727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"/>
          <p:cNvSpPr/>
          <p:nvPr/>
        </p:nvSpPr>
        <p:spPr>
          <a:xfrm>
            <a:off x="1706727" y="338328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"/>
          <p:cNvSpPr txBox="1"/>
          <p:nvPr/>
        </p:nvSpPr>
        <p:spPr>
          <a:xfrm>
            <a:off x="1706727" y="3401568"/>
            <a:ext cx="16824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January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1706727" y="3657600"/>
            <a:ext cx="16824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134" name="Google Shape;134;p2"/>
          <p:cNvSpPr txBox="1"/>
          <p:nvPr/>
        </p:nvSpPr>
        <p:spPr>
          <a:xfrm>
            <a:off x="1706727" y="3950208"/>
            <a:ext cx="16824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BOUND</a:t>
            </a:r>
            <a:endParaRPr/>
          </a:p>
        </p:txBody>
      </p:sp>
      <p:sp>
        <p:nvSpPr>
          <p:cNvPr id="135" name="Google Shape;135;p2"/>
          <p:cNvSpPr txBox="1"/>
          <p:nvPr/>
        </p:nvSpPr>
        <p:spPr>
          <a:xfrm>
            <a:off x="1743303" y="4224528"/>
            <a:ext cx="16093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$472K GWP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1743303" y="4498848"/>
            <a:ext cx="16093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1,099 subs · 1.6% bind</a:t>
            </a:r>
            <a:endParaRPr/>
          </a:p>
        </p:txBody>
      </p:sp>
      <p:sp>
        <p:nvSpPr>
          <p:cNvPr id="137" name="Google Shape;137;p2"/>
          <p:cNvSpPr/>
          <p:nvPr/>
        </p:nvSpPr>
        <p:spPr>
          <a:xfrm>
            <a:off x="3480663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"/>
          <p:cNvSpPr/>
          <p:nvPr/>
        </p:nvSpPr>
        <p:spPr>
          <a:xfrm>
            <a:off x="3480663" y="338328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"/>
          <p:cNvSpPr txBox="1"/>
          <p:nvPr/>
        </p:nvSpPr>
        <p:spPr>
          <a:xfrm>
            <a:off x="3480663" y="3401568"/>
            <a:ext cx="16824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February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3480663" y="3657600"/>
            <a:ext cx="16824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28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3480663" y="3950208"/>
            <a:ext cx="16824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BOUND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3517239" y="4224528"/>
            <a:ext cx="16093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$1,059K GWP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517239" y="4498848"/>
            <a:ext cx="16093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1,398 subs · 2.0% bind</a:t>
            </a:r>
            <a:endParaRPr/>
          </a:p>
        </p:txBody>
      </p:sp>
      <p:sp>
        <p:nvSpPr>
          <p:cNvPr id="144" name="Google Shape;144;p2"/>
          <p:cNvSpPr/>
          <p:nvPr/>
        </p:nvSpPr>
        <p:spPr>
          <a:xfrm>
            <a:off x="5254599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"/>
          <p:cNvSpPr/>
          <p:nvPr/>
        </p:nvSpPr>
        <p:spPr>
          <a:xfrm>
            <a:off x="5254599" y="338328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"/>
          <p:cNvSpPr txBox="1"/>
          <p:nvPr/>
        </p:nvSpPr>
        <p:spPr>
          <a:xfrm>
            <a:off x="5254599" y="3401568"/>
            <a:ext cx="16824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March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254599" y="3657600"/>
            <a:ext cx="16824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43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5254599" y="3950208"/>
            <a:ext cx="16824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BOUND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5291175" y="4224528"/>
            <a:ext cx="16093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$1,103K GWP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5291175" y="4498848"/>
            <a:ext cx="16093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1,678 subs · 2.6% bind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7028535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/>
          <p:nvPr/>
        </p:nvSpPr>
        <p:spPr>
          <a:xfrm>
            <a:off x="7028535" y="338328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"/>
          <p:cNvSpPr txBox="1"/>
          <p:nvPr/>
        </p:nvSpPr>
        <p:spPr>
          <a:xfrm>
            <a:off x="7028535" y="3401568"/>
            <a:ext cx="16824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April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7028535" y="3657600"/>
            <a:ext cx="16824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42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7028535" y="3950208"/>
            <a:ext cx="16824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BOUND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7065111" y="4224528"/>
            <a:ext cx="16093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$1,016K GWP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7065111" y="4498848"/>
            <a:ext cx="16093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1,779 subs · 2.4% bind</a:t>
            </a:r>
            <a:endParaRPr/>
          </a:p>
        </p:txBody>
      </p:sp>
      <p:sp>
        <p:nvSpPr>
          <p:cNvPr id="158" name="Google Shape;158;p2"/>
          <p:cNvSpPr/>
          <p:nvPr/>
        </p:nvSpPr>
        <p:spPr>
          <a:xfrm>
            <a:off x="8802471" y="338328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"/>
          <p:cNvSpPr/>
          <p:nvPr/>
        </p:nvSpPr>
        <p:spPr>
          <a:xfrm>
            <a:off x="8802471" y="338328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"/>
          <p:cNvSpPr txBox="1"/>
          <p:nvPr/>
        </p:nvSpPr>
        <p:spPr>
          <a:xfrm>
            <a:off x="8802471" y="3401568"/>
            <a:ext cx="168249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May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8802471" y="3657600"/>
            <a:ext cx="16824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32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8802471" y="3950208"/>
            <a:ext cx="16824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BOUND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8839047" y="4224528"/>
            <a:ext cx="16093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$1,372K GWP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8839047" y="4498848"/>
            <a:ext cx="16093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1,419 subs · 2.3% bind</a:t>
            </a:r>
            <a:endParaRPr/>
          </a:p>
        </p:txBody>
      </p:sp>
      <p:sp>
        <p:nvSpPr>
          <p:cNvPr id="165" name="Google Shape;165;p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Source: Metabase Cards 6472 &amp; 10306  ·  May 28, 2026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0A5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3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TOP PRODUCING AGENCIES</a:t>
            </a:r>
            <a:endParaRPr/>
          </a:p>
        </p:txBody>
      </p:sp>
      <p:sp>
        <p:nvSpPr>
          <p:cNvPr id="173" name="Google Shape;173;p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Ranked by Gross Written Premium  |  2026 YTD</a:t>
            </a:r>
            <a:endParaRPr/>
          </a:p>
        </p:txBody>
      </p:sp>
      <p:sp>
        <p:nvSpPr>
          <p:cNvPr id="174" name="Google Shape;174;p3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5" name="Google Shape;175;p3"/>
          <p:cNvGraphicFramePr/>
          <p:nvPr/>
        </p:nvGraphicFramePr>
        <p:xfrm>
          <a:off x="548640" y="1143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{E3DED121-D05A-4B8F-AE33-B49317E5CC43}</a:tableStyleId>
              </a:tblPr>
              <a:tblGrid>
                <a:gridCol w="5303525"/>
                <a:gridCol w="1645925"/>
                <a:gridCol w="1005850"/>
                <a:gridCol w="1828800"/>
                <a:gridCol w="1280150"/>
              </a:tblGrid>
              <a:tr h="292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Agency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Accounts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Gross Written Premium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% of Total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#1  Cover Badger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$572,313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11.4%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AMC Agents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Derrick Leroy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$343,293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First Connect Insurance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James Reid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$274,849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5.5%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Paramount Exclusive Insurance Services, Inc.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Derek Janssen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$205,197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4.1%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Justin Robert Insurance Agency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Kurt Butterfield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$178,715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3.6%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Fino Services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Kurt Butterfield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$173,702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DNIS Inc.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Christopher Hayes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$158,292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Usg Insurance Services Inc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James Reid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$152,121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Your Truck Shield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$139,343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Safeline Insurance Agency, Inc.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Derek Janssen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$136,077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Valion Security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Ron Douglas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$107,975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2.1%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United Advantage Insurance Services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Derek Janssen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$96,590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1.9%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Ins Professionals Of Georgia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Portia Lewis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$91,546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Mohsen Ins.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Derek Janssen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$87,610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 Risk Management Group Inc.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$85,813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176" name="Google Shape;176;p3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Top 15 agencies = 56% of total GWP  ·  82 producing agencies YTD</a:t>
            </a:r>
            <a:endParaRPr/>
          </a:p>
        </p:txBody>
      </p:sp>
      <p:sp>
        <p:nvSpPr>
          <p:cNvPr id="177" name="Google Shape;177;p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3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Source: Metabase Card 6472  ·  May 28, 2026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0A5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BDM / BDA PERFORMANCE</a:t>
            </a:r>
            <a:endParaRPr/>
          </a:p>
        </p:txBody>
      </p:sp>
      <p:sp>
        <p:nvSpPr>
          <p:cNvPr id="185" name="Google Shape;185;p4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Rep-Level Submission &amp; Production Summary  |  2026 YTD</a:t>
            </a:r>
            <a:endParaRPr/>
          </a:p>
        </p:txBody>
      </p:sp>
      <p:sp>
        <p:nvSpPr>
          <p:cNvPr id="186" name="Google Shape;186;p4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7" name="Google Shape;187;p4"/>
          <p:cNvGraphicFramePr/>
          <p:nvPr/>
        </p:nvGraphicFramePr>
        <p:xfrm>
          <a:off x="548640" y="11887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{E3DED121-D05A-4B8F-AE33-B49317E5CC43}</a:tableStyleId>
              </a:tblPr>
              <a:tblGrid>
                <a:gridCol w="2377450"/>
                <a:gridCol w="1097275"/>
                <a:gridCol w="1005850"/>
                <a:gridCol w="1005850"/>
                <a:gridCol w="1005850"/>
                <a:gridCol w="1188725"/>
                <a:gridCol w="3383275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Agencies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Bound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Bind Rate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GWP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Derek Janssen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614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$796,297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James Reid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$532,870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Derrick Leroy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611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3.9%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$532,605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Kurt Butterfield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1025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378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$408,533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Ron Douglas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438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$299,457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Christopher Hayes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4.6%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$248,338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Lydia Ramos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$149,936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Portia Lewis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$149,352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Alexis Berrysmith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4.2%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$126,384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Taylor Sloan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2.4%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$64,793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Erika Cabrera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$61,423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Cameron Brader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$58,633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Antonio Reyes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$35,246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Westy McLaughlin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Unassigned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2772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1176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$1,077,627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188" name="Google Shape;188;p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4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Source: Metabase Card 6472 + HubSpot  ·  May 28, 2026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C2D9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ALL SUBMISSIONS BY AGENCY</a:t>
            </a:r>
            <a:endParaRPr/>
          </a:p>
        </p:txBody>
      </p:sp>
      <p:sp>
        <p:nvSpPr>
          <p:cNvPr id="196" name="Google Shape;196;p5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Ranked by Volume  |  539 agencies  |  2026 YTD</a:t>
            </a:r>
            <a:endParaRPr/>
          </a:p>
        </p:txBody>
      </p:sp>
      <p:sp>
        <p:nvSpPr>
          <p:cNvPr id="197" name="Google Shape;197;p5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8" name="Google Shape;198;p5"/>
          <p:cNvGraphicFramePr/>
          <p:nvPr/>
        </p:nvGraphicFramePr>
        <p:xfrm>
          <a:off x="548640" y="11887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{E3DED121-D05A-4B8F-AE33-B49317E5CC43}</a:tableStyleId>
              </a:tblPr>
              <a:tblGrid>
                <a:gridCol w="3657600"/>
                <a:gridCol w="1737350"/>
                <a:gridCol w="914400"/>
                <a:gridCol w="914400"/>
                <a:gridCol w="914400"/>
                <a:gridCol w="1188725"/>
                <a:gridCol w="1737350"/>
              </a:tblGrid>
              <a:tr h="222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Agency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Bound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Bind Rate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GWP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Cover Badger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1685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$572,313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Fino Services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Kurt Butterfield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433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1.2%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$173,702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First Connect Insurance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James Reid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2.6%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$274,849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United Advantage Insurance Services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Derek Janssen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$96,590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AMC Agents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Derrick Leroy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6.2%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$343,293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Justin Robert Insurance Agency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Kurt Butterfield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$178,715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Storrs Insurance Group, Inc.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Lydia Ramos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1.2%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$40,983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DNIS Inc.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Christopher Hayes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5.3%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$158,292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Insurance4Truckers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Ron Douglas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2.2%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$48,575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R-T Specialty,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$8,225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American Fleet Insurance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Derrick Leroy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$550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Rodriguez Insurance Agency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Kurt Butterfield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USA SPECIALTY INSURANCE/DBA PREVENTTY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Ron Douglas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$61,459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Horizons Insurance And Financial Services, Inc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Antonio Reyes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1.2%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$14,980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VL 17 Insurance Agency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Kurt Butterfield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1.3%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$3,788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Reliance Partners,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Derek Janssen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Protectgo Services LLC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Derrick Leroy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ECO INSURANCE SERVICES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Derrick Leroy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4.9%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$50,317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Truckers Best Insurance dba Trucker Path Insurance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Erika Cabrera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3.4%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$38,628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H2O Commercial Insurance Agency Corp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Kurt Butterfield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$20,481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2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Fast Insurance And Tax Services, Inc.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22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Network Truck Insurance Services, Inc.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Alexis Berrysmith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5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Showing top 22 of 539 agencies by submission volume  ·  Full list in DSG YTD Word Report</a:t>
            </a:r>
            <a:endParaRPr/>
          </a:p>
        </p:txBody>
      </p:sp>
      <p:sp>
        <p:nvSpPr>
          <p:cNvPr id="200" name="Google Shape;200;p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Source: Metabase Card 6472  ·  May 28, 2026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6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C2D9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6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DISTRIBUTION BY STATE</a:t>
            </a:r>
            <a:endParaRPr/>
          </a:p>
        </p:txBody>
      </p:sp>
      <p:sp>
        <p:nvSpPr>
          <p:cNvPr id="208" name="Google Shape;208;p6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Geographic Concentration  |  2026 YTD</a:t>
            </a:r>
            <a:endParaRPr/>
          </a:p>
        </p:txBody>
      </p:sp>
      <p:sp>
        <p:nvSpPr>
          <p:cNvPr id="209" name="Google Shape;209;p6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0" name="Google Shape;210;p6"/>
          <p:cNvGraphicFramePr/>
          <p:nvPr/>
        </p:nvGraphicFramePr>
        <p:xfrm>
          <a:off x="640080" y="1143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{E3DED121-D05A-4B8F-AE33-B49317E5CC43}</a:tableStyleId>
              </a:tblPr>
              <a:tblGrid>
                <a:gridCol w="1005850"/>
                <a:gridCol w="1371600"/>
                <a:gridCol w="1188725"/>
                <a:gridCol w="1463050"/>
                <a:gridCol w="1280150"/>
                <a:gridCol w="2194550"/>
                <a:gridCol w="1280150"/>
              </a:tblGrid>
              <a:tr h="219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Category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Accounts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Submissions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Bind Rate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GWP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% of Total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2E0A5A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Original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3,814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2.1%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$2,449,387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Original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1,286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$1,220,174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24.3%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GA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Original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2.9%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$329,545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6.6%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Original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5.4%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$182,977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3.6%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Expansion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$138,776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Expansion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$32,771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1.6%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$23,922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$21,130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Original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$20,898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Expansion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9.1%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$15,764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Expansion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$15,034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Original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1.3%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$14,880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AZ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Expansion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$13,649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NH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Expansion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$12,128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OK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Expansion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$11,870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NC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$11,445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Expansion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8.3%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$11,350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NJ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Original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1.3%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$8,775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NV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$3,719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$1,100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UT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Expansion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$550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Expansion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$550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Expansion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4.8%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$550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5F0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NM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Original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1.7%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$550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11" name="Google Shape;211;p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6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Source: Metabase Card 6472  ·  May 28, 2026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7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C2D9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7"/>
          <p:cNvSpPr txBox="1"/>
          <p:nvPr/>
        </p:nvSpPr>
        <p:spPr>
          <a:xfrm>
            <a:off x="731520" y="109728"/>
            <a:ext cx="96926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COVERAGE &amp; FLEET ANALYSIS</a:t>
            </a:r>
            <a:endParaRPr/>
          </a:p>
        </p:txBody>
      </p:sp>
      <p:sp>
        <p:nvSpPr>
          <p:cNvPr id="219" name="Google Shape;219;p7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Coverage Line Mix  ·  Body Type  ·  Fleet Size Distribution  |  2026 YTD Bound</a:t>
            </a:r>
            <a:endParaRPr/>
          </a:p>
        </p:txBody>
      </p:sp>
      <p:sp>
        <p:nvSpPr>
          <p:cNvPr id="220" name="Google Shape;220;p7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7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7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COVERAGE MIX</a:t>
            </a:r>
            <a:endParaRPr/>
          </a:p>
        </p:txBody>
      </p:sp>
      <p:sp>
        <p:nvSpPr>
          <p:cNvPr id="223" name="Google Shape;223;p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Auto Liability (AL)</a:t>
            </a:r>
            <a:endParaRPr/>
          </a:p>
        </p:txBody>
      </p:sp>
      <p:sp>
        <p:nvSpPr>
          <p:cNvPr id="225" name="Google Shape;225;p7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$3,917,675  (78%)</a:t>
            </a:r>
            <a:endParaRPr/>
          </a:p>
        </p:txBody>
      </p:sp>
      <p:sp>
        <p:nvSpPr>
          <p:cNvPr id="226" name="Google Shape;226;p7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7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Auto Physical Damage (APD)</a:t>
            </a:r>
            <a:endParaRPr/>
          </a:p>
        </p:txBody>
      </p:sp>
      <p:sp>
        <p:nvSpPr>
          <p:cNvPr id="228" name="Google Shape;228;p7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$500,168  (10%)</a:t>
            </a:r>
            <a:endParaRPr/>
          </a:p>
        </p:txBody>
      </p:sp>
      <p:sp>
        <p:nvSpPr>
          <p:cNvPr id="229" name="Google Shape;229;p7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Other / Combined</a:t>
            </a:r>
            <a:endParaRPr/>
          </a:p>
        </p:txBody>
      </p:sp>
      <p:sp>
        <p:nvSpPr>
          <p:cNvPr id="231" name="Google Shape;231;p7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0D4F5"/>
                </a:solidFill>
                <a:latin typeface="Calibri"/>
                <a:ea typeface="Calibri"/>
                <a:cs typeface="Calibri"/>
                <a:sym typeface="Calibri"/>
              </a:rPr>
              <a:t>$605,116  (12%)</a:t>
            </a:r>
            <a:endParaRPr/>
          </a:p>
        </p:txBody>
      </p:sp>
      <p:sp>
        <p:nvSpPr>
          <p:cNvPr id="232" name="Google Shape;232;p7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BODY TYPE MIX</a:t>
            </a:r>
            <a:endParaRPr/>
          </a:p>
        </p:txBody>
      </p:sp>
      <p:sp>
        <p:nvSpPr>
          <p:cNvPr id="234" name="Google Shape;234;p7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Tractor</a:t>
            </a:r>
            <a:endParaRPr/>
          </a:p>
        </p:txBody>
      </p:sp>
      <p:sp>
        <p:nvSpPr>
          <p:cNvPr id="236" name="Google Shape;236;p7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97</a:t>
            </a:r>
            <a:endParaRPr/>
          </a:p>
        </p:txBody>
      </p:sp>
      <p:sp>
        <p:nvSpPr>
          <p:cNvPr id="237" name="Google Shape;237;p7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$2,603,744  (52%)</a:t>
            </a:r>
            <a:endParaRPr/>
          </a:p>
        </p:txBody>
      </p:sp>
      <p:sp>
        <p:nvSpPr>
          <p:cNvPr id="238" name="Google Shape;238;p7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7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Dump Truck</a:t>
            </a:r>
            <a:endParaRPr/>
          </a:p>
        </p:txBody>
      </p:sp>
      <p:sp>
        <p:nvSpPr>
          <p:cNvPr id="240" name="Google Shape;240;p7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39</a:t>
            </a:r>
            <a:endParaRPr/>
          </a:p>
        </p:txBody>
      </p:sp>
      <p:sp>
        <p:nvSpPr>
          <p:cNvPr id="241" name="Google Shape;241;p7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$1,097,090  (22%)</a:t>
            </a:r>
            <a:endParaRPr/>
          </a:p>
        </p:txBody>
      </p:sp>
      <p:sp>
        <p:nvSpPr>
          <p:cNvPr id="242" name="Google Shape;242;p7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Unknown</a:t>
            </a:r>
            <a:endParaRPr/>
          </a:p>
        </p:txBody>
      </p:sp>
      <p:sp>
        <p:nvSpPr>
          <p:cNvPr id="244" name="Google Shape;244;p7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32</a:t>
            </a:r>
            <a:endParaRPr/>
          </a:p>
        </p:txBody>
      </p:sp>
      <p:sp>
        <p:nvSpPr>
          <p:cNvPr id="245" name="Google Shape;245;p7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$820,566  (16%)</a:t>
            </a:r>
            <a:endParaRPr/>
          </a:p>
        </p:txBody>
      </p:sp>
      <p:sp>
        <p:nvSpPr>
          <p:cNvPr id="246" name="Google Shape;246;p7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7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Box Truck</a:t>
            </a:r>
            <a:endParaRPr/>
          </a:p>
        </p:txBody>
      </p:sp>
      <p:sp>
        <p:nvSpPr>
          <p:cNvPr id="248" name="Google Shape;248;p7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249" name="Google Shape;249;p7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$20,094  (0%)</a:t>
            </a:r>
            <a:endParaRPr/>
          </a:p>
        </p:txBody>
      </p:sp>
      <p:sp>
        <p:nvSpPr>
          <p:cNvPr id="250" name="Google Shape;250;p7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7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FLEET SIZE DISTRIBUTION</a:t>
            </a:r>
            <a:endParaRPr/>
          </a:p>
        </p:txBody>
      </p:sp>
      <p:sp>
        <p:nvSpPr>
          <p:cNvPr id="252" name="Google Shape;252;p7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1 Unit</a:t>
            </a:r>
            <a:endParaRPr/>
          </a:p>
        </p:txBody>
      </p:sp>
      <p:sp>
        <p:nvSpPr>
          <p:cNvPr id="254" name="Google Shape;254;p7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116 accounts  (72%)</a:t>
            </a:r>
            <a:endParaRPr/>
          </a:p>
        </p:txBody>
      </p:sp>
      <p:sp>
        <p:nvSpPr>
          <p:cNvPr id="255" name="Google Shape;255;p7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7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11+ Units</a:t>
            </a:r>
            <a:endParaRPr/>
          </a:p>
        </p:txBody>
      </p:sp>
      <p:sp>
        <p:nvSpPr>
          <p:cNvPr id="257" name="Google Shape;257;p7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1 accounts  (1%)</a:t>
            </a:r>
            <a:endParaRPr/>
          </a:p>
        </p:txBody>
      </p:sp>
      <p:sp>
        <p:nvSpPr>
          <p:cNvPr id="258" name="Google Shape;258;p7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2-3 Units</a:t>
            </a:r>
            <a:endParaRPr/>
          </a:p>
        </p:txBody>
      </p:sp>
      <p:sp>
        <p:nvSpPr>
          <p:cNvPr id="260" name="Google Shape;260;p7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37 accounts  (23%)</a:t>
            </a:r>
            <a:endParaRPr/>
          </a:p>
        </p:txBody>
      </p:sp>
      <p:sp>
        <p:nvSpPr>
          <p:cNvPr id="261" name="Google Shape;261;p7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4-5 Units</a:t>
            </a:r>
            <a:endParaRPr/>
          </a:p>
        </p:txBody>
      </p:sp>
      <p:sp>
        <p:nvSpPr>
          <p:cNvPr id="263" name="Google Shape;263;p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10 accounts  (6%)</a:t>
            </a:r>
            <a:endParaRPr/>
          </a:p>
        </p:txBody>
      </p:sp>
      <p:sp>
        <p:nvSpPr>
          <p:cNvPr id="264" name="Google Shape;264;p7"/>
          <p:cNvSpPr/>
          <p:nvPr/>
        </p:nvSpPr>
        <p:spPr>
          <a:xfrm>
            <a:off x="6309360" y="3438144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"/>
          <p:cNvSpPr txBox="1"/>
          <p:nvPr/>
        </p:nvSpPr>
        <p:spPr>
          <a:xfrm>
            <a:off x="6446520" y="3529584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6-10 Units</a:t>
            </a:r>
            <a:endParaRPr/>
          </a:p>
        </p:txBody>
      </p:sp>
      <p:sp>
        <p:nvSpPr>
          <p:cNvPr id="266" name="Google Shape;266;p7"/>
          <p:cNvSpPr txBox="1"/>
          <p:nvPr/>
        </p:nvSpPr>
        <p:spPr>
          <a:xfrm>
            <a:off x="8869680" y="352958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5 accounts  (3%)</a:t>
            </a:r>
            <a:endParaRPr/>
          </a:p>
        </p:txBody>
      </p:sp>
      <p:sp>
        <p:nvSpPr>
          <p:cNvPr id="267" name="Google Shape;267;p7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7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Average Fleet Size: 1.8 units/account  ·  Total Units: 296</a:t>
            </a:r>
            <a:endParaRPr/>
          </a:p>
        </p:txBody>
      </p:sp>
      <p:sp>
        <p:nvSpPr>
          <p:cNvPr id="269" name="Google Shape;269;p7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7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AVG PREMIUM BY BODY TYPE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7"/>
          <p:cNvSpPr txBox="1"/>
          <p:nvPr/>
        </p:nvSpPr>
        <p:spPr>
          <a:xfrm>
            <a:off x="6446520" y="458114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Tractor</a:t>
            </a:r>
            <a:endParaRPr/>
          </a:p>
        </p:txBody>
      </p:sp>
      <p:sp>
        <p:nvSpPr>
          <p:cNvPr id="273" name="Google Shape;273;p7"/>
          <p:cNvSpPr txBox="1"/>
          <p:nvPr/>
        </p:nvSpPr>
        <p:spPr>
          <a:xfrm>
            <a:off x="9052560" y="4581144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$26,843 avg  ·  97 accts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7"/>
          <p:cNvSpPr txBox="1"/>
          <p:nvPr/>
        </p:nvSpPr>
        <p:spPr>
          <a:xfrm>
            <a:off x="6446520" y="5020056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Dump Truck</a:t>
            </a:r>
            <a:endParaRPr/>
          </a:p>
        </p:txBody>
      </p:sp>
      <p:sp>
        <p:nvSpPr>
          <p:cNvPr id="276" name="Google Shape;276;p7"/>
          <p:cNvSpPr txBox="1"/>
          <p:nvPr/>
        </p:nvSpPr>
        <p:spPr>
          <a:xfrm>
            <a:off x="9052560" y="502005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$28,131 avg  ·  39 accts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7"/>
          <p:cNvSpPr txBox="1"/>
          <p:nvPr/>
        </p:nvSpPr>
        <p:spPr>
          <a:xfrm>
            <a:off x="6446520" y="5458968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Unknown</a:t>
            </a:r>
            <a:endParaRPr/>
          </a:p>
        </p:txBody>
      </p:sp>
      <p:sp>
        <p:nvSpPr>
          <p:cNvPr id="279" name="Google Shape;279;p7"/>
          <p:cNvSpPr txBox="1"/>
          <p:nvPr/>
        </p:nvSpPr>
        <p:spPr>
          <a:xfrm>
            <a:off x="9052560" y="545896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$25,643 avg  ·  32 accts</a:t>
            </a:r>
            <a:endParaRPr/>
          </a:p>
        </p:txBody>
      </p:sp>
      <p:sp>
        <p:nvSpPr>
          <p:cNvPr id="280" name="Google Shape;280;p7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7"/>
          <p:cNvSpPr txBox="1"/>
          <p:nvPr/>
        </p:nvSpPr>
        <p:spPr>
          <a:xfrm>
            <a:off x="6446520" y="589788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A3A4A"/>
                </a:solidFill>
                <a:latin typeface="Calibri"/>
                <a:ea typeface="Calibri"/>
                <a:cs typeface="Calibri"/>
                <a:sym typeface="Calibri"/>
              </a:rPr>
              <a:t>Box Truck</a:t>
            </a:r>
            <a:endParaRPr/>
          </a:p>
        </p:txBody>
      </p:sp>
      <p:sp>
        <p:nvSpPr>
          <p:cNvPr id="282" name="Google Shape;282;p7"/>
          <p:cNvSpPr txBox="1"/>
          <p:nvPr/>
        </p:nvSpPr>
        <p:spPr>
          <a:xfrm>
            <a:off x="9052560" y="589788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E0A5A"/>
                </a:solidFill>
                <a:latin typeface="Calibri"/>
                <a:ea typeface="Calibri"/>
                <a:cs typeface="Calibri"/>
                <a:sym typeface="Calibri"/>
              </a:rPr>
              <a:t>$20,094 avg  ·  1 accts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7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Source: Metabase Card 6472  ·  May 28, 2026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8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C2D9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731520" y="201168"/>
            <a:ext cx="96926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DSG Recent Binds — 2026 YTD</a:t>
            </a:r>
            <a:endParaRPr/>
          </a:p>
        </p:txBody>
      </p:sp>
      <p:sp>
        <p:nvSpPr>
          <p:cNvPr id="291" name="Google Shape;291;p8"/>
          <p:cNvSpPr/>
          <p:nvPr/>
        </p:nvSpPr>
        <p:spPr>
          <a:xfrm>
            <a:off x="731520" y="914400"/>
            <a:ext cx="1645920" cy="45720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 txBox="1"/>
          <p:nvPr/>
        </p:nvSpPr>
        <p:spPr>
          <a:xfrm>
            <a:off x="731520" y="11430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162 unique accounts bound YTD — most recent first</a:t>
            </a:r>
            <a:endParaRPr/>
          </a:p>
        </p:txBody>
      </p:sp>
      <p:graphicFrame>
        <p:nvGraphicFramePr>
          <p:cNvPr id="293" name="Google Shape;293;p8"/>
          <p:cNvGraphicFramePr/>
          <p:nvPr/>
        </p:nvGraphicFramePr>
        <p:xfrm>
          <a:off x="731520" y="15544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{E3DED121-D05A-4B8F-AE33-B49317E5CC43}</a:tableStyleId>
              </a:tblPr>
              <a:tblGrid>
                <a:gridCol w="1097275"/>
                <a:gridCol w="2286000"/>
                <a:gridCol w="3017525"/>
                <a:gridCol w="1645925"/>
                <a:gridCol w="685800"/>
                <a:gridCol w="1325875"/>
              </a:tblGrid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Legal Name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Agency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Premium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5C2D91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2026-05-21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GERARDO CARRANCO GOMEZ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ECO INSURANCE SERVICES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Derrick Leroy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$11,549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2026-05-21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LEON CALDERON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AMC Agents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Derrick Leroy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$16,287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2026-05-20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 HADDEN LOGISTICS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Insurance Store Of Texas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Lydia Ramos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$2,575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VULCAN TRANSPORT US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Cover Badger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$318,765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2026-05-18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GRAY-GOLD READY MIX INC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First Connect Insurance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James Reid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$23,978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2026-05-18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YPV FREIGHT INC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Ewall Insurance Company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Derek Janssen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NV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$3,169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2026-05-15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G&amp;G DFW LOGISTICS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AMC Agents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Derrick Leroy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$26,835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2026-05-14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ECL TRUCKING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Storrs Insurance Group, Inc.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Lydia Ramos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$21,496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2026-05-14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AUXVAC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Navsav Holdings Ii,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Portia Lewis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$22,774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2026-05-14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CASTANO CONSTRUCTION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Valion Security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Ron Douglas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$8,567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2026-05-13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INEZ FAMILY TRUCKING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Justin Robert Insurance Agency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Kurt Butterfield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$18,327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2026-05-12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ESCAMILLA TRUCKING INC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Cover Badger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$39,423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2026-05-12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 &amp; D TRUCKING SERVICES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 Risk Management Group Inc.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$85,813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2026-05-12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MIGUEL ANGEL RODRIGUEZ GARCIA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ECO INSURANCE SERVICES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Derrick Leroy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$11,582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2026-05-12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AJF HAULING SERVICES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Eastern Underwriting Managers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$32,489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TEXAN TRUCKS AND TRAILERS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Justin Robert Insurance Agency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Kurt Butterfield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$34,657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</a:tr>
              <a:tr h="269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MADE TO COMPETE TRANSPORT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Insurance Leader Group, Inc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Derrick Leroy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$14,601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5F0FC"/>
                    </a:solidFill>
                  </a:tcPr>
                </a:tc>
              </a:tr>
              <a:tr h="2695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2026-05-11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BRIGGS AND BRIGGS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Executive Insurance Group LLC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Christopher Hayes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MD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3A3A4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$949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94" name="Google Shape;294;p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 txBox="1"/>
          <p:nvPr/>
        </p:nvSpPr>
        <p:spPr>
          <a:xfrm>
            <a:off x="457200" y="6510528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0" spcFirstLastPara="1" rIns="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8789E"/>
                </a:solidFill>
                <a:latin typeface="Calibri"/>
                <a:ea typeface="Calibri"/>
                <a:cs typeface="Calibri"/>
                <a:sym typeface="Calibri"/>
              </a:rPr>
              <a:t>Source: Metabase Card 6472  ·  May 28, 2026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