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GWP</c:v>
                </c:pt>
              </c:strCache>
            </c:strRef>
          </c:tx>
          <c:dPt>
            <c:idx val="0"/>
            <c:spPr>
              <a:solidFill>
                <a:srgbClr val="5B21B6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D946EF"/>
              </a:solidFill>
            </c:spPr>
          </c:dPt>
          <c:dPt>
            <c:idx val="3"/>
            <c:spPr>
              <a:solidFill>
                <a:srgbClr val="8B5CF6"/>
              </a:solidFill>
            </c:spPr>
          </c:dPt>
          <c:dPt>
            <c:idx val="4"/>
            <c:spPr>
              <a:solidFill>
                <a:srgbClr val="A78BFA"/>
              </a:solidFill>
            </c:spPr>
          </c:dPt>
          <c:dPt>
            <c:idx val="5"/>
            <c:spPr>
              <a:solidFill>
                <a:srgbClr val="C4B5FD"/>
              </a:solidFill>
            </c:spPr>
          </c:dPt>
          <c:dPt>
            <c:idx val="6"/>
            <c:spPr>
              <a:solidFill>
                <a:srgbClr val="E879F9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10B981"/>
              </a:solidFill>
            </c:spPr>
          </c:dPt>
          <c:dPt>
            <c:idx val="9"/>
            <c:spPr>
              <a:solidFill>
                <a:srgbClr val="A09CB0"/>
              </a:solidFill>
            </c:spPr>
          </c:dPt>
          <c:dPt>
            <c:idx val="10"/>
            <c:spPr>
              <a:solidFill>
                <a:srgbClr val="5B21B6"/>
              </a:solidFill>
            </c:spPr>
          </c:dPt>
          <c:cat>
            <c:strRef>
              <c:f>Sheet1!$A$2:$A$12</c:f>
              <c:strCache>
                <c:ptCount val="11"/>
                <c:pt idx="0">
                  <c:v>CA</c:v>
                </c:pt>
                <c:pt idx="1">
                  <c:v>TX</c:v>
                </c:pt>
                <c:pt idx="2">
                  <c:v>PA</c:v>
                </c:pt>
                <c:pt idx="3">
                  <c:v>CO</c:v>
                </c:pt>
                <c:pt idx="4">
                  <c:v>SC</c:v>
                </c:pt>
                <c:pt idx="5">
                  <c:v>MI</c:v>
                </c:pt>
                <c:pt idx="6">
                  <c:v>OK</c:v>
                </c:pt>
                <c:pt idx="7">
                  <c:v>NJ</c:v>
                </c:pt>
                <c:pt idx="8">
                  <c:v>NM</c:v>
                </c:pt>
                <c:pt idx="9">
                  <c:v>ND</c:v>
                </c:pt>
                <c:pt idx="10">
                  <c:v>LA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870670.5700000001</c:v>
                </c:pt>
                <c:pt idx="1">
                  <c:v>738210.6900000001</c:v>
                </c:pt>
                <c:pt idx="2">
                  <c:v>108766.17000000001</c:v>
                </c:pt>
                <c:pt idx="3">
                  <c:v>22420.61</c:v>
                </c:pt>
                <c:pt idx="4">
                  <c:v>14880.0</c:v>
                </c:pt>
                <c:pt idx="5">
                  <c:v>14033.26</c:v>
                </c:pt>
                <c:pt idx="6">
                  <c:v>11870.48</c:v>
                </c:pt>
                <c:pt idx="7">
                  <c:v>8225.0</c:v>
                </c:pt>
                <c:pt idx="8">
                  <c:v>550.0</c:v>
                </c:pt>
                <c:pt idx="9">
                  <c:v>550.0</c:v>
                </c:pt>
                <c:pt idx="10">
                  <c:v>550.0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latin typeface="Segoe UI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DSG Growth Campaign — February 2026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Data as of 03/18/2026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05840"/>
            <a:ext cx="22128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21284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097280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 Light"/>
              </a:rPr>
              <a:t>1,166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5361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Feb Completed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4708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5F83"/>
                </a:solidFill>
                <a:latin typeface="Segoe UI"/>
              </a:rPr>
              <a:t>vs 914 Jan  |  Highest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8" y="1005840"/>
            <a:ext cx="22128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4328" y="1005840"/>
            <a:ext cx="2212848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097280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 Light"/>
              </a:rPr>
              <a:t>$888,784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15361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Feb Bound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184708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5F83"/>
                </a:solidFill>
                <a:latin typeface="Segoe UI"/>
              </a:rPr>
              <a:t>+77% MoM  |  $500,726 → $888,784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1005840"/>
            <a:ext cx="22128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28616" y="1005840"/>
            <a:ext cx="2212848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0055" y="1097280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 Light"/>
              </a:rPr>
              <a:t>53.6%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5" y="15361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Feb Quote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5" y="184708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5F83"/>
                </a:solidFill>
                <a:latin typeface="Segoe UI"/>
              </a:rPr>
              <a:t>vs 45.3% program avg  |  Above avg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2904" y="1005840"/>
            <a:ext cx="22128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32904" y="1005840"/>
            <a:ext cx="221284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4344" y="1097280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 Light"/>
              </a:rPr>
              <a:t>11/22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15361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Expansion States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184708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5F83"/>
                </a:solidFill>
                <a:latin typeface="Segoe UI"/>
              </a:rPr>
              <a:t>49 expansion subs in Feb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1005840"/>
            <a:ext cx="22128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7192" y="1005840"/>
            <a:ext cx="2212848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1097280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 Light"/>
              </a:rPr>
              <a:t>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15361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YTD Binds  |  $1.8M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184708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5F83"/>
                </a:solidFill>
                <a:latin typeface="Segoe UI"/>
              </a:rPr>
              <a:t>Feb 24  |  Jan 13  |  3 expansion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2514600"/>
            <a:ext cx="7132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587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EXPANSION STATE PERFORMANCE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834640"/>
            <a:ext cx="164592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9535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2953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Subs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2953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1729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172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12 subs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1729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 Semibold"/>
              </a:rPr>
              <a:t>BOUND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29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34290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11 subs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4290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9E0B"/>
                </a:solidFill>
                <a:latin typeface="Segoe UI"/>
              </a:rPr>
              <a:t>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685031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AZ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368503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6 subs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368503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9E0B"/>
                </a:solidFill>
                <a:latin typeface="Segoe UI"/>
              </a:rPr>
              <a:t>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941063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394106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5 subs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394106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 Semibold"/>
              </a:rPr>
              <a:t>BOUND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19709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41970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4 subs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41970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4531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44531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3 subs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44531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59" y="29535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State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1999" y="2953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Subs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59" y="2953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 Semibold"/>
              </a:rPr>
              <a:t>Status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3359" y="31729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NH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1999" y="3172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3 subs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59" y="31729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59" y="3429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1999" y="34290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2 subs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59" y="34290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59" y="3685031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MN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1999" y="368503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 subs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59" y="368503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59" y="3941063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WV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1999" y="394106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 subs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59" y="394106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23359" y="419709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1999" y="41970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 subs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4959" y="41970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80960" y="2514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0" y="2514600"/>
            <a:ext cx="42062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 Semibold"/>
              </a:rPr>
              <a:t>EXPANSION BINDS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29260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CO: JOHNSON TRUCKING ENTER — $22,421
ND: LIONET LLC — $550
OK: R PACE TRANSPORT LLC — $11,870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80960" y="3749039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80960" y="3749039"/>
            <a:ext cx="420624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18120" y="3840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4444"/>
                </a:solidFill>
                <a:latin typeface="Segoe UI Semibold"/>
              </a:rPr>
              <a:t>DORMANT STATES (14)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8120" y="4114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5F83"/>
                </a:solidFill>
                <a:latin typeface="Segoe UI"/>
              </a:rPr>
              <a:t>0-1 submissions — need targeted outreach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8120" y="4389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AR   IA   ID   ME   MN   MS   MT   ND   NE   RI   SD   UT   WI   WV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" y="51206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20040" y="5120640"/>
            <a:ext cx="5669280" cy="2926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1572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WATCH ITEMS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55046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42% of DSG agencies (110/260) have no BDM or BDA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57332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Bind rate still 2.1% overall — typical for DSG, room for improvement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59618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FL: 53 completed subs in Feb, not in program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61904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14 expansion states still dormant (0-1 subs)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17920" y="51206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17920" y="5120640"/>
            <a:ext cx="5669280" cy="2926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0" y="51572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PRIORITY ACTIONS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5046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Activate agencies in VA, AZ, AL — highest-volume expansion states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57332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Assign reps to 110 agencies with no BDM or BDA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0" y="59618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Outreach to 14 dormant expansion states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0" y="619048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Leverage spring construction season for pipeline acceleration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Dormant State Activation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10 Expansion States with 0-1 Submissions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6012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33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F4444"/>
                </a:solidFill>
                <a:latin typeface="Segoe UI Light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33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Dormant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C92B5"/>
                </a:solidFill>
                <a:latin typeface="Segoe UI"/>
              </a:rPr>
              <a:t>Of 22 expansion states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96012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033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Segoe UI Light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033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Total Submissions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C92B5"/>
                </a:solidFill>
                <a:latin typeface="Segoe UI"/>
              </a:rPr>
              <a:t>Across all 10 dormant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6012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96012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033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033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Bound Agency 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C92B5"/>
                </a:solidFill>
                <a:latin typeface="Segoe UI"/>
              </a:rPr>
              <a:t>Bound elsewhere + dormant subs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96012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96012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1033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F4444"/>
                </a:solidFill>
                <a:latin typeface="Segoe UI Ligh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033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 Semibold"/>
              </a:rPr>
              <a:t>Zero Activity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C92B5"/>
                </a:solidFill>
                <a:latin typeface="Segoe UI"/>
              </a:rPr>
              <a:t>IA, ME, RI, SD — no subs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STATE-BY-STATE BREAKDOWN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6712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258568"/>
            <a:ext cx="45720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2768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258568"/>
            <a:ext cx="45720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2768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2258568"/>
            <a:ext cx="64008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22768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Agencies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2258568"/>
            <a:ext cx="82296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39" y="22768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Overlap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79" y="2258568"/>
            <a:ext cx="329184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199" y="2276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Notes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96312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251460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2496312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251460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34440" y="2496312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25146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74519" y="2496312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39" y="25146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2 BOUND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79" y="2496312"/>
            <a:ext cx="3291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199" y="2514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USA Specialty $50K quoted (LIVE)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2734056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27523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MN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2734056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27523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440" y="2734056"/>
            <a:ext cx="64008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27523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2734056"/>
            <a:ext cx="8229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0239" y="27523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0 bound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79" y="2734056"/>
            <a:ext cx="329184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199" y="27523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 quoted — Bond Ins, CSLR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2971800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59" y="29900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WI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2971800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29900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34440" y="2971800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80160" y="29900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74519" y="2971800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20239" y="29900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0 bound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79" y="2971800"/>
            <a:ext cx="3291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199" y="2990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Both declined — Ins Team of America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209544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59" y="32278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MT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" y="3209544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32278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34440" y="3209544"/>
            <a:ext cx="64008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80160" y="32278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74519" y="3209544"/>
            <a:ext cx="8229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20239" y="32278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 BOUND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97479" y="3209544"/>
            <a:ext cx="329184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199" y="32278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United Advantage — declined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3447288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59" y="346557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3447288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346557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34440" y="3447288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80160" y="346557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74519" y="3447288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39" y="3465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0 bound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97479" y="3447288"/>
            <a:ext cx="3291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199" y="34655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McClure Agency — incomplete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3685032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59" y="37033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" y="3685032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37033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34440" y="3685032"/>
            <a:ext cx="64008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80160" y="3703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74519" y="3685032"/>
            <a:ext cx="8229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920239" y="37033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0 bound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97479" y="3685032"/>
            <a:ext cx="329184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199" y="3703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Han Inc — incomplete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3922776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5759" y="394106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7240" y="3922776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2960" y="394106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34440" y="3922776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80160" y="3941063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74519" y="3922776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20239" y="394106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97479" y="3922776"/>
            <a:ext cx="3291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43199" y="394106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No submissions received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" y="4160520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5759" y="41788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7240" y="4160520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2960" y="41788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34440" y="4160520"/>
            <a:ext cx="64008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80160" y="41788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74519" y="4160520"/>
            <a:ext cx="8229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20239" y="41788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697479" y="4160520"/>
            <a:ext cx="329184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43199" y="41788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No submissions received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" y="4398264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59" y="44165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RI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7240" y="4398264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44165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234440" y="4398264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280160" y="441655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874519" y="4398264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20239" y="44165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697479" y="4398264"/>
            <a:ext cx="3291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43199" y="44165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No submissions received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0040" y="4636008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59" y="46542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SD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77240" y="4636008"/>
            <a:ext cx="45720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2960" y="46542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34440" y="4636008"/>
            <a:ext cx="64008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80160" y="465429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874519" y="4636008"/>
            <a:ext cx="8229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920239" y="46542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697479" y="4636008"/>
            <a:ext cx="329184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43199" y="46542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No submissions received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17920" y="1920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BOUND AGENCY OVERLAP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17920" y="216712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6217920" y="228600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217920" y="228600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0800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USA Specialty Insurance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058400" y="2340864"/>
            <a:ext cx="822960" cy="182880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076688" y="2340864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Segoe UI"/>
              </a:rPr>
              <a:t>LIVE QUOTE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0" y="25603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Bound: 2 policies in TX ($16K)  |  UT: $50,329 quoted — Rigo Transportation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00800" y="276148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Eff: 03/04/2026  |  Multi-state (CA, GA, NJ, TN, TX, UT)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00800" y="299923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ACTION: Follow up immediately — highest-value dormant state opportunity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217920" y="3337560"/>
            <a:ext cx="566928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217920" y="3337560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00800" y="33832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United Advantage Insurance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00800" y="3593591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Bound: 7 policies in CA, TX ($45K)  |  MT sub declined ($6.5K, Nightwind Trucking)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00800" y="379476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Most active submitter: 41 subs across 10 states — strong multi-state presence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17920" y="4096512"/>
            <a:ext cx="566928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17920" y="4096512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400800" y="4142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Resolute Insurance Group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00800" y="4352544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Bound: 3 policies in CO ($22K)  |  UT sub declined ($5.1K, JEM Trucking)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400800" y="455371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Submits in 6 states (CO, LA, MO, NC, OK, UT) — re-engage for UT pipeline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0040" y="4937760"/>
            <a:ext cx="11521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0040" y="4937760"/>
            <a:ext cx="11521440" cy="457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02920" y="50292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KEY TAKEAWAYS &amp; ACTIVATION STRATEGY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2920" y="52852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Only 3 of 27 bound agencies have ever submitted in a dormant state — organic crossover is minimal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2920" y="5486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USA Specialty has a live $50K quoted deal in UT (eff 03/04) — immediate follow-up required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2920" y="56875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MN shows most promise: 3 subs from 3 agencies, 2 currently quoted — worth targeted outreach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2920" y="5888736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IA, ME, RI, SD have zero activity — activation requires net-new agency recruitment in those geographies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Expansion State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22 New States  |  Feb 2026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Expansion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11/22 states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Expansion Binds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$34,841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F4444"/>
                </a:solidFill>
                <a:latin typeface="Segoe U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Dormant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0-1 submissions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8686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B5CF6"/>
                </a:solidFill>
                <a:latin typeface="Segoe U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States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of 22 expansion states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920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EXPANSION STATES — FEB SUBMISSIONS (11/22 Active)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6712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258568"/>
            <a:ext cx="54864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28600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" y="2258568"/>
            <a:ext cx="64008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28600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39" y="2258568"/>
            <a:ext cx="64008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228600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Quoted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2258568"/>
            <a:ext cx="64008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39" y="228600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Bound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258568"/>
            <a:ext cx="73152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228600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Declined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258568"/>
            <a:ext cx="128016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39" y="2286000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79" y="2258568"/>
            <a:ext cx="109728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599" y="2286000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Bound GWP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478024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50545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" y="2478024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250545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39" y="2478024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250545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2478024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48839" y="250545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247802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88920" y="250545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F4444"/>
                </a:solidFill>
                <a:latin typeface="Segoe UI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2478024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39" y="2505456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BOUND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478024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599" y="2505456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$22,421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697480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272491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VA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59" y="269748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272491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3039" y="269748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08760" y="272491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269748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48839" y="272491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2697480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8920" y="272491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F4444"/>
                </a:solidFill>
                <a:latin typeface="Segoe UI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0" y="2697480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0439" y="2724912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79" y="2697480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00599" y="2724912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916936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294436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59" y="291693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" y="294436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63039" y="291693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08760" y="294436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03120" y="291693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48839" y="294436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0" y="291693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88920" y="29443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F4444"/>
                </a:solidFill>
                <a:latin typeface="Segoe UI"/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2916936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20439" y="2944368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79" y="2916936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599" y="2944368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3136392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316382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OK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59" y="313639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8680" y="316382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63039" y="313639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08760" y="316382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03120" y="313639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48839" y="316382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0" y="3136392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88920" y="316382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F4444"/>
                </a:solidFill>
                <a:latin typeface="Segoe UI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74720" y="3136392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20439" y="3163824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BOUND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54879" y="3136392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0599" y="3163824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$11,870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355848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338327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2959" y="335584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8680" y="33832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63039" y="335584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08760" y="33832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103120" y="335584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148839" y="33832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0" y="335584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88920" y="338327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74720" y="3355848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20439" y="3383279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54879" y="3355848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00599" y="3383279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3575304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360273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2959" y="357530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8680" y="360273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463039" y="357530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08760" y="360273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103120" y="357530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148839" y="360273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0" y="3575304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88920" y="360273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74720" y="3575304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520439" y="3602736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754879" y="3575304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800599" y="3602736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379476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38221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NH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22959" y="3794760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8680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63039" y="3794760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508760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103120" y="3794760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148839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0" y="379476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788920" y="382219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0" y="3794760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520439" y="3822192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754879" y="3794760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800599" y="3822192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4014216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20040" y="40416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OR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22959" y="4014216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68680" y="404164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463039" y="4014216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08760" y="404164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03120" y="4014216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148839" y="404164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0" y="4014216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88920" y="404164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74720" y="4014216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520439" y="4041648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754879" y="4014216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800599" y="4041648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74320" y="4233672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20040" y="4261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MN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22959" y="4233672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68680" y="426110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463039" y="4233672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08760" y="426110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103120" y="4233672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148839" y="426110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0" y="4233672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88920" y="42611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474720" y="4233672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520439" y="4261104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Quoted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754879" y="4233672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800599" y="4261104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74320" y="4453128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20040" y="44805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MS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22959" y="4453128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8680" y="448056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463039" y="4453128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08760" y="448056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103120" y="4453128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148839" y="448056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0" y="4453128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788920" y="448056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474720" y="4453128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520439" y="4480560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754879" y="4453128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800599" y="4480560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4320" y="4672583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20040" y="470001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Segoe UI"/>
              </a:rPr>
              <a:t>WV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22959" y="4672583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68680" y="47000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463039" y="4672583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08760" y="47000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103120" y="4672583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148839" y="47000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0" y="4672583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788920" y="470001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74720" y="4672583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520439" y="4700016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5F83"/>
                </a:solidFill>
                <a:latin typeface="Segoe UI"/>
              </a:rPr>
              <a:t>Emerging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754879" y="4672583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800599" y="4700016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4892040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20040" y="49194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AR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22959" y="489204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68680" y="49194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463039" y="489204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08760" y="49194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103120" y="4892040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148839" y="49194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743200" y="4892040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788920" y="491947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474720" y="4892040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520439" y="4919472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Dormant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754879" y="4892040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800599" y="4919472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74320" y="5111496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20040" y="51389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IA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22959" y="511149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68680" y="513892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463039" y="511149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508760" y="513892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103120" y="5111496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148839" y="513892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743200" y="511149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2788920" y="51389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474720" y="5111496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520439" y="5138928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Dormant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754879" y="5111496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800599" y="5138928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5330952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20040" y="53583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ID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22959" y="533095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68680" y="5358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463039" y="533095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508760" y="5358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103120" y="5330952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148839" y="5358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743200" y="5330952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788920" y="53583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474720" y="5330952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520439" y="5358384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Dormant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754879" y="5330952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00599" y="5358384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274320" y="5550408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20040" y="55778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ME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22959" y="555040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68680" y="55778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463039" y="555040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508760" y="55778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103120" y="5550408"/>
            <a:ext cx="640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148839" y="55778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743200" y="555040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788920" y="55778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474720" y="5550408"/>
            <a:ext cx="12801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520439" y="5577840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Dormant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754879" y="5550408"/>
            <a:ext cx="10972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800599" y="5577840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274320" y="5769864"/>
            <a:ext cx="54864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20040" y="579729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B5"/>
                </a:solidFill>
                <a:latin typeface="Segoe UI"/>
              </a:rPr>
              <a:t>MT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22959" y="576986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68680" y="579729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463039" y="576986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508760" y="579729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103120" y="5769864"/>
            <a:ext cx="640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2148839" y="579729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743200" y="5769864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788920" y="57972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3474720" y="5769864"/>
            <a:ext cx="128016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3520439" y="5797296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Dormant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4754879" y="5769864"/>
            <a:ext cx="10972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4800599" y="5797296"/>
            <a:ext cx="10058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274320" y="5989320"/>
            <a:ext cx="1161288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74320" y="598932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57200" y="60533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DORMANT (14):  AR, IA, ID, ME, MN, MS, MT, ND, NE, RI, SD, UT, WI, WV   |   BINDS: 3 policies in OK, ND, CO ($34,841)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Card 6472 + 18630  |  Feb 2026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Key Insights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Data-Driven Findings  |  DSG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365760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Growth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3716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371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February premium surged +77% MoM — strongest month since DSG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0116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0116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Program hitting stride: $1.8M YTD across 11 states with improving quote rates (53.6% vs 45%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517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651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Submission volume nearly doubled Jan→Feb (914→1,166) — agent awareness is translating to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29183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2918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Average account size of $30,874 signals we're attracting the right risk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931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Pipeline depth increasing: 625 quotes in Feb creates a conversion runway into 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5720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572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Core states (CA ($870,671), TX ($738,211), PA ($108,766)) driving majority of premium — proven product-market 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91440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914400"/>
            <a:ext cx="365760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Campaign ROI &amp;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13716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371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The Growth DSG campaign is working — 28.8% open rate (vs 21% B2B avg) with 1,200 contacts influenced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0116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0116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Direct attribution: 5 of 24 Feb bound agents were campaign-influenced — clear pipeline contribution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26517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651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Multi-channel approach is the differentiator — agencies touched by email + calls + newsletter bind at higher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29183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2918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44% of bound agents had a marketing touch before binding — campaign is warming leads for reps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931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110 of 260 active DSG agencies have no assigned rep — biggest untapped growth lever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5720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572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Closing the rep coverage gap on producing agencies could materially accelerate bind rates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4736" y="91440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74736" y="91440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32-State Expansion Outlook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13716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1371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Expansion strategy is gaining traction: 11/22 new states generated 49 subs in Feb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20116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20116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Early expansion wins in CO, ND, OK prove the product travels beyond core markets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26517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2651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Original 10 states remain the engine (611 subs, 53 binds) — expansion is additive, not dilutive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329183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32918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14 states still dormant — targeted agent outreach needed to activate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6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8" y="3931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Spring construction season is a tailwind — March submission pace already accelerating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45720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6488" y="4572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Strategic opportunity: quoted-not-bound pipeline from Feb represents near-term revenue if reps follow up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Campaign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Growth DSG + Newsletter + Outreach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56692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64008" cy="2423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Did the Process Work?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05840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005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53312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4475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444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Campaign drove awareness across 32-state DSG expansion (22 new states)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8366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7,297 sent → 2,052 opened (28.8%) → 1,200 influenced → 5 of 24 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2257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3225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+77% MoM premium growth (Jan $500,726 → Feb $888,784)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6148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761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Pipeline converted: 3,366 subs → 1,811 quotes → 58 binds → $1.8M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914400"/>
            <a:ext cx="56692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914400"/>
            <a:ext cx="64008" cy="2423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0241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Did the Sales Reps Execute?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100584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1005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PARTIALLY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353312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4475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1444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Only 5 of 24 bound agencies have an assigned BDM — 0 received BDM pre-bind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8366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1883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BDMs called non-assigned accounts: Derek Janssen (Telekinesis), Derrick Leroy (Waypoint, Resolute)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2257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23225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BDA outreach: Dominic Purkett made 53 outbound calls, 4 pre-bind agency touches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76148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2761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Multiple BDAs making pre-bind calls: Cameron, Dominic, Latoya all touched bound agencies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520440"/>
            <a:ext cx="56692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520440"/>
            <a:ext cx="64008" cy="2423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30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Did We Have the Right Distribution?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611880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611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959352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5079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0507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13 of 24 bound agents were currently marketable (81%)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897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4897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47 growth outreach touches across 5 reps targeting 20 new-expansion states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2861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49286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Strong Marsh/MMA national partner engagement driving volume through key verticals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367527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36752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GA, MO, IL, TX, PA generating active pipeline from new-state footprint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520440"/>
            <a:ext cx="56692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520440"/>
            <a:ext cx="64008" cy="2423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630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Did We Miss on Distribution?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361188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YES — GAPS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959352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05079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40507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NJ is #1 gap — tri-state agents say more DSG leads there than 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4897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44897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VA classification issue blocking largest DSG agency from submitting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92861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49286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18-unit TN account may not bind due to dashcam/ELD objection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367527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65392" y="536752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Large pipeline accounts (25 PU, 20 PU, 19 PU) not yet converted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Marketing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Growth DSG Campaign  |  Feb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"/>
              </a:rPr>
              <a:t>7,297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Emails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Growth DSG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2,052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Emails Opened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28.8% open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B5CF6"/>
                </a:solidFill>
                <a:latin typeface="Segoe UI"/>
              </a:rPr>
              <a:t>301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Clicks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4.2% click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1,200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Influenced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contacts across campaign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1965960"/>
            <a:ext cx="56692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1965960"/>
            <a:ext cx="566928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002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CAMPAIGN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42316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23160"/>
            <a:ext cx="54864" cy="3566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468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8 / 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24871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bound agencies had contacts open marketing emails in Feb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83464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834640"/>
            <a:ext cx="54864" cy="356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3AED"/>
                </a:solidFill>
                <a:latin typeface="Segoe UI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89864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unique agencies bound in February ($888,784 GWP)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24612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246120"/>
            <a:ext cx="54864" cy="3566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28.8%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3310127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campaign open rate — strong for B2B insurance (avg ~21%)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65760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657600"/>
            <a:ext cx="54864" cy="3566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Segoe UI"/>
              </a:rPr>
              <a:t>1,200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72160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total contacts influenced across Growth DSG campaign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06908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069080"/>
            <a:ext cx="54864" cy="3566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301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13308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email clicks (4.2% CTR) — drove direct engagement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480560"/>
            <a:ext cx="5303520" cy="3566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480560"/>
            <a:ext cx="54864" cy="356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3AED"/>
                </a:solidFill>
                <a:latin typeface="Segoe UI"/>
              </a:rPr>
              <a:t>0.56%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45445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reply rate — agents engaging directly with campaign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965192"/>
            <a:ext cx="530352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965192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0109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 Semibold"/>
              </a:rPr>
              <a:t>MULTI-TOUCH INSIGHT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2212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agents reached through campaign emails, BDA outbound calls, and newsletter. Email + personal outreach is the strongest conversion driver.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1965960"/>
            <a:ext cx="56692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1965960"/>
            <a:ext cx="5669280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2002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OUTREACH CHANNELS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450592"/>
            <a:ext cx="5303520" cy="8686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2450592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2478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 Semibold"/>
              </a:rPr>
              <a:t>GROWTH DSG CAMPAIGN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2706624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8272" y="270662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7,297 emails sent to DSG-eligible agents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2916936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48272" y="291693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2,052 opened (28.8%) → 301 clicked (4.2%)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127248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272" y="312724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1,200 contacts influenced across 32 states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3374136"/>
            <a:ext cx="5303520" cy="8686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374136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0" y="34015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 Semibold"/>
              </a:rPr>
              <a:t>BDA OUTBOUND CALLS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3630168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48272" y="363016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Cameron, Dominic, Latoya all touched bound agencies pre-bind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384048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8272" y="3840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Dominic: 53-min Monarca call led directly to bind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050792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48272" y="405079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Latoya: 3 bound agencies called in Jan–Feb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4297680"/>
            <a:ext cx="5303520" cy="8686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4297680"/>
            <a:ext cx="54864" cy="868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0" y="43251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 Semibold"/>
              </a:rPr>
              <a:t>BDM OUTBOUND CALLS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4553712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5CF6"/>
                </a:solidFill>
                <a:latin typeface="Segoe UI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48272" y="455371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Christopher Hayes: 19 touches to 4 bound agencies (most active)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4764024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5CF6"/>
                </a:solidFill>
                <a:latin typeface="Segoe UI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48272" y="476402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Derek Janssen: called Telekinesis pre-bind ($205K bind)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4974336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5CF6"/>
                </a:solidFill>
                <a:latin typeface="Segoe UI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48272" y="497433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Derrick Leroy: deep conversations with Waypoint (26min) and Resolute (23min)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0" y="5221224"/>
            <a:ext cx="5303520" cy="8686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00800" y="5221224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83680" y="52486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 Semibold"/>
              </a:rPr>
              <a:t>NEWSLETTER &amp; DSG LAUNCH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5477256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48272" y="547725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Feb newsletter reached ~2,399 agents, ~69% estimated reach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5687568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48272" y="568756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DSG expansion announcement Feb 5: 10 → 32 states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589788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48272" y="58978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13 of 22 bound agents were on marketable lists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Team Standouts — DSG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Assigned Agency Performance  |  Feb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987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Derek Janssen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1024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024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005840"/>
            <a:ext cx="795528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014984"/>
            <a:ext cx="795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19 emails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87368" y="1005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014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26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1005840"/>
            <a:ext cx="1307592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1014984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$341,825 premium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1952" y="1005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1952" y="1014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3 binds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1280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1335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3 policies ($341,825) via Safeline Insurance Agency, Inc., Fredrick B. Roberson Insurance Services, Inc.  |  Multi-channel outreach: 26 calls + 19 emails to DSG agencies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914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91440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987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Dominic Purkett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024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1024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9648" y="1005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99648" y="1014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5 emails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94976" y="1005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4976" y="1014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21 calls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14232" y="1005840"/>
            <a:ext cx="1307592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1014984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$169,297 premium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1005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59" y="1014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3 binds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8231" y="1280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1335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3 policies ($169,297) via Christian Charles Insurance Services, Inc, Insuremart Inc  |  Multi-channel outreach: 21 calls + 5 emails to DSG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2057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20574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2130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James Reid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36192" y="2167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36192" y="2167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56048" y="2148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6048" y="2157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5 calls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75304" y="2148840"/>
            <a:ext cx="1307592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5304" y="2157984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$126,846 premium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70632" y="2148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70632" y="2157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3 binds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" y="2423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2478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3 policies ($126,846) via Cover Badger LLC, Appalachian Underwriters  |  5 outbound calls to DSG agency contacts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2057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20574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1" y="2130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Ron Douglas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71231" y="2167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71231" y="2167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99648" y="2148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99648" y="2157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28 calls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92056" y="2148840"/>
            <a:ext cx="1234439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92056" y="2157984"/>
            <a:ext cx="1234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$90,096 premium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87384" y="2148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87384" y="2157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3 binds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28231" y="2423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8231" y="2478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3 policies ($90,096) via Insurance4Truckers LLC, USA SPECIALTY INSURANCE/DBA PREVENTTY  |  28 outbound calls to DSG agency contacts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3200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320040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" y="3273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Antonio Reyes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10512" y="3310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10512" y="3310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56048" y="3291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56048" y="3300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7 calls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48456" y="3291840"/>
            <a:ext cx="1234439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8456" y="3300984"/>
            <a:ext cx="1234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$54,839 premium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43784" y="3291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43784" y="3300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2 binds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4632" y="3566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4632" y="3621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2 policies ($54,839) via United Advantage Insurance Services, Western Truck Insurance Services, Inc.  |  7 outbound calls to DSG agency contacts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63640" y="3200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63640" y="320040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28231" y="3273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Latoya Madlock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45552" y="3310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45552" y="3310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899648" y="3291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99648" y="3300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26 calls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92056" y="3291840"/>
            <a:ext cx="1234439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92056" y="3300984"/>
            <a:ext cx="1234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$22,421 premium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87384" y="3291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87384" y="3300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 binds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28231" y="3566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28231" y="3621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1 policy ($22,421) via Resolute Insurance Group LLC  |  26 outbound calls to DSG agency contacts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40" y="4343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" y="43434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4632" y="4416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Christopher Hayes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76272" y="4453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76272" y="4453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453128" y="4434840"/>
            <a:ext cx="1234439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53128" y="4443984"/>
            <a:ext cx="1234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$19,097 premium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48456" y="4434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48456" y="4443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 binds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4632" y="4709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4632" y="4764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1 policy ($19,097) via DNIS Inc.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63640" y="4343400"/>
            <a:ext cx="5623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63640" y="43434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28231" y="4416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Derrick Leroy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754112" y="4453128"/>
            <a:ext cx="502920" cy="20116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54112" y="44531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BDM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899648" y="4434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99648" y="4443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13 calls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92056" y="4434840"/>
            <a:ext cx="1234439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592056" y="4443984"/>
            <a:ext cx="1234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$12,169 premium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787384" y="4434840"/>
            <a:ext cx="731520" cy="23774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87384" y="4443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 binds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28231" y="4709160"/>
            <a:ext cx="5294376" cy="109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28231" y="4764024"/>
            <a:ext cx="5294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Bound 1 policy ($12,169) via AMC Agents LLC  |  13 outbound calls to DSG agency contacts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0040" y="5486400"/>
            <a:ext cx="11521440" cy="411480"/>
          </a:xfrm>
          <a:prstGeom prst="roundRect">
            <a:avLst>
              <a:gd name="adj" fmla="val 5000"/>
            </a:avLst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48640" y="55504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17 Binds   •   $836,589 Bound Premium   •   126 Outbound Calls   •   24 DSG Emails   •   8 Reps Active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Distribution by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Geographic Concentration  |  2026 YTD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09728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675120" y="1097280"/>
            <a:ext cx="822960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1430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097280"/>
            <a:ext cx="731520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1430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Accts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828800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430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097280"/>
            <a:ext cx="1097280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14300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389888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435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389888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4356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8988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4356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$870,671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1389888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43560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48.6%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682495"/>
            <a:ext cx="82296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7282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682495"/>
            <a:ext cx="73152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7282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682495"/>
            <a:ext cx="182880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7282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$738,211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1682495"/>
            <a:ext cx="109728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728216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41.2%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975104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0208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1975104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20208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97510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0208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$108,766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975104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2020824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6.1%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267712"/>
            <a:ext cx="82296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3134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CO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2267712"/>
            <a:ext cx="73152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23134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267712"/>
            <a:ext cx="182880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23134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$22,421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2267712"/>
            <a:ext cx="109728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04120" y="2313432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1.3%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560320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2606039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SC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2560320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260603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256032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2606039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$14,880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0" y="2560320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2606039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2852928"/>
            <a:ext cx="82296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28986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MI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852928"/>
            <a:ext cx="73152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43800" y="2898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2852928"/>
            <a:ext cx="182880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2898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$14,033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2852928"/>
            <a:ext cx="109728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4120" y="289864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314553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0840" y="31912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OK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79" y="314553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43800" y="3191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314553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75320" y="3191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$11,870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3145536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04120" y="3191256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0.7%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3438144"/>
            <a:ext cx="82296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20840" y="348386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NJ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98079" y="3438144"/>
            <a:ext cx="73152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348386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3438144"/>
            <a:ext cx="182880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75320" y="3483863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$8,225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58400" y="3438144"/>
            <a:ext cx="109728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04120" y="3483863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0.5%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75120" y="3730752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20840" y="37764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NM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730752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43800" y="37764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373075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75320" y="3776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$550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8400" y="3730752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04120" y="3776472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75120" y="4023360"/>
            <a:ext cx="82296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20840" y="4069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ND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79" y="4023360"/>
            <a:ext cx="73152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43800" y="40690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0" y="4023360"/>
            <a:ext cx="182880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75320" y="40690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$550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4023360"/>
            <a:ext cx="1097280" cy="29260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04120" y="406908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75120" y="4315968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2084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21B6"/>
                </a:solidFill>
                <a:latin typeface="Segoe UI"/>
              </a:rPr>
              <a:t>LA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98079" y="4315968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43800" y="43616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0" y="431596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75320" y="43616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$550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58400" y="4315968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04120" y="436168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0.0%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675120" y="4608576"/>
            <a:ext cx="4480560" cy="338328"/>
          </a:xfrm>
          <a:prstGeom prst="roundRect">
            <a:avLst>
              <a:gd name="adj" fmla="val 3000"/>
            </a:avLst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20840" y="4654296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43800" y="4654296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58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75320" y="465429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$1.8M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04120" y="4654296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100%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Card 18630  |  Bound Policies 2026 YTD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March 2026 Early 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As of March 18, 2026  |  vs February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418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C3AED"/>
                </a:solidFill>
                <a:latin typeface="Segoe UI"/>
              </a:rPr>
              <a:t>1,116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33F"/>
                </a:solidFill>
                <a:latin typeface="Segoe UI"/>
              </a:rPr>
              <a:t>March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18 days in  |  62/day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9418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9E0B"/>
                </a:solidFill>
                <a:latin typeface="Segoe UI"/>
              </a:rPr>
              <a:t>1,922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33F"/>
                </a:solidFill>
                <a:latin typeface="Segoe UI"/>
              </a:rPr>
              <a:t>Projected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1.5x Feb pace (42/day)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9418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B981"/>
                </a:solidFill>
                <a:latin typeface="Segoe UI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33F"/>
                </a:solidFill>
                <a:latin typeface="Segoe UI"/>
              </a:rPr>
              <a:t>March Binds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$401,218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868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8686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9418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B5CF6"/>
                </a:solidFill>
                <a:latin typeface="Segoe UI"/>
              </a:rP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33F"/>
                </a:solidFill>
                <a:latin typeface="Segoe UI"/>
              </a:rPr>
              <a:t>States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5361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of 32 total  |  18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011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FEBRUARY vs MARCH PACE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5856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359152"/>
            <a:ext cx="1188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3957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2359152"/>
            <a:ext cx="1188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8760" y="23957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Feb (Full)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359152"/>
            <a:ext cx="1188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23957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Mar (18d)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359152"/>
            <a:ext cx="1188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23957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Mar Projected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63347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67004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Submissions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263347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267004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1,166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263347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267004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1,116 (18d)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263347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267004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1,922 proj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90779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294436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Quotes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290779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294436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625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290779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80" y="294436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651 (18d)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290779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294436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1,121 proj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18211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21868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Binds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318211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08760" y="321868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318211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321868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21 (18d)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318211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321868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36 proj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45643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349300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GWP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345643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08760" y="349300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$888,784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345643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349300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$401,218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0" y="3456432"/>
            <a:ext cx="1188720" cy="27432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349300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$690,986 proj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73075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37673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233F"/>
                </a:solidFill>
                <a:latin typeface="Segoe UI"/>
              </a:rPr>
              <a:t>Daily Sub Rate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0" y="373075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08760" y="37673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42/day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373075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37673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B981"/>
                </a:solidFill>
                <a:latin typeface="Segoe UI"/>
              </a:rPr>
              <a:t>62/day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730752"/>
            <a:ext cx="1188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86200" y="3767328"/>
            <a:ext cx="10972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1.5x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2011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MARCH WINS — FIRST 18 DAYS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225856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17920" y="2359152"/>
            <a:ext cx="164592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23774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Insured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2359152"/>
            <a:ext cx="164592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09560" y="23774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Agency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2359152"/>
            <a:ext cx="36576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480" y="237744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20" y="2359152"/>
            <a:ext cx="73152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21240" y="23774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GWP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2359152"/>
            <a:ext cx="731520" cy="237744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652760" y="23774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Eff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2596896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26151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GUEORQUI TRANSPORT LLC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63840" y="2596896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09560" y="26151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AMC Agents LLC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9760" y="2596896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55480" y="261518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TX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75520" y="2596896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21240" y="26151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$84,141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607040" y="2596896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652760" y="26151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03-18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2834640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63640" y="2852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ACD 4 LLC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63840" y="2834640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09560" y="2852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AMC Agents LLC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09760" y="2834640"/>
            <a:ext cx="3657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55480" y="285292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TX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75520" y="2834640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21240" y="28529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$46,272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607040" y="2834640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652760" y="28529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3072384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40" y="30906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RS GILL INC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863840" y="3072384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909560" y="30906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MST INSURANCE SERVICES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09760" y="3072384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55480" y="3090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75520" y="3072384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21240" y="30906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$26,215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07040" y="3072384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52760" y="30906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03-06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3310128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63640" y="33284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JGJ TRUCKING LLC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863840" y="3310128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909560" y="33284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DNIS Inc.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09760" y="3310128"/>
            <a:ext cx="3657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55480" y="332841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TX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875520" y="3310128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21240" y="33284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$26,061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607040" y="3310128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652760" y="33284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03-07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17920" y="3547872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63640" y="35661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Apollo Energy Services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63840" y="3547872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09560" y="35661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Cover Badger LLC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509760" y="3547872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555480" y="35661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TX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875520" y="3547872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921240" y="35661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$24,528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607040" y="3547872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652760" y="35661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03-10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17920" y="3785616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263640" y="38039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MISAEL BALDERAS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863840" y="3785616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909560" y="38039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Garzor Insurance LLc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09760" y="3785616"/>
            <a:ext cx="3657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55480" y="380390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TX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875520" y="3785616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921240" y="38039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$23,662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607040" y="3785616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652760" y="38039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03-12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17920" y="4023360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263640" y="4041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BURUCA FAMILY INVESTME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863840" y="4023360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909560" y="4041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Executive Insurance Gr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509760" y="4023360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555480" y="40416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MD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875520" y="4023360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921240" y="4041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$20,181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607040" y="4023360"/>
            <a:ext cx="7315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652760" y="4041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03-17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17920" y="4261104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263640" y="42793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RUBIKON GROUP LLC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63840" y="4261104"/>
            <a:ext cx="16459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909560" y="42793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DNIS Inc.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509760" y="4261104"/>
            <a:ext cx="36576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555480" y="42793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CA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875520" y="4261104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921240" y="42793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$19,601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607040" y="4261104"/>
            <a:ext cx="731520" cy="237744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52760" y="42793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03-09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4320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TOP SUBMITTING AGENCIES — MARCH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995927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74320" y="4041648"/>
            <a:ext cx="292608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20040" y="4069080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Agency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200400" y="4041648"/>
            <a:ext cx="73152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246120" y="406908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931920" y="4041648"/>
            <a:ext cx="73152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977639" y="406908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Quoted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63440" y="4041648"/>
            <a:ext cx="731520" cy="219456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709159" y="406908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Bound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74320" y="4261104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20040" y="4288536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Cover Badger LLC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200400" y="426110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246120" y="428853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274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931920" y="426110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977639" y="428853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190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663440" y="426110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709159" y="428853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" y="4480560"/>
            <a:ext cx="2926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20040" y="4507992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Fino Services LLC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00400" y="4480560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46120" y="450799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84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31920" y="4480560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77639" y="450799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43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663440" y="4480560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709159" y="450799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74320" y="4700016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20040" y="4727448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AMC Agents LLC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200400" y="470001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246120" y="472744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36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931920" y="470001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977639" y="472744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17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663440" y="470001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709159" y="472744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4919472"/>
            <a:ext cx="2926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20040" y="494690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Insurance4Truckers LLC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200400" y="4919472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246120" y="49469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34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931920" y="4919472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977639" y="49469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663440" y="4919472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709159" y="49469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74320" y="513892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20040" y="5166360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DNIS Inc.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200400" y="513892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246120" y="516636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28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931920" y="513892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977639" y="516636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663440" y="513892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709159" y="516636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3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74320" y="5358383"/>
            <a:ext cx="2926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20040" y="5385816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R-T Specialty, LLC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200400" y="5358383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246120" y="538581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3931920" y="5358383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3977639" y="538581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663440" y="5358383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709159" y="538581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274320" y="5577840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20040" y="5605272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Storrs Insurance Group, Inc.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200400" y="557784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3246120" y="560527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21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3931920" y="557784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977639" y="560527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14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63440" y="557784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709159" y="560527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92B5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74320" y="5797296"/>
            <a:ext cx="292608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20040" y="5824728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233F"/>
                </a:solidFill>
                <a:latin typeface="Segoe UI"/>
              </a:rPr>
              <a:t>United Advantage Insurance Servi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200400" y="5797296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246120" y="58247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18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3931920" y="5797296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977639" y="58247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10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663440" y="5797296"/>
            <a:ext cx="731520" cy="219456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709159" y="58247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217920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KEY SIGNALS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6217920" y="3995927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217920" y="4114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1.5x Feb pace (62/day vs 42/day) — spring season driving uptick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217920" y="440740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On pace for ~1,922 subs vs 1,166 in Feb (64% increase)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217920" y="47000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21 early binds ($401,218) in first 18 days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217920" y="499262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37 states active — expansion states gaining traction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217920" y="52852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Feb campaign pipeline maturing — quoted accounts converting Mar/Apr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March 2026 Submissions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As of March 18, 2026  |  18 days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"/>
              </a:rPr>
              <a:t>1116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Total March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18 days  |  62/day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B5CF6"/>
                </a:solidFill>
                <a:latin typeface="Segoe UI"/>
              </a:rP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States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of 32 total DSG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544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Quoted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49% quote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86868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8686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075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233F"/>
                </a:solidFill>
                <a:latin typeface="Segoe UI"/>
              </a:rPr>
              <a:t>Bound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508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2B5"/>
                </a:solidFill>
                <a:latin typeface="Segoe UI"/>
              </a:rPr>
              <a:t>$355,726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SUBMISSIONS BY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1284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304288"/>
            <a:ext cx="50292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1" y="232257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304288"/>
            <a:ext cx="50292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232257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2304288"/>
            <a:ext cx="59436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07592" y="2322576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Quoted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20" y="2304288"/>
            <a:ext cx="50292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1952" y="232257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Bound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304288"/>
            <a:ext cx="64008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4872" y="2322576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Declined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304288"/>
            <a:ext cx="82296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4952" y="2322576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514600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1" y="253288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TX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2514600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253288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579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2514600"/>
            <a:ext cx="5943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592" y="2532888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361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2514600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01952" y="253288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B981"/>
                </a:solidFill>
                <a:latin typeface="Segoe UI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2514600"/>
            <a:ext cx="6400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04872" y="2532888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155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2514600"/>
            <a:ext cx="822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44952" y="2532888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Original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724912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1751" y="2743200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2724912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2743200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0160" y="2724912"/>
            <a:ext cx="5943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07592" y="2743200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96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20" y="2724912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01952" y="2743200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B981"/>
                </a:solidFill>
                <a:latin typeface="Segoe UI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2724912"/>
            <a:ext cx="6400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04872" y="2743200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85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2724912"/>
            <a:ext cx="822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2743200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Original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2935224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1751" y="295351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FL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" y="2935224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295351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53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80160" y="2935224"/>
            <a:ext cx="5943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07592" y="2953512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20" y="2935224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01952" y="295351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77440" y="2935224"/>
            <a:ext cx="6400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04872" y="2953512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47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2935224"/>
            <a:ext cx="822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2953512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Other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145536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1" y="3163824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GA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" y="3145536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2" y="3163824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45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80160" y="3145536"/>
            <a:ext cx="5943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07592" y="3163824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74520" y="3145536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901952" y="3163824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77440" y="3145536"/>
            <a:ext cx="6400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04872" y="3163824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3145536"/>
            <a:ext cx="822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3163824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Original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355848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01751" y="337413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SC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" y="3355848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4672" y="337413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80160" y="3355848"/>
            <a:ext cx="5943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07592" y="3374136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74520" y="3355848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901952" y="337413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7440" y="3355848"/>
            <a:ext cx="6400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04872" y="3374136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3355848"/>
            <a:ext cx="822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3374136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Original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3566160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1751" y="358444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NJ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7240" y="3566160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4672" y="358444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80160" y="3566160"/>
            <a:ext cx="5943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07592" y="3584448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74520" y="3566160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901952" y="3584448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77440" y="3566160"/>
            <a:ext cx="6400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04872" y="3584448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017520" y="3566160"/>
            <a:ext cx="822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044952" y="3584448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Original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3776472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1751" y="3794759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MD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7240" y="3776472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4672" y="3794759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80160" y="3776472"/>
            <a:ext cx="5943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307592" y="3794759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74520" y="3776472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01952" y="3794759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77440" y="3776472"/>
            <a:ext cx="6400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404872" y="3794759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017520" y="3776472"/>
            <a:ext cx="822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044952" y="3794759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Other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3986784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1751" y="400507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NV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7240" y="3986784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4672" y="400507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280160" y="3986784"/>
            <a:ext cx="5943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307592" y="4005072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74520" y="3986784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01952" y="4005072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377440" y="3986784"/>
            <a:ext cx="6400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04872" y="4005072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017520" y="3986784"/>
            <a:ext cx="822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044952" y="4005072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5F83"/>
                </a:solidFill>
                <a:latin typeface="Segoe UI"/>
              </a:rPr>
              <a:t>Other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197096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01751" y="4215383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VA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7240" y="4197096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04672" y="4215383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80160" y="4197096"/>
            <a:ext cx="5943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7592" y="4215383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874520" y="4197096"/>
            <a:ext cx="50292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901952" y="4215383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377440" y="4197096"/>
            <a:ext cx="6400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404872" y="4215383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017520" y="4197096"/>
            <a:ext cx="822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044952" y="4215383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5CF6"/>
                </a:solidFill>
                <a:latin typeface="Segoe UI"/>
              </a:rPr>
              <a:t>Expansion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4407408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01751" y="442569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MS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77240" y="4407408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4672" y="442569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280160" y="4407408"/>
            <a:ext cx="5943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07592" y="4425696"/>
            <a:ext cx="5394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874520" y="4407408"/>
            <a:ext cx="50292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901952" y="4425696"/>
            <a:ext cx="44805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377440" y="4407408"/>
            <a:ext cx="6400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404872" y="4425696"/>
            <a:ext cx="5852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017520" y="4407408"/>
            <a:ext cx="822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44952" y="4425696"/>
            <a:ext cx="7680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5CF6"/>
                </a:solidFill>
                <a:latin typeface="Segoe UI"/>
              </a:rPr>
              <a:t>Expansion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217920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TOP SUBMITTING AGENCIES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17920" y="2212848"/>
            <a:ext cx="1371600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217920" y="2304288"/>
            <a:ext cx="310896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63640" y="2322576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Agency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326880" y="2304288"/>
            <a:ext cx="54864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372600" y="2322576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875519" y="2304288"/>
            <a:ext cx="1097280" cy="210312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921240" y="2322576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Bound GWP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17920" y="2514600"/>
            <a:ext cx="3108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263640" y="2532888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Cover Badger LLC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326880" y="2514600"/>
            <a:ext cx="54864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372600" y="2532888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274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875519" y="2514600"/>
            <a:ext cx="10972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921240" y="2532888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$37,153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217920" y="2724912"/>
            <a:ext cx="3108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63640" y="2743200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Fino Services LLC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326880" y="2724912"/>
            <a:ext cx="54864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372600" y="2743200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84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875519" y="2724912"/>
            <a:ext cx="10972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921240" y="2743200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217920" y="2935224"/>
            <a:ext cx="3108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263640" y="2953512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AMC Agents LLC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326880" y="2935224"/>
            <a:ext cx="54864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372600" y="2953512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875519" y="2935224"/>
            <a:ext cx="10972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921240" y="2953512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$141,567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217920" y="3145536"/>
            <a:ext cx="3108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63640" y="3163824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Insurance4Truckers LLC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326880" y="3145536"/>
            <a:ext cx="54864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372600" y="3163824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34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875519" y="3145536"/>
            <a:ext cx="10972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921240" y="3163824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217920" y="3355848"/>
            <a:ext cx="3108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263640" y="3374136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DNIS Inc.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326880" y="3355848"/>
            <a:ext cx="54864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372600" y="3374136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28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875519" y="3355848"/>
            <a:ext cx="10972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921240" y="3374136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$57,815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217920" y="3566160"/>
            <a:ext cx="3108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263640" y="3584448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R-T Specialty, LLC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326880" y="3566160"/>
            <a:ext cx="54864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372600" y="3584448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875519" y="3566160"/>
            <a:ext cx="10972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921240" y="3584448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217920" y="3776472"/>
            <a:ext cx="3108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263640" y="3794759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Storrs Insurance Group, Inc.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326880" y="3776472"/>
            <a:ext cx="54864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372600" y="3794759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21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875519" y="3776472"/>
            <a:ext cx="10972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921240" y="3794759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217920" y="3986784"/>
            <a:ext cx="3108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263640" y="4005072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United Advantage Insurance Services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326880" y="3986784"/>
            <a:ext cx="54864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372600" y="4005072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18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875519" y="3986784"/>
            <a:ext cx="10972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921240" y="4005072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$10,523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217920" y="4197096"/>
            <a:ext cx="310896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263640" y="4215383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Protectgo Services LLC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326880" y="4197096"/>
            <a:ext cx="54864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372600" y="4215383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18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875519" y="4197096"/>
            <a:ext cx="1097280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9921240" y="4215383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217920" y="4407408"/>
            <a:ext cx="310896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263640" y="4425696"/>
            <a:ext cx="30175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073B"/>
                </a:solidFill>
                <a:latin typeface="Segoe UI"/>
              </a:rPr>
              <a:t>First Connect Insurance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326880" y="4407408"/>
            <a:ext cx="54864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372600" y="4425696"/>
            <a:ext cx="4572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18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875519" y="4407408"/>
            <a:ext cx="1097280" cy="21031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921240" y="4425696"/>
            <a:ext cx="100583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33F"/>
                </a:solidFill>
                <a:latin typeface="Segoe UI"/>
              </a:rPr>
              <a:t>—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74320" y="4663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SUBMISSION STATUS DISTRIBUTION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892040"/>
            <a:ext cx="176898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51218" y="4892040"/>
            <a:ext cx="5660758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96938" y="4928616"/>
            <a:ext cx="55693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Quoted: 544 (49%)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111977" y="4892040"/>
            <a:ext cx="4526525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157697" y="4928616"/>
            <a:ext cx="44350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Declined: 435 (39%)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638503" y="4892040"/>
            <a:ext cx="1248696" cy="320040"/>
          </a:xfrm>
          <a:prstGeom prst="rect">
            <a:avLst/>
          </a:prstGeom>
          <a:solidFill>
            <a:srgbClr val="9C9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684223" y="4928616"/>
            <a:ext cx="115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Other: 120 (11%)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274320" y="5349240"/>
            <a:ext cx="11612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74320" y="5349240"/>
            <a:ext cx="11612880" cy="457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5720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073B"/>
                </a:solidFill>
                <a:latin typeface="Segoe UI Semibold"/>
              </a:rPr>
              <a:t>KEY SIGNALS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57200" y="566928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1116 submissions in 18 days (62/day) — ahead of Feb pace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57200" y="588873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Expansion states: 94 subs across 18 states — strong traction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57200" y="610819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Top state: TX (579 subs)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57200" y="632764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33F"/>
                </a:solidFill>
                <a:latin typeface="Segoe UI"/>
              </a:rPr>
              <a:t>•  Top agency: Cover Badger LLC (274 subs)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Next Steps / Action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Segoe UI"/>
              </a:rPr>
              <a:t>Priority Actions for DSG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56692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64008" cy="2560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1005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1. Resolve VA Classification Issue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Exempt-for-hire classification making DSG risks ineligible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9933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Largest DSG agency in VA already submitting but being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323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4323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Work with UW to create carve-out or reclassification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71215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87121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Potential to unlock significant VA pipeline immediately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914400"/>
            <a:ext cx="56692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914400"/>
            <a:ext cx="64008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84280" y="1005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8428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051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2. Push for NJ 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417320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NJ is the #1 gap cited by agents in tri-state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9339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19933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Agents report more DSG leads in NJ than 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4323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24323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Anthony DeBellis Agency: 'NJ would be a better outlet for DSG'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71215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287121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NJ launch would immediately generate subs from existing partners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657600"/>
            <a:ext cx="56692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64008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40680" y="3749039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794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3. Create ELD/Dashcam Education One-Pager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60520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976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297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18-unit TN account may not bind due to dashcam/ELD confusion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3659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7365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Agents need clear explanation of ELD plug-in and 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1755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5175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Camera delivery/installation logistics causing friction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61441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614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One-pager would reduce objections and speed up bind decisions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657600"/>
            <a:ext cx="56692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657600"/>
            <a:ext cx="64008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384280" y="3749039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8428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794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33F"/>
                </a:solidFill>
                <a:latin typeface="Segoe UI"/>
              </a:rPr>
              <a:t>4. Follow Up on Large Pipeline Accounts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160520"/>
            <a:ext cx="5266944" cy="1371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2976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4297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25 PU: Westmoreland &amp; Sons (Hartford incumbent at $25K/truck)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73659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47365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20 PU: GA account via Marsh Southeast, eff 4/1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17550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5175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19 PU: MO account via AssuredPartners/Gallagher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61441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65392" y="5614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5F83"/>
                </a:solidFill>
                <a:latin typeface="Segoe UI"/>
              </a:rPr>
              <a:t>18 PU: TN account (dashcam/ELD objection to resolve)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0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Source: Metabase Analytics  |  HubSpot CRM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65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FE"/>
                </a:solidFill>
                <a:latin typeface="Segoe UI"/>
              </a:rPr>
              <a:t>DSG State Expansion  |  03/18/2026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