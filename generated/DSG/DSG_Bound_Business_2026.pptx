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0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10058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5800" b="1">
                <a:solidFill>
                  <a:srgbClr val="FFFFFF"/>
                </a:solidFill>
                <a:latin typeface="Calibri Light"/>
              </a:rPr>
              <a:t>DSG BOUND BUSINESS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698480" cy="6400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4800" b="1">
                <a:solidFill>
                  <a:srgbClr val="E0D4F5"/>
                </a:solidFill>
                <a:latin typeface="Calibri Light"/>
              </a:rPr>
              <a:t>REPORT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2971800"/>
            <a:ext cx="393192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32720" cy="5029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libri Light"/>
              </a:rPr>
              <a:t>2026 Year-to-Date  ·  Dump Truck / Sand &amp; Gravel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840480"/>
            <a:ext cx="10332720" cy="3657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0">
                <a:solidFill>
                  <a:srgbClr val="88789E"/>
                </a:solidFill>
                <a:latin typeface="Calibri"/>
              </a:rPr>
              <a:t>Generated: May 21, 2026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155 Accounts  |  $4.61M GWP  |  May 21,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4251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4251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7,106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4251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SUBMISSIONS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4251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YTD Processed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9979" y="1143000"/>
            <a:ext cx="22402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79979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155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9979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 ACCOUNTS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9979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Unique DOTs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75707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75707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$4.61M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75707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GROSS WRITTEN PREM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75707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Year-to-Date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71435" y="1143000"/>
            <a:ext cx="22402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71435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$4.09M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1435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NET WRITTEN PREM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1435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11.3% Cede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67163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67163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$29,716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67163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AVG PREM / ACCT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67163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Per Policy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834640"/>
            <a:ext cx="1106424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8620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AT A GLANCE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06727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06727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06727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January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6727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06727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43303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$472K GWP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43303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1,099 subs · 1.6% bind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80663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80663" y="3246120"/>
            <a:ext cx="1682496" cy="237744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80663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February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80663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80663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7239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$1,059K GWP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17239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1,398 subs · 2.0% bind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54599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254599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54599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March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54599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43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54599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91175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$1,103K GWP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91175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1,678 subs · 2.6% bind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028535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028535" y="3246120"/>
            <a:ext cx="1682496" cy="237744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28535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April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28535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41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28535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65111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$1,016K GWP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65111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1,778 subs · 2.3% bind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802471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802471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802471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May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02471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802471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39047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$955K GWP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39047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1,153 subs · 2.3% bind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21,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MAY 2026 — BOUND ACCOUNTS  (Pg 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26 Accounts  |  GWP: $955,274  |  NWP: $847,328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&amp; D TRUCKING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$83,613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$85,813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GRAYSON FREIGHT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$83,264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$83,814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ESCAMILLA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$38,873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$39,423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REBECA LEDESMA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$37,336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$37,886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3D MARTI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$34,097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$37,494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TEXAN TRUCKS AND TRAILERS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$34,107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$34,657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AJF HAULING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$31,939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$32,489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ASAL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$23,238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$27,186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JAMM SIX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$22,226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$25,624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LOGISTICS MILES &amp; MILES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$22,788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$24,686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BRUNSON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$23,198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$23,748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AUXVAC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$19,737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$3,037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$22,774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ECL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$20,946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$21,496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J17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$5,567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$20,658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JUAN MOLINA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$16,913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$1,725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$18,638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INEZ FAMILY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$4,041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$18,327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WISE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$16,138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$18,087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AVINA &amp; SONS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David Castillo III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$16,898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5G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$16,733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21,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MAY 2026 — BOUND ACCOUNTS  (Pg 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26 Accounts  |  GWP: $955,274  |  NWP: $847,328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1984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MADE TO COMPETE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$14,051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$14,601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MIGUEL ANGEL RODRIGUEZ GARCIA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$11,032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PRIME LOGISTIC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$9,250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$9,800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CASTANO CONSTRUCTION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$8,017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$8,567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YPV FREIGHT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$3,169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$3,169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BRIGGS AND BRIGGS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21,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ALL SUBMISSIONS BY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Ranked by Volume  |  529 agencies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737360"/>
                <a:gridCol w="914400"/>
                <a:gridCol w="914400"/>
                <a:gridCol w="914400"/>
                <a:gridCol w="1188720"/>
                <a:gridCol w="1737360"/>
              </a:tblGrid>
              <a:tr h="22263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Rep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Dec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1645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608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$253,548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$173,702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United Advantage Insurance Services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$96,590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$300,171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James Reid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110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$234,369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2.9%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$178,715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Storrs Insurance Group,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$40,983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Christopher Hayes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$158,292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Insurance4Truckers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132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$48,575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R-T Specialty,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American Fleet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Rodriguez Insurance Agency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USA SPECIALTY INSURANCE/DBA PREVENTTY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$61,459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Horizons Insurance And Financial Services,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Antonio Reyes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VL 17 Insurance Agency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Protectgo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Reliance Partners,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$38,768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Truckers Best Insurance dba Trucker Path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Erika Cabrera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$38,628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Fast Insurance And Tax Services,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H2O Commercial Insurance Agency Corp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$20,481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Network Truck Insurance Services,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Alexis Berrysmith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1106424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Showing top 22 of 529 agencies by submission volume  ·  Full list in DSG YTD Word Report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21,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BDM / BDA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Rep-Level Submission &amp; Production Summary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97280"/>
                <a:gridCol w="1005840"/>
                <a:gridCol w="1005840"/>
                <a:gridCol w="1005840"/>
                <a:gridCol w="1188720"/>
                <a:gridCol w="3383280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Rep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Agencies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$796,297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James Reid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$492,390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592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$477,934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984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363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$408,533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$299,457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Christopher Hayes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$248,338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Portia Lewis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$149,352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Alexis Berrysmith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$126,384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Taylor Sloan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$64,793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Erika Cabrera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208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$61,423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Cameron Brader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$58,633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Antonio Reyes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$35,246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Westy McLaughlin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Lydia Ramos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Unassigned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3074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1292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$905,673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21,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DISTRIBUTION BY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Geographic Concentration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143000"/>
          <a:ext cx="978408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371600"/>
                <a:gridCol w="1188720"/>
                <a:gridCol w="1463040"/>
                <a:gridCol w="1280160"/>
                <a:gridCol w="2194560"/>
                <a:gridCol w="1280160"/>
              </a:tblGrid>
              <a:tr h="21945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Category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Accounts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Submissions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% of Total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3,666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$2,075,401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45.1%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1,255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$1,179,694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266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$326,970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$182,977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$138,776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$32,771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$23,922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$21,130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$20,898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$8,775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$3,719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LA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$1,100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NM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21,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TX &amp; CA — TOP MARKETS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117 Accounts  |  $3,255,095 GWP  |  71% of Program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143000"/>
            <a:ext cx="5486400" cy="365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70432"/>
            <a:ext cx="5486400" cy="310896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TX  ·  77 Accounts  ·  $2,075,401  ·  45% of Program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3,666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SUBS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60420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0420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77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0420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$2,075K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60420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60420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$26,953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0420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AVG PREM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788920"/>
            <a:ext cx="548640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807208"/>
            <a:ext cx="54864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 Light"/>
              </a:rPr>
              <a:t>TOP AGENCIES IN TX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127248"/>
          <a:ext cx="548640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097280"/>
                <a:gridCol w="4572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$299,621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$195,595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$178,715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$160,053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Usg Insurance Services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$152,121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$128,891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Valion Security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$107,975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Mohsen Ins.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$87,610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6153912" y="1143000"/>
            <a:ext cx="5486400" cy="365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3912" y="1170432"/>
            <a:ext cx="5486400" cy="310896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CA  ·  40 Accounts  ·  $1,179,694  ·  26% of Program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53912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53912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1,255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53912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SUBS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65692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5692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5692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53912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53912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$1,180K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53912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GWP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65692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65692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$29,492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5692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AVG PREM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3912" y="2788920"/>
            <a:ext cx="5486400" cy="292608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53912" y="2807208"/>
            <a:ext cx="54864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 Light"/>
              </a:rPr>
              <a:t>TOP AGENCIES IN CA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6153912" y="3127248"/>
          <a:ext cx="548640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097280"/>
                <a:gridCol w="4572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Paramount Exclusive Insurance Services, In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Safeline Insurance Agency,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$136,077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Fredrick B. Roberson Insurance Services, I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$64,793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MST INSURANCE SERVICES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$61,451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Cal-Valley Insurance Services,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$57,953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Call Patty Insurance Services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$57,066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Truck Secure Insurance Services,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$47,797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40" name="Rectangle 39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21,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EXPANSION STATE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Performance in the 22 New States Added February 5,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280160" y="1143000"/>
          <a:ext cx="96012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645920"/>
                <a:gridCol w="1463040"/>
                <a:gridCol w="1280160"/>
                <a:gridCol w="1280160"/>
                <a:gridCol w="2651760"/>
              </a:tblGrid>
              <a:tr h="238539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Submissions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Declined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$138,776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$32,771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MT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WI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RI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4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SD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Dormant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21,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SUBMISSIONS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DSG Pipeline  |  2026 YTD  |  7,106 Total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3767" y="1170432"/>
            <a:ext cx="24688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376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7,106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376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SUBMISSIONS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Processed YTD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35527" y="1170432"/>
            <a:ext cx="24688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552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3,831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552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UNIQUE DOTs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552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Submitted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7287" y="1170432"/>
            <a:ext cx="24688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8728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3,034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DECLINED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43% 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39047" y="1170432"/>
            <a:ext cx="24688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3904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155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3904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3904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2.2% Bind Rate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834640"/>
            <a:ext cx="1106424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8620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PIPELINE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48640" y="3227832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463040"/>
                <a:gridCol w="1645920"/>
                <a:gridCol w="1371600"/>
                <a:gridCol w="146304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Month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Declined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January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1099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494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February 2026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1398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March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1678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April 2026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1778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740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May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456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21,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COVERAGE &amp; FLEET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Coverage Line Mix  ·  Body Type  ·  Fleet Size Distribution  |  2026 YTD Bound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COVERAGE MIX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36192"/>
            <a:ext cx="5394960" cy="43891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27632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Auto Liability (AL)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627632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$3,624,054  (79%)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011680"/>
            <a:ext cx="5394960" cy="43891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103120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Auto Physical Damage (APD)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103120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$381,817  (8%)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487168"/>
            <a:ext cx="5394960" cy="43891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578608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Other / Combined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578608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$600,047  (13%)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108960"/>
            <a:ext cx="5394960" cy="30175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13639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BODY TYPE MIX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493008"/>
            <a:ext cx="5394960" cy="36576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557016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1">
                <a:solidFill>
                  <a:srgbClr val="3A3A4A"/>
                </a:solidFill>
                <a:latin typeface="Calibri"/>
              </a:rPr>
              <a:t>Tractor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557016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557016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$2,227,183  (48%)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877056"/>
            <a:ext cx="5394960" cy="36576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941064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Dump Truck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3941064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38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3941064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$1,080,588  (23%)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261104"/>
            <a:ext cx="5394960" cy="36576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4325112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Unknown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17520" y="4325112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4325112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$796,588  (17%)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645152"/>
            <a:ext cx="5394960" cy="36576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709160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Box Truck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4709160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49039" y="4709160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$20,094  (0%)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11430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11704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FLEET SIZE DISTRIBUTION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1536192"/>
            <a:ext cx="5394960" cy="43891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46520" y="1627632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1 Unit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0" y="1627632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111 accounts  (72%)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09360" y="2011680"/>
            <a:ext cx="5394960" cy="438912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46520" y="2103120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2-3 Units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9680" y="2103120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36 accounts  (23%)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2487168"/>
            <a:ext cx="5394960" cy="43891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46520" y="2578608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4-5 Units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69680" y="2578608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9 accounts  (6%)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09360" y="2962656"/>
            <a:ext cx="5394960" cy="438912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46520" y="3054096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6-10 Units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69680" y="3054096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5 accounts  (3%)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9360" y="3566160"/>
            <a:ext cx="5394960" cy="43891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0" y="3611880"/>
            <a:ext cx="5394960" cy="34747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 Light"/>
              </a:rPr>
              <a:t>Average Fleet Size: 1.7 units/account  ·  Total Units: 269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9360" y="41148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0" y="41422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UNITS BOUND BY MONTH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09360" y="4507992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46520" y="4581144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January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86800" y="4581144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42 units  |  18 accounts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09360" y="4946904"/>
            <a:ext cx="5394960" cy="41148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46520" y="5020056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February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86800" y="5020056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43 units  |  28 accounts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9360" y="5385816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46520" y="5458968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March 2026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5458968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69 units  |  43 accounts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5824728"/>
            <a:ext cx="5394960" cy="41148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46520" y="5897880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April 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86800" y="5897880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71 units  |  41 accounts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309360" y="6263640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46520" y="6336792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May 2026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86800" y="6336792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44 units  |  26 accounts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21,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RECENT BINDS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Most Recent Bound Accounts — Newest First  |  155 Unique DOTs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43000"/>
          <a:ext cx="1101852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840480"/>
                <a:gridCol w="685800"/>
                <a:gridCol w="3657600"/>
                <a:gridCol w="1554480"/>
              </a:tblGrid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Date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St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YPV FREIGHT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Ewall Insurance Company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$3,169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ECL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Storrs Insurance Group,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$21,496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AUXVAC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Navsav Holdings Ii,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$22,774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CASTANO CONSTRUCTION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Valion Security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$8,567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INEZ FAMILY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$18,327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ESCAMILLA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$39,423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&amp; D TRUCKING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 Risk Management Group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$85,813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MIGUEL ANGEL RODRIGUEZ GARCIA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AJF HAULING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Eastern Underwriting Managers 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$32,489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TEXAN TRUCKS AND TRAILERS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$34,657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MADE TO COMPETE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Insurance Leader Group,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$14,601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BRIGGS AND BRIGGS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Executive Insurance Group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5G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Island Fleet Insurance Agency 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J17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CRC Insurance Services,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$20,658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JAMM SIX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$25,624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WISE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BRUNSON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Truckers Best Insurance dba Tr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$23,748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LOGISTICS MILES &amp; MILES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United Advantage Insurance Ser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$24,686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GRAYSON FREIGHT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$83,814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REBECA LEDESMA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$37,886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JUAN MOLINA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Legacy Truck Insurance Agency 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$18,638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David Castillo III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$17,448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3D MARTI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Dream Assurance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$37,494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ASAL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$27,186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2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PRIME LOGISTIC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$9,800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21,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STRATEGIC ACTION ITEMS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Priority Actions for DSG Program Growth  |  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0595" y="1143000"/>
            <a:ext cx="3520440" cy="34747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0595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AGENCY ACTIVATION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035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Target top expansion states: AL, AR, DE, OR with BDM outreach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035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Assign BDMs to 1 dormant expansion states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035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Drive repeat submissions from top-performing agencies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035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Activate agencies with high quote volume but zero binds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5627" y="1143000"/>
            <a:ext cx="3520440" cy="34747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5627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PIPELINE CONVERSION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7067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Current bind rate: 2.2% — follow up on open submissions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7067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155 bound of 7,106 subs YTD — drive conversion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7067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Reduce time-to-bind with faster underwriting turnaround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7067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Spring construction season: maximize quoting speed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20659" y="1143000"/>
            <a:ext cx="3520440" cy="34747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0659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PORTFOLIO GROWTH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2099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Diversify beyond CA+TX concentration (currently 71% of GWP)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2099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APD program: vehicles to 23 years old — key differentiator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2099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Towing to $25K + Roadside MASTERS — highlight in agency comms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2099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Target 6-10 Units fleets for highest avg premium accounts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21,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DSG PROGRAM — APPETITE &amp;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Dump Truck  ·  Sand &amp; Gravel  ·  Cover Whale Specialty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0595" y="1143000"/>
            <a:ext cx="3520440" cy="34747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0595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ELIGIBLE CLASSES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42035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3475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Dump trucks (all body types)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2035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475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Sand haulers &amp; gravel operations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2035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475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Ready-mix concrete trucks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2035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475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End dump / belly dump / side dump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2035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475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Classes most admitted carriers decline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5627" y="1143000"/>
            <a:ext cx="3520440" cy="34747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35627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COVERAGE HIGHLIGHTS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27067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18507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Auto Liability (AL) — primary &amp; excess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27067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18507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Auto Physical Damage (APD) — standalone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7067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8507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Towing coverage up to $25,000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27067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18507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Roadside MASTERS assistance included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27067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8507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Vehicles up to 23 years old eligible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20659" y="1143000"/>
            <a:ext cx="3520440" cy="34747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20659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PROGRAM PARAMETERS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12099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03539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Available in 32 states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12099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03539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Minimum 1 power unit — no max fleet cap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12099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03539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New ventures considered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12099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03539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Nationwide appetite for qualified risks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12099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03539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Competitive E&amp;S pricing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21,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EXECUTIVE BATTLECARD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DSG Program  |  2026 YTD  |  155 Policies  |  $4.61M GWP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5439" y="1143000"/>
            <a:ext cx="2651760" cy="137160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5439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5439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 ACCOUNTS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5439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2026 YTD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61791" y="1143000"/>
            <a:ext cx="2651760" cy="137160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61791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$4.61M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1791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GROSS WRITTEN PREM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1791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Year-to-Date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8143" y="1143000"/>
            <a:ext cx="2651760" cy="137160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8143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$4.09M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8143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NET WRITTEN PREM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8143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After Cede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94495" y="1143000"/>
            <a:ext cx="2651760" cy="137160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94495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$29,716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4495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AVG PREM / ACCT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94495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Per Policy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679192"/>
            <a:ext cx="1106424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706624"/>
            <a:ext cx="110642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BREAKDOWN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6879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6879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JAN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$472,322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879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18 accounts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07511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07511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FEB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07511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$1,058,770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07511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28 accounts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78143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8143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$1,103,136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8143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43 accounts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48775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48775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APR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48775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$1,016,416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48775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41 accounts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2336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EA580C"/>
                </a:solidFill>
                <a:latin typeface="Calibri"/>
              </a:rPr>
              <a:t>▼ 37% MoM  |  May vs Apr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645152"/>
            <a:ext cx="530352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672584"/>
            <a:ext cx="530352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TOP AGENCIES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02005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AMC Agents LLC  —  $300,171  (7%)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29437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Cover Badger LLC  —  $253,548  (6%)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556869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First Connect Insurance  —  $234,369  (5%)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584301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Paramount Exclusive Insurance Servic  —  $205,197  (4%)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611733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Justin Robert Insurance Agency LLC  —  $178,715  (4%)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09360" y="4645152"/>
            <a:ext cx="5303520" cy="292608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4672584"/>
            <a:ext cx="530352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TOP STATES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502005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TX  —  $2,075,401  (45%)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529437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CA  —  $1,179,694  (26%)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0" y="556869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GA  —  $326,970  (7%)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0" y="584301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PA  —  $182,977  (4%)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611733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VA  —  $138,776  (3%)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Cover Whale DSG Program  ·  Metabase Analytics  ·  May 21,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0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9144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 Light"/>
              </a:rPr>
              <a:t>APPENDIX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0" y="3611880"/>
            <a:ext cx="2651760" cy="36576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794760"/>
            <a:ext cx="10332720" cy="5486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400" b="1">
                <a:solidFill>
                  <a:srgbClr val="E0D4F5"/>
                </a:solidFill>
                <a:latin typeface="Calibri Light"/>
              </a:rPr>
              <a:t>Prior-Month Bound Account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26280"/>
            <a:ext cx="10332720" cy="4114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January 2026  ·  February 2026  ·  March 2026  ·  April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JANUARY 2026 — BOUND ACCOUNTS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18 Accounts  |  GWP: $472,322  |  NWP: $418,950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385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HUGO REYES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$139,015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$152,121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GUILLEN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$112,727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$22,400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$136,077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GERALD DON GREEN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$47,460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$5,932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$53,392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KULMINDER S GILL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$32,782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$12,800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$46,132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ROGO ENTERPRISE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$40,275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$40,825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 RODRIGUEZ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$26,317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$27,930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LOGISTICS PLUS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$16,415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$22,640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ANTELOPE INVESTMENT ENTERPRISES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$17,957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$2,400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$20,907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AVS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$19,612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QUINONES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$16,361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$2,736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PAUL VALENCIA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$18,383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$18,933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LUMBRERAS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ETHEREDGE AUTOTRANSPORT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MCH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$13,193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DEWAYNE DUPREE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$10,820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JC AND SONS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$9,123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LIONET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KB TRANSPORTATION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NM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21,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FEBRUARY 2026 — BOUND ACCOUNTS  (Pg 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28 Accounts  |  GWP: $1,058,770  |  NWP: $939,129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TELEKINESIS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$171,186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$33,161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B T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$44,933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$48,330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STAR FUELS &amp;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$28,270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$28,820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VIRMAE MARIE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$18,755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$7,188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$26,892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BIG AND TOUGH TRUCKERS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$25,712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$26,262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RS GILL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$19,925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$6,290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$26,215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JGJ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$25,511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$26,061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SIIRTLI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$17,691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$5,681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$23,922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JOHNSON TRUCKING ENTERPRISE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$19,722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$22,421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ZEUS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$15,605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$3,602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$20,583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 AND M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$18,139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$2,305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$20,444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G&amp;Z TRANSPORTATION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Box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$19,544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$20,094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SCORPIO FREIGHT LINES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$15,252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$19,077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JOSE DIMAS HERNANDEZ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$15,760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WAY2MAJOR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$4,300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GLM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$3,694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ROKA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CAB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$5,117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MARIO A RODRIGUEZ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GOLDEN FLEXIT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$12,075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21,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FEBRUARY 2026 — BOUND ACCOUNTS  (Pg 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28 Accounts  |  GWP: $1,058,770  |  NWP: $939,129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25511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AGUILAS TRANSPORT J&amp;D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$11,619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UNLIMITED GROUND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$2,613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 PACE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 V 7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$9,619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$2,167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$11,786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PAVETEX MATERIALS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$10,054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$10,604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GREGORY SNOPEL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$7,768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$10,523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BIG BOSS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DV TNT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$639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21,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CHARLIE SMITH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$155,039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$175,211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GUEORQUI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$76,147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$84,141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T&amp;A ELITE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$58,234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$24,700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$82,935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 M LONG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$46,724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$58,633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SOUTHWEST CARRIER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$47,247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$47,797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ACD 4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$43,425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$46,272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SACHA TRANSPORTATION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$26,738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$27,288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JGJ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$26,429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$26,979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CLYO TRUCKING COMPANY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$25,747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Apollo Energy Services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$17,484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$6,095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$24,528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MISAEL BALDERAS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$23,112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$23,662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BLHN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$1,897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$21,943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K&amp;R ROSE ENTERPRISE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$21,360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$21,910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SJT3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$16,304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$21,620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DOMINION CARRIERS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$17,930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$3,220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$21,150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THOMPSON HAULING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$2,342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$20,898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BSMB DISPATCH SOLUTIONS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$3,320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LEO ACOSTA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CALIFORNIA DUMPSTER RENTALS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$19,716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$20,266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BURUCA FAMILY INVESTMENT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$16,416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21,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RUBIKON GROUP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$13,560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$5,491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$19,601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MICHAEL B CONWAY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$16,585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$19,487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ELOSCAR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$18,612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$19,162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LR LOGISTICS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 BROTHERS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ALHADIDI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$14,509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$2,595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$17,104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LYLY TRUCK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$15,303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$15,853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DAVID MARTINEZ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$15,221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NYJ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$3,844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$15,509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BAY 1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$15,439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JFAAMA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$12,927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$1,656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FAVIO VALDEZ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$10,750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LAWRENCE EDWARD FINCH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$13,868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ERIKA TERESA BUSTILLO ESPINAL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$10,479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KINGS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ERAZO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HANDS TRUCKING AND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$12,556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ALL SON''S ASPHALT PAVING &amp; SEAL COATING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$12,247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$12,247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DIAZ MARTIN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$10,004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DENESSE GROUP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$11,141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21,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POOR BOY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$10,800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LEBRON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DNA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21,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APRIL 2026 — BOUND ACCOUNTS  (Pg 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41 Accounts  |  GWP: $1,016,416  |  NWP: $901,561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EVERGREEN GROUP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$93,655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$94,305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24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$80,009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$7,601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$87,610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RENE ROMERO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$72,380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$72,930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CARLOS ARREOLA RAMOS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$58,000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CLEVELAND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$48,621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$52,417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VER-GLEN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$39,843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$9,953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$49,796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SOLOMON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$36,285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$36,835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 &amp; V CARRIERS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$35,408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$35,958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HARI TRANSPORTATION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$28,576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$6,660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$35,236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FG CARRIERS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$29,274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$32,972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SANDRIDER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$24,662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$26,560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SILVAS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$16,654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$4,947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$23,499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GARCHA TRANS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$18,182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$3,425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$22,157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$21,307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$21,857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BROTHERS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$20,730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HENRY JEOVANY MONROY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$17,700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$2,688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$20,388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THE 4TH OZKAR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$19,531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$20,081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WINKFIELD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$17,728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$2,194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$19,922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MARCO A OSEGUERA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$14,441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$4,989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$19,430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OSBALDO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$18,706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$19,256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21,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APRIL 2026 — BOUND ACCOUNTS  (Pg 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41 Accounts  |  GWP: $1,016,416  |  NWP: $901,561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 A F C H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$16,251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$2,664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$18,914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MC FABRICATION &amp; EXCAVATION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$8,000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$7,214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ALMONTE TRUCK SERVICE CORP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$15,577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INDER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$14,484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STRAIGHT UP TRANSPORTATION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$14,461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SV5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LAURA MONICA ESPINOSA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$13,913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MYP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$13,099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JGF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$10,337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$2,903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$13,240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WILLIS WAY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$11,938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$12,488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CORNEJO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$8,960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ALFREDO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$9,651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$1,528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SERGIO GARCIA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$11,035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CIRCLE CITY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B&amp;B DIRT AND DEMO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$8,682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$1,500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$10,182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JOSE ALEJANDRO HERNANDEZ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$8,355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$8,905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FLO RIDING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$1,100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HARPER FREIGHT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PALOMINO TRANSPORTATION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AMIR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21,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APRIL 2026 — BOUND ACCOUNTS  (Pg 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41 Accounts  |  GWP: $1,016,416  |  NWP: $901,561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WATER IS GOD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21,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