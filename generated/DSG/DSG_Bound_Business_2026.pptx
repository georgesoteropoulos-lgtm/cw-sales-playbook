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6"/>
    <p:sldId id="266" r:id="rId17"/>
    <p:sldId id="268" r:id="rId19"/>
    <p:sldId id="269" r:id="rId20"/>
    <p:sldId id="270" r:id="rId21"/>
    <p:sldId id="271" r:id="rId22"/>
    <p:sldId id="272" r:id="rId23"/>
    <p:sldId id="273" r:id="rId24"/>
    <p:sldId id="275" r:id="rId18"/>
    <p:sldId id="276" r:id="rId15"/>
    <p:sldId id="277" r:id="rId14"/>
    <p:sldId id="278" r:id="rId26"/>
    <p:sldId id="279" r:id="rId27"/>
    <p:sldId id="280" r:id="rId28"/>
    <p:sldId id="281" r:id="rId29"/>
    <p:sldId id="282" r:id="rId30"/>
    <p:sldId id="283" r:id="rId31"/>
    <p:sldId id="284" r:id="rId32"/>
    <p:sldId id="285" r:id="rId33"/>
    <p:sldId id="286" r:id="rId34"/>
    <p:sldId id="287" r:id="rId35"/>
    <p:sldId id="304" r:id="rId52"/>
    <p:sldId id="288" r:id="rId36"/>
    <p:sldId id="305" r:id="rId53"/>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6" r:id="rId54"/>
    <p:sldId id="307" r:id="rId55"/>
    <p:sldId id="308" r:id="rId56"/>
    <p:sldId id="309" r:id="rId57"/>
    <p:sldId id="310" r:id="rId58"/>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19.xml"/><Relationship Id="rId15" Type="http://schemas.openxmlformats.org/officeDocument/2006/relationships/slide" Target="slides/slide18.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7.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30.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Notes/Calls</c:v>
                </c:pt>
              </c:strCache>
            </c:strRef>
          </c:tx>
          <c:spPr>
            <a:solidFill>
              <a:srgbClr val="7C3AED"/>
            </a:solidFill>
          </c:spPr>
          <c:dLbls>
            <c:txPr>
              <a:bodyPr/>
              <a:lstStyle/>
              <a:p>
                <a:pPr>
                  <a:defRPr sz="800" b="1">
                    <a:solidFill>
                      <a:srgbClr val="1E073B"/>
                    </a:solidFill>
                    <a:latin typeface="Segoe UI"/>
                  </a:defRPr>
                </a:pPr>
              </a:p>
            </c:txPr>
            <c:dLblPos val="outEnd"/>
            <c:showLegendKey val="0"/>
            <c:showVal val="0"/>
            <c:showCatName val="0"/>
            <c:showSerName val="0"/>
            <c:showPercent val="0"/>
            <c:showBubbleSize val="0"/>
            <c:showLeaderLines val="1"/>
          </c:dLbls>
          <c:cat>
            <c:strRef>
              <c:f>Sheet1!$A$2:$A$13</c:f>
              <c:strCache>
                <c:ptCount val="12"/>
                <c:pt idx="0">
                  <c:v>09/23</c:v>
                </c:pt>
                <c:pt idx="1">
                  <c:v>11/18</c:v>
                </c:pt>
                <c:pt idx="2">
                  <c:v>12/02</c:v>
                </c:pt>
                <c:pt idx="3">
                  <c:v>04/14</c:v>
                </c:pt>
                <c:pt idx="4">
                  <c:v>05/12</c:v>
                </c:pt>
                <c:pt idx="5">
                  <c:v>07/14</c:v>
                </c:pt>
                <c:pt idx="6">
                  <c:v>01/19</c:v>
                </c:pt>
                <c:pt idx="7">
                  <c:v>02/02</c:v>
                </c:pt>
                <c:pt idx="8">
                  <c:v>02/09</c:v>
                </c:pt>
                <c:pt idx="9">
                  <c:v>02/16</c:v>
                </c:pt>
                <c:pt idx="10">
                  <c:v>02/23</c:v>
                </c:pt>
                <c:pt idx="11">
                  <c:v>03/02</c:v>
                </c:pt>
              </c:strCache>
            </c:strRef>
          </c:cat>
          <c:val>
            <c:numRef>
              <c:f>Sheet1!$B$2:$B$13</c:f>
              <c:numCache>
                <c:formatCode>General</c:formatCode>
                <c:ptCount val="12"/>
                <c:pt idx="0">
                  <c:v>1</c:v>
                </c:pt>
                <c:pt idx="1">
                  <c:v>3</c:v>
                </c:pt>
                <c:pt idx="2">
                  <c:v>1</c:v>
                </c:pt>
                <c:pt idx="3">
                  <c:v>1</c:v>
                </c:pt>
                <c:pt idx="4">
                  <c:v>1</c:v>
                </c:pt>
                <c:pt idx="5">
                  <c:v>1</c:v>
                </c:pt>
                <c:pt idx="6">
                  <c:v>2</c:v>
                </c:pt>
                <c:pt idx="7">
                  <c:v>6</c:v>
                </c:pt>
                <c:pt idx="8">
                  <c:v>9</c:v>
                </c:pt>
                <c:pt idx="9">
                  <c:v>18</c:v>
                </c:pt>
                <c:pt idx="10">
                  <c:v>6</c:v>
                </c:pt>
                <c:pt idx="11">
                  <c:v>1</c:v>
                </c:pt>
              </c:numCache>
            </c:numRef>
          </c:val>
        </c:ser>
        <c:gapWidth val="80"/>
        <c:axId val="-2068027336"/>
        <c:axId val="-2113994440"/>
      </c:barChart>
      <c:catAx>
        <c:axId val="-2068027336"/>
        <c:scaling>
          <c:orientation val="minMax"/>
        </c:scaling>
        <c:delete val="0"/>
        <c:axPos val="b"/>
        <c:majorTickMark val="out"/>
        <c:minorTickMark val="none"/>
        <c:tickLblPos val="nextTo"/>
        <c:txPr>
          <a:bodyPr/>
          <a:lstStyle/>
          <a:p>
            <a:pPr>
              <a:defRPr sz="800">
                <a:latin typeface="Segoe UI"/>
              </a:defRPr>
            </a:pPr>
          </a:p>
        </c:txPr>
        <c:crossAx val="-2113994440"/>
        <c:crosses val="autoZero"/>
        <c:auto val="1"/>
        <c:lblAlgn val="ctr"/>
        <c:lblOffset val="100"/>
        <c:noMultiLvlLbl val="0"/>
      </c:catAx>
      <c:valAx>
        <c:axId val="-2113994440"/>
        <c:scaling/>
        <c:delete val="0"/>
        <c:axPos val="l"/>
        <c:majorGridlines>
          <c:spPr>
            <a:ln w="6350">
              <a:solidFill>
                <a:srgbClr val="EDE9FE"/>
              </a:solidFill>
            </a:ln>
          </c:spPr>
        </c:majorGridlines>
        <c:majorTickMark val="out"/>
        <c:minorTickMark val="none"/>
        <c:tickLblPos val="nextTo"/>
        <c:txPr>
          <a:bodyPr/>
          <a:lstStyle/>
          <a:p>
            <a:pPr>
              <a:defRPr sz="900">
                <a:latin typeface="Segoe UI"/>
              </a:defRPr>
            </a:pPr>
          </a:p>
        </c:txPr>
        <c:crossAx val="-2068027336"/>
        <c:crosses val="autoZero"/>
      </c:valAx>
    </c:plotArea>
    <c:legend>
      <c:legendPos val="b"/>
      <c:overlay val="0"/>
      <c:txPr>
        <a:bodyPr/>
        <a:lstStyle/>
        <a:p>
          <a:pPr>
            <a:defRPr sz="1000">
              <a:latin typeface="Segoe UI"/>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GWP</c:v>
                </c:pt>
              </c:strCache>
            </c:strRef>
          </c:tx>
          <c:dPt>
            <c:idx val="0"/>
            <c:spPr>
              <a:solidFill>
                <a:srgbClr val="5B21B6"/>
              </a:solidFill>
            </c:spPr>
          </c:dPt>
          <c:dPt>
            <c:idx val="1"/>
            <c:spPr>
              <a:solidFill>
                <a:srgbClr val="7C3AED"/>
              </a:solidFill>
            </c:spPr>
          </c:dPt>
          <c:dPt>
            <c:idx val="2"/>
            <c:spPr>
              <a:solidFill>
                <a:srgbClr val="D946EF"/>
              </a:solidFill>
            </c:spPr>
          </c:dPt>
          <c:dPt>
            <c:idx val="3"/>
            <c:spPr>
              <a:solidFill>
                <a:srgbClr val="8B5CF6"/>
              </a:solidFill>
            </c:spPr>
          </c:dPt>
          <c:dPt>
            <c:idx val="4"/>
            <c:spPr>
              <a:solidFill>
                <a:srgbClr val="A78BFA"/>
              </a:solidFill>
            </c:spPr>
          </c:dPt>
          <c:dPt>
            <c:idx val="5"/>
            <c:spPr>
              <a:solidFill>
                <a:srgbClr val="C4B5FD"/>
              </a:solidFill>
            </c:spPr>
          </c:dPt>
          <c:dPt>
            <c:idx val="6"/>
            <c:spPr>
              <a:solidFill>
                <a:srgbClr val="C026D3"/>
              </a:solidFill>
            </c:spPr>
          </c:dPt>
          <c:dPt>
            <c:idx val="7"/>
            <c:spPr>
              <a:solidFill>
                <a:srgbClr val="F59E0B"/>
              </a:solidFill>
            </c:spPr>
          </c:dPt>
          <c:dPt>
            <c:idx val="8"/>
            <c:spPr>
              <a:solidFill>
                <a:srgbClr val="10B981"/>
              </a:solidFill>
            </c:spPr>
          </c:dPt>
          <c:dPt>
            <c:idx val="9"/>
            <c:spPr>
              <a:solidFill>
                <a:srgbClr val="A09CB0"/>
              </a:solidFill>
            </c:spPr>
          </c:dPt>
          <c:dPt>
            <c:idx val="10"/>
            <c:spPr>
              <a:solidFill>
                <a:srgbClr val="5B21B6"/>
              </a:solidFill>
            </c:spPr>
          </c:dPt>
          <c:dPt>
            <c:idx val="11"/>
            <c:spPr>
              <a:solidFill>
                <a:srgbClr val="7C3AED"/>
              </a:solidFill>
            </c:spPr>
          </c:dPt>
          <c:dPt>
            <c:idx val="12"/>
            <c:spPr>
              <a:solidFill>
                <a:srgbClr val="D946EF"/>
              </a:solidFill>
            </c:spPr>
          </c:dPt>
          <c:dPt>
            <c:idx val="13"/>
            <c:spPr>
              <a:solidFill>
                <a:srgbClr val="8B5CF6"/>
              </a:solidFill>
            </c:spPr>
          </c:dPt>
          <c:dPt>
            <c:idx val="14"/>
            <c:spPr>
              <a:solidFill>
                <a:srgbClr val="A78BFA"/>
              </a:solidFill>
            </c:spPr>
          </c:dPt>
          <c:dPt>
            <c:idx val="15"/>
            <c:spPr>
              <a:solidFill>
                <a:srgbClr val="C4B5FD"/>
              </a:solidFill>
            </c:spPr>
          </c:dPt>
          <c:dPt>
            <c:idx val="16"/>
            <c:spPr>
              <a:solidFill>
                <a:srgbClr val="C026D3"/>
              </a:solidFill>
            </c:spPr>
          </c:dPt>
          <c:dPt>
            <c:idx val="17"/>
            <c:spPr>
              <a:solidFill>
                <a:srgbClr val="F59E0B"/>
              </a:solidFill>
            </c:spPr>
          </c:dPt>
          <c:dPt>
            <c:idx val="18"/>
            <c:spPr>
              <a:solidFill>
                <a:srgbClr val="10B981"/>
              </a:solidFill>
            </c:spPr>
          </c:dPt>
          <c:dPt>
            <c:idx val="19"/>
            <c:spPr>
              <a:solidFill>
                <a:srgbClr val="A09CB0"/>
              </a:solidFill>
            </c:spPr>
          </c:dPt>
          <c:dPt>
            <c:idx val="20"/>
            <c:spPr>
              <a:solidFill>
                <a:srgbClr val="5B21B6"/>
              </a:solidFill>
            </c:spPr>
          </c:dPt>
          <c:dPt>
            <c:idx val="21"/>
            <c:spPr>
              <a:solidFill>
                <a:srgbClr val="7C3AED"/>
              </a:solidFill>
            </c:spPr>
          </c:dPt>
          <c:dPt>
            <c:idx val="22"/>
            <c:spPr>
              <a:solidFill>
                <a:srgbClr val="D946EF"/>
              </a:solidFill>
            </c:spPr>
          </c:dPt>
          <c:dPt>
            <c:idx val="23"/>
            <c:spPr>
              <a:solidFill>
                <a:srgbClr val="8B5CF6"/>
              </a:solidFill>
            </c:spPr>
          </c:dPt>
          <c:dPt>
            <c:idx val="24"/>
            <c:spPr>
              <a:solidFill>
                <a:srgbClr val="A78BFA"/>
              </a:solidFill>
            </c:spPr>
          </c:dPt>
          <c:dPt>
            <c:idx val="25"/>
            <c:spPr>
              <a:solidFill>
                <a:srgbClr val="C4B5FD"/>
              </a:solidFill>
            </c:spPr>
          </c:dPt>
          <c:cat>
            <c:strRef>
              <c:f>Sheet1!$A$2:$A$27</c:f>
              <c:strCache>
                <c:ptCount val="26"/>
                <c:pt idx="0">
                  <c:v>TX</c:v>
                </c:pt>
                <c:pt idx="1">
                  <c:v>CA</c:v>
                </c:pt>
                <c:pt idx="2">
                  <c:v>GA</c:v>
                </c:pt>
                <c:pt idx="3">
                  <c:v>PA</c:v>
                </c:pt>
                <c:pt idx="4">
                  <c:v>VA</c:v>
                </c:pt>
                <c:pt idx="5">
                  <c:v>CO</c:v>
                </c:pt>
                <c:pt idx="6">
                  <c:v>TN</c:v>
                </c:pt>
                <c:pt idx="7">
                  <c:v>MD</c:v>
                </c:pt>
                <c:pt idx="8">
                  <c:v>MO</c:v>
                </c:pt>
                <c:pt idx="9">
                  <c:v>OH</c:v>
                </c:pt>
                <c:pt idx="10">
                  <c:v>ID</c:v>
                </c:pt>
                <c:pt idx="11">
                  <c:v>MN</c:v>
                </c:pt>
                <c:pt idx="12">
                  <c:v>SC</c:v>
                </c:pt>
                <c:pt idx="13">
                  <c:v>MI</c:v>
                </c:pt>
                <c:pt idx="14">
                  <c:v>AZ</c:v>
                </c:pt>
                <c:pt idx="15">
                  <c:v>NH</c:v>
                </c:pt>
                <c:pt idx="16">
                  <c:v>OK</c:v>
                </c:pt>
                <c:pt idx="17">
                  <c:v>NC</c:v>
                </c:pt>
                <c:pt idx="18">
                  <c:v>NE</c:v>
                </c:pt>
                <c:pt idx="19">
                  <c:v>NJ</c:v>
                </c:pt>
                <c:pt idx="20">
                  <c:v>NV</c:v>
                </c:pt>
                <c:pt idx="21">
                  <c:v>LA</c:v>
                </c:pt>
                <c:pt idx="22">
                  <c:v>NM</c:v>
                </c:pt>
                <c:pt idx="23">
                  <c:v>ND</c:v>
                </c:pt>
                <c:pt idx="24">
                  <c:v>MS</c:v>
                </c:pt>
                <c:pt idx="25">
                  <c:v>UT</c:v>
                </c:pt>
              </c:strCache>
            </c:strRef>
          </c:cat>
          <c:val>
            <c:numRef>
              <c:f>Sheet1!$B$2:$B$27</c:f>
              <c:numCache>
                <c:formatCode>General</c:formatCode>
                <c:ptCount val="26"/>
                <c:pt idx="0">
                  <c:v>2621199.5699999994</c:v>
                </c:pt>
                <c:pt idx="1">
                  <c:v>1678891.4899999998</c:v>
                </c:pt>
                <c:pt idx="2">
                  <c:v>329545.47</c:v>
                </c:pt>
                <c:pt idx="3">
                  <c:v>182976.2</c:v>
                </c:pt>
                <c:pt idx="4">
                  <c:v>138776.32</c:v>
                </c:pt>
                <c:pt idx="5">
                  <c:v>32771.04</c:v>
                </c:pt>
                <c:pt idx="6">
                  <c:v>23922.37</c:v>
                </c:pt>
                <c:pt idx="7">
                  <c:v>21130.32</c:v>
                </c:pt>
                <c:pt idx="8">
                  <c:v>20897.61</c:v>
                </c:pt>
                <c:pt idx="9">
                  <c:v>18316.25</c:v>
                </c:pt>
                <c:pt idx="10">
                  <c:v>15763.5</c:v>
                </c:pt>
                <c:pt idx="11">
                  <c:v>15034.15</c:v>
                </c:pt>
                <c:pt idx="12">
                  <c:v>14880.0</c:v>
                </c:pt>
                <c:pt idx="13">
                  <c:v>14033.26</c:v>
                </c:pt>
                <c:pt idx="14">
                  <c:v>13648.57</c:v>
                </c:pt>
                <c:pt idx="15">
                  <c:v>12127.96</c:v>
                </c:pt>
                <c:pt idx="16">
                  <c:v>11870.48</c:v>
                </c:pt>
                <c:pt idx="17">
                  <c:v>11445.0</c:v>
                </c:pt>
                <c:pt idx="18">
                  <c:v>11350.0</c:v>
                </c:pt>
                <c:pt idx="19">
                  <c:v>8775.0</c:v>
                </c:pt>
                <c:pt idx="20">
                  <c:v>3718.5</c:v>
                </c:pt>
                <c:pt idx="21">
                  <c:v>1100.0</c:v>
                </c:pt>
                <c:pt idx="22">
                  <c:v>550.0</c:v>
                </c:pt>
                <c:pt idx="23">
                  <c:v>550.0</c:v>
                </c:pt>
                <c:pt idx="24">
                  <c:v>550.0</c:v>
                </c:pt>
                <c:pt idx="25">
                  <c:v>550.0</c:v>
                </c:pt>
              </c:numCache>
            </c:numRef>
          </c:val>
        </c:ser>
        <c:dLbls>
          <c:numFmt formatCode="0.0%" sourceLinked="0"/>
          <c:txPr>
            <a:bodyPr/>
            <a:lstStyle/>
            <a:p>
              <a:pPr>
                <a:defRPr sz="1000">
                  <a:latin typeface="Segoe UI"/>
                </a:defRPr>
              </a:pPr>
            </a:p>
          </c:txPr>
          <c:showLegendKey val="0"/>
          <c:showVal val="0"/>
          <c:showCatName val="1"/>
          <c:showSerName val="0"/>
          <c:showPercent val="1"/>
          <c:showBubbleSize val="0"/>
          <c:showLeaderLines val="1"/>
        </c:dLbls>
        <c:firstSliceAng val="0"/>
        <c:holeSize val="50"/>
      </c:doughnutChart>
    </c:plotArea>
    <c:legend>
      <c:legendPos val="b"/>
      <c:layout/>
      <c:overlay val="0"/>
      <c:txPr>
        <a:bodyPr/>
        <a:lstStyle/>
        <a:p>
          <a:pPr>
            <a:defRPr sz="1000">
              <a:latin typeface="Segoe U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073B"/>
        </a:solidFill>
        <a:effectLst/>
      </p:bgPr>
    </p:bg>
    <p:spTree>
      <p:nvGrpSpPr>
        <p:cNvPr id="1" name=""/>
        <p:cNvGrpSpPr/>
        <p:nvPr/>
      </p:nvGrpSpPr>
      <p:grpSpPr/>
      <p:sp>
        <p:nvSpPr>
          <p:cNvPr id="2" name="Oval 1"/>
          <p:cNvSpPr/>
          <p:nvPr/>
        </p:nvSpPr>
        <p:spPr>
          <a:xfrm>
            <a:off x="7772400" y="-1828800"/>
            <a:ext cx="6400800" cy="6400800"/>
          </a:xfrm>
          <a:prstGeom prst="ellipse">
            <a:avLst/>
          </a:prstGeom>
          <a:solidFill>
            <a:srgbClr val="5B21B6">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457200"/>
            <a:ext cx="4572000" cy="4572000"/>
          </a:xfrm>
          <a:prstGeom prst="ellipse">
            <a:avLst/>
          </a:prstGeom>
          <a:solidFill>
            <a:srgbClr val="7C3AED">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3200400"/>
            <a:ext cx="2743200" cy="2743200"/>
          </a:xfrm>
          <a:prstGeom prst="ellipse">
            <a:avLst/>
          </a:prstGeom>
          <a:solidFill>
            <a:srgbClr val="D946EF">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828800" y="3657600"/>
            <a:ext cx="4572000" cy="4572000"/>
          </a:xfrm>
          <a:prstGeom prst="ellipse">
            <a:avLst/>
          </a:prstGeom>
          <a:solidFill>
            <a:srgbClr val="5B21B6">
              <a:alpha val="1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57200" y="5029200"/>
            <a:ext cx="1828800" cy="1828800"/>
          </a:xfrm>
          <a:prstGeom prst="ellipse">
            <a:avLst/>
          </a:prstGeom>
          <a:solidFill>
            <a:srgbClr val="8B5CF6">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371600"/>
            <a:ext cx="54864" cy="320040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71600"/>
            <a:ext cx="7315200" cy="548640"/>
          </a:xfrm>
          <a:prstGeom prst="rect">
            <a:avLst/>
          </a:prstGeom>
          <a:noFill/>
        </p:spPr>
        <p:txBody>
          <a:bodyPr wrap="square">
            <a:spAutoFit/>
          </a:bodyPr>
          <a:lstStyle/>
          <a:p>
            <a:pPr algn="l">
              <a:defRPr sz="4800" b="1" i="0">
                <a:solidFill>
                  <a:srgbClr val="FFFFFF"/>
                </a:solidFill>
                <a:latin typeface="Segoe UI Light"/>
              </a:defRPr>
            </a:pPr>
            <a:r>
              <a:t>DSG BOUND BUSINESS</a:t>
            </a:r>
          </a:p>
        </p:txBody>
      </p:sp>
      <p:sp>
        <p:nvSpPr>
          <p:cNvPr id="9" name="TextBox 8"/>
          <p:cNvSpPr txBox="1"/>
          <p:nvPr/>
        </p:nvSpPr>
        <p:spPr>
          <a:xfrm>
            <a:off x="1097280" y="2011680"/>
            <a:ext cx="7315200" cy="548640"/>
          </a:xfrm>
          <a:prstGeom prst="rect">
            <a:avLst/>
          </a:prstGeom>
          <a:noFill/>
        </p:spPr>
        <p:txBody>
          <a:bodyPr wrap="square">
            <a:spAutoFit/>
          </a:bodyPr>
          <a:lstStyle/>
          <a:p>
            <a:pPr algn="l">
              <a:defRPr sz="4800" b="1" i="0">
                <a:solidFill>
                  <a:srgbClr val="D946EF"/>
                </a:solidFill>
                <a:latin typeface="Segoe UI Light"/>
              </a:defRPr>
            </a:pPr>
            <a:r>
              <a:t>REPORT</a:t>
            </a:r>
          </a:p>
        </p:txBody>
      </p:sp>
      <p:sp>
        <p:nvSpPr>
          <p:cNvPr id="10" name="Rectangle 9"/>
          <p:cNvSpPr/>
          <p:nvPr/>
        </p:nvSpPr>
        <p:spPr>
          <a:xfrm>
            <a:off x="1097280" y="2834640"/>
            <a:ext cx="2286000" cy="27432"/>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108960"/>
            <a:ext cx="7315200" cy="457200"/>
          </a:xfrm>
          <a:prstGeom prst="rect">
            <a:avLst/>
          </a:prstGeom>
          <a:noFill/>
        </p:spPr>
        <p:txBody>
          <a:bodyPr wrap="square">
            <a:spAutoFit/>
          </a:bodyPr>
          <a:lstStyle/>
          <a:p>
            <a:pPr algn="l">
              <a:defRPr sz="2400" b="0" i="0">
                <a:solidFill>
                  <a:srgbClr val="C4B5FD"/>
                </a:solidFill>
                <a:latin typeface="Segoe UI Semilight"/>
              </a:defRPr>
            </a:pPr>
            <a:r>
              <a:t>2026 Year-to-Date</a:t>
            </a:r>
          </a:p>
        </p:txBody>
      </p:sp>
      <p:sp>
        <p:nvSpPr>
          <p:cNvPr id="12" name="TextBox 11"/>
          <p:cNvSpPr txBox="1"/>
          <p:nvPr/>
        </p:nvSpPr>
        <p:spPr>
          <a:xfrm>
            <a:off x="1097280" y="3749039"/>
            <a:ext cx="7315200" cy="457200"/>
          </a:xfrm>
          <a:prstGeom prst="rect">
            <a:avLst/>
          </a:prstGeom>
          <a:noFill/>
        </p:spPr>
        <p:txBody>
          <a:bodyPr wrap="square">
            <a:spAutoFit/>
          </a:bodyPr>
          <a:lstStyle/>
          <a:p>
            <a:pPr algn="l">
              <a:defRPr sz="1600" b="0" i="1">
                <a:solidFill>
                  <a:srgbClr val="A09CB0"/>
                </a:solidFill>
                <a:latin typeface="Segoe UI"/>
              </a:defRPr>
            </a:pPr>
            <a:r>
              <a:t>Dump Truck / Sand &amp; Gravel Operations</a:t>
            </a:r>
          </a:p>
        </p:txBody>
      </p:sp>
      <p:sp>
        <p:nvSpPr>
          <p:cNvPr id="13" name="Rectangle 12"/>
          <p:cNvSpPr/>
          <p:nvPr/>
        </p:nvSpPr>
        <p:spPr>
          <a:xfrm>
            <a:off x="0" y="6035040"/>
            <a:ext cx="12191695" cy="82296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035040"/>
            <a:ext cx="12191695" cy="822960"/>
          </a:xfrm>
          <a:prstGeom prst="rect">
            <a:avLst/>
          </a:prstGeom>
          <a:solidFill>
            <a:srgbClr val="5B21B6">
              <a:alpha val="4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172200"/>
            <a:ext cx="4572000" cy="457200"/>
          </a:xfrm>
          <a:prstGeom prst="rect">
            <a:avLst/>
          </a:prstGeom>
          <a:noFill/>
        </p:spPr>
        <p:txBody>
          <a:bodyPr wrap="square">
            <a:spAutoFit/>
          </a:bodyPr>
          <a:lstStyle/>
          <a:p>
            <a:pPr algn="l">
              <a:defRPr sz="1100" b="0" i="0">
                <a:solidFill>
                  <a:srgbClr val="C4B5FD"/>
                </a:solidFill>
                <a:latin typeface="Segoe UI"/>
              </a:defRPr>
            </a:pPr>
            <a:r>
              <a:t>Source: Metabase Analytics  |  HubSpot CRM</a:t>
            </a:r>
          </a:p>
        </p:txBody>
      </p:sp>
      <p:sp>
        <p:nvSpPr>
          <p:cNvPr id="16" name="TextBox 15"/>
          <p:cNvSpPr txBox="1"/>
          <p:nvPr/>
        </p:nvSpPr>
        <p:spPr>
          <a:xfrm>
            <a:off x="7315200" y="6172200"/>
            <a:ext cx="4114800" cy="457200"/>
          </a:xfrm>
          <a:prstGeom prst="rect">
            <a:avLst/>
          </a:prstGeom>
          <a:noFill/>
        </p:spPr>
        <p:txBody>
          <a:bodyPr wrap="square">
            <a:spAutoFit/>
          </a:bodyPr>
          <a:lstStyle/>
          <a:p>
            <a:pPr algn="r">
              <a:defRPr sz="1100" b="0" i="0">
                <a:solidFill>
                  <a:srgbClr val="C4B5FD"/>
                </a:solidFill>
                <a:latin typeface="Segoe UI"/>
              </a:defRPr>
            </a:pPr>
            <a:r>
              <a:t>Generated: May 28,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EXECUTIVE SUMMARY</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184 Accounts  |  $5.2M GWP</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645920"/>
            <a:ext cx="2606040" cy="16459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645920"/>
            <a:ext cx="260604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800"/>
            <a:ext cx="2194560" cy="274320"/>
          </a:xfrm>
          <a:prstGeom prst="rect">
            <a:avLst/>
          </a:prstGeom>
          <a:noFill/>
        </p:spPr>
        <p:txBody>
          <a:bodyPr wrap="square">
            <a:spAutoFit/>
          </a:bodyPr>
          <a:lstStyle/>
          <a:p>
            <a:pPr algn="l">
              <a:defRPr sz="900" b="1" i="0">
                <a:solidFill>
                  <a:srgbClr val="9C92B5"/>
                </a:solidFill>
                <a:latin typeface="Segoe UI Semibold"/>
              </a:defRPr>
            </a:pPr>
            <a:r>
              <a:t>TOTAL ACCOUNTS</a:t>
            </a:r>
          </a:p>
        </p:txBody>
      </p:sp>
      <p:sp>
        <p:nvSpPr>
          <p:cNvPr id="14" name="TextBox 13"/>
          <p:cNvSpPr txBox="1"/>
          <p:nvPr/>
        </p:nvSpPr>
        <p:spPr>
          <a:xfrm>
            <a:off x="685800" y="2194560"/>
            <a:ext cx="2194560" cy="640080"/>
          </a:xfrm>
          <a:prstGeom prst="rect">
            <a:avLst/>
          </a:prstGeom>
          <a:noFill/>
        </p:spPr>
        <p:txBody>
          <a:bodyPr wrap="square">
            <a:spAutoFit/>
          </a:bodyPr>
          <a:lstStyle/>
          <a:p>
            <a:pPr algn="l">
              <a:defRPr sz="3400" b="1" i="0">
                <a:solidFill>
                  <a:srgbClr val="7C3AED"/>
                </a:solidFill>
                <a:latin typeface="Segoe UI Light"/>
              </a:defRPr>
            </a:pPr>
            <a:r>
              <a:t>184</a:t>
            </a:r>
          </a:p>
        </p:txBody>
      </p:sp>
      <p:sp>
        <p:nvSpPr>
          <p:cNvPr id="15" name="TextBox 14"/>
          <p:cNvSpPr txBox="1"/>
          <p:nvPr/>
        </p:nvSpPr>
        <p:spPr>
          <a:xfrm>
            <a:off x="685800" y="2834640"/>
            <a:ext cx="2194560" cy="274320"/>
          </a:xfrm>
          <a:prstGeom prst="rect">
            <a:avLst/>
          </a:prstGeom>
          <a:noFill/>
        </p:spPr>
        <p:txBody>
          <a:bodyPr wrap="square">
            <a:spAutoFit/>
          </a:bodyPr>
          <a:lstStyle/>
          <a:p>
            <a:pPr algn="l">
              <a:defRPr sz="1000" b="0" i="1">
                <a:solidFill>
                  <a:srgbClr val="A09CB0"/>
                </a:solidFill>
                <a:latin typeface="Segoe UI"/>
              </a:defRPr>
            </a:pPr>
            <a:r>
              <a:t>2026 Bound Policies</a:t>
            </a:r>
          </a:p>
        </p:txBody>
      </p:sp>
      <p:sp>
        <p:nvSpPr>
          <p:cNvPr id="16" name="Rounded Rectangle 15"/>
          <p:cNvSpPr/>
          <p:nvPr/>
        </p:nvSpPr>
        <p:spPr>
          <a:xfrm>
            <a:off x="3337560" y="1645920"/>
            <a:ext cx="2606040" cy="16459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37560" y="1645920"/>
            <a:ext cx="260604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1828800"/>
            <a:ext cx="2194560" cy="274320"/>
          </a:xfrm>
          <a:prstGeom prst="rect">
            <a:avLst/>
          </a:prstGeom>
          <a:noFill/>
        </p:spPr>
        <p:txBody>
          <a:bodyPr wrap="square">
            <a:spAutoFit/>
          </a:bodyPr>
          <a:lstStyle/>
          <a:p>
            <a:pPr algn="l">
              <a:defRPr sz="900" b="1" i="0">
                <a:solidFill>
                  <a:srgbClr val="9C92B5"/>
                </a:solidFill>
                <a:latin typeface="Segoe UI Semibold"/>
              </a:defRPr>
            </a:pPr>
            <a:r>
              <a:t>GROSS WRITTEN PREMIUM</a:t>
            </a:r>
          </a:p>
        </p:txBody>
      </p:sp>
      <p:sp>
        <p:nvSpPr>
          <p:cNvPr id="19" name="TextBox 18"/>
          <p:cNvSpPr txBox="1"/>
          <p:nvPr/>
        </p:nvSpPr>
        <p:spPr>
          <a:xfrm>
            <a:off x="3566160" y="2194560"/>
            <a:ext cx="2194560" cy="640080"/>
          </a:xfrm>
          <a:prstGeom prst="rect">
            <a:avLst/>
          </a:prstGeom>
          <a:noFill/>
        </p:spPr>
        <p:txBody>
          <a:bodyPr wrap="square">
            <a:spAutoFit/>
          </a:bodyPr>
          <a:lstStyle/>
          <a:p>
            <a:pPr algn="l">
              <a:defRPr sz="3400" b="1" i="0">
                <a:solidFill>
                  <a:srgbClr val="10B981"/>
                </a:solidFill>
                <a:latin typeface="Segoe UI Light"/>
              </a:defRPr>
            </a:pPr>
            <a:r>
              <a:t>$5.2M</a:t>
            </a:r>
          </a:p>
        </p:txBody>
      </p:sp>
      <p:sp>
        <p:nvSpPr>
          <p:cNvPr id="20" name="TextBox 19"/>
          <p:cNvSpPr txBox="1"/>
          <p:nvPr/>
        </p:nvSpPr>
        <p:spPr>
          <a:xfrm>
            <a:off x="3566160" y="2834640"/>
            <a:ext cx="2194560" cy="274320"/>
          </a:xfrm>
          <a:prstGeom prst="rect">
            <a:avLst/>
          </a:prstGeom>
          <a:noFill/>
        </p:spPr>
        <p:txBody>
          <a:bodyPr wrap="square">
            <a:spAutoFit/>
          </a:bodyPr>
          <a:lstStyle/>
          <a:p>
            <a:pPr algn="l">
              <a:defRPr sz="1000" b="0" i="1">
                <a:solidFill>
                  <a:srgbClr val="A09CB0"/>
                </a:solidFill>
                <a:latin typeface="Segoe UI"/>
              </a:defRPr>
            </a:pPr>
            <a:r>
              <a:t>Year-to-Date</a:t>
            </a:r>
          </a:p>
        </p:txBody>
      </p:sp>
      <p:sp>
        <p:nvSpPr>
          <p:cNvPr id="21" name="Rounded Rectangle 20"/>
          <p:cNvSpPr/>
          <p:nvPr/>
        </p:nvSpPr>
        <p:spPr>
          <a:xfrm>
            <a:off x="6217920" y="1645920"/>
            <a:ext cx="2606040" cy="16459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645920"/>
            <a:ext cx="2606040" cy="54864"/>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828800"/>
            <a:ext cx="2194560" cy="274320"/>
          </a:xfrm>
          <a:prstGeom prst="rect">
            <a:avLst/>
          </a:prstGeom>
          <a:noFill/>
        </p:spPr>
        <p:txBody>
          <a:bodyPr wrap="square">
            <a:spAutoFit/>
          </a:bodyPr>
          <a:lstStyle/>
          <a:p>
            <a:pPr algn="l">
              <a:defRPr sz="900" b="1" i="0">
                <a:solidFill>
                  <a:srgbClr val="9C92B5"/>
                </a:solidFill>
                <a:latin typeface="Segoe UI Semibold"/>
              </a:defRPr>
            </a:pPr>
            <a:r>
              <a:t>NET WRITTEN PREMIUM</a:t>
            </a:r>
          </a:p>
        </p:txBody>
      </p:sp>
      <p:sp>
        <p:nvSpPr>
          <p:cNvPr id="24" name="TextBox 23"/>
          <p:cNvSpPr txBox="1"/>
          <p:nvPr/>
        </p:nvSpPr>
        <p:spPr>
          <a:xfrm>
            <a:off x="6446520" y="2194560"/>
            <a:ext cx="2194560" cy="640080"/>
          </a:xfrm>
          <a:prstGeom prst="rect">
            <a:avLst/>
          </a:prstGeom>
          <a:noFill/>
        </p:spPr>
        <p:txBody>
          <a:bodyPr wrap="square">
            <a:spAutoFit/>
          </a:bodyPr>
          <a:lstStyle/>
          <a:p>
            <a:pPr algn="l">
              <a:defRPr sz="3400" b="1" i="0">
                <a:solidFill>
                  <a:srgbClr val="5B21B6"/>
                </a:solidFill>
                <a:latin typeface="Segoe UI Light"/>
              </a:defRPr>
            </a:pPr>
            <a:r>
              <a:t>$4.6M</a:t>
            </a:r>
          </a:p>
        </p:txBody>
      </p:sp>
      <p:sp>
        <p:nvSpPr>
          <p:cNvPr id="25" name="TextBox 24"/>
          <p:cNvSpPr txBox="1"/>
          <p:nvPr/>
        </p:nvSpPr>
        <p:spPr>
          <a:xfrm>
            <a:off x="6446520" y="2834640"/>
            <a:ext cx="2194560" cy="274320"/>
          </a:xfrm>
          <a:prstGeom prst="rect">
            <a:avLst/>
          </a:prstGeom>
          <a:noFill/>
        </p:spPr>
        <p:txBody>
          <a:bodyPr wrap="square">
            <a:spAutoFit/>
          </a:bodyPr>
          <a:lstStyle/>
          <a:p>
            <a:pPr algn="l">
              <a:defRPr sz="1000" b="0" i="1">
                <a:solidFill>
                  <a:srgbClr val="A09CB0"/>
                </a:solidFill>
                <a:latin typeface="Segoe UI"/>
              </a:defRPr>
            </a:pPr>
            <a:r>
              <a:t>After Ceding</a:t>
            </a:r>
          </a:p>
        </p:txBody>
      </p:sp>
      <p:sp>
        <p:nvSpPr>
          <p:cNvPr id="26" name="Rounded Rectangle 25"/>
          <p:cNvSpPr/>
          <p:nvPr/>
        </p:nvSpPr>
        <p:spPr>
          <a:xfrm>
            <a:off x="9098280" y="1645920"/>
            <a:ext cx="2606040" cy="16459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98280" y="1645920"/>
            <a:ext cx="260604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1828800"/>
            <a:ext cx="2194560" cy="274320"/>
          </a:xfrm>
          <a:prstGeom prst="rect">
            <a:avLst/>
          </a:prstGeom>
          <a:noFill/>
        </p:spPr>
        <p:txBody>
          <a:bodyPr wrap="square">
            <a:spAutoFit/>
          </a:bodyPr>
          <a:lstStyle/>
          <a:p>
            <a:pPr algn="l">
              <a:defRPr sz="900" b="1" i="0">
                <a:solidFill>
                  <a:srgbClr val="9C92B5"/>
                </a:solidFill>
                <a:latin typeface="Segoe UI Semibold"/>
              </a:defRPr>
            </a:pPr>
            <a:r>
              <a:t>AVG PREMIUM / ACCT</a:t>
            </a:r>
          </a:p>
        </p:txBody>
      </p:sp>
      <p:sp>
        <p:nvSpPr>
          <p:cNvPr id="29" name="TextBox 28"/>
          <p:cNvSpPr txBox="1"/>
          <p:nvPr/>
        </p:nvSpPr>
        <p:spPr>
          <a:xfrm>
            <a:off x="9326880" y="2194560"/>
            <a:ext cx="2194560" cy="640080"/>
          </a:xfrm>
          <a:prstGeom prst="rect">
            <a:avLst/>
          </a:prstGeom>
          <a:noFill/>
        </p:spPr>
        <p:txBody>
          <a:bodyPr wrap="square">
            <a:spAutoFit/>
          </a:bodyPr>
          <a:lstStyle/>
          <a:p>
            <a:pPr algn="l">
              <a:defRPr sz="3400" b="1" i="0">
                <a:solidFill>
                  <a:srgbClr val="8B5CF6"/>
                </a:solidFill>
                <a:latin typeface="Segoe UI Light"/>
              </a:defRPr>
            </a:pPr>
            <a:r>
              <a:t>$28,284</a:t>
            </a:r>
          </a:p>
        </p:txBody>
      </p:sp>
      <p:sp>
        <p:nvSpPr>
          <p:cNvPr id="30" name="TextBox 29"/>
          <p:cNvSpPr txBox="1"/>
          <p:nvPr/>
        </p:nvSpPr>
        <p:spPr>
          <a:xfrm>
            <a:off x="9326880" y="2834640"/>
            <a:ext cx="2194560" cy="274320"/>
          </a:xfrm>
          <a:prstGeom prst="rect">
            <a:avLst/>
          </a:prstGeom>
          <a:noFill/>
        </p:spPr>
        <p:txBody>
          <a:bodyPr wrap="square">
            <a:spAutoFit/>
          </a:bodyPr>
          <a:lstStyle/>
          <a:p>
            <a:pPr algn="l">
              <a:defRPr sz="1000" b="0" i="1">
                <a:solidFill>
                  <a:srgbClr val="A09CB0"/>
                </a:solidFill>
                <a:latin typeface="Segoe UI"/>
              </a:defRPr>
            </a:pPr>
            <a:r>
              <a:t>Per Policy</a:t>
            </a:r>
          </a:p>
        </p:txBody>
      </p:sp>
      <p:sp>
        <p:nvSpPr>
          <p:cNvPr id="31" name="TextBox 30"/>
          <p:cNvSpPr txBox="1"/>
          <p:nvPr/>
        </p:nvSpPr>
        <p:spPr>
          <a:xfrm>
            <a:off x="731520" y="3749039"/>
            <a:ext cx="4572000" cy="365760"/>
          </a:xfrm>
          <a:prstGeom prst="rect">
            <a:avLst/>
          </a:prstGeom>
          <a:noFill/>
        </p:spPr>
        <p:txBody>
          <a:bodyPr wrap="square">
            <a:spAutoFit/>
          </a:bodyPr>
          <a:lstStyle/>
          <a:p>
            <a:pPr algn="l">
              <a:defRPr sz="1400" b="1" i="0">
                <a:solidFill>
                  <a:srgbClr val="5B21B6"/>
                </a:solidFill>
                <a:latin typeface="Segoe UI Semibold"/>
              </a:defRPr>
            </a:pPr>
            <a:r>
              <a:t>MONTHLY BREAKDOWN</a:t>
            </a:r>
          </a:p>
        </p:txBody>
      </p:sp>
      <p:sp>
        <p:nvSpPr>
          <p:cNvPr id="32" name="Rectangle 31"/>
          <p:cNvSpPr/>
          <p:nvPr/>
        </p:nvSpPr>
        <p:spPr>
          <a:xfrm>
            <a:off x="731520" y="4160520"/>
            <a:ext cx="13716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57200" y="4480560"/>
            <a:ext cx="1920240" cy="201168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4754880"/>
            <a:ext cx="54864" cy="1463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617720"/>
            <a:ext cx="1554480" cy="320040"/>
          </a:xfrm>
          <a:prstGeom prst="rect">
            <a:avLst/>
          </a:prstGeom>
          <a:noFill/>
        </p:spPr>
        <p:txBody>
          <a:bodyPr wrap="square">
            <a:spAutoFit/>
          </a:bodyPr>
          <a:lstStyle/>
          <a:p>
            <a:pPr algn="l">
              <a:defRPr sz="1500" b="1" i="0">
                <a:solidFill>
                  <a:srgbClr val="1E073B"/>
                </a:solidFill>
                <a:latin typeface="Segoe UI Light"/>
              </a:defRPr>
            </a:pPr>
            <a:r>
              <a:t>January 2026</a:t>
            </a:r>
          </a:p>
        </p:txBody>
      </p:sp>
      <p:sp>
        <p:nvSpPr>
          <p:cNvPr id="36" name="TextBox 35"/>
          <p:cNvSpPr txBox="1"/>
          <p:nvPr/>
        </p:nvSpPr>
        <p:spPr>
          <a:xfrm>
            <a:off x="640080" y="5029200"/>
            <a:ext cx="1554480" cy="274320"/>
          </a:xfrm>
          <a:prstGeom prst="rect">
            <a:avLst/>
          </a:prstGeom>
          <a:noFill/>
        </p:spPr>
        <p:txBody>
          <a:bodyPr wrap="square">
            <a:spAutoFit/>
          </a:bodyPr>
          <a:lstStyle/>
          <a:p>
            <a:pPr algn="l">
              <a:defRPr sz="1200" b="0" i="0">
                <a:solidFill>
                  <a:srgbClr val="6B5F83"/>
                </a:solidFill>
                <a:latin typeface="Segoe UI"/>
              </a:defRPr>
            </a:pPr>
            <a:r>
              <a:t>13 Accounts</a:t>
            </a:r>
          </a:p>
        </p:txBody>
      </p:sp>
      <p:sp>
        <p:nvSpPr>
          <p:cNvPr id="37" name="TextBox 36"/>
          <p:cNvSpPr txBox="1"/>
          <p:nvPr/>
        </p:nvSpPr>
        <p:spPr>
          <a:xfrm>
            <a:off x="640080" y="5394960"/>
            <a:ext cx="1554480" cy="365760"/>
          </a:xfrm>
          <a:prstGeom prst="rect">
            <a:avLst/>
          </a:prstGeom>
          <a:noFill/>
        </p:spPr>
        <p:txBody>
          <a:bodyPr wrap="square">
            <a:spAutoFit/>
          </a:bodyPr>
          <a:lstStyle/>
          <a:p>
            <a:pPr algn="l">
              <a:defRPr sz="1800" b="1" i="0">
                <a:solidFill>
                  <a:srgbClr val="10B981"/>
                </a:solidFill>
                <a:latin typeface="Segoe UI"/>
              </a:defRPr>
            </a:pPr>
            <a:r>
              <a:t>GWP  $500,726</a:t>
            </a:r>
          </a:p>
        </p:txBody>
      </p:sp>
      <p:sp>
        <p:nvSpPr>
          <p:cNvPr id="38" name="TextBox 37"/>
          <p:cNvSpPr txBox="1"/>
          <p:nvPr/>
        </p:nvSpPr>
        <p:spPr>
          <a:xfrm>
            <a:off x="640080" y="5852160"/>
            <a:ext cx="1554480" cy="274320"/>
          </a:xfrm>
          <a:prstGeom prst="rect">
            <a:avLst/>
          </a:prstGeom>
          <a:noFill/>
        </p:spPr>
        <p:txBody>
          <a:bodyPr wrap="square">
            <a:spAutoFit/>
          </a:bodyPr>
          <a:lstStyle/>
          <a:p>
            <a:pPr algn="l">
              <a:defRPr sz="1300" b="0" i="0">
                <a:solidFill>
                  <a:srgbClr val="6B5F83"/>
                </a:solidFill>
                <a:latin typeface="Segoe UI"/>
              </a:defRPr>
            </a:pPr>
            <a:r>
              <a:t>NWP  $443,453</a:t>
            </a:r>
          </a:p>
        </p:txBody>
      </p:sp>
      <p:sp>
        <p:nvSpPr>
          <p:cNvPr id="39" name="Rounded Rectangle 38"/>
          <p:cNvSpPr/>
          <p:nvPr/>
        </p:nvSpPr>
        <p:spPr>
          <a:xfrm>
            <a:off x="640080" y="6217920"/>
            <a:ext cx="623454" cy="228600"/>
          </a:xfrm>
          <a:prstGeom prst="roundRect">
            <a:avLst>
              <a:gd name="adj" fmla="val 10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6199632"/>
            <a:ext cx="623454" cy="228600"/>
          </a:xfrm>
          <a:prstGeom prst="rect">
            <a:avLst/>
          </a:prstGeom>
          <a:noFill/>
        </p:spPr>
        <p:txBody>
          <a:bodyPr wrap="square">
            <a:spAutoFit/>
          </a:bodyPr>
          <a:lstStyle/>
          <a:p>
            <a:pPr algn="ctr">
              <a:defRPr sz="900" b="1" i="0">
                <a:solidFill>
                  <a:srgbClr val="7C3AED"/>
                </a:solidFill>
                <a:latin typeface="Segoe UI"/>
              </a:defRPr>
            </a:pPr>
            <a:r>
              <a:t>New: 13</a:t>
            </a:r>
          </a:p>
        </p:txBody>
      </p:sp>
      <p:sp>
        <p:nvSpPr>
          <p:cNvPr id="41" name="Rounded Rectangle 40"/>
          <p:cNvSpPr/>
          <p:nvPr/>
        </p:nvSpPr>
        <p:spPr>
          <a:xfrm>
            <a:off x="1400694" y="6217920"/>
            <a:ext cx="623454" cy="228600"/>
          </a:xfrm>
          <a:prstGeom prst="roundRect">
            <a:avLst>
              <a:gd name="adj" fmla="val 10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400694" y="6199632"/>
            <a:ext cx="623454" cy="228600"/>
          </a:xfrm>
          <a:prstGeom prst="rect">
            <a:avLst/>
          </a:prstGeom>
          <a:noFill/>
        </p:spPr>
        <p:txBody>
          <a:bodyPr wrap="square">
            <a:spAutoFit/>
          </a:bodyPr>
          <a:lstStyle/>
          <a:p>
            <a:pPr algn="ctr">
              <a:defRPr sz="900" b="1" i="0">
                <a:solidFill>
                  <a:srgbClr val="6B5F83"/>
                </a:solidFill>
                <a:latin typeface="Segoe UI"/>
              </a:defRPr>
            </a:pPr>
            <a:r>
              <a:t>Renewal: 0</a:t>
            </a:r>
          </a:p>
        </p:txBody>
      </p:sp>
      <p:sp>
        <p:nvSpPr>
          <p:cNvPr id="43" name="Rounded Rectangle 42"/>
          <p:cNvSpPr/>
          <p:nvPr/>
        </p:nvSpPr>
        <p:spPr>
          <a:xfrm>
            <a:off x="2743200" y="4480560"/>
            <a:ext cx="1920240" cy="201168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743200" y="4754880"/>
            <a:ext cx="54864" cy="1463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26080" y="4617720"/>
            <a:ext cx="1554480" cy="320040"/>
          </a:xfrm>
          <a:prstGeom prst="rect">
            <a:avLst/>
          </a:prstGeom>
          <a:noFill/>
        </p:spPr>
        <p:txBody>
          <a:bodyPr wrap="square">
            <a:spAutoFit/>
          </a:bodyPr>
          <a:lstStyle/>
          <a:p>
            <a:pPr algn="l">
              <a:defRPr sz="1500" b="1" i="0">
                <a:solidFill>
                  <a:srgbClr val="1E073B"/>
                </a:solidFill>
                <a:latin typeface="Segoe UI Light"/>
              </a:defRPr>
            </a:pPr>
            <a:r>
              <a:t>February 2026</a:t>
            </a:r>
          </a:p>
        </p:txBody>
      </p:sp>
      <p:sp>
        <p:nvSpPr>
          <p:cNvPr id="46" name="TextBox 45"/>
          <p:cNvSpPr txBox="1"/>
          <p:nvPr/>
        </p:nvSpPr>
        <p:spPr>
          <a:xfrm>
            <a:off x="2926080" y="5029200"/>
            <a:ext cx="1554480" cy="274320"/>
          </a:xfrm>
          <a:prstGeom prst="rect">
            <a:avLst/>
          </a:prstGeom>
          <a:noFill/>
        </p:spPr>
        <p:txBody>
          <a:bodyPr wrap="square">
            <a:spAutoFit/>
          </a:bodyPr>
          <a:lstStyle/>
          <a:p>
            <a:pPr algn="l">
              <a:defRPr sz="1200" b="0" i="0">
                <a:solidFill>
                  <a:srgbClr val="6B5F83"/>
                </a:solidFill>
                <a:latin typeface="Segoe UI"/>
              </a:defRPr>
            </a:pPr>
            <a:r>
              <a:t>25 Accounts</a:t>
            </a:r>
          </a:p>
        </p:txBody>
      </p:sp>
      <p:sp>
        <p:nvSpPr>
          <p:cNvPr id="47" name="TextBox 46"/>
          <p:cNvSpPr txBox="1"/>
          <p:nvPr/>
        </p:nvSpPr>
        <p:spPr>
          <a:xfrm>
            <a:off x="2926080" y="5394960"/>
            <a:ext cx="1554480" cy="365760"/>
          </a:xfrm>
          <a:prstGeom prst="rect">
            <a:avLst/>
          </a:prstGeom>
          <a:noFill/>
        </p:spPr>
        <p:txBody>
          <a:bodyPr wrap="square">
            <a:spAutoFit/>
          </a:bodyPr>
          <a:lstStyle/>
          <a:p>
            <a:pPr algn="l">
              <a:defRPr sz="1800" b="1" i="0">
                <a:solidFill>
                  <a:srgbClr val="10B981"/>
                </a:solidFill>
                <a:latin typeface="Segoe UI"/>
              </a:defRPr>
            </a:pPr>
            <a:r>
              <a:t>GWP  $1.1M</a:t>
            </a:r>
          </a:p>
        </p:txBody>
      </p:sp>
      <p:sp>
        <p:nvSpPr>
          <p:cNvPr id="48" name="TextBox 47"/>
          <p:cNvSpPr txBox="1"/>
          <p:nvPr/>
        </p:nvSpPr>
        <p:spPr>
          <a:xfrm>
            <a:off x="2926080" y="5852160"/>
            <a:ext cx="1554480" cy="274320"/>
          </a:xfrm>
          <a:prstGeom prst="rect">
            <a:avLst/>
          </a:prstGeom>
          <a:noFill/>
        </p:spPr>
        <p:txBody>
          <a:bodyPr wrap="square">
            <a:spAutoFit/>
          </a:bodyPr>
          <a:lstStyle/>
          <a:p>
            <a:pPr algn="l">
              <a:defRPr sz="1300" b="0" i="0">
                <a:solidFill>
                  <a:srgbClr val="6B5F83"/>
                </a:solidFill>
                <a:latin typeface="Segoe UI"/>
              </a:defRPr>
            </a:pPr>
            <a:r>
              <a:t>NWP  $943,262</a:t>
            </a:r>
          </a:p>
        </p:txBody>
      </p:sp>
      <p:sp>
        <p:nvSpPr>
          <p:cNvPr id="49" name="Rounded Rectangle 48"/>
          <p:cNvSpPr/>
          <p:nvPr/>
        </p:nvSpPr>
        <p:spPr>
          <a:xfrm>
            <a:off x="2926080" y="6217920"/>
            <a:ext cx="623454" cy="228600"/>
          </a:xfrm>
          <a:prstGeom prst="roundRect">
            <a:avLst>
              <a:gd name="adj" fmla="val 10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926080" y="6199632"/>
            <a:ext cx="623454" cy="228600"/>
          </a:xfrm>
          <a:prstGeom prst="rect">
            <a:avLst/>
          </a:prstGeom>
          <a:noFill/>
        </p:spPr>
        <p:txBody>
          <a:bodyPr wrap="square">
            <a:spAutoFit/>
          </a:bodyPr>
          <a:lstStyle/>
          <a:p>
            <a:pPr algn="ctr">
              <a:defRPr sz="900" b="1" i="0">
                <a:solidFill>
                  <a:srgbClr val="7C3AED"/>
                </a:solidFill>
                <a:latin typeface="Segoe UI"/>
              </a:defRPr>
            </a:pPr>
            <a:r>
              <a:t>New: 22</a:t>
            </a:r>
          </a:p>
        </p:txBody>
      </p:sp>
      <p:sp>
        <p:nvSpPr>
          <p:cNvPr id="51" name="Rounded Rectangle 50"/>
          <p:cNvSpPr/>
          <p:nvPr/>
        </p:nvSpPr>
        <p:spPr>
          <a:xfrm>
            <a:off x="3686694" y="6217920"/>
            <a:ext cx="623454" cy="228600"/>
          </a:xfrm>
          <a:prstGeom prst="roundRect">
            <a:avLst>
              <a:gd name="adj" fmla="val 10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86694" y="6199632"/>
            <a:ext cx="623454" cy="228600"/>
          </a:xfrm>
          <a:prstGeom prst="rect">
            <a:avLst/>
          </a:prstGeom>
          <a:noFill/>
        </p:spPr>
        <p:txBody>
          <a:bodyPr wrap="square">
            <a:spAutoFit/>
          </a:bodyPr>
          <a:lstStyle/>
          <a:p>
            <a:pPr algn="ctr">
              <a:defRPr sz="900" b="1" i="0">
                <a:solidFill>
                  <a:srgbClr val="6B5F83"/>
                </a:solidFill>
                <a:latin typeface="Segoe UI"/>
              </a:defRPr>
            </a:pPr>
            <a:r>
              <a:t>Renewal: 3</a:t>
            </a:r>
          </a:p>
        </p:txBody>
      </p:sp>
      <p:sp>
        <p:nvSpPr>
          <p:cNvPr id="53" name="Rounded Rectangle 52"/>
          <p:cNvSpPr/>
          <p:nvPr/>
        </p:nvSpPr>
        <p:spPr>
          <a:xfrm>
            <a:off x="5029200" y="4480560"/>
            <a:ext cx="1920240" cy="201168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9200" y="4754880"/>
            <a:ext cx="54864" cy="1463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212080" y="4617720"/>
            <a:ext cx="1554480" cy="320040"/>
          </a:xfrm>
          <a:prstGeom prst="rect">
            <a:avLst/>
          </a:prstGeom>
          <a:noFill/>
        </p:spPr>
        <p:txBody>
          <a:bodyPr wrap="square">
            <a:spAutoFit/>
          </a:bodyPr>
          <a:lstStyle/>
          <a:p>
            <a:pPr algn="l">
              <a:defRPr sz="1500" b="1" i="0">
                <a:solidFill>
                  <a:srgbClr val="1E073B"/>
                </a:solidFill>
                <a:latin typeface="Segoe UI Light"/>
              </a:defRPr>
            </a:pPr>
            <a:r>
              <a:t>March 2026</a:t>
            </a:r>
          </a:p>
        </p:txBody>
      </p:sp>
      <p:sp>
        <p:nvSpPr>
          <p:cNvPr id="56" name="TextBox 55"/>
          <p:cNvSpPr txBox="1"/>
          <p:nvPr/>
        </p:nvSpPr>
        <p:spPr>
          <a:xfrm>
            <a:off x="5212080" y="5029200"/>
            <a:ext cx="1554480" cy="274320"/>
          </a:xfrm>
          <a:prstGeom prst="rect">
            <a:avLst/>
          </a:prstGeom>
          <a:noFill/>
        </p:spPr>
        <p:txBody>
          <a:bodyPr wrap="square">
            <a:spAutoFit/>
          </a:bodyPr>
          <a:lstStyle/>
          <a:p>
            <a:pPr algn="l">
              <a:defRPr sz="1200" b="0" i="0">
                <a:solidFill>
                  <a:srgbClr val="6B5F83"/>
                </a:solidFill>
                <a:latin typeface="Segoe UI"/>
              </a:defRPr>
            </a:pPr>
            <a:r>
              <a:t>51 Accounts</a:t>
            </a:r>
          </a:p>
        </p:txBody>
      </p:sp>
      <p:sp>
        <p:nvSpPr>
          <p:cNvPr id="57" name="TextBox 56"/>
          <p:cNvSpPr txBox="1"/>
          <p:nvPr/>
        </p:nvSpPr>
        <p:spPr>
          <a:xfrm>
            <a:off x="5212080" y="5394960"/>
            <a:ext cx="1554480" cy="365760"/>
          </a:xfrm>
          <a:prstGeom prst="rect">
            <a:avLst/>
          </a:prstGeom>
          <a:noFill/>
        </p:spPr>
        <p:txBody>
          <a:bodyPr wrap="square">
            <a:spAutoFit/>
          </a:bodyPr>
          <a:lstStyle/>
          <a:p>
            <a:pPr algn="l">
              <a:defRPr sz="1800" b="1" i="0">
                <a:solidFill>
                  <a:srgbClr val="10B981"/>
                </a:solidFill>
                <a:latin typeface="Segoe UI"/>
              </a:defRPr>
            </a:pPr>
            <a:r>
              <a:t>GWP  $1.2M</a:t>
            </a:r>
          </a:p>
        </p:txBody>
      </p:sp>
      <p:sp>
        <p:nvSpPr>
          <p:cNvPr id="58" name="TextBox 57"/>
          <p:cNvSpPr txBox="1"/>
          <p:nvPr/>
        </p:nvSpPr>
        <p:spPr>
          <a:xfrm>
            <a:off x="5212080" y="5852160"/>
            <a:ext cx="1554480" cy="274320"/>
          </a:xfrm>
          <a:prstGeom prst="rect">
            <a:avLst/>
          </a:prstGeom>
          <a:noFill/>
        </p:spPr>
        <p:txBody>
          <a:bodyPr wrap="square">
            <a:spAutoFit/>
          </a:bodyPr>
          <a:lstStyle/>
          <a:p>
            <a:pPr algn="l">
              <a:defRPr sz="1300" b="0" i="0">
                <a:solidFill>
                  <a:srgbClr val="6B5F83"/>
                </a:solidFill>
                <a:latin typeface="Segoe UI"/>
              </a:defRPr>
            </a:pPr>
            <a:r>
              <a:t>NWP  $1.0M</a:t>
            </a:r>
          </a:p>
        </p:txBody>
      </p:sp>
      <p:sp>
        <p:nvSpPr>
          <p:cNvPr id="59" name="Rounded Rectangle 58"/>
          <p:cNvSpPr/>
          <p:nvPr/>
        </p:nvSpPr>
        <p:spPr>
          <a:xfrm>
            <a:off x="5212080" y="6217920"/>
            <a:ext cx="623454" cy="228600"/>
          </a:xfrm>
          <a:prstGeom prst="roundRect">
            <a:avLst>
              <a:gd name="adj" fmla="val 10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12080" y="6199632"/>
            <a:ext cx="623454" cy="228600"/>
          </a:xfrm>
          <a:prstGeom prst="rect">
            <a:avLst/>
          </a:prstGeom>
          <a:noFill/>
        </p:spPr>
        <p:txBody>
          <a:bodyPr wrap="square">
            <a:spAutoFit/>
          </a:bodyPr>
          <a:lstStyle/>
          <a:p>
            <a:pPr algn="ctr">
              <a:defRPr sz="900" b="1" i="0">
                <a:solidFill>
                  <a:srgbClr val="7C3AED"/>
                </a:solidFill>
                <a:latin typeface="Segoe UI"/>
              </a:defRPr>
            </a:pPr>
            <a:r>
              <a:t>New: 49</a:t>
            </a:r>
          </a:p>
        </p:txBody>
      </p:sp>
      <p:sp>
        <p:nvSpPr>
          <p:cNvPr id="61" name="Rounded Rectangle 60"/>
          <p:cNvSpPr/>
          <p:nvPr/>
        </p:nvSpPr>
        <p:spPr>
          <a:xfrm>
            <a:off x="5972694" y="6217920"/>
            <a:ext cx="623454" cy="228600"/>
          </a:xfrm>
          <a:prstGeom prst="roundRect">
            <a:avLst>
              <a:gd name="adj" fmla="val 10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72694" y="6199632"/>
            <a:ext cx="623454" cy="228600"/>
          </a:xfrm>
          <a:prstGeom prst="rect">
            <a:avLst/>
          </a:prstGeom>
          <a:noFill/>
        </p:spPr>
        <p:txBody>
          <a:bodyPr wrap="square">
            <a:spAutoFit/>
          </a:bodyPr>
          <a:lstStyle/>
          <a:p>
            <a:pPr algn="ctr">
              <a:defRPr sz="900" b="1" i="0">
                <a:solidFill>
                  <a:srgbClr val="6B5F83"/>
                </a:solidFill>
                <a:latin typeface="Segoe UI"/>
              </a:defRPr>
            </a:pPr>
            <a:r>
              <a:t>Renewal: 2</a:t>
            </a:r>
          </a:p>
        </p:txBody>
      </p:sp>
      <p:sp>
        <p:nvSpPr>
          <p:cNvPr id="63" name="Rounded Rectangle 62"/>
          <p:cNvSpPr/>
          <p:nvPr/>
        </p:nvSpPr>
        <p:spPr>
          <a:xfrm>
            <a:off x="7315200" y="4480560"/>
            <a:ext cx="1920240" cy="201168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315200" y="4754880"/>
            <a:ext cx="54864" cy="1463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98080" y="4617720"/>
            <a:ext cx="1554480" cy="320040"/>
          </a:xfrm>
          <a:prstGeom prst="rect">
            <a:avLst/>
          </a:prstGeom>
          <a:noFill/>
        </p:spPr>
        <p:txBody>
          <a:bodyPr wrap="square">
            <a:spAutoFit/>
          </a:bodyPr>
          <a:lstStyle/>
          <a:p>
            <a:pPr algn="l">
              <a:defRPr sz="1500" b="1" i="0">
                <a:solidFill>
                  <a:srgbClr val="1E073B"/>
                </a:solidFill>
                <a:latin typeface="Segoe UI Light"/>
              </a:defRPr>
            </a:pPr>
            <a:r>
              <a:t>April 2026</a:t>
            </a:r>
          </a:p>
        </p:txBody>
      </p:sp>
      <p:sp>
        <p:nvSpPr>
          <p:cNvPr id="66" name="TextBox 65"/>
          <p:cNvSpPr txBox="1"/>
          <p:nvPr/>
        </p:nvSpPr>
        <p:spPr>
          <a:xfrm>
            <a:off x="7498080" y="5029200"/>
            <a:ext cx="1554480" cy="274320"/>
          </a:xfrm>
          <a:prstGeom prst="rect">
            <a:avLst/>
          </a:prstGeom>
          <a:noFill/>
        </p:spPr>
        <p:txBody>
          <a:bodyPr wrap="square">
            <a:spAutoFit/>
          </a:bodyPr>
          <a:lstStyle/>
          <a:p>
            <a:pPr algn="l">
              <a:defRPr sz="1200" b="0" i="0">
                <a:solidFill>
                  <a:srgbClr val="6B5F83"/>
                </a:solidFill>
                <a:latin typeface="Segoe UI"/>
              </a:defRPr>
            </a:pPr>
            <a:r>
              <a:t>47 Accounts</a:t>
            </a:r>
          </a:p>
        </p:txBody>
      </p:sp>
      <p:sp>
        <p:nvSpPr>
          <p:cNvPr id="67" name="TextBox 66"/>
          <p:cNvSpPr txBox="1"/>
          <p:nvPr/>
        </p:nvSpPr>
        <p:spPr>
          <a:xfrm>
            <a:off x="7498080" y="5394960"/>
            <a:ext cx="1554480" cy="365760"/>
          </a:xfrm>
          <a:prstGeom prst="rect">
            <a:avLst/>
          </a:prstGeom>
          <a:noFill/>
        </p:spPr>
        <p:txBody>
          <a:bodyPr wrap="square">
            <a:spAutoFit/>
          </a:bodyPr>
          <a:lstStyle/>
          <a:p>
            <a:pPr algn="l">
              <a:defRPr sz="1800" b="1" i="0">
                <a:solidFill>
                  <a:srgbClr val="10B981"/>
                </a:solidFill>
                <a:latin typeface="Segoe UI"/>
              </a:defRPr>
            </a:pPr>
            <a:r>
              <a:t>GWP  $1.1M</a:t>
            </a:r>
          </a:p>
        </p:txBody>
      </p:sp>
      <p:sp>
        <p:nvSpPr>
          <p:cNvPr id="68" name="TextBox 67"/>
          <p:cNvSpPr txBox="1"/>
          <p:nvPr/>
        </p:nvSpPr>
        <p:spPr>
          <a:xfrm>
            <a:off x="7498080" y="5852160"/>
            <a:ext cx="1554480" cy="274320"/>
          </a:xfrm>
          <a:prstGeom prst="rect">
            <a:avLst/>
          </a:prstGeom>
          <a:noFill/>
        </p:spPr>
        <p:txBody>
          <a:bodyPr wrap="square">
            <a:spAutoFit/>
          </a:bodyPr>
          <a:lstStyle/>
          <a:p>
            <a:pPr algn="l">
              <a:defRPr sz="1300" b="0" i="0">
                <a:solidFill>
                  <a:srgbClr val="6B5F83"/>
                </a:solidFill>
                <a:latin typeface="Segoe UI"/>
              </a:defRPr>
            </a:pPr>
            <a:r>
              <a:t>NWP  $969,603</a:t>
            </a:r>
          </a:p>
        </p:txBody>
      </p:sp>
      <p:sp>
        <p:nvSpPr>
          <p:cNvPr id="69" name="Rounded Rectangle 68"/>
          <p:cNvSpPr/>
          <p:nvPr/>
        </p:nvSpPr>
        <p:spPr>
          <a:xfrm>
            <a:off x="7498080" y="6217920"/>
            <a:ext cx="623454" cy="228600"/>
          </a:xfrm>
          <a:prstGeom prst="roundRect">
            <a:avLst>
              <a:gd name="adj" fmla="val 10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498080" y="6199632"/>
            <a:ext cx="623454" cy="228600"/>
          </a:xfrm>
          <a:prstGeom prst="rect">
            <a:avLst/>
          </a:prstGeom>
          <a:noFill/>
        </p:spPr>
        <p:txBody>
          <a:bodyPr wrap="square">
            <a:spAutoFit/>
          </a:bodyPr>
          <a:lstStyle/>
          <a:p>
            <a:pPr algn="ctr">
              <a:defRPr sz="900" b="1" i="0">
                <a:solidFill>
                  <a:srgbClr val="7C3AED"/>
                </a:solidFill>
                <a:latin typeface="Segoe UI"/>
              </a:defRPr>
            </a:pPr>
            <a:r>
              <a:t>New: 44</a:t>
            </a:r>
          </a:p>
        </p:txBody>
      </p:sp>
      <p:sp>
        <p:nvSpPr>
          <p:cNvPr id="71" name="Rounded Rectangle 70"/>
          <p:cNvSpPr/>
          <p:nvPr/>
        </p:nvSpPr>
        <p:spPr>
          <a:xfrm>
            <a:off x="8258694" y="6217920"/>
            <a:ext cx="623454" cy="228600"/>
          </a:xfrm>
          <a:prstGeom prst="roundRect">
            <a:avLst>
              <a:gd name="adj" fmla="val 10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58694" y="6199632"/>
            <a:ext cx="623454" cy="228600"/>
          </a:xfrm>
          <a:prstGeom prst="rect">
            <a:avLst/>
          </a:prstGeom>
          <a:noFill/>
        </p:spPr>
        <p:txBody>
          <a:bodyPr wrap="square">
            <a:spAutoFit/>
          </a:bodyPr>
          <a:lstStyle/>
          <a:p>
            <a:pPr algn="ctr">
              <a:defRPr sz="900" b="1" i="0">
                <a:solidFill>
                  <a:srgbClr val="6B5F83"/>
                </a:solidFill>
                <a:latin typeface="Segoe UI"/>
              </a:defRPr>
            </a:pPr>
            <a:r>
              <a:t>Renewal: 3</a:t>
            </a:r>
          </a:p>
        </p:txBody>
      </p:sp>
      <p:sp>
        <p:nvSpPr>
          <p:cNvPr id="73" name="Rounded Rectangle 72"/>
          <p:cNvSpPr/>
          <p:nvPr/>
        </p:nvSpPr>
        <p:spPr>
          <a:xfrm>
            <a:off x="9601200" y="4480560"/>
            <a:ext cx="1920240" cy="201168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601200" y="4754880"/>
            <a:ext cx="54864" cy="1463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784080" y="4617720"/>
            <a:ext cx="1554480" cy="320040"/>
          </a:xfrm>
          <a:prstGeom prst="rect">
            <a:avLst/>
          </a:prstGeom>
          <a:noFill/>
        </p:spPr>
        <p:txBody>
          <a:bodyPr wrap="square">
            <a:spAutoFit/>
          </a:bodyPr>
          <a:lstStyle/>
          <a:p>
            <a:pPr algn="l">
              <a:defRPr sz="1500" b="1" i="0">
                <a:solidFill>
                  <a:srgbClr val="1E073B"/>
                </a:solidFill>
                <a:latin typeface="Segoe UI Light"/>
              </a:defRPr>
            </a:pPr>
            <a:r>
              <a:t>May 2026</a:t>
            </a:r>
          </a:p>
        </p:txBody>
      </p:sp>
      <p:sp>
        <p:nvSpPr>
          <p:cNvPr id="76" name="TextBox 75"/>
          <p:cNvSpPr txBox="1"/>
          <p:nvPr/>
        </p:nvSpPr>
        <p:spPr>
          <a:xfrm>
            <a:off x="9784080" y="5029200"/>
            <a:ext cx="1554480" cy="274320"/>
          </a:xfrm>
          <a:prstGeom prst="rect">
            <a:avLst/>
          </a:prstGeom>
          <a:noFill/>
        </p:spPr>
        <p:txBody>
          <a:bodyPr wrap="square">
            <a:spAutoFit/>
          </a:bodyPr>
          <a:lstStyle/>
          <a:p>
            <a:pPr algn="l">
              <a:defRPr sz="1200" b="0" i="0">
                <a:solidFill>
                  <a:srgbClr val="6B5F83"/>
                </a:solidFill>
                <a:latin typeface="Segoe UI"/>
              </a:defRPr>
            </a:pPr>
            <a:r>
              <a:t>48 Accounts</a:t>
            </a:r>
          </a:p>
        </p:txBody>
      </p:sp>
      <p:sp>
        <p:nvSpPr>
          <p:cNvPr id="77" name="TextBox 76"/>
          <p:cNvSpPr txBox="1"/>
          <p:nvPr/>
        </p:nvSpPr>
        <p:spPr>
          <a:xfrm>
            <a:off x="9784080" y="5394960"/>
            <a:ext cx="1554480" cy="365760"/>
          </a:xfrm>
          <a:prstGeom prst="rect">
            <a:avLst/>
          </a:prstGeom>
          <a:noFill/>
        </p:spPr>
        <p:txBody>
          <a:bodyPr wrap="square">
            <a:spAutoFit/>
          </a:bodyPr>
          <a:lstStyle/>
          <a:p>
            <a:pPr algn="l">
              <a:defRPr sz="1800" b="1" i="0">
                <a:solidFill>
                  <a:srgbClr val="10B981"/>
                </a:solidFill>
                <a:latin typeface="Segoe UI"/>
              </a:defRPr>
            </a:pPr>
            <a:r>
              <a:t>GWP  $1.4M</a:t>
            </a:r>
          </a:p>
        </p:txBody>
      </p:sp>
      <p:sp>
        <p:nvSpPr>
          <p:cNvPr id="78" name="TextBox 77"/>
          <p:cNvSpPr txBox="1"/>
          <p:nvPr/>
        </p:nvSpPr>
        <p:spPr>
          <a:xfrm>
            <a:off x="9784080" y="5852160"/>
            <a:ext cx="1554480" cy="274320"/>
          </a:xfrm>
          <a:prstGeom prst="rect">
            <a:avLst/>
          </a:prstGeom>
          <a:noFill/>
        </p:spPr>
        <p:txBody>
          <a:bodyPr wrap="square">
            <a:spAutoFit/>
          </a:bodyPr>
          <a:lstStyle/>
          <a:p>
            <a:pPr algn="l">
              <a:defRPr sz="1300" b="0" i="0">
                <a:solidFill>
                  <a:srgbClr val="6B5F83"/>
                </a:solidFill>
                <a:latin typeface="Segoe UI"/>
              </a:defRPr>
            </a:pPr>
            <a:r>
              <a:t>NWP  $1.2M</a:t>
            </a:r>
          </a:p>
        </p:txBody>
      </p:sp>
      <p:sp>
        <p:nvSpPr>
          <p:cNvPr id="79" name="Rounded Rectangle 78"/>
          <p:cNvSpPr/>
          <p:nvPr/>
        </p:nvSpPr>
        <p:spPr>
          <a:xfrm>
            <a:off x="9784080" y="6217920"/>
            <a:ext cx="623454" cy="228600"/>
          </a:xfrm>
          <a:prstGeom prst="roundRect">
            <a:avLst>
              <a:gd name="adj" fmla="val 10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784080" y="6199632"/>
            <a:ext cx="623454" cy="228600"/>
          </a:xfrm>
          <a:prstGeom prst="rect">
            <a:avLst/>
          </a:prstGeom>
          <a:noFill/>
        </p:spPr>
        <p:txBody>
          <a:bodyPr wrap="square">
            <a:spAutoFit/>
          </a:bodyPr>
          <a:lstStyle/>
          <a:p>
            <a:pPr algn="ctr">
              <a:defRPr sz="900" b="1" i="0">
                <a:solidFill>
                  <a:srgbClr val="7C3AED"/>
                </a:solidFill>
                <a:latin typeface="Segoe UI"/>
              </a:defRPr>
            </a:pPr>
            <a:r>
              <a:t>New: 47</a:t>
            </a:r>
          </a:p>
        </p:txBody>
      </p:sp>
      <p:sp>
        <p:nvSpPr>
          <p:cNvPr id="81" name="Rounded Rectangle 80"/>
          <p:cNvSpPr/>
          <p:nvPr/>
        </p:nvSpPr>
        <p:spPr>
          <a:xfrm>
            <a:off x="10544694" y="6217920"/>
            <a:ext cx="623454" cy="228600"/>
          </a:xfrm>
          <a:prstGeom prst="roundRect">
            <a:avLst>
              <a:gd name="adj" fmla="val 10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0544694" y="6199632"/>
            <a:ext cx="623454" cy="228600"/>
          </a:xfrm>
          <a:prstGeom prst="rect">
            <a:avLst/>
          </a:prstGeom>
          <a:noFill/>
        </p:spPr>
        <p:txBody>
          <a:bodyPr wrap="square">
            <a:spAutoFit/>
          </a:bodyPr>
          <a:lstStyle/>
          <a:p>
            <a:pPr algn="ctr">
              <a:defRPr sz="900" b="1" i="0">
                <a:solidFill>
                  <a:srgbClr val="6B5F83"/>
                </a:solidFill>
                <a:latin typeface="Segoe UI"/>
              </a:defRPr>
            </a:pPr>
            <a:r>
              <a:t>Renewal: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JANUARY 2026 DETAIL</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13 Accounts  |  GWP: $500,726</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274320" y="1463040"/>
          <a:ext cx="11384280" cy="4224528"/>
        </p:xfrm>
        <a:graphic>
          <a:graphicData uri="http://schemas.openxmlformats.org/drawingml/2006/table">
            <a:tbl>
              <a:tblPr firstRow="0" bandRow="0" bandCol="0" lastRow="0">
                <a:tableStyleId>{5C22544A-7EE6-4342-B048-85BDC9FD1C3A}</a:tableStyleId>
              </a:tblPr>
              <a:tblGrid>
                <a:gridCol w="320040"/>
                <a:gridCol w="1828800"/>
                <a:gridCol w="365760"/>
                <a:gridCol w="777240"/>
                <a:gridCol w="640080"/>
                <a:gridCol w="2560320"/>
                <a:gridCol w="1371600"/>
                <a:gridCol w="1280160"/>
                <a:gridCol w="1280160"/>
                <a:gridCol w="960120"/>
              </a:tblGrid>
              <a:tr h="301752">
                <a:tc>
                  <a:txBody>
                    <a:bodyPr/>
                    <a:lstStyle/>
                    <a:p>
                      <a:pPr algn="l">
                        <a:defRPr sz="900" b="1">
                          <a:solidFill>
                            <a:srgbClr val="FFFFFF"/>
                          </a:solidFill>
                          <a:latin typeface="Segoe UI Semibold"/>
                        </a:defRPr>
                      </a:pPr>
                      <a:r>
                        <a: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Insured</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St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Eff Date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Type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BDM</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BDA</a:t>
                      </a:r>
                    </a:p>
                  </a:txBody>
                  <a:tcPr anchor="ctr" marL="76200" marR="76200" marT="38100" marB="38100">
                    <a:solidFill>
                      <a:srgbClr val="5B21B6"/>
                    </a:solidFill>
                    <a:lnL w="0">
                      <a:noFill/>
                    </a:lnL>
                    <a:lnR w="0">
                      <a:noFill/>
                    </a:lnR>
                    <a:lnT w="0">
                      <a:noFill/>
                    </a:lnT>
                    <a:lnB w="0">
                      <a:noFill/>
                    </a:lnB>
                  </a:tcPr>
                </a:tc>
                <a:tc>
                  <a:txBody>
                    <a:bodyPr/>
                    <a:lstStyle/>
                    <a:p>
                      <a:pPr algn="r">
                        <a:defRPr sz="9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r>
              <a:tr h="301752">
                <a:tc>
                  <a:txBody>
                    <a:bodyPr/>
                    <a:lstStyle/>
                    <a:p>
                      <a:pPr algn="ctr">
                        <a:defRPr sz="8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JMS &amp; SONS TRANSPORTATION IN</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2026-01-06</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Safeline Insurance Agency, Inc.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LARISA DAVTYAN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Alexis Berrysmith</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$123,491</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AVS HAULING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PA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2026-01-08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Your Truck Shield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Christian Gomez</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$19,612</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MCH TRUCKING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2026-01-13</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United Advantage Insurance Services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Abir Walters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$13,193</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HUGO REYES</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2026-01-14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Usg Insurance Services Inc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Jeannie Walker</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$152,121</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5</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KULMINDER S GILL</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2026-01-15</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Fredrick B. Roberson Insurance Serv</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Arturo Gonzalez</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Taylor Sloan</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$46,132</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ANTELOPE INVESTMENT ENTERPRI</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2026-01-15</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Noel Cajinas Insurance Agency, Inc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Kenneth Cajina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Derek Janssen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$20,907</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7</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SABATA'S TRUCKING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2026-01-16</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Truckers Insurance Services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Angelica Puente</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$28,405</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KB TRANSPORTATION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NM</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2026-01-20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AMC Agents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Andres Piedrahita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Derrick Leroy</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9</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DIRT PRO INC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2026-01-27</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Elizabeth'S Insurance Services, Inc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Elizabeth Rodriguez</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$17,422</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ETHEREDGE AUTOTRANSPORT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SC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2026-01-27</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Truckers Best Insurance dba Trucker</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Frances Neely</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$14,880</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JC AND SONS TRUCKING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2026-01-28</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DNIS Inc.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David Rodriguez</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Christopher Hayes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$10,072</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GERALD DON GREEN</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2026-01-29</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Justin Robert Insurance Agency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Justin Robert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$53,392</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LIONET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ND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2026-01-30</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American Fleet Insurance</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Justin Feaster</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noFill/>
                    <a:lnL w="0">
                      <a:noFill/>
                    </a:lnL>
                    <a:lnR w="0">
                      <a:noFill/>
                    </a:lnR>
                    <a:lnT w="0">
                      <a:noFill/>
                    </a:lnT>
                    <a:lnB w="0">
                      <a:noFill/>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FEBRUARY 2026 DETAIL</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25 Accounts  |  GWP: $1.1M</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274320" y="1463040"/>
          <a:ext cx="11384280" cy="5431536"/>
        </p:xfrm>
        <a:graphic>
          <a:graphicData uri="http://schemas.openxmlformats.org/drawingml/2006/table">
            <a:tbl>
              <a:tblPr firstRow="0" bandRow="0" bandCol="0" lastRow="0">
                <a:tableStyleId>{5C22544A-7EE6-4342-B048-85BDC9FD1C3A}</a:tableStyleId>
              </a:tblPr>
              <a:tblGrid>
                <a:gridCol w="320040"/>
                <a:gridCol w="1828800"/>
                <a:gridCol w="365760"/>
                <a:gridCol w="777240"/>
                <a:gridCol w="640080"/>
                <a:gridCol w="2560320"/>
                <a:gridCol w="1371600"/>
                <a:gridCol w="1280160"/>
                <a:gridCol w="1280160"/>
                <a:gridCol w="960120"/>
              </a:tblGrid>
              <a:tr h="301752">
                <a:tc>
                  <a:txBody>
                    <a:bodyPr/>
                    <a:lstStyle/>
                    <a:p>
                      <a:pPr algn="l">
                        <a:defRPr sz="900" b="1">
                          <a:solidFill>
                            <a:srgbClr val="FFFFFF"/>
                          </a:solidFill>
                          <a:latin typeface="Segoe UI Semibold"/>
                        </a:defRPr>
                      </a:pPr>
                      <a:r>
                        <a: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Insured</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St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Eff Date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Type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BDM</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BDA</a:t>
                      </a:r>
                    </a:p>
                  </a:txBody>
                  <a:tcPr anchor="ctr" marL="76200" marR="76200" marT="38100" marB="38100">
                    <a:solidFill>
                      <a:srgbClr val="5B21B6"/>
                    </a:solidFill>
                    <a:lnL w="0">
                      <a:noFill/>
                    </a:lnL>
                    <a:lnR w="0">
                      <a:noFill/>
                    </a:lnR>
                    <a:lnT w="0">
                      <a:noFill/>
                    </a:lnT>
                    <a:lnB w="0">
                      <a:noFill/>
                    </a:lnB>
                  </a:tcPr>
                </a:tc>
                <a:tc>
                  <a:txBody>
                    <a:bodyPr/>
                    <a:lstStyle/>
                    <a:p>
                      <a:pPr algn="r">
                        <a:defRPr sz="9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r>
              <a:tr h="301752">
                <a:tc>
                  <a:txBody>
                    <a:bodyPr/>
                    <a:lstStyle/>
                    <a:p>
                      <a:pPr algn="ctr">
                        <a:defRPr sz="8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QUINONES TRUCKING INC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2026-02-04</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DNIS Inc.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David Rodriguez</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Christopher Hayes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$19,097</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LOGISTICS PLUS</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2026-02-04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Western Truck Insurance Services, I</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Bart Proud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$22,640</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GUILLEN TRUCKING INC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2026-02-05</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Safeline Insurance Agency, Inc.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LARISA DAVTYAN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Alexis Berrysmith</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$136,077</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ROGO ENTERPRISE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PA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2026-02-06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Exclusive Financial Services, Inc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Venizelos Papadopulo</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$40,825</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5</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BIG AND TOUGH TRUCKERS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2026-02-13</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Waypoint Agency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Zachary Flowers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$26,262</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TELEKINESIS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2026-02-15</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7C3AED"/>
                          </a:solidFill>
                          <a:latin typeface="Segoe UI"/>
                        </a:defRPr>
                      </a:pPr>
                      <a:r>
                        <a:t>Ren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Paramount Exclusive Insurance Servi</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Jessenia Duran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Derek Janssen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$169,896</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7</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TELEKINESIS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2026-02-15</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Paramount Exclusive Insurance Servi</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Yulia Shostak</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Derek Janssen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$205,197</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JUSTIN DEWAYNE DUPREE</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2026-02-17</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Combined Insurance &amp; Tax of Florida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Mustapha Rahal</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$11,370</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9</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JOSE DIMAS HERNANDEZ</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2026-02-17</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Cover Badger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Cover Badger</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$18,530</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F FLORES TRUCKING INC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2026-02-18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7C3AED"/>
                          </a:solidFill>
                          <a:latin typeface="Segoe UI"/>
                        </a:defRPr>
                      </a:pPr>
                      <a:r>
                        <a:t>Ren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Christian Charles Insurance Service</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Betty Reyes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Lydia Ramos</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$109,097</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ZEUS TRANSPORT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2026-02-18</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Insurance4Truckers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Fernando Trevino</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$20,583</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H AND M TRUCKING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2026-02-19</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Appalachian Underwriters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Jeff Ornelas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James Reid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$20,444</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JOHNSON TRUCKING ENTERPRISE </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CO</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2026-02-19</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Resolute Insurance Group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Colton Duty</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Derrick Leroy</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$22,421</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BIG BOSS TRUCKING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NJ</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2026-02-19</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R-T Specialty,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Lynda Inderjeet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$8,225</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15</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G&amp;Z TRANSPORTATION INC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2026-02-21</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United Advantage Insurance Services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Cecile Awad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$20,094</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VIRMAE MARIE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2026-02-23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Insurance4Truckers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Brandon Durham</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$26,892</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17</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GLM TRUCKING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2026-02-23</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USA SPECIALTY INSURANCE/DBA PREVENT</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John Medina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Ron Douglas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$16,359</a:t>
                      </a:r>
                    </a:p>
                  </a:txBody>
                  <a:tcPr anchor="ctr" marL="76200" marR="76200" marT="38100" marB="38100">
                    <a:noFill/>
                    <a:lnL w="0">
                      <a:noFill/>
                    </a:lnL>
                    <a:lnR w="0">
                      <a:noFill/>
                    </a:lnR>
                    <a:lnT w="0">
                      <a:noFill/>
                    </a:lnT>
                    <a:lnB w="0">
                      <a:noFill/>
                    </a:lnB>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MARCH 2026 DETAIL</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51 Accounts  |  GWP: $1.2M</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274320" y="1463040"/>
          <a:ext cx="11384280" cy="5431536"/>
        </p:xfrm>
        <a:graphic>
          <a:graphicData uri="http://schemas.openxmlformats.org/drawingml/2006/table">
            <a:tbl>
              <a:tblPr firstRow="0" bandRow="0" bandCol="0" lastRow="0">
                <a:tableStyleId>{5C22544A-7EE6-4342-B048-85BDC9FD1C3A}</a:tableStyleId>
              </a:tblPr>
              <a:tblGrid>
                <a:gridCol w="320040"/>
                <a:gridCol w="1828800"/>
                <a:gridCol w="365760"/>
                <a:gridCol w="777240"/>
                <a:gridCol w="640080"/>
                <a:gridCol w="2560320"/>
                <a:gridCol w="1371600"/>
                <a:gridCol w="1280160"/>
                <a:gridCol w="1280160"/>
                <a:gridCol w="960120"/>
              </a:tblGrid>
              <a:tr h="301752">
                <a:tc>
                  <a:txBody>
                    <a:bodyPr/>
                    <a:lstStyle/>
                    <a:p>
                      <a:pPr algn="l">
                        <a:defRPr sz="900" b="1">
                          <a:solidFill>
                            <a:srgbClr val="FFFFFF"/>
                          </a:solidFill>
                          <a:latin typeface="Segoe UI Semibold"/>
                        </a:defRPr>
                      </a:pPr>
                      <a:r>
                        <a: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Insured</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St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Eff Date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Type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BDM</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BDA</a:t>
                      </a:r>
                    </a:p>
                  </a:txBody>
                  <a:tcPr anchor="ctr" marL="76200" marR="76200" marT="38100" marB="38100">
                    <a:solidFill>
                      <a:srgbClr val="5B21B6"/>
                    </a:solidFill>
                    <a:lnL w="0">
                      <a:noFill/>
                    </a:lnL>
                    <a:lnR w="0">
                      <a:noFill/>
                    </a:lnR>
                    <a:lnT w="0">
                      <a:noFill/>
                    </a:lnT>
                    <a:lnB w="0">
                      <a:noFill/>
                    </a:lnB>
                  </a:tcPr>
                </a:tc>
                <a:tc>
                  <a:txBody>
                    <a:bodyPr/>
                    <a:lstStyle/>
                    <a:p>
                      <a:pPr algn="r">
                        <a:defRPr sz="9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r>
              <a:tr h="301752">
                <a:tc>
                  <a:txBody>
                    <a:bodyPr/>
                    <a:lstStyle/>
                    <a:p>
                      <a:pPr algn="ctr">
                        <a:defRPr sz="8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GREGORY SNOPEL</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2026-03-01</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United Advantage Insurance Services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Cecile Awad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$10,523</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GOLDEN FLEXIT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2026-03-02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Cover Badger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Cover Badger</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$12,625</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ERICK RAMOS</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2026-03-03</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AMC Agents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Carlos Ochoa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Derrick Leroy</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PAVETEX MATERIALS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2026-03-03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AMC Agents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Carlos Ochoa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Derrick Leroy</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$10,604</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5</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PAUL VALENCIA</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2026-03-04</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CRC Insurance Services, Inc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Stephanie Castro</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$18,933</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7 V 7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2026-03-05</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Valion Security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Mary Davis-Spivak</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Ron Douglas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$11,786</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7</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4hawk Trucking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LA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2026-03-05</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Cover Me Insurance Agency of NJ, In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Jesus Peralta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SCORPIO FREIGHT LINES INC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2026-03-06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Alex Rue Insurance Agency, Inc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Alexander Rue</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Alexis Berrysmith</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$19,077</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9</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RS GILL INC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2026-03-06</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MST INSURANCE SERVICES INC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Manmdeep Thiara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$26,215</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JFAAMA TRANSPORT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2026-03-07</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Truckers Insurance Services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Angelica Puente</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$14,583</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JGJ TRUCKING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2026-03-07</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DNIS Inc.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David Rodriguez</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Christopher Hayes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$26,061</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RUBIKON GROUP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2026-03-09</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DNIS Inc.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Nicole Rodriguez</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Christopher Hayes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$19,601</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RIOS TRANSPORT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2026-03-10</a:t>
                      </a:r>
                    </a:p>
                  </a:txBody>
                  <a:tcPr anchor="ctr" marL="76200" marR="76200" marT="38100" marB="38100">
                    <a:noFill/>
                    <a:lnL w="0">
                      <a:noFill/>
                    </a:lnL>
                    <a:lnR w="0">
                      <a:noFill/>
                    </a:lnR>
                    <a:lnT w="0">
                      <a:noFill/>
                    </a:lnT>
                    <a:lnB w="0">
                      <a:noFill/>
                    </a:lnB>
                  </a:tcPr>
                </a:tc>
                <a:tc>
                  <a:txBody>
                    <a:bodyPr/>
                    <a:lstStyle/>
                    <a:p>
                      <a:pPr algn="l">
                        <a:defRPr sz="800" b="1">
                          <a:solidFill>
                            <a:srgbClr val="7C3AED"/>
                          </a:solidFill>
                          <a:latin typeface="Segoe UI"/>
                        </a:defRPr>
                      </a:pPr>
                      <a:r>
                        <a:t>Ren</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VL 17 Insurance Agency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Edgar Barzaga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Alexis Berrysmith</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PRIME LOGISTIC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MI</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2026-03-10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United Advantage Insurance Services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Cecile Awad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$14,033</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15</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APOLLO ENERGY SERVICES INC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2026-03-10</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Cover Badger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Cover Badger</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$24,528</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ACD 4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2026-03-10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AMC Agents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Andres Piedrahita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Derrick Leroy</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$46,272</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17</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MISAEL BALDERAS</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2026-03-12</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Garzor Insurance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Diana Munoz</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Portia Lewis</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$23,662</a:t>
                      </a:r>
                    </a:p>
                  </a:txBody>
                  <a:tcPr anchor="ctr" marL="76200" marR="76200" marT="38100" marB="38100">
                    <a:noFill/>
                    <a:lnL w="0">
                      <a:noFill/>
                    </a:lnL>
                    <a:lnR w="0">
                      <a:noFill/>
                    </a:lnR>
                    <a:lnT w="0">
                      <a:noFill/>
                    </a:lnT>
                    <a:lnB w="0">
                      <a:noFill/>
                    </a:lnB>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APRIL 2026 DETAIL</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47 Accounts  |  GWP: $1.1M</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274320" y="1463040"/>
          <a:ext cx="11384280" cy="5431536"/>
        </p:xfrm>
        <a:graphic>
          <a:graphicData uri="http://schemas.openxmlformats.org/drawingml/2006/table">
            <a:tbl>
              <a:tblPr firstRow="0" bandRow="0" bandCol="0" lastRow="0">
                <a:tableStyleId>{5C22544A-7EE6-4342-B048-85BDC9FD1C3A}</a:tableStyleId>
              </a:tblPr>
              <a:tblGrid>
                <a:gridCol w="320040"/>
                <a:gridCol w="1828800"/>
                <a:gridCol w="365760"/>
                <a:gridCol w="777240"/>
                <a:gridCol w="640080"/>
                <a:gridCol w="2560320"/>
                <a:gridCol w="1371600"/>
                <a:gridCol w="1280160"/>
                <a:gridCol w="1280160"/>
                <a:gridCol w="960120"/>
              </a:tblGrid>
              <a:tr h="301752">
                <a:tc>
                  <a:txBody>
                    <a:bodyPr/>
                    <a:lstStyle/>
                    <a:p>
                      <a:pPr algn="l">
                        <a:defRPr sz="900" b="1">
                          <a:solidFill>
                            <a:srgbClr val="FFFFFF"/>
                          </a:solidFill>
                          <a:latin typeface="Segoe UI Semibold"/>
                        </a:defRPr>
                      </a:pPr>
                      <a:r>
                        <a: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Insured</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St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Eff Date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Type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BDM</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BDA</a:t>
                      </a:r>
                    </a:p>
                  </a:txBody>
                  <a:tcPr anchor="ctr" marL="76200" marR="76200" marT="38100" marB="38100">
                    <a:solidFill>
                      <a:srgbClr val="5B21B6"/>
                    </a:solidFill>
                    <a:lnL w="0">
                      <a:noFill/>
                    </a:lnL>
                    <a:lnR w="0">
                      <a:noFill/>
                    </a:lnR>
                    <a:lnT w="0">
                      <a:noFill/>
                    </a:lnT>
                    <a:lnB w="0">
                      <a:noFill/>
                    </a:lnB>
                  </a:tcPr>
                </a:tc>
                <a:tc>
                  <a:txBody>
                    <a:bodyPr/>
                    <a:lstStyle/>
                    <a:p>
                      <a:pPr algn="r">
                        <a:defRPr sz="9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r>
              <a:tr h="301752">
                <a:tc>
                  <a:txBody>
                    <a:bodyPr/>
                    <a:lstStyle/>
                    <a:p>
                      <a:pPr algn="ctr">
                        <a:defRPr sz="8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24 LOGISTICS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2026-04-01</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Mohsen Ins.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Zane Mohsen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Derek Janssen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$87,610</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FAVIO VALDEZ</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2026-04-01</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Armor Texas Insurance Agency, Inc.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HEDY PENA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$14,564</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LEO ACOSTA TRUCKING SERVICES</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2026-04-01</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H2O Commercial Insurance Agency Cor</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Jenny Joya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$20,481</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WATER IS GOD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2026-04-02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Shamrock Insurance Agency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Shamrock Holak</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Alexis Berrysmith</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5</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ALFREDO TRUCKING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NH</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2026-04-03</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USA SPECIALTY INSURANCE/DBA PREVENT</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John Medina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Ron Douglas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$12,128</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SOUTHWEST CARRIER INC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2026-04-03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Truck Secure Insurance Services, In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Michelle Malkhasyan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$47,797</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7</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CLYO TRUCKING COMPANY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GA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2026-04-03</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Direct Insurance Agency Of Texas LL</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Ben Mosley</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$25,747</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BLHN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2026-04-04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Appalachian Underwriters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Jeff Ornelas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James Reid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$21,943</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9</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CALIFORNIA DUMPSTER RENTALS </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2026-04-04</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Shirazi agency Inc. DBA Sina Insura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Sina Hossein Shirazi</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Antonio Reyes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$20,266</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Christian Tejeda</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2026-04-06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SSB Insurance Services LLC DBA Free</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Emiliano Hernandez</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HANDS TRUCKING AND HAULING L</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GA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2026-04-07</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Valley Insurance Service Inc. dba I</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Jeffrey Holly</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$12,556</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C M LONG TRUCKING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PA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2026-04-07</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Erwin Agency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Cade Erwin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Cameron Brader</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$58,633</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UN TRANS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2026-04-08</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United Advantage Insurance Services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Cecile Awad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$15,683</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LUMBRERAS TRUCKING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2026-04-08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7C3AED"/>
                          </a:solidFill>
                          <a:latin typeface="Segoe UI"/>
                        </a:defRPr>
                      </a:pPr>
                      <a:r>
                        <a:t>Ren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Horizons Insurance And Financial Se</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Diego Giraldo</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Antonio Reyes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$14,980</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15</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GARCHA TRANS INC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2026-04-09</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First Connect Insurance</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Mehtab Singh Kahlon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$22,157</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CIRCLE CITY TRUCKING INC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NC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2026-04-09</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Tailor'D Insurance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Todd Chafee</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Erika Cabrera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$11,445</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17</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Boyd Transportation and Cons</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MS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2026-04-09</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Waypoint Agency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Amy Flowers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noFill/>
                    <a:lnL w="0">
                      <a:noFill/>
                    </a:lnL>
                    <a:lnR w="0">
                      <a:noFill/>
                    </a:lnR>
                    <a:lnT w="0">
                      <a:noFill/>
                    </a:lnT>
                    <a:lnB w="0">
                      <a:no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2026-05 DETAIL</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48 Accounts  |  GWP: $1.4M</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274320" y="1463040"/>
          <a:ext cx="11384280" cy="5431536"/>
        </p:xfrm>
        <a:graphic>
          <a:graphicData uri="http://schemas.openxmlformats.org/drawingml/2006/table">
            <a:tbl>
              <a:tblPr firstRow="0" bandRow="0" bandCol="0" lastRow="0">
                <a:tableStyleId>{5C22544A-7EE6-4342-B048-85BDC9FD1C3A}</a:tableStyleId>
              </a:tblPr>
              <a:tblGrid>
                <a:gridCol w="320040"/>
                <a:gridCol w="1828800"/>
                <a:gridCol w="365760"/>
                <a:gridCol w="777240"/>
                <a:gridCol w="640080"/>
                <a:gridCol w="2560320"/>
                <a:gridCol w="1371600"/>
                <a:gridCol w="1280160"/>
                <a:gridCol w="1280160"/>
                <a:gridCol w="960120"/>
              </a:tblGrid>
              <a:tr h="301752">
                <a:tc>
                  <a:txBody>
                    <a:bodyPr/>
                    <a:lstStyle/>
                    <a:p>
                      <a:pPr algn="l">
                        <a:defRPr sz="900" b="1">
                          <a:solidFill>
                            <a:srgbClr val="FFFFFF"/>
                          </a:solidFill>
                          <a:latin typeface="Segoe UI Semibold"/>
                        </a:defRPr>
                      </a:pPr>
                      <a:r>
                        <a: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Insured</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St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Eff Date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Type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Agent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BDM</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BDA</a:t>
                      </a:r>
                    </a:p>
                  </a:txBody>
                  <a:tcPr anchor="ctr" marL="76200" marR="76200" marT="38100" marB="38100">
                    <a:solidFill>
                      <a:srgbClr val="5B21B6"/>
                    </a:solidFill>
                    <a:lnL w="0">
                      <a:noFill/>
                    </a:lnL>
                    <a:lnR w="0">
                      <a:noFill/>
                    </a:lnR>
                    <a:lnT w="0">
                      <a:noFill/>
                    </a:lnT>
                    <a:lnB w="0">
                      <a:noFill/>
                    </a:lnB>
                  </a:tcPr>
                </a:tc>
                <a:tc>
                  <a:txBody>
                    <a:bodyPr/>
                    <a:lstStyle/>
                    <a:p>
                      <a:pPr algn="r">
                        <a:defRPr sz="9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r>
              <a:tr h="301752">
                <a:tc>
                  <a:txBody>
                    <a:bodyPr/>
                    <a:lstStyle/>
                    <a:p>
                      <a:pPr algn="ctr">
                        <a:defRPr sz="8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MK AND ZOE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OH</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2026-05-01</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United Advantage Insurance Services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Cecile Awad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$18,316</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C A F C H LOGISTICS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2026-05-01</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First Connect Insurance</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Angelica Barajas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$18,914</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HARPER FREIGHT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UT</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2026-05-01</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United Advantage Insurance Services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Cecile Awad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CORNEJO TRUCKING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2026-05-03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Your Truck Shield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Christian Gomez</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$12,186</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5</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Sabor Transport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LA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2026-05-04</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Cover Me Insurance Agency of NJ, In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Jesus Peralta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$550</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MC FABRICATION &amp; EXCAVATION </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ID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2026-05-04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Walker Insurance Agency, Inc.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Michael Erbes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Alexis Berrysmith</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$15,764</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7</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WINKFIELD TRUCKING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2026-05-05</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Justin Robert Insurance Agency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Justin Robert</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$19,922</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VER-GLEN TRUCKING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GA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2026-05-05</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Ins Professionals Of Georgia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Christina Battle</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Portia Lewis</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$49,796</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9</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3D MARTI TRANSPORT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2026-05-06</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Dream Assurance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Kevin Patrick Morris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$37,494</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David Castillo III</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2026-05-06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Cover Badger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Cover Badger</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$17,448</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11</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CLEVELAND LOGISTICS INC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2026-05-07</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Justin Robert Insurance Agency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Justin Robert</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$52,417</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12</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JUAN MOLINA</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2026-05-07</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Legacy Truck Insurance Agency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Jimmy Martinez</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$18,638</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13</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WISE TRUCKING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2026-05-08</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First Connect Insurance</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Omar Elmanzalawy</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$18,087</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14</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SILVAS TRUCKING SERVICES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2026-05-08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Valion Security LLC</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Mary Davis-Spivak</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Ron Douglas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$23,499</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15</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LOGISTICS MILES &amp; MILES TRUC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2026-05-08</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United Advantage Insurance Services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Cecile Awad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$24,686</a:t>
                      </a:r>
                    </a:p>
                  </a:txBody>
                  <a:tcPr anchor="ctr" marL="76200" marR="76200" marT="38100" marB="38100">
                    <a:noFill/>
                    <a:lnL w="0">
                      <a:noFill/>
                    </a:lnL>
                    <a:lnR w="0">
                      <a:noFill/>
                    </a:lnR>
                    <a:lnT w="0">
                      <a:noFill/>
                    </a:lnT>
                    <a:lnB w="0">
                      <a:noFill/>
                    </a:lnB>
                  </a:tcPr>
                </a:tc>
              </a:tr>
              <a:tr h="301752">
                <a:tc>
                  <a:txBody>
                    <a:bodyPr/>
                    <a:lstStyle/>
                    <a:p>
                      <a:pPr algn="ctr">
                        <a:defRPr sz="800" b="0">
                          <a:solidFill>
                            <a:srgbClr val="6B5F83"/>
                          </a:solidFill>
                          <a:latin typeface="Segoe UI"/>
                        </a:defRPr>
                      </a:pPr>
                      <a:r>
                        <a:t>16</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E073B"/>
                          </a:solidFill>
                          <a:latin typeface="Segoe UI"/>
                        </a:defRPr>
                      </a:pPr>
                      <a:r>
                        <a:t>BRUNSON TRANSPORT LLC</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2026-05-08</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Truckers Best Insurance dba Trucker</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Daniel Raykes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$23,748</a:t>
                      </a:r>
                    </a:p>
                  </a:txBody>
                  <a:tcPr anchor="ctr" marL="76200" marR="76200" marT="38100" marB="38100">
                    <a:solidFill>
                      <a:srgbClr val="F5F3FF"/>
                    </a:solidFill>
                    <a:lnL w="0">
                      <a:noFill/>
                    </a:lnL>
                    <a:lnR w="0">
                      <a:noFill/>
                    </a:lnR>
                    <a:lnT w="0">
                      <a:noFill/>
                    </a:lnT>
                    <a:lnB w="0">
                      <a:noFill/>
                    </a:lnB>
                  </a:tcPr>
                </a:tc>
              </a:tr>
              <a:tr h="301752">
                <a:tc>
                  <a:txBody>
                    <a:bodyPr/>
                    <a:lstStyle/>
                    <a:p>
                      <a:pPr algn="ctr">
                        <a:defRPr sz="800" b="0">
                          <a:solidFill>
                            <a:srgbClr val="6B5F83"/>
                          </a:solidFill>
                          <a:latin typeface="Segoe UI"/>
                        </a:defRPr>
                      </a:pPr>
                      <a:r>
                        <a:t>17</a:t>
                      </a:r>
                    </a:p>
                  </a:txBody>
                  <a:tcPr anchor="ctr" marL="76200" marR="76200" marT="38100" marB="38100">
                    <a:noFill/>
                    <a:lnL w="0">
                      <a:noFill/>
                    </a:lnL>
                    <a:lnR w="0">
                      <a:noFill/>
                    </a:lnR>
                    <a:lnT w="0">
                      <a:noFill/>
                    </a:lnT>
                    <a:lnB w="0">
                      <a:noFill/>
                    </a:lnB>
                  </a:tcPr>
                </a:tc>
                <a:tc>
                  <a:txBody>
                    <a:bodyPr/>
                    <a:lstStyle/>
                    <a:p>
                      <a:pPr algn="l">
                        <a:defRPr sz="800" b="1">
                          <a:solidFill>
                            <a:srgbClr val="1E073B"/>
                          </a:solidFill>
                          <a:latin typeface="Segoe UI"/>
                        </a:defRPr>
                      </a:pPr>
                      <a:r>
                        <a:t>BROTHERS HAULING LLC</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CA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2026-05-09</a:t>
                      </a:r>
                    </a:p>
                  </a:txBody>
                  <a:tcPr anchor="ctr" marL="76200" marR="76200" marT="38100" marB="38100">
                    <a:noFill/>
                    <a:lnL w="0">
                      <a:noFill/>
                    </a:lnL>
                    <a:lnR w="0">
                      <a:noFill/>
                    </a:lnR>
                    <a:lnT w="0">
                      <a:noFill/>
                    </a:lnT>
                    <a:lnB w="0">
                      <a:noFill/>
                    </a:lnB>
                  </a:tcPr>
                </a:tc>
                <a:tc>
                  <a:txBody>
                    <a:bodyPr/>
                    <a:lstStyle/>
                    <a:p>
                      <a:pPr algn="l">
                        <a:defRPr sz="800" b="1">
                          <a:solidFill>
                            <a:srgbClr val="10B981"/>
                          </a:solidFill>
                          <a:latin typeface="Segoe UI"/>
                        </a:defRPr>
                      </a:pPr>
                      <a:r>
                        <a:t>New</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Western Truck Insurance Services, I</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Bart Proud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N/A</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$20,730</a:t>
                      </a:r>
                    </a:p>
                  </a:txBody>
                  <a:tcPr anchor="ctr" marL="76200" marR="76200" marT="38100" marB="38100">
                    <a:noFill/>
                    <a:lnL w="0">
                      <a:noFill/>
                    </a:lnL>
                    <a:lnR w="0">
                      <a:noFill/>
                    </a:lnR>
                    <a:lnT w="0">
                      <a:noFill/>
                    </a:lnT>
                    <a:lnB w="0">
                      <a:noFill/>
                    </a:lnB>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TOP PRODUCING AGENCIES</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Ranked by Gross Written Premium</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365760" y="1463040"/>
          <a:ext cx="9326880" cy="4974336"/>
        </p:xfrm>
        <a:graphic>
          <a:graphicData uri="http://schemas.openxmlformats.org/drawingml/2006/table">
            <a:tbl>
              <a:tblPr firstRow="0" bandRow="0" bandCol="0" lastRow="0">
                <a:tableStyleId>{5C22544A-7EE6-4342-B048-85BDC9FD1C3A}</a:tableStyleId>
              </a:tblPr>
              <a:tblGrid>
                <a:gridCol w="365760"/>
                <a:gridCol w="3200400"/>
                <a:gridCol w="2286000"/>
                <a:gridCol w="731520"/>
                <a:gridCol w="1645920"/>
                <a:gridCol w="1097280"/>
              </a:tblGrid>
              <a:tr h="310896">
                <a:tc>
                  <a:txBody>
                    <a:bodyPr/>
                    <a:lstStyle/>
                    <a:p>
                      <a:pPr algn="l">
                        <a:defRPr sz="1000" b="1">
                          <a:solidFill>
                            <a:srgbClr val="FFFFFF"/>
                          </a:solidFill>
                          <a:latin typeface="Segoe UI Semibold"/>
                        </a:defRPr>
                      </a:pPr>
                      <a:r>
                        <a:t>#</a:t>
                      </a:r>
                    </a:p>
                  </a:txBody>
                  <a:tcPr anchor="ctr" marL="76200" marR="76200" marT="38100" marB="38100">
                    <a:solidFill>
                      <a:srgbClr val="5B21B6"/>
                    </a:solidFill>
                    <a:lnL w="0">
                      <a:noFill/>
                    </a:lnL>
                    <a:lnR w="0">
                      <a:noFill/>
                    </a:lnR>
                    <a:lnT w="0">
                      <a:noFill/>
                    </a:lnT>
                    <a:lnB w="0">
                      <a:noFill/>
                    </a:lnB>
                  </a:tcPr>
                </a:tc>
                <a:tc>
                  <a:txBody>
                    <a:bodyPr/>
                    <a:lstStyle/>
                    <a:p>
                      <a:pPr algn="l">
                        <a:defRPr sz="10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l">
                        <a:defRPr sz="1000" b="1">
                          <a:solidFill>
                            <a:srgbClr val="FFFFFF"/>
                          </a:solidFill>
                          <a:latin typeface="Segoe UI Semibold"/>
                        </a:defRPr>
                      </a:pPr>
                      <a:r>
                        <a:t>Agent(s)</a:t>
                      </a:r>
                    </a:p>
                  </a:txBody>
                  <a:tcPr anchor="ctr" marL="76200" marR="76200" marT="38100" marB="38100">
                    <a:solidFill>
                      <a:srgbClr val="5B21B6"/>
                    </a:solidFill>
                    <a:lnL w="0">
                      <a:noFill/>
                    </a:lnL>
                    <a:lnR w="0">
                      <a:noFill/>
                    </a:lnR>
                    <a:lnT w="0">
                      <a:noFill/>
                    </a:lnT>
                    <a:lnB w="0">
                      <a:noFill/>
                    </a:lnB>
                  </a:tcPr>
                </a:tc>
                <a:tc>
                  <a:txBody>
                    <a:bodyPr/>
                    <a:lstStyle/>
                    <a:p>
                      <a:pPr algn="r">
                        <a:defRPr sz="1000" b="1">
                          <a:solidFill>
                            <a:srgbClr val="FFFFFF"/>
                          </a:solidFill>
                          <a:latin typeface="Segoe UI Semibold"/>
                        </a:defRPr>
                      </a:pPr>
                      <a:r>
                        <a:t>Accts</a:t>
                      </a:r>
                    </a:p>
                  </a:txBody>
                  <a:tcPr anchor="ctr" marL="76200" marR="76200" marT="38100" marB="38100">
                    <a:solidFill>
                      <a:srgbClr val="5B21B6"/>
                    </a:solidFill>
                    <a:lnL w="0">
                      <a:noFill/>
                    </a:lnL>
                    <a:lnR w="0">
                      <a:noFill/>
                    </a:lnR>
                    <a:lnT w="0">
                      <a:noFill/>
                    </a:lnT>
                    <a:lnB w="0">
                      <a:noFill/>
                    </a:lnB>
                  </a:tcPr>
                </a:tc>
                <a:tc>
                  <a:txBody>
                    <a:bodyPr/>
                    <a:lstStyle/>
                    <a:p>
                      <a:pPr algn="r">
                        <a:defRPr sz="10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c>
                  <a:txBody>
                    <a:bodyPr/>
                    <a:lstStyle/>
                    <a:p>
                      <a:pPr algn="r">
                        <a:defRPr sz="1000" b="1">
                          <a:solidFill>
                            <a:srgbClr val="FFFFFF"/>
                          </a:solidFill>
                          <a:latin typeface="Segoe UI Semibold"/>
                        </a:defRPr>
                      </a:pPr>
                      <a:r>
                        <a:t>Share</a:t>
                      </a:r>
                    </a:p>
                  </a:txBody>
                  <a:tcPr anchor="ctr" marL="76200" marR="76200" marT="38100" marB="38100">
                    <a:solidFill>
                      <a:srgbClr val="5B21B6"/>
                    </a:solidFill>
                    <a:lnL w="0">
                      <a:noFill/>
                    </a:lnL>
                    <a:lnR w="0">
                      <a:noFill/>
                    </a:lnR>
                    <a:lnT w="0">
                      <a:noFill/>
                    </a:lnT>
                    <a:lnB w="0">
                      <a:noFill/>
                    </a:lnB>
                  </a:tcPr>
                </a:tc>
              </a:tr>
              <a:tr h="310896">
                <a:tc>
                  <a:txBody>
                    <a:bodyPr/>
                    <a:lstStyle/>
                    <a:p>
                      <a:pPr algn="ctr">
                        <a:defRPr sz="1000" b="1">
                          <a:solidFill>
                            <a:srgbClr val="F59E0B"/>
                          </a:solidFill>
                          <a:latin typeface="Segoe UI"/>
                        </a:defRPr>
                      </a:pPr>
                      <a:r>
                        <a:t>1</a:t>
                      </a:r>
                    </a:p>
                  </a:txBody>
                  <a:tcPr anchor="ctr" marL="76200" marR="76200" marT="38100" marB="38100">
                    <a:noFill/>
                    <a:lnL w="0">
                      <a:noFill/>
                    </a:lnL>
                    <a:lnR w="0">
                      <a:noFill/>
                    </a:lnR>
                    <a:lnT w="0">
                      <a:noFill/>
                    </a:lnT>
                    <a:lnB w="0">
                      <a:noFill/>
                    </a:lnB>
                  </a:tcPr>
                </a:tc>
                <a:tc>
                  <a:txBody>
                    <a:bodyPr/>
                    <a:lstStyle/>
                    <a:p>
                      <a:pPr algn="l">
                        <a:defRPr sz="900" b="1">
                          <a:solidFill>
                            <a:srgbClr val="1E073B"/>
                          </a:solidFill>
                          <a:latin typeface="Segoe UI"/>
                        </a:defRPr>
                      </a:pPr>
                      <a:r>
                        <a:t>Cover Badger LLC</a:t>
                      </a:r>
                    </a:p>
                  </a:txBody>
                  <a:tcPr anchor="ctr" marL="76200" marR="76200" marT="38100" marB="38100">
                    <a:noFill/>
                    <a:lnL w="0">
                      <a:noFill/>
                    </a:lnL>
                    <a:lnR w="0">
                      <a:noFill/>
                    </a:lnR>
                    <a:lnT w="0">
                      <a:noFill/>
                    </a:lnT>
                    <a:lnB w="0">
                      <a:noFill/>
                    </a:lnB>
                  </a:tcPr>
                </a:tc>
                <a:tc>
                  <a:txBody>
                    <a:bodyPr/>
                    <a:lstStyle/>
                    <a:p>
                      <a:pPr algn="l">
                        <a:defRPr sz="900" b="0">
                          <a:solidFill>
                            <a:srgbClr val="6B5F83"/>
                          </a:solidFill>
                          <a:latin typeface="Segoe UI"/>
                        </a:defRPr>
                      </a:pPr>
                      <a:r>
                        <a:t>Cover Badger</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14</a:t>
                      </a:r>
                    </a:p>
                  </a:txBody>
                  <a:tcPr anchor="ctr" marL="76200" marR="76200" marT="38100" marB="38100">
                    <a:noFill/>
                    <a:lnL w="0">
                      <a:noFill/>
                    </a:lnL>
                    <a:lnR w="0">
                      <a:noFill/>
                    </a:lnR>
                    <a:lnT w="0">
                      <a:noFill/>
                    </a:lnT>
                    <a:lnB w="0">
                      <a:noFill/>
                    </a:lnB>
                  </a:tcPr>
                </a:tc>
                <a:tc>
                  <a:txBody>
                    <a:bodyPr/>
                    <a:lstStyle/>
                    <a:p>
                      <a:pPr algn="r">
                        <a:defRPr sz="1000" b="1">
                          <a:solidFill>
                            <a:srgbClr val="1E073B"/>
                          </a:solidFill>
                          <a:latin typeface="Segoe UI"/>
                        </a:defRPr>
                      </a:pPr>
                      <a:r>
                        <a:t>$702,093</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13.5%</a:t>
                      </a:r>
                    </a:p>
                  </a:txBody>
                  <a:tcPr anchor="ctr" marL="76200" marR="76200" marT="38100" marB="38100">
                    <a:noFill/>
                    <a:lnL w="0">
                      <a:noFill/>
                    </a:lnL>
                    <a:lnR w="0">
                      <a:noFill/>
                    </a:lnR>
                    <a:lnT w="0">
                      <a:noFill/>
                    </a:lnT>
                    <a:lnB w="0">
                      <a:noFill/>
                    </a:lnB>
                  </a:tcPr>
                </a:tc>
              </a:tr>
              <a:tr h="310896">
                <a:tc>
                  <a:txBody>
                    <a:bodyPr/>
                    <a:lstStyle/>
                    <a:p>
                      <a:pPr algn="ctr">
                        <a:defRPr sz="1000" b="1">
                          <a:solidFill>
                            <a:srgbClr val="A09CB0"/>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l">
                        <a:defRPr sz="900" b="1">
                          <a:solidFill>
                            <a:srgbClr val="1E073B"/>
                          </a:solidFill>
                          <a:latin typeface="Segoe UI"/>
                        </a:defRPr>
                      </a:pPr>
                      <a:r>
                        <a:t>Paramount Exclusive Insurance Services, Inc.</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6B5F83"/>
                          </a:solidFill>
                          <a:latin typeface="Segoe UI"/>
                        </a:defRPr>
                      </a:pPr>
                      <a:r>
                        <a:t>Yulia Shostak, Jessenia Duran</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E073B"/>
                          </a:solidFill>
                          <a:latin typeface="Segoe UI"/>
                        </a:defRPr>
                      </a:pPr>
                      <a:r>
                        <a:t>$375,093</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7.2%</a:t>
                      </a:r>
                    </a:p>
                  </a:txBody>
                  <a:tcPr anchor="ctr" marL="76200" marR="76200" marT="38100" marB="38100">
                    <a:solidFill>
                      <a:srgbClr val="F5F3FF"/>
                    </a:solidFill>
                    <a:lnL w="0">
                      <a:noFill/>
                    </a:lnL>
                    <a:lnR w="0">
                      <a:noFill/>
                    </a:lnR>
                    <a:lnT w="0">
                      <a:noFill/>
                    </a:lnT>
                    <a:lnB w="0">
                      <a:noFill/>
                    </a:lnB>
                  </a:tcPr>
                </a:tc>
              </a:tr>
              <a:tr h="310896">
                <a:tc>
                  <a:txBody>
                    <a:bodyPr/>
                    <a:lstStyle/>
                    <a:p>
                      <a:pPr algn="ctr">
                        <a:defRPr sz="1000" b="1">
                          <a:solidFill>
                            <a:srgbClr val="CD7F32"/>
                          </a:solidFill>
                          <a:latin typeface="Segoe UI"/>
                        </a:defRPr>
                      </a:pPr>
                      <a:r>
                        <a:t>3</a:t>
                      </a:r>
                    </a:p>
                  </a:txBody>
                  <a:tcPr anchor="ctr" marL="76200" marR="76200" marT="38100" marB="38100">
                    <a:noFill/>
                    <a:lnL w="0">
                      <a:noFill/>
                    </a:lnL>
                    <a:lnR w="0">
                      <a:noFill/>
                    </a:lnR>
                    <a:lnT w="0">
                      <a:noFill/>
                    </a:lnT>
                    <a:lnB w="0">
                      <a:noFill/>
                    </a:lnB>
                  </a:tcPr>
                </a:tc>
                <a:tc>
                  <a:txBody>
                    <a:bodyPr/>
                    <a:lstStyle/>
                    <a:p>
                      <a:pPr algn="l">
                        <a:defRPr sz="900" b="1">
                          <a:solidFill>
                            <a:srgbClr val="1E073B"/>
                          </a:solidFill>
                          <a:latin typeface="Segoe UI"/>
                        </a:defRPr>
                      </a:pPr>
                      <a:r>
                        <a:t>AMC Agents LLC</a:t>
                      </a:r>
                    </a:p>
                  </a:txBody>
                  <a:tcPr anchor="ctr" marL="76200" marR="76200" marT="38100" marB="38100">
                    <a:noFill/>
                    <a:lnL w="0">
                      <a:noFill/>
                    </a:lnL>
                    <a:lnR w="0">
                      <a:noFill/>
                    </a:lnR>
                    <a:lnT w="0">
                      <a:noFill/>
                    </a:lnT>
                    <a:lnB w="0">
                      <a:noFill/>
                    </a:lnB>
                  </a:tcPr>
                </a:tc>
                <a:tc>
                  <a:txBody>
                    <a:bodyPr/>
                    <a:lstStyle/>
                    <a:p>
                      <a:pPr algn="l">
                        <a:defRPr sz="900" b="0">
                          <a:solidFill>
                            <a:srgbClr val="6B5F83"/>
                          </a:solidFill>
                          <a:latin typeface="Segoe UI"/>
                        </a:defRPr>
                      </a:pPr>
                      <a:r>
                        <a:t>Juan Piedrahita, Carlos Ochoa</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14</a:t>
                      </a:r>
                    </a:p>
                  </a:txBody>
                  <a:tcPr anchor="ctr" marL="76200" marR="76200" marT="38100" marB="38100">
                    <a:noFill/>
                    <a:lnL w="0">
                      <a:noFill/>
                    </a:lnL>
                    <a:lnR w="0">
                      <a:noFill/>
                    </a:lnR>
                    <a:lnT w="0">
                      <a:noFill/>
                    </a:lnT>
                    <a:lnB w="0">
                      <a:noFill/>
                    </a:lnB>
                  </a:tcPr>
                </a:tc>
                <a:tc>
                  <a:txBody>
                    <a:bodyPr/>
                    <a:lstStyle/>
                    <a:p>
                      <a:pPr algn="r">
                        <a:defRPr sz="1000" b="1">
                          <a:solidFill>
                            <a:srgbClr val="1E073B"/>
                          </a:solidFill>
                          <a:latin typeface="Segoe UI"/>
                        </a:defRPr>
                      </a:pPr>
                      <a:r>
                        <a:t>$343,293</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6.6%</a:t>
                      </a:r>
                    </a:p>
                  </a:txBody>
                  <a:tcPr anchor="ctr" marL="76200" marR="76200" marT="38100" marB="38100">
                    <a:noFill/>
                    <a:lnL w="0">
                      <a:noFill/>
                    </a:lnL>
                    <a:lnR w="0">
                      <a:noFill/>
                    </a:lnR>
                    <a:lnT w="0">
                      <a:noFill/>
                    </a:lnT>
                    <a:lnB w="0">
                      <a:noFill/>
                    </a:lnB>
                  </a:tcPr>
                </a:tc>
              </a:tr>
              <a:tr h="310896">
                <a:tc>
                  <a:txBody>
                    <a:bodyPr/>
                    <a:lstStyle/>
                    <a:p>
                      <a:pPr algn="ctr">
                        <a:defRPr sz="1000" b="0">
                          <a:solidFill>
                            <a:srgbClr val="6B5F83"/>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l">
                        <a:defRPr sz="900" b="1">
                          <a:solidFill>
                            <a:srgbClr val="1E073B"/>
                          </a:solidFill>
                          <a:latin typeface="Segoe UI"/>
                        </a:defRPr>
                      </a:pPr>
                      <a:r>
                        <a:t>First Connect Insurance</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6B5F83"/>
                          </a:solidFill>
                          <a:latin typeface="Segoe UI"/>
                        </a:defRPr>
                      </a:pPr>
                      <a:r>
                        <a:t>Francis Regala, Mehtab Singh Kah</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E073B"/>
                          </a:solidFill>
                          <a:latin typeface="Segoe UI"/>
                        </a:defRPr>
                      </a:pPr>
                      <a:r>
                        <a:t>$274,630</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5.3%</a:t>
                      </a:r>
                    </a:p>
                  </a:txBody>
                  <a:tcPr anchor="ctr" marL="76200" marR="76200" marT="38100" marB="38100">
                    <a:solidFill>
                      <a:srgbClr val="F5F3FF"/>
                    </a:solidFill>
                    <a:lnL w="0">
                      <a:noFill/>
                    </a:lnL>
                    <a:lnR w="0">
                      <a:noFill/>
                    </a:lnR>
                    <a:lnT w="0">
                      <a:noFill/>
                    </a:lnT>
                    <a:lnB w="0">
                      <a:noFill/>
                    </a:lnB>
                  </a:tcPr>
                </a:tc>
              </a:tr>
              <a:tr h="310896">
                <a:tc>
                  <a:txBody>
                    <a:bodyPr/>
                    <a:lstStyle/>
                    <a:p>
                      <a:pPr algn="ctr">
                        <a:defRPr sz="1000" b="0">
                          <a:solidFill>
                            <a:srgbClr val="6B5F83"/>
                          </a:solidFill>
                          <a:latin typeface="Segoe UI"/>
                        </a:defRPr>
                      </a:pPr>
                      <a:r>
                        <a:t>5</a:t>
                      </a:r>
                    </a:p>
                  </a:txBody>
                  <a:tcPr anchor="ctr" marL="76200" marR="76200" marT="38100" marB="38100">
                    <a:noFill/>
                    <a:lnL w="0">
                      <a:noFill/>
                    </a:lnL>
                    <a:lnR w="0">
                      <a:noFill/>
                    </a:lnR>
                    <a:lnT w="0">
                      <a:noFill/>
                    </a:lnT>
                    <a:lnB w="0">
                      <a:noFill/>
                    </a:lnB>
                  </a:tcPr>
                </a:tc>
                <a:tc>
                  <a:txBody>
                    <a:bodyPr/>
                    <a:lstStyle/>
                    <a:p>
                      <a:pPr algn="l">
                        <a:defRPr sz="900" b="1">
                          <a:solidFill>
                            <a:srgbClr val="1E073B"/>
                          </a:solidFill>
                          <a:latin typeface="Segoe UI"/>
                        </a:defRPr>
                      </a:pPr>
                      <a:r>
                        <a:t>Safeline Insurance Agency, Inc.</a:t>
                      </a:r>
                    </a:p>
                  </a:txBody>
                  <a:tcPr anchor="ctr" marL="76200" marR="76200" marT="38100" marB="38100">
                    <a:noFill/>
                    <a:lnL w="0">
                      <a:noFill/>
                    </a:lnL>
                    <a:lnR w="0">
                      <a:noFill/>
                    </a:lnR>
                    <a:lnT w="0">
                      <a:noFill/>
                    </a:lnT>
                    <a:lnB w="0">
                      <a:noFill/>
                    </a:lnB>
                  </a:tcPr>
                </a:tc>
                <a:tc>
                  <a:txBody>
                    <a:bodyPr/>
                    <a:lstStyle/>
                    <a:p>
                      <a:pPr algn="l">
                        <a:defRPr sz="900" b="0">
                          <a:solidFill>
                            <a:srgbClr val="6B5F83"/>
                          </a:solidFill>
                          <a:latin typeface="Segoe UI"/>
                        </a:defRPr>
                      </a:pPr>
                      <a:r>
                        <a:t>LARISA DAVTYAN</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2</a:t>
                      </a:r>
                    </a:p>
                  </a:txBody>
                  <a:tcPr anchor="ctr" marL="76200" marR="76200" marT="38100" marB="38100">
                    <a:noFill/>
                    <a:lnL w="0">
                      <a:noFill/>
                    </a:lnL>
                    <a:lnR w="0">
                      <a:noFill/>
                    </a:lnR>
                    <a:lnT w="0">
                      <a:noFill/>
                    </a:lnT>
                    <a:lnB w="0">
                      <a:noFill/>
                    </a:lnB>
                  </a:tcPr>
                </a:tc>
                <a:tc>
                  <a:txBody>
                    <a:bodyPr/>
                    <a:lstStyle/>
                    <a:p>
                      <a:pPr algn="r">
                        <a:defRPr sz="1000" b="1">
                          <a:solidFill>
                            <a:srgbClr val="1E073B"/>
                          </a:solidFill>
                          <a:latin typeface="Segoe UI"/>
                        </a:defRPr>
                      </a:pPr>
                      <a:r>
                        <a:t>$259,568</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5.0%</a:t>
                      </a:r>
                    </a:p>
                  </a:txBody>
                  <a:tcPr anchor="ctr" marL="76200" marR="76200" marT="38100" marB="38100">
                    <a:noFill/>
                    <a:lnL w="0">
                      <a:noFill/>
                    </a:lnL>
                    <a:lnR w="0">
                      <a:noFill/>
                    </a:lnR>
                    <a:lnT w="0">
                      <a:noFill/>
                    </a:lnT>
                    <a:lnB w="0">
                      <a:noFill/>
                    </a:lnB>
                  </a:tcPr>
                </a:tc>
              </a:tr>
              <a:tr h="310896">
                <a:tc>
                  <a:txBody>
                    <a:bodyPr/>
                    <a:lstStyle/>
                    <a:p>
                      <a:pPr algn="ctr">
                        <a:defRPr sz="10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l">
                        <a:defRPr sz="900" b="1">
                          <a:solidFill>
                            <a:srgbClr val="1E073B"/>
                          </a:solidFill>
                          <a:latin typeface="Segoe UI"/>
                        </a:defRPr>
                      </a:pPr>
                      <a:r>
                        <a:t>United Advantage Insurance Services</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6B5F83"/>
                          </a:solidFill>
                          <a:latin typeface="Segoe UI"/>
                        </a:defRPr>
                      </a:pPr>
                      <a:r>
                        <a:t>Cecile Awad, Abir Walters</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12</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E073B"/>
                          </a:solidFill>
                          <a:latin typeface="Segoe UI"/>
                        </a:defRPr>
                      </a:pPr>
                      <a:r>
                        <a:t>$181,140</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3.5%</a:t>
                      </a:r>
                    </a:p>
                  </a:txBody>
                  <a:tcPr anchor="ctr" marL="76200" marR="76200" marT="38100" marB="38100">
                    <a:solidFill>
                      <a:srgbClr val="F5F3FF"/>
                    </a:solidFill>
                    <a:lnL w="0">
                      <a:noFill/>
                    </a:lnL>
                    <a:lnR w="0">
                      <a:noFill/>
                    </a:lnR>
                    <a:lnT w="0">
                      <a:noFill/>
                    </a:lnT>
                    <a:lnB w="0">
                      <a:noFill/>
                    </a:lnB>
                  </a:tcPr>
                </a:tc>
              </a:tr>
              <a:tr h="310896">
                <a:tc>
                  <a:txBody>
                    <a:bodyPr/>
                    <a:lstStyle/>
                    <a:p>
                      <a:pPr algn="ctr">
                        <a:defRPr sz="1000" b="0">
                          <a:solidFill>
                            <a:srgbClr val="6B5F83"/>
                          </a:solidFill>
                          <a:latin typeface="Segoe UI"/>
                        </a:defRPr>
                      </a:pPr>
                      <a:r>
                        <a:t>7</a:t>
                      </a:r>
                    </a:p>
                  </a:txBody>
                  <a:tcPr anchor="ctr" marL="76200" marR="76200" marT="38100" marB="38100">
                    <a:noFill/>
                    <a:lnL w="0">
                      <a:noFill/>
                    </a:lnL>
                    <a:lnR w="0">
                      <a:noFill/>
                    </a:lnR>
                    <a:lnT w="0">
                      <a:noFill/>
                    </a:lnT>
                    <a:lnB w="0">
                      <a:noFill/>
                    </a:lnB>
                  </a:tcPr>
                </a:tc>
                <a:tc>
                  <a:txBody>
                    <a:bodyPr/>
                    <a:lstStyle/>
                    <a:p>
                      <a:pPr algn="l">
                        <a:defRPr sz="900" b="1">
                          <a:solidFill>
                            <a:srgbClr val="1E073B"/>
                          </a:solidFill>
                          <a:latin typeface="Segoe UI"/>
                        </a:defRPr>
                      </a:pPr>
                      <a:r>
                        <a:t>Justin Robert Insurance Agency LLC</a:t>
                      </a:r>
                    </a:p>
                  </a:txBody>
                  <a:tcPr anchor="ctr" marL="76200" marR="76200" marT="38100" marB="38100">
                    <a:noFill/>
                    <a:lnL w="0">
                      <a:noFill/>
                    </a:lnL>
                    <a:lnR w="0">
                      <a:noFill/>
                    </a:lnR>
                    <a:lnT w="0">
                      <a:noFill/>
                    </a:lnT>
                    <a:lnB w="0">
                      <a:noFill/>
                    </a:lnB>
                  </a:tcPr>
                </a:tc>
                <a:tc>
                  <a:txBody>
                    <a:bodyPr/>
                    <a:lstStyle/>
                    <a:p>
                      <a:pPr algn="l">
                        <a:defRPr sz="900" b="0">
                          <a:solidFill>
                            <a:srgbClr val="6B5F83"/>
                          </a:solidFill>
                          <a:latin typeface="Segoe UI"/>
                        </a:defRPr>
                      </a:pPr>
                      <a:r>
                        <a:t>Justin Robert</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5</a:t>
                      </a:r>
                    </a:p>
                  </a:txBody>
                  <a:tcPr anchor="ctr" marL="76200" marR="76200" marT="38100" marB="38100">
                    <a:noFill/>
                    <a:lnL w="0">
                      <a:noFill/>
                    </a:lnL>
                    <a:lnR w="0">
                      <a:noFill/>
                    </a:lnR>
                    <a:lnT w="0">
                      <a:noFill/>
                    </a:lnT>
                    <a:lnB w="0">
                      <a:noFill/>
                    </a:lnB>
                  </a:tcPr>
                </a:tc>
                <a:tc>
                  <a:txBody>
                    <a:bodyPr/>
                    <a:lstStyle/>
                    <a:p>
                      <a:pPr algn="r">
                        <a:defRPr sz="1000" b="1">
                          <a:solidFill>
                            <a:srgbClr val="1E073B"/>
                          </a:solidFill>
                          <a:latin typeface="Segoe UI"/>
                        </a:defRPr>
                      </a:pPr>
                      <a:r>
                        <a:t>$178,715</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3.4%</a:t>
                      </a:r>
                    </a:p>
                  </a:txBody>
                  <a:tcPr anchor="ctr" marL="76200" marR="76200" marT="38100" marB="38100">
                    <a:noFill/>
                    <a:lnL w="0">
                      <a:noFill/>
                    </a:lnL>
                    <a:lnR w="0">
                      <a:noFill/>
                    </a:lnR>
                    <a:lnT w="0">
                      <a:noFill/>
                    </a:lnT>
                    <a:lnB w="0">
                      <a:noFill/>
                    </a:lnB>
                  </a:tcPr>
                </a:tc>
              </a:tr>
              <a:tr h="310896">
                <a:tc>
                  <a:txBody>
                    <a:bodyPr/>
                    <a:lstStyle/>
                    <a:p>
                      <a:pPr algn="ctr">
                        <a:defRPr sz="1000" b="0">
                          <a:solidFill>
                            <a:srgbClr val="6B5F83"/>
                          </a:solidFill>
                          <a:latin typeface="Segoe UI"/>
                        </a:defRPr>
                      </a:pPr>
                      <a:r>
                        <a:t>8</a:t>
                      </a:r>
                    </a:p>
                  </a:txBody>
                  <a:tcPr anchor="ctr" marL="76200" marR="76200" marT="38100" marB="38100">
                    <a:solidFill>
                      <a:srgbClr val="F5F3FF"/>
                    </a:solidFill>
                    <a:lnL w="0">
                      <a:noFill/>
                    </a:lnL>
                    <a:lnR w="0">
                      <a:noFill/>
                    </a:lnR>
                    <a:lnT w="0">
                      <a:noFill/>
                    </a:lnT>
                    <a:lnB w="0">
                      <a:noFill/>
                    </a:lnB>
                  </a:tcPr>
                </a:tc>
                <a:tc>
                  <a:txBody>
                    <a:bodyPr/>
                    <a:lstStyle/>
                    <a:p>
                      <a:pPr algn="l">
                        <a:defRPr sz="900" b="1">
                          <a:solidFill>
                            <a:srgbClr val="1E073B"/>
                          </a:solidFill>
                          <a:latin typeface="Segoe UI"/>
                        </a:defRPr>
                      </a:pPr>
                      <a:r>
                        <a:t>Fino Services LLC</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6B5F83"/>
                          </a:solidFill>
                          <a:latin typeface="Segoe UI"/>
                        </a:defRPr>
                      </a:pPr>
                      <a:r>
                        <a:t>Oscar Rodriguez</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5</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E073B"/>
                          </a:solidFill>
                          <a:latin typeface="Segoe UI"/>
                        </a:defRPr>
                      </a:pPr>
                      <a:r>
                        <a:t>$173,700</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3.3%</a:t>
                      </a:r>
                    </a:p>
                  </a:txBody>
                  <a:tcPr anchor="ctr" marL="76200" marR="76200" marT="38100" marB="38100">
                    <a:solidFill>
                      <a:srgbClr val="F5F3FF"/>
                    </a:solidFill>
                    <a:lnL w="0">
                      <a:noFill/>
                    </a:lnL>
                    <a:lnR w="0">
                      <a:noFill/>
                    </a:lnR>
                    <a:lnT w="0">
                      <a:noFill/>
                    </a:lnT>
                    <a:lnB w="0">
                      <a:noFill/>
                    </a:lnB>
                  </a:tcPr>
                </a:tc>
              </a:tr>
              <a:tr h="310896">
                <a:tc>
                  <a:txBody>
                    <a:bodyPr/>
                    <a:lstStyle/>
                    <a:p>
                      <a:pPr algn="ctr">
                        <a:defRPr sz="1000" b="0">
                          <a:solidFill>
                            <a:srgbClr val="6B5F83"/>
                          </a:solidFill>
                          <a:latin typeface="Segoe UI"/>
                        </a:defRPr>
                      </a:pPr>
                      <a:r>
                        <a:t>9</a:t>
                      </a:r>
                    </a:p>
                  </a:txBody>
                  <a:tcPr anchor="ctr" marL="76200" marR="76200" marT="38100" marB="38100">
                    <a:noFill/>
                    <a:lnL w="0">
                      <a:noFill/>
                    </a:lnL>
                    <a:lnR w="0">
                      <a:noFill/>
                    </a:lnR>
                    <a:lnT w="0">
                      <a:noFill/>
                    </a:lnT>
                    <a:lnB w="0">
                      <a:noFill/>
                    </a:lnB>
                  </a:tcPr>
                </a:tc>
                <a:tc>
                  <a:txBody>
                    <a:bodyPr/>
                    <a:lstStyle/>
                    <a:p>
                      <a:pPr algn="l">
                        <a:defRPr sz="900" b="1">
                          <a:solidFill>
                            <a:srgbClr val="1E073B"/>
                          </a:solidFill>
                          <a:latin typeface="Segoe UI"/>
                        </a:defRPr>
                      </a:pPr>
                      <a:r>
                        <a:t>DNIS Inc.</a:t>
                      </a:r>
                    </a:p>
                  </a:txBody>
                  <a:tcPr anchor="ctr" marL="76200" marR="76200" marT="38100" marB="38100">
                    <a:noFill/>
                    <a:lnL w="0">
                      <a:noFill/>
                    </a:lnL>
                    <a:lnR w="0">
                      <a:noFill/>
                    </a:lnR>
                    <a:lnT w="0">
                      <a:noFill/>
                    </a:lnT>
                    <a:lnB w="0">
                      <a:noFill/>
                    </a:lnB>
                  </a:tcPr>
                </a:tc>
                <a:tc>
                  <a:txBody>
                    <a:bodyPr/>
                    <a:lstStyle/>
                    <a:p>
                      <a:pPr algn="l">
                        <a:defRPr sz="900" b="0">
                          <a:solidFill>
                            <a:srgbClr val="6B5F83"/>
                          </a:solidFill>
                          <a:latin typeface="Segoe UI"/>
                        </a:defRPr>
                      </a:pPr>
                      <a:r>
                        <a:t>Nicole Rodriguez, David Rodrigue</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9</a:t>
                      </a:r>
                    </a:p>
                  </a:txBody>
                  <a:tcPr anchor="ctr" marL="76200" marR="76200" marT="38100" marB="38100">
                    <a:noFill/>
                    <a:lnL w="0">
                      <a:noFill/>
                    </a:lnL>
                    <a:lnR w="0">
                      <a:noFill/>
                    </a:lnR>
                    <a:lnT w="0">
                      <a:noFill/>
                    </a:lnT>
                    <a:lnB w="0">
                      <a:noFill/>
                    </a:lnB>
                  </a:tcPr>
                </a:tc>
                <a:tc>
                  <a:txBody>
                    <a:bodyPr/>
                    <a:lstStyle/>
                    <a:p>
                      <a:pPr algn="r">
                        <a:defRPr sz="1000" b="1">
                          <a:solidFill>
                            <a:srgbClr val="1E073B"/>
                          </a:solidFill>
                          <a:latin typeface="Segoe UI"/>
                        </a:defRPr>
                      </a:pPr>
                      <a:r>
                        <a:t>$158,293</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3.0%</a:t>
                      </a:r>
                    </a:p>
                  </a:txBody>
                  <a:tcPr anchor="ctr" marL="76200" marR="76200" marT="38100" marB="38100">
                    <a:noFill/>
                    <a:lnL w="0">
                      <a:noFill/>
                    </a:lnL>
                    <a:lnR w="0">
                      <a:noFill/>
                    </a:lnR>
                    <a:lnT w="0">
                      <a:noFill/>
                    </a:lnT>
                    <a:lnB w="0">
                      <a:noFill/>
                    </a:lnB>
                  </a:tcPr>
                </a:tc>
              </a:tr>
              <a:tr h="310896">
                <a:tc>
                  <a:txBody>
                    <a:bodyPr/>
                    <a:lstStyle/>
                    <a:p>
                      <a:pPr algn="ctr">
                        <a:defRPr sz="1000" b="0">
                          <a:solidFill>
                            <a:srgbClr val="6B5F83"/>
                          </a:solidFill>
                          <a:latin typeface="Segoe UI"/>
                        </a:defRPr>
                      </a:pPr>
                      <a:r>
                        <a:t>10</a:t>
                      </a:r>
                    </a:p>
                  </a:txBody>
                  <a:tcPr anchor="ctr" marL="76200" marR="76200" marT="38100" marB="38100">
                    <a:solidFill>
                      <a:srgbClr val="F5F3FF"/>
                    </a:solidFill>
                    <a:lnL w="0">
                      <a:noFill/>
                    </a:lnL>
                    <a:lnR w="0">
                      <a:noFill/>
                    </a:lnR>
                    <a:lnT w="0">
                      <a:noFill/>
                    </a:lnT>
                    <a:lnB w="0">
                      <a:noFill/>
                    </a:lnB>
                  </a:tcPr>
                </a:tc>
                <a:tc>
                  <a:txBody>
                    <a:bodyPr/>
                    <a:lstStyle/>
                    <a:p>
                      <a:pPr algn="l">
                        <a:defRPr sz="900" b="1">
                          <a:solidFill>
                            <a:srgbClr val="1E073B"/>
                          </a:solidFill>
                          <a:latin typeface="Segoe UI"/>
                        </a:defRPr>
                      </a:pPr>
                      <a:r>
                        <a:t>Usg Insurance Services Inc</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6B5F83"/>
                          </a:solidFill>
                          <a:latin typeface="Segoe UI"/>
                        </a:defRPr>
                      </a:pPr>
                      <a:r>
                        <a:t>Jeannie Walker</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E073B"/>
                          </a:solidFill>
                          <a:latin typeface="Segoe UI"/>
                        </a:defRPr>
                      </a:pPr>
                      <a:r>
                        <a:t>$152,121</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2.9%</a:t>
                      </a:r>
                    </a:p>
                  </a:txBody>
                  <a:tcPr anchor="ctr" marL="76200" marR="76200" marT="38100" marB="38100">
                    <a:solidFill>
                      <a:srgbClr val="F5F3FF"/>
                    </a:solidFill>
                    <a:lnL w="0">
                      <a:noFill/>
                    </a:lnL>
                    <a:lnR w="0">
                      <a:noFill/>
                    </a:lnR>
                    <a:lnT w="0">
                      <a:noFill/>
                    </a:lnT>
                    <a:lnB w="0">
                      <a:noFill/>
                    </a:lnB>
                  </a:tcPr>
                </a:tc>
              </a:tr>
              <a:tr h="310896">
                <a:tc>
                  <a:txBody>
                    <a:bodyPr/>
                    <a:lstStyle/>
                    <a:p>
                      <a:pPr algn="ctr">
                        <a:defRPr sz="1000" b="0">
                          <a:solidFill>
                            <a:srgbClr val="6B5F83"/>
                          </a:solidFill>
                          <a:latin typeface="Segoe UI"/>
                        </a:defRPr>
                      </a:pPr>
                      <a:r>
                        <a:t>11</a:t>
                      </a:r>
                    </a:p>
                  </a:txBody>
                  <a:tcPr anchor="ctr" marL="76200" marR="76200" marT="38100" marB="38100">
                    <a:noFill/>
                    <a:lnL w="0">
                      <a:noFill/>
                    </a:lnL>
                    <a:lnR w="0">
                      <a:noFill/>
                    </a:lnR>
                    <a:lnT w="0">
                      <a:noFill/>
                    </a:lnT>
                    <a:lnB w="0">
                      <a:noFill/>
                    </a:lnB>
                  </a:tcPr>
                </a:tc>
                <a:tc>
                  <a:txBody>
                    <a:bodyPr/>
                    <a:lstStyle/>
                    <a:p>
                      <a:pPr algn="l">
                        <a:defRPr sz="900" b="1">
                          <a:solidFill>
                            <a:srgbClr val="1E073B"/>
                          </a:solidFill>
                          <a:latin typeface="Segoe UI"/>
                        </a:defRPr>
                      </a:pPr>
                      <a:r>
                        <a:t>Your Truck Shield LLC</a:t>
                      </a:r>
                    </a:p>
                  </a:txBody>
                  <a:tcPr anchor="ctr" marL="76200" marR="76200" marT="38100" marB="38100">
                    <a:noFill/>
                    <a:lnL w="0">
                      <a:noFill/>
                    </a:lnL>
                    <a:lnR w="0">
                      <a:noFill/>
                    </a:lnR>
                    <a:lnT w="0">
                      <a:noFill/>
                    </a:lnT>
                    <a:lnB w="0">
                      <a:noFill/>
                    </a:lnB>
                  </a:tcPr>
                </a:tc>
                <a:tc>
                  <a:txBody>
                    <a:bodyPr/>
                    <a:lstStyle/>
                    <a:p>
                      <a:pPr algn="l">
                        <a:defRPr sz="900" b="0">
                          <a:solidFill>
                            <a:srgbClr val="6B5F83"/>
                          </a:solidFill>
                          <a:latin typeface="Segoe UI"/>
                        </a:defRPr>
                      </a:pPr>
                      <a:r>
                        <a:t>Christian Gomez</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4</a:t>
                      </a:r>
                    </a:p>
                  </a:txBody>
                  <a:tcPr anchor="ctr" marL="76200" marR="76200" marT="38100" marB="38100">
                    <a:noFill/>
                    <a:lnL w="0">
                      <a:noFill/>
                    </a:lnL>
                    <a:lnR w="0">
                      <a:noFill/>
                    </a:lnR>
                    <a:lnT w="0">
                      <a:noFill/>
                    </a:lnT>
                    <a:lnB w="0">
                      <a:noFill/>
                    </a:lnB>
                  </a:tcPr>
                </a:tc>
                <a:tc>
                  <a:txBody>
                    <a:bodyPr/>
                    <a:lstStyle/>
                    <a:p>
                      <a:pPr algn="r">
                        <a:defRPr sz="1000" b="1">
                          <a:solidFill>
                            <a:srgbClr val="1E073B"/>
                          </a:solidFill>
                          <a:latin typeface="Segoe UI"/>
                        </a:defRPr>
                      </a:pPr>
                      <a:r>
                        <a:t>$139,342</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2.7%</a:t>
                      </a:r>
                    </a:p>
                  </a:txBody>
                  <a:tcPr anchor="ctr" marL="76200" marR="76200" marT="38100" marB="38100">
                    <a:noFill/>
                    <a:lnL w="0">
                      <a:noFill/>
                    </a:lnL>
                    <a:lnR w="0">
                      <a:noFill/>
                    </a:lnR>
                    <a:lnT w="0">
                      <a:noFill/>
                    </a:lnT>
                    <a:lnB w="0">
                      <a:noFill/>
                    </a:lnB>
                  </a:tcPr>
                </a:tc>
              </a:tr>
              <a:tr h="310896">
                <a:tc>
                  <a:txBody>
                    <a:bodyPr/>
                    <a:lstStyle/>
                    <a:p>
                      <a:pPr algn="ctr">
                        <a:defRPr sz="1000" b="0">
                          <a:solidFill>
                            <a:srgbClr val="6B5F83"/>
                          </a:solidFill>
                          <a:latin typeface="Segoe UI"/>
                        </a:defRPr>
                      </a:pPr>
                      <a:r>
                        <a:t>12</a:t>
                      </a:r>
                    </a:p>
                  </a:txBody>
                  <a:tcPr anchor="ctr" marL="76200" marR="76200" marT="38100" marB="38100">
                    <a:solidFill>
                      <a:srgbClr val="F5F3FF"/>
                    </a:solidFill>
                    <a:lnL w="0">
                      <a:noFill/>
                    </a:lnL>
                    <a:lnR w="0">
                      <a:noFill/>
                    </a:lnR>
                    <a:lnT w="0">
                      <a:noFill/>
                    </a:lnT>
                    <a:lnB w="0">
                      <a:noFill/>
                    </a:lnB>
                  </a:tcPr>
                </a:tc>
                <a:tc>
                  <a:txBody>
                    <a:bodyPr/>
                    <a:lstStyle/>
                    <a:p>
                      <a:pPr algn="l">
                        <a:defRPr sz="900" b="1">
                          <a:solidFill>
                            <a:srgbClr val="1E073B"/>
                          </a:solidFill>
                          <a:latin typeface="Segoe UI"/>
                        </a:defRPr>
                      </a:pPr>
                      <a:r>
                        <a:t>Christian Charles Insurance Services, Inc</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6B5F83"/>
                          </a:solidFill>
                          <a:latin typeface="Segoe UI"/>
                        </a:defRPr>
                      </a:pPr>
                      <a:r>
                        <a:t>Betty Reyes</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E073B"/>
                          </a:solidFill>
                          <a:latin typeface="Segoe UI"/>
                        </a:defRPr>
                      </a:pPr>
                      <a:r>
                        <a:t>$109,097</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2.1%</a:t>
                      </a:r>
                    </a:p>
                  </a:txBody>
                  <a:tcPr anchor="ctr" marL="76200" marR="76200" marT="38100" marB="38100">
                    <a:solidFill>
                      <a:srgbClr val="F5F3FF"/>
                    </a:solidFill>
                    <a:lnL w="0">
                      <a:noFill/>
                    </a:lnL>
                    <a:lnR w="0">
                      <a:noFill/>
                    </a:lnR>
                    <a:lnT w="0">
                      <a:noFill/>
                    </a:lnT>
                    <a:lnB w="0">
                      <a:noFill/>
                    </a:lnB>
                  </a:tcPr>
                </a:tc>
              </a:tr>
              <a:tr h="310896">
                <a:tc>
                  <a:txBody>
                    <a:bodyPr/>
                    <a:lstStyle/>
                    <a:p>
                      <a:pPr algn="ctr">
                        <a:defRPr sz="1000" b="0">
                          <a:solidFill>
                            <a:srgbClr val="6B5F83"/>
                          </a:solidFill>
                          <a:latin typeface="Segoe UI"/>
                        </a:defRPr>
                      </a:pPr>
                      <a:r>
                        <a:t>13</a:t>
                      </a:r>
                    </a:p>
                  </a:txBody>
                  <a:tcPr anchor="ctr" marL="76200" marR="76200" marT="38100" marB="38100">
                    <a:noFill/>
                    <a:lnL w="0">
                      <a:noFill/>
                    </a:lnL>
                    <a:lnR w="0">
                      <a:noFill/>
                    </a:lnR>
                    <a:lnT w="0">
                      <a:noFill/>
                    </a:lnT>
                    <a:lnB w="0">
                      <a:noFill/>
                    </a:lnB>
                  </a:tcPr>
                </a:tc>
                <a:tc>
                  <a:txBody>
                    <a:bodyPr/>
                    <a:lstStyle/>
                    <a:p>
                      <a:pPr algn="l">
                        <a:defRPr sz="900" b="1">
                          <a:solidFill>
                            <a:srgbClr val="1E073B"/>
                          </a:solidFill>
                          <a:latin typeface="Segoe UI"/>
                        </a:defRPr>
                      </a:pPr>
                      <a:r>
                        <a:t>Valion Security LLC</a:t>
                      </a:r>
                    </a:p>
                  </a:txBody>
                  <a:tcPr anchor="ctr" marL="76200" marR="76200" marT="38100" marB="38100">
                    <a:noFill/>
                    <a:lnL w="0">
                      <a:noFill/>
                    </a:lnL>
                    <a:lnR w="0">
                      <a:noFill/>
                    </a:lnR>
                    <a:lnT w="0">
                      <a:noFill/>
                    </a:lnT>
                    <a:lnB w="0">
                      <a:noFill/>
                    </a:lnB>
                  </a:tcPr>
                </a:tc>
                <a:tc>
                  <a:txBody>
                    <a:bodyPr/>
                    <a:lstStyle/>
                    <a:p>
                      <a:pPr algn="l">
                        <a:defRPr sz="900" b="0">
                          <a:solidFill>
                            <a:srgbClr val="6B5F83"/>
                          </a:solidFill>
                          <a:latin typeface="Segoe UI"/>
                        </a:defRPr>
                      </a:pPr>
                      <a:r>
                        <a:t>Mary Davis-Spivak</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5</a:t>
                      </a:r>
                    </a:p>
                  </a:txBody>
                  <a:tcPr anchor="ctr" marL="76200" marR="76200" marT="38100" marB="38100">
                    <a:noFill/>
                    <a:lnL w="0">
                      <a:noFill/>
                    </a:lnL>
                    <a:lnR w="0">
                      <a:noFill/>
                    </a:lnR>
                    <a:lnT w="0">
                      <a:noFill/>
                    </a:lnT>
                    <a:lnB w="0">
                      <a:noFill/>
                    </a:lnB>
                  </a:tcPr>
                </a:tc>
                <a:tc>
                  <a:txBody>
                    <a:bodyPr/>
                    <a:lstStyle/>
                    <a:p>
                      <a:pPr algn="r">
                        <a:defRPr sz="1000" b="1">
                          <a:solidFill>
                            <a:srgbClr val="1E073B"/>
                          </a:solidFill>
                          <a:latin typeface="Segoe UI"/>
                        </a:defRPr>
                      </a:pPr>
                      <a:r>
                        <a:t>$107,975</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2.1%</a:t>
                      </a:r>
                    </a:p>
                  </a:txBody>
                  <a:tcPr anchor="ctr" marL="76200" marR="76200" marT="38100" marB="38100">
                    <a:noFill/>
                    <a:lnL w="0">
                      <a:noFill/>
                    </a:lnL>
                    <a:lnR w="0">
                      <a:noFill/>
                    </a:lnR>
                    <a:lnT w="0">
                      <a:noFill/>
                    </a:lnT>
                    <a:lnB w="0">
                      <a:noFill/>
                    </a:lnB>
                  </a:tcPr>
                </a:tc>
              </a:tr>
              <a:tr h="310896">
                <a:tc>
                  <a:txBody>
                    <a:bodyPr/>
                    <a:lstStyle/>
                    <a:p>
                      <a:pPr algn="ctr">
                        <a:defRPr sz="1000" b="0">
                          <a:solidFill>
                            <a:srgbClr val="6B5F83"/>
                          </a:solidFill>
                          <a:latin typeface="Segoe UI"/>
                        </a:defRPr>
                      </a:pPr>
                      <a:r>
                        <a:t>14</a:t>
                      </a:r>
                    </a:p>
                  </a:txBody>
                  <a:tcPr anchor="ctr" marL="76200" marR="76200" marT="38100" marB="38100">
                    <a:solidFill>
                      <a:srgbClr val="F5F3FF"/>
                    </a:solidFill>
                    <a:lnL w="0">
                      <a:noFill/>
                    </a:lnL>
                    <a:lnR w="0">
                      <a:noFill/>
                    </a:lnR>
                    <a:lnT w="0">
                      <a:noFill/>
                    </a:lnT>
                    <a:lnB w="0">
                      <a:noFill/>
                    </a:lnB>
                  </a:tcPr>
                </a:tc>
                <a:tc>
                  <a:txBody>
                    <a:bodyPr/>
                    <a:lstStyle/>
                    <a:p>
                      <a:pPr algn="l">
                        <a:defRPr sz="900" b="1">
                          <a:solidFill>
                            <a:srgbClr val="1E073B"/>
                          </a:solidFill>
                          <a:latin typeface="Segoe UI"/>
                        </a:defRPr>
                      </a:pPr>
                      <a:r>
                        <a:t>Ins Professionals Of Georgia</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6B5F83"/>
                          </a:solidFill>
                          <a:latin typeface="Segoe UI"/>
                        </a:defRPr>
                      </a:pPr>
                      <a:r>
                        <a:t>Christina Battle</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E073B"/>
                          </a:solidFill>
                          <a:latin typeface="Segoe UI"/>
                        </a:defRPr>
                      </a:pPr>
                      <a:r>
                        <a:t>$91,546</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1.8%</a:t>
                      </a:r>
                    </a:p>
                  </a:txBody>
                  <a:tcPr anchor="ctr" marL="76200" marR="76200" marT="38100" marB="38100">
                    <a:solidFill>
                      <a:srgbClr val="F5F3FF"/>
                    </a:solidFill>
                    <a:lnL w="0">
                      <a:noFill/>
                    </a:lnL>
                    <a:lnR w="0">
                      <a:noFill/>
                    </a:lnR>
                    <a:lnT w="0">
                      <a:noFill/>
                    </a:lnT>
                    <a:lnB w="0">
                      <a:noFill/>
                    </a:lnB>
                  </a:tcPr>
                </a:tc>
              </a:tr>
              <a:tr h="310896">
                <a:tc>
                  <a:txBody>
                    <a:bodyPr/>
                    <a:lstStyle/>
                    <a:p>
                      <a:pPr algn="ctr">
                        <a:defRPr sz="1000" b="0">
                          <a:solidFill>
                            <a:srgbClr val="6B5F83"/>
                          </a:solidFill>
                          <a:latin typeface="Segoe UI"/>
                        </a:defRPr>
                      </a:pPr>
                      <a:r>
                        <a:t>15</a:t>
                      </a:r>
                    </a:p>
                  </a:txBody>
                  <a:tcPr anchor="ctr" marL="76200" marR="76200" marT="38100" marB="38100">
                    <a:noFill/>
                    <a:lnL w="0">
                      <a:noFill/>
                    </a:lnL>
                    <a:lnR w="0">
                      <a:noFill/>
                    </a:lnR>
                    <a:lnT w="0">
                      <a:noFill/>
                    </a:lnT>
                    <a:lnB w="0">
                      <a:noFill/>
                    </a:lnB>
                  </a:tcPr>
                </a:tc>
                <a:tc>
                  <a:txBody>
                    <a:bodyPr/>
                    <a:lstStyle/>
                    <a:p>
                      <a:pPr algn="l">
                        <a:defRPr sz="900" b="1">
                          <a:solidFill>
                            <a:srgbClr val="1E073B"/>
                          </a:solidFill>
                          <a:latin typeface="Segoe UI"/>
                        </a:defRPr>
                      </a:pPr>
                      <a:r>
                        <a:t>Mohsen Ins. LLC</a:t>
                      </a:r>
                    </a:p>
                  </a:txBody>
                  <a:tcPr anchor="ctr" marL="76200" marR="76200" marT="38100" marB="38100">
                    <a:noFill/>
                    <a:lnL w="0">
                      <a:noFill/>
                    </a:lnL>
                    <a:lnR w="0">
                      <a:noFill/>
                    </a:lnR>
                    <a:lnT w="0">
                      <a:noFill/>
                    </a:lnT>
                    <a:lnB w="0">
                      <a:noFill/>
                    </a:lnB>
                  </a:tcPr>
                </a:tc>
                <a:tc>
                  <a:txBody>
                    <a:bodyPr/>
                    <a:lstStyle/>
                    <a:p>
                      <a:pPr algn="l">
                        <a:defRPr sz="900" b="0">
                          <a:solidFill>
                            <a:srgbClr val="6B5F83"/>
                          </a:solidFill>
                          <a:latin typeface="Segoe UI"/>
                        </a:defRPr>
                      </a:pPr>
                      <a:r>
                        <a:t>Zane Mohsen</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000" b="1">
                          <a:solidFill>
                            <a:srgbClr val="1E073B"/>
                          </a:solidFill>
                          <a:latin typeface="Segoe UI"/>
                        </a:defRPr>
                      </a:pPr>
                      <a:r>
                        <a:t>$87,610</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1.7%</a:t>
                      </a:r>
                    </a:p>
                  </a:txBody>
                  <a:tcPr anchor="ctr" marL="76200" marR="76200" marT="38100" marB="38100">
                    <a:noFill/>
                    <a:lnL w="0">
                      <a:noFill/>
                    </a:lnL>
                    <a:lnR w="0">
                      <a:noFill/>
                    </a:lnR>
                    <a:lnT w="0">
                      <a:noFill/>
                    </a:lnT>
                    <a:lnB w="0">
                      <a:noFill/>
                    </a:lnB>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DISTRIBUTION BY STATE</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Geographic Concentration</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274320" y="1463040"/>
          <a:ext cx="5943600" cy="5029200"/>
        </p:xfrm>
        <a:graphic>
          <a:graphicData uri="http://schemas.openxmlformats.org/drawingml/2006/chart">
            <c:chart xmlns:c="http://schemas.openxmlformats.org/drawingml/2006/chart" r:id="rId2"/>
          </a:graphicData>
        </a:graphic>
      </p:graphicFrame>
      <p:graphicFrame>
        <p:nvGraphicFramePr>
          <p:cNvPr id="12" name="Table 11"/>
          <p:cNvGraphicFramePr>
            <a:graphicFrameLocks noGrp="1"/>
          </p:cNvGraphicFramePr>
          <p:nvPr/>
        </p:nvGraphicFramePr>
        <p:xfrm>
          <a:off x="6675120" y="1463040"/>
          <a:ext cx="4480560" cy="10369296"/>
        </p:xfrm>
        <a:graphic>
          <a:graphicData uri="http://schemas.openxmlformats.org/drawingml/2006/table">
            <a:tbl>
              <a:tblPr firstRow="0" bandRow="0" bandCol="0" lastRow="0">
                <a:tableStyleId>{5C22544A-7EE6-4342-B048-85BDC9FD1C3A}</a:tableStyleId>
              </a:tblPr>
              <a:tblGrid>
                <a:gridCol w="822960"/>
                <a:gridCol w="731520"/>
                <a:gridCol w="1828800"/>
                <a:gridCol w="1097280"/>
              </a:tblGrid>
              <a:tr h="384048">
                <a:tc>
                  <a:txBody>
                    <a:bodyPr/>
                    <a:lstStyle/>
                    <a:p>
                      <a:pPr algn="l">
                        <a:defRPr sz="1000" b="1">
                          <a:solidFill>
                            <a:srgbClr val="FFFFFF"/>
                          </a:solidFill>
                          <a:latin typeface="Segoe UI Semibold"/>
                        </a:defRPr>
                      </a:pPr>
                      <a:r>
                        <a:t>State</a:t>
                      </a:r>
                    </a:p>
                  </a:txBody>
                  <a:tcPr anchor="ctr" marL="76200" marR="76200" marT="38100" marB="38100">
                    <a:solidFill>
                      <a:srgbClr val="5B21B6"/>
                    </a:solidFill>
                    <a:lnL w="0">
                      <a:noFill/>
                    </a:lnL>
                    <a:lnR w="0">
                      <a:noFill/>
                    </a:lnR>
                    <a:lnT w="0">
                      <a:noFill/>
                    </a:lnT>
                    <a:lnB w="0">
                      <a:noFill/>
                    </a:lnB>
                  </a:tcPr>
                </a:tc>
                <a:tc>
                  <a:txBody>
                    <a:bodyPr/>
                    <a:lstStyle/>
                    <a:p>
                      <a:pPr algn="r">
                        <a:defRPr sz="1000" b="1">
                          <a:solidFill>
                            <a:srgbClr val="FFFFFF"/>
                          </a:solidFill>
                          <a:latin typeface="Segoe UI Semibold"/>
                        </a:defRPr>
                      </a:pPr>
                      <a:r>
                        <a:t>Accts</a:t>
                      </a:r>
                    </a:p>
                  </a:txBody>
                  <a:tcPr anchor="ctr" marL="76200" marR="76200" marT="38100" marB="38100">
                    <a:solidFill>
                      <a:srgbClr val="5B21B6"/>
                    </a:solidFill>
                    <a:lnL w="0">
                      <a:noFill/>
                    </a:lnL>
                    <a:lnR w="0">
                      <a:noFill/>
                    </a:lnR>
                    <a:lnT w="0">
                      <a:noFill/>
                    </a:lnT>
                    <a:lnB w="0">
                      <a:noFill/>
                    </a:lnB>
                  </a:tcPr>
                </a:tc>
                <a:tc>
                  <a:txBody>
                    <a:bodyPr/>
                    <a:lstStyle/>
                    <a:p>
                      <a:pPr algn="r">
                        <a:defRPr sz="10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c>
                  <a:txBody>
                    <a:bodyPr/>
                    <a:lstStyle/>
                    <a:p>
                      <a:pPr algn="r">
                        <a:defRPr sz="1000" b="1">
                          <a:solidFill>
                            <a:srgbClr val="FFFFFF"/>
                          </a:solidFill>
                          <a:latin typeface="Segoe UI Semibold"/>
                        </a:defRPr>
                      </a:pPr>
                      <a:r>
                        <a:t>Share</a:t>
                      </a:r>
                    </a:p>
                  </a:txBody>
                  <a:tcPr anchor="ctr" marL="76200" marR="76200" marT="38100" marB="38100">
                    <a:solidFill>
                      <a:srgbClr val="5B21B6"/>
                    </a:solidFill>
                    <a:lnL w="0">
                      <a:noFill/>
                    </a:lnL>
                    <a:lnR w="0">
                      <a:noFill/>
                    </a:lnR>
                    <a:lnT w="0">
                      <a:noFill/>
                    </a:lnT>
                    <a:lnB w="0">
                      <a:noFill/>
                    </a:lnB>
                  </a:tcPr>
                </a:tc>
              </a:tr>
              <a:tr h="384048">
                <a:tc>
                  <a:txBody>
                    <a:bodyPr/>
                    <a:lstStyle/>
                    <a:p>
                      <a:pPr algn="l">
                        <a:defRPr sz="1100" b="1">
                          <a:solidFill>
                            <a:srgbClr val="5B21B6"/>
                          </a:solidFill>
                          <a:latin typeface="Segoe UI"/>
                        </a:defRPr>
                      </a:pPr>
                      <a:r>
                        <a:t>TX</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92</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$2,621,200</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50.4%</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48</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$1,678,891</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32.3%</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GA</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8</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$329,545</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6.3%</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PA</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5</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$182,976</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3.5%</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VA</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4</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$138,776</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2.7%</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CO</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$32,771</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0.6%</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TN</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$23,922</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0.5%</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MD</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$21,130</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0.4%</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MO</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$20,898</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0.4%</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OH</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$18,316</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0.4%</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ID</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$15,764</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0.3%</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MN</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$15,034</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0.3%</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SC</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$14,880</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0.3%</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MI</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$14,033</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0.3%</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AZ</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$13,649</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0.3%</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NH</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$12,128</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0.2%</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OK</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$11,870</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0.2%</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NC</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$11,445</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0.2%</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NE</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$11,350</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0.2%</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NJ</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$8,775</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0.2%</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NV</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2</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$3,718</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0.1%</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LA</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$1,100</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0.0%</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NM</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$550</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0.0%</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ND</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$550</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0.0%</a:t>
                      </a:r>
                    </a:p>
                  </a:txBody>
                  <a:tcPr anchor="ctr" marL="76200" marR="76200" marT="38100" marB="38100">
                    <a:solidFill>
                      <a:srgbClr val="F5F3FF"/>
                    </a:solidFill>
                    <a:lnL w="0">
                      <a:noFill/>
                    </a:lnL>
                    <a:lnR w="0">
                      <a:noFill/>
                    </a:lnR>
                    <a:lnT w="0">
                      <a:noFill/>
                    </a:lnT>
                    <a:lnB w="0">
                      <a:noFill/>
                    </a:lnB>
                  </a:tcPr>
                </a:tc>
              </a:tr>
              <a:tr h="384048">
                <a:tc>
                  <a:txBody>
                    <a:bodyPr/>
                    <a:lstStyle/>
                    <a:p>
                      <a:pPr algn="l">
                        <a:defRPr sz="1100" b="1">
                          <a:solidFill>
                            <a:srgbClr val="5B21B6"/>
                          </a:solidFill>
                          <a:latin typeface="Segoe UI"/>
                        </a:defRPr>
                      </a:pPr>
                      <a:r>
                        <a:t>MS</a:t>
                      </a:r>
                    </a:p>
                  </a:txBody>
                  <a:tcPr anchor="ctr" marL="76200" marR="76200" marT="38100" marB="38100">
                    <a:no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1100" b="1">
                          <a:solidFill>
                            <a:srgbClr val="1E073B"/>
                          </a:solidFill>
                          <a:latin typeface="Segoe UI"/>
                        </a:defRPr>
                      </a:pPr>
                      <a:r>
                        <a:t>$550</a:t>
                      </a:r>
                    </a:p>
                  </a:txBody>
                  <a:tcPr anchor="ctr" marL="76200" marR="76200" marT="38100" marB="38100">
                    <a:noFill/>
                    <a:lnL w="0">
                      <a:noFill/>
                    </a:lnL>
                    <a:lnR w="0">
                      <a:noFill/>
                    </a:lnR>
                    <a:lnT w="0">
                      <a:noFill/>
                    </a:lnT>
                    <a:lnB w="0">
                      <a:noFill/>
                    </a:lnB>
                  </a:tcPr>
                </a:tc>
                <a:tc>
                  <a:txBody>
                    <a:bodyPr/>
                    <a:lstStyle/>
                    <a:p>
                      <a:pPr algn="r">
                        <a:defRPr sz="1000" b="1">
                          <a:solidFill>
                            <a:srgbClr val="7C3AED"/>
                          </a:solidFill>
                          <a:latin typeface="Segoe UI"/>
                        </a:defRPr>
                      </a:pPr>
                      <a:r>
                        <a:t>0.0%</a:t>
                      </a:r>
                    </a:p>
                  </a:txBody>
                  <a:tcPr anchor="ctr" marL="76200" marR="76200" marT="38100" marB="38100">
                    <a:noFill/>
                    <a:lnL w="0">
                      <a:noFill/>
                    </a:lnL>
                    <a:lnR w="0">
                      <a:noFill/>
                    </a:lnR>
                    <a:lnT w="0">
                      <a:noFill/>
                    </a:lnT>
                    <a:lnB w="0">
                      <a:noFill/>
                    </a:lnB>
                  </a:tcPr>
                </a:tc>
              </a:tr>
              <a:tr h="384048">
                <a:tc>
                  <a:txBody>
                    <a:bodyPr/>
                    <a:lstStyle/>
                    <a:p>
                      <a:pPr algn="l">
                        <a:defRPr sz="1100" b="1">
                          <a:solidFill>
                            <a:srgbClr val="5B21B6"/>
                          </a:solidFill>
                          <a:latin typeface="Segoe UI"/>
                        </a:defRPr>
                      </a:pPr>
                      <a:r>
                        <a:t>UT</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1100" b="1">
                          <a:solidFill>
                            <a:srgbClr val="1E073B"/>
                          </a:solidFill>
                          <a:latin typeface="Segoe UI"/>
                        </a:defRPr>
                      </a:pPr>
                      <a:r>
                        <a:t>$550</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7C3AED"/>
                          </a:solidFill>
                          <a:latin typeface="Segoe UI"/>
                        </a:defRPr>
                      </a:pPr>
                      <a:r>
                        <a:t>0.0%</a:t>
                      </a:r>
                    </a:p>
                  </a:txBody>
                  <a:tcPr anchor="ctr" marL="76200" marR="76200" marT="38100" marB="38100">
                    <a:solidFill>
                      <a:srgbClr val="F5F3FF"/>
                    </a:solidFill>
                    <a:lnL w="0">
                      <a:noFill/>
                    </a:lnL>
                    <a:lnR w="0">
                      <a:noFill/>
                    </a:lnR>
                    <a:lnT w="0">
                      <a:noFill/>
                    </a:lnT>
                    <a:lnB w="0">
                      <a:noFill/>
                    </a:lnB>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400" b="1" i="0">
                <a:solidFill>
                  <a:srgbClr val="FFFFFF"/>
                </a:solidFill>
                <a:latin typeface="Segoe UI Light"/>
              </a:defRPr>
            </a:pPr>
            <a:r>
              <a:t>MARKETING CAMPAIGN IMPACT</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Feb Newsletter + Growth DSG + DSG Expansion</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63040"/>
            <a:ext cx="3657600" cy="10515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63040"/>
            <a:ext cx="365760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54480"/>
            <a:ext cx="3383280" cy="228600"/>
          </a:xfrm>
          <a:prstGeom prst="rect">
            <a:avLst/>
          </a:prstGeom>
          <a:noFill/>
        </p:spPr>
        <p:txBody>
          <a:bodyPr wrap="square">
            <a:spAutoFit/>
          </a:bodyPr>
          <a:lstStyle/>
          <a:p>
            <a:pPr algn="l">
              <a:defRPr sz="1000" b="1" i="0">
                <a:solidFill>
                  <a:srgbClr val="7C3AED"/>
                </a:solidFill>
                <a:latin typeface="Segoe UI Semibold"/>
              </a:defRPr>
            </a:pPr>
            <a:r>
              <a:t>Agent Newsletter: Feb 2026</a:t>
            </a:r>
          </a:p>
        </p:txBody>
      </p:sp>
      <p:sp>
        <p:nvSpPr>
          <p:cNvPr id="14" name="TextBox 13"/>
          <p:cNvSpPr txBox="1"/>
          <p:nvPr/>
        </p:nvSpPr>
        <p:spPr>
          <a:xfrm>
            <a:off x="411480" y="1828800"/>
            <a:ext cx="3383280" cy="228600"/>
          </a:xfrm>
          <a:prstGeom prst="rect">
            <a:avLst/>
          </a:prstGeom>
          <a:noFill/>
        </p:spPr>
        <p:txBody>
          <a:bodyPr wrap="square">
            <a:spAutoFit/>
          </a:bodyPr>
          <a:lstStyle/>
          <a:p>
            <a:pPr algn="l">
              <a:defRPr sz="800" b="0" i="0">
                <a:solidFill>
                  <a:srgbClr val="6B5F83"/>
                </a:solidFill>
                <a:latin typeface="Segoe UI"/>
              </a:defRPr>
            </a:pPr>
            <a:r>
              <a:t>~2,399 recipients</a:t>
            </a:r>
          </a:p>
        </p:txBody>
      </p:sp>
      <p:sp>
        <p:nvSpPr>
          <p:cNvPr id="15" name="TextBox 14"/>
          <p:cNvSpPr txBox="1"/>
          <p:nvPr/>
        </p:nvSpPr>
        <p:spPr>
          <a:xfrm>
            <a:off x="411480" y="2103120"/>
            <a:ext cx="3383280" cy="274320"/>
          </a:xfrm>
          <a:prstGeom prst="rect">
            <a:avLst/>
          </a:prstGeom>
          <a:noFill/>
        </p:spPr>
        <p:txBody>
          <a:bodyPr wrap="square">
            <a:spAutoFit/>
          </a:bodyPr>
          <a:lstStyle/>
          <a:p>
            <a:pPr algn="l">
              <a:defRPr sz="800" b="1" i="0">
                <a:solidFill>
                  <a:srgbClr val="2D233F"/>
                </a:solidFill>
                <a:latin typeface="Segoe UI"/>
              </a:defRPr>
            </a:pPr>
            <a:r>
              <a:t>4 confirmed  |  7 likely  |  ~69% reached</a:t>
            </a:r>
          </a:p>
        </p:txBody>
      </p:sp>
      <p:sp>
        <p:nvSpPr>
          <p:cNvPr id="16" name="Rounded Rectangle 15"/>
          <p:cNvSpPr/>
          <p:nvPr/>
        </p:nvSpPr>
        <p:spPr>
          <a:xfrm>
            <a:off x="4160520" y="1463040"/>
            <a:ext cx="3657600" cy="10515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60520" y="1463040"/>
            <a:ext cx="3657600" cy="4572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1554480"/>
            <a:ext cx="3383280" cy="228600"/>
          </a:xfrm>
          <a:prstGeom prst="rect">
            <a:avLst/>
          </a:prstGeom>
          <a:noFill/>
        </p:spPr>
        <p:txBody>
          <a:bodyPr wrap="square">
            <a:spAutoFit/>
          </a:bodyPr>
          <a:lstStyle/>
          <a:p>
            <a:pPr algn="l">
              <a:defRPr sz="1000" b="1" i="0">
                <a:solidFill>
                  <a:srgbClr val="D946EF"/>
                </a:solidFill>
                <a:latin typeface="Segoe UI Semibold"/>
              </a:defRPr>
            </a:pPr>
            <a:r>
              <a:t>Growth DSG Campaign</a:t>
            </a:r>
          </a:p>
        </p:txBody>
      </p:sp>
      <p:sp>
        <p:nvSpPr>
          <p:cNvPr id="19" name="TextBox 18"/>
          <p:cNvSpPr txBox="1"/>
          <p:nvPr/>
        </p:nvSpPr>
        <p:spPr>
          <a:xfrm>
            <a:off x="4297680" y="1828800"/>
            <a:ext cx="3383280" cy="228600"/>
          </a:xfrm>
          <a:prstGeom prst="rect">
            <a:avLst/>
          </a:prstGeom>
          <a:noFill/>
        </p:spPr>
        <p:txBody>
          <a:bodyPr wrap="square">
            <a:spAutoFit/>
          </a:bodyPr>
          <a:lstStyle/>
          <a:p>
            <a:pPr algn="l">
              <a:defRPr sz="800" b="0" i="0">
                <a:solidFill>
                  <a:srgbClr val="6B5F83"/>
                </a:solidFill>
                <a:latin typeface="Segoe UI"/>
              </a:defRPr>
            </a:pPr>
            <a:r>
              <a:t>7,297 sent  |  2,052 opened (28.8%)</a:t>
            </a:r>
          </a:p>
        </p:txBody>
      </p:sp>
      <p:sp>
        <p:nvSpPr>
          <p:cNvPr id="20" name="TextBox 19"/>
          <p:cNvSpPr txBox="1"/>
          <p:nvPr/>
        </p:nvSpPr>
        <p:spPr>
          <a:xfrm>
            <a:off x="4297680" y="2103120"/>
            <a:ext cx="3383280" cy="274320"/>
          </a:xfrm>
          <a:prstGeom prst="rect">
            <a:avLst/>
          </a:prstGeom>
          <a:noFill/>
        </p:spPr>
        <p:txBody>
          <a:bodyPr wrap="square">
            <a:spAutoFit/>
          </a:bodyPr>
          <a:lstStyle/>
          <a:p>
            <a:pPr algn="l">
              <a:defRPr sz="800" b="1" i="0">
                <a:solidFill>
                  <a:srgbClr val="2D233F"/>
                </a:solidFill>
                <a:latin typeface="Segoe UI"/>
              </a:defRPr>
            </a:pPr>
            <a:r>
              <a:t>1,200 influenced  |  5 bound agents direct</a:t>
            </a:r>
          </a:p>
        </p:txBody>
      </p:sp>
      <p:sp>
        <p:nvSpPr>
          <p:cNvPr id="21" name="Rounded Rectangle 20"/>
          <p:cNvSpPr/>
          <p:nvPr/>
        </p:nvSpPr>
        <p:spPr>
          <a:xfrm>
            <a:off x="8046720" y="1463040"/>
            <a:ext cx="3657600" cy="10515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46720" y="1463040"/>
            <a:ext cx="3657600"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80" y="1554480"/>
            <a:ext cx="3383280" cy="228600"/>
          </a:xfrm>
          <a:prstGeom prst="rect">
            <a:avLst/>
          </a:prstGeom>
          <a:noFill/>
        </p:spPr>
        <p:txBody>
          <a:bodyPr wrap="square">
            <a:spAutoFit/>
          </a:bodyPr>
          <a:lstStyle/>
          <a:p>
            <a:pPr algn="l">
              <a:defRPr sz="1000" b="1" i="0">
                <a:solidFill>
                  <a:srgbClr val="10B981"/>
                </a:solidFill>
                <a:latin typeface="Segoe UI Semibold"/>
              </a:defRPr>
            </a:pPr>
            <a:r>
              <a:t>DSG Expansion Announcement</a:t>
            </a:r>
          </a:p>
        </p:txBody>
      </p:sp>
      <p:sp>
        <p:nvSpPr>
          <p:cNvPr id="24" name="TextBox 23"/>
          <p:cNvSpPr txBox="1"/>
          <p:nvPr/>
        </p:nvSpPr>
        <p:spPr>
          <a:xfrm>
            <a:off x="8183880" y="1828800"/>
            <a:ext cx="3383280" cy="228600"/>
          </a:xfrm>
          <a:prstGeom prst="rect">
            <a:avLst/>
          </a:prstGeom>
          <a:noFill/>
        </p:spPr>
        <p:txBody>
          <a:bodyPr wrap="square">
            <a:spAutoFit/>
          </a:bodyPr>
          <a:lstStyle/>
          <a:p>
            <a:pPr algn="l">
              <a:defRPr sz="800" b="0" i="0">
                <a:solidFill>
                  <a:srgbClr val="6B5F83"/>
                </a:solidFill>
                <a:latin typeface="Segoe UI"/>
              </a:defRPr>
            </a:pPr>
            <a:r>
              <a:t>DSG expansion email to agents</a:t>
            </a:r>
          </a:p>
        </p:txBody>
      </p:sp>
      <p:sp>
        <p:nvSpPr>
          <p:cNvPr id="25" name="TextBox 24"/>
          <p:cNvSpPr txBox="1"/>
          <p:nvPr/>
        </p:nvSpPr>
        <p:spPr>
          <a:xfrm>
            <a:off x="8183880" y="2103120"/>
            <a:ext cx="3383280" cy="274320"/>
          </a:xfrm>
          <a:prstGeom prst="rect">
            <a:avLst/>
          </a:prstGeom>
          <a:noFill/>
        </p:spPr>
        <p:txBody>
          <a:bodyPr wrap="square">
            <a:spAutoFit/>
          </a:bodyPr>
          <a:lstStyle/>
          <a:p>
            <a:pPr algn="l">
              <a:defRPr sz="800" b="1" i="0">
                <a:solidFill>
                  <a:srgbClr val="2D233F"/>
                </a:solidFill>
                <a:latin typeface="Segoe UI"/>
              </a:defRPr>
            </a:pPr>
            <a:r>
              <a:t>Part of broader DSG launch outreach</a:t>
            </a:r>
          </a:p>
        </p:txBody>
      </p:sp>
      <p:sp>
        <p:nvSpPr>
          <p:cNvPr id="26" name="Rounded Rectangle 25"/>
          <p:cNvSpPr/>
          <p:nvPr/>
        </p:nvSpPr>
        <p:spPr>
          <a:xfrm>
            <a:off x="274320" y="2697480"/>
            <a:ext cx="2743200" cy="384048"/>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2697480"/>
            <a:ext cx="54864" cy="3840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734056"/>
            <a:ext cx="685800" cy="310896"/>
          </a:xfrm>
          <a:prstGeom prst="rect">
            <a:avLst/>
          </a:prstGeom>
          <a:noFill/>
        </p:spPr>
        <p:txBody>
          <a:bodyPr wrap="square">
            <a:spAutoFit/>
          </a:bodyPr>
          <a:lstStyle/>
          <a:p>
            <a:pPr algn="l">
              <a:defRPr sz="1400" b="1" i="0">
                <a:solidFill>
                  <a:srgbClr val="10B981"/>
                </a:solidFill>
                <a:latin typeface="Segoe UI"/>
              </a:defRPr>
            </a:pPr>
            <a:r>
              <a:t>5 / 16</a:t>
            </a:r>
          </a:p>
        </p:txBody>
      </p:sp>
      <p:sp>
        <p:nvSpPr>
          <p:cNvPr id="29" name="TextBox 28"/>
          <p:cNvSpPr txBox="1"/>
          <p:nvPr/>
        </p:nvSpPr>
        <p:spPr>
          <a:xfrm>
            <a:off x="1143000" y="2770632"/>
            <a:ext cx="1737360" cy="237744"/>
          </a:xfrm>
          <a:prstGeom prst="rect">
            <a:avLst/>
          </a:prstGeom>
          <a:noFill/>
        </p:spPr>
        <p:txBody>
          <a:bodyPr wrap="square">
            <a:spAutoFit/>
          </a:bodyPr>
          <a:lstStyle/>
          <a:p>
            <a:pPr algn="l">
              <a:defRPr sz="900" b="0" i="0">
                <a:solidFill>
                  <a:srgbClr val="6B5F83"/>
                </a:solidFill>
                <a:latin typeface="Segoe UI"/>
              </a:defRPr>
            </a:pPr>
            <a:r>
              <a:t>Direct DSG Influenced</a:t>
            </a:r>
          </a:p>
        </p:txBody>
      </p:sp>
      <p:sp>
        <p:nvSpPr>
          <p:cNvPr id="30" name="Rounded Rectangle 29"/>
          <p:cNvSpPr/>
          <p:nvPr/>
        </p:nvSpPr>
        <p:spPr>
          <a:xfrm>
            <a:off x="3200400" y="2697480"/>
            <a:ext cx="2743200" cy="384048"/>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00400" y="2697480"/>
            <a:ext cx="54864" cy="3840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7560" y="2734056"/>
            <a:ext cx="685800" cy="310896"/>
          </a:xfrm>
          <a:prstGeom prst="rect">
            <a:avLst/>
          </a:prstGeom>
          <a:noFill/>
        </p:spPr>
        <p:txBody>
          <a:bodyPr wrap="square">
            <a:spAutoFit/>
          </a:bodyPr>
          <a:lstStyle/>
          <a:p>
            <a:pPr algn="l">
              <a:defRPr sz="1400" b="1" i="0">
                <a:solidFill>
                  <a:srgbClr val="7C3AED"/>
                </a:solidFill>
                <a:latin typeface="Segoe UI"/>
              </a:defRPr>
            </a:pPr>
            <a:r>
              <a:t>7 / 16</a:t>
            </a:r>
          </a:p>
        </p:txBody>
      </p:sp>
      <p:sp>
        <p:nvSpPr>
          <p:cNvPr id="33" name="TextBox 32"/>
          <p:cNvSpPr txBox="1"/>
          <p:nvPr/>
        </p:nvSpPr>
        <p:spPr>
          <a:xfrm>
            <a:off x="4069080" y="2770632"/>
            <a:ext cx="1737360" cy="237744"/>
          </a:xfrm>
          <a:prstGeom prst="rect">
            <a:avLst/>
          </a:prstGeom>
          <a:noFill/>
        </p:spPr>
        <p:txBody>
          <a:bodyPr wrap="square">
            <a:spAutoFit/>
          </a:bodyPr>
          <a:lstStyle/>
          <a:p>
            <a:pPr algn="l">
              <a:defRPr sz="900" b="0" i="0">
                <a:solidFill>
                  <a:srgbClr val="6B5F83"/>
                </a:solidFill>
                <a:latin typeface="Segoe UI"/>
              </a:defRPr>
            </a:pPr>
            <a:r>
              <a:t>DSG Agency Touch</a:t>
            </a:r>
          </a:p>
        </p:txBody>
      </p:sp>
      <p:sp>
        <p:nvSpPr>
          <p:cNvPr id="34" name="Rounded Rectangle 33"/>
          <p:cNvSpPr/>
          <p:nvPr/>
        </p:nvSpPr>
        <p:spPr>
          <a:xfrm>
            <a:off x="6126480" y="2697480"/>
            <a:ext cx="2743200" cy="384048"/>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26480" y="2697480"/>
            <a:ext cx="54864" cy="384048"/>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2734056"/>
            <a:ext cx="685800" cy="310896"/>
          </a:xfrm>
          <a:prstGeom prst="rect">
            <a:avLst/>
          </a:prstGeom>
          <a:noFill/>
        </p:spPr>
        <p:txBody>
          <a:bodyPr wrap="square">
            <a:spAutoFit/>
          </a:bodyPr>
          <a:lstStyle/>
          <a:p>
            <a:pPr algn="l">
              <a:defRPr sz="1400" b="1" i="0">
                <a:solidFill>
                  <a:srgbClr val="D946EF"/>
                </a:solidFill>
                <a:latin typeface="Segoe UI"/>
              </a:defRPr>
            </a:pPr>
            <a:r>
              <a:t>11 / 16</a:t>
            </a:r>
          </a:p>
        </p:txBody>
      </p:sp>
      <p:sp>
        <p:nvSpPr>
          <p:cNvPr id="37" name="TextBox 36"/>
          <p:cNvSpPr txBox="1"/>
          <p:nvPr/>
        </p:nvSpPr>
        <p:spPr>
          <a:xfrm>
            <a:off x="6995160" y="2770632"/>
            <a:ext cx="1737360" cy="237744"/>
          </a:xfrm>
          <a:prstGeom prst="rect">
            <a:avLst/>
          </a:prstGeom>
          <a:noFill/>
        </p:spPr>
        <p:txBody>
          <a:bodyPr wrap="square">
            <a:spAutoFit/>
          </a:bodyPr>
          <a:lstStyle/>
          <a:p>
            <a:pPr algn="l">
              <a:defRPr sz="900" b="0" i="0">
                <a:solidFill>
                  <a:srgbClr val="6B5F83"/>
                </a:solidFill>
                <a:latin typeface="Segoe UI"/>
              </a:defRPr>
            </a:pPr>
            <a:r>
              <a:t>Newsletter Reach (Est.)</a:t>
            </a:r>
          </a:p>
        </p:txBody>
      </p:sp>
      <p:sp>
        <p:nvSpPr>
          <p:cNvPr id="38" name="Rounded Rectangle 37"/>
          <p:cNvSpPr/>
          <p:nvPr/>
        </p:nvSpPr>
        <p:spPr>
          <a:xfrm>
            <a:off x="9052560" y="2697480"/>
            <a:ext cx="2743200" cy="384048"/>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52560" y="2697480"/>
            <a:ext cx="54864" cy="384048"/>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89720" y="2734056"/>
            <a:ext cx="685800" cy="310896"/>
          </a:xfrm>
          <a:prstGeom prst="rect">
            <a:avLst/>
          </a:prstGeom>
          <a:noFill/>
        </p:spPr>
        <p:txBody>
          <a:bodyPr wrap="square">
            <a:spAutoFit/>
          </a:bodyPr>
          <a:lstStyle/>
          <a:p>
            <a:pPr algn="l">
              <a:defRPr sz="1400" b="1" i="0">
                <a:solidFill>
                  <a:srgbClr val="8B5CF6"/>
                </a:solidFill>
                <a:latin typeface="Segoe UI"/>
              </a:defRPr>
            </a:pPr>
            <a:r>
              <a:t>13 / 16</a:t>
            </a:r>
          </a:p>
        </p:txBody>
      </p:sp>
      <p:sp>
        <p:nvSpPr>
          <p:cNvPr id="41" name="TextBox 40"/>
          <p:cNvSpPr txBox="1"/>
          <p:nvPr/>
        </p:nvSpPr>
        <p:spPr>
          <a:xfrm>
            <a:off x="9921240" y="2770632"/>
            <a:ext cx="1737360" cy="237744"/>
          </a:xfrm>
          <a:prstGeom prst="rect">
            <a:avLst/>
          </a:prstGeom>
          <a:noFill/>
        </p:spPr>
        <p:txBody>
          <a:bodyPr wrap="square">
            <a:spAutoFit/>
          </a:bodyPr>
          <a:lstStyle/>
          <a:p>
            <a:pPr algn="l">
              <a:defRPr sz="900" b="0" i="0">
                <a:solidFill>
                  <a:srgbClr val="6B5F83"/>
                </a:solidFill>
                <a:latin typeface="Segoe UI"/>
              </a:defRPr>
            </a:pPr>
            <a:r>
              <a:t>Currently Marketable</a:t>
            </a:r>
          </a:p>
        </p:txBody>
      </p:sp>
      <p:graphicFrame>
        <p:nvGraphicFramePr>
          <p:cNvPr id="42" name="Table 41"/>
          <p:cNvGraphicFramePr>
            <a:graphicFrameLocks noGrp="1"/>
          </p:cNvGraphicFramePr>
          <p:nvPr/>
        </p:nvGraphicFramePr>
        <p:xfrm>
          <a:off x="274320" y="3246120"/>
          <a:ext cx="8686800" cy="3264408"/>
        </p:xfrm>
        <a:graphic>
          <a:graphicData uri="http://schemas.openxmlformats.org/drawingml/2006/table">
            <a:tbl>
              <a:tblPr firstRow="0" bandRow="0" bandCol="0" lastRow="0">
                <a:tableStyleId>{5C22544A-7EE6-4342-B048-85BDC9FD1C3A}</a:tableStyleId>
              </a:tblPr>
              <a:tblGrid>
                <a:gridCol w="1645920"/>
                <a:gridCol w="1645920"/>
                <a:gridCol w="640080"/>
                <a:gridCol w="1005840"/>
                <a:gridCol w="1005840"/>
                <a:gridCol w="2743200"/>
              </a:tblGrid>
              <a:tr h="192024">
                <a:tc>
                  <a:txBody>
                    <a:bodyPr/>
                    <a:lstStyle/>
                    <a:p>
                      <a:pPr algn="l">
                        <a:defRPr sz="800" b="1">
                          <a:solidFill>
                            <a:srgbClr val="FFFFFF"/>
                          </a:solidFill>
                          <a:latin typeface="Segoe UI Semibold"/>
                        </a:defRPr>
                      </a:pPr>
                      <a:r>
                        <a:t>Agent</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DSG Infl.</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Newsletter</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DSG Campaign</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Campaign Detail</a:t>
                      </a:r>
                    </a:p>
                  </a:txBody>
                  <a:tcPr anchor="ctr" marL="76200" marR="76200" marT="38100" marB="38100">
                    <a:solidFill>
                      <a:srgbClr val="5B21B6"/>
                    </a:solidFill>
                    <a:lnL w="0">
                      <a:noFill/>
                    </a:lnL>
                    <a:lnR w="0">
                      <a:noFill/>
                    </a:lnR>
                    <a:lnT w="0">
                      <a:noFill/>
                    </a:lnT>
                    <a:lnB w="0">
                      <a:noFill/>
                    </a:lnB>
                  </a:tcPr>
                </a:tc>
              </a:tr>
              <a:tr h="192024">
                <a:tc>
                  <a:txBody>
                    <a:bodyPr/>
                    <a:lstStyle/>
                    <a:p>
                      <a:pPr algn="l">
                        <a:defRPr sz="800" b="1">
                          <a:solidFill>
                            <a:srgbClr val="1E073B"/>
                          </a:solidFill>
                          <a:latin typeface="Segoe UI"/>
                        </a:defRPr>
                      </a:pPr>
                      <a:r>
                        <a:t>David Rodriguez</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DNIS Inc.</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1">
                          <a:solidFill>
                            <a:srgbClr val="7C3AED"/>
                          </a:solidFill>
                          <a:latin typeface="Segoe UI"/>
                        </a:defRPr>
                      </a:pPr>
                      <a:r>
                        <a:t>Likely</a:t>
                      </a:r>
                    </a:p>
                  </a:txBody>
                  <a:tcPr anchor="ctr" marL="76200" marR="76200" marT="38100" marB="38100">
                    <a:no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Not in influenced contacts</a:t>
                      </a:r>
                    </a:p>
                  </a:txBody>
                  <a:tcPr anchor="ctr" marL="76200" marR="76200" marT="38100" marB="38100">
                    <a:noFill/>
                    <a:lnL w="0">
                      <a:noFill/>
                    </a:lnL>
                    <a:lnR w="0">
                      <a:noFill/>
                    </a:lnR>
                    <a:lnT w="0">
                      <a:noFill/>
                    </a:lnT>
                    <a:lnB w="0">
                      <a:noFill/>
                    </a:lnB>
                  </a:tcPr>
                </a:tc>
              </a:tr>
              <a:tr h="192024">
                <a:tc>
                  <a:txBody>
                    <a:bodyPr/>
                    <a:lstStyle/>
                    <a:p>
                      <a:pPr algn="l">
                        <a:defRPr sz="800" b="1">
                          <a:solidFill>
                            <a:srgbClr val="1E073B"/>
                          </a:solidFill>
                          <a:latin typeface="Segoe UI"/>
                        </a:defRPr>
                      </a:pPr>
                      <a:r>
                        <a:t>Bart Proud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Western Truck Ins.</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Confirmed</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Not in influenced contacts</a:t>
                      </a:r>
                    </a:p>
                  </a:txBody>
                  <a:tcPr anchor="ctr" marL="76200" marR="76200" marT="38100" marB="38100">
                    <a:solidFill>
                      <a:srgbClr val="F5F3FF"/>
                    </a:solidFill>
                    <a:lnL w="0">
                      <a:noFill/>
                    </a:lnL>
                    <a:lnR w="0">
                      <a:noFill/>
                    </a:lnR>
                    <a:lnT w="0">
                      <a:noFill/>
                    </a:lnT>
                    <a:lnB w="0">
                      <a:noFill/>
                    </a:lnB>
                  </a:tcPr>
                </a:tc>
              </a:tr>
              <a:tr h="192024">
                <a:tc>
                  <a:txBody>
                    <a:bodyPr/>
                    <a:lstStyle/>
                    <a:p>
                      <a:pPr algn="l">
                        <a:defRPr sz="800" b="1">
                          <a:solidFill>
                            <a:srgbClr val="1E073B"/>
                          </a:solidFill>
                          <a:latin typeface="Segoe UI"/>
                        </a:defRPr>
                      </a:pPr>
                      <a:r>
                        <a:t>LARISA DAVTYAN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Safeline Ins.</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800" b="1">
                          <a:solidFill>
                            <a:srgbClr val="7C3AED"/>
                          </a:solidFill>
                          <a:latin typeface="Segoe UI"/>
                        </a:defRPr>
                      </a:pPr>
                      <a:r>
                        <a:t>Likely</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Direct</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julia@safeline also influenced</a:t>
                      </a:r>
                    </a:p>
                  </a:txBody>
                  <a:tcPr anchor="ctr" marL="76200" marR="76200" marT="38100" marB="38100">
                    <a:noFill/>
                    <a:lnL w="0">
                      <a:noFill/>
                    </a:lnL>
                    <a:lnR w="0">
                      <a:noFill/>
                    </a:lnR>
                    <a:lnT w="0">
                      <a:noFill/>
                    </a:lnT>
                    <a:lnB w="0">
                      <a:noFill/>
                    </a:lnB>
                  </a:tcPr>
                </a:tc>
              </a:tr>
              <a:tr h="192024">
                <a:tc>
                  <a:txBody>
                    <a:bodyPr/>
                    <a:lstStyle/>
                    <a:p>
                      <a:pPr algn="l">
                        <a:defRPr sz="800" b="1">
                          <a:solidFill>
                            <a:srgbClr val="1E073B"/>
                          </a:solidFill>
                          <a:latin typeface="Segoe UI"/>
                        </a:defRPr>
                      </a:pPr>
                      <a:r>
                        <a:t>Venizelos Papadopoulos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Exclusive Financial</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7C3AED"/>
                          </a:solidFill>
                          <a:latin typeface="Segoe UI"/>
                        </a:defRPr>
                      </a:pPr>
                      <a:r>
                        <a:t>Likely</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Not in influenced contacts</a:t>
                      </a:r>
                    </a:p>
                  </a:txBody>
                  <a:tcPr anchor="ctr" marL="76200" marR="76200" marT="38100" marB="38100">
                    <a:solidFill>
                      <a:srgbClr val="F5F3FF"/>
                    </a:solidFill>
                    <a:lnL w="0">
                      <a:noFill/>
                    </a:lnL>
                    <a:lnR w="0">
                      <a:noFill/>
                    </a:lnR>
                    <a:lnT w="0">
                      <a:noFill/>
                    </a:lnT>
                    <a:lnB w="0">
                      <a:noFill/>
                    </a:lnB>
                  </a:tcPr>
                </a:tc>
              </a:tr>
              <a:tr h="192024">
                <a:tc>
                  <a:txBody>
                    <a:bodyPr/>
                    <a:lstStyle/>
                    <a:p>
                      <a:pPr algn="l">
                        <a:defRPr sz="800" b="1">
                          <a:solidFill>
                            <a:srgbClr val="1E073B"/>
                          </a:solidFill>
                          <a:latin typeface="Segoe UI"/>
                        </a:defRPr>
                      </a:pPr>
                      <a:r>
                        <a:t>Zachary Flowers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Waypoint Agency</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4</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Confirmed</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Direct</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Matt &amp; Amy Flowers also influenced</a:t>
                      </a:r>
                    </a:p>
                  </a:txBody>
                  <a:tcPr anchor="ctr" marL="76200" marR="76200" marT="38100" marB="38100">
                    <a:noFill/>
                    <a:lnL w="0">
                      <a:noFill/>
                    </a:lnL>
                    <a:lnR w="0">
                      <a:noFill/>
                    </a:lnR>
                    <a:lnT w="0">
                      <a:noFill/>
                    </a:lnT>
                    <a:lnB w="0">
                      <a:noFill/>
                    </a:lnB>
                  </a:tcPr>
                </a:tc>
              </a:tr>
              <a:tr h="192024">
                <a:tc>
                  <a:txBody>
                    <a:bodyPr/>
                    <a:lstStyle/>
                    <a:p>
                      <a:pPr algn="l">
                        <a:defRPr sz="800" b="1">
                          <a:solidFill>
                            <a:srgbClr val="1E073B"/>
                          </a:solidFill>
                          <a:latin typeface="Segoe UI"/>
                        </a:defRPr>
                      </a:pPr>
                      <a:r>
                        <a:t>Yulia Shostak</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Paramount Excl.</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Opted out / not marketable</a:t>
                      </a:r>
                    </a:p>
                  </a:txBody>
                  <a:tcPr anchor="ctr" marL="76200" marR="76200" marT="38100" marB="38100">
                    <a:solidFill>
                      <a:srgbClr val="F5F3FF"/>
                    </a:solidFill>
                    <a:lnL w="0">
                      <a:noFill/>
                    </a:lnL>
                    <a:lnR w="0">
                      <a:noFill/>
                    </a:lnR>
                    <a:lnT w="0">
                      <a:noFill/>
                    </a:lnT>
                    <a:lnB w="0">
                      <a:noFill/>
                    </a:lnB>
                  </a:tcPr>
                </a:tc>
              </a:tr>
              <a:tr h="192024">
                <a:tc>
                  <a:txBody>
                    <a:bodyPr/>
                    <a:lstStyle/>
                    <a:p>
                      <a:pPr algn="l">
                        <a:defRPr sz="800" b="1">
                          <a:solidFill>
                            <a:srgbClr val="1E073B"/>
                          </a:solidFill>
                          <a:latin typeface="Segoe UI"/>
                        </a:defRPr>
                      </a:pPr>
                      <a:r>
                        <a:t>Mustapha Rahal</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Combined Ins. &amp; Tax</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1">
                          <a:solidFill>
                            <a:srgbClr val="7C3AED"/>
                          </a:solidFill>
                          <a:latin typeface="Segoe UI"/>
                        </a:defRPr>
                      </a:pPr>
                      <a:r>
                        <a:t>Likely</a:t>
                      </a:r>
                    </a:p>
                  </a:txBody>
                  <a:tcPr anchor="ctr" marL="76200" marR="76200" marT="38100" marB="38100">
                    <a:no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Not in influenced contacts</a:t>
                      </a:r>
                    </a:p>
                  </a:txBody>
                  <a:tcPr anchor="ctr" marL="76200" marR="76200" marT="38100" marB="38100">
                    <a:noFill/>
                    <a:lnL w="0">
                      <a:noFill/>
                    </a:lnL>
                    <a:lnR w="0">
                      <a:noFill/>
                    </a:lnR>
                    <a:lnT w="0">
                      <a:noFill/>
                    </a:lnT>
                    <a:lnB w="0">
                      <a:noFill/>
                    </a:lnB>
                  </a:tcPr>
                </a:tc>
              </a:tr>
              <a:tr h="192024">
                <a:tc>
                  <a:txBody>
                    <a:bodyPr/>
                    <a:lstStyle/>
                    <a:p>
                      <a:pPr algn="l">
                        <a:defRPr sz="800" b="1">
                          <a:solidFill>
                            <a:srgbClr val="1E073B"/>
                          </a:solidFill>
                          <a:latin typeface="Segoe UI"/>
                        </a:defRPr>
                      </a:pPr>
                      <a:r>
                        <a:t>Betty Reyes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Christian Charles</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Confirmed</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Not in influenced contacts</a:t>
                      </a:r>
                    </a:p>
                  </a:txBody>
                  <a:tcPr anchor="ctr" marL="76200" marR="76200" marT="38100" marB="38100">
                    <a:solidFill>
                      <a:srgbClr val="F5F3FF"/>
                    </a:solidFill>
                    <a:lnL w="0">
                      <a:noFill/>
                    </a:lnL>
                    <a:lnR w="0">
                      <a:noFill/>
                    </a:lnR>
                    <a:lnT w="0">
                      <a:noFill/>
                    </a:lnT>
                    <a:lnB w="0">
                      <a:noFill/>
                    </a:lnB>
                  </a:tcPr>
                </a:tc>
              </a:tr>
              <a:tr h="192024">
                <a:tc>
                  <a:txBody>
                    <a:bodyPr/>
                    <a:lstStyle/>
                    <a:p>
                      <a:pPr algn="l">
                        <a:defRPr sz="800" b="1">
                          <a:solidFill>
                            <a:srgbClr val="1E073B"/>
                          </a:solidFill>
                          <a:latin typeface="Segoe UI"/>
                        </a:defRPr>
                      </a:pPr>
                      <a:r>
                        <a:t>Fernando Trevino</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Insurance4Truckers</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Confirmed</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Direct</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Direct match in campaign</a:t>
                      </a:r>
                    </a:p>
                  </a:txBody>
                  <a:tcPr anchor="ctr" marL="76200" marR="76200" marT="38100" marB="38100">
                    <a:noFill/>
                    <a:lnL w="0">
                      <a:noFill/>
                    </a:lnL>
                    <a:lnR w="0">
                      <a:noFill/>
                    </a:lnR>
                    <a:lnT w="0">
                      <a:noFill/>
                    </a:lnT>
                    <a:lnB w="0">
                      <a:noFill/>
                    </a:lnB>
                  </a:tcPr>
                </a:tc>
              </a:tr>
              <a:tr h="192024">
                <a:tc>
                  <a:txBody>
                    <a:bodyPr/>
                    <a:lstStyle/>
                    <a:p>
                      <a:pPr algn="l">
                        <a:defRPr sz="800" b="1">
                          <a:solidFill>
                            <a:srgbClr val="1E073B"/>
                          </a:solidFill>
                          <a:latin typeface="Segoe UI"/>
                        </a:defRPr>
                      </a:pPr>
                      <a:r>
                        <a:t>Jeff Ornelas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Appalachian UW</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7C3AED"/>
                          </a:solidFill>
                          <a:latin typeface="Segoe UI"/>
                        </a:defRPr>
                      </a:pPr>
                      <a:r>
                        <a:t>Likely</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Not in influenced contacts</a:t>
                      </a:r>
                    </a:p>
                  </a:txBody>
                  <a:tcPr anchor="ctr" marL="76200" marR="76200" marT="38100" marB="38100">
                    <a:solidFill>
                      <a:srgbClr val="F5F3FF"/>
                    </a:solidFill>
                    <a:lnL w="0">
                      <a:noFill/>
                    </a:lnL>
                    <a:lnR w="0">
                      <a:noFill/>
                    </a:lnR>
                    <a:lnT w="0">
                      <a:noFill/>
                    </a:lnT>
                    <a:lnB w="0">
                      <a:noFill/>
                    </a:lnB>
                  </a:tcPr>
                </a:tc>
              </a:tr>
              <a:tr h="192024">
                <a:tc>
                  <a:txBody>
                    <a:bodyPr/>
                    <a:lstStyle/>
                    <a:p>
                      <a:pPr algn="l">
                        <a:defRPr sz="800" b="1">
                          <a:solidFill>
                            <a:srgbClr val="1E073B"/>
                          </a:solidFill>
                          <a:latin typeface="Segoe UI"/>
                        </a:defRPr>
                      </a:pPr>
                      <a:r>
                        <a:t>Colton Duty</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Resolute Ins. Grp</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1">
                          <a:solidFill>
                            <a:srgbClr val="7C3AED"/>
                          </a:solidFill>
                          <a:latin typeface="Segoe UI"/>
                        </a:defRPr>
                      </a:pPr>
                      <a:r>
                        <a:t>Likely</a:t>
                      </a:r>
                    </a:p>
                  </a:txBody>
                  <a:tcPr anchor="ctr" marL="76200" marR="76200" marT="38100" marB="38100">
                    <a:no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Not in influenced contacts</a:t>
                      </a:r>
                    </a:p>
                  </a:txBody>
                  <a:tcPr anchor="ctr" marL="76200" marR="76200" marT="38100" marB="38100">
                    <a:noFill/>
                    <a:lnL w="0">
                      <a:noFill/>
                    </a:lnL>
                    <a:lnR w="0">
                      <a:noFill/>
                    </a:lnR>
                    <a:lnT w="0">
                      <a:noFill/>
                    </a:lnT>
                    <a:lnB w="0">
                      <a:noFill/>
                    </a:lnB>
                  </a:tcPr>
                </a:tc>
              </a:tr>
              <a:tr h="192024">
                <a:tc>
                  <a:txBody>
                    <a:bodyPr/>
                    <a:lstStyle/>
                    <a:p>
                      <a:pPr algn="l">
                        <a:defRPr sz="800" b="1">
                          <a:solidFill>
                            <a:srgbClr val="1E073B"/>
                          </a:solidFill>
                          <a:latin typeface="Segoe UI"/>
                        </a:defRPr>
                      </a:pPr>
                      <a:r>
                        <a:t>Lynda Inderjeet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R-T Specialty</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7C3AED"/>
                          </a:solidFill>
                          <a:latin typeface="Segoe UI"/>
                        </a:defRPr>
                      </a:pPr>
                      <a:r>
                        <a:t>Likely</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Direct</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Tyler Hussey also influenced</a:t>
                      </a:r>
                    </a:p>
                  </a:txBody>
                  <a:tcPr anchor="ctr" marL="76200" marR="76200" marT="38100" marB="38100">
                    <a:solidFill>
                      <a:srgbClr val="F5F3FF"/>
                    </a:solidFill>
                    <a:lnL w="0">
                      <a:noFill/>
                    </a:lnL>
                    <a:lnR w="0">
                      <a:noFill/>
                    </a:lnR>
                    <a:lnT w="0">
                      <a:noFill/>
                    </a:lnT>
                    <a:lnB w="0">
                      <a:noFill/>
                    </a:lnB>
                  </a:tcPr>
                </a:tc>
              </a:tr>
              <a:tr h="192024">
                <a:tc>
                  <a:txBody>
                    <a:bodyPr/>
                    <a:lstStyle/>
                    <a:p>
                      <a:pPr algn="l">
                        <a:defRPr sz="800" b="1">
                          <a:solidFill>
                            <a:srgbClr val="1E073B"/>
                          </a:solidFill>
                          <a:latin typeface="Segoe UI"/>
                        </a:defRPr>
                      </a:pPr>
                      <a:r>
                        <a:t>Cecile Awad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United Advantage</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1">
                          <a:solidFill>
                            <a:srgbClr val="7C3AED"/>
                          </a:solidFill>
                          <a:latin typeface="Segoe UI"/>
                        </a:defRPr>
                      </a:pPr>
                      <a:r>
                        <a:t>Likely</a:t>
                      </a:r>
                    </a:p>
                  </a:txBody>
                  <a:tcPr anchor="ctr" marL="76200" marR="76200" marT="38100" marB="38100">
                    <a:no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Not in influenced contacts</a:t>
                      </a:r>
                    </a:p>
                  </a:txBody>
                  <a:tcPr anchor="ctr" marL="76200" marR="76200" marT="38100" marB="38100">
                    <a:noFill/>
                    <a:lnL w="0">
                      <a:noFill/>
                    </a:lnL>
                    <a:lnR w="0">
                      <a:noFill/>
                    </a:lnR>
                    <a:lnT w="0">
                      <a:noFill/>
                    </a:lnT>
                    <a:lnB w="0">
                      <a:noFill/>
                    </a:lnB>
                  </a:tcPr>
                </a:tc>
              </a:tr>
              <a:tr h="192024">
                <a:tc>
                  <a:txBody>
                    <a:bodyPr/>
                    <a:lstStyle/>
                    <a:p>
                      <a:pPr algn="l">
                        <a:defRPr sz="800" b="1">
                          <a:solidFill>
                            <a:srgbClr val="1E073B"/>
                          </a:solidFill>
                          <a:latin typeface="Segoe UI"/>
                        </a:defRPr>
                      </a:pPr>
                      <a:r>
                        <a:t>Brandon Durham</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Insurance4Truckers</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EF4444"/>
                          </a:solidFill>
                          <a:latin typeface="Segoe UI"/>
                        </a:defRPr>
                      </a:pPr>
                      <a:r>
                        <a:t>Unlikely</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7C3AED"/>
                          </a:solidFill>
                          <a:latin typeface="Segoe UI"/>
                        </a:defRPr>
                      </a:pPr>
                      <a:r>
                        <a:t>Colleague</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Fernando direct (same agency)</a:t>
                      </a:r>
                    </a:p>
                  </a:txBody>
                  <a:tcPr anchor="ctr" marL="76200" marR="76200" marT="38100" marB="38100">
                    <a:solidFill>
                      <a:srgbClr val="F5F3FF"/>
                    </a:solidFill>
                    <a:lnL w="0">
                      <a:noFill/>
                    </a:lnL>
                    <a:lnR w="0">
                      <a:noFill/>
                    </a:lnR>
                    <a:lnT w="0">
                      <a:noFill/>
                    </a:lnT>
                    <a:lnB w="0">
                      <a:noFill/>
                    </a:lnB>
                  </a:tcPr>
                </a:tc>
              </a:tr>
              <a:tr h="192024">
                <a:tc>
                  <a:txBody>
                    <a:bodyPr/>
                    <a:lstStyle/>
                    <a:p>
                      <a:pPr algn="l">
                        <a:defRPr sz="800" b="1">
                          <a:solidFill>
                            <a:srgbClr val="1E073B"/>
                          </a:solidFill>
                          <a:latin typeface="Segoe UI"/>
                        </a:defRPr>
                      </a:pPr>
                      <a:r>
                        <a:t>John Medina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USA Specialty</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ctr">
                        <a:defRPr sz="800" b="1">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Hard bounce / not marketable</a:t>
                      </a:r>
                    </a:p>
                  </a:txBody>
                  <a:tcPr anchor="ctr" marL="76200" marR="76200" marT="38100" marB="38100">
                    <a:noFill/>
                    <a:lnL w="0">
                      <a:noFill/>
                    </a:lnL>
                    <a:lnR w="0">
                      <a:noFill/>
                    </a:lnR>
                    <a:lnT w="0">
                      <a:noFill/>
                    </a:lnT>
                    <a:lnB w="0">
                      <a:noFill/>
                    </a:lnB>
                  </a:tcPr>
                </a:tc>
              </a:tr>
              <a:tr h="192024">
                <a:tc>
                  <a:txBody>
                    <a:bodyPr/>
                    <a:lstStyle/>
                    <a:p>
                      <a:pPr algn="l">
                        <a:defRPr sz="800" b="1">
                          <a:solidFill>
                            <a:srgbClr val="1E073B"/>
                          </a:solidFill>
                          <a:latin typeface="Segoe UI"/>
                        </a:defRPr>
                      </a:pPr>
                      <a:r>
                        <a:t>Rosa Gomez</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Monarca Trucking</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7</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EF4444"/>
                          </a:solidFill>
                          <a:latin typeface="Segoe UI"/>
                        </a:defRPr>
                      </a:pPr>
                      <a:r>
                        <a:t>Unlikely</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Direct</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Direct match in campaign</a:t>
                      </a:r>
                    </a:p>
                  </a:txBody>
                  <a:tcPr anchor="ctr" marL="76200" marR="76200" marT="38100" marB="38100">
                    <a:solidFill>
                      <a:srgbClr val="F5F3FF"/>
                    </a:solidFill>
                    <a:lnL w="0">
                      <a:noFill/>
                    </a:lnL>
                    <a:lnR w="0">
                      <a:noFill/>
                    </a:lnR>
                    <a:lnT w="0">
                      <a:noFill/>
                    </a:lnT>
                    <a:lnB w="0">
                      <a:noFill/>
                    </a:lnB>
                  </a:tcPr>
                </a:tc>
              </a:tr>
            </a:tbl>
          </a:graphicData>
        </a:graphic>
      </p:graphicFrame>
      <p:sp>
        <p:nvSpPr>
          <p:cNvPr id="43" name="Rectangle 42"/>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5" name="TextBox 44"/>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400" b="1" i="0">
                <a:solidFill>
                  <a:srgbClr val="FFFFFF"/>
                </a:solidFill>
                <a:latin typeface="Segoe UI Light"/>
              </a:defRPr>
            </a:pPr>
            <a:r>
              <a:t>BDA / BDM CALL ACTIVITY</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Pre-Bind vs Post-Bind Analysis  |  Feb 2026</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71600"/>
            <a:ext cx="10972800" cy="320040"/>
          </a:xfrm>
          <a:prstGeom prst="rect">
            <a:avLst/>
          </a:prstGeom>
          <a:noFill/>
        </p:spPr>
        <p:txBody>
          <a:bodyPr wrap="square">
            <a:spAutoFit/>
          </a:bodyPr>
          <a:lstStyle/>
          <a:p>
            <a:pPr algn="l">
              <a:defRPr sz="1000" b="0" i="1">
                <a:solidFill>
                  <a:srgbClr val="6B5F83"/>
                </a:solidFill>
                <a:latin typeface="Segoe UI"/>
              </a:defRPr>
            </a:pPr>
            <a:r>
              <a:t>HubSpot calls cross-referenced with Metabase bind dates to classify pre-bind outreach vs post-bind follow-up.</a:t>
            </a:r>
          </a:p>
        </p:txBody>
      </p:sp>
      <p:sp>
        <p:nvSpPr>
          <p:cNvPr id="12" name="Rounded Rectangle 11"/>
          <p:cNvSpPr/>
          <p:nvPr/>
        </p:nvSpPr>
        <p:spPr>
          <a:xfrm>
            <a:off x="274320" y="1783080"/>
            <a:ext cx="2743200" cy="50292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783080"/>
            <a:ext cx="54864"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828800"/>
            <a:ext cx="685800" cy="411480"/>
          </a:xfrm>
          <a:prstGeom prst="rect">
            <a:avLst/>
          </a:prstGeom>
          <a:noFill/>
        </p:spPr>
        <p:txBody>
          <a:bodyPr wrap="square">
            <a:spAutoFit/>
          </a:bodyPr>
          <a:lstStyle/>
          <a:p>
            <a:pPr algn="l">
              <a:defRPr sz="1400" b="1" i="0">
                <a:solidFill>
                  <a:srgbClr val="10B981"/>
                </a:solidFill>
                <a:latin typeface="Segoe UI"/>
              </a:defRPr>
            </a:pPr>
            <a:r>
              <a:t>8 / 16</a:t>
            </a:r>
          </a:p>
        </p:txBody>
      </p:sp>
      <p:sp>
        <p:nvSpPr>
          <p:cNvPr id="15" name="TextBox 14"/>
          <p:cNvSpPr txBox="1"/>
          <p:nvPr/>
        </p:nvSpPr>
        <p:spPr>
          <a:xfrm>
            <a:off x="1143000" y="1828800"/>
            <a:ext cx="1828800" cy="411480"/>
          </a:xfrm>
          <a:prstGeom prst="rect">
            <a:avLst/>
          </a:prstGeom>
          <a:noFill/>
        </p:spPr>
        <p:txBody>
          <a:bodyPr wrap="square">
            <a:spAutoFit/>
          </a:bodyPr>
          <a:lstStyle/>
          <a:p>
            <a:pPr algn="l">
              <a:defRPr sz="800" b="0" i="0">
                <a:solidFill>
                  <a:srgbClr val="6B5F83"/>
                </a:solidFill>
                <a:latin typeface="Segoe UI"/>
              </a:defRPr>
            </a:pPr>
            <a:r>
              <a:t>Pre-Bind</a:t>
            </a:r>
            <a:br/>
            <a:r>
              <a:t>Outbound Call</a:t>
            </a:r>
          </a:p>
        </p:txBody>
      </p:sp>
      <p:sp>
        <p:nvSpPr>
          <p:cNvPr id="16" name="Rounded Rectangle 15"/>
          <p:cNvSpPr/>
          <p:nvPr/>
        </p:nvSpPr>
        <p:spPr>
          <a:xfrm>
            <a:off x="3200400" y="1783080"/>
            <a:ext cx="2743200" cy="50292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1783080"/>
            <a:ext cx="54864" cy="5029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37560" y="1828800"/>
            <a:ext cx="685800" cy="411480"/>
          </a:xfrm>
          <a:prstGeom prst="rect">
            <a:avLst/>
          </a:prstGeom>
          <a:noFill/>
        </p:spPr>
        <p:txBody>
          <a:bodyPr wrap="square">
            <a:spAutoFit/>
          </a:bodyPr>
          <a:lstStyle/>
          <a:p>
            <a:pPr algn="l">
              <a:defRPr sz="1400" b="1" i="0">
                <a:solidFill>
                  <a:srgbClr val="7C3AED"/>
                </a:solidFill>
                <a:latin typeface="Segoe UI"/>
              </a:defRPr>
            </a:pPr>
            <a:r>
              <a:t>5 / 16</a:t>
            </a:r>
          </a:p>
        </p:txBody>
      </p:sp>
      <p:sp>
        <p:nvSpPr>
          <p:cNvPr id="19" name="TextBox 18"/>
          <p:cNvSpPr txBox="1"/>
          <p:nvPr/>
        </p:nvSpPr>
        <p:spPr>
          <a:xfrm>
            <a:off x="4069080" y="1828800"/>
            <a:ext cx="1828800" cy="411480"/>
          </a:xfrm>
          <a:prstGeom prst="rect">
            <a:avLst/>
          </a:prstGeom>
          <a:noFill/>
        </p:spPr>
        <p:txBody>
          <a:bodyPr wrap="square">
            <a:spAutoFit/>
          </a:bodyPr>
          <a:lstStyle/>
          <a:p>
            <a:pPr algn="l">
              <a:defRPr sz="800" b="0" i="0">
                <a:solidFill>
                  <a:srgbClr val="6B5F83"/>
                </a:solidFill>
                <a:latin typeface="Segoe UI"/>
              </a:defRPr>
            </a:pPr>
            <a:r>
              <a:t>Post-Bind</a:t>
            </a:r>
            <a:br/>
            <a:r>
              <a:t>Follow-Up Call</a:t>
            </a:r>
          </a:p>
        </p:txBody>
      </p:sp>
      <p:sp>
        <p:nvSpPr>
          <p:cNvPr id="20" name="Rounded Rectangle 19"/>
          <p:cNvSpPr/>
          <p:nvPr/>
        </p:nvSpPr>
        <p:spPr>
          <a:xfrm>
            <a:off x="6126480" y="1783080"/>
            <a:ext cx="2743200" cy="50292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1783080"/>
            <a:ext cx="54864" cy="50292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828800"/>
            <a:ext cx="685800" cy="411480"/>
          </a:xfrm>
          <a:prstGeom prst="rect">
            <a:avLst/>
          </a:prstGeom>
          <a:noFill/>
        </p:spPr>
        <p:txBody>
          <a:bodyPr wrap="square">
            <a:spAutoFit/>
          </a:bodyPr>
          <a:lstStyle/>
          <a:p>
            <a:pPr algn="l">
              <a:defRPr sz="1400" b="1" i="0">
                <a:solidFill>
                  <a:srgbClr val="D946EF"/>
                </a:solidFill>
                <a:latin typeface="Segoe UI"/>
              </a:defRPr>
            </a:pPr>
            <a:r>
              <a:t>0 / 16</a:t>
            </a:r>
          </a:p>
        </p:txBody>
      </p:sp>
      <p:sp>
        <p:nvSpPr>
          <p:cNvPr id="23" name="TextBox 22"/>
          <p:cNvSpPr txBox="1"/>
          <p:nvPr/>
        </p:nvSpPr>
        <p:spPr>
          <a:xfrm>
            <a:off x="6995160" y="1828800"/>
            <a:ext cx="1828800" cy="411480"/>
          </a:xfrm>
          <a:prstGeom prst="rect">
            <a:avLst/>
          </a:prstGeom>
          <a:noFill/>
        </p:spPr>
        <p:txBody>
          <a:bodyPr wrap="square">
            <a:spAutoFit/>
          </a:bodyPr>
          <a:lstStyle/>
          <a:p>
            <a:pPr algn="l">
              <a:defRPr sz="800" b="0" i="0">
                <a:solidFill>
                  <a:srgbClr val="6B5F83"/>
                </a:solidFill>
                <a:latin typeface="Segoe UI"/>
              </a:defRPr>
            </a:pPr>
            <a:r>
              <a:t>Called by</a:t>
            </a:r>
            <a:br/>
            <a:r>
              <a:t>Assigned BDM</a:t>
            </a:r>
          </a:p>
        </p:txBody>
      </p:sp>
      <p:sp>
        <p:nvSpPr>
          <p:cNvPr id="24" name="Rounded Rectangle 23"/>
          <p:cNvSpPr/>
          <p:nvPr/>
        </p:nvSpPr>
        <p:spPr>
          <a:xfrm>
            <a:off x="9052560" y="1783080"/>
            <a:ext cx="2743200" cy="50292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52560" y="1783080"/>
            <a:ext cx="54864" cy="50292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89720" y="1828800"/>
            <a:ext cx="685800" cy="411480"/>
          </a:xfrm>
          <a:prstGeom prst="rect">
            <a:avLst/>
          </a:prstGeom>
          <a:noFill/>
        </p:spPr>
        <p:txBody>
          <a:bodyPr wrap="square">
            <a:spAutoFit/>
          </a:bodyPr>
          <a:lstStyle/>
          <a:p>
            <a:pPr algn="l">
              <a:defRPr sz="1400" b="1" i="0">
                <a:solidFill>
                  <a:srgbClr val="8B5CF6"/>
                </a:solidFill>
                <a:latin typeface="Segoe UI"/>
              </a:defRPr>
            </a:pPr>
            <a:r>
              <a:t>10 / 16</a:t>
            </a:r>
          </a:p>
        </p:txBody>
      </p:sp>
      <p:sp>
        <p:nvSpPr>
          <p:cNvPr id="27" name="TextBox 26"/>
          <p:cNvSpPr txBox="1"/>
          <p:nvPr/>
        </p:nvSpPr>
        <p:spPr>
          <a:xfrm>
            <a:off x="9921240" y="1828800"/>
            <a:ext cx="1828800" cy="411480"/>
          </a:xfrm>
          <a:prstGeom prst="rect">
            <a:avLst/>
          </a:prstGeom>
          <a:noFill/>
        </p:spPr>
        <p:txBody>
          <a:bodyPr wrap="square">
            <a:spAutoFit/>
          </a:bodyPr>
          <a:lstStyle/>
          <a:p>
            <a:pPr algn="l">
              <a:defRPr sz="800" b="0" i="0">
                <a:solidFill>
                  <a:srgbClr val="6B5F83"/>
                </a:solidFill>
                <a:latin typeface="Segoe UI"/>
              </a:defRPr>
            </a:pPr>
            <a:r>
              <a:t>Any Call</a:t>
            </a:r>
            <a:br/>
            <a:r>
              <a:t>Activity (Jan–Mar)</a:t>
            </a:r>
          </a:p>
        </p:txBody>
      </p:sp>
      <p:graphicFrame>
        <p:nvGraphicFramePr>
          <p:cNvPr id="28" name="Table 27"/>
          <p:cNvGraphicFramePr>
            <a:graphicFrameLocks noGrp="1"/>
          </p:cNvGraphicFramePr>
          <p:nvPr/>
        </p:nvGraphicFramePr>
        <p:xfrm>
          <a:off x="182880" y="2468880"/>
          <a:ext cx="9692640" cy="3653027"/>
        </p:xfrm>
        <a:graphic>
          <a:graphicData uri="http://schemas.openxmlformats.org/drawingml/2006/table">
            <a:tbl>
              <a:tblPr firstRow="0" bandRow="0" bandCol="0" lastRow="0">
                <a:tableStyleId>{5C22544A-7EE6-4342-B048-85BDC9FD1C3A}</a:tableStyleId>
              </a:tblPr>
              <a:tblGrid>
                <a:gridCol w="1645920"/>
                <a:gridCol w="1463040"/>
                <a:gridCol w="731520"/>
                <a:gridCol w="731520"/>
                <a:gridCol w="731520"/>
                <a:gridCol w="1645920"/>
                <a:gridCol w="2743200"/>
              </a:tblGrid>
              <a:tr h="214883">
                <a:tc>
                  <a:txBody>
                    <a:bodyPr/>
                    <a:lstStyle/>
                    <a:p>
                      <a:pPr algn="l">
                        <a:defRPr sz="800" b="1">
                          <a:solidFill>
                            <a:srgbClr val="FFFFFF"/>
                          </a:solidFill>
                          <a:latin typeface="Segoe UI Semibold"/>
                        </a:defRPr>
                      </a:pPr>
                      <a:r>
                        <a:t>Agent</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Bind Date</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Pre-Bind</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Post-Bind</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Key Caller</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Notable</a:t>
                      </a:r>
                    </a:p>
                  </a:txBody>
                  <a:tcPr anchor="ctr" marL="76200" marR="76200" marT="38100" marB="38100">
                    <a:solidFill>
                      <a:srgbClr val="5B21B6"/>
                    </a:solidFill>
                    <a:lnL w="0">
                      <a:noFill/>
                    </a:lnL>
                    <a:lnR w="0">
                      <a:noFill/>
                    </a:lnR>
                    <a:lnT w="0">
                      <a:noFill/>
                    </a:lnT>
                    <a:lnB w="0">
                      <a:noFill/>
                    </a:lnB>
                  </a:tcPr>
                </a:tc>
              </a:tr>
              <a:tr h="214883">
                <a:tc>
                  <a:txBody>
                    <a:bodyPr/>
                    <a:lstStyle/>
                    <a:p>
                      <a:pPr algn="l">
                        <a:defRPr sz="800" b="1">
                          <a:solidFill>
                            <a:srgbClr val="1E073B"/>
                          </a:solidFill>
                          <a:latin typeface="Segoe UI"/>
                        </a:defRPr>
                      </a:pPr>
                      <a:r>
                        <a:t>David Rodriguez</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DNIS Inc.</a:t>
                      </a:r>
                    </a:p>
                  </a:txBody>
                  <a:tcPr anchor="ctr" marL="76200" marR="76200" marT="38100" marB="38100">
                    <a:noFill/>
                    <a:lnL w="0">
                      <a:noFill/>
                    </a:lnL>
                    <a:lnR w="0">
                      <a:noFill/>
                    </a:lnR>
                    <a:lnT w="0">
                      <a:noFill/>
                    </a:lnT>
                    <a:lnB w="0">
                      <a:noFill/>
                    </a:lnB>
                  </a:tcPr>
                </a:tc>
                <a:tc>
                  <a:txBody>
                    <a:bodyPr/>
                    <a:lstStyle/>
                    <a:p>
                      <a:pPr algn="ctr">
                        <a:defRPr sz="800" b="1">
                          <a:solidFill>
                            <a:srgbClr val="2D233F"/>
                          </a:solidFill>
                          <a:latin typeface="Segoe UI"/>
                        </a:defRPr>
                      </a:pPr>
                      <a:r>
                        <a:t>Feb 4</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800" b="0">
                          <a:solidFill>
                            <a:srgbClr val="A09CB0"/>
                          </a:solidFill>
                          <a:latin typeface="Segoe UI"/>
                        </a:defRPr>
                      </a:pPr>
                      <a:r>
                        <a:t>No calls</a:t>
                      </a:r>
                    </a:p>
                  </a:txBody>
                  <a:tcPr anchor="ctr" marL="76200" marR="76200" marT="38100" marB="38100">
                    <a:noFill/>
                    <a:lnL w="0">
                      <a:noFill/>
                    </a:lnL>
                    <a:lnR w="0">
                      <a:noFill/>
                    </a:lnR>
                    <a:lnT w="0">
                      <a:noFill/>
                    </a:lnT>
                    <a:lnB w="0">
                      <a:noFill/>
                    </a:lnB>
                  </a:tcPr>
                </a:tc>
              </a:tr>
              <a:tr h="214883">
                <a:tc>
                  <a:txBody>
                    <a:bodyPr/>
                    <a:lstStyle/>
                    <a:p>
                      <a:pPr algn="l">
                        <a:defRPr sz="800" b="1">
                          <a:solidFill>
                            <a:srgbClr val="1E073B"/>
                          </a:solidFill>
                          <a:latin typeface="Segoe UI"/>
                        </a:defRPr>
                      </a:pPr>
                      <a:r>
                        <a:t>Bart Proud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Western Truck Ins.</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2D233F"/>
                          </a:solidFill>
                          <a:latin typeface="Segoe UI"/>
                        </a:defRPr>
                      </a:pPr>
                      <a:r>
                        <a:t>Feb 6</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7C3AED"/>
                          </a:solidFill>
                          <a:latin typeface="Segoe UI"/>
                        </a:defRPr>
                      </a:pPr>
                      <a:r>
                        <a:t>Dominic Purkett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10B981"/>
                          </a:solidFill>
                          <a:latin typeface="Segoe UI"/>
                        </a:defRPr>
                      </a:pPr>
                      <a:r>
                        <a:t>5 BDA + 1 BDM pre-bind</a:t>
                      </a:r>
                    </a:p>
                  </a:txBody>
                  <a:tcPr anchor="ctr" marL="76200" marR="76200" marT="38100" marB="38100">
                    <a:solidFill>
                      <a:srgbClr val="F5F3FF"/>
                    </a:solidFill>
                    <a:lnL w="0">
                      <a:noFill/>
                    </a:lnL>
                    <a:lnR w="0">
                      <a:noFill/>
                    </a:lnR>
                    <a:lnT w="0">
                      <a:noFill/>
                    </a:lnT>
                    <a:lnB w="0">
                      <a:noFill/>
                    </a:lnB>
                  </a:tcPr>
                </a:tc>
              </a:tr>
              <a:tr h="214883">
                <a:tc>
                  <a:txBody>
                    <a:bodyPr/>
                    <a:lstStyle/>
                    <a:p>
                      <a:pPr algn="l">
                        <a:defRPr sz="800" b="1">
                          <a:solidFill>
                            <a:srgbClr val="1E073B"/>
                          </a:solidFill>
                          <a:latin typeface="Segoe UI"/>
                        </a:defRPr>
                      </a:pPr>
                      <a:r>
                        <a:t>LARISA DAVTYAN</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Safeline Ins.</a:t>
                      </a:r>
                    </a:p>
                  </a:txBody>
                  <a:tcPr anchor="ctr" marL="76200" marR="76200" marT="38100" marB="38100">
                    <a:noFill/>
                    <a:lnL w="0">
                      <a:noFill/>
                    </a:lnL>
                    <a:lnR w="0">
                      <a:noFill/>
                    </a:lnR>
                    <a:lnT w="0">
                      <a:noFill/>
                    </a:lnT>
                    <a:lnB w="0">
                      <a:noFill/>
                    </a:lnB>
                  </a:tcPr>
                </a:tc>
                <a:tc>
                  <a:txBody>
                    <a:bodyPr/>
                    <a:lstStyle/>
                    <a:p>
                      <a:pPr algn="ctr">
                        <a:defRPr sz="800" b="1">
                          <a:solidFill>
                            <a:srgbClr val="2D233F"/>
                          </a:solidFill>
                          <a:latin typeface="Segoe UI"/>
                        </a:defRPr>
                      </a:pPr>
                      <a:r>
                        <a:t>Jan 7*</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800" b="0">
                          <a:solidFill>
                            <a:srgbClr val="A09CB0"/>
                          </a:solidFill>
                          <a:latin typeface="Segoe UI"/>
                        </a:defRPr>
                      </a:pPr>
                      <a:r>
                        <a:t>No calls (endorsement)</a:t>
                      </a:r>
                    </a:p>
                  </a:txBody>
                  <a:tcPr anchor="ctr" marL="76200" marR="76200" marT="38100" marB="38100">
                    <a:noFill/>
                    <a:lnL w="0">
                      <a:noFill/>
                    </a:lnL>
                    <a:lnR w="0">
                      <a:noFill/>
                    </a:lnR>
                    <a:lnT w="0">
                      <a:noFill/>
                    </a:lnT>
                    <a:lnB w="0">
                      <a:noFill/>
                    </a:lnB>
                  </a:tcPr>
                </a:tc>
              </a:tr>
              <a:tr h="214883">
                <a:tc>
                  <a:txBody>
                    <a:bodyPr/>
                    <a:lstStyle/>
                    <a:p>
                      <a:pPr algn="l">
                        <a:defRPr sz="800" b="1">
                          <a:solidFill>
                            <a:srgbClr val="1E073B"/>
                          </a:solidFill>
                          <a:latin typeface="Segoe UI"/>
                        </a:defRPr>
                      </a:pPr>
                      <a:r>
                        <a:t>Venizelos Papadopoulos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Exclusive Financial</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2D233F"/>
                          </a:solidFill>
                          <a:latin typeface="Segoe UI"/>
                        </a:defRPr>
                      </a:pPr>
                      <a:r>
                        <a:t>Feb 4</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A09CB0"/>
                          </a:solidFill>
                          <a:latin typeface="Segoe UI"/>
                        </a:defRPr>
                      </a:pPr>
                      <a:r>
                        <a:t>No calls</a:t>
                      </a:r>
                    </a:p>
                  </a:txBody>
                  <a:tcPr anchor="ctr" marL="76200" marR="76200" marT="38100" marB="38100">
                    <a:solidFill>
                      <a:srgbClr val="F5F3FF"/>
                    </a:solidFill>
                    <a:lnL w="0">
                      <a:noFill/>
                    </a:lnL>
                    <a:lnR w="0">
                      <a:noFill/>
                    </a:lnR>
                    <a:lnT w="0">
                      <a:noFill/>
                    </a:lnT>
                    <a:lnB w="0">
                      <a:noFill/>
                    </a:lnB>
                  </a:tcPr>
                </a:tc>
              </a:tr>
              <a:tr h="214883">
                <a:tc>
                  <a:txBody>
                    <a:bodyPr/>
                    <a:lstStyle/>
                    <a:p>
                      <a:pPr algn="l">
                        <a:defRPr sz="800" b="1">
                          <a:solidFill>
                            <a:srgbClr val="1E073B"/>
                          </a:solidFill>
                          <a:latin typeface="Segoe UI"/>
                        </a:defRPr>
                      </a:pPr>
                      <a:r>
                        <a:t>Zachary Flowers</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Waypoint Agency</a:t>
                      </a:r>
                    </a:p>
                  </a:txBody>
                  <a:tcPr anchor="ctr" marL="76200" marR="76200" marT="38100" marB="38100">
                    <a:noFill/>
                    <a:lnL w="0">
                      <a:noFill/>
                    </a:lnL>
                    <a:lnR w="0">
                      <a:noFill/>
                    </a:lnR>
                    <a:lnT w="0">
                      <a:noFill/>
                    </a:lnT>
                    <a:lnB w="0">
                      <a:noFill/>
                    </a:lnB>
                  </a:tcPr>
                </a:tc>
                <a:tc>
                  <a:txBody>
                    <a:bodyPr/>
                    <a:lstStyle/>
                    <a:p>
                      <a:pPr algn="ctr">
                        <a:defRPr sz="800" b="1">
                          <a:solidFill>
                            <a:srgbClr val="2D233F"/>
                          </a:solidFill>
                          <a:latin typeface="Segoe UI"/>
                        </a:defRPr>
                      </a:pPr>
                      <a:r>
                        <a:t>Feb 13</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800" b="1">
                          <a:solidFill>
                            <a:srgbClr val="7C3AED"/>
                          </a:solidFill>
                          <a:latin typeface="Segoe UI"/>
                        </a:defRPr>
                      </a:pPr>
                      <a:r>
                        <a:t>1</a:t>
                      </a:r>
                    </a:p>
                  </a:txBody>
                  <a:tcPr anchor="ctr" marL="76200" marR="76200" marT="38100" marB="38100">
                    <a:noFill/>
                    <a:lnL w="0">
                      <a:noFill/>
                    </a:lnL>
                    <a:lnR w="0">
                      <a:noFill/>
                    </a:lnR>
                    <a:lnT w="0">
                      <a:noFill/>
                    </a:lnT>
                    <a:lnB w="0">
                      <a:noFill/>
                    </a:lnB>
                  </a:tcPr>
                </a:tc>
                <a:tc>
                  <a:txBody>
                    <a:bodyPr/>
                    <a:lstStyle/>
                    <a:p>
                      <a:pPr algn="l">
                        <a:defRPr sz="800" b="1">
                          <a:solidFill>
                            <a:srgbClr val="7C3AED"/>
                          </a:solidFill>
                          <a:latin typeface="Segoe UI"/>
                        </a:defRPr>
                      </a:pPr>
                      <a:r>
                        <a:t>Derrick Leroy</a:t>
                      </a:r>
                    </a:p>
                  </a:txBody>
                  <a:tcPr anchor="ctr" marL="76200" marR="76200" marT="38100" marB="38100">
                    <a:noFill/>
                    <a:lnL w="0">
                      <a:noFill/>
                    </a:lnL>
                    <a:lnR w="0">
                      <a:noFill/>
                    </a:lnR>
                    <a:lnT w="0">
                      <a:noFill/>
                    </a:lnT>
                    <a:lnB w="0">
                      <a:noFill/>
                    </a:lnB>
                  </a:tcPr>
                </a:tc>
                <a:tc>
                  <a:txBody>
                    <a:bodyPr/>
                    <a:lstStyle/>
                    <a:p>
                      <a:pPr algn="l">
                        <a:defRPr sz="800" b="0">
                          <a:solidFill>
                            <a:srgbClr val="10B981"/>
                          </a:solidFill>
                          <a:latin typeface="Segoe UI"/>
                        </a:defRPr>
                      </a:pPr>
                      <a:r>
                        <a:t>Pre + follow-up</a:t>
                      </a:r>
                    </a:p>
                  </a:txBody>
                  <a:tcPr anchor="ctr" marL="76200" marR="76200" marT="38100" marB="38100">
                    <a:noFill/>
                    <a:lnL w="0">
                      <a:noFill/>
                    </a:lnL>
                    <a:lnR w="0">
                      <a:noFill/>
                    </a:lnR>
                    <a:lnT w="0">
                      <a:noFill/>
                    </a:lnT>
                    <a:lnB w="0">
                      <a:noFill/>
                    </a:lnB>
                  </a:tcPr>
                </a:tc>
              </a:tr>
              <a:tr h="214883">
                <a:tc>
                  <a:txBody>
                    <a:bodyPr/>
                    <a:lstStyle/>
                    <a:p>
                      <a:pPr algn="l">
                        <a:defRPr sz="800" b="1">
                          <a:solidFill>
                            <a:srgbClr val="1E073B"/>
                          </a:solidFill>
                          <a:latin typeface="Segoe UI"/>
                        </a:defRPr>
                      </a:pPr>
                      <a:r>
                        <a:t>Yulia Shostak</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Paramount Excl.</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2D233F"/>
                          </a:solidFill>
                          <a:latin typeface="Segoe UI"/>
                        </a:defRPr>
                      </a:pPr>
                      <a:r>
                        <a:t>Feb '25*</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7C3AED"/>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7C3AED"/>
                          </a:solidFill>
                          <a:latin typeface="Segoe UI"/>
                        </a:defRPr>
                      </a:pPr>
                      <a:r>
                        <a:t>Derek Janssen</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Acct mgmt (old bind)</a:t>
                      </a:r>
                    </a:p>
                  </a:txBody>
                  <a:tcPr anchor="ctr" marL="76200" marR="76200" marT="38100" marB="38100">
                    <a:solidFill>
                      <a:srgbClr val="F5F3FF"/>
                    </a:solidFill>
                    <a:lnL w="0">
                      <a:noFill/>
                    </a:lnL>
                    <a:lnR w="0">
                      <a:noFill/>
                    </a:lnR>
                    <a:lnT w="0">
                      <a:noFill/>
                    </a:lnT>
                    <a:lnB w="0">
                      <a:noFill/>
                    </a:lnB>
                  </a:tcPr>
                </a:tc>
              </a:tr>
              <a:tr h="214883">
                <a:tc>
                  <a:txBody>
                    <a:bodyPr/>
                    <a:lstStyle/>
                    <a:p>
                      <a:pPr algn="l">
                        <a:defRPr sz="800" b="1">
                          <a:solidFill>
                            <a:srgbClr val="1E073B"/>
                          </a:solidFill>
                          <a:latin typeface="Segoe UI"/>
                        </a:defRPr>
                      </a:pPr>
                      <a:r>
                        <a:t>Mustapha Rahal</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Combined Ins.</a:t>
                      </a:r>
                    </a:p>
                  </a:txBody>
                  <a:tcPr anchor="ctr" marL="76200" marR="76200" marT="38100" marB="38100">
                    <a:noFill/>
                    <a:lnL w="0">
                      <a:noFill/>
                    </a:lnL>
                    <a:lnR w="0">
                      <a:noFill/>
                    </a:lnR>
                    <a:lnT w="0">
                      <a:noFill/>
                    </a:lnT>
                    <a:lnB w="0">
                      <a:noFill/>
                    </a:lnB>
                  </a:tcPr>
                </a:tc>
                <a:tc>
                  <a:txBody>
                    <a:bodyPr/>
                    <a:lstStyle/>
                    <a:p>
                      <a:pPr algn="ctr">
                        <a:defRPr sz="800" b="1">
                          <a:solidFill>
                            <a:srgbClr val="2D233F"/>
                          </a:solidFill>
                          <a:latin typeface="Segoe UI"/>
                        </a:defRPr>
                      </a:pPr>
                      <a:r>
                        <a:t>Feb 17</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l">
                        <a:defRPr sz="800" b="1">
                          <a:solidFill>
                            <a:srgbClr val="7C3AED"/>
                          </a:solidFill>
                          <a:latin typeface="Segoe UI"/>
                        </a:defRPr>
                      </a:pPr>
                      <a:r>
                        <a:t>Cameron Brader</a:t>
                      </a:r>
                    </a:p>
                  </a:txBody>
                  <a:tcPr anchor="ctr" marL="76200" marR="76200" marT="38100" marB="38100">
                    <a:noFill/>
                    <a:lnL w="0">
                      <a:noFill/>
                    </a:lnL>
                    <a:lnR w="0">
                      <a:noFill/>
                    </a:lnR>
                    <a:lnT w="0">
                      <a:noFill/>
                    </a:lnT>
                    <a:lnB w="0">
                      <a:noFill/>
                    </a:lnB>
                  </a:tcPr>
                </a:tc>
                <a:tc>
                  <a:txBody>
                    <a:bodyPr/>
                    <a:lstStyle/>
                    <a:p>
                      <a:pPr algn="l">
                        <a:defRPr sz="800" b="0">
                          <a:solidFill>
                            <a:srgbClr val="10B981"/>
                          </a:solidFill>
                          <a:latin typeface="Segoe UI"/>
                        </a:defRPr>
                      </a:pPr>
                      <a:r>
                        <a:t>Pre-bind outreach</a:t>
                      </a:r>
                    </a:p>
                  </a:txBody>
                  <a:tcPr anchor="ctr" marL="76200" marR="76200" marT="38100" marB="38100">
                    <a:noFill/>
                    <a:lnL w="0">
                      <a:noFill/>
                    </a:lnL>
                    <a:lnR w="0">
                      <a:noFill/>
                    </a:lnR>
                    <a:lnT w="0">
                      <a:noFill/>
                    </a:lnT>
                    <a:lnB w="0">
                      <a:noFill/>
                    </a:lnB>
                  </a:tcPr>
                </a:tc>
              </a:tr>
              <a:tr h="214883">
                <a:tc>
                  <a:txBody>
                    <a:bodyPr/>
                    <a:lstStyle/>
                    <a:p>
                      <a:pPr algn="l">
                        <a:defRPr sz="800" b="1">
                          <a:solidFill>
                            <a:srgbClr val="1E073B"/>
                          </a:solidFill>
                          <a:latin typeface="Segoe UI"/>
                        </a:defRPr>
                      </a:pPr>
                      <a:r>
                        <a:t>Betty Reyes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Christian Charles</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2D233F"/>
                          </a:solidFill>
                          <a:latin typeface="Segoe UI"/>
                        </a:defRPr>
                      </a:pPr>
                      <a:r>
                        <a:t>Feb 17</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7C3AED"/>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7C3AED"/>
                          </a:solidFill>
                          <a:latin typeface="Segoe UI"/>
                        </a:defRPr>
                      </a:pPr>
                      <a:r>
                        <a:t>Dominic Purkett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10B981"/>
                          </a:solidFill>
                          <a:latin typeface="Segoe UI"/>
                        </a:defRPr>
                      </a:pPr>
                      <a:r>
                        <a:t>Pre + follow-up</a:t>
                      </a:r>
                    </a:p>
                  </a:txBody>
                  <a:tcPr anchor="ctr" marL="76200" marR="76200" marT="38100" marB="38100">
                    <a:solidFill>
                      <a:srgbClr val="F5F3FF"/>
                    </a:solidFill>
                    <a:lnL w="0">
                      <a:noFill/>
                    </a:lnL>
                    <a:lnR w="0">
                      <a:noFill/>
                    </a:lnR>
                    <a:lnT w="0">
                      <a:noFill/>
                    </a:lnT>
                    <a:lnB w="0">
                      <a:noFill/>
                    </a:lnB>
                  </a:tcPr>
                </a:tc>
              </a:tr>
              <a:tr h="214883">
                <a:tc>
                  <a:txBody>
                    <a:bodyPr/>
                    <a:lstStyle/>
                    <a:p>
                      <a:pPr algn="l">
                        <a:defRPr sz="800" b="1">
                          <a:solidFill>
                            <a:srgbClr val="1E073B"/>
                          </a:solidFill>
                          <a:latin typeface="Segoe UI"/>
                        </a:defRPr>
                      </a:pPr>
                      <a:r>
                        <a:t>Fernando Trevino</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Insurance4Truckers</a:t>
                      </a:r>
                    </a:p>
                  </a:txBody>
                  <a:tcPr anchor="ctr" marL="76200" marR="76200" marT="38100" marB="38100">
                    <a:noFill/>
                    <a:lnL w="0">
                      <a:noFill/>
                    </a:lnL>
                    <a:lnR w="0">
                      <a:noFill/>
                    </a:lnR>
                    <a:lnT w="0">
                      <a:noFill/>
                    </a:lnT>
                    <a:lnB w="0">
                      <a:noFill/>
                    </a:lnB>
                  </a:tcPr>
                </a:tc>
                <a:tc>
                  <a:txBody>
                    <a:bodyPr/>
                    <a:lstStyle/>
                    <a:p>
                      <a:pPr algn="ctr">
                        <a:defRPr sz="800" b="1">
                          <a:solidFill>
                            <a:srgbClr val="2D233F"/>
                          </a:solidFill>
                          <a:latin typeface="Segoe UI"/>
                        </a:defRPr>
                      </a:pPr>
                      <a:r>
                        <a:t>Feb 18</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800" b="0">
                          <a:solidFill>
                            <a:srgbClr val="A09CB0"/>
                          </a:solidFill>
                          <a:latin typeface="Segoe UI"/>
                        </a:defRPr>
                      </a:pPr>
                      <a:r>
                        <a:t>No calls</a:t>
                      </a:r>
                    </a:p>
                  </a:txBody>
                  <a:tcPr anchor="ctr" marL="76200" marR="76200" marT="38100" marB="38100">
                    <a:noFill/>
                    <a:lnL w="0">
                      <a:noFill/>
                    </a:lnL>
                    <a:lnR w="0">
                      <a:noFill/>
                    </a:lnR>
                    <a:lnT w="0">
                      <a:noFill/>
                    </a:lnT>
                    <a:lnB w="0">
                      <a:noFill/>
                    </a:lnB>
                  </a:tcPr>
                </a:tc>
              </a:tr>
              <a:tr h="214883">
                <a:tc>
                  <a:txBody>
                    <a:bodyPr/>
                    <a:lstStyle/>
                    <a:p>
                      <a:pPr algn="l">
                        <a:defRPr sz="800" b="1">
                          <a:solidFill>
                            <a:srgbClr val="1E073B"/>
                          </a:solidFill>
                          <a:latin typeface="Segoe UI"/>
                        </a:defRPr>
                      </a:pPr>
                      <a:r>
                        <a:t>Jeff Ornelas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Appalachian UW</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2D233F"/>
                          </a:solidFill>
                          <a:latin typeface="Segoe UI"/>
                        </a:defRPr>
                      </a:pPr>
                      <a:r>
                        <a:t>Feb 19</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7C3AED"/>
                          </a:solidFill>
                          <a:latin typeface="Segoe UI"/>
                        </a:defRPr>
                      </a:pPr>
                      <a:r>
                        <a:t>Antonio Reyes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3 calls same day</a:t>
                      </a:r>
                    </a:p>
                  </a:txBody>
                  <a:tcPr anchor="ctr" marL="76200" marR="76200" marT="38100" marB="38100">
                    <a:solidFill>
                      <a:srgbClr val="F5F3FF"/>
                    </a:solidFill>
                    <a:lnL w="0">
                      <a:noFill/>
                    </a:lnL>
                    <a:lnR w="0">
                      <a:noFill/>
                    </a:lnR>
                    <a:lnT w="0">
                      <a:noFill/>
                    </a:lnT>
                    <a:lnB w="0">
                      <a:noFill/>
                    </a:lnB>
                  </a:tcPr>
                </a:tc>
              </a:tr>
              <a:tr h="214883">
                <a:tc>
                  <a:txBody>
                    <a:bodyPr/>
                    <a:lstStyle/>
                    <a:p>
                      <a:pPr algn="l">
                        <a:defRPr sz="800" b="1">
                          <a:solidFill>
                            <a:srgbClr val="1E073B"/>
                          </a:solidFill>
                          <a:latin typeface="Segoe UI"/>
                        </a:defRPr>
                      </a:pPr>
                      <a:r>
                        <a:t>Colton Duty</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Resolute Ins. Grp</a:t>
                      </a:r>
                    </a:p>
                  </a:txBody>
                  <a:tcPr anchor="ctr" marL="76200" marR="76200" marT="38100" marB="38100">
                    <a:noFill/>
                    <a:lnL w="0">
                      <a:noFill/>
                    </a:lnL>
                    <a:lnR w="0">
                      <a:noFill/>
                    </a:lnR>
                    <a:lnT w="0">
                      <a:noFill/>
                    </a:lnT>
                    <a:lnB w="0">
                      <a:noFill/>
                    </a:lnB>
                  </a:tcPr>
                </a:tc>
                <a:tc>
                  <a:txBody>
                    <a:bodyPr/>
                    <a:lstStyle/>
                    <a:p>
                      <a:pPr algn="ctr">
                        <a:defRPr sz="800" b="1">
                          <a:solidFill>
                            <a:srgbClr val="2D233F"/>
                          </a:solidFill>
                          <a:latin typeface="Segoe UI"/>
                        </a:defRPr>
                      </a:pPr>
                      <a:r>
                        <a:t>Feb 19</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5</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l">
                        <a:defRPr sz="800" b="1">
                          <a:solidFill>
                            <a:srgbClr val="7C3AED"/>
                          </a:solidFill>
                          <a:latin typeface="Segoe UI"/>
                        </a:defRPr>
                      </a:pPr>
                      <a:r>
                        <a:t>Derrick Leroy</a:t>
                      </a:r>
                    </a:p>
                  </a:txBody>
                  <a:tcPr anchor="ctr" marL="76200" marR="76200" marT="38100" marB="38100">
                    <a:noFill/>
                    <a:lnL w="0">
                      <a:noFill/>
                    </a:lnL>
                    <a:lnR w="0">
                      <a:noFill/>
                    </a:lnR>
                    <a:lnT w="0">
                      <a:noFill/>
                    </a:lnT>
                    <a:lnB w="0">
                      <a:noFill/>
                    </a:lnB>
                  </a:tcPr>
                </a:tc>
                <a:tc>
                  <a:txBody>
                    <a:bodyPr/>
                    <a:lstStyle/>
                    <a:p>
                      <a:pPr algn="l">
                        <a:defRPr sz="800" b="0">
                          <a:solidFill>
                            <a:srgbClr val="10B981"/>
                          </a:solidFill>
                          <a:latin typeface="Segoe UI"/>
                        </a:defRPr>
                      </a:pPr>
                      <a:r>
                        <a:t>5 persistent pre-bind</a:t>
                      </a:r>
                    </a:p>
                  </a:txBody>
                  <a:tcPr anchor="ctr" marL="76200" marR="76200" marT="38100" marB="38100">
                    <a:noFill/>
                    <a:lnL w="0">
                      <a:noFill/>
                    </a:lnL>
                    <a:lnR w="0">
                      <a:noFill/>
                    </a:lnR>
                    <a:lnT w="0">
                      <a:noFill/>
                    </a:lnT>
                    <a:lnB w="0">
                      <a:noFill/>
                    </a:lnB>
                  </a:tcPr>
                </a:tc>
              </a:tr>
              <a:tr h="214883">
                <a:tc>
                  <a:txBody>
                    <a:bodyPr/>
                    <a:lstStyle/>
                    <a:p>
                      <a:pPr algn="l">
                        <a:defRPr sz="800" b="1">
                          <a:solidFill>
                            <a:srgbClr val="1E073B"/>
                          </a:solidFill>
                          <a:latin typeface="Segoe UI"/>
                        </a:defRPr>
                      </a:pPr>
                      <a:r>
                        <a:t>Lynda Inderjeet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R-T Specialty</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2D233F"/>
                          </a:solidFill>
                          <a:latin typeface="Segoe UI"/>
                        </a:defRPr>
                      </a:pPr>
                      <a:r>
                        <a:t>Feb 18</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7C3AED"/>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7C3AED"/>
                          </a:solidFill>
                          <a:latin typeface="Segoe UI"/>
                        </a:defRPr>
                      </a:pPr>
                      <a:r>
                        <a:t>Antonio Reyes</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10B981"/>
                          </a:solidFill>
                          <a:latin typeface="Segoe UI"/>
                        </a:defRPr>
                      </a:pPr>
                      <a:r>
                        <a:t>Pre + follow-up</a:t>
                      </a:r>
                    </a:p>
                  </a:txBody>
                  <a:tcPr anchor="ctr" marL="76200" marR="76200" marT="38100" marB="38100">
                    <a:solidFill>
                      <a:srgbClr val="F5F3FF"/>
                    </a:solidFill>
                    <a:lnL w="0">
                      <a:noFill/>
                    </a:lnL>
                    <a:lnR w="0">
                      <a:noFill/>
                    </a:lnR>
                    <a:lnT w="0">
                      <a:noFill/>
                    </a:lnT>
                    <a:lnB w="0">
                      <a:noFill/>
                    </a:lnB>
                  </a:tcPr>
                </a:tc>
              </a:tr>
              <a:tr h="214883">
                <a:tc>
                  <a:txBody>
                    <a:bodyPr/>
                    <a:lstStyle/>
                    <a:p>
                      <a:pPr algn="l">
                        <a:defRPr sz="800" b="1">
                          <a:solidFill>
                            <a:srgbClr val="1E073B"/>
                          </a:solidFill>
                          <a:latin typeface="Segoe UI"/>
                        </a:defRPr>
                      </a:pPr>
                      <a:r>
                        <a:t>Cecile Awad</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United Advantage</a:t>
                      </a:r>
                    </a:p>
                  </a:txBody>
                  <a:tcPr anchor="ctr" marL="76200" marR="76200" marT="38100" marB="38100">
                    <a:noFill/>
                    <a:lnL w="0">
                      <a:noFill/>
                    </a:lnL>
                    <a:lnR w="0">
                      <a:noFill/>
                    </a:lnR>
                    <a:lnT w="0">
                      <a:noFill/>
                    </a:lnT>
                    <a:lnB w="0">
                      <a:noFill/>
                    </a:lnB>
                  </a:tcPr>
                </a:tc>
                <a:tc>
                  <a:txBody>
                    <a:bodyPr/>
                    <a:lstStyle/>
                    <a:p>
                      <a:pPr algn="ctr">
                        <a:defRPr sz="800" b="1">
                          <a:solidFill>
                            <a:srgbClr val="2D233F"/>
                          </a:solidFill>
                          <a:latin typeface="Segoe UI"/>
                        </a:defRPr>
                      </a:pPr>
                      <a:r>
                        <a:t>Feb 20</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l">
                        <a:defRPr sz="800" b="1">
                          <a:solidFill>
                            <a:srgbClr val="7C3AED"/>
                          </a:solidFill>
                          <a:latin typeface="Segoe UI"/>
                        </a:defRPr>
                      </a:pPr>
                      <a:r>
                        <a:t>Dominic Purkett</a:t>
                      </a:r>
                    </a:p>
                  </a:txBody>
                  <a:tcPr anchor="ctr" marL="76200" marR="76200" marT="38100" marB="38100">
                    <a:noFill/>
                    <a:lnL w="0">
                      <a:noFill/>
                    </a:lnL>
                    <a:lnR w="0">
                      <a:noFill/>
                    </a:lnR>
                    <a:lnT w="0">
                      <a:noFill/>
                    </a:lnT>
                    <a:lnB w="0">
                      <a:noFill/>
                    </a:lnB>
                  </a:tcPr>
                </a:tc>
                <a:tc>
                  <a:txBody>
                    <a:bodyPr/>
                    <a:lstStyle/>
                    <a:p>
                      <a:pPr algn="l">
                        <a:defRPr sz="800" b="0">
                          <a:solidFill>
                            <a:srgbClr val="10B981"/>
                          </a:solidFill>
                          <a:latin typeface="Segoe UI"/>
                        </a:defRPr>
                      </a:pPr>
                      <a:r>
                        <a:t>Pre-bind nurturing</a:t>
                      </a:r>
                    </a:p>
                  </a:txBody>
                  <a:tcPr anchor="ctr" marL="76200" marR="76200" marT="38100" marB="38100">
                    <a:noFill/>
                    <a:lnL w="0">
                      <a:noFill/>
                    </a:lnL>
                    <a:lnR w="0">
                      <a:noFill/>
                    </a:lnR>
                    <a:lnT w="0">
                      <a:noFill/>
                    </a:lnT>
                    <a:lnB w="0">
                      <a:noFill/>
                    </a:lnB>
                  </a:tcPr>
                </a:tc>
              </a:tr>
              <a:tr h="214883">
                <a:tc>
                  <a:txBody>
                    <a:bodyPr/>
                    <a:lstStyle/>
                    <a:p>
                      <a:pPr algn="l">
                        <a:defRPr sz="800" b="1">
                          <a:solidFill>
                            <a:srgbClr val="1E073B"/>
                          </a:solidFill>
                          <a:latin typeface="Segoe UI"/>
                        </a:defRPr>
                      </a:pPr>
                      <a:r>
                        <a:t>Brandon Durham</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Insurance4Truckers</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2D233F"/>
                          </a:solidFill>
                          <a:latin typeface="Segoe UI"/>
                        </a:defRPr>
                      </a:pPr>
                      <a:r>
                        <a:t>Feb 23</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A09CB0"/>
                          </a:solidFill>
                          <a:latin typeface="Segoe UI"/>
                        </a:defRPr>
                      </a:pPr>
                      <a:r>
                        <a:t>No calls</a:t>
                      </a:r>
                    </a:p>
                  </a:txBody>
                  <a:tcPr anchor="ctr" marL="76200" marR="76200" marT="38100" marB="38100">
                    <a:solidFill>
                      <a:srgbClr val="F5F3FF"/>
                    </a:solidFill>
                    <a:lnL w="0">
                      <a:noFill/>
                    </a:lnL>
                    <a:lnR w="0">
                      <a:noFill/>
                    </a:lnR>
                    <a:lnT w="0">
                      <a:noFill/>
                    </a:lnT>
                    <a:lnB w="0">
                      <a:noFill/>
                    </a:lnB>
                  </a:tcPr>
                </a:tc>
              </a:tr>
              <a:tr h="214883">
                <a:tc>
                  <a:txBody>
                    <a:bodyPr/>
                    <a:lstStyle/>
                    <a:p>
                      <a:pPr algn="l">
                        <a:defRPr sz="800" b="1">
                          <a:solidFill>
                            <a:srgbClr val="1E073B"/>
                          </a:solidFill>
                          <a:latin typeface="Segoe UI"/>
                        </a:defRPr>
                      </a:pPr>
                      <a:r>
                        <a:t>John Medina</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USA Specialty</a:t>
                      </a:r>
                    </a:p>
                  </a:txBody>
                  <a:tcPr anchor="ctr" marL="76200" marR="76200" marT="38100" marB="38100">
                    <a:noFill/>
                    <a:lnL w="0">
                      <a:noFill/>
                    </a:lnL>
                    <a:lnR w="0">
                      <a:noFill/>
                    </a:lnR>
                    <a:lnT w="0">
                      <a:noFill/>
                    </a:lnT>
                    <a:lnB w="0">
                      <a:noFill/>
                    </a:lnB>
                  </a:tcPr>
                </a:tc>
                <a:tc>
                  <a:txBody>
                    <a:bodyPr/>
                    <a:lstStyle/>
                    <a:p>
                      <a:pPr algn="ctr">
                        <a:defRPr sz="800" b="1">
                          <a:solidFill>
                            <a:srgbClr val="2D233F"/>
                          </a:solidFill>
                          <a:latin typeface="Segoe UI"/>
                        </a:defRPr>
                      </a:pPr>
                      <a:r>
                        <a:t>Feb 24</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800" b="0">
                          <a:solidFill>
                            <a:srgbClr val="A09CB0"/>
                          </a:solidFill>
                          <a:latin typeface="Segoe UI"/>
                        </a:defRPr>
                      </a:pPr>
                      <a:r>
                        <a:t>No calls</a:t>
                      </a:r>
                    </a:p>
                  </a:txBody>
                  <a:tcPr anchor="ctr" marL="76200" marR="76200" marT="38100" marB="38100">
                    <a:noFill/>
                    <a:lnL w="0">
                      <a:noFill/>
                    </a:lnL>
                    <a:lnR w="0">
                      <a:noFill/>
                    </a:lnR>
                    <a:lnT w="0">
                      <a:noFill/>
                    </a:lnT>
                    <a:lnB w="0">
                      <a:noFill/>
                    </a:lnB>
                  </a:tcPr>
                </a:tc>
              </a:tr>
              <a:tr h="214899">
                <a:tc>
                  <a:txBody>
                    <a:bodyPr/>
                    <a:lstStyle/>
                    <a:p>
                      <a:pPr algn="l">
                        <a:defRPr sz="800" b="1">
                          <a:solidFill>
                            <a:srgbClr val="1E073B"/>
                          </a:solidFill>
                          <a:latin typeface="Segoe UI"/>
                        </a:defRPr>
                      </a:pPr>
                      <a:r>
                        <a:t>Rosa Gomez</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Monarca Trucking</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2D233F"/>
                          </a:solidFill>
                          <a:latin typeface="Segoe UI"/>
                        </a:defRPr>
                      </a:pPr>
                      <a:r>
                        <a:t>Feb 18</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7C3AED"/>
                          </a:solidFill>
                          <a:latin typeface="Segoe UI"/>
                        </a:defRPr>
                      </a:pPr>
                      <a:r>
                        <a:t>Dominic Purkett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10B981"/>
                          </a:solidFill>
                          <a:latin typeface="Segoe UI"/>
                        </a:defRPr>
                      </a:pPr>
                      <a:r>
                        <a:t>53-min call pre-bind</a:t>
                      </a:r>
                    </a:p>
                  </a:txBody>
                  <a:tcPr anchor="ctr" marL="76200" marR="76200" marT="38100" marB="38100">
                    <a:solidFill>
                      <a:srgbClr val="F5F3FF"/>
                    </a:solidFill>
                    <a:lnL w="0">
                      <a:noFill/>
                    </a:lnL>
                    <a:lnR w="0">
                      <a:noFill/>
                    </a:lnR>
                    <a:lnT w="0">
                      <a:noFill/>
                    </a:lnT>
                    <a:lnB w="0">
                      <a:noFill/>
                    </a:lnB>
                  </a:tcPr>
                </a:tc>
              </a:tr>
            </a:tbl>
          </a:graphicData>
        </a:graphic>
      </p:graphicFrame>
      <p:sp>
        <p:nvSpPr>
          <p:cNvPr id="29" name="Rounded Rectangle 28"/>
          <p:cNvSpPr/>
          <p:nvPr/>
        </p:nvSpPr>
        <p:spPr>
          <a:xfrm>
            <a:off x="274320" y="6126480"/>
            <a:ext cx="11430000" cy="347472"/>
          </a:xfrm>
          <a:prstGeom prst="roundRect">
            <a:avLst>
              <a:gd name="adj" fmla="val 6000"/>
            </a:avLst>
          </a:prstGeom>
          <a:solidFill>
            <a:srgbClr val="EDE9FE"/>
          </a:solidFill>
          <a:ln w="635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144768"/>
            <a:ext cx="10972800" cy="310896"/>
          </a:xfrm>
          <a:prstGeom prst="rect">
            <a:avLst/>
          </a:prstGeom>
          <a:noFill/>
        </p:spPr>
        <p:txBody>
          <a:bodyPr wrap="square">
            <a:spAutoFit/>
          </a:bodyPr>
          <a:lstStyle/>
          <a:p>
            <a:pPr algn="l">
              <a:defRPr sz="800" b="1" i="0">
                <a:solidFill>
                  <a:srgbClr val="5B21B6"/>
                </a:solidFill>
                <a:latin typeface="Segoe UI"/>
              </a:defRPr>
            </a:pPr>
            <a:r>
              <a:t>Dominic Purkett: 4 agencies pre-bind  |  Derrick Leroy: 7 pre-bind calls (2 agencies)  |  Antonio Reyes: 4 pre-bind (2 agencies)  |  * = endorsement/renewal</a:t>
            </a:r>
          </a:p>
        </p:txBody>
      </p:sp>
      <p:sp>
        <p:nvSpPr>
          <p:cNvPr id="31" name="Rectangle 30"/>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33" name="TextBox 32"/>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KEY INSIGHTS &amp; ANALYSIS</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Data-Driven Findings from DSG Bound Business 2026</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71600"/>
            <a:ext cx="5486400" cy="320040"/>
          </a:xfrm>
          <a:prstGeom prst="rect">
            <a:avLst/>
          </a:prstGeom>
          <a:noFill/>
        </p:spPr>
        <p:txBody>
          <a:bodyPr wrap="square">
            <a:spAutoFit/>
          </a:bodyPr>
          <a:lstStyle/>
          <a:p>
            <a:pPr algn="l">
              <a:defRPr sz="1300" b="1" i="0">
                <a:solidFill>
                  <a:srgbClr val="5B21B6"/>
                </a:solidFill>
                <a:latin typeface="Segoe UI Semibold"/>
              </a:defRPr>
            </a:pPr>
            <a:r>
              <a:t>PERFORMANCE</a:t>
            </a:r>
          </a:p>
        </p:txBody>
      </p:sp>
      <p:sp>
        <p:nvSpPr>
          <p:cNvPr id="12" name="Rectangle 11"/>
          <p:cNvSpPr/>
          <p:nvPr/>
        </p:nvSpPr>
        <p:spPr>
          <a:xfrm>
            <a:off x="457200" y="1691640"/>
            <a:ext cx="5303520" cy="27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92808"/>
            <a:ext cx="109728"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828800"/>
            <a:ext cx="5029200" cy="365760"/>
          </a:xfrm>
          <a:prstGeom prst="rect">
            <a:avLst/>
          </a:prstGeom>
          <a:noFill/>
        </p:spPr>
        <p:txBody>
          <a:bodyPr wrap="square">
            <a:spAutoFit/>
          </a:bodyPr>
          <a:lstStyle/>
          <a:p>
            <a:pPr algn="l">
              <a:defRPr sz="1000" b="0" i="0">
                <a:solidFill>
                  <a:srgbClr val="2D233F"/>
                </a:solidFill>
                <a:latin typeface="Segoe UI"/>
              </a:defRPr>
            </a:pPr>
            <a:r>
              <a:t>February surge: 25 accounts ($1.1M) vs January 13 accounts ($500,726) - 211% MoM growth</a:t>
            </a:r>
          </a:p>
        </p:txBody>
      </p:sp>
      <p:sp>
        <p:nvSpPr>
          <p:cNvPr id="15" name="Rectangle 14"/>
          <p:cNvSpPr/>
          <p:nvPr/>
        </p:nvSpPr>
        <p:spPr>
          <a:xfrm>
            <a:off x="548640" y="2304288"/>
            <a:ext cx="109728"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240280"/>
            <a:ext cx="5029200" cy="365760"/>
          </a:xfrm>
          <a:prstGeom prst="rect">
            <a:avLst/>
          </a:prstGeom>
          <a:noFill/>
        </p:spPr>
        <p:txBody>
          <a:bodyPr wrap="square">
            <a:spAutoFit/>
          </a:bodyPr>
          <a:lstStyle/>
          <a:p>
            <a:pPr algn="l">
              <a:defRPr sz="1000" b="0" i="0">
                <a:solidFill>
                  <a:srgbClr val="2D233F"/>
                </a:solidFill>
                <a:latin typeface="Segoe UI"/>
              </a:defRPr>
            </a:pPr>
            <a:r>
              <a:t>Average bound premium of $28,284 per account across 184 total policies</a:t>
            </a:r>
          </a:p>
        </p:txBody>
      </p:sp>
      <p:sp>
        <p:nvSpPr>
          <p:cNvPr id="17" name="Rectangle 16"/>
          <p:cNvSpPr/>
          <p:nvPr/>
        </p:nvSpPr>
        <p:spPr>
          <a:xfrm>
            <a:off x="548640" y="2715768"/>
            <a:ext cx="109728"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2651760"/>
            <a:ext cx="5029200" cy="365760"/>
          </a:xfrm>
          <a:prstGeom prst="rect">
            <a:avLst/>
          </a:prstGeom>
          <a:noFill/>
        </p:spPr>
        <p:txBody>
          <a:bodyPr wrap="square">
            <a:spAutoFit/>
          </a:bodyPr>
          <a:lstStyle/>
          <a:p>
            <a:pPr algn="l">
              <a:defRPr sz="1000" b="0" i="0">
                <a:solidFill>
                  <a:srgbClr val="2D233F"/>
                </a:solidFill>
                <a:latin typeface="Segoe UI"/>
              </a:defRPr>
            </a:pPr>
            <a:r>
              <a:t>Top BDM: Unassigned driving $3.4M (65% of total) across 124 accounts</a:t>
            </a:r>
          </a:p>
        </p:txBody>
      </p:sp>
      <p:sp>
        <p:nvSpPr>
          <p:cNvPr id="19" name="Rectangle 18"/>
          <p:cNvSpPr/>
          <p:nvPr/>
        </p:nvSpPr>
        <p:spPr>
          <a:xfrm>
            <a:off x="548640" y="3127248"/>
            <a:ext cx="109728"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063240"/>
            <a:ext cx="5029200" cy="365760"/>
          </a:xfrm>
          <a:prstGeom prst="rect">
            <a:avLst/>
          </a:prstGeom>
          <a:noFill/>
        </p:spPr>
        <p:txBody>
          <a:bodyPr wrap="square">
            <a:spAutoFit/>
          </a:bodyPr>
          <a:lstStyle/>
          <a:p>
            <a:pPr algn="l">
              <a:defRPr sz="1000" b="0" i="0">
                <a:solidFill>
                  <a:srgbClr val="2D233F"/>
                </a:solidFill>
                <a:latin typeface="Segoe UI"/>
              </a:defRPr>
            </a:pPr>
            <a:r>
              <a:t>Top BDA: Unassigned supporting $4.7M (90% of total) across 166 accounts</a:t>
            </a:r>
          </a:p>
        </p:txBody>
      </p:sp>
      <p:sp>
        <p:nvSpPr>
          <p:cNvPr id="21" name="Rectangle 20"/>
          <p:cNvSpPr/>
          <p:nvPr/>
        </p:nvSpPr>
        <p:spPr>
          <a:xfrm>
            <a:off x="548640" y="3538728"/>
            <a:ext cx="109728"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474720"/>
            <a:ext cx="5029200" cy="365760"/>
          </a:xfrm>
          <a:prstGeom prst="rect">
            <a:avLst/>
          </a:prstGeom>
          <a:noFill/>
        </p:spPr>
        <p:txBody>
          <a:bodyPr wrap="square">
            <a:spAutoFit/>
          </a:bodyPr>
          <a:lstStyle/>
          <a:p>
            <a:pPr algn="l">
              <a:defRPr sz="1000" b="0" i="0">
                <a:solidFill>
                  <a:srgbClr val="2D233F"/>
                </a:solidFill>
                <a:latin typeface="Segoe UI"/>
              </a:defRPr>
            </a:pPr>
            <a:r>
              <a:t>Total program GWP: $5.2M bound premium (New Business + Renewal only)</a:t>
            </a:r>
          </a:p>
        </p:txBody>
      </p:sp>
      <p:sp>
        <p:nvSpPr>
          <p:cNvPr id="23" name="TextBox 22"/>
          <p:cNvSpPr txBox="1"/>
          <p:nvPr/>
        </p:nvSpPr>
        <p:spPr>
          <a:xfrm>
            <a:off x="6217920" y="1371600"/>
            <a:ext cx="5486400" cy="320040"/>
          </a:xfrm>
          <a:prstGeom prst="rect">
            <a:avLst/>
          </a:prstGeom>
          <a:noFill/>
        </p:spPr>
        <p:txBody>
          <a:bodyPr wrap="square">
            <a:spAutoFit/>
          </a:bodyPr>
          <a:lstStyle/>
          <a:p>
            <a:pPr algn="l">
              <a:defRPr sz="1300" b="1" i="0">
                <a:solidFill>
                  <a:srgbClr val="D946EF"/>
                </a:solidFill>
                <a:latin typeface="Segoe UI Semibold"/>
              </a:defRPr>
            </a:pPr>
            <a:r>
              <a:t>MARKETING &amp; OUTREACH</a:t>
            </a:r>
          </a:p>
        </p:txBody>
      </p:sp>
      <p:sp>
        <p:nvSpPr>
          <p:cNvPr id="24" name="Rectangle 23"/>
          <p:cNvSpPr/>
          <p:nvPr/>
        </p:nvSpPr>
        <p:spPr>
          <a:xfrm>
            <a:off x="6217920" y="1691640"/>
            <a:ext cx="530352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09360" y="1892808"/>
            <a:ext cx="109728" cy="109728"/>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37960" y="1828800"/>
            <a:ext cx="5029200" cy="365760"/>
          </a:xfrm>
          <a:prstGeom prst="rect">
            <a:avLst/>
          </a:prstGeom>
          <a:noFill/>
        </p:spPr>
        <p:txBody>
          <a:bodyPr wrap="square">
            <a:spAutoFit/>
          </a:bodyPr>
          <a:lstStyle/>
          <a:p>
            <a:pPr algn="l">
              <a:defRPr sz="1000" b="0" i="0">
                <a:solidFill>
                  <a:srgbClr val="2D233F"/>
                </a:solidFill>
                <a:latin typeface="Segoe UI"/>
              </a:defRPr>
            </a:pPr>
            <a:r>
              <a:t>Growth DSG campaign reached 1,150 influenced contacts; 5 of 16 (31%) Feb bound agents were directly influenced</a:t>
            </a:r>
          </a:p>
        </p:txBody>
      </p:sp>
      <p:sp>
        <p:nvSpPr>
          <p:cNvPr id="27" name="Rectangle 26"/>
          <p:cNvSpPr/>
          <p:nvPr/>
        </p:nvSpPr>
        <p:spPr>
          <a:xfrm>
            <a:off x="6309360" y="2304288"/>
            <a:ext cx="109728" cy="109728"/>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60" y="2240280"/>
            <a:ext cx="5029200" cy="365760"/>
          </a:xfrm>
          <a:prstGeom prst="rect">
            <a:avLst/>
          </a:prstGeom>
          <a:noFill/>
        </p:spPr>
        <p:txBody>
          <a:bodyPr wrap="square">
            <a:spAutoFit/>
          </a:bodyPr>
          <a:lstStyle/>
          <a:p>
            <a:pPr algn="l">
              <a:defRPr sz="1000" b="0" i="0">
                <a:solidFill>
                  <a:srgbClr val="2D233F"/>
                </a:solidFill>
                <a:latin typeface="Segoe UI"/>
              </a:defRPr>
            </a:pPr>
            <a:r>
              <a:t>BDA outreach confirmed: 3 bound agents received outbound calls from their assigned BDA before binding</a:t>
            </a:r>
          </a:p>
        </p:txBody>
      </p:sp>
      <p:sp>
        <p:nvSpPr>
          <p:cNvPr id="29" name="Rectangle 28"/>
          <p:cNvSpPr/>
          <p:nvPr/>
        </p:nvSpPr>
        <p:spPr>
          <a:xfrm>
            <a:off x="6309360" y="2715768"/>
            <a:ext cx="109728" cy="109728"/>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37960" y="2651760"/>
            <a:ext cx="5029200" cy="365760"/>
          </a:xfrm>
          <a:prstGeom prst="rect">
            <a:avLst/>
          </a:prstGeom>
          <a:noFill/>
        </p:spPr>
        <p:txBody>
          <a:bodyPr wrap="square">
            <a:spAutoFit/>
          </a:bodyPr>
          <a:lstStyle/>
          <a:p>
            <a:pPr algn="l">
              <a:defRPr sz="1000" b="0" i="0">
                <a:solidFill>
                  <a:srgbClr val="2D233F"/>
                </a:solidFill>
                <a:latin typeface="Segoe UI"/>
              </a:defRPr>
            </a:pPr>
            <a:r>
              <a:t>Dominic Purkett (BDA) had direct outbound contact with Betty Reyes, Rosa Gomez; 53-min call with Rosa on Feb 6</a:t>
            </a:r>
          </a:p>
        </p:txBody>
      </p:sp>
      <p:sp>
        <p:nvSpPr>
          <p:cNvPr id="31" name="Rectangle 30"/>
          <p:cNvSpPr/>
          <p:nvPr/>
        </p:nvSpPr>
        <p:spPr>
          <a:xfrm>
            <a:off x="6309360" y="3127248"/>
            <a:ext cx="109728" cy="109728"/>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3063240"/>
            <a:ext cx="5029200" cy="365760"/>
          </a:xfrm>
          <a:prstGeom prst="rect">
            <a:avLst/>
          </a:prstGeom>
          <a:noFill/>
        </p:spPr>
        <p:txBody>
          <a:bodyPr wrap="square">
            <a:spAutoFit/>
          </a:bodyPr>
          <a:lstStyle/>
          <a:p>
            <a:pPr algn="l">
              <a:defRPr sz="1000" b="0" i="0">
                <a:solidFill>
                  <a:srgbClr val="2D233F"/>
                </a:solidFill>
                <a:latin typeface="Segoe UI"/>
              </a:defRPr>
            </a:pPr>
            <a:r>
              <a:t>Antonio Reyes (BDA) reached Jeff Ornelas (3 calls) and Lynda Inderjeet (1 call) before they bound</a:t>
            </a:r>
          </a:p>
        </p:txBody>
      </p:sp>
      <p:sp>
        <p:nvSpPr>
          <p:cNvPr id="33" name="Rectangle 32"/>
          <p:cNvSpPr/>
          <p:nvPr/>
        </p:nvSpPr>
        <p:spPr>
          <a:xfrm>
            <a:off x="6309360" y="3538728"/>
            <a:ext cx="109728" cy="109728"/>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3474720"/>
            <a:ext cx="5029200" cy="365760"/>
          </a:xfrm>
          <a:prstGeom prst="rect">
            <a:avLst/>
          </a:prstGeom>
          <a:noFill/>
        </p:spPr>
        <p:txBody>
          <a:bodyPr wrap="square">
            <a:spAutoFit/>
          </a:bodyPr>
          <a:lstStyle/>
          <a:p>
            <a:pPr algn="l">
              <a:defRPr sz="1000" b="0" i="0">
                <a:solidFill>
                  <a:srgbClr val="2D233F"/>
                </a:solidFill>
                <a:latin typeface="Segoe UI"/>
              </a:defRPr>
            </a:pPr>
            <a:r>
              <a:t>Feb Newsletter estimated to reach ~69% of bound agents; combined with DSG campaign, 44% had agency-level DSG touch</a:t>
            </a:r>
          </a:p>
        </p:txBody>
      </p:sp>
      <p:sp>
        <p:nvSpPr>
          <p:cNvPr id="35" name="TextBox 34"/>
          <p:cNvSpPr txBox="1"/>
          <p:nvPr/>
        </p:nvSpPr>
        <p:spPr>
          <a:xfrm>
            <a:off x="457200" y="4023360"/>
            <a:ext cx="10972800" cy="320040"/>
          </a:xfrm>
          <a:prstGeom prst="rect">
            <a:avLst/>
          </a:prstGeom>
          <a:noFill/>
        </p:spPr>
        <p:txBody>
          <a:bodyPr wrap="square">
            <a:spAutoFit/>
          </a:bodyPr>
          <a:lstStyle/>
          <a:p>
            <a:pPr algn="l">
              <a:defRPr sz="1300" b="1" i="0">
                <a:solidFill>
                  <a:srgbClr val="10B981"/>
                </a:solidFill>
                <a:latin typeface="Segoe UI Semibold"/>
              </a:defRPr>
            </a:pPr>
            <a:r>
              <a:t>STRATEGIC TAKEAWAYS</a:t>
            </a:r>
          </a:p>
        </p:txBody>
      </p:sp>
      <p:sp>
        <p:nvSpPr>
          <p:cNvPr id="36" name="Rectangle 35"/>
          <p:cNvSpPr/>
          <p:nvPr/>
        </p:nvSpPr>
        <p:spPr>
          <a:xfrm>
            <a:off x="457200" y="4343400"/>
            <a:ext cx="11247120" cy="27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4480560"/>
            <a:ext cx="11247120" cy="438912"/>
          </a:xfrm>
          <a:prstGeom prst="roundRect">
            <a:avLst>
              <a:gd name="adj" fmla="val 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4480560"/>
            <a:ext cx="54864" cy="43891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4498848"/>
            <a:ext cx="2011680" cy="201168"/>
          </a:xfrm>
          <a:prstGeom prst="rect">
            <a:avLst/>
          </a:prstGeom>
          <a:noFill/>
        </p:spPr>
        <p:txBody>
          <a:bodyPr wrap="square">
            <a:spAutoFit/>
          </a:bodyPr>
          <a:lstStyle/>
          <a:p>
            <a:pPr algn="l">
              <a:defRPr sz="900" b="1" i="0">
                <a:solidFill>
                  <a:srgbClr val="10B981"/>
                </a:solidFill>
                <a:latin typeface="Segoe UI Semibold"/>
              </a:defRPr>
            </a:pPr>
            <a:r>
              <a:t>Multi-Touch Attribution</a:t>
            </a:r>
          </a:p>
        </p:txBody>
      </p:sp>
      <p:sp>
        <p:nvSpPr>
          <p:cNvPr id="40" name="TextBox 39"/>
          <p:cNvSpPr txBox="1"/>
          <p:nvPr/>
        </p:nvSpPr>
        <p:spPr>
          <a:xfrm>
            <a:off x="640080" y="4681728"/>
            <a:ext cx="10881360" cy="219456"/>
          </a:xfrm>
          <a:prstGeom prst="rect">
            <a:avLst/>
          </a:prstGeom>
          <a:noFill/>
        </p:spPr>
        <p:txBody>
          <a:bodyPr wrap="square">
            <a:spAutoFit/>
          </a:bodyPr>
          <a:lstStyle/>
          <a:p>
            <a:pPr algn="l">
              <a:defRPr sz="800" b="0" i="0">
                <a:solidFill>
                  <a:srgbClr val="6B5F83"/>
                </a:solidFill>
                <a:latin typeface="Segoe UI"/>
              </a:defRPr>
            </a:pPr>
            <a:r>
              <a:t>Bound agents were reached through a combination of DSG campaign emails, BDA outbound calls, and newsletter outreach. No single channel drove binds alone - the multi-touch approach is working.</a:t>
            </a:r>
          </a:p>
        </p:txBody>
      </p:sp>
      <p:sp>
        <p:nvSpPr>
          <p:cNvPr id="41" name="Rounded Rectangle 40"/>
          <p:cNvSpPr/>
          <p:nvPr/>
        </p:nvSpPr>
        <p:spPr>
          <a:xfrm>
            <a:off x="457200" y="4983480"/>
            <a:ext cx="11247120" cy="438912"/>
          </a:xfrm>
          <a:prstGeom prst="roundRect">
            <a:avLst>
              <a:gd name="adj" fmla="val 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4983480"/>
            <a:ext cx="54864" cy="43891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5001768"/>
            <a:ext cx="2011680" cy="201168"/>
          </a:xfrm>
          <a:prstGeom prst="rect">
            <a:avLst/>
          </a:prstGeom>
          <a:noFill/>
        </p:spPr>
        <p:txBody>
          <a:bodyPr wrap="square">
            <a:spAutoFit/>
          </a:bodyPr>
          <a:lstStyle/>
          <a:p>
            <a:pPr algn="l">
              <a:defRPr sz="900" b="1" i="0">
                <a:solidFill>
                  <a:srgbClr val="10B981"/>
                </a:solidFill>
                <a:latin typeface="Segoe UI Semibold"/>
              </a:defRPr>
            </a:pPr>
            <a:r>
              <a:t>BDA Outreach Drives Results</a:t>
            </a:r>
          </a:p>
        </p:txBody>
      </p:sp>
      <p:sp>
        <p:nvSpPr>
          <p:cNvPr id="44" name="TextBox 43"/>
          <p:cNvSpPr txBox="1"/>
          <p:nvPr/>
        </p:nvSpPr>
        <p:spPr>
          <a:xfrm>
            <a:off x="640080" y="5184648"/>
            <a:ext cx="10881360" cy="219456"/>
          </a:xfrm>
          <a:prstGeom prst="rect">
            <a:avLst/>
          </a:prstGeom>
          <a:noFill/>
        </p:spPr>
        <p:txBody>
          <a:bodyPr wrap="square">
            <a:spAutoFit/>
          </a:bodyPr>
          <a:lstStyle/>
          <a:p>
            <a:pPr algn="l">
              <a:defRPr sz="800" b="0" i="0">
                <a:solidFill>
                  <a:srgbClr val="6B5F83"/>
                </a:solidFill>
                <a:latin typeface="Segoe UI"/>
              </a:defRPr>
            </a:pPr>
            <a:r>
              <a:t>3 of 5 DSG-influenced agents also received outbound BDA calls. The combination of email + personal outreach appears to be the strongest conversion driver.</a:t>
            </a:r>
          </a:p>
        </p:txBody>
      </p:sp>
      <p:sp>
        <p:nvSpPr>
          <p:cNvPr id="45" name="Rounded Rectangle 44"/>
          <p:cNvSpPr/>
          <p:nvPr/>
        </p:nvSpPr>
        <p:spPr>
          <a:xfrm>
            <a:off x="457200" y="5486400"/>
            <a:ext cx="11247120" cy="438912"/>
          </a:xfrm>
          <a:prstGeom prst="roundRect">
            <a:avLst>
              <a:gd name="adj" fmla="val 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5486400"/>
            <a:ext cx="54864" cy="43891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504688"/>
            <a:ext cx="2011680" cy="201168"/>
          </a:xfrm>
          <a:prstGeom prst="rect">
            <a:avLst/>
          </a:prstGeom>
          <a:noFill/>
        </p:spPr>
        <p:txBody>
          <a:bodyPr wrap="square">
            <a:spAutoFit/>
          </a:bodyPr>
          <a:lstStyle/>
          <a:p>
            <a:pPr algn="l">
              <a:defRPr sz="900" b="1" i="0">
                <a:solidFill>
                  <a:srgbClr val="10B981"/>
                </a:solidFill>
                <a:latin typeface="Segoe UI Semibold"/>
              </a:defRPr>
            </a:pPr>
            <a:r>
              <a:t>February Momentum</a:t>
            </a:r>
          </a:p>
        </p:txBody>
      </p:sp>
      <p:sp>
        <p:nvSpPr>
          <p:cNvPr id="48" name="TextBox 47"/>
          <p:cNvSpPr txBox="1"/>
          <p:nvPr/>
        </p:nvSpPr>
        <p:spPr>
          <a:xfrm>
            <a:off x="640080" y="5687568"/>
            <a:ext cx="10881360" cy="219456"/>
          </a:xfrm>
          <a:prstGeom prst="rect">
            <a:avLst/>
          </a:prstGeom>
          <a:noFill/>
        </p:spPr>
        <p:txBody>
          <a:bodyPr wrap="square">
            <a:spAutoFit/>
          </a:bodyPr>
          <a:lstStyle/>
          <a:p>
            <a:pPr algn="l">
              <a:defRPr sz="800" b="0" i="0">
                <a:solidFill>
                  <a:srgbClr val="6B5F83"/>
                </a:solidFill>
                <a:latin typeface="Segoe UI"/>
              </a:defRPr>
            </a:pPr>
            <a:r>
              <a:t>Feb bound premium ($1.1M) significantly exceeded January ($500,726), suggesting the DSG program is gaining traction. The pipeline should continue to strengthen with sustained marketing and BDA engagement.</a:t>
            </a:r>
          </a:p>
        </p:txBody>
      </p:sp>
      <p:sp>
        <p:nvSpPr>
          <p:cNvPr id="49" name="Rounded Rectangle 48"/>
          <p:cNvSpPr/>
          <p:nvPr/>
        </p:nvSpPr>
        <p:spPr>
          <a:xfrm>
            <a:off x="457200" y="5989320"/>
            <a:ext cx="11247120" cy="438912"/>
          </a:xfrm>
          <a:prstGeom prst="roundRect">
            <a:avLst>
              <a:gd name="adj" fmla="val 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5989320"/>
            <a:ext cx="54864" cy="43891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 y="6007608"/>
            <a:ext cx="2011680" cy="201168"/>
          </a:xfrm>
          <a:prstGeom prst="rect">
            <a:avLst/>
          </a:prstGeom>
          <a:noFill/>
        </p:spPr>
        <p:txBody>
          <a:bodyPr wrap="square">
            <a:spAutoFit/>
          </a:bodyPr>
          <a:lstStyle/>
          <a:p>
            <a:pPr algn="l">
              <a:defRPr sz="900" b="1" i="0">
                <a:solidFill>
                  <a:srgbClr val="10B981"/>
                </a:solidFill>
                <a:latin typeface="Segoe UI Semibold"/>
              </a:defRPr>
            </a:pPr>
            <a:r>
              <a:t>Unassigned Agencies</a:t>
            </a:r>
          </a:p>
        </p:txBody>
      </p:sp>
      <p:sp>
        <p:nvSpPr>
          <p:cNvPr id="52" name="TextBox 51"/>
          <p:cNvSpPr txBox="1"/>
          <p:nvPr/>
        </p:nvSpPr>
        <p:spPr>
          <a:xfrm>
            <a:off x="640080" y="6190488"/>
            <a:ext cx="10881360" cy="219456"/>
          </a:xfrm>
          <a:prstGeom prst="rect">
            <a:avLst/>
          </a:prstGeom>
          <a:noFill/>
        </p:spPr>
        <p:txBody>
          <a:bodyPr wrap="square">
            <a:spAutoFit/>
          </a:bodyPr>
          <a:lstStyle/>
          <a:p>
            <a:pPr algn="l">
              <a:defRPr sz="800" b="0" i="0">
                <a:solidFill>
                  <a:srgbClr val="6B5F83"/>
                </a:solidFill>
                <a:latin typeface="Segoe UI"/>
              </a:defRPr>
            </a:pPr>
            <a:r>
              <a:t>Several high-performing agencies lack BDM/BDA assignments. Assigning relationship managers could unlock additional growth from these already-producing agencies.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073B"/>
        </a:solidFill>
        <a:effectLst/>
      </p:bgPr>
    </p:bg>
    <p:spTree>
      <p:nvGrpSpPr>
        <p:cNvPr id="1" name=""/>
        <p:cNvGrpSpPr/>
        <p:nvPr/>
      </p:nvGrpSpPr>
      <p:grpSpPr/>
      <p:sp>
        <p:nvSpPr>
          <p:cNvPr id="2" name="Oval 1"/>
          <p:cNvSpPr/>
          <p:nvPr/>
        </p:nvSpPr>
        <p:spPr>
          <a:xfrm>
            <a:off x="8229600" y="-914400"/>
            <a:ext cx="5486400" cy="5486400"/>
          </a:xfrm>
          <a:prstGeom prst="ellipse">
            <a:avLst/>
          </a:prstGeom>
          <a:solidFill>
            <a:srgbClr val="5B21B6">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914400"/>
            <a:ext cx="3200400" cy="3200400"/>
          </a:xfrm>
          <a:prstGeom prst="ellipse">
            <a:avLst/>
          </a:prstGeom>
          <a:solidFill>
            <a:srgbClr val="7C3AED">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0" y="3657600"/>
            <a:ext cx="4572000" cy="4572000"/>
          </a:xfrm>
          <a:prstGeom prst="ellipse">
            <a:avLst/>
          </a:prstGeom>
          <a:solidFill>
            <a:srgbClr val="5B21B6">
              <a:alpha val="1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57200" y="5029200"/>
            <a:ext cx="1828800" cy="1828800"/>
          </a:xfrm>
          <a:prstGeom prst="ellipse">
            <a:avLst/>
          </a:prstGeom>
          <a:solidFill>
            <a:srgbClr val="8B5CF6">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28600"/>
            <a:ext cx="7315200" cy="457200"/>
          </a:xfrm>
          <a:prstGeom prst="rect">
            <a:avLst/>
          </a:prstGeom>
          <a:noFill/>
        </p:spPr>
        <p:txBody>
          <a:bodyPr wrap="square">
            <a:spAutoFit/>
          </a:bodyPr>
          <a:lstStyle/>
          <a:p>
            <a:pPr algn="l">
              <a:defRPr sz="2200" b="1" i="0">
                <a:solidFill>
                  <a:srgbClr val="FFFFFF"/>
                </a:solidFill>
                <a:latin typeface="Segoe UI Light"/>
              </a:defRPr>
            </a:pPr>
            <a:r>
              <a:t>DSG BOUND BUSINESS  |  EXECUTIVE BATTLECARD</a:t>
            </a:r>
          </a:p>
        </p:txBody>
      </p:sp>
      <p:sp>
        <p:nvSpPr>
          <p:cNvPr id="7" name="TextBox 6"/>
          <p:cNvSpPr txBox="1"/>
          <p:nvPr/>
        </p:nvSpPr>
        <p:spPr>
          <a:xfrm>
            <a:off x="457200" y="640080"/>
            <a:ext cx="7315200" cy="274320"/>
          </a:xfrm>
          <a:prstGeom prst="rect">
            <a:avLst/>
          </a:prstGeom>
          <a:noFill/>
        </p:spPr>
        <p:txBody>
          <a:bodyPr wrap="square">
            <a:spAutoFit/>
          </a:bodyPr>
          <a:lstStyle/>
          <a:p>
            <a:pPr algn="l">
              <a:defRPr sz="1200" b="0" i="0">
                <a:solidFill>
                  <a:srgbClr val="A78BFA"/>
                </a:solidFill>
                <a:latin typeface="Segoe UI"/>
              </a:defRPr>
            </a:pPr>
            <a:r>
              <a:t>2026 Year-to-Date  |  184 Policies  |  $5.2M GWP</a:t>
            </a:r>
          </a:p>
        </p:txBody>
      </p:sp>
      <p:sp>
        <p:nvSpPr>
          <p:cNvPr id="8" name="Rectangle 7"/>
          <p:cNvSpPr/>
          <p:nvPr/>
        </p:nvSpPr>
        <p:spPr>
          <a:xfrm>
            <a:off x="457200" y="960120"/>
            <a:ext cx="22860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5760" y="1143000"/>
            <a:ext cx="2697480" cy="9601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143000"/>
            <a:ext cx="269748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252728"/>
            <a:ext cx="2423160" cy="182880"/>
          </a:xfrm>
          <a:prstGeom prst="rect">
            <a:avLst/>
          </a:prstGeom>
          <a:noFill/>
        </p:spPr>
        <p:txBody>
          <a:bodyPr wrap="square">
            <a:spAutoFit/>
          </a:bodyPr>
          <a:lstStyle/>
          <a:p>
            <a:pPr algn="l">
              <a:defRPr sz="800" b="1" i="0">
                <a:solidFill>
                  <a:srgbClr val="9C92B5"/>
                </a:solidFill>
                <a:latin typeface="Segoe UI Semibold"/>
              </a:defRPr>
            </a:pPr>
            <a:r>
              <a:t>BOUND ACCOUNTS</a:t>
            </a:r>
          </a:p>
        </p:txBody>
      </p:sp>
      <p:sp>
        <p:nvSpPr>
          <p:cNvPr id="12" name="TextBox 11"/>
          <p:cNvSpPr txBox="1"/>
          <p:nvPr/>
        </p:nvSpPr>
        <p:spPr>
          <a:xfrm>
            <a:off x="502920" y="1463040"/>
            <a:ext cx="2423160" cy="411480"/>
          </a:xfrm>
          <a:prstGeom prst="rect">
            <a:avLst/>
          </a:prstGeom>
          <a:noFill/>
        </p:spPr>
        <p:txBody>
          <a:bodyPr wrap="square">
            <a:spAutoFit/>
          </a:bodyPr>
          <a:lstStyle/>
          <a:p>
            <a:pPr algn="l">
              <a:defRPr sz="2400" b="1" i="0">
                <a:solidFill>
                  <a:srgbClr val="7C3AED"/>
                </a:solidFill>
                <a:latin typeface="Segoe UI Light"/>
              </a:defRPr>
            </a:pPr>
            <a:r>
              <a:t>184</a:t>
            </a:r>
          </a:p>
        </p:txBody>
      </p:sp>
      <p:sp>
        <p:nvSpPr>
          <p:cNvPr id="13" name="TextBox 12"/>
          <p:cNvSpPr txBox="1"/>
          <p:nvPr/>
        </p:nvSpPr>
        <p:spPr>
          <a:xfrm>
            <a:off x="502920" y="1856232"/>
            <a:ext cx="2423160" cy="164592"/>
          </a:xfrm>
          <a:prstGeom prst="rect">
            <a:avLst/>
          </a:prstGeom>
          <a:noFill/>
        </p:spPr>
        <p:txBody>
          <a:bodyPr wrap="square">
            <a:spAutoFit/>
          </a:bodyPr>
          <a:lstStyle/>
          <a:p>
            <a:pPr algn="l">
              <a:defRPr sz="800" b="0" i="1">
                <a:solidFill>
                  <a:srgbClr val="A09CB0"/>
                </a:solidFill>
                <a:latin typeface="Segoe UI"/>
              </a:defRPr>
            </a:pPr>
            <a:r>
              <a:t>2026 YTD</a:t>
            </a:r>
          </a:p>
        </p:txBody>
      </p:sp>
      <p:sp>
        <p:nvSpPr>
          <p:cNvPr id="14" name="Rounded Rectangle 13"/>
          <p:cNvSpPr/>
          <p:nvPr/>
        </p:nvSpPr>
        <p:spPr>
          <a:xfrm>
            <a:off x="3291840" y="1143000"/>
            <a:ext cx="2697480" cy="9601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91840" y="1143000"/>
            <a:ext cx="269748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1252728"/>
            <a:ext cx="2423160" cy="182880"/>
          </a:xfrm>
          <a:prstGeom prst="rect">
            <a:avLst/>
          </a:prstGeom>
          <a:noFill/>
        </p:spPr>
        <p:txBody>
          <a:bodyPr wrap="square">
            <a:spAutoFit/>
          </a:bodyPr>
          <a:lstStyle/>
          <a:p>
            <a:pPr algn="l">
              <a:defRPr sz="800" b="1" i="0">
                <a:solidFill>
                  <a:srgbClr val="9C92B5"/>
                </a:solidFill>
                <a:latin typeface="Segoe UI Semibold"/>
              </a:defRPr>
            </a:pPr>
            <a:r>
              <a:t>GROSS WRITTEN PREMIUM</a:t>
            </a:r>
          </a:p>
        </p:txBody>
      </p:sp>
      <p:sp>
        <p:nvSpPr>
          <p:cNvPr id="17" name="TextBox 16"/>
          <p:cNvSpPr txBox="1"/>
          <p:nvPr/>
        </p:nvSpPr>
        <p:spPr>
          <a:xfrm>
            <a:off x="3429000" y="1463040"/>
            <a:ext cx="2423160" cy="411480"/>
          </a:xfrm>
          <a:prstGeom prst="rect">
            <a:avLst/>
          </a:prstGeom>
          <a:noFill/>
        </p:spPr>
        <p:txBody>
          <a:bodyPr wrap="square">
            <a:spAutoFit/>
          </a:bodyPr>
          <a:lstStyle/>
          <a:p>
            <a:pPr algn="l">
              <a:defRPr sz="2400" b="1" i="0">
                <a:solidFill>
                  <a:srgbClr val="10B981"/>
                </a:solidFill>
                <a:latin typeface="Segoe UI Light"/>
              </a:defRPr>
            </a:pPr>
            <a:r>
              <a:t>$5.2M</a:t>
            </a:r>
          </a:p>
        </p:txBody>
      </p:sp>
      <p:sp>
        <p:nvSpPr>
          <p:cNvPr id="18" name="TextBox 17"/>
          <p:cNvSpPr txBox="1"/>
          <p:nvPr/>
        </p:nvSpPr>
        <p:spPr>
          <a:xfrm>
            <a:off x="3429000" y="1856232"/>
            <a:ext cx="2423160" cy="164592"/>
          </a:xfrm>
          <a:prstGeom prst="rect">
            <a:avLst/>
          </a:prstGeom>
          <a:noFill/>
        </p:spPr>
        <p:txBody>
          <a:bodyPr wrap="square">
            <a:spAutoFit/>
          </a:bodyPr>
          <a:lstStyle/>
          <a:p>
            <a:pPr algn="l">
              <a:defRPr sz="800" b="0" i="1">
                <a:solidFill>
                  <a:srgbClr val="A09CB0"/>
                </a:solidFill>
                <a:latin typeface="Segoe UI"/>
              </a:defRPr>
            </a:pPr>
            <a:r>
              <a:t>Year-to-Date</a:t>
            </a:r>
          </a:p>
        </p:txBody>
      </p:sp>
      <p:sp>
        <p:nvSpPr>
          <p:cNvPr id="19" name="Rounded Rectangle 18"/>
          <p:cNvSpPr/>
          <p:nvPr/>
        </p:nvSpPr>
        <p:spPr>
          <a:xfrm>
            <a:off x="6217920" y="1143000"/>
            <a:ext cx="2697480" cy="9601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1143000"/>
            <a:ext cx="2697480" cy="54864"/>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252728"/>
            <a:ext cx="2423160" cy="182880"/>
          </a:xfrm>
          <a:prstGeom prst="rect">
            <a:avLst/>
          </a:prstGeom>
          <a:noFill/>
        </p:spPr>
        <p:txBody>
          <a:bodyPr wrap="square">
            <a:spAutoFit/>
          </a:bodyPr>
          <a:lstStyle/>
          <a:p>
            <a:pPr algn="l">
              <a:defRPr sz="800" b="1" i="0">
                <a:solidFill>
                  <a:srgbClr val="9C92B5"/>
                </a:solidFill>
                <a:latin typeface="Segoe UI Semibold"/>
              </a:defRPr>
            </a:pPr>
            <a:r>
              <a:t>NET WRITTEN PREMIUM</a:t>
            </a:r>
          </a:p>
        </p:txBody>
      </p:sp>
      <p:sp>
        <p:nvSpPr>
          <p:cNvPr id="22" name="TextBox 21"/>
          <p:cNvSpPr txBox="1"/>
          <p:nvPr/>
        </p:nvSpPr>
        <p:spPr>
          <a:xfrm>
            <a:off x="6355080" y="1463040"/>
            <a:ext cx="2423160" cy="411480"/>
          </a:xfrm>
          <a:prstGeom prst="rect">
            <a:avLst/>
          </a:prstGeom>
          <a:noFill/>
        </p:spPr>
        <p:txBody>
          <a:bodyPr wrap="square">
            <a:spAutoFit/>
          </a:bodyPr>
          <a:lstStyle/>
          <a:p>
            <a:pPr algn="l">
              <a:defRPr sz="2400" b="1" i="0">
                <a:solidFill>
                  <a:srgbClr val="5B21B6"/>
                </a:solidFill>
                <a:latin typeface="Segoe UI Light"/>
              </a:defRPr>
            </a:pPr>
            <a:r>
              <a:t>$4.6M</a:t>
            </a:r>
          </a:p>
        </p:txBody>
      </p:sp>
      <p:sp>
        <p:nvSpPr>
          <p:cNvPr id="23" name="TextBox 22"/>
          <p:cNvSpPr txBox="1"/>
          <p:nvPr/>
        </p:nvSpPr>
        <p:spPr>
          <a:xfrm>
            <a:off x="6355080" y="1856232"/>
            <a:ext cx="2423160" cy="164592"/>
          </a:xfrm>
          <a:prstGeom prst="rect">
            <a:avLst/>
          </a:prstGeom>
          <a:noFill/>
        </p:spPr>
        <p:txBody>
          <a:bodyPr wrap="square">
            <a:spAutoFit/>
          </a:bodyPr>
          <a:lstStyle/>
          <a:p>
            <a:pPr algn="l">
              <a:defRPr sz="800" b="0" i="1">
                <a:solidFill>
                  <a:srgbClr val="A09CB0"/>
                </a:solidFill>
                <a:latin typeface="Segoe UI"/>
              </a:defRPr>
            </a:pPr>
            <a:r>
              <a:t>After Ceding</a:t>
            </a:r>
          </a:p>
        </p:txBody>
      </p:sp>
      <p:sp>
        <p:nvSpPr>
          <p:cNvPr id="24" name="Rounded Rectangle 23"/>
          <p:cNvSpPr/>
          <p:nvPr/>
        </p:nvSpPr>
        <p:spPr>
          <a:xfrm>
            <a:off x="9144000" y="1143000"/>
            <a:ext cx="2697480" cy="9601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143000"/>
            <a:ext cx="269748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81160" y="1252728"/>
            <a:ext cx="2423160" cy="182880"/>
          </a:xfrm>
          <a:prstGeom prst="rect">
            <a:avLst/>
          </a:prstGeom>
          <a:noFill/>
        </p:spPr>
        <p:txBody>
          <a:bodyPr wrap="square">
            <a:spAutoFit/>
          </a:bodyPr>
          <a:lstStyle/>
          <a:p>
            <a:pPr algn="l">
              <a:defRPr sz="800" b="1" i="0">
                <a:solidFill>
                  <a:srgbClr val="9C92B5"/>
                </a:solidFill>
                <a:latin typeface="Segoe UI Semibold"/>
              </a:defRPr>
            </a:pPr>
            <a:r>
              <a:t>AVG PREMIUM / ACCT</a:t>
            </a:r>
          </a:p>
        </p:txBody>
      </p:sp>
      <p:sp>
        <p:nvSpPr>
          <p:cNvPr id="27" name="TextBox 26"/>
          <p:cNvSpPr txBox="1"/>
          <p:nvPr/>
        </p:nvSpPr>
        <p:spPr>
          <a:xfrm>
            <a:off x="9281160" y="1463040"/>
            <a:ext cx="2423160" cy="411480"/>
          </a:xfrm>
          <a:prstGeom prst="rect">
            <a:avLst/>
          </a:prstGeom>
          <a:noFill/>
        </p:spPr>
        <p:txBody>
          <a:bodyPr wrap="square">
            <a:spAutoFit/>
          </a:bodyPr>
          <a:lstStyle/>
          <a:p>
            <a:pPr algn="l">
              <a:defRPr sz="2400" b="1" i="0">
                <a:solidFill>
                  <a:srgbClr val="8B5CF6"/>
                </a:solidFill>
                <a:latin typeface="Segoe UI Light"/>
              </a:defRPr>
            </a:pPr>
            <a:r>
              <a:t>$28,284</a:t>
            </a:r>
          </a:p>
        </p:txBody>
      </p:sp>
      <p:sp>
        <p:nvSpPr>
          <p:cNvPr id="28" name="TextBox 27"/>
          <p:cNvSpPr txBox="1"/>
          <p:nvPr/>
        </p:nvSpPr>
        <p:spPr>
          <a:xfrm>
            <a:off x="9281160" y="1856232"/>
            <a:ext cx="2423160" cy="164592"/>
          </a:xfrm>
          <a:prstGeom prst="rect">
            <a:avLst/>
          </a:prstGeom>
          <a:noFill/>
        </p:spPr>
        <p:txBody>
          <a:bodyPr wrap="square">
            <a:spAutoFit/>
          </a:bodyPr>
          <a:lstStyle/>
          <a:p>
            <a:pPr algn="l">
              <a:defRPr sz="800" b="0" i="1">
                <a:solidFill>
                  <a:srgbClr val="A09CB0"/>
                </a:solidFill>
                <a:latin typeface="Segoe UI"/>
              </a:defRPr>
            </a:pPr>
            <a:r>
              <a:t>Per Policy</a:t>
            </a:r>
          </a:p>
        </p:txBody>
      </p:sp>
      <p:sp>
        <p:nvSpPr>
          <p:cNvPr id="29" name="Rounded Rectangle 28"/>
          <p:cNvSpPr/>
          <p:nvPr/>
        </p:nvSpPr>
        <p:spPr>
          <a:xfrm>
            <a:off x="365760" y="2331720"/>
            <a:ext cx="5577840" cy="19659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2395728"/>
            <a:ext cx="3657600" cy="256032"/>
          </a:xfrm>
          <a:prstGeom prst="rect">
            <a:avLst/>
          </a:prstGeom>
          <a:noFill/>
        </p:spPr>
        <p:txBody>
          <a:bodyPr wrap="square">
            <a:spAutoFit/>
          </a:bodyPr>
          <a:lstStyle/>
          <a:p>
            <a:pPr algn="l">
              <a:defRPr sz="1100" b="1" i="0">
                <a:solidFill>
                  <a:srgbClr val="5B21B6"/>
                </a:solidFill>
                <a:latin typeface="Segoe UI Semibold"/>
              </a:defRPr>
            </a:pPr>
            <a:r>
              <a:t>MONTHLY BREAKDOWN</a:t>
            </a:r>
          </a:p>
        </p:txBody>
      </p:sp>
      <p:sp>
        <p:nvSpPr>
          <p:cNvPr id="31" name="Rectangle 30"/>
          <p:cNvSpPr/>
          <p:nvPr/>
        </p:nvSpPr>
        <p:spPr>
          <a:xfrm>
            <a:off x="548640" y="2670048"/>
            <a:ext cx="109728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2788920"/>
            <a:ext cx="548640" cy="274320"/>
          </a:xfrm>
          <a:prstGeom prst="rect">
            <a:avLst/>
          </a:prstGeom>
          <a:noFill/>
        </p:spPr>
        <p:txBody>
          <a:bodyPr wrap="square">
            <a:spAutoFit/>
          </a:bodyPr>
          <a:lstStyle/>
          <a:p>
            <a:pPr algn="l">
              <a:defRPr sz="1100" b="1" i="0">
                <a:solidFill>
                  <a:srgbClr val="1E073B"/>
                </a:solidFill>
                <a:latin typeface="Segoe UI Semibold"/>
              </a:defRPr>
            </a:pPr>
            <a:r>
              <a:t>JAN</a:t>
            </a:r>
          </a:p>
        </p:txBody>
      </p:sp>
      <p:sp>
        <p:nvSpPr>
          <p:cNvPr id="33" name="Rounded Rectangle 32"/>
          <p:cNvSpPr/>
          <p:nvPr/>
        </p:nvSpPr>
        <p:spPr>
          <a:xfrm>
            <a:off x="1188720" y="2816352"/>
            <a:ext cx="4114800" cy="201168"/>
          </a:xfrm>
          <a:prstGeom prst="roundRect">
            <a:avLst>
              <a:gd name="adj" fmla="val 5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188720" y="2816352"/>
            <a:ext cx="1481853" cy="201168"/>
          </a:xfrm>
          <a:prstGeom prst="roundRect">
            <a:avLst>
              <a:gd name="adj" fmla="val 5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80160" y="2788920"/>
            <a:ext cx="2286000" cy="256032"/>
          </a:xfrm>
          <a:prstGeom prst="rect">
            <a:avLst/>
          </a:prstGeom>
          <a:noFill/>
        </p:spPr>
        <p:txBody>
          <a:bodyPr wrap="square">
            <a:spAutoFit/>
          </a:bodyPr>
          <a:lstStyle/>
          <a:p>
            <a:pPr algn="l">
              <a:defRPr sz="1000" b="1" i="0">
                <a:solidFill>
                  <a:srgbClr val="FFFFFF"/>
                </a:solidFill>
                <a:latin typeface="Segoe UI"/>
              </a:defRPr>
            </a:pPr>
            <a:r>
              <a:t>$500,726</a:t>
            </a:r>
          </a:p>
        </p:txBody>
      </p:sp>
      <p:sp>
        <p:nvSpPr>
          <p:cNvPr id="36" name="TextBox 35"/>
          <p:cNvSpPr txBox="1"/>
          <p:nvPr/>
        </p:nvSpPr>
        <p:spPr>
          <a:xfrm>
            <a:off x="3200400" y="2788920"/>
            <a:ext cx="2286000" cy="256032"/>
          </a:xfrm>
          <a:prstGeom prst="rect">
            <a:avLst/>
          </a:prstGeom>
          <a:noFill/>
        </p:spPr>
        <p:txBody>
          <a:bodyPr wrap="square">
            <a:spAutoFit/>
          </a:bodyPr>
          <a:lstStyle/>
          <a:p>
            <a:pPr algn="l">
              <a:defRPr sz="900" b="0" i="0">
                <a:solidFill>
                  <a:srgbClr val="C4B5FD"/>
                </a:solidFill>
                <a:latin typeface="Segoe UI"/>
              </a:defRPr>
            </a:pPr>
            <a:r>
              <a:t>13 accounts</a:t>
            </a:r>
          </a:p>
        </p:txBody>
      </p:sp>
      <p:sp>
        <p:nvSpPr>
          <p:cNvPr id="37" name="TextBox 36"/>
          <p:cNvSpPr txBox="1"/>
          <p:nvPr/>
        </p:nvSpPr>
        <p:spPr>
          <a:xfrm>
            <a:off x="640080" y="3154679"/>
            <a:ext cx="548640" cy="274320"/>
          </a:xfrm>
          <a:prstGeom prst="rect">
            <a:avLst/>
          </a:prstGeom>
          <a:noFill/>
        </p:spPr>
        <p:txBody>
          <a:bodyPr wrap="square">
            <a:spAutoFit/>
          </a:bodyPr>
          <a:lstStyle/>
          <a:p>
            <a:pPr algn="l">
              <a:defRPr sz="1100" b="1" i="0">
                <a:solidFill>
                  <a:srgbClr val="1E073B"/>
                </a:solidFill>
                <a:latin typeface="Segoe UI Semibold"/>
              </a:defRPr>
            </a:pPr>
            <a:r>
              <a:t>FEB</a:t>
            </a:r>
          </a:p>
        </p:txBody>
      </p:sp>
      <p:sp>
        <p:nvSpPr>
          <p:cNvPr id="38" name="Rounded Rectangle 37"/>
          <p:cNvSpPr/>
          <p:nvPr/>
        </p:nvSpPr>
        <p:spPr>
          <a:xfrm>
            <a:off x="1188720" y="3182111"/>
            <a:ext cx="4114800" cy="201168"/>
          </a:xfrm>
          <a:prstGeom prst="roundRect">
            <a:avLst>
              <a:gd name="adj" fmla="val 5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188720" y="3182111"/>
            <a:ext cx="3133069" cy="201168"/>
          </a:xfrm>
          <a:prstGeom prst="roundRect">
            <a:avLst>
              <a:gd name="adj" fmla="val 5000"/>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80160" y="3154679"/>
            <a:ext cx="2286000" cy="256032"/>
          </a:xfrm>
          <a:prstGeom prst="rect">
            <a:avLst/>
          </a:prstGeom>
          <a:noFill/>
        </p:spPr>
        <p:txBody>
          <a:bodyPr wrap="square">
            <a:spAutoFit/>
          </a:bodyPr>
          <a:lstStyle/>
          <a:p>
            <a:pPr algn="l">
              <a:defRPr sz="1000" b="1" i="0">
                <a:solidFill>
                  <a:srgbClr val="FFFFFF"/>
                </a:solidFill>
                <a:latin typeface="Segoe UI"/>
              </a:defRPr>
            </a:pPr>
            <a:r>
              <a:t>$1.1M</a:t>
            </a:r>
          </a:p>
        </p:txBody>
      </p:sp>
      <p:sp>
        <p:nvSpPr>
          <p:cNvPr id="41" name="TextBox 40"/>
          <p:cNvSpPr txBox="1"/>
          <p:nvPr/>
        </p:nvSpPr>
        <p:spPr>
          <a:xfrm>
            <a:off x="3200400" y="3154679"/>
            <a:ext cx="2286000" cy="256032"/>
          </a:xfrm>
          <a:prstGeom prst="rect">
            <a:avLst/>
          </a:prstGeom>
          <a:noFill/>
        </p:spPr>
        <p:txBody>
          <a:bodyPr wrap="square">
            <a:spAutoFit/>
          </a:bodyPr>
          <a:lstStyle/>
          <a:p>
            <a:pPr algn="l">
              <a:defRPr sz="900" b="0" i="0">
                <a:solidFill>
                  <a:srgbClr val="C4B5FD"/>
                </a:solidFill>
                <a:latin typeface="Segoe UI"/>
              </a:defRPr>
            </a:pPr>
            <a:r>
              <a:t>25 accounts</a:t>
            </a:r>
          </a:p>
        </p:txBody>
      </p:sp>
      <p:sp>
        <p:nvSpPr>
          <p:cNvPr id="42" name="TextBox 41"/>
          <p:cNvSpPr txBox="1"/>
          <p:nvPr/>
        </p:nvSpPr>
        <p:spPr>
          <a:xfrm>
            <a:off x="640080" y="3520439"/>
            <a:ext cx="548640" cy="274320"/>
          </a:xfrm>
          <a:prstGeom prst="rect">
            <a:avLst/>
          </a:prstGeom>
          <a:noFill/>
        </p:spPr>
        <p:txBody>
          <a:bodyPr wrap="square">
            <a:spAutoFit/>
          </a:bodyPr>
          <a:lstStyle/>
          <a:p>
            <a:pPr algn="l">
              <a:defRPr sz="1100" b="1" i="0">
                <a:solidFill>
                  <a:srgbClr val="1E073B"/>
                </a:solidFill>
                <a:latin typeface="Segoe UI Semibold"/>
              </a:defRPr>
            </a:pPr>
            <a:r>
              <a:t>MAR</a:t>
            </a:r>
          </a:p>
        </p:txBody>
      </p:sp>
      <p:sp>
        <p:nvSpPr>
          <p:cNvPr id="43" name="Rounded Rectangle 42"/>
          <p:cNvSpPr/>
          <p:nvPr/>
        </p:nvSpPr>
        <p:spPr>
          <a:xfrm>
            <a:off x="1188720" y="3547871"/>
            <a:ext cx="4114800" cy="201168"/>
          </a:xfrm>
          <a:prstGeom prst="roundRect">
            <a:avLst>
              <a:gd name="adj" fmla="val 5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88720" y="3547871"/>
            <a:ext cx="3464373" cy="201168"/>
          </a:xfrm>
          <a:prstGeom prst="roundRect">
            <a:avLst>
              <a:gd name="adj" fmla="val 5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0160" y="3520439"/>
            <a:ext cx="2286000" cy="256032"/>
          </a:xfrm>
          <a:prstGeom prst="rect">
            <a:avLst/>
          </a:prstGeom>
          <a:noFill/>
        </p:spPr>
        <p:txBody>
          <a:bodyPr wrap="square">
            <a:spAutoFit/>
          </a:bodyPr>
          <a:lstStyle/>
          <a:p>
            <a:pPr algn="l">
              <a:defRPr sz="1000" b="1" i="0">
                <a:solidFill>
                  <a:srgbClr val="FFFFFF"/>
                </a:solidFill>
                <a:latin typeface="Segoe UI"/>
              </a:defRPr>
            </a:pPr>
            <a:r>
              <a:t>$1.2M</a:t>
            </a:r>
          </a:p>
        </p:txBody>
      </p:sp>
      <p:sp>
        <p:nvSpPr>
          <p:cNvPr id="46" name="TextBox 45"/>
          <p:cNvSpPr txBox="1"/>
          <p:nvPr/>
        </p:nvSpPr>
        <p:spPr>
          <a:xfrm>
            <a:off x="3200400" y="3520439"/>
            <a:ext cx="2286000" cy="256032"/>
          </a:xfrm>
          <a:prstGeom prst="rect">
            <a:avLst/>
          </a:prstGeom>
          <a:noFill/>
        </p:spPr>
        <p:txBody>
          <a:bodyPr wrap="square">
            <a:spAutoFit/>
          </a:bodyPr>
          <a:lstStyle/>
          <a:p>
            <a:pPr algn="l">
              <a:defRPr sz="900" b="0" i="0">
                <a:solidFill>
                  <a:srgbClr val="C4B5FD"/>
                </a:solidFill>
                <a:latin typeface="Segoe UI"/>
              </a:defRPr>
            </a:pPr>
            <a:r>
              <a:t>51 accounts</a:t>
            </a:r>
          </a:p>
        </p:txBody>
      </p:sp>
      <p:sp>
        <p:nvSpPr>
          <p:cNvPr id="47" name="TextBox 46"/>
          <p:cNvSpPr txBox="1"/>
          <p:nvPr/>
        </p:nvSpPr>
        <p:spPr>
          <a:xfrm>
            <a:off x="640080" y="3886200"/>
            <a:ext cx="548640" cy="274320"/>
          </a:xfrm>
          <a:prstGeom prst="rect">
            <a:avLst/>
          </a:prstGeom>
          <a:noFill/>
        </p:spPr>
        <p:txBody>
          <a:bodyPr wrap="square">
            <a:spAutoFit/>
          </a:bodyPr>
          <a:lstStyle/>
          <a:p>
            <a:pPr algn="l">
              <a:defRPr sz="1100" b="1" i="0">
                <a:solidFill>
                  <a:srgbClr val="1E073B"/>
                </a:solidFill>
                <a:latin typeface="Segoe UI Semibold"/>
              </a:defRPr>
            </a:pPr>
            <a:r>
              <a:t>APR</a:t>
            </a:r>
          </a:p>
        </p:txBody>
      </p:sp>
      <p:sp>
        <p:nvSpPr>
          <p:cNvPr id="48" name="Rounded Rectangle 47"/>
          <p:cNvSpPr/>
          <p:nvPr/>
        </p:nvSpPr>
        <p:spPr>
          <a:xfrm>
            <a:off x="1188720" y="3913632"/>
            <a:ext cx="4114800" cy="201168"/>
          </a:xfrm>
          <a:prstGeom prst="roundRect">
            <a:avLst>
              <a:gd name="adj" fmla="val 5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188720" y="3913632"/>
            <a:ext cx="3207786" cy="201168"/>
          </a:xfrm>
          <a:prstGeom prst="roundRect">
            <a:avLst>
              <a:gd name="adj" fmla="val 5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280160" y="3886200"/>
            <a:ext cx="2286000" cy="256032"/>
          </a:xfrm>
          <a:prstGeom prst="rect">
            <a:avLst/>
          </a:prstGeom>
          <a:noFill/>
        </p:spPr>
        <p:txBody>
          <a:bodyPr wrap="square">
            <a:spAutoFit/>
          </a:bodyPr>
          <a:lstStyle/>
          <a:p>
            <a:pPr algn="l">
              <a:defRPr sz="1000" b="1" i="0">
                <a:solidFill>
                  <a:srgbClr val="FFFFFF"/>
                </a:solidFill>
                <a:latin typeface="Segoe UI"/>
              </a:defRPr>
            </a:pPr>
            <a:r>
              <a:t>$1.1M</a:t>
            </a:r>
          </a:p>
        </p:txBody>
      </p:sp>
      <p:sp>
        <p:nvSpPr>
          <p:cNvPr id="51" name="TextBox 50"/>
          <p:cNvSpPr txBox="1"/>
          <p:nvPr/>
        </p:nvSpPr>
        <p:spPr>
          <a:xfrm>
            <a:off x="3200400" y="3886200"/>
            <a:ext cx="2286000" cy="256032"/>
          </a:xfrm>
          <a:prstGeom prst="rect">
            <a:avLst/>
          </a:prstGeom>
          <a:noFill/>
        </p:spPr>
        <p:txBody>
          <a:bodyPr wrap="square">
            <a:spAutoFit/>
          </a:bodyPr>
          <a:lstStyle/>
          <a:p>
            <a:pPr algn="l">
              <a:defRPr sz="900" b="0" i="0">
                <a:solidFill>
                  <a:srgbClr val="C4B5FD"/>
                </a:solidFill>
                <a:latin typeface="Segoe UI"/>
              </a:defRPr>
            </a:pPr>
            <a:r>
              <a:t>47 accounts</a:t>
            </a:r>
          </a:p>
        </p:txBody>
      </p:sp>
      <p:sp>
        <p:nvSpPr>
          <p:cNvPr id="52" name="Rounded Rectangle 51"/>
          <p:cNvSpPr/>
          <p:nvPr/>
        </p:nvSpPr>
        <p:spPr>
          <a:xfrm>
            <a:off x="640080" y="4343400"/>
            <a:ext cx="2286000" cy="274320"/>
          </a:xfrm>
          <a:prstGeom prst="roundRect">
            <a:avLst>
              <a:gd name="adj" fmla="val 10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4325112"/>
            <a:ext cx="2286000" cy="274320"/>
          </a:xfrm>
          <a:prstGeom prst="rect">
            <a:avLst/>
          </a:prstGeom>
          <a:noFill/>
        </p:spPr>
        <p:txBody>
          <a:bodyPr wrap="square">
            <a:spAutoFit/>
          </a:bodyPr>
          <a:lstStyle/>
          <a:p>
            <a:pPr algn="ctr">
              <a:defRPr sz="900" b="1" i="0">
                <a:solidFill>
                  <a:srgbClr val="10B981"/>
                </a:solidFill>
                <a:latin typeface="Segoe UI Semibold"/>
              </a:defRPr>
            </a:pPr>
            <a:r>
              <a:t>+111% MoM Growth  |  Feb vs Jan</a:t>
            </a:r>
          </a:p>
        </p:txBody>
      </p:sp>
      <p:sp>
        <p:nvSpPr>
          <p:cNvPr id="54" name="Rounded Rectangle 53"/>
          <p:cNvSpPr/>
          <p:nvPr/>
        </p:nvSpPr>
        <p:spPr>
          <a:xfrm>
            <a:off x="6126480" y="2331720"/>
            <a:ext cx="5669280" cy="19659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2395728"/>
            <a:ext cx="3657600" cy="256032"/>
          </a:xfrm>
          <a:prstGeom prst="rect">
            <a:avLst/>
          </a:prstGeom>
          <a:noFill/>
        </p:spPr>
        <p:txBody>
          <a:bodyPr wrap="square">
            <a:spAutoFit/>
          </a:bodyPr>
          <a:lstStyle/>
          <a:p>
            <a:pPr algn="l">
              <a:defRPr sz="1100" b="1" i="0">
                <a:solidFill>
                  <a:srgbClr val="5B21B6"/>
                </a:solidFill>
                <a:latin typeface="Segoe UI Semibold"/>
              </a:defRPr>
            </a:pPr>
            <a:r>
              <a:t>TOP PERFORMERS</a:t>
            </a:r>
          </a:p>
        </p:txBody>
      </p:sp>
      <p:sp>
        <p:nvSpPr>
          <p:cNvPr id="56" name="Rectangle 55"/>
          <p:cNvSpPr/>
          <p:nvPr/>
        </p:nvSpPr>
        <p:spPr>
          <a:xfrm>
            <a:off x="6309360" y="2670048"/>
            <a:ext cx="109728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9360" y="2761488"/>
            <a:ext cx="1371600" cy="201168"/>
          </a:xfrm>
          <a:prstGeom prst="rect">
            <a:avLst/>
          </a:prstGeom>
          <a:noFill/>
        </p:spPr>
        <p:txBody>
          <a:bodyPr wrap="square">
            <a:spAutoFit/>
          </a:bodyPr>
          <a:lstStyle/>
          <a:p>
            <a:pPr algn="l">
              <a:defRPr sz="900" b="1" i="0">
                <a:solidFill>
                  <a:srgbClr val="9C92B5"/>
                </a:solidFill>
                <a:latin typeface="Segoe UI Semibold"/>
              </a:defRPr>
            </a:pPr>
            <a:r>
              <a:t>BDM</a:t>
            </a:r>
          </a:p>
        </p:txBody>
      </p:sp>
      <p:sp>
        <p:nvSpPr>
          <p:cNvPr id="58" name="TextBox 57"/>
          <p:cNvSpPr txBox="1"/>
          <p:nvPr/>
        </p:nvSpPr>
        <p:spPr>
          <a:xfrm>
            <a:off x="6309360" y="2944368"/>
            <a:ext cx="2286000" cy="219456"/>
          </a:xfrm>
          <a:prstGeom prst="rect">
            <a:avLst/>
          </a:prstGeom>
          <a:noFill/>
        </p:spPr>
        <p:txBody>
          <a:bodyPr wrap="square">
            <a:spAutoFit/>
          </a:bodyPr>
          <a:lstStyle/>
          <a:p>
            <a:pPr algn="l">
              <a:defRPr sz="900" b="1" i="0">
                <a:solidFill>
                  <a:srgbClr val="2D233F"/>
                </a:solidFill>
                <a:latin typeface="Segoe UI"/>
              </a:defRPr>
            </a:pPr>
            <a:r>
              <a:t>Derek Janssen</a:t>
            </a:r>
          </a:p>
        </p:txBody>
      </p:sp>
      <p:sp>
        <p:nvSpPr>
          <p:cNvPr id="59" name="TextBox 58"/>
          <p:cNvSpPr txBox="1"/>
          <p:nvPr/>
        </p:nvSpPr>
        <p:spPr>
          <a:xfrm>
            <a:off x="8595360" y="2944368"/>
            <a:ext cx="1188720" cy="219456"/>
          </a:xfrm>
          <a:prstGeom prst="rect">
            <a:avLst/>
          </a:prstGeom>
          <a:noFill/>
        </p:spPr>
        <p:txBody>
          <a:bodyPr wrap="square">
            <a:spAutoFit/>
          </a:bodyPr>
          <a:lstStyle/>
          <a:p>
            <a:pPr algn="r">
              <a:defRPr sz="900" b="1" i="0">
                <a:solidFill>
                  <a:srgbClr val="7C3AED"/>
                </a:solidFill>
                <a:latin typeface="Segoe UI"/>
              </a:defRPr>
            </a:pPr>
            <a:r>
              <a:t>$549,225</a:t>
            </a:r>
          </a:p>
        </p:txBody>
      </p:sp>
      <p:sp>
        <p:nvSpPr>
          <p:cNvPr id="60" name="TextBox 59"/>
          <p:cNvSpPr txBox="1"/>
          <p:nvPr/>
        </p:nvSpPr>
        <p:spPr>
          <a:xfrm>
            <a:off x="9875520" y="2944368"/>
            <a:ext cx="731520" cy="219456"/>
          </a:xfrm>
          <a:prstGeom prst="rect">
            <a:avLst/>
          </a:prstGeom>
          <a:noFill/>
        </p:spPr>
        <p:txBody>
          <a:bodyPr wrap="square">
            <a:spAutoFit/>
          </a:bodyPr>
          <a:lstStyle/>
          <a:p>
            <a:pPr algn="r">
              <a:defRPr sz="900" b="0" i="0">
                <a:solidFill>
                  <a:srgbClr val="6B5F83"/>
                </a:solidFill>
                <a:latin typeface="Segoe UI"/>
              </a:defRPr>
            </a:pPr>
            <a:r>
              <a:t>44%</a:t>
            </a:r>
          </a:p>
        </p:txBody>
      </p:sp>
      <p:sp>
        <p:nvSpPr>
          <p:cNvPr id="61" name="TextBox 60"/>
          <p:cNvSpPr txBox="1"/>
          <p:nvPr/>
        </p:nvSpPr>
        <p:spPr>
          <a:xfrm>
            <a:off x="6309360" y="3182112"/>
            <a:ext cx="2286000" cy="219456"/>
          </a:xfrm>
          <a:prstGeom prst="rect">
            <a:avLst/>
          </a:prstGeom>
          <a:noFill/>
        </p:spPr>
        <p:txBody>
          <a:bodyPr wrap="square">
            <a:spAutoFit/>
          </a:bodyPr>
          <a:lstStyle/>
          <a:p>
            <a:pPr algn="l">
              <a:defRPr sz="900" b="1" i="0">
                <a:solidFill>
                  <a:srgbClr val="2D233F"/>
                </a:solidFill>
                <a:latin typeface="Segoe UI"/>
              </a:defRPr>
            </a:pPr>
            <a:r>
              <a:t>Unassigned</a:t>
            </a:r>
          </a:p>
        </p:txBody>
      </p:sp>
      <p:sp>
        <p:nvSpPr>
          <p:cNvPr id="62" name="TextBox 61"/>
          <p:cNvSpPr txBox="1"/>
          <p:nvPr/>
        </p:nvSpPr>
        <p:spPr>
          <a:xfrm>
            <a:off x="8595360" y="3182112"/>
            <a:ext cx="1188720" cy="219456"/>
          </a:xfrm>
          <a:prstGeom prst="rect">
            <a:avLst/>
          </a:prstGeom>
          <a:noFill/>
        </p:spPr>
        <p:txBody>
          <a:bodyPr wrap="square">
            <a:spAutoFit/>
          </a:bodyPr>
          <a:lstStyle/>
          <a:p>
            <a:pPr algn="r">
              <a:defRPr sz="900" b="1" i="0">
                <a:solidFill>
                  <a:srgbClr val="A09CB0"/>
                </a:solidFill>
                <a:latin typeface="Segoe UI"/>
              </a:defRPr>
            </a:pPr>
            <a:r>
              <a:t>$328,837</a:t>
            </a:r>
          </a:p>
        </p:txBody>
      </p:sp>
      <p:sp>
        <p:nvSpPr>
          <p:cNvPr id="63" name="TextBox 62"/>
          <p:cNvSpPr txBox="1"/>
          <p:nvPr/>
        </p:nvSpPr>
        <p:spPr>
          <a:xfrm>
            <a:off x="9875520" y="3182112"/>
            <a:ext cx="731520" cy="219456"/>
          </a:xfrm>
          <a:prstGeom prst="rect">
            <a:avLst/>
          </a:prstGeom>
          <a:noFill/>
        </p:spPr>
        <p:txBody>
          <a:bodyPr wrap="square">
            <a:spAutoFit/>
          </a:bodyPr>
          <a:lstStyle/>
          <a:p>
            <a:pPr algn="r">
              <a:defRPr sz="900" b="0" i="0">
                <a:solidFill>
                  <a:srgbClr val="6B5F83"/>
                </a:solidFill>
                <a:latin typeface="Segoe UI"/>
              </a:defRPr>
            </a:pPr>
            <a:r>
              <a:t>26%</a:t>
            </a:r>
          </a:p>
        </p:txBody>
      </p:sp>
      <p:sp>
        <p:nvSpPr>
          <p:cNvPr id="64" name="TextBox 63"/>
          <p:cNvSpPr txBox="1"/>
          <p:nvPr/>
        </p:nvSpPr>
        <p:spPr>
          <a:xfrm>
            <a:off x="6309360" y="3419856"/>
            <a:ext cx="2286000" cy="219456"/>
          </a:xfrm>
          <a:prstGeom prst="rect">
            <a:avLst/>
          </a:prstGeom>
          <a:noFill/>
        </p:spPr>
        <p:txBody>
          <a:bodyPr wrap="square">
            <a:spAutoFit/>
          </a:bodyPr>
          <a:lstStyle/>
          <a:p>
            <a:pPr algn="l">
              <a:defRPr sz="900" b="1" i="0">
                <a:solidFill>
                  <a:srgbClr val="2D233F"/>
                </a:solidFill>
                <a:latin typeface="Segoe UI"/>
              </a:defRPr>
            </a:pPr>
            <a:r>
              <a:t>James Reid</a:t>
            </a:r>
          </a:p>
        </p:txBody>
      </p:sp>
      <p:sp>
        <p:nvSpPr>
          <p:cNvPr id="65" name="TextBox 64"/>
          <p:cNvSpPr txBox="1"/>
          <p:nvPr/>
        </p:nvSpPr>
        <p:spPr>
          <a:xfrm>
            <a:off x="8595360" y="3419856"/>
            <a:ext cx="1188720" cy="219456"/>
          </a:xfrm>
          <a:prstGeom prst="rect">
            <a:avLst/>
          </a:prstGeom>
          <a:noFill/>
        </p:spPr>
        <p:txBody>
          <a:bodyPr wrap="square">
            <a:spAutoFit/>
          </a:bodyPr>
          <a:lstStyle/>
          <a:p>
            <a:pPr algn="r">
              <a:defRPr sz="900" b="1" i="0">
                <a:solidFill>
                  <a:srgbClr val="8B5CF6"/>
                </a:solidFill>
                <a:latin typeface="Segoe UI"/>
              </a:defRPr>
            </a:pPr>
            <a:r>
              <a:t>$199,319</a:t>
            </a:r>
          </a:p>
        </p:txBody>
      </p:sp>
      <p:sp>
        <p:nvSpPr>
          <p:cNvPr id="66" name="TextBox 65"/>
          <p:cNvSpPr txBox="1"/>
          <p:nvPr/>
        </p:nvSpPr>
        <p:spPr>
          <a:xfrm>
            <a:off x="9875520" y="3419856"/>
            <a:ext cx="731520" cy="219456"/>
          </a:xfrm>
          <a:prstGeom prst="rect">
            <a:avLst/>
          </a:prstGeom>
          <a:noFill/>
        </p:spPr>
        <p:txBody>
          <a:bodyPr wrap="square">
            <a:spAutoFit/>
          </a:bodyPr>
          <a:lstStyle/>
          <a:p>
            <a:pPr algn="r">
              <a:defRPr sz="900" b="0" i="0">
                <a:solidFill>
                  <a:srgbClr val="6B5F83"/>
                </a:solidFill>
                <a:latin typeface="Segoe UI"/>
              </a:defRPr>
            </a:pPr>
            <a:r>
              <a:t>16%</a:t>
            </a:r>
          </a:p>
        </p:txBody>
      </p:sp>
      <p:sp>
        <p:nvSpPr>
          <p:cNvPr id="67" name="TextBox 66"/>
          <p:cNvSpPr txBox="1"/>
          <p:nvPr/>
        </p:nvSpPr>
        <p:spPr>
          <a:xfrm>
            <a:off x="6309360" y="3675887"/>
            <a:ext cx="1371600" cy="201168"/>
          </a:xfrm>
          <a:prstGeom prst="rect">
            <a:avLst/>
          </a:prstGeom>
          <a:noFill/>
        </p:spPr>
        <p:txBody>
          <a:bodyPr wrap="square">
            <a:spAutoFit/>
          </a:bodyPr>
          <a:lstStyle/>
          <a:p>
            <a:pPr algn="l">
              <a:defRPr sz="900" b="1" i="0">
                <a:solidFill>
                  <a:srgbClr val="9C92B5"/>
                </a:solidFill>
                <a:latin typeface="Segoe UI Semibold"/>
              </a:defRPr>
            </a:pPr>
            <a:r>
              <a:t>BDA</a:t>
            </a:r>
          </a:p>
        </p:txBody>
      </p:sp>
      <p:sp>
        <p:nvSpPr>
          <p:cNvPr id="68" name="TextBox 67"/>
          <p:cNvSpPr txBox="1"/>
          <p:nvPr/>
        </p:nvSpPr>
        <p:spPr>
          <a:xfrm>
            <a:off x="6309360" y="3858768"/>
            <a:ext cx="2286000" cy="219456"/>
          </a:xfrm>
          <a:prstGeom prst="rect">
            <a:avLst/>
          </a:prstGeom>
          <a:noFill/>
        </p:spPr>
        <p:txBody>
          <a:bodyPr wrap="square">
            <a:spAutoFit/>
          </a:bodyPr>
          <a:lstStyle/>
          <a:p>
            <a:pPr algn="l">
              <a:defRPr sz="900" b="1" i="0">
                <a:solidFill>
                  <a:srgbClr val="2D233F"/>
                </a:solidFill>
                <a:latin typeface="Segoe UI"/>
              </a:defRPr>
            </a:pPr>
            <a:r>
              <a:t>Dominic Purkett</a:t>
            </a:r>
          </a:p>
        </p:txBody>
      </p:sp>
      <p:sp>
        <p:nvSpPr>
          <p:cNvPr id="69" name="TextBox 68"/>
          <p:cNvSpPr txBox="1"/>
          <p:nvPr/>
        </p:nvSpPr>
        <p:spPr>
          <a:xfrm>
            <a:off x="8595360" y="3858768"/>
            <a:ext cx="1188720" cy="219456"/>
          </a:xfrm>
          <a:prstGeom prst="rect">
            <a:avLst/>
          </a:prstGeom>
          <a:noFill/>
        </p:spPr>
        <p:txBody>
          <a:bodyPr wrap="square">
            <a:spAutoFit/>
          </a:bodyPr>
          <a:lstStyle/>
          <a:p>
            <a:pPr algn="r">
              <a:defRPr sz="900" b="1" i="0">
                <a:solidFill>
                  <a:srgbClr val="10B981"/>
                </a:solidFill>
                <a:latin typeface="Segoe UI"/>
              </a:defRPr>
            </a:pPr>
            <a:r>
              <a:t>$625,793</a:t>
            </a:r>
          </a:p>
        </p:txBody>
      </p:sp>
      <p:sp>
        <p:nvSpPr>
          <p:cNvPr id="70" name="TextBox 69"/>
          <p:cNvSpPr txBox="1"/>
          <p:nvPr/>
        </p:nvSpPr>
        <p:spPr>
          <a:xfrm>
            <a:off x="9875520" y="3858768"/>
            <a:ext cx="731520" cy="219456"/>
          </a:xfrm>
          <a:prstGeom prst="rect">
            <a:avLst/>
          </a:prstGeom>
          <a:noFill/>
        </p:spPr>
        <p:txBody>
          <a:bodyPr wrap="square">
            <a:spAutoFit/>
          </a:bodyPr>
          <a:lstStyle/>
          <a:p>
            <a:pPr algn="r">
              <a:defRPr sz="900" b="0" i="0">
                <a:solidFill>
                  <a:srgbClr val="6B5F83"/>
                </a:solidFill>
                <a:latin typeface="Segoe UI"/>
              </a:defRPr>
            </a:pPr>
            <a:r>
              <a:t>50%</a:t>
            </a:r>
          </a:p>
        </p:txBody>
      </p:sp>
      <p:sp>
        <p:nvSpPr>
          <p:cNvPr id="71" name="TextBox 70"/>
          <p:cNvSpPr txBox="1"/>
          <p:nvPr/>
        </p:nvSpPr>
        <p:spPr>
          <a:xfrm>
            <a:off x="6309360" y="4096511"/>
            <a:ext cx="2286000" cy="219456"/>
          </a:xfrm>
          <a:prstGeom prst="rect">
            <a:avLst/>
          </a:prstGeom>
          <a:noFill/>
        </p:spPr>
        <p:txBody>
          <a:bodyPr wrap="square">
            <a:spAutoFit/>
          </a:bodyPr>
          <a:lstStyle/>
          <a:p>
            <a:pPr algn="l">
              <a:defRPr sz="900" b="1" i="0">
                <a:solidFill>
                  <a:srgbClr val="2D233F"/>
                </a:solidFill>
                <a:latin typeface="Segoe UI"/>
              </a:defRPr>
            </a:pPr>
            <a:r>
              <a:t>Unassigned</a:t>
            </a:r>
          </a:p>
        </p:txBody>
      </p:sp>
      <p:sp>
        <p:nvSpPr>
          <p:cNvPr id="72" name="TextBox 71"/>
          <p:cNvSpPr txBox="1"/>
          <p:nvPr/>
        </p:nvSpPr>
        <p:spPr>
          <a:xfrm>
            <a:off x="8595360" y="4096511"/>
            <a:ext cx="1188720" cy="219456"/>
          </a:xfrm>
          <a:prstGeom prst="rect">
            <a:avLst/>
          </a:prstGeom>
          <a:noFill/>
        </p:spPr>
        <p:txBody>
          <a:bodyPr wrap="square">
            <a:spAutoFit/>
          </a:bodyPr>
          <a:lstStyle/>
          <a:p>
            <a:pPr algn="r">
              <a:defRPr sz="900" b="1" i="0">
                <a:solidFill>
                  <a:srgbClr val="A09CB0"/>
                </a:solidFill>
                <a:latin typeface="Segoe UI"/>
              </a:defRPr>
            </a:pPr>
            <a:r>
              <a:t>$327,482</a:t>
            </a:r>
          </a:p>
        </p:txBody>
      </p:sp>
      <p:sp>
        <p:nvSpPr>
          <p:cNvPr id="73" name="TextBox 72"/>
          <p:cNvSpPr txBox="1"/>
          <p:nvPr/>
        </p:nvSpPr>
        <p:spPr>
          <a:xfrm>
            <a:off x="9875520" y="4096511"/>
            <a:ext cx="731520" cy="219456"/>
          </a:xfrm>
          <a:prstGeom prst="rect">
            <a:avLst/>
          </a:prstGeom>
          <a:noFill/>
        </p:spPr>
        <p:txBody>
          <a:bodyPr wrap="square">
            <a:spAutoFit/>
          </a:bodyPr>
          <a:lstStyle/>
          <a:p>
            <a:pPr algn="r">
              <a:defRPr sz="900" b="0" i="0">
                <a:solidFill>
                  <a:srgbClr val="6B5F83"/>
                </a:solidFill>
                <a:latin typeface="Segoe UI"/>
              </a:defRPr>
            </a:pPr>
            <a:r>
              <a:t>26%</a:t>
            </a:r>
          </a:p>
        </p:txBody>
      </p:sp>
      <p:sp>
        <p:nvSpPr>
          <p:cNvPr id="74" name="Rounded Rectangle 73"/>
          <p:cNvSpPr/>
          <p:nvPr/>
        </p:nvSpPr>
        <p:spPr>
          <a:xfrm>
            <a:off x="365760" y="4526280"/>
            <a:ext cx="11430000" cy="169164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48640" y="4590288"/>
            <a:ext cx="4572000" cy="256032"/>
          </a:xfrm>
          <a:prstGeom prst="rect">
            <a:avLst/>
          </a:prstGeom>
          <a:noFill/>
        </p:spPr>
        <p:txBody>
          <a:bodyPr wrap="square">
            <a:spAutoFit/>
          </a:bodyPr>
          <a:lstStyle/>
          <a:p>
            <a:pPr algn="l">
              <a:defRPr sz="1100" b="1" i="0">
                <a:solidFill>
                  <a:srgbClr val="5B21B6"/>
                </a:solidFill>
                <a:latin typeface="Segoe UI Semibold"/>
              </a:defRPr>
            </a:pPr>
            <a:r>
              <a:t>MARKETING &amp; OUTREACH IMPACT</a:t>
            </a:r>
          </a:p>
        </p:txBody>
      </p:sp>
      <p:sp>
        <p:nvSpPr>
          <p:cNvPr id="76" name="Rectangle 75"/>
          <p:cNvSpPr/>
          <p:nvPr/>
        </p:nvSpPr>
        <p:spPr>
          <a:xfrm>
            <a:off x="548640" y="4864608"/>
            <a:ext cx="13716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48640" y="4983480"/>
            <a:ext cx="54864" cy="100584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85800" y="4983480"/>
            <a:ext cx="2286000" cy="228600"/>
          </a:xfrm>
          <a:prstGeom prst="rect">
            <a:avLst/>
          </a:prstGeom>
          <a:noFill/>
        </p:spPr>
        <p:txBody>
          <a:bodyPr wrap="square">
            <a:spAutoFit/>
          </a:bodyPr>
          <a:lstStyle/>
          <a:p>
            <a:pPr algn="l">
              <a:defRPr sz="1000" b="1" i="0">
                <a:solidFill>
                  <a:srgbClr val="2D233F"/>
                </a:solidFill>
                <a:latin typeface="Segoe UI Semibold"/>
              </a:defRPr>
            </a:pPr>
            <a:r>
              <a:t>Growth DSG</a:t>
            </a:r>
          </a:p>
        </p:txBody>
      </p:sp>
      <p:sp>
        <p:nvSpPr>
          <p:cNvPr id="79" name="TextBox 78"/>
          <p:cNvSpPr txBox="1"/>
          <p:nvPr/>
        </p:nvSpPr>
        <p:spPr>
          <a:xfrm>
            <a:off x="685800" y="5257800"/>
            <a:ext cx="2286000" cy="201168"/>
          </a:xfrm>
          <a:prstGeom prst="rect">
            <a:avLst/>
          </a:prstGeom>
          <a:noFill/>
        </p:spPr>
        <p:txBody>
          <a:bodyPr wrap="square">
            <a:spAutoFit/>
          </a:bodyPr>
          <a:lstStyle/>
          <a:p>
            <a:pPr algn="l">
              <a:defRPr sz="900" b="0" i="0">
                <a:solidFill>
                  <a:srgbClr val="6B5F83"/>
                </a:solidFill>
                <a:latin typeface="Segoe UI"/>
              </a:defRPr>
            </a:pPr>
            <a:r>
              <a:t>7,297 sent</a:t>
            </a:r>
          </a:p>
        </p:txBody>
      </p:sp>
      <p:sp>
        <p:nvSpPr>
          <p:cNvPr id="80" name="TextBox 79"/>
          <p:cNvSpPr txBox="1"/>
          <p:nvPr/>
        </p:nvSpPr>
        <p:spPr>
          <a:xfrm>
            <a:off x="685800" y="5486400"/>
            <a:ext cx="2286000" cy="201168"/>
          </a:xfrm>
          <a:prstGeom prst="rect">
            <a:avLst/>
          </a:prstGeom>
          <a:noFill/>
        </p:spPr>
        <p:txBody>
          <a:bodyPr wrap="square">
            <a:spAutoFit/>
          </a:bodyPr>
          <a:lstStyle/>
          <a:p>
            <a:pPr algn="l">
              <a:defRPr sz="900" b="0" i="0">
                <a:solidFill>
                  <a:srgbClr val="6B5F83"/>
                </a:solidFill>
                <a:latin typeface="Segoe UI"/>
              </a:defRPr>
            </a:pPr>
            <a:r>
              <a:t>2,052 opened</a:t>
            </a:r>
          </a:p>
        </p:txBody>
      </p:sp>
      <p:sp>
        <p:nvSpPr>
          <p:cNvPr id="81" name="TextBox 80"/>
          <p:cNvSpPr txBox="1"/>
          <p:nvPr/>
        </p:nvSpPr>
        <p:spPr>
          <a:xfrm>
            <a:off x="685800" y="5715000"/>
            <a:ext cx="2286000" cy="201168"/>
          </a:xfrm>
          <a:prstGeom prst="rect">
            <a:avLst/>
          </a:prstGeom>
          <a:noFill/>
        </p:spPr>
        <p:txBody>
          <a:bodyPr wrap="square">
            <a:spAutoFit/>
          </a:bodyPr>
          <a:lstStyle/>
          <a:p>
            <a:pPr algn="l">
              <a:defRPr sz="900" b="0" i="0">
                <a:solidFill>
                  <a:srgbClr val="6B5F83"/>
                </a:solidFill>
                <a:latin typeface="Segoe UI"/>
              </a:defRPr>
            </a:pPr>
            <a:r>
              <a:t>1,200 influenced</a:t>
            </a:r>
          </a:p>
        </p:txBody>
      </p:sp>
      <p:sp>
        <p:nvSpPr>
          <p:cNvPr id="82" name="Rectangle 81"/>
          <p:cNvSpPr/>
          <p:nvPr/>
        </p:nvSpPr>
        <p:spPr>
          <a:xfrm>
            <a:off x="3383280" y="4983480"/>
            <a:ext cx="54864" cy="1005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520440" y="4983480"/>
            <a:ext cx="2286000" cy="228600"/>
          </a:xfrm>
          <a:prstGeom prst="rect">
            <a:avLst/>
          </a:prstGeom>
          <a:noFill/>
        </p:spPr>
        <p:txBody>
          <a:bodyPr wrap="square">
            <a:spAutoFit/>
          </a:bodyPr>
          <a:lstStyle/>
          <a:p>
            <a:pPr algn="l">
              <a:defRPr sz="1000" b="1" i="0">
                <a:solidFill>
                  <a:srgbClr val="2D233F"/>
                </a:solidFill>
                <a:latin typeface="Segoe UI Semibold"/>
              </a:defRPr>
            </a:pPr>
            <a:r>
              <a:t>DSG Expansion</a:t>
            </a:r>
          </a:p>
        </p:txBody>
      </p:sp>
      <p:sp>
        <p:nvSpPr>
          <p:cNvPr id="84" name="TextBox 83"/>
          <p:cNvSpPr txBox="1"/>
          <p:nvPr/>
        </p:nvSpPr>
        <p:spPr>
          <a:xfrm>
            <a:off x="3520440" y="5257800"/>
            <a:ext cx="2286000" cy="201168"/>
          </a:xfrm>
          <a:prstGeom prst="rect">
            <a:avLst/>
          </a:prstGeom>
          <a:noFill/>
        </p:spPr>
        <p:txBody>
          <a:bodyPr wrap="square">
            <a:spAutoFit/>
          </a:bodyPr>
          <a:lstStyle/>
          <a:p>
            <a:pPr algn="l">
              <a:defRPr sz="900" b="0" i="0">
                <a:solidFill>
                  <a:srgbClr val="6B5F83"/>
                </a:solidFill>
                <a:latin typeface="Segoe UI"/>
              </a:defRPr>
            </a:pPr>
            <a:r>
              <a:t>Agent outreach</a:t>
            </a:r>
          </a:p>
        </p:txBody>
      </p:sp>
      <p:sp>
        <p:nvSpPr>
          <p:cNvPr id="85" name="TextBox 84"/>
          <p:cNvSpPr txBox="1"/>
          <p:nvPr/>
        </p:nvSpPr>
        <p:spPr>
          <a:xfrm>
            <a:off x="3520440" y="5486400"/>
            <a:ext cx="2286000" cy="201168"/>
          </a:xfrm>
          <a:prstGeom prst="rect">
            <a:avLst/>
          </a:prstGeom>
          <a:noFill/>
        </p:spPr>
        <p:txBody>
          <a:bodyPr wrap="square">
            <a:spAutoFit/>
          </a:bodyPr>
          <a:lstStyle/>
          <a:p>
            <a:pPr algn="l">
              <a:defRPr sz="900" b="0" i="0">
                <a:solidFill>
                  <a:srgbClr val="6B5F83"/>
                </a:solidFill>
                <a:latin typeface="Segoe UI"/>
              </a:defRPr>
            </a:pPr>
            <a:r>
              <a:t>DSG launch</a:t>
            </a:r>
          </a:p>
        </p:txBody>
      </p:sp>
      <p:sp>
        <p:nvSpPr>
          <p:cNvPr id="86" name="TextBox 85"/>
          <p:cNvSpPr txBox="1"/>
          <p:nvPr/>
        </p:nvSpPr>
        <p:spPr>
          <a:xfrm>
            <a:off x="3520440" y="5715000"/>
            <a:ext cx="2286000" cy="201168"/>
          </a:xfrm>
          <a:prstGeom prst="rect">
            <a:avLst/>
          </a:prstGeom>
          <a:noFill/>
        </p:spPr>
        <p:txBody>
          <a:bodyPr wrap="square">
            <a:spAutoFit/>
          </a:bodyPr>
          <a:lstStyle/>
          <a:p>
            <a:pPr algn="l">
              <a:defRPr sz="900" b="0" i="0">
                <a:solidFill>
                  <a:srgbClr val="6B5F83"/>
                </a:solidFill>
                <a:latin typeface="Segoe UI"/>
              </a:defRPr>
            </a:pPr>
            <a:r>
              <a:t>Broader campaign</a:t>
            </a:r>
          </a:p>
        </p:txBody>
      </p:sp>
      <p:sp>
        <p:nvSpPr>
          <p:cNvPr id="87" name="Rectangle 86"/>
          <p:cNvSpPr/>
          <p:nvPr/>
        </p:nvSpPr>
        <p:spPr>
          <a:xfrm>
            <a:off x="6217920" y="4983480"/>
            <a:ext cx="54864"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355080" y="4983480"/>
            <a:ext cx="2286000" cy="228600"/>
          </a:xfrm>
          <a:prstGeom prst="rect">
            <a:avLst/>
          </a:prstGeom>
          <a:noFill/>
        </p:spPr>
        <p:txBody>
          <a:bodyPr wrap="square">
            <a:spAutoFit/>
          </a:bodyPr>
          <a:lstStyle/>
          <a:p>
            <a:pPr algn="l">
              <a:defRPr sz="1000" b="1" i="0">
                <a:solidFill>
                  <a:srgbClr val="2D233F"/>
                </a:solidFill>
                <a:latin typeface="Segoe UI Semibold"/>
              </a:defRPr>
            </a:pPr>
            <a:r>
              <a:t>Feb Newsletter</a:t>
            </a:r>
          </a:p>
        </p:txBody>
      </p:sp>
      <p:sp>
        <p:nvSpPr>
          <p:cNvPr id="89" name="TextBox 88"/>
          <p:cNvSpPr txBox="1"/>
          <p:nvPr/>
        </p:nvSpPr>
        <p:spPr>
          <a:xfrm>
            <a:off x="6355080" y="5257800"/>
            <a:ext cx="2286000" cy="201168"/>
          </a:xfrm>
          <a:prstGeom prst="rect">
            <a:avLst/>
          </a:prstGeom>
          <a:noFill/>
        </p:spPr>
        <p:txBody>
          <a:bodyPr wrap="square">
            <a:spAutoFit/>
          </a:bodyPr>
          <a:lstStyle/>
          <a:p>
            <a:pPr algn="l">
              <a:defRPr sz="900" b="0" i="0">
                <a:solidFill>
                  <a:srgbClr val="6B5F83"/>
                </a:solidFill>
                <a:latin typeface="Segoe UI"/>
              </a:defRPr>
            </a:pPr>
            <a:r>
              <a:t>~2,399 sent</a:t>
            </a:r>
          </a:p>
        </p:txBody>
      </p:sp>
      <p:sp>
        <p:nvSpPr>
          <p:cNvPr id="90" name="TextBox 89"/>
          <p:cNvSpPr txBox="1"/>
          <p:nvPr/>
        </p:nvSpPr>
        <p:spPr>
          <a:xfrm>
            <a:off x="6355080" y="5486400"/>
            <a:ext cx="2286000" cy="201168"/>
          </a:xfrm>
          <a:prstGeom prst="rect">
            <a:avLst/>
          </a:prstGeom>
          <a:noFill/>
        </p:spPr>
        <p:txBody>
          <a:bodyPr wrap="square">
            <a:spAutoFit/>
          </a:bodyPr>
          <a:lstStyle/>
          <a:p>
            <a:pPr algn="l">
              <a:defRPr sz="900" b="0" i="0">
                <a:solidFill>
                  <a:srgbClr val="6B5F83"/>
                </a:solidFill>
                <a:latin typeface="Segoe UI"/>
              </a:defRPr>
            </a:pPr>
            <a:r>
              <a:t>~69% reach</a:t>
            </a:r>
          </a:p>
        </p:txBody>
      </p:sp>
      <p:sp>
        <p:nvSpPr>
          <p:cNvPr id="91" name="TextBox 90"/>
          <p:cNvSpPr txBox="1"/>
          <p:nvPr/>
        </p:nvSpPr>
        <p:spPr>
          <a:xfrm>
            <a:off x="6355080" y="5715000"/>
            <a:ext cx="2286000" cy="201168"/>
          </a:xfrm>
          <a:prstGeom prst="rect">
            <a:avLst/>
          </a:prstGeom>
          <a:noFill/>
        </p:spPr>
        <p:txBody>
          <a:bodyPr wrap="square">
            <a:spAutoFit/>
          </a:bodyPr>
          <a:lstStyle/>
          <a:p>
            <a:pPr algn="l">
              <a:defRPr sz="900" b="0" i="0">
                <a:solidFill>
                  <a:srgbClr val="6B5F83"/>
                </a:solidFill>
                <a:latin typeface="Segoe UI"/>
              </a:defRPr>
            </a:pPr>
            <a:r>
              <a:t>4 confirmed opens</a:t>
            </a:r>
          </a:p>
        </p:txBody>
      </p:sp>
      <p:sp>
        <p:nvSpPr>
          <p:cNvPr id="92" name="Rectangle 91"/>
          <p:cNvSpPr/>
          <p:nvPr/>
        </p:nvSpPr>
        <p:spPr>
          <a:xfrm>
            <a:off x="9052560" y="4983480"/>
            <a:ext cx="54864" cy="100584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9189720" y="4983480"/>
            <a:ext cx="2286000" cy="228600"/>
          </a:xfrm>
          <a:prstGeom prst="rect">
            <a:avLst/>
          </a:prstGeom>
          <a:noFill/>
        </p:spPr>
        <p:txBody>
          <a:bodyPr wrap="square">
            <a:spAutoFit/>
          </a:bodyPr>
          <a:lstStyle/>
          <a:p>
            <a:pPr algn="l">
              <a:defRPr sz="1000" b="1" i="0">
                <a:solidFill>
                  <a:srgbClr val="2D233F"/>
                </a:solidFill>
                <a:latin typeface="Segoe UI Semibold"/>
              </a:defRPr>
            </a:pPr>
            <a:r>
              <a:t>BDA Calls</a:t>
            </a:r>
          </a:p>
        </p:txBody>
      </p:sp>
      <p:sp>
        <p:nvSpPr>
          <p:cNvPr id="94" name="TextBox 93"/>
          <p:cNvSpPr txBox="1"/>
          <p:nvPr/>
        </p:nvSpPr>
        <p:spPr>
          <a:xfrm>
            <a:off x="9189720" y="5257800"/>
            <a:ext cx="2286000" cy="201168"/>
          </a:xfrm>
          <a:prstGeom prst="rect">
            <a:avLst/>
          </a:prstGeom>
          <a:noFill/>
        </p:spPr>
        <p:txBody>
          <a:bodyPr wrap="square">
            <a:spAutoFit/>
          </a:bodyPr>
          <a:lstStyle/>
          <a:p>
            <a:pPr algn="l">
              <a:defRPr sz="900" b="0" i="0">
                <a:solidFill>
                  <a:srgbClr val="6B5F83"/>
                </a:solidFill>
                <a:latin typeface="Segoe UI"/>
              </a:defRPr>
            </a:pPr>
            <a:r>
              <a:t>5 agents called</a:t>
            </a:r>
          </a:p>
        </p:txBody>
      </p:sp>
      <p:sp>
        <p:nvSpPr>
          <p:cNvPr id="95" name="TextBox 94"/>
          <p:cNvSpPr txBox="1"/>
          <p:nvPr/>
        </p:nvSpPr>
        <p:spPr>
          <a:xfrm>
            <a:off x="9189720" y="5486400"/>
            <a:ext cx="2286000" cy="201168"/>
          </a:xfrm>
          <a:prstGeom prst="rect">
            <a:avLst/>
          </a:prstGeom>
          <a:noFill/>
        </p:spPr>
        <p:txBody>
          <a:bodyPr wrap="square">
            <a:spAutoFit/>
          </a:bodyPr>
          <a:lstStyle/>
          <a:p>
            <a:pPr algn="l">
              <a:defRPr sz="900" b="0" i="0">
                <a:solidFill>
                  <a:srgbClr val="6B5F83"/>
                </a:solidFill>
                <a:latin typeface="Segoe UI"/>
              </a:defRPr>
            </a:pPr>
            <a:r>
              <a:t>3 by assigned BDA</a:t>
            </a:r>
          </a:p>
        </p:txBody>
      </p:sp>
      <p:sp>
        <p:nvSpPr>
          <p:cNvPr id="96" name="TextBox 95"/>
          <p:cNvSpPr txBox="1"/>
          <p:nvPr/>
        </p:nvSpPr>
        <p:spPr>
          <a:xfrm>
            <a:off x="9189720" y="5715000"/>
            <a:ext cx="2286000" cy="201168"/>
          </a:xfrm>
          <a:prstGeom prst="rect">
            <a:avLst/>
          </a:prstGeom>
          <a:noFill/>
        </p:spPr>
        <p:txBody>
          <a:bodyPr wrap="square">
            <a:spAutoFit/>
          </a:bodyPr>
          <a:lstStyle/>
          <a:p>
            <a:pPr algn="l">
              <a:defRPr sz="900" b="0" i="0">
                <a:solidFill>
                  <a:srgbClr val="6B5F83"/>
                </a:solidFill>
                <a:latin typeface="Segoe UI"/>
              </a:defRPr>
            </a:pPr>
            <a:r>
              <a:t>Multi-touch confirmed</a:t>
            </a:r>
          </a:p>
        </p:txBody>
      </p:sp>
      <p:sp>
        <p:nvSpPr>
          <p:cNvPr id="97" name="Rectangle 96"/>
          <p:cNvSpPr/>
          <p:nvPr/>
        </p:nvSpPr>
        <p:spPr>
          <a:xfrm>
            <a:off x="0" y="6473952"/>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57200" y="6565392"/>
            <a:ext cx="5486400" cy="274320"/>
          </a:xfrm>
          <a:prstGeom prst="rect">
            <a:avLst/>
          </a:prstGeom>
          <a:noFill/>
        </p:spPr>
        <p:txBody>
          <a:bodyPr wrap="square">
            <a:spAutoFit/>
          </a:bodyPr>
          <a:lstStyle/>
          <a:p>
            <a:pPr algn="l">
              <a:defRPr sz="800" b="0" i="0">
                <a:solidFill>
                  <a:srgbClr val="C4B5FD"/>
                </a:solidFill>
                <a:latin typeface="Segoe UI"/>
              </a:defRPr>
            </a:pPr>
            <a:r>
              <a:t>Source: Metabase (Card 18630) + HubSpot CRM</a:t>
            </a:r>
          </a:p>
        </p:txBody>
      </p:sp>
      <p:sp>
        <p:nvSpPr>
          <p:cNvPr id="99" name="TextBox 98"/>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Cover Whale  |  Feb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SUBMISSIONS OVERVIEW</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DSG Pipeline  |  2026 YTD  |  7,077 Submissions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2148840"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214884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27048"/>
            <a:ext cx="1920240" cy="228600"/>
          </a:xfrm>
          <a:prstGeom prst="rect">
            <a:avLst/>
          </a:prstGeom>
          <a:noFill/>
        </p:spPr>
        <p:txBody>
          <a:bodyPr wrap="square">
            <a:spAutoFit/>
          </a:bodyPr>
          <a:lstStyle/>
          <a:p>
            <a:pPr algn="l">
              <a:defRPr sz="800" b="1" i="0">
                <a:solidFill>
                  <a:srgbClr val="9C92B5"/>
                </a:solidFill>
                <a:latin typeface="Segoe UI Semibold"/>
              </a:defRPr>
            </a:pPr>
            <a:r>
              <a:t>SUBMISSIONS</a:t>
            </a:r>
          </a:p>
        </p:txBody>
      </p:sp>
      <p:sp>
        <p:nvSpPr>
          <p:cNvPr id="14" name="TextBox 13"/>
          <p:cNvSpPr txBox="1"/>
          <p:nvPr/>
        </p:nvSpPr>
        <p:spPr>
          <a:xfrm>
            <a:off x="411480" y="1783080"/>
            <a:ext cx="1920240" cy="502920"/>
          </a:xfrm>
          <a:prstGeom prst="rect">
            <a:avLst/>
          </a:prstGeom>
          <a:noFill/>
        </p:spPr>
        <p:txBody>
          <a:bodyPr wrap="square">
            <a:spAutoFit/>
          </a:bodyPr>
          <a:lstStyle/>
          <a:p>
            <a:pPr algn="l">
              <a:defRPr sz="2400" b="1" i="0">
                <a:solidFill>
                  <a:srgbClr val="7C3AED"/>
                </a:solidFill>
                <a:latin typeface="Segoe UI Light"/>
              </a:defRPr>
            </a:pPr>
            <a:r>
              <a:t>7,077</a:t>
            </a:r>
          </a:p>
        </p:txBody>
      </p:sp>
      <p:sp>
        <p:nvSpPr>
          <p:cNvPr id="15" name="TextBox 14"/>
          <p:cNvSpPr txBox="1"/>
          <p:nvPr/>
        </p:nvSpPr>
        <p:spPr>
          <a:xfrm>
            <a:off x="411480" y="2304288"/>
            <a:ext cx="1920240" cy="228600"/>
          </a:xfrm>
          <a:prstGeom prst="rect">
            <a:avLst/>
          </a:prstGeom>
          <a:noFill/>
        </p:spPr>
        <p:txBody>
          <a:bodyPr wrap="square">
            <a:spAutoFit/>
          </a:bodyPr>
          <a:lstStyle/>
          <a:p>
            <a:pPr algn="l">
              <a:defRPr sz="800" b="0" i="0">
                <a:solidFill>
                  <a:srgbClr val="A09CB0"/>
                </a:solidFill>
                <a:latin typeface="Segoe UI"/>
              </a:defRPr>
            </a:pPr>
            <a:r>
              <a:t>Completed Submissions</a:t>
            </a:r>
          </a:p>
        </p:txBody>
      </p:sp>
      <p:sp>
        <p:nvSpPr>
          <p:cNvPr id="16" name="Rounded Rectangle 15"/>
          <p:cNvSpPr/>
          <p:nvPr/>
        </p:nvSpPr>
        <p:spPr>
          <a:xfrm>
            <a:off x="2606039" y="1417320"/>
            <a:ext cx="2148840"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06039" y="1417320"/>
            <a:ext cx="2148840" cy="4572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199" y="1527048"/>
            <a:ext cx="1920240" cy="228600"/>
          </a:xfrm>
          <a:prstGeom prst="rect">
            <a:avLst/>
          </a:prstGeom>
          <a:noFill/>
        </p:spPr>
        <p:txBody>
          <a:bodyPr wrap="square">
            <a:spAutoFit/>
          </a:bodyPr>
          <a:lstStyle/>
          <a:p>
            <a:pPr algn="l">
              <a:defRPr sz="800" b="1" i="0">
                <a:solidFill>
                  <a:srgbClr val="9C92B5"/>
                </a:solidFill>
                <a:latin typeface="Segoe UI Semibold"/>
              </a:defRPr>
            </a:pPr>
            <a:r>
              <a:t>UNIQUE DOTs</a:t>
            </a:r>
          </a:p>
        </p:txBody>
      </p:sp>
      <p:sp>
        <p:nvSpPr>
          <p:cNvPr id="19" name="TextBox 18"/>
          <p:cNvSpPr txBox="1"/>
          <p:nvPr/>
        </p:nvSpPr>
        <p:spPr>
          <a:xfrm>
            <a:off x="2743199" y="1783080"/>
            <a:ext cx="1920240" cy="502920"/>
          </a:xfrm>
          <a:prstGeom prst="rect">
            <a:avLst/>
          </a:prstGeom>
          <a:noFill/>
        </p:spPr>
        <p:txBody>
          <a:bodyPr wrap="square">
            <a:spAutoFit/>
          </a:bodyPr>
          <a:lstStyle/>
          <a:p>
            <a:pPr algn="l">
              <a:defRPr sz="2400" b="1" i="0">
                <a:solidFill>
                  <a:srgbClr val="8B5CF6"/>
                </a:solidFill>
                <a:latin typeface="Segoe UI Light"/>
              </a:defRPr>
            </a:pPr>
            <a:r>
              <a:t>4,581</a:t>
            </a:r>
          </a:p>
        </p:txBody>
      </p:sp>
      <p:sp>
        <p:nvSpPr>
          <p:cNvPr id="20" name="TextBox 19"/>
          <p:cNvSpPr txBox="1"/>
          <p:nvPr/>
        </p:nvSpPr>
        <p:spPr>
          <a:xfrm>
            <a:off x="2743199" y="2304288"/>
            <a:ext cx="1920240" cy="228600"/>
          </a:xfrm>
          <a:prstGeom prst="rect">
            <a:avLst/>
          </a:prstGeom>
          <a:noFill/>
        </p:spPr>
        <p:txBody>
          <a:bodyPr wrap="square">
            <a:spAutoFit/>
          </a:bodyPr>
          <a:lstStyle/>
          <a:p>
            <a:pPr algn="l">
              <a:defRPr sz="800" b="0" i="0">
                <a:solidFill>
                  <a:srgbClr val="A09CB0"/>
                </a:solidFill>
                <a:latin typeface="Segoe UI"/>
              </a:defRPr>
            </a:pPr>
            <a:r>
              <a:t>Submitted Unique DOTs</a:t>
            </a:r>
          </a:p>
        </p:txBody>
      </p:sp>
      <p:sp>
        <p:nvSpPr>
          <p:cNvPr id="21" name="Rounded Rectangle 20"/>
          <p:cNvSpPr/>
          <p:nvPr/>
        </p:nvSpPr>
        <p:spPr>
          <a:xfrm>
            <a:off x="4937759" y="1417320"/>
            <a:ext cx="2148840"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59" y="1417320"/>
            <a:ext cx="2148840" cy="4572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74919" y="1527048"/>
            <a:ext cx="1920240" cy="228600"/>
          </a:xfrm>
          <a:prstGeom prst="rect">
            <a:avLst/>
          </a:prstGeom>
          <a:noFill/>
        </p:spPr>
        <p:txBody>
          <a:bodyPr wrap="square">
            <a:spAutoFit/>
          </a:bodyPr>
          <a:lstStyle/>
          <a:p>
            <a:pPr algn="l">
              <a:defRPr sz="800" b="1" i="0">
                <a:solidFill>
                  <a:srgbClr val="9C92B5"/>
                </a:solidFill>
                <a:latin typeface="Segoe UI Semibold"/>
              </a:defRPr>
            </a:pPr>
            <a:r>
              <a:t>QUOTES</a:t>
            </a:r>
          </a:p>
        </p:txBody>
      </p:sp>
      <p:sp>
        <p:nvSpPr>
          <p:cNvPr id="24" name="TextBox 23"/>
          <p:cNvSpPr txBox="1"/>
          <p:nvPr/>
        </p:nvSpPr>
        <p:spPr>
          <a:xfrm>
            <a:off x="5074919" y="1783080"/>
            <a:ext cx="1920240" cy="502920"/>
          </a:xfrm>
          <a:prstGeom prst="rect">
            <a:avLst/>
          </a:prstGeom>
          <a:noFill/>
        </p:spPr>
        <p:txBody>
          <a:bodyPr wrap="square">
            <a:spAutoFit/>
          </a:bodyPr>
          <a:lstStyle/>
          <a:p>
            <a:pPr algn="l">
              <a:defRPr sz="2400" b="1" i="0">
                <a:solidFill>
                  <a:srgbClr val="D946EF"/>
                </a:solidFill>
                <a:latin typeface="Segoe UI Light"/>
              </a:defRPr>
            </a:pPr>
            <a:r>
              <a:t>3,709</a:t>
            </a:r>
          </a:p>
        </p:txBody>
      </p:sp>
      <p:sp>
        <p:nvSpPr>
          <p:cNvPr id="25" name="TextBox 24"/>
          <p:cNvSpPr txBox="1"/>
          <p:nvPr/>
        </p:nvSpPr>
        <p:spPr>
          <a:xfrm>
            <a:off x="5074919" y="2304288"/>
            <a:ext cx="1920240" cy="228600"/>
          </a:xfrm>
          <a:prstGeom prst="rect">
            <a:avLst/>
          </a:prstGeom>
          <a:noFill/>
        </p:spPr>
        <p:txBody>
          <a:bodyPr wrap="square">
            <a:spAutoFit/>
          </a:bodyPr>
          <a:lstStyle/>
          <a:p>
            <a:pPr algn="l">
              <a:defRPr sz="800" b="0" i="0">
                <a:solidFill>
                  <a:srgbClr val="A09CB0"/>
                </a:solidFill>
                <a:latin typeface="Segoe UI"/>
              </a:defRPr>
            </a:pPr>
            <a:r>
              <a:t>Completed Quotes</a:t>
            </a:r>
          </a:p>
        </p:txBody>
      </p:sp>
      <p:sp>
        <p:nvSpPr>
          <p:cNvPr id="26" name="Rounded Rectangle 25"/>
          <p:cNvSpPr/>
          <p:nvPr/>
        </p:nvSpPr>
        <p:spPr>
          <a:xfrm>
            <a:off x="7269479" y="1417320"/>
            <a:ext cx="2148840"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69479" y="1417320"/>
            <a:ext cx="2148840"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39" y="1527048"/>
            <a:ext cx="1920240" cy="228600"/>
          </a:xfrm>
          <a:prstGeom prst="rect">
            <a:avLst/>
          </a:prstGeom>
          <a:noFill/>
        </p:spPr>
        <p:txBody>
          <a:bodyPr wrap="square">
            <a:spAutoFit/>
          </a:bodyPr>
          <a:lstStyle/>
          <a:p>
            <a:pPr algn="l">
              <a:defRPr sz="800" b="1" i="0">
                <a:solidFill>
                  <a:srgbClr val="9C92B5"/>
                </a:solidFill>
                <a:latin typeface="Segoe UI Semibold"/>
              </a:defRPr>
            </a:pPr>
            <a:r>
              <a:t>BINDS</a:t>
            </a:r>
          </a:p>
        </p:txBody>
      </p:sp>
      <p:sp>
        <p:nvSpPr>
          <p:cNvPr id="29" name="TextBox 28"/>
          <p:cNvSpPr txBox="1"/>
          <p:nvPr/>
        </p:nvSpPr>
        <p:spPr>
          <a:xfrm>
            <a:off x="7406639" y="1783080"/>
            <a:ext cx="1920240" cy="502920"/>
          </a:xfrm>
          <a:prstGeom prst="rect">
            <a:avLst/>
          </a:prstGeom>
          <a:noFill/>
        </p:spPr>
        <p:txBody>
          <a:bodyPr wrap="square">
            <a:spAutoFit/>
          </a:bodyPr>
          <a:lstStyle/>
          <a:p>
            <a:pPr algn="l">
              <a:defRPr sz="2400" b="1" i="0">
                <a:solidFill>
                  <a:srgbClr val="10B981"/>
                </a:solidFill>
                <a:latin typeface="Segoe UI Light"/>
              </a:defRPr>
            </a:pPr>
            <a:r>
              <a:t>184</a:t>
            </a:r>
          </a:p>
        </p:txBody>
      </p:sp>
      <p:sp>
        <p:nvSpPr>
          <p:cNvPr id="30" name="TextBox 29"/>
          <p:cNvSpPr txBox="1"/>
          <p:nvPr/>
        </p:nvSpPr>
        <p:spPr>
          <a:xfrm>
            <a:off x="7406639" y="2304288"/>
            <a:ext cx="1920240" cy="228600"/>
          </a:xfrm>
          <a:prstGeom prst="rect">
            <a:avLst/>
          </a:prstGeom>
          <a:noFill/>
        </p:spPr>
        <p:txBody>
          <a:bodyPr wrap="square">
            <a:spAutoFit/>
          </a:bodyPr>
          <a:lstStyle/>
          <a:p>
            <a:pPr algn="l">
              <a:defRPr sz="800" b="0" i="0">
                <a:solidFill>
                  <a:srgbClr val="A09CB0"/>
                </a:solidFill>
                <a:latin typeface="Segoe UI"/>
              </a:defRPr>
            </a:pPr>
            <a:r>
              <a:t>Bound Policies</a:t>
            </a:r>
          </a:p>
        </p:txBody>
      </p:sp>
      <p:sp>
        <p:nvSpPr>
          <p:cNvPr id="31" name="Rounded Rectangle 30"/>
          <p:cNvSpPr/>
          <p:nvPr/>
        </p:nvSpPr>
        <p:spPr>
          <a:xfrm>
            <a:off x="9601200" y="1417320"/>
            <a:ext cx="2148840"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01200" y="1417320"/>
            <a:ext cx="214884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38360" y="1527048"/>
            <a:ext cx="1920240" cy="228600"/>
          </a:xfrm>
          <a:prstGeom prst="rect">
            <a:avLst/>
          </a:prstGeom>
          <a:noFill/>
        </p:spPr>
        <p:txBody>
          <a:bodyPr wrap="square">
            <a:spAutoFit/>
          </a:bodyPr>
          <a:lstStyle/>
          <a:p>
            <a:pPr algn="l">
              <a:defRPr sz="800" b="1" i="0">
                <a:solidFill>
                  <a:srgbClr val="9C92B5"/>
                </a:solidFill>
                <a:latin typeface="Segoe UI Semibold"/>
              </a:defRPr>
            </a:pPr>
            <a:r>
              <a:t>BOUND PREMIUM</a:t>
            </a:r>
          </a:p>
        </p:txBody>
      </p:sp>
      <p:sp>
        <p:nvSpPr>
          <p:cNvPr id="34" name="TextBox 33"/>
          <p:cNvSpPr txBox="1"/>
          <p:nvPr/>
        </p:nvSpPr>
        <p:spPr>
          <a:xfrm>
            <a:off x="9738360" y="1783080"/>
            <a:ext cx="1920240" cy="502920"/>
          </a:xfrm>
          <a:prstGeom prst="rect">
            <a:avLst/>
          </a:prstGeom>
          <a:noFill/>
        </p:spPr>
        <p:txBody>
          <a:bodyPr wrap="square">
            <a:spAutoFit/>
          </a:bodyPr>
          <a:lstStyle/>
          <a:p>
            <a:pPr algn="l">
              <a:defRPr sz="2400" b="1" i="0">
                <a:solidFill>
                  <a:srgbClr val="F59E0B"/>
                </a:solidFill>
                <a:latin typeface="Segoe UI Light"/>
              </a:defRPr>
            </a:pPr>
            <a:r>
              <a:t>$5.2M</a:t>
            </a:r>
          </a:p>
        </p:txBody>
      </p:sp>
      <p:sp>
        <p:nvSpPr>
          <p:cNvPr id="35" name="TextBox 34"/>
          <p:cNvSpPr txBox="1"/>
          <p:nvPr/>
        </p:nvSpPr>
        <p:spPr>
          <a:xfrm>
            <a:off x="9738360" y="2304288"/>
            <a:ext cx="1920240" cy="228600"/>
          </a:xfrm>
          <a:prstGeom prst="rect">
            <a:avLst/>
          </a:prstGeom>
          <a:noFill/>
        </p:spPr>
        <p:txBody>
          <a:bodyPr wrap="square">
            <a:spAutoFit/>
          </a:bodyPr>
          <a:lstStyle/>
          <a:p>
            <a:pPr algn="l">
              <a:defRPr sz="800" b="0" i="0">
                <a:solidFill>
                  <a:srgbClr val="A09CB0"/>
                </a:solidFill>
                <a:latin typeface="Segoe UI"/>
              </a:defRPr>
            </a:pPr>
            <a:r>
              <a:t>Hit Rate: 5.0%</a:t>
            </a:r>
          </a:p>
        </p:txBody>
      </p:sp>
      <p:sp>
        <p:nvSpPr>
          <p:cNvPr id="36" name="TextBox 35"/>
          <p:cNvSpPr txBox="1"/>
          <p:nvPr/>
        </p:nvSpPr>
        <p:spPr>
          <a:xfrm>
            <a:off x="457200" y="2834640"/>
            <a:ext cx="4572000" cy="274320"/>
          </a:xfrm>
          <a:prstGeom prst="rect">
            <a:avLst/>
          </a:prstGeom>
          <a:noFill/>
        </p:spPr>
        <p:txBody>
          <a:bodyPr wrap="square">
            <a:spAutoFit/>
          </a:bodyPr>
          <a:lstStyle/>
          <a:p>
            <a:pPr algn="l">
              <a:defRPr sz="1100" b="1" i="0">
                <a:solidFill>
                  <a:srgbClr val="5B21B6"/>
                </a:solidFill>
                <a:latin typeface="Segoe UI Semibold"/>
              </a:defRPr>
            </a:pPr>
            <a:r>
              <a:t>MONTHLY PIPELINE</a:t>
            </a:r>
          </a:p>
        </p:txBody>
      </p:sp>
      <p:sp>
        <p:nvSpPr>
          <p:cNvPr id="37" name="Rectangle 36"/>
          <p:cNvSpPr/>
          <p:nvPr/>
        </p:nvSpPr>
        <p:spPr>
          <a:xfrm>
            <a:off x="457200" y="3108960"/>
            <a:ext cx="109728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274320" y="3246120"/>
            <a:ext cx="5029200" cy="713232"/>
          </a:xfrm>
          <a:prstGeom prst="roundRect">
            <a:avLst>
              <a:gd name="adj" fmla="val 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3291840"/>
            <a:ext cx="1188720" cy="320040"/>
          </a:xfrm>
          <a:prstGeom prst="rect">
            <a:avLst/>
          </a:prstGeom>
          <a:noFill/>
        </p:spPr>
        <p:txBody>
          <a:bodyPr wrap="square">
            <a:spAutoFit/>
          </a:bodyPr>
          <a:lstStyle/>
          <a:p>
            <a:pPr algn="l">
              <a:defRPr sz="1300" b="1" i="0">
                <a:solidFill>
                  <a:srgbClr val="1E073B"/>
                </a:solidFill>
                <a:latin typeface="Segoe UI"/>
              </a:defRPr>
            </a:pPr>
            <a:r>
              <a:t>January</a:t>
            </a:r>
          </a:p>
        </p:txBody>
      </p:sp>
      <p:sp>
        <p:nvSpPr>
          <p:cNvPr id="40" name="TextBox 39"/>
          <p:cNvSpPr txBox="1"/>
          <p:nvPr/>
        </p:nvSpPr>
        <p:spPr>
          <a:xfrm>
            <a:off x="411480" y="3611880"/>
            <a:ext cx="4754880" cy="274320"/>
          </a:xfrm>
          <a:prstGeom prst="rect">
            <a:avLst/>
          </a:prstGeom>
          <a:noFill/>
        </p:spPr>
        <p:txBody>
          <a:bodyPr wrap="square">
            <a:spAutoFit/>
          </a:bodyPr>
          <a:lstStyle/>
          <a:p>
            <a:pPr algn="l">
              <a:defRPr sz="900" b="0" i="0">
                <a:solidFill>
                  <a:srgbClr val="6B5F83"/>
                </a:solidFill>
                <a:latin typeface="Segoe UI"/>
              </a:defRPr>
            </a:pPr>
            <a:r>
              <a:t>Subs: 911   |   Quotes: 471   |   Binds: 13   |   BP: $500,726   |   Hit Rate: 2.8%   |   Declined: 407</a:t>
            </a:r>
          </a:p>
        </p:txBody>
      </p:sp>
      <p:sp>
        <p:nvSpPr>
          <p:cNvPr id="41" name="Rounded Rectangle 40"/>
          <p:cNvSpPr/>
          <p:nvPr/>
        </p:nvSpPr>
        <p:spPr>
          <a:xfrm>
            <a:off x="274320" y="4069080"/>
            <a:ext cx="5029200" cy="713232"/>
          </a:xfrm>
          <a:prstGeom prst="roundRect">
            <a:avLst>
              <a:gd name="adj" fmla="val 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4114800"/>
            <a:ext cx="1188720" cy="320040"/>
          </a:xfrm>
          <a:prstGeom prst="rect">
            <a:avLst/>
          </a:prstGeom>
          <a:noFill/>
        </p:spPr>
        <p:txBody>
          <a:bodyPr wrap="square">
            <a:spAutoFit/>
          </a:bodyPr>
          <a:lstStyle/>
          <a:p>
            <a:pPr algn="l">
              <a:defRPr sz="1300" b="1" i="0">
                <a:solidFill>
                  <a:srgbClr val="1E073B"/>
                </a:solidFill>
                <a:latin typeface="Segoe UI"/>
              </a:defRPr>
            </a:pPr>
            <a:r>
              <a:t>February</a:t>
            </a:r>
          </a:p>
        </p:txBody>
      </p:sp>
      <p:sp>
        <p:nvSpPr>
          <p:cNvPr id="43" name="TextBox 42"/>
          <p:cNvSpPr txBox="1"/>
          <p:nvPr/>
        </p:nvSpPr>
        <p:spPr>
          <a:xfrm>
            <a:off x="411480" y="4434840"/>
            <a:ext cx="4754880" cy="274320"/>
          </a:xfrm>
          <a:prstGeom prst="rect">
            <a:avLst/>
          </a:prstGeom>
          <a:noFill/>
        </p:spPr>
        <p:txBody>
          <a:bodyPr wrap="square">
            <a:spAutoFit/>
          </a:bodyPr>
          <a:lstStyle/>
          <a:p>
            <a:pPr algn="l">
              <a:defRPr sz="900" b="0" i="0">
                <a:solidFill>
                  <a:srgbClr val="6B5F83"/>
                </a:solidFill>
                <a:latin typeface="Segoe UI"/>
              </a:defRPr>
            </a:pPr>
            <a:r>
              <a:t>Subs: 1,166   |   Quotes: 589   |   Binds: 25   |   BP: $1.1M   |   Hit Rate: 4.2%   |   Declined: 514</a:t>
            </a:r>
          </a:p>
        </p:txBody>
      </p:sp>
      <p:sp>
        <p:nvSpPr>
          <p:cNvPr id="44" name="Rounded Rectangle 43"/>
          <p:cNvSpPr/>
          <p:nvPr/>
        </p:nvSpPr>
        <p:spPr>
          <a:xfrm>
            <a:off x="274320" y="4892040"/>
            <a:ext cx="5029200" cy="713232"/>
          </a:xfrm>
          <a:prstGeom prst="roundRect">
            <a:avLst>
              <a:gd name="adj" fmla="val 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4937760"/>
            <a:ext cx="1188720" cy="320040"/>
          </a:xfrm>
          <a:prstGeom prst="rect">
            <a:avLst/>
          </a:prstGeom>
          <a:noFill/>
        </p:spPr>
        <p:txBody>
          <a:bodyPr wrap="square">
            <a:spAutoFit/>
          </a:bodyPr>
          <a:lstStyle/>
          <a:p>
            <a:pPr algn="l">
              <a:defRPr sz="1300" b="1" i="0">
                <a:solidFill>
                  <a:srgbClr val="1E073B"/>
                </a:solidFill>
                <a:latin typeface="Segoe UI"/>
              </a:defRPr>
            </a:pPr>
            <a:r>
              <a:t>March</a:t>
            </a:r>
          </a:p>
        </p:txBody>
      </p:sp>
      <p:sp>
        <p:nvSpPr>
          <p:cNvPr id="46" name="TextBox 45"/>
          <p:cNvSpPr txBox="1"/>
          <p:nvPr/>
        </p:nvSpPr>
        <p:spPr>
          <a:xfrm>
            <a:off x="411480" y="5257800"/>
            <a:ext cx="4754880" cy="274320"/>
          </a:xfrm>
          <a:prstGeom prst="rect">
            <a:avLst/>
          </a:prstGeom>
          <a:noFill/>
        </p:spPr>
        <p:txBody>
          <a:bodyPr wrap="square">
            <a:spAutoFit/>
          </a:bodyPr>
          <a:lstStyle/>
          <a:p>
            <a:pPr algn="l">
              <a:defRPr sz="900" b="0" i="0">
                <a:solidFill>
                  <a:srgbClr val="6B5F83"/>
                </a:solidFill>
                <a:latin typeface="Segoe UI"/>
              </a:defRPr>
            </a:pPr>
            <a:r>
              <a:t>Subs: 1,607   |   Quotes: 870   |   Binds: 51   |   BP: $1.2M   |   Hit Rate: 5.9%   |   Declined: 690</a:t>
            </a:r>
          </a:p>
        </p:txBody>
      </p:sp>
      <p:sp>
        <p:nvSpPr>
          <p:cNvPr id="47" name="Rounded Rectangle 46"/>
          <p:cNvSpPr/>
          <p:nvPr/>
        </p:nvSpPr>
        <p:spPr>
          <a:xfrm>
            <a:off x="274320" y="5715000"/>
            <a:ext cx="5029200" cy="713232"/>
          </a:xfrm>
          <a:prstGeom prst="roundRect">
            <a:avLst>
              <a:gd name="adj" fmla="val 4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5760720"/>
            <a:ext cx="1188720" cy="320040"/>
          </a:xfrm>
          <a:prstGeom prst="rect">
            <a:avLst/>
          </a:prstGeom>
          <a:noFill/>
        </p:spPr>
        <p:txBody>
          <a:bodyPr wrap="square">
            <a:spAutoFit/>
          </a:bodyPr>
          <a:lstStyle/>
          <a:p>
            <a:pPr algn="l">
              <a:defRPr sz="1300" b="1" i="0">
                <a:solidFill>
                  <a:srgbClr val="1E073B"/>
                </a:solidFill>
                <a:latin typeface="Segoe UI"/>
              </a:defRPr>
            </a:pPr>
            <a:r>
              <a:t>April</a:t>
            </a:r>
          </a:p>
        </p:txBody>
      </p:sp>
      <p:sp>
        <p:nvSpPr>
          <p:cNvPr id="49" name="TextBox 48"/>
          <p:cNvSpPr txBox="1"/>
          <p:nvPr/>
        </p:nvSpPr>
        <p:spPr>
          <a:xfrm>
            <a:off x="411480" y="6080760"/>
            <a:ext cx="4754880" cy="274320"/>
          </a:xfrm>
          <a:prstGeom prst="rect">
            <a:avLst/>
          </a:prstGeom>
          <a:noFill/>
        </p:spPr>
        <p:txBody>
          <a:bodyPr wrap="square">
            <a:spAutoFit/>
          </a:bodyPr>
          <a:lstStyle/>
          <a:p>
            <a:pPr algn="l">
              <a:defRPr sz="900" b="0" i="0">
                <a:solidFill>
                  <a:srgbClr val="6B5F83"/>
                </a:solidFill>
                <a:latin typeface="Segoe UI"/>
              </a:defRPr>
            </a:pPr>
            <a:r>
              <a:t>Subs: 1,665   |   Quotes: 789   |   Binds: 47   |   BP: $1.1M   |   Hit Rate: 6.0%   |   Declined: 685</a:t>
            </a:r>
          </a:p>
        </p:txBody>
      </p:sp>
      <p:sp>
        <p:nvSpPr>
          <p:cNvPr id="50" name="TextBox 49"/>
          <p:cNvSpPr txBox="1"/>
          <p:nvPr/>
        </p:nvSpPr>
        <p:spPr>
          <a:xfrm>
            <a:off x="5669280" y="2834640"/>
            <a:ext cx="4572000" cy="274320"/>
          </a:xfrm>
          <a:prstGeom prst="rect">
            <a:avLst/>
          </a:prstGeom>
          <a:noFill/>
        </p:spPr>
        <p:txBody>
          <a:bodyPr wrap="square">
            <a:spAutoFit/>
          </a:bodyPr>
          <a:lstStyle/>
          <a:p>
            <a:pPr algn="l">
              <a:defRPr sz="1100" b="1" i="0">
                <a:solidFill>
                  <a:srgbClr val="5B21B6"/>
                </a:solidFill>
                <a:latin typeface="Segoe UI Semibold"/>
              </a:defRPr>
            </a:pPr>
            <a:r>
              <a:t>TOP STATES BY SUBMISSIONS</a:t>
            </a:r>
          </a:p>
        </p:txBody>
      </p:sp>
      <p:sp>
        <p:nvSpPr>
          <p:cNvPr id="51" name="Rectangle 50"/>
          <p:cNvSpPr/>
          <p:nvPr/>
        </p:nvSpPr>
        <p:spPr>
          <a:xfrm>
            <a:off x="5669280" y="3108960"/>
            <a:ext cx="13716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2" name="Table 51"/>
          <p:cNvGraphicFramePr>
            <a:graphicFrameLocks noGrp="1"/>
          </p:cNvGraphicFramePr>
          <p:nvPr/>
        </p:nvGraphicFramePr>
        <p:xfrm>
          <a:off x="5577840" y="3246120"/>
          <a:ext cx="5074920" cy="3566160"/>
        </p:xfrm>
        <a:graphic>
          <a:graphicData uri="http://schemas.openxmlformats.org/drawingml/2006/table">
            <a:tbl>
              <a:tblPr firstRow="0" bandRow="0" bandCol="0" lastRow="0">
                <a:tableStyleId>{5C22544A-7EE6-4342-B048-85BDC9FD1C3A}</a:tableStyleId>
              </a:tblPr>
              <a:tblGrid>
                <a:gridCol w="594360"/>
                <a:gridCol w="822960"/>
                <a:gridCol w="822960"/>
                <a:gridCol w="640080"/>
                <a:gridCol w="1371600"/>
                <a:gridCol w="822960"/>
              </a:tblGrid>
              <a:tr h="274320">
                <a:tc>
                  <a:txBody>
                    <a:bodyPr/>
                    <a:lstStyle/>
                    <a:p>
                      <a:pPr algn="l">
                        <a:defRPr sz="800" b="1">
                          <a:solidFill>
                            <a:srgbClr val="FFFFFF"/>
                          </a:solidFill>
                          <a:latin typeface="Segoe UI Semibold"/>
                        </a:defRPr>
                      </a:pPr>
                      <a:r>
                        <a:t>State</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Subs</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Quotes</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Binds</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Bound Prem.</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Hit Rate</a:t>
                      </a:r>
                    </a:p>
                  </a:txBody>
                  <a:tcPr anchor="ctr" marL="76200" marR="76200" marT="38100" marB="38100">
                    <a:solidFill>
                      <a:srgbClr val="5B21B6"/>
                    </a:solidFill>
                    <a:lnL w="0">
                      <a:noFill/>
                    </a:lnL>
                    <a:lnR w="0">
                      <a:noFill/>
                    </a:lnR>
                    <a:lnT w="0">
                      <a:noFill/>
                    </a:lnT>
                    <a:lnB w="0">
                      <a:noFill/>
                    </a:lnB>
                  </a:tcPr>
                </a:tc>
              </a:tr>
              <a:tr h="274320">
                <a:tc>
                  <a:txBody>
                    <a:bodyPr/>
                    <a:lstStyle/>
                    <a:p>
                      <a:pPr algn="l">
                        <a:defRPr sz="900" b="1">
                          <a:solidFill>
                            <a:srgbClr val="5B21B6"/>
                          </a:solidFill>
                          <a:latin typeface="Segoe UI"/>
                        </a:defRPr>
                      </a:pPr>
                      <a:r>
                        <a:t>TX</a:t>
                      </a:r>
                    </a:p>
                  </a:txBody>
                  <a:tcPr anchor="ctr" marL="76200" marR="76200" marT="38100" marB="38100">
                    <a:noFill/>
                    <a:lnL w="0">
                      <a:noFill/>
                    </a:lnL>
                    <a:lnR w="0">
                      <a:noFill/>
                    </a:lnR>
                    <a:lnT w="0">
                      <a:noFill/>
                    </a:lnT>
                    <a:lnB w="0">
                      <a:noFill/>
                    </a:lnB>
                  </a:tcPr>
                </a:tc>
                <a:tc>
                  <a:txBody>
                    <a:bodyPr/>
                    <a:lstStyle/>
                    <a:p>
                      <a:pPr algn="r">
                        <a:defRPr sz="900" b="0">
                          <a:solidFill>
                            <a:srgbClr val="1E073B"/>
                          </a:solidFill>
                          <a:latin typeface="Segoe UI"/>
                        </a:defRPr>
                      </a:pPr>
                      <a:r>
                        <a:t>3,683</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2,344</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92</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$2,621,200</a:t>
                      </a:r>
                    </a:p>
                  </a:txBody>
                  <a:tcPr anchor="ctr" marL="76200" marR="76200" marT="38100" marB="38100">
                    <a:noFill/>
                    <a:lnL w="0">
                      <a:noFill/>
                    </a:lnL>
                    <a:lnR w="0">
                      <a:noFill/>
                    </a:lnR>
                    <a:lnT w="0">
                      <a:noFill/>
                    </a:lnT>
                    <a:lnB w="0">
                      <a:noFill/>
                    </a:lnB>
                  </a:tcPr>
                </a:tc>
                <a:tc>
                  <a:txBody>
                    <a:bodyPr/>
                    <a:lstStyle/>
                    <a:p>
                      <a:pPr algn="r">
                        <a:defRPr sz="900" b="0">
                          <a:solidFill>
                            <a:srgbClr val="7C3AED"/>
                          </a:solidFill>
                          <a:latin typeface="Segoe UI"/>
                        </a:defRPr>
                      </a:pPr>
                      <a:r>
                        <a:t>3.9%</a:t>
                      </a:r>
                    </a:p>
                  </a:txBody>
                  <a:tcPr anchor="ctr" marL="76200" marR="76200" marT="38100" marB="38100">
                    <a:noFill/>
                    <a:lnL w="0">
                      <a:noFill/>
                    </a:lnL>
                    <a:lnR w="0">
                      <a:noFill/>
                    </a:lnR>
                    <a:lnT w="0">
                      <a:noFill/>
                    </a:lnT>
                    <a:lnB w="0">
                      <a:noFill/>
                    </a:lnB>
                  </a:tcPr>
                </a:tc>
              </a:tr>
              <a:tr h="274320">
                <a:tc>
                  <a:txBody>
                    <a:bodyPr/>
                    <a:lstStyle/>
                    <a:p>
                      <a:pPr algn="l">
                        <a:defRPr sz="900" b="1">
                          <a:solidFill>
                            <a:srgbClr val="5B21B6"/>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1E073B"/>
                          </a:solidFill>
                          <a:latin typeface="Segoe UI"/>
                        </a:defRPr>
                      </a:pPr>
                      <a:r>
                        <a:t>1,233</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734</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48</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$1,678,891</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7C3AED"/>
                          </a:solidFill>
                          <a:latin typeface="Segoe UI"/>
                        </a:defRPr>
                      </a:pPr>
                      <a:r>
                        <a:t>6.5%</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5B21B6"/>
                          </a:solidFill>
                          <a:latin typeface="Segoe UI"/>
                        </a:defRPr>
                      </a:pPr>
                      <a:r>
                        <a:t>FL</a:t>
                      </a:r>
                    </a:p>
                  </a:txBody>
                  <a:tcPr anchor="ctr" marL="76200" marR="76200" marT="38100" marB="38100">
                    <a:noFill/>
                    <a:lnL w="0">
                      <a:noFill/>
                    </a:lnL>
                    <a:lnR w="0">
                      <a:noFill/>
                    </a:lnR>
                    <a:lnT w="0">
                      <a:noFill/>
                    </a:lnT>
                    <a:lnB w="0">
                      <a:noFill/>
                    </a:lnB>
                  </a:tcPr>
                </a:tc>
                <a:tc>
                  <a:txBody>
                    <a:bodyPr/>
                    <a:lstStyle/>
                    <a:p>
                      <a:pPr algn="r">
                        <a:defRPr sz="900" b="0">
                          <a:solidFill>
                            <a:srgbClr val="1E073B"/>
                          </a:solidFill>
                          <a:latin typeface="Segoe UI"/>
                        </a:defRPr>
                      </a:pPr>
                      <a:r>
                        <a:t>366</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10</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r">
                        <a:defRPr sz="9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r">
                        <a:defRPr sz="900" b="0">
                          <a:solidFill>
                            <a:srgbClr val="9C92B5"/>
                          </a:solidFill>
                          <a:latin typeface="Segoe UI"/>
                        </a:defRPr>
                      </a:pPr>
                      <a:r>
                        <a:t>0.0%</a:t>
                      </a:r>
                    </a:p>
                  </a:txBody>
                  <a:tcPr anchor="ctr" marL="76200" marR="76200" marT="38100" marB="38100">
                    <a:noFill/>
                    <a:lnL w="0">
                      <a:noFill/>
                    </a:lnL>
                    <a:lnR w="0">
                      <a:noFill/>
                    </a:lnR>
                    <a:lnT w="0">
                      <a:noFill/>
                    </a:lnT>
                    <a:lnB w="0">
                      <a:noFill/>
                    </a:lnB>
                  </a:tcPr>
                </a:tc>
              </a:tr>
              <a:tr h="274320">
                <a:tc>
                  <a:txBody>
                    <a:bodyPr/>
                    <a:lstStyle/>
                    <a:p>
                      <a:pPr algn="l">
                        <a:defRPr sz="900" b="1">
                          <a:solidFill>
                            <a:srgbClr val="5B21B6"/>
                          </a:solidFill>
                          <a:latin typeface="Segoe UI"/>
                        </a:defRPr>
                      </a:pPr>
                      <a:r>
                        <a:t>GA</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1E073B"/>
                          </a:solidFill>
                          <a:latin typeface="Segoe UI"/>
                        </a:defRPr>
                      </a:pPr>
                      <a:r>
                        <a:t>245</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139</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8</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$329,545</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7C3AED"/>
                          </a:solidFill>
                          <a:latin typeface="Segoe UI"/>
                        </a:defRPr>
                      </a:pPr>
                      <a:r>
                        <a:t>5.8%</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5B21B6"/>
                          </a:solidFill>
                          <a:latin typeface="Segoe UI"/>
                        </a:defRPr>
                      </a:pPr>
                      <a:r>
                        <a:t>NJ</a:t>
                      </a:r>
                    </a:p>
                  </a:txBody>
                  <a:tcPr anchor="ctr" marL="76200" marR="76200" marT="38100" marB="38100">
                    <a:noFill/>
                    <a:lnL w="0">
                      <a:noFill/>
                    </a:lnL>
                    <a:lnR w="0">
                      <a:noFill/>
                    </a:lnR>
                    <a:lnT w="0">
                      <a:noFill/>
                    </a:lnT>
                    <a:lnB w="0">
                      <a:noFill/>
                    </a:lnB>
                  </a:tcPr>
                </a:tc>
                <a:tc>
                  <a:txBody>
                    <a:bodyPr/>
                    <a:lstStyle/>
                    <a:p>
                      <a:pPr algn="r">
                        <a:defRPr sz="900" b="0">
                          <a:solidFill>
                            <a:srgbClr val="1E073B"/>
                          </a:solidFill>
                          <a:latin typeface="Segoe UI"/>
                        </a:defRPr>
                      </a:pPr>
                      <a:r>
                        <a:t>144</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4</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2</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$8,775</a:t>
                      </a:r>
                    </a:p>
                  </a:txBody>
                  <a:tcPr anchor="ctr" marL="76200" marR="76200" marT="38100" marB="38100">
                    <a:noFill/>
                    <a:lnL w="0">
                      <a:noFill/>
                    </a:lnL>
                    <a:lnR w="0">
                      <a:noFill/>
                    </a:lnR>
                    <a:lnT w="0">
                      <a:noFill/>
                    </a:lnT>
                    <a:lnB w="0">
                      <a:noFill/>
                    </a:lnB>
                  </a:tcPr>
                </a:tc>
                <a:tc>
                  <a:txBody>
                    <a:bodyPr/>
                    <a:lstStyle/>
                    <a:p>
                      <a:pPr algn="r">
                        <a:defRPr sz="900" b="0">
                          <a:solidFill>
                            <a:srgbClr val="7C3AED"/>
                          </a:solidFill>
                          <a:latin typeface="Segoe UI"/>
                        </a:defRPr>
                      </a:pPr>
                      <a:r>
                        <a:t>50.0%</a:t>
                      </a:r>
                    </a:p>
                  </a:txBody>
                  <a:tcPr anchor="ctr" marL="76200" marR="76200" marT="38100" marB="38100">
                    <a:noFill/>
                    <a:lnL w="0">
                      <a:noFill/>
                    </a:lnL>
                    <a:lnR w="0">
                      <a:noFill/>
                    </a:lnR>
                    <a:lnT w="0">
                      <a:noFill/>
                    </a:lnT>
                    <a:lnB w="0">
                      <a:noFill/>
                    </a:lnB>
                  </a:tcPr>
                </a:tc>
              </a:tr>
              <a:tr h="274320">
                <a:tc>
                  <a:txBody>
                    <a:bodyPr/>
                    <a:lstStyle/>
                    <a:p>
                      <a:pPr algn="l">
                        <a:defRPr sz="900" b="1">
                          <a:solidFill>
                            <a:srgbClr val="5B21B6"/>
                          </a:solidFill>
                          <a:latin typeface="Segoe UI"/>
                        </a:defRPr>
                      </a:pPr>
                      <a:r>
                        <a:t>NC</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1E073B"/>
                          </a:solidFill>
                          <a:latin typeface="Segoe UI"/>
                        </a:defRPr>
                      </a:pPr>
                      <a:r>
                        <a:t>119</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7</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$11,445</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7C3AED"/>
                          </a:solidFill>
                          <a:latin typeface="Segoe UI"/>
                        </a:defRPr>
                      </a:pPr>
                      <a:r>
                        <a:t>14.3%</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5B21B6"/>
                          </a:solidFill>
                          <a:latin typeface="Segoe UI"/>
                        </a:defRPr>
                      </a:pPr>
                      <a:r>
                        <a:t>AZ</a:t>
                      </a:r>
                    </a:p>
                  </a:txBody>
                  <a:tcPr anchor="ctr" marL="76200" marR="76200" marT="38100" marB="38100">
                    <a:noFill/>
                    <a:lnL w="0">
                      <a:noFill/>
                    </a:lnL>
                    <a:lnR w="0">
                      <a:noFill/>
                    </a:lnR>
                    <a:lnT w="0">
                      <a:noFill/>
                    </a:lnT>
                    <a:lnB w="0">
                      <a:noFill/>
                    </a:lnB>
                  </a:tcPr>
                </a:tc>
                <a:tc>
                  <a:txBody>
                    <a:bodyPr/>
                    <a:lstStyle/>
                    <a:p>
                      <a:pPr algn="r">
                        <a:defRPr sz="900" b="0">
                          <a:solidFill>
                            <a:srgbClr val="1E073B"/>
                          </a:solidFill>
                          <a:latin typeface="Segoe UI"/>
                        </a:defRPr>
                      </a:pPr>
                      <a:r>
                        <a:t>97</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45</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$13,649</a:t>
                      </a:r>
                    </a:p>
                  </a:txBody>
                  <a:tcPr anchor="ctr" marL="76200" marR="76200" marT="38100" marB="38100">
                    <a:noFill/>
                    <a:lnL w="0">
                      <a:noFill/>
                    </a:lnL>
                    <a:lnR w="0">
                      <a:noFill/>
                    </a:lnR>
                    <a:lnT w="0">
                      <a:noFill/>
                    </a:lnT>
                    <a:lnB w="0">
                      <a:noFill/>
                    </a:lnB>
                  </a:tcPr>
                </a:tc>
                <a:tc>
                  <a:txBody>
                    <a:bodyPr/>
                    <a:lstStyle/>
                    <a:p>
                      <a:pPr algn="r">
                        <a:defRPr sz="900" b="0">
                          <a:solidFill>
                            <a:srgbClr val="7C3AED"/>
                          </a:solidFill>
                          <a:latin typeface="Segoe UI"/>
                        </a:defRPr>
                      </a:pPr>
                      <a:r>
                        <a:t>2.2%</a:t>
                      </a:r>
                    </a:p>
                  </a:txBody>
                  <a:tcPr anchor="ctr" marL="76200" marR="76200" marT="38100" marB="38100">
                    <a:noFill/>
                    <a:lnL w="0">
                      <a:noFill/>
                    </a:lnL>
                    <a:lnR w="0">
                      <a:noFill/>
                    </a:lnR>
                    <a:lnT w="0">
                      <a:noFill/>
                    </a:lnT>
                    <a:lnB w="0">
                      <a:noFill/>
                    </a:lnB>
                  </a:tcPr>
                </a:tc>
              </a:tr>
              <a:tr h="274320">
                <a:tc>
                  <a:txBody>
                    <a:bodyPr/>
                    <a:lstStyle/>
                    <a:p>
                      <a:pPr algn="l">
                        <a:defRPr sz="900" b="1">
                          <a:solidFill>
                            <a:srgbClr val="5B21B6"/>
                          </a:solidFill>
                          <a:latin typeface="Segoe UI"/>
                        </a:defRPr>
                      </a:pPr>
                      <a:r>
                        <a:t>OH</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1E073B"/>
                          </a:solidFill>
                          <a:latin typeface="Segoe UI"/>
                        </a:defRPr>
                      </a:pPr>
                      <a:r>
                        <a:t>84</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43</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$18,316</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7C3AED"/>
                          </a:solidFill>
                          <a:latin typeface="Segoe UI"/>
                        </a:defRPr>
                      </a:pPr>
                      <a:r>
                        <a:t>2.3%</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5B21B6"/>
                          </a:solidFill>
                          <a:latin typeface="Segoe UI"/>
                        </a:defRPr>
                      </a:pPr>
                      <a:r>
                        <a:t>PA</a:t>
                      </a:r>
                    </a:p>
                  </a:txBody>
                  <a:tcPr anchor="ctr" marL="76200" marR="76200" marT="38100" marB="38100">
                    <a:noFill/>
                    <a:lnL w="0">
                      <a:noFill/>
                    </a:lnL>
                    <a:lnR w="0">
                      <a:noFill/>
                    </a:lnR>
                    <a:lnT w="0">
                      <a:noFill/>
                    </a:lnT>
                    <a:lnB w="0">
                      <a:noFill/>
                    </a:lnB>
                  </a:tcPr>
                </a:tc>
                <a:tc>
                  <a:txBody>
                    <a:bodyPr/>
                    <a:lstStyle/>
                    <a:p>
                      <a:pPr algn="r">
                        <a:defRPr sz="900" b="0">
                          <a:solidFill>
                            <a:srgbClr val="1E073B"/>
                          </a:solidFill>
                          <a:latin typeface="Segoe UI"/>
                        </a:defRPr>
                      </a:pPr>
                      <a:r>
                        <a:t>78</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38</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5</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$182,976</a:t>
                      </a:r>
                    </a:p>
                  </a:txBody>
                  <a:tcPr anchor="ctr" marL="76200" marR="76200" marT="38100" marB="38100">
                    <a:noFill/>
                    <a:lnL w="0">
                      <a:noFill/>
                    </a:lnL>
                    <a:lnR w="0">
                      <a:noFill/>
                    </a:lnR>
                    <a:lnT w="0">
                      <a:noFill/>
                    </a:lnT>
                    <a:lnB w="0">
                      <a:noFill/>
                    </a:lnB>
                  </a:tcPr>
                </a:tc>
                <a:tc>
                  <a:txBody>
                    <a:bodyPr/>
                    <a:lstStyle/>
                    <a:p>
                      <a:pPr algn="r">
                        <a:defRPr sz="900" b="0">
                          <a:solidFill>
                            <a:srgbClr val="7C3AED"/>
                          </a:solidFill>
                          <a:latin typeface="Segoe UI"/>
                        </a:defRPr>
                      </a:pPr>
                      <a:r>
                        <a:t>13.2%</a:t>
                      </a:r>
                    </a:p>
                  </a:txBody>
                  <a:tcPr anchor="ctr" marL="76200" marR="76200" marT="38100" marB="38100">
                    <a:noFill/>
                    <a:lnL w="0">
                      <a:noFill/>
                    </a:lnL>
                    <a:lnR w="0">
                      <a:noFill/>
                    </a:lnR>
                    <a:lnT w="0">
                      <a:noFill/>
                    </a:lnT>
                    <a:lnB w="0">
                      <a:noFill/>
                    </a:lnB>
                  </a:tcPr>
                </a:tc>
              </a:tr>
              <a:tr h="274320">
                <a:tc>
                  <a:txBody>
                    <a:bodyPr/>
                    <a:lstStyle/>
                    <a:p>
                      <a:pPr algn="l">
                        <a:defRPr sz="900" b="1">
                          <a:solidFill>
                            <a:srgbClr val="5B21B6"/>
                          </a:solidFill>
                          <a:latin typeface="Segoe UI"/>
                        </a:defRPr>
                      </a:pPr>
                      <a:r>
                        <a:t>NV</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1E073B"/>
                          </a:solidFill>
                          <a:latin typeface="Segoe UI"/>
                        </a:defRPr>
                      </a:pPr>
                      <a:r>
                        <a:t>75</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5</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$3,718</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7C3AED"/>
                          </a:solidFill>
                          <a:latin typeface="Segoe UI"/>
                        </a:defRPr>
                      </a:pPr>
                      <a:r>
                        <a:t>40.0%</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5B21B6"/>
                          </a:solidFill>
                          <a:latin typeface="Segoe UI"/>
                        </a:defRPr>
                      </a:pPr>
                      <a:r>
                        <a:t>VA</a:t>
                      </a:r>
                    </a:p>
                  </a:txBody>
                  <a:tcPr anchor="ctr" marL="76200" marR="76200" marT="38100" marB="38100">
                    <a:noFill/>
                    <a:lnL w="0">
                      <a:noFill/>
                    </a:lnL>
                    <a:lnR w="0">
                      <a:noFill/>
                    </a:lnR>
                    <a:lnT w="0">
                      <a:noFill/>
                    </a:lnT>
                    <a:lnB w="0">
                      <a:noFill/>
                    </a:lnB>
                  </a:tcPr>
                </a:tc>
                <a:tc>
                  <a:txBody>
                    <a:bodyPr/>
                    <a:lstStyle/>
                    <a:p>
                      <a:pPr algn="r">
                        <a:defRPr sz="900" b="0">
                          <a:solidFill>
                            <a:srgbClr val="1E073B"/>
                          </a:solidFill>
                          <a:latin typeface="Segoe UI"/>
                        </a:defRPr>
                      </a:pPr>
                      <a:r>
                        <a:t>75</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26</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4</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$138,776</a:t>
                      </a:r>
                    </a:p>
                  </a:txBody>
                  <a:tcPr anchor="ctr" marL="76200" marR="76200" marT="38100" marB="38100">
                    <a:noFill/>
                    <a:lnL w="0">
                      <a:noFill/>
                    </a:lnL>
                    <a:lnR w="0">
                      <a:noFill/>
                    </a:lnR>
                    <a:lnT w="0">
                      <a:noFill/>
                    </a:lnT>
                    <a:lnB w="0">
                      <a:noFill/>
                    </a:lnB>
                  </a:tcPr>
                </a:tc>
                <a:tc>
                  <a:txBody>
                    <a:bodyPr/>
                    <a:lstStyle/>
                    <a:p>
                      <a:pPr algn="r">
                        <a:defRPr sz="900" b="0">
                          <a:solidFill>
                            <a:srgbClr val="7C3AED"/>
                          </a:solidFill>
                          <a:latin typeface="Segoe UI"/>
                        </a:defRPr>
                      </a:pPr>
                      <a:r>
                        <a:t>15.4%</a:t>
                      </a:r>
                    </a:p>
                  </a:txBody>
                  <a:tcPr anchor="ctr" marL="76200" marR="76200" marT="38100" marB="38100">
                    <a:noFill/>
                    <a:lnL w="0">
                      <a:noFill/>
                    </a:lnL>
                    <a:lnR w="0">
                      <a:noFill/>
                    </a:lnR>
                    <a:lnT w="0">
                      <a:noFill/>
                    </a:lnT>
                    <a:lnB w="0">
                      <a:noFill/>
                    </a:lnB>
                  </a:tcPr>
                </a:tc>
              </a:tr>
              <a:tr h="274320">
                <a:tc>
                  <a:txBody>
                    <a:bodyPr/>
                    <a:lstStyle/>
                    <a:p>
                      <a:pPr algn="l">
                        <a:defRPr sz="900" b="1">
                          <a:solidFill>
                            <a:srgbClr val="5B21B6"/>
                          </a:solidFill>
                          <a:latin typeface="Segoe UI"/>
                        </a:defRPr>
                      </a:pPr>
                      <a:r>
                        <a:t>CO</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1E073B"/>
                          </a:solidFill>
                          <a:latin typeface="Segoe UI"/>
                        </a:defRPr>
                      </a:pPr>
                      <a:r>
                        <a:t>74</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33</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$32,771</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7C3AED"/>
                          </a:solidFill>
                          <a:latin typeface="Segoe UI"/>
                        </a:defRPr>
                      </a:pPr>
                      <a:r>
                        <a:t>9.1%</a:t>
                      </a:r>
                    </a:p>
                  </a:txBody>
                  <a:tcPr anchor="ctr" marL="76200" marR="76200" marT="38100" marB="38100">
                    <a:solidFill>
                      <a:srgbClr val="F5F3FF"/>
                    </a:solidFill>
                    <a:lnL w="0">
                      <a:noFill/>
                    </a:lnL>
                    <a:lnR w="0">
                      <a:noFill/>
                    </a:lnR>
                    <a:lnT w="0">
                      <a:noFill/>
                    </a:lnT>
                    <a:lnB w="0">
                      <a:noFill/>
                    </a:lnB>
                  </a:tcPr>
                </a:tc>
              </a:tr>
            </a:tbl>
          </a:graphicData>
        </a:graphic>
      </p:graphicFrame>
      <p:sp>
        <p:nvSpPr>
          <p:cNvPr id="53" name="Rectangle 52"/>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6565392"/>
            <a:ext cx="5486400" cy="274320"/>
          </a:xfrm>
          <a:prstGeom prst="rect">
            <a:avLst/>
          </a:prstGeom>
          <a:noFill/>
        </p:spPr>
        <p:txBody>
          <a:bodyPr wrap="square">
            <a:spAutoFit/>
          </a:bodyPr>
          <a:lstStyle/>
          <a:p>
            <a:pPr algn="l">
              <a:defRPr sz="800" b="0" i="0">
                <a:solidFill>
                  <a:srgbClr val="EDE9FE"/>
                </a:solidFill>
                <a:latin typeface="Segoe UI"/>
              </a:defRPr>
            </a:pPr>
            <a:r>
              <a:t>Source: Metabase Analytics  |  228 state-month combinations</a:t>
            </a:r>
          </a:p>
        </p:txBody>
      </p:sp>
      <p:sp>
        <p:nvSpPr>
          <p:cNvPr id="55" name="TextBox 54"/>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OUTBOUND CALL ACTIVITY</a:t>
            </a:r>
          </a:p>
        </p:txBody>
      </p:sp>
      <p:sp>
        <p:nvSpPr>
          <p:cNvPr id="7" name="TextBox 6"/>
          <p:cNvSpPr txBox="1"/>
          <p:nvPr/>
        </p:nvSpPr>
        <p:spPr>
          <a:xfrm>
            <a:off x="8229600" y="274320"/>
            <a:ext cx="3657600" cy="548640"/>
          </a:xfrm>
          <a:prstGeom prst="rect">
            <a:avLst/>
          </a:prstGeom>
          <a:noFill/>
        </p:spPr>
        <p:txBody>
          <a:bodyPr wrap="square">
            <a:spAutoFit/>
          </a:bodyPr>
          <a:lstStyle/>
          <a:p>
            <a:pPr algn="r">
              <a:defRPr sz="1500" b="0" i="0">
                <a:solidFill>
                  <a:srgbClr val="C4B5FD"/>
                </a:solidFill>
                <a:latin typeface="Segoe UI"/>
              </a:defRPr>
            </a:pPr>
            <a:r>
              <a:t>1150 Influenced Contacts  |  February 2026</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2743200" cy="109728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274320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08760"/>
            <a:ext cx="2468880" cy="228600"/>
          </a:xfrm>
          <a:prstGeom prst="rect">
            <a:avLst/>
          </a:prstGeom>
          <a:noFill/>
        </p:spPr>
        <p:txBody>
          <a:bodyPr wrap="square">
            <a:spAutoFit/>
          </a:bodyPr>
          <a:lstStyle/>
          <a:p>
            <a:pPr algn="l">
              <a:defRPr sz="800" b="1" i="0">
                <a:solidFill>
                  <a:srgbClr val="9C92B5"/>
                </a:solidFill>
                <a:latin typeface="Segoe UI Semibold"/>
              </a:defRPr>
            </a:pPr>
            <a:r>
              <a:t>CONTACTS ANALYZED</a:t>
            </a:r>
          </a:p>
        </p:txBody>
      </p:sp>
      <p:sp>
        <p:nvSpPr>
          <p:cNvPr id="14" name="TextBox 13"/>
          <p:cNvSpPr txBox="1"/>
          <p:nvPr/>
        </p:nvSpPr>
        <p:spPr>
          <a:xfrm>
            <a:off x="411480" y="1764792"/>
            <a:ext cx="2468880" cy="457200"/>
          </a:xfrm>
          <a:prstGeom prst="rect">
            <a:avLst/>
          </a:prstGeom>
          <a:noFill/>
        </p:spPr>
        <p:txBody>
          <a:bodyPr wrap="square">
            <a:spAutoFit/>
          </a:bodyPr>
          <a:lstStyle/>
          <a:p>
            <a:pPr algn="l">
              <a:defRPr sz="2800" b="1" i="0">
                <a:solidFill>
                  <a:srgbClr val="7C3AED"/>
                </a:solidFill>
                <a:latin typeface="Segoe UI Light"/>
              </a:defRPr>
            </a:pPr>
            <a:r>
              <a:t>1150</a:t>
            </a:r>
          </a:p>
        </p:txBody>
      </p:sp>
      <p:sp>
        <p:nvSpPr>
          <p:cNvPr id="15" name="TextBox 14"/>
          <p:cNvSpPr txBox="1"/>
          <p:nvPr/>
        </p:nvSpPr>
        <p:spPr>
          <a:xfrm>
            <a:off x="411480" y="2221992"/>
            <a:ext cx="2468880" cy="228600"/>
          </a:xfrm>
          <a:prstGeom prst="rect">
            <a:avLst/>
          </a:prstGeom>
          <a:noFill/>
        </p:spPr>
        <p:txBody>
          <a:bodyPr wrap="square">
            <a:spAutoFit/>
          </a:bodyPr>
          <a:lstStyle/>
          <a:p>
            <a:pPr algn="l">
              <a:defRPr sz="800" b="0" i="0">
                <a:solidFill>
                  <a:srgbClr val="A09CB0"/>
                </a:solidFill>
                <a:latin typeface="Segoe UI"/>
              </a:defRPr>
            </a:pPr>
            <a:r>
              <a:t>From Growth DSG Campaign</a:t>
            </a:r>
          </a:p>
        </p:txBody>
      </p:sp>
      <p:sp>
        <p:nvSpPr>
          <p:cNvPr id="16" name="Rounded Rectangle 15"/>
          <p:cNvSpPr/>
          <p:nvPr/>
        </p:nvSpPr>
        <p:spPr>
          <a:xfrm>
            <a:off x="3200400" y="1417320"/>
            <a:ext cx="2743200" cy="109728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1417320"/>
            <a:ext cx="2743200"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37560" y="1508760"/>
            <a:ext cx="2468880" cy="228600"/>
          </a:xfrm>
          <a:prstGeom prst="rect">
            <a:avLst/>
          </a:prstGeom>
          <a:noFill/>
        </p:spPr>
        <p:txBody>
          <a:bodyPr wrap="square">
            <a:spAutoFit/>
          </a:bodyPr>
          <a:lstStyle/>
          <a:p>
            <a:pPr algn="l">
              <a:defRPr sz="800" b="1" i="0">
                <a:solidFill>
                  <a:srgbClr val="9C92B5"/>
                </a:solidFill>
                <a:latin typeface="Segoe UI Semibold"/>
              </a:defRPr>
            </a:pPr>
            <a:r>
              <a:t>OUTBOUND CALLS</a:t>
            </a:r>
          </a:p>
        </p:txBody>
      </p:sp>
      <p:sp>
        <p:nvSpPr>
          <p:cNvPr id="19" name="TextBox 18"/>
          <p:cNvSpPr txBox="1"/>
          <p:nvPr/>
        </p:nvSpPr>
        <p:spPr>
          <a:xfrm>
            <a:off x="3337560" y="1764792"/>
            <a:ext cx="2468880" cy="457200"/>
          </a:xfrm>
          <a:prstGeom prst="rect">
            <a:avLst/>
          </a:prstGeom>
          <a:noFill/>
        </p:spPr>
        <p:txBody>
          <a:bodyPr wrap="square">
            <a:spAutoFit/>
          </a:bodyPr>
          <a:lstStyle/>
          <a:p>
            <a:pPr algn="l">
              <a:defRPr sz="2800" b="1" i="0">
                <a:solidFill>
                  <a:srgbClr val="10B981"/>
                </a:solidFill>
                <a:latin typeface="Segoe UI Light"/>
              </a:defRPr>
            </a:pPr>
            <a:r>
              <a:t>132</a:t>
            </a:r>
          </a:p>
        </p:txBody>
      </p:sp>
      <p:sp>
        <p:nvSpPr>
          <p:cNvPr id="20" name="TextBox 19"/>
          <p:cNvSpPr txBox="1"/>
          <p:nvPr/>
        </p:nvSpPr>
        <p:spPr>
          <a:xfrm>
            <a:off x="3337560" y="2221992"/>
            <a:ext cx="2468880" cy="228600"/>
          </a:xfrm>
          <a:prstGeom prst="rect">
            <a:avLst/>
          </a:prstGeom>
          <a:noFill/>
        </p:spPr>
        <p:txBody>
          <a:bodyPr wrap="square">
            <a:spAutoFit/>
          </a:bodyPr>
          <a:lstStyle/>
          <a:p>
            <a:pPr algn="l">
              <a:defRPr sz="800" b="0" i="0">
                <a:solidFill>
                  <a:srgbClr val="A09CB0"/>
                </a:solidFill>
                <a:latin typeface="Segoe UI"/>
              </a:defRPr>
            </a:pPr>
            <a:r>
              <a:t>By 13 CW team members</a:t>
            </a:r>
          </a:p>
        </p:txBody>
      </p:sp>
      <p:sp>
        <p:nvSpPr>
          <p:cNvPr id="21" name="Rounded Rectangle 20"/>
          <p:cNvSpPr/>
          <p:nvPr/>
        </p:nvSpPr>
        <p:spPr>
          <a:xfrm>
            <a:off x="6126480" y="1417320"/>
            <a:ext cx="2743200" cy="109728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26480" y="1417320"/>
            <a:ext cx="2743200" cy="4572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1508760"/>
            <a:ext cx="2468880" cy="228600"/>
          </a:xfrm>
          <a:prstGeom prst="rect">
            <a:avLst/>
          </a:prstGeom>
          <a:noFill/>
        </p:spPr>
        <p:txBody>
          <a:bodyPr wrap="square">
            <a:spAutoFit/>
          </a:bodyPr>
          <a:lstStyle/>
          <a:p>
            <a:pPr algn="l">
              <a:defRPr sz="800" b="1" i="0">
                <a:solidFill>
                  <a:srgbClr val="9C92B5"/>
                </a:solidFill>
                <a:latin typeface="Segoe UI Semibold"/>
              </a:defRPr>
            </a:pPr>
            <a:r>
              <a:t>CONTACTS REACHED</a:t>
            </a:r>
          </a:p>
        </p:txBody>
      </p:sp>
      <p:sp>
        <p:nvSpPr>
          <p:cNvPr id="24" name="TextBox 23"/>
          <p:cNvSpPr txBox="1"/>
          <p:nvPr/>
        </p:nvSpPr>
        <p:spPr>
          <a:xfrm>
            <a:off x="6263640" y="1764792"/>
            <a:ext cx="2468880" cy="457200"/>
          </a:xfrm>
          <a:prstGeom prst="rect">
            <a:avLst/>
          </a:prstGeom>
          <a:noFill/>
        </p:spPr>
        <p:txBody>
          <a:bodyPr wrap="square">
            <a:spAutoFit/>
          </a:bodyPr>
          <a:lstStyle/>
          <a:p>
            <a:pPr algn="l">
              <a:defRPr sz="2800" b="1" i="0">
                <a:solidFill>
                  <a:srgbClr val="D946EF"/>
                </a:solidFill>
                <a:latin typeface="Segoe UI Light"/>
              </a:defRPr>
            </a:pPr>
            <a:r>
              <a:t>67</a:t>
            </a:r>
          </a:p>
        </p:txBody>
      </p:sp>
      <p:sp>
        <p:nvSpPr>
          <p:cNvPr id="25" name="TextBox 24"/>
          <p:cNvSpPr txBox="1"/>
          <p:nvPr/>
        </p:nvSpPr>
        <p:spPr>
          <a:xfrm>
            <a:off x="6263640" y="2221992"/>
            <a:ext cx="2468880" cy="228600"/>
          </a:xfrm>
          <a:prstGeom prst="rect">
            <a:avLst/>
          </a:prstGeom>
          <a:noFill/>
        </p:spPr>
        <p:txBody>
          <a:bodyPr wrap="square">
            <a:spAutoFit/>
          </a:bodyPr>
          <a:lstStyle/>
          <a:p>
            <a:pPr algn="l">
              <a:defRPr sz="800" b="0" i="0">
                <a:solidFill>
                  <a:srgbClr val="A09CB0"/>
                </a:solidFill>
                <a:latin typeface="Segoe UI"/>
              </a:defRPr>
            </a:pPr>
            <a:r>
              <a:t>5% of influenced pool</a:t>
            </a:r>
          </a:p>
        </p:txBody>
      </p:sp>
      <p:sp>
        <p:nvSpPr>
          <p:cNvPr id="26" name="Rounded Rectangle 25"/>
          <p:cNvSpPr/>
          <p:nvPr/>
        </p:nvSpPr>
        <p:spPr>
          <a:xfrm>
            <a:off x="9052560" y="1417320"/>
            <a:ext cx="2743200" cy="109728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52560" y="1417320"/>
            <a:ext cx="2743200" cy="4572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9720" y="1508760"/>
            <a:ext cx="2468880" cy="228600"/>
          </a:xfrm>
          <a:prstGeom prst="rect">
            <a:avLst/>
          </a:prstGeom>
          <a:noFill/>
        </p:spPr>
        <p:txBody>
          <a:bodyPr wrap="square">
            <a:spAutoFit/>
          </a:bodyPr>
          <a:lstStyle/>
          <a:p>
            <a:pPr algn="l">
              <a:defRPr sz="800" b="1" i="0">
                <a:solidFill>
                  <a:srgbClr val="9C92B5"/>
                </a:solidFill>
                <a:latin typeface="Segoe UI Semibold"/>
              </a:defRPr>
            </a:pPr>
            <a:r>
              <a:t>NOT YET CALLED</a:t>
            </a:r>
          </a:p>
        </p:txBody>
      </p:sp>
      <p:sp>
        <p:nvSpPr>
          <p:cNvPr id="29" name="TextBox 28"/>
          <p:cNvSpPr txBox="1"/>
          <p:nvPr/>
        </p:nvSpPr>
        <p:spPr>
          <a:xfrm>
            <a:off x="9189720" y="1764792"/>
            <a:ext cx="2468880" cy="457200"/>
          </a:xfrm>
          <a:prstGeom prst="rect">
            <a:avLst/>
          </a:prstGeom>
          <a:noFill/>
        </p:spPr>
        <p:txBody>
          <a:bodyPr wrap="square">
            <a:spAutoFit/>
          </a:bodyPr>
          <a:lstStyle/>
          <a:p>
            <a:pPr algn="l">
              <a:defRPr sz="2800" b="1" i="0">
                <a:solidFill>
                  <a:srgbClr val="8B5CF6"/>
                </a:solidFill>
                <a:latin typeface="Segoe UI Light"/>
              </a:defRPr>
            </a:pPr>
            <a:r>
              <a:t>1083</a:t>
            </a:r>
          </a:p>
        </p:txBody>
      </p:sp>
      <p:sp>
        <p:nvSpPr>
          <p:cNvPr id="30" name="TextBox 29"/>
          <p:cNvSpPr txBox="1"/>
          <p:nvPr/>
        </p:nvSpPr>
        <p:spPr>
          <a:xfrm>
            <a:off x="9189720" y="2221992"/>
            <a:ext cx="2468880" cy="228600"/>
          </a:xfrm>
          <a:prstGeom prst="rect">
            <a:avLst/>
          </a:prstGeom>
          <a:noFill/>
        </p:spPr>
        <p:txBody>
          <a:bodyPr wrap="square">
            <a:spAutoFit/>
          </a:bodyPr>
          <a:lstStyle/>
          <a:p>
            <a:pPr algn="l">
              <a:defRPr sz="800" b="0" i="0">
                <a:solidFill>
                  <a:srgbClr val="A09CB0"/>
                </a:solidFill>
                <a:latin typeface="Segoe UI"/>
              </a:defRPr>
            </a:pPr>
            <a:r>
              <a:t>94% available for outreach</a:t>
            </a:r>
          </a:p>
        </p:txBody>
      </p:sp>
      <p:sp>
        <p:nvSpPr>
          <p:cNvPr id="31" name="TextBox 30"/>
          <p:cNvSpPr txBox="1"/>
          <p:nvPr/>
        </p:nvSpPr>
        <p:spPr>
          <a:xfrm>
            <a:off x="457200" y="2743200"/>
            <a:ext cx="4572000" cy="274320"/>
          </a:xfrm>
          <a:prstGeom prst="rect">
            <a:avLst/>
          </a:prstGeom>
          <a:noFill/>
        </p:spPr>
        <p:txBody>
          <a:bodyPr wrap="square">
            <a:spAutoFit/>
          </a:bodyPr>
          <a:lstStyle/>
          <a:p>
            <a:pPr algn="l">
              <a:defRPr sz="1100" b="1" i="0">
                <a:solidFill>
                  <a:srgbClr val="5B21B6"/>
                </a:solidFill>
                <a:latin typeface="Segoe UI Semibold"/>
              </a:defRPr>
            </a:pPr>
            <a:r>
              <a:t>OUTBOUND CALLERS</a:t>
            </a:r>
          </a:p>
        </p:txBody>
      </p:sp>
      <p:sp>
        <p:nvSpPr>
          <p:cNvPr id="32" name="Rectangle 31"/>
          <p:cNvSpPr/>
          <p:nvPr/>
        </p:nvSpPr>
        <p:spPr>
          <a:xfrm>
            <a:off x="457200" y="3017520"/>
            <a:ext cx="18288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3" name="Table 32"/>
          <p:cNvGraphicFramePr>
            <a:graphicFrameLocks noGrp="1"/>
          </p:cNvGraphicFramePr>
          <p:nvPr/>
        </p:nvGraphicFramePr>
        <p:xfrm>
          <a:off x="274320" y="3154680"/>
          <a:ext cx="5120640" cy="4224528"/>
        </p:xfrm>
        <a:graphic>
          <a:graphicData uri="http://schemas.openxmlformats.org/drawingml/2006/table">
            <a:tbl>
              <a:tblPr firstRow="0" bandRow="0" bandCol="0" lastRow="0">
                <a:tableStyleId>{5C22544A-7EE6-4342-B048-85BDC9FD1C3A}</a:tableStyleId>
              </a:tblPr>
              <a:tblGrid>
                <a:gridCol w="1828800"/>
                <a:gridCol w="1097280"/>
                <a:gridCol w="1097280"/>
                <a:gridCol w="1097280"/>
              </a:tblGrid>
              <a:tr h="301752">
                <a:tc>
                  <a:txBody>
                    <a:bodyPr/>
                    <a:lstStyle/>
                    <a:p>
                      <a:pPr algn="l">
                        <a:defRPr sz="900" b="1">
                          <a:solidFill>
                            <a:srgbClr val="FFFFFF"/>
                          </a:solidFill>
                          <a:latin typeface="Segoe UI Semibold"/>
                        </a:defRPr>
                      </a:pPr>
                      <a:r>
                        <a:t>Caller</a:t>
                      </a:r>
                    </a:p>
                  </a:txBody>
                  <a:tcPr anchor="ctr" marL="76200" marR="76200" marT="38100" marB="38100">
                    <a:solidFill>
                      <a:srgbClr val="5B21B6"/>
                    </a:solidFill>
                    <a:lnL w="0">
                      <a:noFill/>
                    </a:lnL>
                    <a:lnR w="0">
                      <a:noFill/>
                    </a:lnR>
                    <a:lnT w="0">
                      <a:noFill/>
                    </a:lnT>
                    <a:lnB w="0">
                      <a:noFill/>
                    </a:lnB>
                  </a:tcPr>
                </a:tc>
                <a:tc>
                  <a:txBody>
                    <a:bodyPr/>
                    <a:lstStyle/>
                    <a:p>
                      <a:pPr algn="r">
                        <a:defRPr sz="900" b="1">
                          <a:solidFill>
                            <a:srgbClr val="FFFFFF"/>
                          </a:solidFill>
                          <a:latin typeface="Segoe UI Semibold"/>
                        </a:defRPr>
                      </a:pPr>
                      <a:r>
                        <a:t>Outbound Calls</a:t>
                      </a:r>
                    </a:p>
                  </a:txBody>
                  <a:tcPr anchor="ctr" marL="76200" marR="76200" marT="38100" marB="38100">
                    <a:solidFill>
                      <a:srgbClr val="5B21B6"/>
                    </a:solidFill>
                    <a:lnL w="0">
                      <a:noFill/>
                    </a:lnL>
                    <a:lnR w="0">
                      <a:noFill/>
                    </a:lnR>
                    <a:lnT w="0">
                      <a:noFill/>
                    </a:lnT>
                    <a:lnB w="0">
                      <a:noFill/>
                    </a:lnB>
                  </a:tcPr>
                </a:tc>
                <a:tc>
                  <a:txBody>
                    <a:bodyPr/>
                    <a:lstStyle/>
                    <a:p>
                      <a:pPr algn="r">
                        <a:defRPr sz="900" b="1">
                          <a:solidFill>
                            <a:srgbClr val="FFFFFF"/>
                          </a:solidFill>
                          <a:latin typeface="Segoe UI Semibold"/>
                        </a:defRPr>
                      </a:pPr>
                      <a:r>
                        <a:t>Contacts</a:t>
                      </a:r>
                    </a:p>
                  </a:txBody>
                  <a:tcPr anchor="ctr" marL="76200" marR="76200" marT="38100" marB="38100">
                    <a:solidFill>
                      <a:srgbClr val="5B21B6"/>
                    </a:solidFill>
                    <a:lnL w="0">
                      <a:noFill/>
                    </a:lnL>
                    <a:lnR w="0">
                      <a:noFill/>
                    </a:lnR>
                    <a:lnT w="0">
                      <a:noFill/>
                    </a:lnT>
                    <a:lnB w="0">
                      <a:noFill/>
                    </a:lnB>
                  </a:tcPr>
                </a:tc>
                <a:tc>
                  <a:txBody>
                    <a:bodyPr/>
                    <a:lstStyle/>
                    <a:p>
                      <a:pPr algn="r">
                        <a:defRPr sz="900" b="1">
                          <a:solidFill>
                            <a:srgbClr val="FFFFFF"/>
                          </a:solidFill>
                          <a:latin typeface="Segoe UI Semibold"/>
                        </a:defRPr>
                      </a:pPr>
                      <a:r>
                        <a:t>Calls/Contact</a:t>
                      </a:r>
                    </a:p>
                  </a:txBody>
                  <a:tcPr anchor="ctr" marL="76200" marR="76200" marT="38100" marB="38100">
                    <a:solidFill>
                      <a:srgbClr val="5B21B6"/>
                    </a:solidFill>
                    <a:lnL w="0">
                      <a:noFill/>
                    </a:lnL>
                    <a:lnR w="0">
                      <a:noFill/>
                    </a:lnR>
                    <a:lnT w="0">
                      <a:noFill/>
                    </a:lnT>
                    <a:lnB w="0">
                      <a:noFill/>
                    </a:lnB>
                  </a:tcPr>
                </a:tc>
              </a:tr>
              <a:tr h="301752">
                <a:tc>
                  <a:txBody>
                    <a:bodyPr/>
                    <a:lstStyle/>
                    <a:p>
                      <a:pPr algn="l">
                        <a:defRPr sz="900" b="1">
                          <a:solidFill>
                            <a:srgbClr val="10B981"/>
                          </a:solidFill>
                          <a:latin typeface="Segoe UI"/>
                        </a:defRPr>
                      </a:pPr>
                      <a:r>
                        <a:t>Dominic Purkett (BDA)</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53</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20</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2.6</a:t>
                      </a:r>
                    </a:p>
                  </a:txBody>
                  <a:tcPr anchor="ctr" marL="76200" marR="76200" marT="38100" marB="38100">
                    <a:noFill/>
                    <a:lnL w="0">
                      <a:noFill/>
                    </a:lnL>
                    <a:lnR w="0">
                      <a:noFill/>
                    </a:lnR>
                    <a:lnT w="0">
                      <a:noFill/>
                    </a:lnT>
                    <a:lnB w="0">
                      <a:noFill/>
                    </a:lnB>
                  </a:tcPr>
                </a:tc>
              </a:tr>
              <a:tr h="301752">
                <a:tc>
                  <a:txBody>
                    <a:bodyPr/>
                    <a:lstStyle/>
                    <a:p>
                      <a:pPr algn="l">
                        <a:defRPr sz="900" b="1">
                          <a:solidFill>
                            <a:srgbClr val="10B981"/>
                          </a:solidFill>
                          <a:latin typeface="Segoe UI"/>
                        </a:defRPr>
                      </a:pPr>
                      <a:r>
                        <a:t>Latoya Madlock (BDA)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22</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16</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1.4</a:t>
                      </a:r>
                    </a:p>
                  </a:txBody>
                  <a:tcPr anchor="ctr" marL="76200" marR="76200" marT="38100" marB="38100">
                    <a:solidFill>
                      <a:srgbClr val="F5F3FF"/>
                    </a:solidFill>
                    <a:lnL w="0">
                      <a:noFill/>
                    </a:lnL>
                    <a:lnR w="0">
                      <a:noFill/>
                    </a:lnR>
                    <a:lnT w="0">
                      <a:noFill/>
                    </a:lnT>
                    <a:lnB w="0">
                      <a:noFill/>
                    </a:lnB>
                  </a:tcPr>
                </a:tc>
              </a:tr>
              <a:tr h="301752">
                <a:tc>
                  <a:txBody>
                    <a:bodyPr/>
                    <a:lstStyle/>
                    <a:p>
                      <a:pPr algn="l">
                        <a:defRPr sz="900" b="1">
                          <a:solidFill>
                            <a:srgbClr val="1E073B"/>
                          </a:solidFill>
                          <a:latin typeface="Segoe UI"/>
                        </a:defRPr>
                      </a:pPr>
                      <a:r>
                        <a:t>Westy McLaughlin</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20</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9</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2.2</a:t>
                      </a:r>
                    </a:p>
                  </a:txBody>
                  <a:tcPr anchor="ctr" marL="76200" marR="76200" marT="38100" marB="38100">
                    <a:noFill/>
                    <a:lnL w="0">
                      <a:noFill/>
                    </a:lnL>
                    <a:lnR w="0">
                      <a:noFill/>
                    </a:lnR>
                    <a:lnT w="0">
                      <a:noFill/>
                    </a:lnT>
                    <a:lnB w="0">
                      <a:noFill/>
                    </a:lnB>
                  </a:tcPr>
                </a:tc>
              </a:tr>
              <a:tr h="301752">
                <a:tc>
                  <a:txBody>
                    <a:bodyPr/>
                    <a:lstStyle/>
                    <a:p>
                      <a:pPr algn="l">
                        <a:defRPr sz="900" b="1">
                          <a:solidFill>
                            <a:srgbClr val="1E073B"/>
                          </a:solidFill>
                          <a:latin typeface="Segoe UI"/>
                        </a:defRPr>
                      </a:pPr>
                      <a:r>
                        <a:t>Cameron Brader</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14</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9</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1.6</a:t>
                      </a:r>
                    </a:p>
                  </a:txBody>
                  <a:tcPr anchor="ctr" marL="76200" marR="76200" marT="38100" marB="38100">
                    <a:solidFill>
                      <a:srgbClr val="F5F3FF"/>
                    </a:solidFill>
                    <a:lnL w="0">
                      <a:noFill/>
                    </a:lnL>
                    <a:lnR w="0">
                      <a:noFill/>
                    </a:lnR>
                    <a:lnT w="0">
                      <a:noFill/>
                    </a:lnT>
                    <a:lnB w="0">
                      <a:noFill/>
                    </a:lnB>
                  </a:tcPr>
                </a:tc>
              </a:tr>
              <a:tr h="301752">
                <a:tc>
                  <a:txBody>
                    <a:bodyPr/>
                    <a:lstStyle/>
                    <a:p>
                      <a:pPr algn="l">
                        <a:defRPr sz="900" b="1">
                          <a:solidFill>
                            <a:srgbClr val="10B981"/>
                          </a:solidFill>
                          <a:latin typeface="Segoe UI"/>
                        </a:defRPr>
                      </a:pPr>
                      <a:r>
                        <a:t>Antonio Reyes (BDA)</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6</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4</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1.5</a:t>
                      </a:r>
                    </a:p>
                  </a:txBody>
                  <a:tcPr anchor="ctr" marL="76200" marR="76200" marT="38100" marB="38100">
                    <a:noFill/>
                    <a:lnL w="0">
                      <a:noFill/>
                    </a:lnL>
                    <a:lnR w="0">
                      <a:noFill/>
                    </a:lnR>
                    <a:lnT w="0">
                      <a:noFill/>
                    </a:lnT>
                    <a:lnB w="0">
                      <a:noFill/>
                    </a:lnB>
                  </a:tcPr>
                </a:tc>
              </a:tr>
              <a:tr h="301752">
                <a:tc>
                  <a:txBody>
                    <a:bodyPr/>
                    <a:lstStyle/>
                    <a:p>
                      <a:pPr algn="l">
                        <a:defRPr sz="900" b="1">
                          <a:solidFill>
                            <a:srgbClr val="1E073B"/>
                          </a:solidFill>
                          <a:latin typeface="Segoe UI"/>
                        </a:defRPr>
                      </a:pPr>
                      <a:r>
                        <a:t>Christina Moldenhauer</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1.3</a:t>
                      </a:r>
                    </a:p>
                  </a:txBody>
                  <a:tcPr anchor="ctr" marL="76200" marR="76200" marT="38100" marB="38100">
                    <a:solidFill>
                      <a:srgbClr val="F5F3FF"/>
                    </a:solidFill>
                    <a:lnL w="0">
                      <a:noFill/>
                    </a:lnL>
                    <a:lnR w="0">
                      <a:noFill/>
                    </a:lnR>
                    <a:lnT w="0">
                      <a:noFill/>
                    </a:lnT>
                    <a:lnB w="0">
                      <a:noFill/>
                    </a:lnB>
                  </a:tcPr>
                </a:tc>
              </a:tr>
              <a:tr h="301752">
                <a:tc>
                  <a:txBody>
                    <a:bodyPr/>
                    <a:lstStyle/>
                    <a:p>
                      <a:pPr algn="l">
                        <a:defRPr sz="900" b="1">
                          <a:solidFill>
                            <a:srgbClr val="1E073B"/>
                          </a:solidFill>
                          <a:latin typeface="Segoe UI"/>
                        </a:defRPr>
                      </a:pPr>
                      <a:r>
                        <a:t>Natalie Hardy</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3</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48</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0.1</a:t>
                      </a:r>
                    </a:p>
                  </a:txBody>
                  <a:tcPr anchor="ctr" marL="76200" marR="76200" marT="38100" marB="38100">
                    <a:noFill/>
                    <a:lnL w="0">
                      <a:noFill/>
                    </a:lnL>
                    <a:lnR w="0">
                      <a:noFill/>
                    </a:lnR>
                    <a:lnT w="0">
                      <a:noFill/>
                    </a:lnT>
                    <a:lnB w="0">
                      <a:noFill/>
                    </a:lnB>
                  </a:tcPr>
                </a:tc>
              </a:tr>
              <a:tr h="301752">
                <a:tc>
                  <a:txBody>
                    <a:bodyPr/>
                    <a:lstStyle/>
                    <a:p>
                      <a:pPr algn="l">
                        <a:defRPr sz="900" b="1">
                          <a:solidFill>
                            <a:srgbClr val="1E073B"/>
                          </a:solidFill>
                          <a:latin typeface="Segoe UI"/>
                        </a:defRPr>
                      </a:pPr>
                      <a:r>
                        <a:t>Mercedes B</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0.8</a:t>
                      </a:r>
                    </a:p>
                  </a:txBody>
                  <a:tcPr anchor="ctr" marL="76200" marR="76200" marT="38100" marB="38100">
                    <a:solidFill>
                      <a:srgbClr val="F5F3FF"/>
                    </a:solidFill>
                    <a:lnL w="0">
                      <a:noFill/>
                    </a:lnL>
                    <a:lnR w="0">
                      <a:noFill/>
                    </a:lnR>
                    <a:lnT w="0">
                      <a:noFill/>
                    </a:lnT>
                    <a:lnB w="0">
                      <a:noFill/>
                    </a:lnB>
                  </a:tcPr>
                </a:tc>
              </a:tr>
              <a:tr h="301752">
                <a:tc>
                  <a:txBody>
                    <a:bodyPr/>
                    <a:lstStyle/>
                    <a:p>
                      <a:pPr algn="l">
                        <a:defRPr sz="900" b="1">
                          <a:solidFill>
                            <a:srgbClr val="1E073B"/>
                          </a:solidFill>
                          <a:latin typeface="Segoe UI"/>
                        </a:defRPr>
                      </a:pPr>
                      <a:r>
                        <a:t>Ron Douglas</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2</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2</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1.0</a:t>
                      </a:r>
                    </a:p>
                  </a:txBody>
                  <a:tcPr anchor="ctr" marL="76200" marR="76200" marT="38100" marB="38100">
                    <a:noFill/>
                    <a:lnL w="0">
                      <a:noFill/>
                    </a:lnL>
                    <a:lnR w="0">
                      <a:noFill/>
                    </a:lnR>
                    <a:lnT w="0">
                      <a:noFill/>
                    </a:lnT>
                    <a:lnB w="0">
                      <a:noFill/>
                    </a:lnB>
                  </a:tcPr>
                </a:tc>
              </a:tr>
              <a:tr h="301752">
                <a:tc>
                  <a:txBody>
                    <a:bodyPr/>
                    <a:lstStyle/>
                    <a:p>
                      <a:pPr algn="l">
                        <a:defRPr sz="900" b="1">
                          <a:solidFill>
                            <a:srgbClr val="1E073B"/>
                          </a:solidFill>
                          <a:latin typeface="Segoe UI"/>
                        </a:defRPr>
                      </a:pPr>
                      <a:r>
                        <a:t>Nicole H</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2.0</a:t>
                      </a:r>
                    </a:p>
                  </a:txBody>
                  <a:tcPr anchor="ctr" marL="76200" marR="76200" marT="38100" marB="38100">
                    <a:solidFill>
                      <a:srgbClr val="F5F3FF"/>
                    </a:solidFill>
                    <a:lnL w="0">
                      <a:noFill/>
                    </a:lnL>
                    <a:lnR w="0">
                      <a:noFill/>
                    </a:lnR>
                    <a:lnT w="0">
                      <a:noFill/>
                    </a:lnT>
                    <a:lnB w="0">
                      <a:noFill/>
                    </a:lnB>
                  </a:tcPr>
                </a:tc>
              </a:tr>
              <a:tr h="301752">
                <a:tc>
                  <a:txBody>
                    <a:bodyPr/>
                    <a:lstStyle/>
                    <a:p>
                      <a:pPr algn="l">
                        <a:defRPr sz="900" b="1">
                          <a:solidFill>
                            <a:srgbClr val="1E073B"/>
                          </a:solidFill>
                          <a:latin typeface="Segoe UI"/>
                        </a:defRPr>
                      </a:pPr>
                      <a:r>
                        <a:t>Derek Janssen</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1.0</a:t>
                      </a:r>
                    </a:p>
                  </a:txBody>
                  <a:tcPr anchor="ctr" marL="76200" marR="76200" marT="38100" marB="38100">
                    <a:noFill/>
                    <a:lnL w="0">
                      <a:noFill/>
                    </a:lnL>
                    <a:lnR w="0">
                      <a:noFill/>
                    </a:lnR>
                    <a:lnT w="0">
                      <a:noFill/>
                    </a:lnT>
                    <a:lnB w="0">
                      <a:noFill/>
                    </a:lnB>
                  </a:tcPr>
                </a:tc>
              </a:tr>
              <a:tr h="301752">
                <a:tc>
                  <a:txBody>
                    <a:bodyPr/>
                    <a:lstStyle/>
                    <a:p>
                      <a:pPr algn="l">
                        <a:defRPr sz="900" b="1">
                          <a:solidFill>
                            <a:srgbClr val="1E073B"/>
                          </a:solidFill>
                          <a:latin typeface="Segoe UI"/>
                        </a:defRPr>
                      </a:pPr>
                      <a:r>
                        <a:t>Derrick Leroy</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1.0</a:t>
                      </a:r>
                    </a:p>
                  </a:txBody>
                  <a:tcPr anchor="ctr" marL="76200" marR="76200" marT="38100" marB="38100">
                    <a:solidFill>
                      <a:srgbClr val="F5F3FF"/>
                    </a:solidFill>
                    <a:lnL w="0">
                      <a:noFill/>
                    </a:lnL>
                    <a:lnR w="0">
                      <a:noFill/>
                    </a:lnR>
                    <a:lnT w="0">
                      <a:noFill/>
                    </a:lnT>
                    <a:lnB w="0">
                      <a:noFill/>
                    </a:lnB>
                  </a:tcPr>
                </a:tc>
              </a:tr>
              <a:tr h="301752">
                <a:tc>
                  <a:txBody>
                    <a:bodyPr/>
                    <a:lstStyle/>
                    <a:p>
                      <a:pPr algn="l">
                        <a:defRPr sz="900" b="1">
                          <a:solidFill>
                            <a:srgbClr val="1E073B"/>
                          </a:solidFill>
                          <a:latin typeface="Segoe UI"/>
                        </a:defRPr>
                      </a:pPr>
                      <a:r>
                        <a:t>Christopher Hayes</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1.0</a:t>
                      </a:r>
                    </a:p>
                  </a:txBody>
                  <a:tcPr anchor="ctr" marL="76200" marR="76200" marT="38100" marB="38100">
                    <a:noFill/>
                    <a:lnL w="0">
                      <a:noFill/>
                    </a:lnL>
                    <a:lnR w="0">
                      <a:noFill/>
                    </a:lnR>
                    <a:lnT w="0">
                      <a:noFill/>
                    </a:lnT>
                    <a:lnB w="0">
                      <a:noFill/>
                    </a:lnB>
                  </a:tcPr>
                </a:tc>
              </a:tr>
            </a:tbl>
          </a:graphicData>
        </a:graphic>
      </p:graphicFrame>
      <p:sp>
        <p:nvSpPr>
          <p:cNvPr id="34" name="TextBox 33"/>
          <p:cNvSpPr txBox="1"/>
          <p:nvPr/>
        </p:nvSpPr>
        <p:spPr>
          <a:xfrm>
            <a:off x="6217920" y="2743200"/>
            <a:ext cx="4572000" cy="274320"/>
          </a:xfrm>
          <a:prstGeom prst="rect">
            <a:avLst/>
          </a:prstGeom>
          <a:noFill/>
        </p:spPr>
        <p:txBody>
          <a:bodyPr wrap="square">
            <a:spAutoFit/>
          </a:bodyPr>
          <a:lstStyle/>
          <a:p>
            <a:pPr algn="l">
              <a:defRPr sz="1100" b="1" i="0">
                <a:solidFill>
                  <a:srgbClr val="5B21B6"/>
                </a:solidFill>
                <a:latin typeface="Segoe UI Semibold"/>
              </a:defRPr>
            </a:pPr>
            <a:r>
              <a:t>CONTACTS RECEIVING OUTBOUND CALLS</a:t>
            </a:r>
          </a:p>
        </p:txBody>
      </p:sp>
      <p:sp>
        <p:nvSpPr>
          <p:cNvPr id="35" name="Rectangle 34"/>
          <p:cNvSpPr/>
          <p:nvPr/>
        </p:nvSpPr>
        <p:spPr>
          <a:xfrm>
            <a:off x="6217920" y="3017520"/>
            <a:ext cx="18288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6" name="Table 35"/>
          <p:cNvGraphicFramePr>
            <a:graphicFrameLocks noGrp="1"/>
          </p:cNvGraphicFramePr>
          <p:nvPr/>
        </p:nvGraphicFramePr>
        <p:xfrm>
          <a:off x="6035040" y="3154680"/>
          <a:ext cx="5303520" cy="3566160"/>
        </p:xfrm>
        <a:graphic>
          <a:graphicData uri="http://schemas.openxmlformats.org/drawingml/2006/table">
            <a:tbl>
              <a:tblPr firstRow="0" bandRow="0" bandCol="0" lastRow="0">
                <a:tableStyleId>{5C22544A-7EE6-4342-B048-85BDC9FD1C3A}</a:tableStyleId>
              </a:tblPr>
              <a:tblGrid>
                <a:gridCol w="2743200"/>
                <a:gridCol w="1280160"/>
                <a:gridCol w="1280160"/>
              </a:tblGrid>
              <a:tr h="274320">
                <a:tc>
                  <a:txBody>
                    <a:bodyPr/>
                    <a:lstStyle/>
                    <a:p>
                      <a:pPr algn="l">
                        <a:defRPr sz="900" b="1">
                          <a:solidFill>
                            <a:srgbClr val="FFFFFF"/>
                          </a:solidFill>
                          <a:latin typeface="Segoe UI Semibold"/>
                        </a:defRPr>
                      </a:pPr>
                      <a:r>
                        <a:t>Contact</a:t>
                      </a:r>
                    </a:p>
                  </a:txBody>
                  <a:tcPr anchor="ctr" marL="76200" marR="76200" marT="38100" marB="38100">
                    <a:solidFill>
                      <a:srgbClr val="5B21B6"/>
                    </a:solidFill>
                    <a:lnL w="0">
                      <a:noFill/>
                    </a:lnL>
                    <a:lnR w="0">
                      <a:noFill/>
                    </a:lnR>
                    <a:lnT w="0">
                      <a:noFill/>
                    </a:lnT>
                    <a:lnB w="0">
                      <a:noFill/>
                    </a:lnB>
                  </a:tcPr>
                </a:tc>
                <a:tc>
                  <a:txBody>
                    <a:bodyPr/>
                    <a:lstStyle/>
                    <a:p>
                      <a:pPr algn="r">
                        <a:defRPr sz="900" b="1">
                          <a:solidFill>
                            <a:srgbClr val="FFFFFF"/>
                          </a:solidFill>
                          <a:latin typeface="Segoe UI Semibold"/>
                        </a:defRPr>
                      </a:pPr>
                      <a:r>
                        <a:t>Outbound Calls</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Status</a:t>
                      </a:r>
                    </a:p>
                  </a:txBody>
                  <a:tcPr anchor="ctr" marL="76200" marR="76200" marT="38100" marB="38100">
                    <a:solidFill>
                      <a:srgbClr val="5B21B6"/>
                    </a:solidFill>
                    <a:lnL w="0">
                      <a:noFill/>
                    </a:lnL>
                    <a:lnR w="0">
                      <a:noFill/>
                    </a:lnR>
                    <a:lnT w="0">
                      <a:noFill/>
                    </a:lnT>
                    <a:lnB w="0">
                      <a:noFill/>
                    </a:lnB>
                  </a:tcPr>
                </a:tc>
              </a:tr>
              <a:tr h="274320">
                <a:tc>
                  <a:txBody>
                    <a:bodyPr/>
                    <a:lstStyle/>
                    <a:p>
                      <a:pPr algn="l">
                        <a:defRPr sz="900" b="1">
                          <a:solidFill>
                            <a:srgbClr val="1E073B"/>
                          </a:solidFill>
                          <a:latin typeface="Segoe UI"/>
                        </a:defRPr>
                      </a:pPr>
                      <a:r>
                        <a:t>No Name Given Ankush</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8</a:t>
                      </a:r>
                    </a:p>
                  </a:txBody>
                  <a:tcPr anchor="ctr" marL="76200" marR="76200" marT="38100" marB="38100">
                    <a:no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noFill/>
                    <a:lnL w="0">
                      <a:noFill/>
                    </a:lnL>
                    <a:lnR w="0">
                      <a:noFill/>
                    </a:lnR>
                    <a:lnT w="0">
                      <a:noFill/>
                    </a:lnT>
                    <a:lnB w="0">
                      <a:noFill/>
                    </a:lnB>
                  </a:tcPr>
                </a:tc>
              </a:tr>
              <a:tr h="274320">
                <a:tc>
                  <a:txBody>
                    <a:bodyPr/>
                    <a:lstStyle/>
                    <a:p>
                      <a:pPr algn="l">
                        <a:defRPr sz="900" b="1">
                          <a:solidFill>
                            <a:srgbClr val="1E073B"/>
                          </a:solidFill>
                          <a:latin typeface="Segoe UI"/>
                        </a:defRPr>
                      </a:pPr>
                      <a:r>
                        <a:t>Shubham Sharma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8</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1E073B"/>
                          </a:solidFill>
                          <a:latin typeface="Segoe UI"/>
                        </a:defRPr>
                      </a:pPr>
                      <a:r>
                        <a:t>Frank Isaacson</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5</a:t>
                      </a:r>
                    </a:p>
                  </a:txBody>
                  <a:tcPr anchor="ctr" marL="76200" marR="76200" marT="38100" marB="38100">
                    <a:no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noFill/>
                    <a:lnL w="0">
                      <a:noFill/>
                    </a:lnL>
                    <a:lnR w="0">
                      <a:noFill/>
                    </a:lnR>
                    <a:lnT w="0">
                      <a:noFill/>
                    </a:lnT>
                    <a:lnB w="0">
                      <a:noFill/>
                    </a:lnB>
                  </a:tcPr>
                </a:tc>
              </a:tr>
              <a:tr h="274320">
                <a:tc>
                  <a:txBody>
                    <a:bodyPr/>
                    <a:lstStyle/>
                    <a:p>
                      <a:pPr algn="l">
                        <a:defRPr sz="900" b="1">
                          <a:solidFill>
                            <a:srgbClr val="1E073B"/>
                          </a:solidFill>
                          <a:latin typeface="Segoe UI"/>
                        </a:defRPr>
                      </a:pPr>
                      <a:r>
                        <a:t>Raul Fernandez</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5</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1E073B"/>
                          </a:solidFill>
                          <a:latin typeface="Segoe UI"/>
                        </a:defRPr>
                      </a:pPr>
                      <a:r>
                        <a:t>Luiza Ter-Abramyan</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5</a:t>
                      </a:r>
                    </a:p>
                  </a:txBody>
                  <a:tcPr anchor="ctr" marL="76200" marR="76200" marT="38100" marB="38100">
                    <a:no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noFill/>
                    <a:lnL w="0">
                      <a:noFill/>
                    </a:lnL>
                    <a:lnR w="0">
                      <a:noFill/>
                    </a:lnR>
                    <a:lnT w="0">
                      <a:noFill/>
                    </a:lnT>
                    <a:lnB w="0">
                      <a:noFill/>
                    </a:lnB>
                  </a:tcPr>
                </a:tc>
              </a:tr>
              <a:tr h="274320">
                <a:tc>
                  <a:txBody>
                    <a:bodyPr/>
                    <a:lstStyle/>
                    <a:p>
                      <a:pPr algn="l">
                        <a:defRPr sz="900" b="1">
                          <a:solidFill>
                            <a:srgbClr val="1E073B"/>
                          </a:solidFill>
                          <a:latin typeface="Segoe UI"/>
                        </a:defRPr>
                      </a:pPr>
                      <a:r>
                        <a:t>William Jennings</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1E073B"/>
                          </a:solidFill>
                          <a:latin typeface="Segoe UI"/>
                        </a:defRPr>
                      </a:pPr>
                      <a:r>
                        <a:t>Jennifer Thompson</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4</a:t>
                      </a:r>
                    </a:p>
                  </a:txBody>
                  <a:tcPr anchor="ctr" marL="76200" marR="76200" marT="38100" marB="38100">
                    <a:no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noFill/>
                    <a:lnL w="0">
                      <a:noFill/>
                    </a:lnL>
                    <a:lnR w="0">
                      <a:noFill/>
                    </a:lnR>
                    <a:lnT w="0">
                      <a:noFill/>
                    </a:lnT>
                    <a:lnB w="0">
                      <a:noFill/>
                    </a:lnB>
                  </a:tcPr>
                </a:tc>
              </a:tr>
              <a:tr h="274320">
                <a:tc>
                  <a:txBody>
                    <a:bodyPr/>
                    <a:lstStyle/>
                    <a:p>
                      <a:pPr algn="l">
                        <a:defRPr sz="900" b="1">
                          <a:solidFill>
                            <a:srgbClr val="1E073B"/>
                          </a:solidFill>
                          <a:latin typeface="Segoe UI"/>
                        </a:defRPr>
                      </a:pPr>
                      <a:r>
                        <a:t>Roger Reyes</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1E073B"/>
                          </a:solidFill>
                          <a:latin typeface="Segoe UI"/>
                        </a:defRPr>
                      </a:pPr>
                      <a:r>
                        <a:t>Rhett Jessop</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3</a:t>
                      </a:r>
                    </a:p>
                  </a:txBody>
                  <a:tcPr anchor="ctr" marL="76200" marR="76200" marT="38100" marB="38100">
                    <a:no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noFill/>
                    <a:lnL w="0">
                      <a:noFill/>
                    </a:lnL>
                    <a:lnR w="0">
                      <a:noFill/>
                    </a:lnR>
                    <a:lnT w="0">
                      <a:noFill/>
                    </a:lnT>
                    <a:lnB w="0">
                      <a:noFill/>
                    </a:lnB>
                  </a:tcPr>
                </a:tc>
              </a:tr>
              <a:tr h="274320">
                <a:tc>
                  <a:txBody>
                    <a:bodyPr/>
                    <a:lstStyle/>
                    <a:p>
                      <a:pPr algn="l">
                        <a:defRPr sz="900" b="1">
                          <a:solidFill>
                            <a:srgbClr val="1E073B"/>
                          </a:solidFill>
                          <a:latin typeface="Segoe UI"/>
                        </a:defRPr>
                      </a:pPr>
                      <a:r>
                        <a:t>Andrew Littlefair</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solidFill>
                      <a:srgbClr val="F5F3FF"/>
                    </a:solidFill>
                    <a:lnL w="0">
                      <a:noFill/>
                    </a:lnL>
                    <a:lnR w="0">
                      <a:noFill/>
                    </a:lnR>
                    <a:lnT w="0">
                      <a:noFill/>
                    </a:lnT>
                    <a:lnB w="0">
                      <a:noFill/>
                    </a:lnB>
                  </a:tcPr>
                </a:tc>
              </a:tr>
              <a:tr h="274320">
                <a:tc>
                  <a:txBody>
                    <a:bodyPr/>
                    <a:lstStyle/>
                    <a:p>
                      <a:pPr algn="l">
                        <a:defRPr sz="900" b="1">
                          <a:solidFill>
                            <a:srgbClr val="1E073B"/>
                          </a:solidFill>
                          <a:latin typeface="Segoe UI"/>
                        </a:defRPr>
                      </a:pPr>
                      <a:r>
                        <a:t>Chase Alcorn</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3</a:t>
                      </a:r>
                    </a:p>
                  </a:txBody>
                  <a:tcPr anchor="ctr" marL="76200" marR="76200" marT="38100" marB="38100">
                    <a:no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noFill/>
                    <a:lnL w="0">
                      <a:noFill/>
                    </a:lnL>
                    <a:lnR w="0">
                      <a:noFill/>
                    </a:lnR>
                    <a:lnT w="0">
                      <a:noFill/>
                    </a:lnT>
                    <a:lnB w="0">
                      <a:noFill/>
                    </a:lnB>
                  </a:tcPr>
                </a:tc>
              </a:tr>
              <a:tr h="274320">
                <a:tc>
                  <a:txBody>
                    <a:bodyPr/>
                    <a:lstStyle/>
                    <a:p>
                      <a:pPr algn="l">
                        <a:defRPr sz="900" b="1">
                          <a:solidFill>
                            <a:srgbClr val="1E073B"/>
                          </a:solidFill>
                          <a:latin typeface="Segoe UI"/>
                        </a:defRPr>
                      </a:pPr>
                      <a:r>
                        <a:t>Katrina Melnic</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l">
                        <a:defRPr sz="900" b="0">
                          <a:solidFill>
                            <a:srgbClr val="10B981"/>
                          </a:solidFill>
                          <a:latin typeface="Segoe UI"/>
                        </a:defRPr>
                      </a:pPr>
                      <a:r>
                        <a:t>Active</a:t>
                      </a:r>
                    </a:p>
                  </a:txBody>
                  <a:tcPr anchor="ctr" marL="76200" marR="76200" marT="38100" marB="38100">
                    <a:solidFill>
                      <a:srgbClr val="F5F3FF"/>
                    </a:solidFill>
                    <a:lnL w="0">
                      <a:noFill/>
                    </a:lnL>
                    <a:lnR w="0">
                      <a:noFill/>
                    </a:lnR>
                    <a:lnT w="0">
                      <a:noFill/>
                    </a:lnT>
                    <a:lnB w="0">
                      <a:noFill/>
                    </a:lnB>
                  </a:tcPr>
                </a:tc>
              </a:tr>
            </a:tbl>
          </a:graphicData>
        </a:graphic>
      </p:graphicFrame>
      <p:sp>
        <p:nvSpPr>
          <p:cNvPr id="37" name="TextBox 36"/>
          <p:cNvSpPr txBox="1"/>
          <p:nvPr/>
        </p:nvSpPr>
        <p:spPr>
          <a:xfrm>
            <a:off x="457200" y="6492240"/>
            <a:ext cx="10972800" cy="274320"/>
          </a:xfrm>
          <a:prstGeom prst="rect">
            <a:avLst/>
          </a:prstGeom>
          <a:noFill/>
        </p:spPr>
        <p:txBody>
          <a:bodyPr wrap="square">
            <a:spAutoFit/>
          </a:bodyPr>
          <a:lstStyle/>
          <a:p>
            <a:pPr algn="l">
              <a:defRPr sz="800" b="1" i="0">
                <a:solidFill>
                  <a:srgbClr val="5B21B6"/>
                </a:solidFill>
                <a:latin typeface="Segoe UI"/>
              </a:defRPr>
            </a:pPr>
            <a:r>
              <a:t>132 outbound calls to 67 contacts  |  Dominic Purkett: 53 calls to 20 contacts  |  Latoya Madlock: 22 calls to 16 contacts  |  1083 contacts not yet called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073B"/>
        </a:solidFill>
        <a:effectLst/>
      </p:bgPr>
    </p:bg>
    <p:spTree>
      <p:nvGrpSpPr>
        <p:cNvPr id="1" name=""/>
        <p:cNvGrpSpPr/>
        <p:nvPr/>
      </p:nvGrpSpPr>
      <p:grpSpPr/>
      <p:sp>
        <p:nvSpPr>
          <p:cNvPr id="2" name="Oval 1"/>
          <p:cNvSpPr/>
          <p:nvPr/>
        </p:nvSpPr>
        <p:spPr>
          <a:xfrm>
            <a:off x="4572000" y="914400"/>
            <a:ext cx="7315200" cy="7315200"/>
          </a:xfrm>
          <a:prstGeom prst="ellipse">
            <a:avLst/>
          </a:prstGeom>
          <a:solidFill>
            <a:srgbClr val="5B21B6">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0" y="2286000"/>
            <a:ext cx="4572000" cy="4572000"/>
          </a:xfrm>
          <a:prstGeom prst="ellipse">
            <a:avLst/>
          </a:prstGeom>
          <a:solidFill>
            <a:srgbClr val="7C3AED">
              <a:alpha val="1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743200"/>
            <a:ext cx="3657600" cy="3657600"/>
          </a:xfrm>
          <a:prstGeom prst="ellipse">
            <a:avLst/>
          </a:prstGeom>
          <a:solidFill>
            <a:srgbClr val="5B21B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743200" y="4572000"/>
            <a:ext cx="2743200" cy="2743200"/>
          </a:xfrm>
          <a:prstGeom prst="ellipse">
            <a:avLst/>
          </a:prstGeom>
          <a:solidFill>
            <a:srgbClr val="D946E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0" y="2560320"/>
            <a:ext cx="219456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743200"/>
            <a:ext cx="11247120" cy="914400"/>
          </a:xfrm>
          <a:prstGeom prst="rect">
            <a:avLst/>
          </a:prstGeom>
          <a:noFill/>
        </p:spPr>
        <p:txBody>
          <a:bodyPr wrap="square">
            <a:spAutoFit/>
          </a:bodyPr>
          <a:lstStyle/>
          <a:p>
            <a:pPr algn="ctr">
              <a:defRPr sz="5200" b="1" i="0">
                <a:solidFill>
                  <a:srgbClr val="FFFFFF"/>
                </a:solidFill>
                <a:latin typeface="Segoe UI Light"/>
              </a:defRPr>
            </a:pPr>
            <a:r>
              <a:t>Thank You</a:t>
            </a:r>
          </a:p>
        </p:txBody>
      </p:sp>
      <p:sp>
        <p:nvSpPr>
          <p:cNvPr id="8" name="TextBox 7"/>
          <p:cNvSpPr txBox="1"/>
          <p:nvPr/>
        </p:nvSpPr>
        <p:spPr>
          <a:xfrm>
            <a:off x="457200" y="3657600"/>
            <a:ext cx="11247120" cy="548640"/>
          </a:xfrm>
          <a:prstGeom prst="rect">
            <a:avLst/>
          </a:prstGeom>
          <a:noFill/>
        </p:spPr>
        <p:txBody>
          <a:bodyPr wrap="square">
            <a:spAutoFit/>
          </a:bodyPr>
          <a:lstStyle/>
          <a:p>
            <a:pPr algn="ctr">
              <a:defRPr sz="1800" b="0" i="0">
                <a:solidFill>
                  <a:srgbClr val="C4B5FD"/>
                </a:solidFill>
                <a:latin typeface="Segoe UI"/>
              </a:defRPr>
            </a:pPr>
            <a:r>
              <a:t>DSG Bound Business  |  2026 Year-to-Date</a:t>
            </a:r>
          </a:p>
        </p:txBody>
      </p:sp>
      <p:sp>
        <p:nvSpPr>
          <p:cNvPr id="9" name="TextBox 8"/>
          <p:cNvSpPr txBox="1"/>
          <p:nvPr/>
        </p:nvSpPr>
        <p:spPr>
          <a:xfrm>
            <a:off x="457200" y="4206240"/>
            <a:ext cx="11247120" cy="457200"/>
          </a:xfrm>
          <a:prstGeom prst="rect">
            <a:avLst/>
          </a:prstGeom>
          <a:noFill/>
        </p:spPr>
        <p:txBody>
          <a:bodyPr wrap="square">
            <a:spAutoFit/>
          </a:bodyPr>
          <a:lstStyle/>
          <a:p>
            <a:pPr algn="ctr">
              <a:defRPr sz="1400" b="0" i="0">
                <a:solidFill>
                  <a:srgbClr val="A78BFA"/>
                </a:solidFill>
                <a:latin typeface="Segoe UI"/>
              </a:defRPr>
            </a:pPr>
            <a:r>
              <a:t>184 Accounts   |   $5.2M GWP   |   $4.6M NWP</a:t>
            </a:r>
          </a:p>
        </p:txBody>
      </p:sp>
      <p:sp>
        <p:nvSpPr>
          <p:cNvPr id="10" name="Rectangle 9"/>
          <p:cNvSpPr/>
          <p:nvPr/>
        </p:nvSpPr>
        <p:spPr>
          <a:xfrm>
            <a:off x="0" y="603504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172200"/>
            <a:ext cx="11247120" cy="365760"/>
          </a:xfrm>
          <a:prstGeom prst="rect">
            <a:avLst/>
          </a:prstGeom>
          <a:noFill/>
        </p:spPr>
        <p:txBody>
          <a:bodyPr wrap="square">
            <a:spAutoFit/>
          </a:bodyPr>
          <a:lstStyle/>
          <a:p>
            <a:pPr algn="ctr">
              <a:defRPr sz="1000" b="0" i="0">
                <a:solidFill>
                  <a:srgbClr val="A09CB0"/>
                </a:solidFill>
                <a:latin typeface="Segoe UI"/>
              </a:defRPr>
            </a:pPr>
            <a:r>
              <a:t>Cover Whale  |  Metabase Analytics  |  HubSpot CRM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CAMPAIGN EFFECTIVENESS</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000" b="0" i="0">
                <a:solidFill>
                  <a:srgbClr val="C4B5FD"/>
                </a:solidFill>
                <a:latin typeface="Segoe UI"/>
              </a:defRPr>
            </a:pPr>
            <a:r>
              <a:t>Growth DSG (32-State Expansion) + Newsletter + Outreach</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371600"/>
            <a:ext cx="5669280" cy="224028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371600"/>
            <a:ext cx="73152" cy="22402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1481328"/>
            <a:ext cx="3474720" cy="256032"/>
          </a:xfrm>
          <a:prstGeom prst="rect">
            <a:avLst/>
          </a:prstGeom>
          <a:noFill/>
        </p:spPr>
        <p:txBody>
          <a:bodyPr wrap="square">
            <a:spAutoFit/>
          </a:bodyPr>
          <a:lstStyle/>
          <a:p>
            <a:pPr algn="l">
              <a:defRPr sz="1100" b="1" i="0">
                <a:solidFill>
                  <a:srgbClr val="2D233F"/>
                </a:solidFill>
                <a:latin typeface="Segoe UI Semibold"/>
              </a:defRPr>
            </a:pPr>
            <a:r>
              <a:t>Did the Process Work?</a:t>
            </a:r>
          </a:p>
        </p:txBody>
      </p:sp>
      <p:sp>
        <p:nvSpPr>
          <p:cNvPr id="14" name="Rounded Rectangle 13"/>
          <p:cNvSpPr/>
          <p:nvPr/>
        </p:nvSpPr>
        <p:spPr>
          <a:xfrm>
            <a:off x="4754880" y="1463040"/>
            <a:ext cx="1005840" cy="274320"/>
          </a:xfrm>
          <a:prstGeom prst="roundRect">
            <a:avLst>
              <a:gd name="adj" fmla="val 10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1463040"/>
            <a:ext cx="1005840" cy="274320"/>
          </a:xfrm>
          <a:prstGeom prst="rect">
            <a:avLst/>
          </a:prstGeom>
          <a:noFill/>
        </p:spPr>
        <p:txBody>
          <a:bodyPr wrap="square">
            <a:spAutoFit/>
          </a:bodyPr>
          <a:lstStyle/>
          <a:p>
            <a:pPr algn="ctr">
              <a:defRPr sz="1000" b="1" i="0">
                <a:solidFill>
                  <a:srgbClr val="FFFFFF"/>
                </a:solidFill>
                <a:latin typeface="Segoe UI Semibold"/>
              </a:defRPr>
            </a:pPr>
            <a:r>
              <a:t>YES</a:t>
            </a:r>
          </a:p>
        </p:txBody>
      </p:sp>
      <p:sp>
        <p:nvSpPr>
          <p:cNvPr id="16" name="Rectangle 15"/>
          <p:cNvSpPr/>
          <p:nvPr/>
        </p:nvSpPr>
        <p:spPr>
          <a:xfrm>
            <a:off x="475488" y="1810512"/>
            <a:ext cx="5266944" cy="13716"/>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 y="1901952"/>
            <a:ext cx="137160" cy="320040"/>
          </a:xfrm>
          <a:prstGeom prst="rect">
            <a:avLst/>
          </a:prstGeom>
          <a:noFill/>
        </p:spPr>
        <p:txBody>
          <a:bodyPr wrap="square">
            <a:spAutoFit/>
          </a:bodyPr>
          <a:lstStyle/>
          <a:p>
            <a:pPr algn="l">
              <a:defRPr sz="900" b="1" i="0">
                <a:solidFill>
                  <a:srgbClr val="10B981"/>
                </a:solidFill>
                <a:latin typeface="Segoe UI"/>
              </a:defRPr>
            </a:pPr>
            <a:r>
              <a:t>•</a:t>
            </a:r>
          </a:p>
        </p:txBody>
      </p:sp>
      <p:sp>
        <p:nvSpPr>
          <p:cNvPr id="18" name="TextBox 17"/>
          <p:cNvSpPr txBox="1"/>
          <p:nvPr/>
        </p:nvSpPr>
        <p:spPr>
          <a:xfrm>
            <a:off x="640080" y="1901952"/>
            <a:ext cx="5074920" cy="320040"/>
          </a:xfrm>
          <a:prstGeom prst="rect">
            <a:avLst/>
          </a:prstGeom>
          <a:noFill/>
        </p:spPr>
        <p:txBody>
          <a:bodyPr wrap="square">
            <a:spAutoFit/>
          </a:bodyPr>
          <a:lstStyle/>
          <a:p>
            <a:pPr algn="l">
              <a:defRPr sz="900" b="0" i="0">
                <a:solidFill>
                  <a:srgbClr val="6B5F83"/>
                </a:solidFill>
                <a:latin typeface="Segoe UI"/>
              </a:defRPr>
            </a:pPr>
            <a:r>
              <a:t>Campaign drove awareness across 32-state DSG expansion (22 new states)</a:t>
            </a:r>
          </a:p>
        </p:txBody>
      </p:sp>
      <p:sp>
        <p:nvSpPr>
          <p:cNvPr id="19" name="TextBox 18"/>
          <p:cNvSpPr txBox="1"/>
          <p:nvPr/>
        </p:nvSpPr>
        <p:spPr>
          <a:xfrm>
            <a:off x="475488" y="2286000"/>
            <a:ext cx="137160" cy="320040"/>
          </a:xfrm>
          <a:prstGeom prst="rect">
            <a:avLst/>
          </a:prstGeom>
          <a:noFill/>
        </p:spPr>
        <p:txBody>
          <a:bodyPr wrap="square">
            <a:spAutoFit/>
          </a:bodyPr>
          <a:lstStyle/>
          <a:p>
            <a:pPr algn="l">
              <a:defRPr sz="900" b="1" i="0">
                <a:solidFill>
                  <a:srgbClr val="10B981"/>
                </a:solidFill>
                <a:latin typeface="Segoe UI"/>
              </a:defRPr>
            </a:pPr>
            <a:r>
              <a:t>•</a:t>
            </a:r>
          </a:p>
        </p:txBody>
      </p:sp>
      <p:sp>
        <p:nvSpPr>
          <p:cNvPr id="20" name="TextBox 19"/>
          <p:cNvSpPr txBox="1"/>
          <p:nvPr/>
        </p:nvSpPr>
        <p:spPr>
          <a:xfrm>
            <a:off x="640080" y="2286000"/>
            <a:ext cx="5074920" cy="320040"/>
          </a:xfrm>
          <a:prstGeom prst="rect">
            <a:avLst/>
          </a:prstGeom>
          <a:noFill/>
        </p:spPr>
        <p:txBody>
          <a:bodyPr wrap="square">
            <a:spAutoFit/>
          </a:bodyPr>
          <a:lstStyle/>
          <a:p>
            <a:pPr algn="l">
              <a:defRPr sz="900" b="0" i="0">
                <a:solidFill>
                  <a:srgbClr val="6B5F83"/>
                </a:solidFill>
                <a:latin typeface="Segoe UI"/>
              </a:defRPr>
            </a:pPr>
            <a:r>
              <a:t>7,297 sent → 2,052 opened (28.8%) → 1,200 influenced → 5 of 16 bound</a:t>
            </a:r>
          </a:p>
        </p:txBody>
      </p:sp>
      <p:sp>
        <p:nvSpPr>
          <p:cNvPr id="21" name="TextBox 20"/>
          <p:cNvSpPr txBox="1"/>
          <p:nvPr/>
        </p:nvSpPr>
        <p:spPr>
          <a:xfrm>
            <a:off x="475488" y="2670048"/>
            <a:ext cx="137160" cy="320040"/>
          </a:xfrm>
          <a:prstGeom prst="rect">
            <a:avLst/>
          </a:prstGeom>
          <a:noFill/>
        </p:spPr>
        <p:txBody>
          <a:bodyPr wrap="square">
            <a:spAutoFit/>
          </a:bodyPr>
          <a:lstStyle/>
          <a:p>
            <a:pPr algn="l">
              <a:defRPr sz="900" b="1" i="0">
                <a:solidFill>
                  <a:srgbClr val="10B981"/>
                </a:solidFill>
                <a:latin typeface="Segoe UI"/>
              </a:defRPr>
            </a:pPr>
            <a:r>
              <a:t>•</a:t>
            </a:r>
          </a:p>
        </p:txBody>
      </p:sp>
      <p:sp>
        <p:nvSpPr>
          <p:cNvPr id="22" name="TextBox 21"/>
          <p:cNvSpPr txBox="1"/>
          <p:nvPr/>
        </p:nvSpPr>
        <p:spPr>
          <a:xfrm>
            <a:off x="640080" y="2670048"/>
            <a:ext cx="5074920" cy="320040"/>
          </a:xfrm>
          <a:prstGeom prst="rect">
            <a:avLst/>
          </a:prstGeom>
          <a:noFill/>
        </p:spPr>
        <p:txBody>
          <a:bodyPr wrap="square">
            <a:spAutoFit/>
          </a:bodyPr>
          <a:lstStyle/>
          <a:p>
            <a:pPr algn="l">
              <a:defRPr sz="900" b="0" i="0">
                <a:solidFill>
                  <a:srgbClr val="6B5F83"/>
                </a:solidFill>
                <a:latin typeface="Segoe UI"/>
              </a:defRPr>
            </a:pPr>
            <a:r>
              <a:t>+74% MoM premium growth (Jan $501K → Feb $873K)</a:t>
            </a:r>
          </a:p>
        </p:txBody>
      </p:sp>
      <p:sp>
        <p:nvSpPr>
          <p:cNvPr id="23" name="TextBox 22"/>
          <p:cNvSpPr txBox="1"/>
          <p:nvPr/>
        </p:nvSpPr>
        <p:spPr>
          <a:xfrm>
            <a:off x="475488" y="3054095"/>
            <a:ext cx="137160" cy="320040"/>
          </a:xfrm>
          <a:prstGeom prst="rect">
            <a:avLst/>
          </a:prstGeom>
          <a:noFill/>
        </p:spPr>
        <p:txBody>
          <a:bodyPr wrap="square">
            <a:spAutoFit/>
          </a:bodyPr>
          <a:lstStyle/>
          <a:p>
            <a:pPr algn="l">
              <a:defRPr sz="900" b="1" i="0">
                <a:solidFill>
                  <a:srgbClr val="10B981"/>
                </a:solidFill>
                <a:latin typeface="Segoe UI"/>
              </a:defRPr>
            </a:pPr>
            <a:r>
              <a:t>•</a:t>
            </a:r>
          </a:p>
        </p:txBody>
      </p:sp>
      <p:sp>
        <p:nvSpPr>
          <p:cNvPr id="24" name="TextBox 23"/>
          <p:cNvSpPr txBox="1"/>
          <p:nvPr/>
        </p:nvSpPr>
        <p:spPr>
          <a:xfrm>
            <a:off x="640080" y="3054095"/>
            <a:ext cx="5074920" cy="320040"/>
          </a:xfrm>
          <a:prstGeom prst="rect">
            <a:avLst/>
          </a:prstGeom>
          <a:noFill/>
        </p:spPr>
        <p:txBody>
          <a:bodyPr wrap="square">
            <a:spAutoFit/>
          </a:bodyPr>
          <a:lstStyle/>
          <a:p>
            <a:pPr algn="l">
              <a:defRPr sz="900" b="0" i="0">
                <a:solidFill>
                  <a:srgbClr val="6B5F83"/>
                </a:solidFill>
                <a:latin typeface="Segoe UI"/>
              </a:defRPr>
            </a:pPr>
            <a:r>
              <a:t>Pipeline converted: 2,552 subs → 1,352 quotes → 36 binds → $1.4M</a:t>
            </a:r>
          </a:p>
        </p:txBody>
      </p:sp>
      <p:sp>
        <p:nvSpPr>
          <p:cNvPr id="25" name="Rounded Rectangle 24"/>
          <p:cNvSpPr/>
          <p:nvPr/>
        </p:nvSpPr>
        <p:spPr>
          <a:xfrm>
            <a:off x="6217920" y="1371600"/>
            <a:ext cx="5669280" cy="224028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17920" y="1371600"/>
            <a:ext cx="73152" cy="22402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9088" y="1481328"/>
            <a:ext cx="3474720" cy="256032"/>
          </a:xfrm>
          <a:prstGeom prst="rect">
            <a:avLst/>
          </a:prstGeom>
          <a:noFill/>
        </p:spPr>
        <p:txBody>
          <a:bodyPr wrap="square">
            <a:spAutoFit/>
          </a:bodyPr>
          <a:lstStyle/>
          <a:p>
            <a:pPr algn="l">
              <a:defRPr sz="1100" b="1" i="0">
                <a:solidFill>
                  <a:srgbClr val="2D233F"/>
                </a:solidFill>
                <a:latin typeface="Segoe UI Semibold"/>
              </a:defRPr>
            </a:pPr>
            <a:r>
              <a:t>Did the Sales Reps Execute?</a:t>
            </a:r>
          </a:p>
        </p:txBody>
      </p:sp>
      <p:sp>
        <p:nvSpPr>
          <p:cNvPr id="28" name="Rounded Rectangle 27"/>
          <p:cNvSpPr/>
          <p:nvPr/>
        </p:nvSpPr>
        <p:spPr>
          <a:xfrm>
            <a:off x="10332720" y="1463040"/>
            <a:ext cx="1371600" cy="274320"/>
          </a:xfrm>
          <a:prstGeom prst="roundRect">
            <a:avLst>
              <a:gd name="adj" fmla="val 1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0" y="1463040"/>
            <a:ext cx="1371600" cy="274320"/>
          </a:xfrm>
          <a:prstGeom prst="rect">
            <a:avLst/>
          </a:prstGeom>
          <a:noFill/>
        </p:spPr>
        <p:txBody>
          <a:bodyPr wrap="square">
            <a:spAutoFit/>
          </a:bodyPr>
          <a:lstStyle/>
          <a:p>
            <a:pPr algn="ctr">
              <a:defRPr sz="1000" b="1" i="0">
                <a:solidFill>
                  <a:srgbClr val="FFFFFF"/>
                </a:solidFill>
                <a:latin typeface="Segoe UI Semibold"/>
              </a:defRPr>
            </a:pPr>
            <a:r>
              <a:t>PARTIALLY</a:t>
            </a:r>
          </a:p>
        </p:txBody>
      </p:sp>
      <p:sp>
        <p:nvSpPr>
          <p:cNvPr id="30" name="Rectangle 29"/>
          <p:cNvSpPr/>
          <p:nvPr/>
        </p:nvSpPr>
        <p:spPr>
          <a:xfrm>
            <a:off x="6419088" y="1810512"/>
            <a:ext cx="5266944" cy="13716"/>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1901952"/>
            <a:ext cx="137160" cy="320040"/>
          </a:xfrm>
          <a:prstGeom prst="rect">
            <a:avLst/>
          </a:prstGeom>
          <a:noFill/>
        </p:spPr>
        <p:txBody>
          <a:bodyPr wrap="square">
            <a:spAutoFit/>
          </a:bodyPr>
          <a:lstStyle/>
          <a:p>
            <a:pPr algn="l">
              <a:defRPr sz="900" b="1" i="0">
                <a:solidFill>
                  <a:srgbClr val="F59E0B"/>
                </a:solidFill>
                <a:latin typeface="Segoe UI"/>
              </a:defRPr>
            </a:pPr>
            <a:r>
              <a:t>•</a:t>
            </a:r>
          </a:p>
        </p:txBody>
      </p:sp>
      <p:sp>
        <p:nvSpPr>
          <p:cNvPr id="32" name="TextBox 31"/>
          <p:cNvSpPr txBox="1"/>
          <p:nvPr/>
        </p:nvSpPr>
        <p:spPr>
          <a:xfrm>
            <a:off x="6583680" y="1901952"/>
            <a:ext cx="5074920" cy="320040"/>
          </a:xfrm>
          <a:prstGeom prst="rect">
            <a:avLst/>
          </a:prstGeom>
          <a:noFill/>
        </p:spPr>
        <p:txBody>
          <a:bodyPr wrap="square">
            <a:spAutoFit/>
          </a:bodyPr>
          <a:lstStyle/>
          <a:p>
            <a:pPr algn="l">
              <a:defRPr sz="900" b="0" i="0">
                <a:solidFill>
                  <a:srgbClr val="6B5F83"/>
                </a:solidFill>
                <a:latin typeface="Segoe UI"/>
              </a:defRPr>
            </a:pPr>
            <a:r>
              <a:t>Only 5 of 22 bound agencies have an assigned BDM — 0 received BDM pre-bind call</a:t>
            </a:r>
          </a:p>
        </p:txBody>
      </p:sp>
      <p:sp>
        <p:nvSpPr>
          <p:cNvPr id="33" name="TextBox 32"/>
          <p:cNvSpPr txBox="1"/>
          <p:nvPr/>
        </p:nvSpPr>
        <p:spPr>
          <a:xfrm>
            <a:off x="6419088" y="2286000"/>
            <a:ext cx="137160" cy="320040"/>
          </a:xfrm>
          <a:prstGeom prst="rect">
            <a:avLst/>
          </a:prstGeom>
          <a:noFill/>
        </p:spPr>
        <p:txBody>
          <a:bodyPr wrap="square">
            <a:spAutoFit/>
          </a:bodyPr>
          <a:lstStyle/>
          <a:p>
            <a:pPr algn="l">
              <a:defRPr sz="900" b="1" i="0">
                <a:solidFill>
                  <a:srgbClr val="F59E0B"/>
                </a:solidFill>
                <a:latin typeface="Segoe UI"/>
              </a:defRPr>
            </a:pPr>
            <a:r>
              <a:t>•</a:t>
            </a:r>
          </a:p>
        </p:txBody>
      </p:sp>
      <p:sp>
        <p:nvSpPr>
          <p:cNvPr id="34" name="TextBox 33"/>
          <p:cNvSpPr txBox="1"/>
          <p:nvPr/>
        </p:nvSpPr>
        <p:spPr>
          <a:xfrm>
            <a:off x="6583680" y="2286000"/>
            <a:ext cx="5074920" cy="320040"/>
          </a:xfrm>
          <a:prstGeom prst="rect">
            <a:avLst/>
          </a:prstGeom>
          <a:noFill/>
        </p:spPr>
        <p:txBody>
          <a:bodyPr wrap="square">
            <a:spAutoFit/>
          </a:bodyPr>
          <a:lstStyle/>
          <a:p>
            <a:pPr algn="l">
              <a:defRPr sz="900" b="0" i="0">
                <a:solidFill>
                  <a:srgbClr val="6B5F83"/>
                </a:solidFill>
                <a:latin typeface="Segoe UI"/>
              </a:defRPr>
            </a:pPr>
            <a:r>
              <a:t>BDMs called non-assigned accounts: Derek Janssen (Telekinesis), Derrick Leroy (Waypoint, Resolute)</a:t>
            </a:r>
          </a:p>
        </p:txBody>
      </p:sp>
      <p:sp>
        <p:nvSpPr>
          <p:cNvPr id="35" name="TextBox 34"/>
          <p:cNvSpPr txBox="1"/>
          <p:nvPr/>
        </p:nvSpPr>
        <p:spPr>
          <a:xfrm>
            <a:off x="6419088" y="2670048"/>
            <a:ext cx="137160" cy="320040"/>
          </a:xfrm>
          <a:prstGeom prst="rect">
            <a:avLst/>
          </a:prstGeom>
          <a:noFill/>
        </p:spPr>
        <p:txBody>
          <a:bodyPr wrap="square">
            <a:spAutoFit/>
          </a:bodyPr>
          <a:lstStyle/>
          <a:p>
            <a:pPr algn="l">
              <a:defRPr sz="900" b="1" i="0">
                <a:solidFill>
                  <a:srgbClr val="F59E0B"/>
                </a:solidFill>
                <a:latin typeface="Segoe UI"/>
              </a:defRPr>
            </a:pPr>
            <a:r>
              <a:t>•</a:t>
            </a:r>
          </a:p>
        </p:txBody>
      </p:sp>
      <p:sp>
        <p:nvSpPr>
          <p:cNvPr id="36" name="TextBox 35"/>
          <p:cNvSpPr txBox="1"/>
          <p:nvPr/>
        </p:nvSpPr>
        <p:spPr>
          <a:xfrm>
            <a:off x="6583680" y="2670048"/>
            <a:ext cx="5074920" cy="320040"/>
          </a:xfrm>
          <a:prstGeom prst="rect">
            <a:avLst/>
          </a:prstGeom>
          <a:noFill/>
        </p:spPr>
        <p:txBody>
          <a:bodyPr wrap="square">
            <a:spAutoFit/>
          </a:bodyPr>
          <a:lstStyle/>
          <a:p>
            <a:pPr algn="l">
              <a:defRPr sz="900" b="0" i="0">
                <a:solidFill>
                  <a:srgbClr val="6B5F83"/>
                </a:solidFill>
                <a:latin typeface="Segoe UI"/>
              </a:defRPr>
            </a:pPr>
            <a:r>
              <a:t>BDA outreach: Dominic Purkett made 53 outbound calls, 4 pre-bind agency touches</a:t>
            </a:r>
          </a:p>
        </p:txBody>
      </p:sp>
      <p:sp>
        <p:nvSpPr>
          <p:cNvPr id="37" name="TextBox 36"/>
          <p:cNvSpPr txBox="1"/>
          <p:nvPr/>
        </p:nvSpPr>
        <p:spPr>
          <a:xfrm>
            <a:off x="6419088" y="3054095"/>
            <a:ext cx="137160" cy="320040"/>
          </a:xfrm>
          <a:prstGeom prst="rect">
            <a:avLst/>
          </a:prstGeom>
          <a:noFill/>
        </p:spPr>
        <p:txBody>
          <a:bodyPr wrap="square">
            <a:spAutoFit/>
          </a:bodyPr>
          <a:lstStyle/>
          <a:p>
            <a:pPr algn="l">
              <a:defRPr sz="900" b="1" i="0">
                <a:solidFill>
                  <a:srgbClr val="F59E0B"/>
                </a:solidFill>
                <a:latin typeface="Segoe UI"/>
              </a:defRPr>
            </a:pPr>
            <a:r>
              <a:t>•</a:t>
            </a:r>
          </a:p>
        </p:txBody>
      </p:sp>
      <p:sp>
        <p:nvSpPr>
          <p:cNvPr id="38" name="TextBox 37"/>
          <p:cNvSpPr txBox="1"/>
          <p:nvPr/>
        </p:nvSpPr>
        <p:spPr>
          <a:xfrm>
            <a:off x="6583680" y="3054095"/>
            <a:ext cx="5074920" cy="320040"/>
          </a:xfrm>
          <a:prstGeom prst="rect">
            <a:avLst/>
          </a:prstGeom>
          <a:noFill/>
        </p:spPr>
        <p:txBody>
          <a:bodyPr wrap="square">
            <a:spAutoFit/>
          </a:bodyPr>
          <a:lstStyle/>
          <a:p>
            <a:pPr algn="l">
              <a:defRPr sz="900" b="0" i="0">
                <a:solidFill>
                  <a:srgbClr val="6B5F83"/>
                </a:solidFill>
                <a:latin typeface="Segoe UI"/>
              </a:defRPr>
            </a:pPr>
            <a:r>
              <a:t>Post-bind follow-up: only 1 agency (Monarca) received post-bind BDA call</a:t>
            </a:r>
          </a:p>
        </p:txBody>
      </p:sp>
      <p:sp>
        <p:nvSpPr>
          <p:cNvPr id="39" name="Rounded Rectangle 38"/>
          <p:cNvSpPr/>
          <p:nvPr/>
        </p:nvSpPr>
        <p:spPr>
          <a:xfrm>
            <a:off x="274320" y="3794760"/>
            <a:ext cx="5669280" cy="224028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74320" y="3794760"/>
            <a:ext cx="73152" cy="22402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 y="3904488"/>
            <a:ext cx="3474720" cy="256032"/>
          </a:xfrm>
          <a:prstGeom prst="rect">
            <a:avLst/>
          </a:prstGeom>
          <a:noFill/>
        </p:spPr>
        <p:txBody>
          <a:bodyPr wrap="square">
            <a:spAutoFit/>
          </a:bodyPr>
          <a:lstStyle/>
          <a:p>
            <a:pPr algn="l">
              <a:defRPr sz="1100" b="1" i="0">
                <a:solidFill>
                  <a:srgbClr val="2D233F"/>
                </a:solidFill>
                <a:latin typeface="Segoe UI Semibold"/>
              </a:defRPr>
            </a:pPr>
            <a:r>
              <a:t>Did We Have the Right Distribution?</a:t>
            </a:r>
          </a:p>
        </p:txBody>
      </p:sp>
      <p:sp>
        <p:nvSpPr>
          <p:cNvPr id="42" name="Rounded Rectangle 41"/>
          <p:cNvSpPr/>
          <p:nvPr/>
        </p:nvSpPr>
        <p:spPr>
          <a:xfrm>
            <a:off x="4754880" y="3886200"/>
            <a:ext cx="1005840" cy="274320"/>
          </a:xfrm>
          <a:prstGeom prst="roundRect">
            <a:avLst>
              <a:gd name="adj" fmla="val 10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4880" y="3886200"/>
            <a:ext cx="1005840" cy="274320"/>
          </a:xfrm>
          <a:prstGeom prst="rect">
            <a:avLst/>
          </a:prstGeom>
          <a:noFill/>
        </p:spPr>
        <p:txBody>
          <a:bodyPr wrap="square">
            <a:spAutoFit/>
          </a:bodyPr>
          <a:lstStyle/>
          <a:p>
            <a:pPr algn="ctr">
              <a:defRPr sz="1000" b="1" i="0">
                <a:solidFill>
                  <a:srgbClr val="FFFFFF"/>
                </a:solidFill>
                <a:latin typeface="Segoe UI Semibold"/>
              </a:defRPr>
            </a:pPr>
            <a:r>
              <a:t>YES</a:t>
            </a:r>
          </a:p>
        </p:txBody>
      </p:sp>
      <p:sp>
        <p:nvSpPr>
          <p:cNvPr id="44" name="Rectangle 43"/>
          <p:cNvSpPr/>
          <p:nvPr/>
        </p:nvSpPr>
        <p:spPr>
          <a:xfrm>
            <a:off x="475488" y="4233672"/>
            <a:ext cx="5266944" cy="13716"/>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75488" y="4325112"/>
            <a:ext cx="137160" cy="320040"/>
          </a:xfrm>
          <a:prstGeom prst="rect">
            <a:avLst/>
          </a:prstGeom>
          <a:noFill/>
        </p:spPr>
        <p:txBody>
          <a:bodyPr wrap="square">
            <a:spAutoFit/>
          </a:bodyPr>
          <a:lstStyle/>
          <a:p>
            <a:pPr algn="l">
              <a:defRPr sz="900" b="1" i="0">
                <a:solidFill>
                  <a:srgbClr val="10B981"/>
                </a:solidFill>
                <a:latin typeface="Segoe UI"/>
              </a:defRPr>
            </a:pPr>
            <a:r>
              <a:t>•</a:t>
            </a:r>
          </a:p>
        </p:txBody>
      </p:sp>
      <p:sp>
        <p:nvSpPr>
          <p:cNvPr id="46" name="TextBox 45"/>
          <p:cNvSpPr txBox="1"/>
          <p:nvPr/>
        </p:nvSpPr>
        <p:spPr>
          <a:xfrm>
            <a:off x="640080" y="4325112"/>
            <a:ext cx="5074920" cy="320040"/>
          </a:xfrm>
          <a:prstGeom prst="rect">
            <a:avLst/>
          </a:prstGeom>
          <a:noFill/>
        </p:spPr>
        <p:txBody>
          <a:bodyPr wrap="square">
            <a:spAutoFit/>
          </a:bodyPr>
          <a:lstStyle/>
          <a:p>
            <a:pPr algn="l">
              <a:defRPr sz="900" b="0" i="0">
                <a:solidFill>
                  <a:srgbClr val="6B5F83"/>
                </a:solidFill>
                <a:latin typeface="Segoe UI"/>
              </a:defRPr>
            </a:pPr>
            <a:r>
              <a:t>13 of 22 bound agents were currently marketable (59%)</a:t>
            </a:r>
          </a:p>
        </p:txBody>
      </p:sp>
      <p:sp>
        <p:nvSpPr>
          <p:cNvPr id="47" name="TextBox 46"/>
          <p:cNvSpPr txBox="1"/>
          <p:nvPr/>
        </p:nvSpPr>
        <p:spPr>
          <a:xfrm>
            <a:off x="475488" y="4709160"/>
            <a:ext cx="137160" cy="320040"/>
          </a:xfrm>
          <a:prstGeom prst="rect">
            <a:avLst/>
          </a:prstGeom>
          <a:noFill/>
        </p:spPr>
        <p:txBody>
          <a:bodyPr wrap="square">
            <a:spAutoFit/>
          </a:bodyPr>
          <a:lstStyle/>
          <a:p>
            <a:pPr algn="l">
              <a:defRPr sz="900" b="1" i="0">
                <a:solidFill>
                  <a:srgbClr val="10B981"/>
                </a:solidFill>
                <a:latin typeface="Segoe UI"/>
              </a:defRPr>
            </a:pPr>
            <a:r>
              <a:t>•</a:t>
            </a:r>
          </a:p>
        </p:txBody>
      </p:sp>
      <p:sp>
        <p:nvSpPr>
          <p:cNvPr id="48" name="TextBox 47"/>
          <p:cNvSpPr txBox="1"/>
          <p:nvPr/>
        </p:nvSpPr>
        <p:spPr>
          <a:xfrm>
            <a:off x="640080" y="4709160"/>
            <a:ext cx="5074920" cy="320040"/>
          </a:xfrm>
          <a:prstGeom prst="rect">
            <a:avLst/>
          </a:prstGeom>
          <a:noFill/>
        </p:spPr>
        <p:txBody>
          <a:bodyPr wrap="square">
            <a:spAutoFit/>
          </a:bodyPr>
          <a:lstStyle/>
          <a:p>
            <a:pPr algn="l">
              <a:defRPr sz="900" b="0" i="0">
                <a:solidFill>
                  <a:srgbClr val="6B5F83"/>
                </a:solidFill>
                <a:latin typeface="Segoe UI"/>
              </a:defRPr>
            </a:pPr>
            <a:r>
              <a:t>47 growth outreach touches across 5 reps targeting 20 new-expansion states</a:t>
            </a:r>
          </a:p>
        </p:txBody>
      </p:sp>
      <p:sp>
        <p:nvSpPr>
          <p:cNvPr id="49" name="TextBox 48"/>
          <p:cNvSpPr txBox="1"/>
          <p:nvPr/>
        </p:nvSpPr>
        <p:spPr>
          <a:xfrm>
            <a:off x="475488" y="5093208"/>
            <a:ext cx="137160" cy="320040"/>
          </a:xfrm>
          <a:prstGeom prst="rect">
            <a:avLst/>
          </a:prstGeom>
          <a:noFill/>
        </p:spPr>
        <p:txBody>
          <a:bodyPr wrap="square">
            <a:spAutoFit/>
          </a:bodyPr>
          <a:lstStyle/>
          <a:p>
            <a:pPr algn="l">
              <a:defRPr sz="900" b="1" i="0">
                <a:solidFill>
                  <a:srgbClr val="10B981"/>
                </a:solidFill>
                <a:latin typeface="Segoe UI"/>
              </a:defRPr>
            </a:pPr>
            <a:r>
              <a:t>•</a:t>
            </a:r>
          </a:p>
        </p:txBody>
      </p:sp>
      <p:sp>
        <p:nvSpPr>
          <p:cNvPr id="50" name="TextBox 49"/>
          <p:cNvSpPr txBox="1"/>
          <p:nvPr/>
        </p:nvSpPr>
        <p:spPr>
          <a:xfrm>
            <a:off x="640080" y="5093208"/>
            <a:ext cx="5074920" cy="320040"/>
          </a:xfrm>
          <a:prstGeom prst="rect">
            <a:avLst/>
          </a:prstGeom>
          <a:noFill/>
        </p:spPr>
        <p:txBody>
          <a:bodyPr wrap="square">
            <a:spAutoFit/>
          </a:bodyPr>
          <a:lstStyle/>
          <a:p>
            <a:pPr algn="l">
              <a:defRPr sz="900" b="0" i="0">
                <a:solidFill>
                  <a:srgbClr val="6B5F83"/>
                </a:solidFill>
                <a:latin typeface="Segoe UI"/>
              </a:defRPr>
            </a:pPr>
            <a:r>
              <a:t>Strong Marsh/MMA national partner engagement driving volume through key verticals</a:t>
            </a:r>
          </a:p>
        </p:txBody>
      </p:sp>
      <p:sp>
        <p:nvSpPr>
          <p:cNvPr id="51" name="TextBox 50"/>
          <p:cNvSpPr txBox="1"/>
          <p:nvPr/>
        </p:nvSpPr>
        <p:spPr>
          <a:xfrm>
            <a:off x="475488" y="5477255"/>
            <a:ext cx="137160" cy="320040"/>
          </a:xfrm>
          <a:prstGeom prst="rect">
            <a:avLst/>
          </a:prstGeom>
          <a:noFill/>
        </p:spPr>
        <p:txBody>
          <a:bodyPr wrap="square">
            <a:spAutoFit/>
          </a:bodyPr>
          <a:lstStyle/>
          <a:p>
            <a:pPr algn="l">
              <a:defRPr sz="900" b="1" i="0">
                <a:solidFill>
                  <a:srgbClr val="10B981"/>
                </a:solidFill>
                <a:latin typeface="Segoe UI"/>
              </a:defRPr>
            </a:pPr>
            <a:r>
              <a:t>•</a:t>
            </a:r>
          </a:p>
        </p:txBody>
      </p:sp>
      <p:sp>
        <p:nvSpPr>
          <p:cNvPr id="52" name="TextBox 51"/>
          <p:cNvSpPr txBox="1"/>
          <p:nvPr/>
        </p:nvSpPr>
        <p:spPr>
          <a:xfrm>
            <a:off x="640080" y="5477255"/>
            <a:ext cx="5074920" cy="320040"/>
          </a:xfrm>
          <a:prstGeom prst="rect">
            <a:avLst/>
          </a:prstGeom>
          <a:noFill/>
        </p:spPr>
        <p:txBody>
          <a:bodyPr wrap="square">
            <a:spAutoFit/>
          </a:bodyPr>
          <a:lstStyle/>
          <a:p>
            <a:pPr algn="l">
              <a:defRPr sz="900" b="0" i="0">
                <a:solidFill>
                  <a:srgbClr val="6B5F83"/>
                </a:solidFill>
                <a:latin typeface="Segoe UI"/>
              </a:defRPr>
            </a:pPr>
            <a:r>
              <a:t>GA, MO, IL, TX, PA generating active pipeline from new-state footprint</a:t>
            </a:r>
          </a:p>
        </p:txBody>
      </p:sp>
      <p:sp>
        <p:nvSpPr>
          <p:cNvPr id="53" name="Rounded Rectangle 52"/>
          <p:cNvSpPr/>
          <p:nvPr/>
        </p:nvSpPr>
        <p:spPr>
          <a:xfrm>
            <a:off x="6217920" y="3794760"/>
            <a:ext cx="5669280" cy="224028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17920" y="3794760"/>
            <a:ext cx="73152" cy="22402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19088" y="3904488"/>
            <a:ext cx="3474720" cy="256032"/>
          </a:xfrm>
          <a:prstGeom prst="rect">
            <a:avLst/>
          </a:prstGeom>
          <a:noFill/>
        </p:spPr>
        <p:txBody>
          <a:bodyPr wrap="square">
            <a:spAutoFit/>
          </a:bodyPr>
          <a:lstStyle/>
          <a:p>
            <a:pPr algn="l">
              <a:defRPr sz="1100" b="1" i="0">
                <a:solidFill>
                  <a:srgbClr val="2D233F"/>
                </a:solidFill>
                <a:latin typeface="Segoe UI Semibold"/>
              </a:defRPr>
            </a:pPr>
            <a:r>
              <a:t>Did We Miss on Distribution or Opportunity?</a:t>
            </a:r>
          </a:p>
        </p:txBody>
      </p:sp>
      <p:sp>
        <p:nvSpPr>
          <p:cNvPr id="56" name="Rounded Rectangle 55"/>
          <p:cNvSpPr/>
          <p:nvPr/>
        </p:nvSpPr>
        <p:spPr>
          <a:xfrm>
            <a:off x="10332720" y="3886200"/>
            <a:ext cx="1371600" cy="274320"/>
          </a:xfrm>
          <a:prstGeom prst="roundRect">
            <a:avLst>
              <a:gd name="adj" fmla="val 1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332720" y="3886200"/>
            <a:ext cx="1371600" cy="274320"/>
          </a:xfrm>
          <a:prstGeom prst="rect">
            <a:avLst/>
          </a:prstGeom>
          <a:noFill/>
        </p:spPr>
        <p:txBody>
          <a:bodyPr wrap="square">
            <a:spAutoFit/>
          </a:bodyPr>
          <a:lstStyle/>
          <a:p>
            <a:pPr algn="ctr">
              <a:defRPr sz="1000" b="1" i="0">
                <a:solidFill>
                  <a:srgbClr val="FFFFFF"/>
                </a:solidFill>
                <a:latin typeface="Segoe UI Semibold"/>
              </a:defRPr>
            </a:pPr>
            <a:r>
              <a:t>YES — GAPS</a:t>
            </a:r>
          </a:p>
        </p:txBody>
      </p:sp>
      <p:sp>
        <p:nvSpPr>
          <p:cNvPr id="58" name="Rectangle 57"/>
          <p:cNvSpPr/>
          <p:nvPr/>
        </p:nvSpPr>
        <p:spPr>
          <a:xfrm>
            <a:off x="6419088" y="4233672"/>
            <a:ext cx="5266944" cy="13716"/>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19088" y="4325112"/>
            <a:ext cx="137160" cy="320040"/>
          </a:xfrm>
          <a:prstGeom prst="rect">
            <a:avLst/>
          </a:prstGeom>
          <a:noFill/>
        </p:spPr>
        <p:txBody>
          <a:bodyPr wrap="square">
            <a:spAutoFit/>
          </a:bodyPr>
          <a:lstStyle/>
          <a:p>
            <a:pPr algn="l">
              <a:defRPr sz="900" b="1" i="0">
                <a:solidFill>
                  <a:srgbClr val="EF4444"/>
                </a:solidFill>
                <a:latin typeface="Segoe UI"/>
              </a:defRPr>
            </a:pPr>
            <a:r>
              <a:t>•</a:t>
            </a:r>
          </a:p>
        </p:txBody>
      </p:sp>
      <p:sp>
        <p:nvSpPr>
          <p:cNvPr id="60" name="TextBox 59"/>
          <p:cNvSpPr txBox="1"/>
          <p:nvPr/>
        </p:nvSpPr>
        <p:spPr>
          <a:xfrm>
            <a:off x="6583680" y="4325112"/>
            <a:ext cx="5074920" cy="320040"/>
          </a:xfrm>
          <a:prstGeom prst="rect">
            <a:avLst/>
          </a:prstGeom>
          <a:noFill/>
        </p:spPr>
        <p:txBody>
          <a:bodyPr wrap="square">
            <a:spAutoFit/>
          </a:bodyPr>
          <a:lstStyle/>
          <a:p>
            <a:pPr algn="l">
              <a:defRPr sz="900" b="0" i="0">
                <a:solidFill>
                  <a:srgbClr val="6B5F83"/>
                </a:solidFill>
                <a:latin typeface="Segoe UI"/>
              </a:defRPr>
            </a:pPr>
            <a:r>
              <a:t>NJ is #1 gap — tri-state agents say more DSG leads there than PA</a:t>
            </a:r>
          </a:p>
        </p:txBody>
      </p:sp>
      <p:sp>
        <p:nvSpPr>
          <p:cNvPr id="61" name="TextBox 60"/>
          <p:cNvSpPr txBox="1"/>
          <p:nvPr/>
        </p:nvSpPr>
        <p:spPr>
          <a:xfrm>
            <a:off x="6419088" y="4709160"/>
            <a:ext cx="137160" cy="320040"/>
          </a:xfrm>
          <a:prstGeom prst="rect">
            <a:avLst/>
          </a:prstGeom>
          <a:noFill/>
        </p:spPr>
        <p:txBody>
          <a:bodyPr wrap="square">
            <a:spAutoFit/>
          </a:bodyPr>
          <a:lstStyle/>
          <a:p>
            <a:pPr algn="l">
              <a:defRPr sz="900" b="1" i="0">
                <a:solidFill>
                  <a:srgbClr val="EF4444"/>
                </a:solidFill>
                <a:latin typeface="Segoe UI"/>
              </a:defRPr>
            </a:pPr>
            <a:r>
              <a:t>•</a:t>
            </a:r>
          </a:p>
        </p:txBody>
      </p:sp>
      <p:sp>
        <p:nvSpPr>
          <p:cNvPr id="62" name="TextBox 61"/>
          <p:cNvSpPr txBox="1"/>
          <p:nvPr/>
        </p:nvSpPr>
        <p:spPr>
          <a:xfrm>
            <a:off x="6583680" y="4709160"/>
            <a:ext cx="5074920" cy="320040"/>
          </a:xfrm>
          <a:prstGeom prst="rect">
            <a:avLst/>
          </a:prstGeom>
          <a:noFill/>
        </p:spPr>
        <p:txBody>
          <a:bodyPr wrap="square">
            <a:spAutoFit/>
          </a:bodyPr>
          <a:lstStyle/>
          <a:p>
            <a:pPr algn="l">
              <a:defRPr sz="900" b="0" i="0">
                <a:solidFill>
                  <a:srgbClr val="6B5F83"/>
                </a:solidFill>
                <a:latin typeface="Segoe UI"/>
              </a:defRPr>
            </a:pPr>
            <a:r>
              <a:t>VA classification issue blocking largest DSG agency from submitting</a:t>
            </a:r>
          </a:p>
        </p:txBody>
      </p:sp>
      <p:sp>
        <p:nvSpPr>
          <p:cNvPr id="63" name="TextBox 62"/>
          <p:cNvSpPr txBox="1"/>
          <p:nvPr/>
        </p:nvSpPr>
        <p:spPr>
          <a:xfrm>
            <a:off x="6419088" y="5093208"/>
            <a:ext cx="137160" cy="320040"/>
          </a:xfrm>
          <a:prstGeom prst="rect">
            <a:avLst/>
          </a:prstGeom>
          <a:noFill/>
        </p:spPr>
        <p:txBody>
          <a:bodyPr wrap="square">
            <a:spAutoFit/>
          </a:bodyPr>
          <a:lstStyle/>
          <a:p>
            <a:pPr algn="l">
              <a:defRPr sz="900" b="1" i="0">
                <a:solidFill>
                  <a:srgbClr val="EF4444"/>
                </a:solidFill>
                <a:latin typeface="Segoe UI"/>
              </a:defRPr>
            </a:pPr>
            <a:r>
              <a:t>•</a:t>
            </a:r>
          </a:p>
        </p:txBody>
      </p:sp>
      <p:sp>
        <p:nvSpPr>
          <p:cNvPr id="64" name="TextBox 63"/>
          <p:cNvSpPr txBox="1"/>
          <p:nvPr/>
        </p:nvSpPr>
        <p:spPr>
          <a:xfrm>
            <a:off x="6583680" y="5093208"/>
            <a:ext cx="5074920" cy="320040"/>
          </a:xfrm>
          <a:prstGeom prst="rect">
            <a:avLst/>
          </a:prstGeom>
          <a:noFill/>
        </p:spPr>
        <p:txBody>
          <a:bodyPr wrap="square">
            <a:spAutoFit/>
          </a:bodyPr>
          <a:lstStyle/>
          <a:p>
            <a:pPr algn="l">
              <a:defRPr sz="900" b="0" i="0">
                <a:solidFill>
                  <a:srgbClr val="6B5F83"/>
                </a:solidFill>
                <a:latin typeface="Segoe UI"/>
              </a:defRPr>
            </a:pPr>
            <a:r>
              <a:t>18-unit TN account may not bind due to dashcam/ELD objection</a:t>
            </a:r>
          </a:p>
        </p:txBody>
      </p:sp>
      <p:sp>
        <p:nvSpPr>
          <p:cNvPr id="65" name="TextBox 64"/>
          <p:cNvSpPr txBox="1"/>
          <p:nvPr/>
        </p:nvSpPr>
        <p:spPr>
          <a:xfrm>
            <a:off x="6419088" y="5477255"/>
            <a:ext cx="137160" cy="320040"/>
          </a:xfrm>
          <a:prstGeom prst="rect">
            <a:avLst/>
          </a:prstGeom>
          <a:noFill/>
        </p:spPr>
        <p:txBody>
          <a:bodyPr wrap="square">
            <a:spAutoFit/>
          </a:bodyPr>
          <a:lstStyle/>
          <a:p>
            <a:pPr algn="l">
              <a:defRPr sz="900" b="1" i="0">
                <a:solidFill>
                  <a:srgbClr val="EF4444"/>
                </a:solidFill>
                <a:latin typeface="Segoe UI"/>
              </a:defRPr>
            </a:pPr>
            <a:r>
              <a:t>•</a:t>
            </a:r>
          </a:p>
        </p:txBody>
      </p:sp>
      <p:sp>
        <p:nvSpPr>
          <p:cNvPr id="66" name="TextBox 65"/>
          <p:cNvSpPr txBox="1"/>
          <p:nvPr/>
        </p:nvSpPr>
        <p:spPr>
          <a:xfrm>
            <a:off x="6583680" y="5477255"/>
            <a:ext cx="5074920" cy="320040"/>
          </a:xfrm>
          <a:prstGeom prst="rect">
            <a:avLst/>
          </a:prstGeom>
          <a:noFill/>
        </p:spPr>
        <p:txBody>
          <a:bodyPr wrap="square">
            <a:spAutoFit/>
          </a:bodyPr>
          <a:lstStyle/>
          <a:p>
            <a:pPr algn="l">
              <a:defRPr sz="900" b="0" i="0">
                <a:solidFill>
                  <a:srgbClr val="6B5F83"/>
                </a:solidFill>
                <a:latin typeface="Segoe UI"/>
              </a:defRPr>
            </a:pPr>
            <a:r>
              <a:t>Large pipeline accounts (25 PU, 20 PU, 19 PU) not yet converted</a:t>
            </a:r>
          </a:p>
        </p:txBody>
      </p:sp>
      <p:sp>
        <p:nvSpPr>
          <p:cNvPr id="67" name="Rectangle 66"/>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69" name="TextBox 68"/>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ASSIGNED REP EXECUTION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000" b="0" i="0">
                <a:solidFill>
                  <a:srgbClr val="C4B5FD"/>
                </a:solidFill>
                <a:latin typeface="Segoe UI"/>
              </a:defRPr>
            </a:pPr>
            <a:r>
              <a:t>Did BDMs &amp; BDAs Call Their Own Bound Accounts?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371600"/>
            <a:ext cx="2743200" cy="50292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371600"/>
            <a:ext cx="54864"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417320"/>
            <a:ext cx="685800" cy="411480"/>
          </a:xfrm>
          <a:prstGeom prst="rect">
            <a:avLst/>
          </a:prstGeom>
          <a:noFill/>
        </p:spPr>
        <p:txBody>
          <a:bodyPr wrap="square">
            <a:spAutoFit/>
          </a:bodyPr>
          <a:lstStyle/>
          <a:p>
            <a:pPr algn="l">
              <a:defRPr sz="1400" b="1" i="0">
                <a:solidFill>
                  <a:srgbClr val="EF4444"/>
                </a:solidFill>
                <a:latin typeface="Segoe UI"/>
              </a:defRPr>
            </a:pPr>
            <a:r>
              <a:t>1 / 16</a:t>
            </a:r>
          </a:p>
        </p:txBody>
      </p:sp>
      <p:sp>
        <p:nvSpPr>
          <p:cNvPr id="14" name="TextBox 13"/>
          <p:cNvSpPr txBox="1"/>
          <p:nvPr/>
        </p:nvSpPr>
        <p:spPr>
          <a:xfrm>
            <a:off x="1143000" y="1417320"/>
            <a:ext cx="1828800" cy="411480"/>
          </a:xfrm>
          <a:prstGeom prst="rect">
            <a:avLst/>
          </a:prstGeom>
          <a:noFill/>
        </p:spPr>
        <p:txBody>
          <a:bodyPr wrap="square">
            <a:spAutoFit/>
          </a:bodyPr>
          <a:lstStyle/>
          <a:p>
            <a:pPr algn="l">
              <a:defRPr sz="800" b="0" i="0">
                <a:solidFill>
                  <a:srgbClr val="6B5F83"/>
                </a:solidFill>
                <a:latin typeface="Segoe UI"/>
              </a:defRPr>
            </a:pPr>
            <a:r>
              <a:t>Assigned BDM</a:t>
            </a:r>
            <a:br/>
            <a:r>
              <a:t>Called Pre-Bind</a:t>
            </a:r>
          </a:p>
        </p:txBody>
      </p:sp>
      <p:sp>
        <p:nvSpPr>
          <p:cNvPr id="15" name="Rounded Rectangle 14"/>
          <p:cNvSpPr/>
          <p:nvPr/>
        </p:nvSpPr>
        <p:spPr>
          <a:xfrm>
            <a:off x="3200400" y="1371600"/>
            <a:ext cx="2743200" cy="50292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00400" y="1371600"/>
            <a:ext cx="54864"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1417320"/>
            <a:ext cx="685800" cy="411480"/>
          </a:xfrm>
          <a:prstGeom prst="rect">
            <a:avLst/>
          </a:prstGeom>
          <a:noFill/>
        </p:spPr>
        <p:txBody>
          <a:bodyPr wrap="square">
            <a:spAutoFit/>
          </a:bodyPr>
          <a:lstStyle/>
          <a:p>
            <a:pPr algn="l">
              <a:defRPr sz="1400" b="1" i="0">
                <a:solidFill>
                  <a:srgbClr val="F59E0B"/>
                </a:solidFill>
                <a:latin typeface="Segoe UI"/>
              </a:defRPr>
            </a:pPr>
            <a:r>
              <a:t>3 / 16</a:t>
            </a:r>
          </a:p>
        </p:txBody>
      </p:sp>
      <p:sp>
        <p:nvSpPr>
          <p:cNvPr id="18" name="TextBox 17"/>
          <p:cNvSpPr txBox="1"/>
          <p:nvPr/>
        </p:nvSpPr>
        <p:spPr>
          <a:xfrm>
            <a:off x="4069080" y="1417320"/>
            <a:ext cx="1828800" cy="411480"/>
          </a:xfrm>
          <a:prstGeom prst="rect">
            <a:avLst/>
          </a:prstGeom>
          <a:noFill/>
        </p:spPr>
        <p:txBody>
          <a:bodyPr wrap="square">
            <a:spAutoFit/>
          </a:bodyPr>
          <a:lstStyle/>
          <a:p>
            <a:pPr algn="l">
              <a:defRPr sz="800" b="0" i="0">
                <a:solidFill>
                  <a:srgbClr val="6B5F83"/>
                </a:solidFill>
                <a:latin typeface="Segoe UI"/>
              </a:defRPr>
            </a:pPr>
            <a:r>
              <a:t>Assigned BDA</a:t>
            </a:r>
            <a:br/>
            <a:r>
              <a:t>Called Pre-Bind</a:t>
            </a:r>
          </a:p>
        </p:txBody>
      </p:sp>
      <p:sp>
        <p:nvSpPr>
          <p:cNvPr id="19" name="Rounded Rectangle 18"/>
          <p:cNvSpPr/>
          <p:nvPr/>
        </p:nvSpPr>
        <p:spPr>
          <a:xfrm>
            <a:off x="6126480" y="1371600"/>
            <a:ext cx="2743200" cy="50292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1371600"/>
            <a:ext cx="54864"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1417320"/>
            <a:ext cx="685800" cy="411480"/>
          </a:xfrm>
          <a:prstGeom prst="rect">
            <a:avLst/>
          </a:prstGeom>
          <a:noFill/>
        </p:spPr>
        <p:txBody>
          <a:bodyPr wrap="square">
            <a:spAutoFit/>
          </a:bodyPr>
          <a:lstStyle/>
          <a:p>
            <a:pPr algn="l">
              <a:defRPr sz="1400" b="1" i="0">
                <a:solidFill>
                  <a:srgbClr val="EF4444"/>
                </a:solidFill>
                <a:latin typeface="Segoe UI"/>
              </a:defRPr>
            </a:pPr>
            <a:r>
              <a:t>0 / 16</a:t>
            </a:r>
          </a:p>
        </p:txBody>
      </p:sp>
      <p:sp>
        <p:nvSpPr>
          <p:cNvPr id="22" name="TextBox 21"/>
          <p:cNvSpPr txBox="1"/>
          <p:nvPr/>
        </p:nvSpPr>
        <p:spPr>
          <a:xfrm>
            <a:off x="6995160" y="1417320"/>
            <a:ext cx="1828800" cy="411480"/>
          </a:xfrm>
          <a:prstGeom prst="rect">
            <a:avLst/>
          </a:prstGeom>
          <a:noFill/>
        </p:spPr>
        <p:txBody>
          <a:bodyPr wrap="square">
            <a:spAutoFit/>
          </a:bodyPr>
          <a:lstStyle/>
          <a:p>
            <a:pPr algn="l">
              <a:defRPr sz="800" b="0" i="0">
                <a:solidFill>
                  <a:srgbClr val="6B5F83"/>
                </a:solidFill>
                <a:latin typeface="Segoe UI"/>
              </a:defRPr>
            </a:pPr>
            <a:r>
              <a:t>Any Assigned Rep</a:t>
            </a:r>
            <a:br/>
            <a:r>
              <a:t>Called Post-Bind</a:t>
            </a:r>
          </a:p>
        </p:txBody>
      </p:sp>
      <p:sp>
        <p:nvSpPr>
          <p:cNvPr id="23" name="Rounded Rectangle 22"/>
          <p:cNvSpPr/>
          <p:nvPr/>
        </p:nvSpPr>
        <p:spPr>
          <a:xfrm>
            <a:off x="9052560" y="1371600"/>
            <a:ext cx="2743200" cy="50292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52560" y="1371600"/>
            <a:ext cx="54864" cy="50292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417320"/>
            <a:ext cx="685800" cy="411480"/>
          </a:xfrm>
          <a:prstGeom prst="rect">
            <a:avLst/>
          </a:prstGeom>
          <a:noFill/>
        </p:spPr>
        <p:txBody>
          <a:bodyPr wrap="square">
            <a:spAutoFit/>
          </a:bodyPr>
          <a:lstStyle/>
          <a:p>
            <a:pPr algn="l">
              <a:defRPr sz="1400" b="1" i="0">
                <a:solidFill>
                  <a:srgbClr val="D946EF"/>
                </a:solidFill>
                <a:latin typeface="Segoe UI"/>
              </a:defRPr>
            </a:pPr>
            <a:r>
              <a:t>8 / 16</a:t>
            </a:r>
          </a:p>
        </p:txBody>
      </p:sp>
      <p:sp>
        <p:nvSpPr>
          <p:cNvPr id="26" name="TextBox 25"/>
          <p:cNvSpPr txBox="1"/>
          <p:nvPr/>
        </p:nvSpPr>
        <p:spPr>
          <a:xfrm>
            <a:off x="9921240" y="1417320"/>
            <a:ext cx="1828800" cy="411480"/>
          </a:xfrm>
          <a:prstGeom prst="rect">
            <a:avLst/>
          </a:prstGeom>
          <a:noFill/>
        </p:spPr>
        <p:txBody>
          <a:bodyPr wrap="square">
            <a:spAutoFit/>
          </a:bodyPr>
          <a:lstStyle/>
          <a:p>
            <a:pPr algn="l">
              <a:defRPr sz="800" b="0" i="0">
                <a:solidFill>
                  <a:srgbClr val="6B5F83"/>
                </a:solidFill>
                <a:latin typeface="Segoe UI"/>
              </a:defRPr>
            </a:pPr>
            <a:r>
              <a:t>No Calls</a:t>
            </a:r>
            <a:br/>
            <a:r>
              <a:t>At All</a:t>
            </a:r>
          </a:p>
        </p:txBody>
      </p:sp>
      <p:graphicFrame>
        <p:nvGraphicFramePr>
          <p:cNvPr id="27" name="Table 26"/>
          <p:cNvGraphicFramePr>
            <a:graphicFrameLocks noGrp="1"/>
          </p:cNvGraphicFramePr>
          <p:nvPr/>
        </p:nvGraphicFramePr>
        <p:xfrm>
          <a:off x="137160" y="2057400"/>
          <a:ext cx="8732520" cy="3497580"/>
        </p:xfrm>
        <a:graphic>
          <a:graphicData uri="http://schemas.openxmlformats.org/drawingml/2006/table">
            <a:tbl>
              <a:tblPr firstRow="0" bandRow="0" bandCol="0" lastRow="0">
                <a:tableStyleId>{5C22544A-7EE6-4342-B048-85BDC9FD1C3A}</a:tableStyleId>
              </a:tblPr>
              <a:tblGrid>
                <a:gridCol w="1234440"/>
                <a:gridCol w="1234440"/>
                <a:gridCol w="502920"/>
                <a:gridCol w="502920"/>
                <a:gridCol w="1325880"/>
                <a:gridCol w="1325880"/>
                <a:gridCol w="594360"/>
                <a:gridCol w="594360"/>
                <a:gridCol w="1417320"/>
              </a:tblGrid>
              <a:tr h="205740">
                <a:tc>
                  <a:txBody>
                    <a:bodyPr/>
                    <a:lstStyle/>
                    <a:p>
                      <a:pPr algn="l">
                        <a:defRPr sz="700" b="1">
                          <a:solidFill>
                            <a:srgbClr val="FFFFFF"/>
                          </a:solidFill>
                          <a:latin typeface="Segoe UI Semibold"/>
                        </a:defRPr>
                      </a:pPr>
                      <a:r>
                        <a:t>Insured</a:t>
                      </a:r>
                    </a:p>
                  </a:txBody>
                  <a:tcPr anchor="ctr" marL="76200" marR="76200" marT="38100" marB="38100">
                    <a:solidFill>
                      <a:srgbClr val="5B21B6"/>
                    </a:solidFill>
                    <a:lnL w="0">
                      <a:noFill/>
                    </a:lnL>
                    <a:lnR w="0">
                      <a:noFill/>
                    </a:lnR>
                    <a:lnT w="0">
                      <a:noFill/>
                    </a:lnT>
                    <a:lnB w="0">
                      <a:noFill/>
                    </a:lnB>
                  </a:tcPr>
                </a:tc>
                <a:tc>
                  <a:txBody>
                    <a:bodyPr/>
                    <a:lstStyle/>
                    <a:p>
                      <a:pPr algn="l">
                        <a:defRPr sz="7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l">
                        <a:defRPr sz="700" b="1">
                          <a:solidFill>
                            <a:srgbClr val="FFFFFF"/>
                          </a:solidFill>
                          <a:latin typeface="Segoe UI Semibold"/>
                        </a:defRPr>
                      </a:pPr>
                      <a:r>
                        <a:t>Bind</a:t>
                      </a:r>
                    </a:p>
                  </a:txBody>
                  <a:tcPr anchor="ctr" marL="76200" marR="76200" marT="38100" marB="38100">
                    <a:solidFill>
                      <a:srgbClr val="5B21B6"/>
                    </a:solidFill>
                    <a:lnL w="0">
                      <a:noFill/>
                    </a:lnL>
                    <a:lnR w="0">
                      <a:noFill/>
                    </a:lnR>
                    <a:lnT w="0">
                      <a:noFill/>
                    </a:lnT>
                    <a:lnB w="0">
                      <a:noFill/>
                    </a:lnB>
                  </a:tcPr>
                </a:tc>
                <a:tc>
                  <a:txBody>
                    <a:bodyPr/>
                    <a:lstStyle/>
                    <a:p>
                      <a:pPr algn="l">
                        <a:defRPr sz="7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c>
                  <a:txBody>
                    <a:bodyPr/>
                    <a:lstStyle/>
                    <a:p>
                      <a:pPr algn="l">
                        <a:defRPr sz="700" b="1">
                          <a:solidFill>
                            <a:srgbClr val="FFFFFF"/>
                          </a:solidFill>
                          <a:latin typeface="Segoe UI Semibold"/>
                        </a:defRPr>
                      </a:pPr>
                      <a:r>
                        <a:t>Assigned BDM</a:t>
                      </a:r>
                    </a:p>
                  </a:txBody>
                  <a:tcPr anchor="ctr" marL="76200" marR="76200" marT="38100" marB="38100">
                    <a:solidFill>
                      <a:srgbClr val="5B21B6"/>
                    </a:solidFill>
                    <a:lnL w="0">
                      <a:noFill/>
                    </a:lnL>
                    <a:lnR w="0">
                      <a:noFill/>
                    </a:lnR>
                    <a:lnT w="0">
                      <a:noFill/>
                    </a:lnT>
                    <a:lnB w="0">
                      <a:noFill/>
                    </a:lnB>
                  </a:tcPr>
                </a:tc>
                <a:tc>
                  <a:txBody>
                    <a:bodyPr/>
                    <a:lstStyle/>
                    <a:p>
                      <a:pPr algn="l">
                        <a:defRPr sz="700" b="1">
                          <a:solidFill>
                            <a:srgbClr val="FFFFFF"/>
                          </a:solidFill>
                          <a:latin typeface="Segoe UI Semibold"/>
                        </a:defRPr>
                      </a:pPr>
                      <a:r>
                        <a:t>Assigned BDA</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BDM</a:t>
                      </a:r>
                      <a:br/>
                      <a:r>
                        <a:t>Called?</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BDA</a:t>
                      </a:r>
                      <a:br/>
                      <a:r>
                        <a:t>Called?</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Other Caller</a:t>
                      </a:r>
                    </a:p>
                  </a:txBody>
                  <a:tcPr anchor="ctr" marL="76200" marR="76200" marT="38100" marB="38100">
                    <a:solidFill>
                      <a:srgbClr val="5B21B6"/>
                    </a:solidFill>
                    <a:lnL w="0">
                      <a:noFill/>
                    </a:lnL>
                    <a:lnR w="0">
                      <a:noFill/>
                    </a:lnR>
                    <a:lnT w="0">
                      <a:noFill/>
                    </a:lnT>
                    <a:lnB w="0">
                      <a:noFill/>
                    </a:lnB>
                  </a:tcPr>
                </a:tc>
              </a:tr>
              <a:tr h="205740">
                <a:tc>
                  <a:txBody>
                    <a:bodyPr/>
                    <a:lstStyle/>
                    <a:p>
                      <a:pPr algn="l">
                        <a:defRPr sz="700" b="1">
                          <a:solidFill>
                            <a:srgbClr val="1E073B"/>
                          </a:solidFill>
                          <a:latin typeface="Segoe UI"/>
                        </a:defRPr>
                      </a:pPr>
                      <a:r>
                        <a:t>Guillen Trucking</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Safeline Ins.</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01/28</a:t>
                      </a:r>
                    </a:p>
                  </a:txBody>
                  <a:tcPr anchor="ctr" marL="76200" marR="76200" marT="38100" marB="38100">
                    <a:noFill/>
                    <a:lnL w="0">
                      <a:noFill/>
                    </a:lnL>
                    <a:lnR w="0">
                      <a:noFill/>
                    </a:lnR>
                    <a:lnT w="0">
                      <a:noFill/>
                    </a:lnT>
                    <a:lnB w="0">
                      <a:noFill/>
                    </a:lnB>
                  </a:tcPr>
                </a:tc>
                <a:tc>
                  <a:txBody>
                    <a:bodyPr/>
                    <a:lstStyle/>
                    <a:p>
                      <a:pPr algn="ctr">
                        <a:defRPr sz="700" b="1">
                          <a:solidFill>
                            <a:srgbClr val="2D233F"/>
                          </a:solidFill>
                          <a:latin typeface="Segoe UI"/>
                        </a:defRPr>
                      </a:pPr>
                      <a:r>
                        <a:t>$136K</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Derek Janssen</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Dominic Purkett</a:t>
                      </a:r>
                    </a:p>
                  </a:txBody>
                  <a:tcPr anchor="ctr" marL="76200" marR="76200" marT="38100" marB="38100">
                    <a:no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noFill/>
                    <a:lnL w="0">
                      <a:noFill/>
                    </a:lnL>
                    <a:lnR w="0">
                      <a:noFill/>
                    </a:lnR>
                    <a:lnT w="0">
                      <a:noFill/>
                    </a:lnT>
                    <a:lnB w="0">
                      <a:noFill/>
                    </a:lnB>
                  </a:tcPr>
                </a:tc>
              </a:tr>
              <a:tr h="205740">
                <a:tc>
                  <a:txBody>
                    <a:bodyPr/>
                    <a:lstStyle/>
                    <a:p>
                      <a:pPr algn="l">
                        <a:defRPr sz="700" b="1">
                          <a:solidFill>
                            <a:srgbClr val="1E073B"/>
                          </a:solidFill>
                          <a:latin typeface="Segoe UI"/>
                        </a:defRPr>
                      </a:pPr>
                      <a:r>
                        <a:t>Rogo Enterprise</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Exclusive Financial</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02/04</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2D233F"/>
                          </a:solidFill>
                          <a:latin typeface="Segoe UI"/>
                        </a:defRPr>
                      </a:pPr>
                      <a:r>
                        <a:t>$41K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Christopher Hayes</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solidFill>
                      <a:srgbClr val="F5F3FF"/>
                    </a:solidFill>
                    <a:lnL w="0">
                      <a:noFill/>
                    </a:lnL>
                    <a:lnR w="0">
                      <a:noFill/>
                    </a:lnR>
                    <a:lnT w="0">
                      <a:noFill/>
                    </a:lnT>
                    <a:lnB w="0">
                      <a:noFill/>
                    </a:lnB>
                  </a:tcPr>
                </a:tc>
              </a:tr>
              <a:tr h="205740">
                <a:tc>
                  <a:txBody>
                    <a:bodyPr/>
                    <a:lstStyle/>
                    <a:p>
                      <a:pPr algn="l">
                        <a:defRPr sz="700" b="1">
                          <a:solidFill>
                            <a:srgbClr val="1E073B"/>
                          </a:solidFill>
                          <a:latin typeface="Segoe UI"/>
                        </a:defRPr>
                      </a:pPr>
                      <a:r>
                        <a:t>Quinones Trucking</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DNIS Inc.</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02/04</a:t>
                      </a:r>
                    </a:p>
                  </a:txBody>
                  <a:tcPr anchor="ctr" marL="76200" marR="76200" marT="38100" marB="38100">
                    <a:noFill/>
                    <a:lnL w="0">
                      <a:noFill/>
                    </a:lnL>
                    <a:lnR w="0">
                      <a:noFill/>
                    </a:lnR>
                    <a:lnT w="0">
                      <a:noFill/>
                    </a:lnT>
                    <a:lnB w="0">
                      <a:noFill/>
                    </a:lnB>
                  </a:tcPr>
                </a:tc>
                <a:tc>
                  <a:txBody>
                    <a:bodyPr/>
                    <a:lstStyle/>
                    <a:p>
                      <a:pPr algn="ctr">
                        <a:defRPr sz="700" b="1">
                          <a:solidFill>
                            <a:srgbClr val="2D233F"/>
                          </a:solidFill>
                          <a:latin typeface="Segoe UI"/>
                        </a:defRPr>
                      </a:pPr>
                      <a:r>
                        <a:t>$19K</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700" b="0">
                          <a:solidFill>
                            <a:srgbClr val="7C3AED"/>
                          </a:solidFill>
                          <a:latin typeface="Segoe UI"/>
                        </a:defRPr>
                      </a:pPr>
                      <a:r>
                        <a:t>C. Hayes, L. Madlock</a:t>
                      </a:r>
                    </a:p>
                  </a:txBody>
                  <a:tcPr anchor="ctr" marL="76200" marR="76200" marT="38100" marB="38100">
                    <a:noFill/>
                    <a:lnL w="0">
                      <a:noFill/>
                    </a:lnL>
                    <a:lnR w="0">
                      <a:noFill/>
                    </a:lnR>
                    <a:lnT w="0">
                      <a:noFill/>
                    </a:lnT>
                    <a:lnB w="0">
                      <a:noFill/>
                    </a:lnB>
                  </a:tcPr>
                </a:tc>
              </a:tr>
              <a:tr h="205740">
                <a:tc>
                  <a:txBody>
                    <a:bodyPr/>
                    <a:lstStyle/>
                    <a:p>
                      <a:pPr algn="l">
                        <a:defRPr sz="700" b="1">
                          <a:solidFill>
                            <a:srgbClr val="1E073B"/>
                          </a:solidFill>
                          <a:latin typeface="Segoe UI"/>
                        </a:defRPr>
                      </a:pPr>
                      <a:r>
                        <a:t>Logistics Plus</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Western Truck Ins.</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02/06</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2D233F"/>
                          </a:solidFill>
                          <a:latin typeface="Segoe UI"/>
                        </a:defRPr>
                      </a:pPr>
                      <a:r>
                        <a:t>$23K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George S.</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Dominic Purkett</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YES</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7C3AED"/>
                          </a:solidFill>
                          <a:latin typeface="Segoe UI"/>
                        </a:defRPr>
                      </a:pPr>
                      <a:r>
                        <a:t>Derek Janssen</a:t>
                      </a:r>
                    </a:p>
                  </a:txBody>
                  <a:tcPr anchor="ctr" marL="76200" marR="76200" marT="38100" marB="38100">
                    <a:solidFill>
                      <a:srgbClr val="F5F3FF"/>
                    </a:solidFill>
                    <a:lnL w="0">
                      <a:noFill/>
                    </a:lnL>
                    <a:lnR w="0">
                      <a:noFill/>
                    </a:lnR>
                    <a:lnT w="0">
                      <a:noFill/>
                    </a:lnT>
                    <a:lnB w="0">
                      <a:noFill/>
                    </a:lnB>
                  </a:tcPr>
                </a:tc>
              </a:tr>
              <a:tr h="205740">
                <a:tc>
                  <a:txBody>
                    <a:bodyPr/>
                    <a:lstStyle/>
                    <a:p>
                      <a:pPr algn="l">
                        <a:defRPr sz="700" b="1">
                          <a:solidFill>
                            <a:srgbClr val="1E073B"/>
                          </a:solidFill>
                          <a:latin typeface="Segoe UI"/>
                        </a:defRPr>
                      </a:pPr>
                      <a:r>
                        <a:t>Big &amp; Tough Truckers</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Waypoint Agency</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02/13</a:t>
                      </a:r>
                    </a:p>
                  </a:txBody>
                  <a:tcPr anchor="ctr" marL="76200" marR="76200" marT="38100" marB="38100">
                    <a:noFill/>
                    <a:lnL w="0">
                      <a:noFill/>
                    </a:lnL>
                    <a:lnR w="0">
                      <a:noFill/>
                    </a:lnR>
                    <a:lnT w="0">
                      <a:noFill/>
                    </a:lnT>
                    <a:lnB w="0">
                      <a:noFill/>
                    </a:lnB>
                  </a:tcPr>
                </a:tc>
                <a:tc>
                  <a:txBody>
                    <a:bodyPr/>
                    <a:lstStyle/>
                    <a:p>
                      <a:pPr algn="ctr">
                        <a:defRPr sz="700" b="1">
                          <a:solidFill>
                            <a:srgbClr val="2D233F"/>
                          </a:solidFill>
                          <a:latin typeface="Segoe UI"/>
                        </a:defRPr>
                      </a:pPr>
                      <a:r>
                        <a:t>$26K</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Ron Douglas</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700" b="0">
                          <a:solidFill>
                            <a:srgbClr val="7C3AED"/>
                          </a:solidFill>
                          <a:latin typeface="Segoe UI"/>
                        </a:defRPr>
                      </a:pPr>
                      <a:r>
                        <a:t>Derrick, Latoya</a:t>
                      </a:r>
                    </a:p>
                  </a:txBody>
                  <a:tcPr anchor="ctr" marL="76200" marR="76200" marT="38100" marB="38100">
                    <a:noFill/>
                    <a:lnL w="0">
                      <a:noFill/>
                    </a:lnL>
                    <a:lnR w="0">
                      <a:noFill/>
                    </a:lnR>
                    <a:lnT w="0">
                      <a:noFill/>
                    </a:lnT>
                    <a:lnB w="0">
                      <a:noFill/>
                    </a:lnB>
                  </a:tcPr>
                </a:tc>
              </a:tr>
              <a:tr h="205740">
                <a:tc>
                  <a:txBody>
                    <a:bodyPr/>
                    <a:lstStyle/>
                    <a:p>
                      <a:pPr algn="l">
                        <a:defRPr sz="700" b="1">
                          <a:solidFill>
                            <a:srgbClr val="1E073B"/>
                          </a:solidFill>
                          <a:latin typeface="Segoe UI"/>
                        </a:defRPr>
                      </a:pPr>
                      <a:r>
                        <a:t>Justin D. Dupree</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Combined Ins.</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02/17</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2D233F"/>
                          </a:solidFill>
                          <a:latin typeface="Segoe UI"/>
                        </a:defRPr>
                      </a:pPr>
                      <a:r>
                        <a:t>$11K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Cameron Brader</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YES</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r>
              <a:tr h="205740">
                <a:tc>
                  <a:txBody>
                    <a:bodyPr/>
                    <a:lstStyle/>
                    <a:p>
                      <a:pPr algn="l">
                        <a:defRPr sz="700" b="1">
                          <a:solidFill>
                            <a:srgbClr val="1E073B"/>
                          </a:solidFill>
                          <a:latin typeface="Segoe UI"/>
                        </a:defRPr>
                      </a:pPr>
                      <a:r>
                        <a:t>Zeus Transport</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Insurance4Truckers</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02/18</a:t>
                      </a:r>
                    </a:p>
                  </a:txBody>
                  <a:tcPr anchor="ctr" marL="76200" marR="76200" marT="38100" marB="38100">
                    <a:noFill/>
                    <a:lnL w="0">
                      <a:noFill/>
                    </a:lnL>
                    <a:lnR w="0">
                      <a:noFill/>
                    </a:lnR>
                    <a:lnT w="0">
                      <a:noFill/>
                    </a:lnT>
                    <a:lnB w="0">
                      <a:noFill/>
                    </a:lnB>
                  </a:tcPr>
                </a:tc>
                <a:tc>
                  <a:txBody>
                    <a:bodyPr/>
                    <a:lstStyle/>
                    <a:p>
                      <a:pPr algn="ctr">
                        <a:defRPr sz="700" b="1">
                          <a:solidFill>
                            <a:srgbClr val="2D233F"/>
                          </a:solidFill>
                          <a:latin typeface="Segoe UI"/>
                        </a:defRPr>
                      </a:pPr>
                      <a:r>
                        <a:t>$21K</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Ron Douglas</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noFill/>
                    <a:lnL w="0">
                      <a:noFill/>
                    </a:lnL>
                    <a:lnR w="0">
                      <a:noFill/>
                    </a:lnR>
                    <a:lnT w="0">
                      <a:noFill/>
                    </a:lnT>
                    <a:lnB w="0">
                      <a:noFill/>
                    </a:lnB>
                  </a:tcPr>
                </a:tc>
              </a:tr>
              <a:tr h="205740">
                <a:tc>
                  <a:txBody>
                    <a:bodyPr/>
                    <a:lstStyle/>
                    <a:p>
                      <a:pPr algn="l">
                        <a:defRPr sz="700" b="1">
                          <a:solidFill>
                            <a:srgbClr val="1E073B"/>
                          </a:solidFill>
                          <a:latin typeface="Segoe UI"/>
                        </a:defRPr>
                      </a:pPr>
                      <a:r>
                        <a:t>Big Boss Trucking</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R-T Specialty</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02/18</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2D233F"/>
                          </a:solidFill>
                          <a:latin typeface="Segoe UI"/>
                        </a:defRPr>
                      </a:pPr>
                      <a:r>
                        <a:t>$8K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James Reid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Latoya Madlock</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solidFill>
                      <a:srgbClr val="F5F3FF"/>
                    </a:solidFill>
                    <a:lnL w="0">
                      <a:noFill/>
                    </a:lnL>
                    <a:lnR w="0">
                      <a:noFill/>
                    </a:lnR>
                    <a:lnT w="0">
                      <a:noFill/>
                    </a:lnT>
                    <a:lnB w="0">
                      <a:noFill/>
                    </a:lnB>
                  </a:tcPr>
                </a:tc>
              </a:tr>
              <a:tr h="205740">
                <a:tc>
                  <a:txBody>
                    <a:bodyPr/>
                    <a:lstStyle/>
                    <a:p>
                      <a:pPr algn="l">
                        <a:defRPr sz="700" b="1">
                          <a:solidFill>
                            <a:srgbClr val="1E073B"/>
                          </a:solidFill>
                          <a:latin typeface="Segoe UI"/>
                        </a:defRPr>
                      </a:pPr>
                      <a:r>
                        <a:t>R Pace Transport</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Monarca Trucking</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02/18</a:t>
                      </a:r>
                    </a:p>
                  </a:txBody>
                  <a:tcPr anchor="ctr" marL="76200" marR="76200" marT="38100" marB="38100">
                    <a:noFill/>
                    <a:lnL w="0">
                      <a:noFill/>
                    </a:lnL>
                    <a:lnR w="0">
                      <a:noFill/>
                    </a:lnR>
                    <a:lnT w="0">
                      <a:noFill/>
                    </a:lnT>
                    <a:lnB w="0">
                      <a:noFill/>
                    </a:lnB>
                  </a:tcPr>
                </a:tc>
                <a:tc>
                  <a:txBody>
                    <a:bodyPr/>
                    <a:lstStyle/>
                    <a:p>
                      <a:pPr algn="ctr">
                        <a:defRPr sz="700" b="1">
                          <a:solidFill>
                            <a:srgbClr val="2D233F"/>
                          </a:solidFill>
                          <a:latin typeface="Segoe UI"/>
                        </a:defRPr>
                      </a:pPr>
                      <a:r>
                        <a:t>$12K</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Dominic Purkett</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YES</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a:t>
                      </a:r>
                    </a:p>
                  </a:txBody>
                  <a:tcPr anchor="ctr" marL="76200" marR="76200" marT="38100" marB="38100">
                    <a:noFill/>
                    <a:lnL w="0">
                      <a:noFill/>
                    </a:lnL>
                    <a:lnR w="0">
                      <a:noFill/>
                    </a:lnR>
                    <a:lnT w="0">
                      <a:noFill/>
                    </a:lnT>
                    <a:lnB w="0">
                      <a:noFill/>
                    </a:lnB>
                  </a:tcPr>
                </a:tc>
              </a:tr>
              <a:tr h="205740">
                <a:tc>
                  <a:txBody>
                    <a:bodyPr/>
                    <a:lstStyle/>
                    <a:p>
                      <a:pPr algn="l">
                        <a:defRPr sz="700" b="1">
                          <a:solidFill>
                            <a:srgbClr val="1E073B"/>
                          </a:solidFill>
                          <a:latin typeface="Segoe UI"/>
                        </a:defRPr>
                      </a:pPr>
                      <a:r>
                        <a:t>H&amp;M Trucking</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Appalachian UW</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02/19</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2D233F"/>
                          </a:solidFill>
                          <a:latin typeface="Segoe UI"/>
                        </a:defRPr>
                      </a:pPr>
                      <a:r>
                        <a:t>$20K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James Reid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Antonio Reyes</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solidFill>
                      <a:srgbClr val="F5F3FF"/>
                    </a:solidFill>
                    <a:lnL w="0">
                      <a:noFill/>
                    </a:lnL>
                    <a:lnR w="0">
                      <a:noFill/>
                    </a:lnR>
                    <a:lnT w="0">
                      <a:noFill/>
                    </a:lnT>
                    <a:lnB w="0">
                      <a:noFill/>
                    </a:lnB>
                  </a:tcPr>
                </a:tc>
              </a:tr>
              <a:tr h="205740">
                <a:tc>
                  <a:txBody>
                    <a:bodyPr/>
                    <a:lstStyle/>
                    <a:p>
                      <a:pPr algn="l">
                        <a:defRPr sz="700" b="1">
                          <a:solidFill>
                            <a:srgbClr val="1E073B"/>
                          </a:solidFill>
                          <a:latin typeface="Segoe UI"/>
                        </a:defRPr>
                      </a:pPr>
                      <a:r>
                        <a:t>Johnson Trucking</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Resolute Ins.</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02/19</a:t>
                      </a:r>
                    </a:p>
                  </a:txBody>
                  <a:tcPr anchor="ctr" marL="76200" marR="76200" marT="38100" marB="38100">
                    <a:noFill/>
                    <a:lnL w="0">
                      <a:noFill/>
                    </a:lnL>
                    <a:lnR w="0">
                      <a:noFill/>
                    </a:lnR>
                    <a:lnT w="0">
                      <a:noFill/>
                    </a:lnT>
                    <a:lnB w="0">
                      <a:noFill/>
                    </a:lnB>
                  </a:tcPr>
                </a:tc>
                <a:tc>
                  <a:txBody>
                    <a:bodyPr/>
                    <a:lstStyle/>
                    <a:p>
                      <a:pPr algn="ctr">
                        <a:defRPr sz="700" b="1">
                          <a:solidFill>
                            <a:srgbClr val="2D233F"/>
                          </a:solidFill>
                          <a:latin typeface="Segoe UI"/>
                        </a:defRPr>
                      </a:pPr>
                      <a:r>
                        <a:t>$22K</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Latoya Madlock</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noFill/>
                    <a:lnL w="0">
                      <a:noFill/>
                    </a:lnL>
                    <a:lnR w="0">
                      <a:noFill/>
                    </a:lnR>
                    <a:lnT w="0">
                      <a:noFill/>
                    </a:lnT>
                    <a:lnB w="0">
                      <a:noFill/>
                    </a:lnB>
                  </a:tcPr>
                </a:tc>
              </a:tr>
              <a:tr h="205740">
                <a:tc>
                  <a:txBody>
                    <a:bodyPr/>
                    <a:lstStyle/>
                    <a:p>
                      <a:pPr algn="l">
                        <a:defRPr sz="700" b="1">
                          <a:solidFill>
                            <a:srgbClr val="1E073B"/>
                          </a:solidFill>
                          <a:latin typeface="Segoe UI"/>
                        </a:defRPr>
                      </a:pPr>
                      <a:r>
                        <a:t>Telekinesis LLC</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Paramount Excl.</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02/20</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2D233F"/>
                          </a:solidFill>
                          <a:latin typeface="Segoe UI"/>
                        </a:defRPr>
                      </a:pPr>
                      <a:r>
                        <a:t>$205K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Derek Janssen</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Dominic Purkett</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YES</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r>
              <a:tr h="205740">
                <a:tc>
                  <a:txBody>
                    <a:bodyPr/>
                    <a:lstStyle/>
                    <a:p>
                      <a:pPr algn="l">
                        <a:defRPr sz="700" b="1">
                          <a:solidFill>
                            <a:srgbClr val="1E073B"/>
                          </a:solidFill>
                          <a:latin typeface="Segoe UI"/>
                        </a:defRPr>
                      </a:pPr>
                      <a:r>
                        <a:t>G&amp;Z Transportation</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United Advantage</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02/20</a:t>
                      </a:r>
                    </a:p>
                  </a:txBody>
                  <a:tcPr anchor="ctr" marL="76200" marR="76200" marT="38100" marB="38100">
                    <a:noFill/>
                    <a:lnL w="0">
                      <a:noFill/>
                    </a:lnL>
                    <a:lnR w="0">
                      <a:noFill/>
                    </a:lnR>
                    <a:lnT w="0">
                      <a:noFill/>
                    </a:lnT>
                    <a:lnB w="0">
                      <a:noFill/>
                    </a:lnB>
                  </a:tcPr>
                </a:tc>
                <a:tc>
                  <a:txBody>
                    <a:bodyPr/>
                    <a:lstStyle/>
                    <a:p>
                      <a:pPr algn="ctr">
                        <a:defRPr sz="700" b="1">
                          <a:solidFill>
                            <a:srgbClr val="2D233F"/>
                          </a:solidFill>
                          <a:latin typeface="Segoe UI"/>
                        </a:defRPr>
                      </a:pPr>
                      <a:r>
                        <a:t>$20K</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Derek Janssen</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noFill/>
                    <a:lnL w="0">
                      <a:noFill/>
                    </a:lnL>
                    <a:lnR w="0">
                      <a:noFill/>
                    </a:lnR>
                    <a:lnT w="0">
                      <a:noFill/>
                    </a:lnT>
                    <a:lnB w="0">
                      <a:noFill/>
                    </a:lnB>
                  </a:tcPr>
                </a:tc>
              </a:tr>
              <a:tr h="205740">
                <a:tc>
                  <a:txBody>
                    <a:bodyPr/>
                    <a:lstStyle/>
                    <a:p>
                      <a:pPr algn="l">
                        <a:defRPr sz="700" b="1">
                          <a:solidFill>
                            <a:srgbClr val="1E073B"/>
                          </a:solidFill>
                          <a:latin typeface="Segoe UI"/>
                        </a:defRPr>
                      </a:pPr>
                      <a:r>
                        <a:t>Virmae Marie</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Insurance4Truckers</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02/23</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2D233F"/>
                          </a:solidFill>
                          <a:latin typeface="Segoe UI"/>
                        </a:defRPr>
                      </a:pPr>
                      <a:r>
                        <a:t>$27K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Ron Douglas</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solidFill>
                      <a:srgbClr val="F5F3FF"/>
                    </a:solidFill>
                    <a:lnL w="0">
                      <a:noFill/>
                    </a:lnL>
                    <a:lnR w="0">
                      <a:noFill/>
                    </a:lnR>
                    <a:lnT w="0">
                      <a:noFill/>
                    </a:lnT>
                    <a:lnB w="0">
                      <a:noFill/>
                    </a:lnB>
                  </a:tcPr>
                </a:tc>
              </a:tr>
              <a:tr h="205740">
                <a:tc>
                  <a:txBody>
                    <a:bodyPr/>
                    <a:lstStyle/>
                    <a:p>
                      <a:pPr algn="l">
                        <a:defRPr sz="700" b="1">
                          <a:solidFill>
                            <a:srgbClr val="1E073B"/>
                          </a:solidFill>
                          <a:latin typeface="Segoe UI"/>
                        </a:defRPr>
                      </a:pPr>
                      <a:r>
                        <a:t>GLM Trucking</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USA Specialty</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02/24</a:t>
                      </a:r>
                    </a:p>
                  </a:txBody>
                  <a:tcPr anchor="ctr" marL="76200" marR="76200" marT="38100" marB="38100">
                    <a:noFill/>
                    <a:lnL w="0">
                      <a:noFill/>
                    </a:lnL>
                    <a:lnR w="0">
                      <a:noFill/>
                    </a:lnR>
                    <a:lnT w="0">
                      <a:noFill/>
                    </a:lnT>
                    <a:lnB w="0">
                      <a:noFill/>
                    </a:lnB>
                  </a:tcPr>
                </a:tc>
                <a:tc>
                  <a:txBody>
                    <a:bodyPr/>
                    <a:lstStyle/>
                    <a:p>
                      <a:pPr algn="ctr">
                        <a:defRPr sz="700" b="1">
                          <a:solidFill>
                            <a:srgbClr val="2D233F"/>
                          </a:solidFill>
                          <a:latin typeface="Segoe UI"/>
                        </a:defRPr>
                      </a:pPr>
                      <a:r>
                        <a:t>$16K</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Ron Douglas</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noFill/>
                    <a:lnL w="0">
                      <a:noFill/>
                    </a:lnL>
                    <a:lnR w="0">
                      <a:noFill/>
                    </a:lnR>
                    <a:lnT w="0">
                      <a:noFill/>
                    </a:lnT>
                    <a:lnB w="0">
                      <a:noFill/>
                    </a:lnB>
                  </a:tcPr>
                </a:tc>
              </a:tr>
              <a:tr h="205740">
                <a:tc>
                  <a:txBody>
                    <a:bodyPr/>
                    <a:lstStyle/>
                    <a:p>
                      <a:pPr algn="l">
                        <a:defRPr sz="700" b="1">
                          <a:solidFill>
                            <a:srgbClr val="1E073B"/>
                          </a:solidFill>
                          <a:latin typeface="Segoe UI"/>
                        </a:defRPr>
                      </a:pPr>
                      <a:r>
                        <a:t>Jose Dimas Hernandez</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Cover Badger</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02/24</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2D233F"/>
                          </a:solidFill>
                          <a:latin typeface="Segoe UI"/>
                        </a:defRPr>
                      </a:pPr>
                      <a:r>
                        <a:t>$19K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James Reid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Antonio Reyes</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EF4444"/>
                          </a:solidFill>
                          <a:latin typeface="Segoe UI"/>
                        </a:defRPr>
                      </a:pPr>
                      <a:r>
                        <a:t>No</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No one</a:t>
                      </a:r>
                    </a:p>
                  </a:txBody>
                  <a:tcPr anchor="ctr" marL="76200" marR="76200" marT="38100" marB="38100">
                    <a:solidFill>
                      <a:srgbClr val="F5F3FF"/>
                    </a:solidFill>
                    <a:lnL w="0">
                      <a:noFill/>
                    </a:lnL>
                    <a:lnR w="0">
                      <a:noFill/>
                    </a:lnR>
                    <a:lnT w="0">
                      <a:noFill/>
                    </a:lnT>
                    <a:lnB w="0">
                      <a:noFill/>
                    </a:lnB>
                  </a:tcPr>
                </a:tc>
              </a:tr>
            </a:tbl>
          </a:graphicData>
        </a:graphic>
      </p:graphicFrame>
      <p:sp>
        <p:nvSpPr>
          <p:cNvPr id="28" name="TextBox 27"/>
          <p:cNvSpPr txBox="1"/>
          <p:nvPr/>
        </p:nvSpPr>
        <p:spPr>
          <a:xfrm>
            <a:off x="274320" y="5623560"/>
            <a:ext cx="5486400" cy="201168"/>
          </a:xfrm>
          <a:prstGeom prst="rect">
            <a:avLst/>
          </a:prstGeom>
          <a:noFill/>
        </p:spPr>
        <p:txBody>
          <a:bodyPr wrap="square">
            <a:spAutoFit/>
          </a:bodyPr>
          <a:lstStyle/>
          <a:p>
            <a:pPr algn="l">
              <a:defRPr sz="900" b="1" i="0">
                <a:solidFill>
                  <a:srgbClr val="5B21B6"/>
                </a:solidFill>
                <a:latin typeface="Segoe UI Semibold"/>
              </a:defRPr>
            </a:pPr>
            <a:r>
              <a:t>BY BDM (Pre-Bind Calls on Assigned Accounts)</a:t>
            </a:r>
          </a:p>
        </p:txBody>
      </p:sp>
      <p:sp>
        <p:nvSpPr>
          <p:cNvPr id="29" name="Rounded Rectangle 28"/>
          <p:cNvSpPr/>
          <p:nvPr/>
        </p:nvSpPr>
        <p:spPr>
          <a:xfrm>
            <a:off x="274320" y="5833872"/>
            <a:ext cx="13258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4320" y="5833872"/>
            <a:ext cx="45720" cy="45720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4048" y="5852160"/>
            <a:ext cx="1143000" cy="164592"/>
          </a:xfrm>
          <a:prstGeom prst="rect">
            <a:avLst/>
          </a:prstGeom>
          <a:noFill/>
        </p:spPr>
        <p:txBody>
          <a:bodyPr wrap="square">
            <a:spAutoFit/>
          </a:bodyPr>
          <a:lstStyle/>
          <a:p>
            <a:pPr algn="l">
              <a:defRPr sz="700" b="1" i="0">
                <a:solidFill>
                  <a:srgbClr val="2D233F"/>
                </a:solidFill>
                <a:latin typeface="Segoe UI"/>
              </a:defRPr>
            </a:pPr>
            <a:r>
              <a:t>Ron Douglas</a:t>
            </a:r>
          </a:p>
        </p:txBody>
      </p:sp>
      <p:sp>
        <p:nvSpPr>
          <p:cNvPr id="32" name="TextBox 31"/>
          <p:cNvSpPr txBox="1"/>
          <p:nvPr/>
        </p:nvSpPr>
        <p:spPr>
          <a:xfrm>
            <a:off x="384048" y="6016752"/>
            <a:ext cx="1143000" cy="128016"/>
          </a:xfrm>
          <a:prstGeom prst="rect">
            <a:avLst/>
          </a:prstGeom>
          <a:noFill/>
        </p:spPr>
        <p:txBody>
          <a:bodyPr wrap="square">
            <a:spAutoFit/>
          </a:bodyPr>
          <a:lstStyle/>
          <a:p>
            <a:pPr algn="l">
              <a:defRPr sz="700" b="1" i="0">
                <a:solidFill>
                  <a:srgbClr val="EF4444"/>
                </a:solidFill>
                <a:latin typeface="Segoe UI"/>
              </a:defRPr>
            </a:pPr>
            <a:r>
              <a:t>4 accts  |  0 called</a:t>
            </a:r>
          </a:p>
        </p:txBody>
      </p:sp>
      <p:sp>
        <p:nvSpPr>
          <p:cNvPr id="33" name="TextBox 32"/>
          <p:cNvSpPr txBox="1"/>
          <p:nvPr/>
        </p:nvSpPr>
        <p:spPr>
          <a:xfrm>
            <a:off x="384048" y="6144768"/>
            <a:ext cx="1143000" cy="128016"/>
          </a:xfrm>
          <a:prstGeom prst="rect">
            <a:avLst/>
          </a:prstGeom>
          <a:noFill/>
        </p:spPr>
        <p:txBody>
          <a:bodyPr wrap="square">
            <a:spAutoFit/>
          </a:bodyPr>
          <a:lstStyle/>
          <a:p>
            <a:pPr algn="l">
              <a:defRPr sz="700" b="0" i="0">
                <a:solidFill>
                  <a:srgbClr val="A09CB0"/>
                </a:solidFill>
                <a:latin typeface="Segoe UI"/>
              </a:defRPr>
            </a:pPr>
            <a:r>
              <a:t>$90K</a:t>
            </a:r>
          </a:p>
        </p:txBody>
      </p:sp>
      <p:sp>
        <p:nvSpPr>
          <p:cNvPr id="34" name="Rounded Rectangle 33"/>
          <p:cNvSpPr/>
          <p:nvPr/>
        </p:nvSpPr>
        <p:spPr>
          <a:xfrm>
            <a:off x="1691640" y="5833872"/>
            <a:ext cx="13258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691640" y="5833872"/>
            <a:ext cx="45720" cy="4572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801368" y="5852160"/>
            <a:ext cx="1143000" cy="164592"/>
          </a:xfrm>
          <a:prstGeom prst="rect">
            <a:avLst/>
          </a:prstGeom>
          <a:noFill/>
        </p:spPr>
        <p:txBody>
          <a:bodyPr wrap="square">
            <a:spAutoFit/>
          </a:bodyPr>
          <a:lstStyle/>
          <a:p>
            <a:pPr algn="l">
              <a:defRPr sz="700" b="1" i="0">
                <a:solidFill>
                  <a:srgbClr val="2D233F"/>
                </a:solidFill>
                <a:latin typeface="Segoe UI"/>
              </a:defRPr>
            </a:pPr>
            <a:r>
              <a:t>Derek Janssen</a:t>
            </a:r>
          </a:p>
        </p:txBody>
      </p:sp>
      <p:sp>
        <p:nvSpPr>
          <p:cNvPr id="37" name="TextBox 36"/>
          <p:cNvSpPr txBox="1"/>
          <p:nvPr/>
        </p:nvSpPr>
        <p:spPr>
          <a:xfrm>
            <a:off x="1801368" y="6016752"/>
            <a:ext cx="1143000" cy="128016"/>
          </a:xfrm>
          <a:prstGeom prst="rect">
            <a:avLst/>
          </a:prstGeom>
          <a:noFill/>
        </p:spPr>
        <p:txBody>
          <a:bodyPr wrap="square">
            <a:spAutoFit/>
          </a:bodyPr>
          <a:lstStyle/>
          <a:p>
            <a:pPr algn="l">
              <a:defRPr sz="700" b="1" i="0">
                <a:solidFill>
                  <a:srgbClr val="F59E0B"/>
                </a:solidFill>
                <a:latin typeface="Segoe UI"/>
              </a:defRPr>
            </a:pPr>
            <a:r>
              <a:t>3 accts  |  1 called</a:t>
            </a:r>
          </a:p>
        </p:txBody>
      </p:sp>
      <p:sp>
        <p:nvSpPr>
          <p:cNvPr id="38" name="TextBox 37"/>
          <p:cNvSpPr txBox="1"/>
          <p:nvPr/>
        </p:nvSpPr>
        <p:spPr>
          <a:xfrm>
            <a:off x="1801368" y="6144768"/>
            <a:ext cx="1143000" cy="128016"/>
          </a:xfrm>
          <a:prstGeom prst="rect">
            <a:avLst/>
          </a:prstGeom>
          <a:noFill/>
        </p:spPr>
        <p:txBody>
          <a:bodyPr wrap="square">
            <a:spAutoFit/>
          </a:bodyPr>
          <a:lstStyle/>
          <a:p>
            <a:pPr algn="l">
              <a:defRPr sz="700" b="0" i="0">
                <a:solidFill>
                  <a:srgbClr val="A09CB0"/>
                </a:solidFill>
                <a:latin typeface="Segoe UI"/>
              </a:defRPr>
            </a:pPr>
            <a:r>
              <a:t>$361K</a:t>
            </a:r>
          </a:p>
        </p:txBody>
      </p:sp>
      <p:sp>
        <p:nvSpPr>
          <p:cNvPr id="39" name="Rounded Rectangle 38"/>
          <p:cNvSpPr/>
          <p:nvPr/>
        </p:nvSpPr>
        <p:spPr>
          <a:xfrm>
            <a:off x="3108960" y="5833872"/>
            <a:ext cx="13258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108960" y="5833872"/>
            <a:ext cx="45720" cy="45720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18688" y="5852160"/>
            <a:ext cx="1143000" cy="164592"/>
          </a:xfrm>
          <a:prstGeom prst="rect">
            <a:avLst/>
          </a:prstGeom>
          <a:noFill/>
        </p:spPr>
        <p:txBody>
          <a:bodyPr wrap="square">
            <a:spAutoFit/>
          </a:bodyPr>
          <a:lstStyle/>
          <a:p>
            <a:pPr algn="l">
              <a:defRPr sz="700" b="1" i="0">
                <a:solidFill>
                  <a:srgbClr val="2D233F"/>
                </a:solidFill>
                <a:latin typeface="Segoe UI"/>
              </a:defRPr>
            </a:pPr>
            <a:r>
              <a:t>James Reid</a:t>
            </a:r>
          </a:p>
        </p:txBody>
      </p:sp>
      <p:sp>
        <p:nvSpPr>
          <p:cNvPr id="42" name="TextBox 41"/>
          <p:cNvSpPr txBox="1"/>
          <p:nvPr/>
        </p:nvSpPr>
        <p:spPr>
          <a:xfrm>
            <a:off x="3218688" y="6016752"/>
            <a:ext cx="1143000" cy="128016"/>
          </a:xfrm>
          <a:prstGeom prst="rect">
            <a:avLst/>
          </a:prstGeom>
          <a:noFill/>
        </p:spPr>
        <p:txBody>
          <a:bodyPr wrap="square">
            <a:spAutoFit/>
          </a:bodyPr>
          <a:lstStyle/>
          <a:p>
            <a:pPr algn="l">
              <a:defRPr sz="700" b="1" i="0">
                <a:solidFill>
                  <a:srgbClr val="EF4444"/>
                </a:solidFill>
                <a:latin typeface="Segoe UI"/>
              </a:defRPr>
            </a:pPr>
            <a:r>
              <a:t>3 accts  |  0 called</a:t>
            </a:r>
          </a:p>
        </p:txBody>
      </p:sp>
      <p:sp>
        <p:nvSpPr>
          <p:cNvPr id="43" name="TextBox 42"/>
          <p:cNvSpPr txBox="1"/>
          <p:nvPr/>
        </p:nvSpPr>
        <p:spPr>
          <a:xfrm>
            <a:off x="3218688" y="6144768"/>
            <a:ext cx="1143000" cy="128016"/>
          </a:xfrm>
          <a:prstGeom prst="rect">
            <a:avLst/>
          </a:prstGeom>
          <a:noFill/>
        </p:spPr>
        <p:txBody>
          <a:bodyPr wrap="square">
            <a:spAutoFit/>
          </a:bodyPr>
          <a:lstStyle/>
          <a:p>
            <a:pPr algn="l">
              <a:defRPr sz="700" b="0" i="0">
                <a:solidFill>
                  <a:srgbClr val="A09CB0"/>
                </a:solidFill>
                <a:latin typeface="Segoe UI"/>
              </a:defRPr>
            </a:pPr>
            <a:r>
              <a:t>$47K</a:t>
            </a:r>
          </a:p>
        </p:txBody>
      </p:sp>
      <p:sp>
        <p:nvSpPr>
          <p:cNvPr id="44" name="Rounded Rectangle 43"/>
          <p:cNvSpPr/>
          <p:nvPr/>
        </p:nvSpPr>
        <p:spPr>
          <a:xfrm>
            <a:off x="4526280" y="5833872"/>
            <a:ext cx="13258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26280" y="5833872"/>
            <a:ext cx="45720" cy="45720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36008" y="5852160"/>
            <a:ext cx="1143000" cy="164592"/>
          </a:xfrm>
          <a:prstGeom prst="rect">
            <a:avLst/>
          </a:prstGeom>
          <a:noFill/>
        </p:spPr>
        <p:txBody>
          <a:bodyPr wrap="square">
            <a:spAutoFit/>
          </a:bodyPr>
          <a:lstStyle/>
          <a:p>
            <a:pPr algn="l">
              <a:defRPr sz="700" b="1" i="0">
                <a:solidFill>
                  <a:srgbClr val="2D233F"/>
                </a:solidFill>
                <a:latin typeface="Segoe UI"/>
              </a:defRPr>
            </a:pPr>
            <a:r>
              <a:t>C. Hayes</a:t>
            </a:r>
          </a:p>
        </p:txBody>
      </p:sp>
      <p:sp>
        <p:nvSpPr>
          <p:cNvPr id="47" name="TextBox 46"/>
          <p:cNvSpPr txBox="1"/>
          <p:nvPr/>
        </p:nvSpPr>
        <p:spPr>
          <a:xfrm>
            <a:off x="4636008" y="6016752"/>
            <a:ext cx="1143000" cy="128016"/>
          </a:xfrm>
          <a:prstGeom prst="rect">
            <a:avLst/>
          </a:prstGeom>
          <a:noFill/>
        </p:spPr>
        <p:txBody>
          <a:bodyPr wrap="square">
            <a:spAutoFit/>
          </a:bodyPr>
          <a:lstStyle/>
          <a:p>
            <a:pPr algn="l">
              <a:defRPr sz="700" b="1" i="0">
                <a:solidFill>
                  <a:srgbClr val="EF4444"/>
                </a:solidFill>
                <a:latin typeface="Segoe UI"/>
              </a:defRPr>
            </a:pPr>
            <a:r>
              <a:t>1 acct  |  0 called</a:t>
            </a:r>
          </a:p>
        </p:txBody>
      </p:sp>
      <p:sp>
        <p:nvSpPr>
          <p:cNvPr id="48" name="TextBox 47"/>
          <p:cNvSpPr txBox="1"/>
          <p:nvPr/>
        </p:nvSpPr>
        <p:spPr>
          <a:xfrm>
            <a:off x="4636008" y="6144768"/>
            <a:ext cx="1143000" cy="128016"/>
          </a:xfrm>
          <a:prstGeom prst="rect">
            <a:avLst/>
          </a:prstGeom>
          <a:noFill/>
        </p:spPr>
        <p:txBody>
          <a:bodyPr wrap="square">
            <a:spAutoFit/>
          </a:bodyPr>
          <a:lstStyle/>
          <a:p>
            <a:pPr algn="l">
              <a:defRPr sz="700" b="0" i="0">
                <a:solidFill>
                  <a:srgbClr val="A09CB0"/>
                </a:solidFill>
                <a:latin typeface="Segoe UI"/>
              </a:defRPr>
            </a:pPr>
            <a:r>
              <a:t>$41K</a:t>
            </a:r>
          </a:p>
        </p:txBody>
      </p:sp>
      <p:sp>
        <p:nvSpPr>
          <p:cNvPr id="49" name="TextBox 48"/>
          <p:cNvSpPr txBox="1"/>
          <p:nvPr/>
        </p:nvSpPr>
        <p:spPr>
          <a:xfrm>
            <a:off x="6217920" y="5623560"/>
            <a:ext cx="5486400" cy="201168"/>
          </a:xfrm>
          <a:prstGeom prst="rect">
            <a:avLst/>
          </a:prstGeom>
          <a:noFill/>
        </p:spPr>
        <p:txBody>
          <a:bodyPr wrap="square">
            <a:spAutoFit/>
          </a:bodyPr>
          <a:lstStyle/>
          <a:p>
            <a:pPr algn="l">
              <a:defRPr sz="900" b="1" i="0">
                <a:solidFill>
                  <a:srgbClr val="5B21B6"/>
                </a:solidFill>
                <a:latin typeface="Segoe UI Semibold"/>
              </a:defRPr>
            </a:pPr>
            <a:r>
              <a:t>BY BDA (Pre-Bind Calls on Assigned Accounts)</a:t>
            </a:r>
          </a:p>
        </p:txBody>
      </p:sp>
      <p:sp>
        <p:nvSpPr>
          <p:cNvPr id="50" name="Rounded Rectangle 49"/>
          <p:cNvSpPr/>
          <p:nvPr/>
        </p:nvSpPr>
        <p:spPr>
          <a:xfrm>
            <a:off x="6217920" y="5833872"/>
            <a:ext cx="13258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17920" y="5833872"/>
            <a:ext cx="4572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27648" y="5852160"/>
            <a:ext cx="1143000" cy="164592"/>
          </a:xfrm>
          <a:prstGeom prst="rect">
            <a:avLst/>
          </a:prstGeom>
          <a:noFill/>
        </p:spPr>
        <p:txBody>
          <a:bodyPr wrap="square">
            <a:spAutoFit/>
          </a:bodyPr>
          <a:lstStyle/>
          <a:p>
            <a:pPr algn="l">
              <a:defRPr sz="700" b="1" i="0">
                <a:solidFill>
                  <a:srgbClr val="2D233F"/>
                </a:solidFill>
                <a:latin typeface="Segoe UI"/>
              </a:defRPr>
            </a:pPr>
            <a:r>
              <a:t>Dominic Purkett</a:t>
            </a:r>
          </a:p>
        </p:txBody>
      </p:sp>
      <p:sp>
        <p:nvSpPr>
          <p:cNvPr id="53" name="TextBox 52"/>
          <p:cNvSpPr txBox="1"/>
          <p:nvPr/>
        </p:nvSpPr>
        <p:spPr>
          <a:xfrm>
            <a:off x="6327648" y="6016752"/>
            <a:ext cx="1143000" cy="128016"/>
          </a:xfrm>
          <a:prstGeom prst="rect">
            <a:avLst/>
          </a:prstGeom>
          <a:noFill/>
        </p:spPr>
        <p:txBody>
          <a:bodyPr wrap="square">
            <a:spAutoFit/>
          </a:bodyPr>
          <a:lstStyle/>
          <a:p>
            <a:pPr algn="l">
              <a:defRPr sz="700" b="1" i="0">
                <a:solidFill>
                  <a:srgbClr val="10B981"/>
                </a:solidFill>
                <a:latin typeface="Segoe UI"/>
              </a:defRPr>
            </a:pPr>
            <a:r>
              <a:t>4 accts  |  2 called</a:t>
            </a:r>
          </a:p>
        </p:txBody>
      </p:sp>
      <p:sp>
        <p:nvSpPr>
          <p:cNvPr id="54" name="TextBox 53"/>
          <p:cNvSpPr txBox="1"/>
          <p:nvPr/>
        </p:nvSpPr>
        <p:spPr>
          <a:xfrm>
            <a:off x="6327648" y="6144768"/>
            <a:ext cx="1143000" cy="128016"/>
          </a:xfrm>
          <a:prstGeom prst="rect">
            <a:avLst/>
          </a:prstGeom>
          <a:noFill/>
        </p:spPr>
        <p:txBody>
          <a:bodyPr wrap="square">
            <a:spAutoFit/>
          </a:bodyPr>
          <a:lstStyle/>
          <a:p>
            <a:pPr algn="l">
              <a:defRPr sz="700" b="0" i="0">
                <a:solidFill>
                  <a:srgbClr val="A09CB0"/>
                </a:solidFill>
                <a:latin typeface="Segoe UI"/>
              </a:defRPr>
            </a:pPr>
            <a:r>
              <a:t>$376K</a:t>
            </a:r>
          </a:p>
        </p:txBody>
      </p:sp>
      <p:sp>
        <p:nvSpPr>
          <p:cNvPr id="55" name="Rounded Rectangle 54"/>
          <p:cNvSpPr/>
          <p:nvPr/>
        </p:nvSpPr>
        <p:spPr>
          <a:xfrm>
            <a:off x="7635240" y="5833872"/>
            <a:ext cx="13258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635240" y="5833872"/>
            <a:ext cx="45720" cy="45720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44968" y="5852160"/>
            <a:ext cx="1143000" cy="164592"/>
          </a:xfrm>
          <a:prstGeom prst="rect">
            <a:avLst/>
          </a:prstGeom>
          <a:noFill/>
        </p:spPr>
        <p:txBody>
          <a:bodyPr wrap="square">
            <a:spAutoFit/>
          </a:bodyPr>
          <a:lstStyle/>
          <a:p>
            <a:pPr algn="l">
              <a:defRPr sz="700" b="1" i="0">
                <a:solidFill>
                  <a:srgbClr val="2D233F"/>
                </a:solidFill>
                <a:latin typeface="Segoe UI"/>
              </a:defRPr>
            </a:pPr>
            <a:r>
              <a:t>Antonio Reyes</a:t>
            </a:r>
          </a:p>
        </p:txBody>
      </p:sp>
      <p:sp>
        <p:nvSpPr>
          <p:cNvPr id="58" name="TextBox 57"/>
          <p:cNvSpPr txBox="1"/>
          <p:nvPr/>
        </p:nvSpPr>
        <p:spPr>
          <a:xfrm>
            <a:off x="7744968" y="6016752"/>
            <a:ext cx="1143000" cy="128016"/>
          </a:xfrm>
          <a:prstGeom prst="rect">
            <a:avLst/>
          </a:prstGeom>
          <a:noFill/>
        </p:spPr>
        <p:txBody>
          <a:bodyPr wrap="square">
            <a:spAutoFit/>
          </a:bodyPr>
          <a:lstStyle/>
          <a:p>
            <a:pPr algn="l">
              <a:defRPr sz="700" b="1" i="0">
                <a:solidFill>
                  <a:srgbClr val="EF4444"/>
                </a:solidFill>
                <a:latin typeface="Segoe UI"/>
              </a:defRPr>
            </a:pPr>
            <a:r>
              <a:t>2 accts  |  0 called</a:t>
            </a:r>
          </a:p>
        </p:txBody>
      </p:sp>
      <p:sp>
        <p:nvSpPr>
          <p:cNvPr id="59" name="TextBox 58"/>
          <p:cNvSpPr txBox="1"/>
          <p:nvPr/>
        </p:nvSpPr>
        <p:spPr>
          <a:xfrm>
            <a:off x="7744968" y="6144768"/>
            <a:ext cx="1143000" cy="128016"/>
          </a:xfrm>
          <a:prstGeom prst="rect">
            <a:avLst/>
          </a:prstGeom>
          <a:noFill/>
        </p:spPr>
        <p:txBody>
          <a:bodyPr wrap="square">
            <a:spAutoFit/>
          </a:bodyPr>
          <a:lstStyle/>
          <a:p>
            <a:pPr algn="l">
              <a:defRPr sz="700" b="0" i="0">
                <a:solidFill>
                  <a:srgbClr val="A09CB0"/>
                </a:solidFill>
                <a:latin typeface="Segoe UI"/>
              </a:defRPr>
            </a:pPr>
            <a:r>
              <a:t>$39K</a:t>
            </a:r>
          </a:p>
        </p:txBody>
      </p:sp>
      <p:sp>
        <p:nvSpPr>
          <p:cNvPr id="60" name="Rounded Rectangle 59"/>
          <p:cNvSpPr/>
          <p:nvPr/>
        </p:nvSpPr>
        <p:spPr>
          <a:xfrm>
            <a:off x="9052560" y="5833872"/>
            <a:ext cx="13258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052560" y="5833872"/>
            <a:ext cx="45720" cy="45720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62288" y="5852160"/>
            <a:ext cx="1143000" cy="164592"/>
          </a:xfrm>
          <a:prstGeom prst="rect">
            <a:avLst/>
          </a:prstGeom>
          <a:noFill/>
        </p:spPr>
        <p:txBody>
          <a:bodyPr wrap="square">
            <a:spAutoFit/>
          </a:bodyPr>
          <a:lstStyle/>
          <a:p>
            <a:pPr algn="l">
              <a:defRPr sz="700" b="1" i="0">
                <a:solidFill>
                  <a:srgbClr val="2D233F"/>
                </a:solidFill>
                <a:latin typeface="Segoe UI"/>
              </a:defRPr>
            </a:pPr>
            <a:r>
              <a:t>Latoya Madlock</a:t>
            </a:r>
          </a:p>
        </p:txBody>
      </p:sp>
      <p:sp>
        <p:nvSpPr>
          <p:cNvPr id="63" name="TextBox 62"/>
          <p:cNvSpPr txBox="1"/>
          <p:nvPr/>
        </p:nvSpPr>
        <p:spPr>
          <a:xfrm>
            <a:off x="9162288" y="6016752"/>
            <a:ext cx="1143000" cy="128016"/>
          </a:xfrm>
          <a:prstGeom prst="rect">
            <a:avLst/>
          </a:prstGeom>
          <a:noFill/>
        </p:spPr>
        <p:txBody>
          <a:bodyPr wrap="square">
            <a:spAutoFit/>
          </a:bodyPr>
          <a:lstStyle/>
          <a:p>
            <a:pPr algn="l">
              <a:defRPr sz="700" b="1" i="0">
                <a:solidFill>
                  <a:srgbClr val="EF4444"/>
                </a:solidFill>
                <a:latin typeface="Segoe UI"/>
              </a:defRPr>
            </a:pPr>
            <a:r>
              <a:t>2 accts  |  0 called</a:t>
            </a:r>
          </a:p>
        </p:txBody>
      </p:sp>
      <p:sp>
        <p:nvSpPr>
          <p:cNvPr id="64" name="TextBox 63"/>
          <p:cNvSpPr txBox="1"/>
          <p:nvPr/>
        </p:nvSpPr>
        <p:spPr>
          <a:xfrm>
            <a:off x="9162288" y="6144768"/>
            <a:ext cx="1143000" cy="128016"/>
          </a:xfrm>
          <a:prstGeom prst="rect">
            <a:avLst/>
          </a:prstGeom>
          <a:noFill/>
        </p:spPr>
        <p:txBody>
          <a:bodyPr wrap="square">
            <a:spAutoFit/>
          </a:bodyPr>
          <a:lstStyle/>
          <a:p>
            <a:pPr algn="l">
              <a:defRPr sz="700" b="0" i="0">
                <a:solidFill>
                  <a:srgbClr val="A09CB0"/>
                </a:solidFill>
                <a:latin typeface="Segoe UI"/>
              </a:defRPr>
            </a:pPr>
            <a:r>
              <a:t>$31K</a:t>
            </a:r>
          </a:p>
        </p:txBody>
      </p:sp>
      <p:sp>
        <p:nvSpPr>
          <p:cNvPr id="65" name="Rounded Rectangle 64"/>
          <p:cNvSpPr/>
          <p:nvPr/>
        </p:nvSpPr>
        <p:spPr>
          <a:xfrm>
            <a:off x="10469880" y="5833872"/>
            <a:ext cx="13258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469880" y="5833872"/>
            <a:ext cx="4572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579608" y="5852160"/>
            <a:ext cx="1143000" cy="164592"/>
          </a:xfrm>
          <a:prstGeom prst="rect">
            <a:avLst/>
          </a:prstGeom>
          <a:noFill/>
        </p:spPr>
        <p:txBody>
          <a:bodyPr wrap="square">
            <a:spAutoFit/>
          </a:bodyPr>
          <a:lstStyle/>
          <a:p>
            <a:pPr algn="l">
              <a:defRPr sz="700" b="1" i="0">
                <a:solidFill>
                  <a:srgbClr val="2D233F"/>
                </a:solidFill>
                <a:latin typeface="Segoe UI"/>
              </a:defRPr>
            </a:pPr>
            <a:r>
              <a:t>Cameron Brader</a:t>
            </a:r>
          </a:p>
        </p:txBody>
      </p:sp>
      <p:sp>
        <p:nvSpPr>
          <p:cNvPr id="68" name="TextBox 67"/>
          <p:cNvSpPr txBox="1"/>
          <p:nvPr/>
        </p:nvSpPr>
        <p:spPr>
          <a:xfrm>
            <a:off x="10579608" y="6016752"/>
            <a:ext cx="1143000" cy="128016"/>
          </a:xfrm>
          <a:prstGeom prst="rect">
            <a:avLst/>
          </a:prstGeom>
          <a:noFill/>
        </p:spPr>
        <p:txBody>
          <a:bodyPr wrap="square">
            <a:spAutoFit/>
          </a:bodyPr>
          <a:lstStyle/>
          <a:p>
            <a:pPr algn="l">
              <a:defRPr sz="700" b="1" i="0">
                <a:solidFill>
                  <a:srgbClr val="10B981"/>
                </a:solidFill>
                <a:latin typeface="Segoe UI"/>
              </a:defRPr>
            </a:pPr>
            <a:r>
              <a:t>1 acct  |  1 called</a:t>
            </a:r>
          </a:p>
        </p:txBody>
      </p:sp>
      <p:sp>
        <p:nvSpPr>
          <p:cNvPr id="69" name="TextBox 68"/>
          <p:cNvSpPr txBox="1"/>
          <p:nvPr/>
        </p:nvSpPr>
        <p:spPr>
          <a:xfrm>
            <a:off x="10579608" y="6144768"/>
            <a:ext cx="1143000" cy="128016"/>
          </a:xfrm>
          <a:prstGeom prst="rect">
            <a:avLst/>
          </a:prstGeom>
          <a:noFill/>
        </p:spPr>
        <p:txBody>
          <a:bodyPr wrap="square">
            <a:spAutoFit/>
          </a:bodyPr>
          <a:lstStyle/>
          <a:p>
            <a:pPr algn="l">
              <a:defRPr sz="700" b="0" i="0">
                <a:solidFill>
                  <a:srgbClr val="A09CB0"/>
                </a:solidFill>
                <a:latin typeface="Segoe UI"/>
              </a:defRPr>
            </a:pPr>
            <a:r>
              <a:t>$11K</a:t>
            </a:r>
          </a:p>
        </p:txBody>
      </p:sp>
      <p:sp>
        <p:nvSpPr>
          <p:cNvPr id="70" name="Rectangle 69"/>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72" name="TextBox 71"/>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200" b="1" i="0">
                <a:solidFill>
                  <a:srgbClr val="FFFFFF"/>
                </a:solidFill>
                <a:latin typeface="Segoe UI Light"/>
              </a:defRPr>
            </a:pPr>
            <a:r>
              <a:t>SUBMISSION PIPELINE CALL COVERAGE</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000" b="0" i="0">
                <a:solidFill>
                  <a:srgbClr val="C4B5FD"/>
                </a:solidFill>
                <a:latin typeface="Segoe UI"/>
              </a:defRPr>
            </a:pPr>
            <a:r>
              <a:t>All 1,532 Feb DSG Submissions  |  260 Agencies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298448"/>
            <a:ext cx="11430000" cy="228600"/>
          </a:xfrm>
          <a:prstGeom prst="rect">
            <a:avLst/>
          </a:prstGeom>
          <a:noFill/>
        </p:spPr>
        <p:txBody>
          <a:bodyPr wrap="square">
            <a:spAutoFit/>
          </a:bodyPr>
          <a:lstStyle/>
          <a:p>
            <a:pPr algn="l">
              <a:defRPr sz="900" b="0" i="1">
                <a:solidFill>
                  <a:srgbClr val="6B5F83"/>
                </a:solidFill>
                <a:latin typeface="Segoe UI"/>
              </a:defRPr>
            </a:pPr>
            <a:r>
              <a:t>HubSpot outbound calls (Jan–Mar 2026) cross-referenced with assigned BDM/BDA for every agency that submitted DSG business in February.</a:t>
            </a:r>
          </a:p>
        </p:txBody>
      </p:sp>
      <p:sp>
        <p:nvSpPr>
          <p:cNvPr id="12" name="Rounded Rectangle 11"/>
          <p:cNvSpPr/>
          <p:nvPr/>
        </p:nvSpPr>
        <p:spPr>
          <a:xfrm>
            <a:off x="182880" y="1572768"/>
            <a:ext cx="2240280" cy="74980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2880" y="1572768"/>
            <a:ext cx="224028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645920"/>
            <a:ext cx="822960" cy="365760"/>
          </a:xfrm>
          <a:prstGeom prst="rect">
            <a:avLst/>
          </a:prstGeom>
          <a:noFill/>
        </p:spPr>
        <p:txBody>
          <a:bodyPr wrap="square">
            <a:spAutoFit/>
          </a:bodyPr>
          <a:lstStyle/>
          <a:p>
            <a:pPr algn="l">
              <a:defRPr sz="2000" b="1" i="0">
                <a:solidFill>
                  <a:srgbClr val="7C3AED"/>
                </a:solidFill>
                <a:latin typeface="Segoe UI Light"/>
              </a:defRPr>
            </a:pPr>
            <a:r>
              <a:t>1,439</a:t>
            </a:r>
          </a:p>
        </p:txBody>
      </p:sp>
      <p:sp>
        <p:nvSpPr>
          <p:cNvPr id="15" name="TextBox 14"/>
          <p:cNvSpPr txBox="1"/>
          <p:nvPr/>
        </p:nvSpPr>
        <p:spPr>
          <a:xfrm>
            <a:off x="1097280" y="1645920"/>
            <a:ext cx="1234440" cy="365760"/>
          </a:xfrm>
          <a:prstGeom prst="rect">
            <a:avLst/>
          </a:prstGeom>
          <a:noFill/>
        </p:spPr>
        <p:txBody>
          <a:bodyPr wrap="square">
            <a:spAutoFit/>
          </a:bodyPr>
          <a:lstStyle/>
          <a:p>
            <a:pPr algn="l">
              <a:defRPr sz="800" b="1" i="0">
                <a:solidFill>
                  <a:srgbClr val="2D233F"/>
                </a:solidFill>
                <a:latin typeface="Segoe UI"/>
              </a:defRPr>
            </a:pPr>
            <a:r>
              <a:t>Feb DSG</a:t>
            </a:r>
            <a:br/>
            <a:r>
              <a:t>Submissions</a:t>
            </a:r>
          </a:p>
        </p:txBody>
      </p:sp>
      <p:sp>
        <p:nvSpPr>
          <p:cNvPr id="16" name="TextBox 15"/>
          <p:cNvSpPr txBox="1"/>
          <p:nvPr/>
        </p:nvSpPr>
        <p:spPr>
          <a:xfrm>
            <a:off x="292608" y="2075688"/>
            <a:ext cx="2011680" cy="182880"/>
          </a:xfrm>
          <a:prstGeom prst="rect">
            <a:avLst/>
          </a:prstGeom>
          <a:noFill/>
        </p:spPr>
        <p:txBody>
          <a:bodyPr wrap="square">
            <a:spAutoFit/>
          </a:bodyPr>
          <a:lstStyle/>
          <a:p>
            <a:pPr algn="l">
              <a:defRPr sz="700" b="0" i="1">
                <a:solidFill>
                  <a:srgbClr val="A09CB0"/>
                </a:solidFill>
                <a:latin typeface="Segoe UI"/>
              </a:defRPr>
            </a:pPr>
            <a:r>
              <a:t>246 unique agencies</a:t>
            </a:r>
          </a:p>
        </p:txBody>
      </p:sp>
      <p:sp>
        <p:nvSpPr>
          <p:cNvPr id="17" name="Rounded Rectangle 16"/>
          <p:cNvSpPr/>
          <p:nvPr/>
        </p:nvSpPr>
        <p:spPr>
          <a:xfrm>
            <a:off x="2560320" y="1572768"/>
            <a:ext cx="2240280" cy="74980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0" y="1572768"/>
            <a:ext cx="2240280" cy="457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70048" y="1645920"/>
            <a:ext cx="822960" cy="365760"/>
          </a:xfrm>
          <a:prstGeom prst="rect">
            <a:avLst/>
          </a:prstGeom>
          <a:noFill/>
        </p:spPr>
        <p:txBody>
          <a:bodyPr wrap="square">
            <a:spAutoFit/>
          </a:bodyPr>
          <a:lstStyle/>
          <a:p>
            <a:pPr algn="l">
              <a:defRPr sz="2000" b="1" i="0">
                <a:solidFill>
                  <a:srgbClr val="EF4444"/>
                </a:solidFill>
                <a:latin typeface="Segoe UI Light"/>
              </a:defRPr>
            </a:pPr>
            <a:r>
              <a:t>75%</a:t>
            </a:r>
          </a:p>
        </p:txBody>
      </p:sp>
      <p:sp>
        <p:nvSpPr>
          <p:cNvPr id="20" name="TextBox 19"/>
          <p:cNvSpPr txBox="1"/>
          <p:nvPr/>
        </p:nvSpPr>
        <p:spPr>
          <a:xfrm>
            <a:off x="3474720" y="1645920"/>
            <a:ext cx="1234440" cy="365760"/>
          </a:xfrm>
          <a:prstGeom prst="rect">
            <a:avLst/>
          </a:prstGeom>
          <a:noFill/>
        </p:spPr>
        <p:txBody>
          <a:bodyPr wrap="square">
            <a:spAutoFit/>
          </a:bodyPr>
          <a:lstStyle/>
          <a:p>
            <a:pPr algn="l">
              <a:defRPr sz="800" b="1" i="0">
                <a:solidFill>
                  <a:srgbClr val="2D233F"/>
                </a:solidFill>
                <a:latin typeface="Segoe UI"/>
              </a:defRPr>
            </a:pPr>
            <a:r>
              <a:t>Agencies w/</a:t>
            </a:r>
            <a:br/>
            <a:r>
              <a:t>No Calls At All</a:t>
            </a:r>
          </a:p>
        </p:txBody>
      </p:sp>
      <p:sp>
        <p:nvSpPr>
          <p:cNvPr id="21" name="TextBox 20"/>
          <p:cNvSpPr txBox="1"/>
          <p:nvPr/>
        </p:nvSpPr>
        <p:spPr>
          <a:xfrm>
            <a:off x="2670048" y="2075688"/>
            <a:ext cx="2011680" cy="182880"/>
          </a:xfrm>
          <a:prstGeom prst="rect">
            <a:avLst/>
          </a:prstGeom>
          <a:noFill/>
        </p:spPr>
        <p:txBody>
          <a:bodyPr wrap="square">
            <a:spAutoFit/>
          </a:bodyPr>
          <a:lstStyle/>
          <a:p>
            <a:pPr algn="l">
              <a:defRPr sz="700" b="0" i="1">
                <a:solidFill>
                  <a:srgbClr val="A09CB0"/>
                </a:solidFill>
                <a:latin typeface="Segoe UI"/>
              </a:defRPr>
            </a:pPr>
            <a:r>
              <a:t>186 of 246 agencies</a:t>
            </a:r>
          </a:p>
        </p:txBody>
      </p:sp>
      <p:sp>
        <p:nvSpPr>
          <p:cNvPr id="22" name="Rounded Rectangle 21"/>
          <p:cNvSpPr/>
          <p:nvPr/>
        </p:nvSpPr>
        <p:spPr>
          <a:xfrm>
            <a:off x="4937760" y="1572768"/>
            <a:ext cx="2240280" cy="74980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937760" y="1572768"/>
            <a:ext cx="2240280" cy="457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1645920"/>
            <a:ext cx="822960" cy="365760"/>
          </a:xfrm>
          <a:prstGeom prst="rect">
            <a:avLst/>
          </a:prstGeom>
          <a:noFill/>
        </p:spPr>
        <p:txBody>
          <a:bodyPr wrap="square">
            <a:spAutoFit/>
          </a:bodyPr>
          <a:lstStyle/>
          <a:p>
            <a:pPr algn="l">
              <a:defRPr sz="2000" b="1" i="0">
                <a:solidFill>
                  <a:srgbClr val="EF4444"/>
                </a:solidFill>
                <a:latin typeface="Segoe UI Light"/>
              </a:defRPr>
            </a:pPr>
            <a:r>
              <a:t>84%</a:t>
            </a:r>
          </a:p>
        </p:txBody>
      </p:sp>
      <p:sp>
        <p:nvSpPr>
          <p:cNvPr id="25" name="TextBox 24"/>
          <p:cNvSpPr txBox="1"/>
          <p:nvPr/>
        </p:nvSpPr>
        <p:spPr>
          <a:xfrm>
            <a:off x="5852160" y="1645920"/>
            <a:ext cx="1234440" cy="365760"/>
          </a:xfrm>
          <a:prstGeom prst="rect">
            <a:avLst/>
          </a:prstGeom>
          <a:noFill/>
        </p:spPr>
        <p:txBody>
          <a:bodyPr wrap="square">
            <a:spAutoFit/>
          </a:bodyPr>
          <a:lstStyle/>
          <a:p>
            <a:pPr algn="l">
              <a:defRPr sz="800" b="1" i="0">
                <a:solidFill>
                  <a:srgbClr val="2D233F"/>
                </a:solidFill>
                <a:latin typeface="Segoe UI"/>
              </a:defRPr>
            </a:pPr>
            <a:r>
              <a:t>Submissions at</a:t>
            </a:r>
            <a:br/>
            <a:r>
              <a:t>Uncalled Agencies</a:t>
            </a:r>
          </a:p>
        </p:txBody>
      </p:sp>
      <p:sp>
        <p:nvSpPr>
          <p:cNvPr id="26" name="TextBox 25"/>
          <p:cNvSpPr txBox="1"/>
          <p:nvPr/>
        </p:nvSpPr>
        <p:spPr>
          <a:xfrm>
            <a:off x="5047488" y="2075688"/>
            <a:ext cx="2011680" cy="182880"/>
          </a:xfrm>
          <a:prstGeom prst="rect">
            <a:avLst/>
          </a:prstGeom>
          <a:noFill/>
        </p:spPr>
        <p:txBody>
          <a:bodyPr wrap="square">
            <a:spAutoFit/>
          </a:bodyPr>
          <a:lstStyle/>
          <a:p>
            <a:pPr algn="l">
              <a:defRPr sz="700" b="0" i="1">
                <a:solidFill>
                  <a:srgbClr val="A09CB0"/>
                </a:solidFill>
                <a:latin typeface="Segoe UI"/>
              </a:defRPr>
            </a:pPr>
            <a:r>
              <a:t>1,212 of 1,439 subs</a:t>
            </a:r>
          </a:p>
        </p:txBody>
      </p:sp>
      <p:sp>
        <p:nvSpPr>
          <p:cNvPr id="27" name="Rounded Rectangle 26"/>
          <p:cNvSpPr/>
          <p:nvPr/>
        </p:nvSpPr>
        <p:spPr>
          <a:xfrm>
            <a:off x="7315200" y="1572768"/>
            <a:ext cx="2240280" cy="74980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15200" y="1572768"/>
            <a:ext cx="224028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24928" y="1645920"/>
            <a:ext cx="822960" cy="365760"/>
          </a:xfrm>
          <a:prstGeom prst="rect">
            <a:avLst/>
          </a:prstGeom>
          <a:noFill/>
        </p:spPr>
        <p:txBody>
          <a:bodyPr wrap="square">
            <a:spAutoFit/>
          </a:bodyPr>
          <a:lstStyle/>
          <a:p>
            <a:pPr algn="l">
              <a:defRPr sz="2000" b="1" i="0">
                <a:solidFill>
                  <a:srgbClr val="F59E0B"/>
                </a:solidFill>
                <a:latin typeface="Segoe UI Light"/>
              </a:defRPr>
            </a:pPr>
            <a:r>
              <a:t>10%</a:t>
            </a:r>
          </a:p>
        </p:txBody>
      </p:sp>
      <p:sp>
        <p:nvSpPr>
          <p:cNvPr id="30" name="TextBox 29"/>
          <p:cNvSpPr txBox="1"/>
          <p:nvPr/>
        </p:nvSpPr>
        <p:spPr>
          <a:xfrm>
            <a:off x="8229600" y="1645920"/>
            <a:ext cx="1234440" cy="365760"/>
          </a:xfrm>
          <a:prstGeom prst="rect">
            <a:avLst/>
          </a:prstGeom>
          <a:noFill/>
        </p:spPr>
        <p:txBody>
          <a:bodyPr wrap="square">
            <a:spAutoFit/>
          </a:bodyPr>
          <a:lstStyle/>
          <a:p>
            <a:pPr algn="l">
              <a:defRPr sz="800" b="1" i="0">
                <a:solidFill>
                  <a:srgbClr val="2D233F"/>
                </a:solidFill>
                <a:latin typeface="Segoe UI"/>
              </a:defRPr>
            </a:pPr>
            <a:r>
              <a:t>Assigned Rep</a:t>
            </a:r>
            <a:br/>
            <a:r>
              <a:t>Actually Called</a:t>
            </a:r>
          </a:p>
        </p:txBody>
      </p:sp>
      <p:sp>
        <p:nvSpPr>
          <p:cNvPr id="31" name="TextBox 30"/>
          <p:cNvSpPr txBox="1"/>
          <p:nvPr/>
        </p:nvSpPr>
        <p:spPr>
          <a:xfrm>
            <a:off x="7424928" y="2075688"/>
            <a:ext cx="2011680" cy="182880"/>
          </a:xfrm>
          <a:prstGeom prst="rect">
            <a:avLst/>
          </a:prstGeom>
          <a:noFill/>
        </p:spPr>
        <p:txBody>
          <a:bodyPr wrap="square">
            <a:spAutoFit/>
          </a:bodyPr>
          <a:lstStyle/>
          <a:p>
            <a:pPr algn="l">
              <a:defRPr sz="700" b="0" i="1">
                <a:solidFill>
                  <a:srgbClr val="A09CB0"/>
                </a:solidFill>
                <a:latin typeface="Segoe UI"/>
              </a:defRPr>
            </a:pPr>
            <a:r>
              <a:t>27 of 246 agencies</a:t>
            </a:r>
          </a:p>
        </p:txBody>
      </p:sp>
      <p:sp>
        <p:nvSpPr>
          <p:cNvPr id="32" name="Rounded Rectangle 31"/>
          <p:cNvSpPr/>
          <p:nvPr/>
        </p:nvSpPr>
        <p:spPr>
          <a:xfrm>
            <a:off x="9692640" y="1572768"/>
            <a:ext cx="2240280" cy="74980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692640" y="1572768"/>
            <a:ext cx="224028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02368" y="1645920"/>
            <a:ext cx="822960" cy="365760"/>
          </a:xfrm>
          <a:prstGeom prst="rect">
            <a:avLst/>
          </a:prstGeom>
          <a:noFill/>
        </p:spPr>
        <p:txBody>
          <a:bodyPr wrap="square">
            <a:spAutoFit/>
          </a:bodyPr>
          <a:lstStyle/>
          <a:p>
            <a:pPr algn="l">
              <a:defRPr sz="2000" b="1" i="0">
                <a:solidFill>
                  <a:srgbClr val="F59E0B"/>
                </a:solidFill>
                <a:latin typeface="Segoe UI Light"/>
              </a:defRPr>
            </a:pPr>
            <a:r>
              <a:t>6%</a:t>
            </a:r>
          </a:p>
        </p:txBody>
      </p:sp>
      <p:sp>
        <p:nvSpPr>
          <p:cNvPr id="35" name="TextBox 34"/>
          <p:cNvSpPr txBox="1"/>
          <p:nvPr/>
        </p:nvSpPr>
        <p:spPr>
          <a:xfrm>
            <a:off x="10607040" y="1645920"/>
            <a:ext cx="1234440" cy="365760"/>
          </a:xfrm>
          <a:prstGeom prst="rect">
            <a:avLst/>
          </a:prstGeom>
          <a:noFill/>
        </p:spPr>
        <p:txBody>
          <a:bodyPr wrap="square">
            <a:spAutoFit/>
          </a:bodyPr>
          <a:lstStyle/>
          <a:p>
            <a:pPr algn="l">
              <a:defRPr sz="800" b="1" i="0">
                <a:solidFill>
                  <a:srgbClr val="2D233F"/>
                </a:solidFill>
                <a:latin typeface="Segoe UI"/>
              </a:defRPr>
            </a:pPr>
            <a:r>
              <a:t>Subs Where Rep</a:t>
            </a:r>
            <a:br/>
            <a:r>
              <a:t>Called Agency</a:t>
            </a:r>
          </a:p>
        </p:txBody>
      </p:sp>
      <p:sp>
        <p:nvSpPr>
          <p:cNvPr id="36" name="TextBox 35"/>
          <p:cNvSpPr txBox="1"/>
          <p:nvPr/>
        </p:nvSpPr>
        <p:spPr>
          <a:xfrm>
            <a:off x="9802368" y="2075688"/>
            <a:ext cx="2011680" cy="182880"/>
          </a:xfrm>
          <a:prstGeom prst="rect">
            <a:avLst/>
          </a:prstGeom>
          <a:noFill/>
        </p:spPr>
        <p:txBody>
          <a:bodyPr wrap="square">
            <a:spAutoFit/>
          </a:bodyPr>
          <a:lstStyle/>
          <a:p>
            <a:pPr algn="l">
              <a:defRPr sz="700" b="0" i="1">
                <a:solidFill>
                  <a:srgbClr val="A09CB0"/>
                </a:solidFill>
                <a:latin typeface="Segoe UI"/>
              </a:defRPr>
            </a:pPr>
            <a:r>
              <a:t>89 of 1,439 subs</a:t>
            </a:r>
          </a:p>
        </p:txBody>
      </p:sp>
      <p:sp>
        <p:nvSpPr>
          <p:cNvPr id="37" name="TextBox 36"/>
          <p:cNvSpPr txBox="1"/>
          <p:nvPr/>
        </p:nvSpPr>
        <p:spPr>
          <a:xfrm>
            <a:off x="274320" y="2487168"/>
            <a:ext cx="5486400" cy="201168"/>
          </a:xfrm>
          <a:prstGeom prst="rect">
            <a:avLst/>
          </a:prstGeom>
          <a:noFill/>
        </p:spPr>
        <p:txBody>
          <a:bodyPr wrap="square">
            <a:spAutoFit/>
          </a:bodyPr>
          <a:lstStyle/>
          <a:p>
            <a:pPr algn="l">
              <a:defRPr sz="1000" b="1" i="0">
                <a:solidFill>
                  <a:srgbClr val="5B21B6"/>
                </a:solidFill>
                <a:latin typeface="Segoe UI Semibold"/>
              </a:defRPr>
            </a:pPr>
            <a:r>
              <a:t>BDM EXECUTION ON ASSIGNED AGENCIES</a:t>
            </a:r>
          </a:p>
        </p:txBody>
      </p:sp>
      <p:sp>
        <p:nvSpPr>
          <p:cNvPr id="38" name="Rectangle 37"/>
          <p:cNvSpPr/>
          <p:nvPr/>
        </p:nvSpPr>
        <p:spPr>
          <a:xfrm>
            <a:off x="274320" y="2697480"/>
            <a:ext cx="1371600" cy="2286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9" name="Table 38"/>
          <p:cNvGraphicFramePr>
            <a:graphicFrameLocks noGrp="1"/>
          </p:cNvGraphicFramePr>
          <p:nvPr/>
        </p:nvGraphicFramePr>
        <p:xfrm>
          <a:off x="274320" y="2788920"/>
          <a:ext cx="4480560" cy="1810512"/>
        </p:xfrm>
        <a:graphic>
          <a:graphicData uri="http://schemas.openxmlformats.org/drawingml/2006/table">
            <a:tbl>
              <a:tblPr firstRow="0" bandRow="0" bandCol="0" lastRow="0">
                <a:tableStyleId>{5C22544A-7EE6-4342-B048-85BDC9FD1C3A}</a:tableStyleId>
              </a:tblPr>
              <a:tblGrid>
                <a:gridCol w="1554480"/>
                <a:gridCol w="822960"/>
                <a:gridCol w="731520"/>
                <a:gridCol w="640080"/>
                <a:gridCol w="731520"/>
              </a:tblGrid>
              <a:tr h="201168">
                <a:tc>
                  <a:txBody>
                    <a:bodyPr/>
                    <a:lstStyle/>
                    <a:p>
                      <a:pPr algn="l">
                        <a:defRPr sz="700" b="1">
                          <a:solidFill>
                            <a:srgbClr val="FFFFFF"/>
                          </a:solidFill>
                          <a:latin typeface="Segoe UI Semibold"/>
                        </a:defRPr>
                      </a:pPr>
                      <a:r>
                        <a:t>BDM</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Agencies</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Called</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Rate</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Subs</a:t>
                      </a:r>
                    </a:p>
                  </a:txBody>
                  <a:tcPr anchor="ctr" marL="76200" marR="76200" marT="38100" marB="38100">
                    <a:solidFill>
                      <a:srgbClr val="5B21B6"/>
                    </a:solidFill>
                    <a:lnL w="0">
                      <a:noFill/>
                    </a:lnL>
                    <a:lnR w="0">
                      <a:noFill/>
                    </a:lnR>
                    <a:lnT w="0">
                      <a:noFill/>
                    </a:lnT>
                    <a:lnB w="0">
                      <a:noFill/>
                    </a:lnB>
                  </a:tcPr>
                </a:tc>
              </a:tr>
              <a:tr h="201168">
                <a:tc>
                  <a:txBody>
                    <a:bodyPr/>
                    <a:lstStyle/>
                    <a:p>
                      <a:pPr algn="l">
                        <a:defRPr sz="700" b="1">
                          <a:solidFill>
                            <a:srgbClr val="1E073B"/>
                          </a:solidFill>
                          <a:latin typeface="Segoe UI"/>
                        </a:defRPr>
                      </a:pPr>
                      <a:r>
                        <a:t>Derrick Leroy</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4</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75%</a:t>
                      </a:r>
                    </a:p>
                  </a:txBody>
                  <a:tcPr anchor="ctr" marL="76200" marR="76200" marT="38100" marB="38100">
                    <a:noFill/>
                    <a:lnL w="0">
                      <a:noFill/>
                    </a:lnL>
                    <a:lnR w="0">
                      <a:noFill/>
                    </a:lnR>
                    <a:lnT w="0">
                      <a:noFill/>
                    </a:lnT>
                    <a:lnB w="0">
                      <a:noFill/>
                    </a:lnB>
                  </a:tcPr>
                </a:tc>
                <a:tc>
                  <a:txBody>
                    <a:bodyPr/>
                    <a:lstStyle/>
                    <a:p>
                      <a:pPr algn="ctr">
                        <a:defRPr sz="700" b="0">
                          <a:solidFill>
                            <a:srgbClr val="6B5F83"/>
                          </a:solidFill>
                          <a:latin typeface="Segoe UI"/>
                        </a:defRPr>
                      </a:pPr>
                      <a:r>
                        <a:t>99</a:t>
                      </a:r>
                    </a:p>
                  </a:txBody>
                  <a:tcPr anchor="ctr" marL="76200" marR="76200" marT="38100" marB="38100">
                    <a:noFill/>
                    <a:lnL w="0">
                      <a:noFill/>
                    </a:lnL>
                    <a:lnR w="0">
                      <a:noFill/>
                    </a:lnR>
                    <a:lnT w="0">
                      <a:noFill/>
                    </a:lnT>
                    <a:lnB w="0">
                      <a:noFill/>
                    </a:lnB>
                  </a:tcPr>
                </a:tc>
              </a:tr>
              <a:tr h="201168">
                <a:tc>
                  <a:txBody>
                    <a:bodyPr/>
                    <a:lstStyle/>
                    <a:p>
                      <a:pPr algn="l">
                        <a:defRPr sz="700" b="1">
                          <a:solidFill>
                            <a:srgbClr val="1E073B"/>
                          </a:solidFill>
                          <a:latin typeface="Segoe UI"/>
                        </a:defRPr>
                      </a:pPr>
                      <a:r>
                        <a:t>Derek Janssen</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21</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5</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F59E0B"/>
                          </a:solidFill>
                          <a:latin typeface="Segoe UI"/>
                        </a:defRPr>
                      </a:pPr>
                      <a:r>
                        <a:t>23%</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6B5F83"/>
                          </a:solidFill>
                          <a:latin typeface="Segoe UI"/>
                        </a:defRPr>
                      </a:pPr>
                      <a:r>
                        <a:t>137</a:t>
                      </a:r>
                    </a:p>
                  </a:txBody>
                  <a:tcPr anchor="ctr" marL="76200" marR="76200" marT="38100" marB="38100">
                    <a:solidFill>
                      <a:srgbClr val="F5F3FF"/>
                    </a:solidFill>
                    <a:lnL w="0">
                      <a:noFill/>
                    </a:lnL>
                    <a:lnR w="0">
                      <a:noFill/>
                    </a:lnR>
                    <a:lnT w="0">
                      <a:noFill/>
                    </a:lnT>
                    <a:lnB w="0">
                      <a:noFill/>
                    </a:lnB>
                  </a:tcPr>
                </a:tc>
              </a:tr>
              <a:tr h="201168">
                <a:tc>
                  <a:txBody>
                    <a:bodyPr/>
                    <a:lstStyle/>
                    <a:p>
                      <a:pPr algn="l">
                        <a:defRPr sz="700" b="1">
                          <a:solidFill>
                            <a:srgbClr val="1E073B"/>
                          </a:solidFill>
                          <a:latin typeface="Segoe UI"/>
                        </a:defRPr>
                      </a:pPr>
                      <a:r>
                        <a:t>Ron Douglas</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16</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700" b="1">
                          <a:solidFill>
                            <a:srgbClr val="F59E0B"/>
                          </a:solidFill>
                          <a:latin typeface="Segoe UI"/>
                        </a:defRPr>
                      </a:pPr>
                      <a:r>
                        <a:t>18%</a:t>
                      </a:r>
                    </a:p>
                  </a:txBody>
                  <a:tcPr anchor="ctr" marL="76200" marR="76200" marT="38100" marB="38100">
                    <a:noFill/>
                    <a:lnL w="0">
                      <a:noFill/>
                    </a:lnL>
                    <a:lnR w="0">
                      <a:noFill/>
                    </a:lnR>
                    <a:lnT w="0">
                      <a:noFill/>
                    </a:lnT>
                    <a:lnB w="0">
                      <a:noFill/>
                    </a:lnB>
                  </a:tcPr>
                </a:tc>
                <a:tc>
                  <a:txBody>
                    <a:bodyPr/>
                    <a:lstStyle/>
                    <a:p>
                      <a:pPr algn="ctr">
                        <a:defRPr sz="700" b="0">
                          <a:solidFill>
                            <a:srgbClr val="6B5F83"/>
                          </a:solidFill>
                          <a:latin typeface="Segoe UI"/>
                        </a:defRPr>
                      </a:pPr>
                      <a:r>
                        <a:t>77</a:t>
                      </a:r>
                    </a:p>
                  </a:txBody>
                  <a:tcPr anchor="ctr" marL="76200" marR="76200" marT="38100" marB="38100">
                    <a:noFill/>
                    <a:lnL w="0">
                      <a:noFill/>
                    </a:lnL>
                    <a:lnR w="0">
                      <a:noFill/>
                    </a:lnR>
                    <a:lnT w="0">
                      <a:noFill/>
                    </a:lnT>
                    <a:lnB w="0">
                      <a:noFill/>
                    </a:lnB>
                  </a:tcPr>
                </a:tc>
              </a:tr>
              <a:tr h="201168">
                <a:tc>
                  <a:txBody>
                    <a:bodyPr/>
                    <a:lstStyle/>
                    <a:p>
                      <a:pPr algn="l">
                        <a:defRPr sz="700" b="1">
                          <a:solidFill>
                            <a:srgbClr val="1E073B"/>
                          </a:solidFill>
                          <a:latin typeface="Segoe UI"/>
                        </a:defRPr>
                      </a:pPr>
                      <a:r>
                        <a:t>Christina Moldenhauer</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50%</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6B5F83"/>
                          </a:solidFill>
                          <a:latin typeface="Segoe UI"/>
                        </a:defRPr>
                      </a:pPr>
                      <a:r>
                        <a:t>7</a:t>
                      </a:r>
                    </a:p>
                  </a:txBody>
                  <a:tcPr anchor="ctr" marL="76200" marR="76200" marT="38100" marB="38100">
                    <a:solidFill>
                      <a:srgbClr val="F5F3FF"/>
                    </a:solidFill>
                    <a:lnL w="0">
                      <a:noFill/>
                    </a:lnL>
                    <a:lnR w="0">
                      <a:noFill/>
                    </a:lnR>
                    <a:lnT w="0">
                      <a:noFill/>
                    </a:lnT>
                    <a:lnB w="0">
                      <a:noFill/>
                    </a:lnB>
                  </a:tcPr>
                </a:tc>
              </a:tr>
              <a:tr h="201168">
                <a:tc>
                  <a:txBody>
                    <a:bodyPr/>
                    <a:lstStyle/>
                    <a:p>
                      <a:pPr algn="l">
                        <a:defRPr sz="700" b="1">
                          <a:solidFill>
                            <a:srgbClr val="1E073B"/>
                          </a:solidFill>
                          <a:latin typeface="Segoe UI"/>
                        </a:defRPr>
                      </a:pPr>
                      <a:r>
                        <a:t>James Reid</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17</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700" b="0">
                          <a:solidFill>
                            <a:srgbClr val="6B5F83"/>
                          </a:solidFill>
                          <a:latin typeface="Segoe UI"/>
                        </a:defRPr>
                      </a:pPr>
                      <a:r>
                        <a:t>111</a:t>
                      </a:r>
                    </a:p>
                  </a:txBody>
                  <a:tcPr anchor="ctr" marL="76200" marR="76200" marT="38100" marB="38100">
                    <a:noFill/>
                    <a:lnL w="0">
                      <a:noFill/>
                    </a:lnL>
                    <a:lnR w="0">
                      <a:noFill/>
                    </a:lnR>
                    <a:lnT w="0">
                      <a:noFill/>
                    </a:lnT>
                    <a:lnB w="0">
                      <a:noFill/>
                    </a:lnB>
                  </a:tcPr>
                </a:tc>
              </a:tr>
              <a:tr h="201168">
                <a:tc>
                  <a:txBody>
                    <a:bodyPr/>
                    <a:lstStyle/>
                    <a:p>
                      <a:pPr algn="l">
                        <a:defRPr sz="700" b="1">
                          <a:solidFill>
                            <a:srgbClr val="1E073B"/>
                          </a:solidFill>
                          <a:latin typeface="Segoe UI"/>
                        </a:defRPr>
                      </a:pPr>
                      <a:r>
                        <a:t>Christopher Hayes</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7</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6B5F83"/>
                          </a:solidFill>
                          <a:latin typeface="Segoe UI"/>
                        </a:defRPr>
                      </a:pPr>
                      <a:r>
                        <a:t>19</a:t>
                      </a:r>
                    </a:p>
                  </a:txBody>
                  <a:tcPr anchor="ctr" marL="76200" marR="76200" marT="38100" marB="38100">
                    <a:solidFill>
                      <a:srgbClr val="F5F3FF"/>
                    </a:solidFill>
                    <a:lnL w="0">
                      <a:noFill/>
                    </a:lnL>
                    <a:lnR w="0">
                      <a:noFill/>
                    </a:lnR>
                    <a:lnT w="0">
                      <a:noFill/>
                    </a:lnT>
                    <a:lnB w="0">
                      <a:noFill/>
                    </a:lnB>
                  </a:tcPr>
                </a:tc>
              </a:tr>
              <a:tr h="201168">
                <a:tc>
                  <a:txBody>
                    <a:bodyPr/>
                    <a:lstStyle/>
                    <a:p>
                      <a:pPr algn="l">
                        <a:defRPr sz="700" b="1">
                          <a:solidFill>
                            <a:srgbClr val="1E073B"/>
                          </a:solidFill>
                          <a:latin typeface="Segoe UI"/>
                        </a:defRPr>
                      </a:pPr>
                      <a:r>
                        <a:t>Kevin McKernan</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700" b="0">
                          <a:solidFill>
                            <a:srgbClr val="6B5F83"/>
                          </a:solidFill>
                          <a:latin typeface="Segoe UI"/>
                        </a:defRPr>
                      </a:pPr>
                      <a:r>
                        <a:t>1</a:t>
                      </a:r>
                    </a:p>
                  </a:txBody>
                  <a:tcPr anchor="ctr" marL="76200" marR="76200" marT="38100" marB="38100">
                    <a:noFill/>
                    <a:lnL w="0">
                      <a:noFill/>
                    </a:lnL>
                    <a:lnR w="0">
                      <a:noFill/>
                    </a:lnR>
                    <a:lnT w="0">
                      <a:noFill/>
                    </a:lnT>
                    <a:lnB w="0">
                      <a:noFill/>
                    </a:lnB>
                  </a:tcPr>
                </a:tc>
              </a:tr>
              <a:tr h="201168">
                <a:tc>
                  <a:txBody>
                    <a:bodyPr/>
                    <a:lstStyle/>
                    <a:p>
                      <a:pPr algn="l">
                        <a:defRPr sz="700" b="1">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177</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D946EF"/>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6B5F83"/>
                          </a:solidFill>
                          <a:latin typeface="Segoe UI"/>
                        </a:defRPr>
                      </a:pPr>
                      <a:r>
                        <a:t>987</a:t>
                      </a:r>
                    </a:p>
                  </a:txBody>
                  <a:tcPr anchor="ctr" marL="76200" marR="76200" marT="38100" marB="38100">
                    <a:solidFill>
                      <a:srgbClr val="F5F3FF"/>
                    </a:solidFill>
                    <a:lnL w="0">
                      <a:noFill/>
                    </a:lnL>
                    <a:lnR w="0">
                      <a:noFill/>
                    </a:lnR>
                    <a:lnT w="0">
                      <a:noFill/>
                    </a:lnT>
                    <a:lnB w="0">
                      <a:noFill/>
                    </a:lnB>
                  </a:tcPr>
                </a:tc>
              </a:tr>
            </a:tbl>
          </a:graphicData>
        </a:graphic>
      </p:graphicFrame>
      <p:sp>
        <p:nvSpPr>
          <p:cNvPr id="40" name="TextBox 39"/>
          <p:cNvSpPr txBox="1"/>
          <p:nvPr/>
        </p:nvSpPr>
        <p:spPr>
          <a:xfrm>
            <a:off x="6217920" y="2487168"/>
            <a:ext cx="5486400" cy="201168"/>
          </a:xfrm>
          <a:prstGeom prst="rect">
            <a:avLst/>
          </a:prstGeom>
          <a:noFill/>
        </p:spPr>
        <p:txBody>
          <a:bodyPr wrap="square">
            <a:spAutoFit/>
          </a:bodyPr>
          <a:lstStyle/>
          <a:p>
            <a:pPr algn="l">
              <a:defRPr sz="1000" b="1" i="0">
                <a:solidFill>
                  <a:srgbClr val="5B21B6"/>
                </a:solidFill>
                <a:latin typeface="Segoe UI Semibold"/>
              </a:defRPr>
            </a:pPr>
            <a:r>
              <a:t>BDA EXECUTION ON ASSIGNED AGENCIES</a:t>
            </a:r>
          </a:p>
        </p:txBody>
      </p:sp>
      <p:sp>
        <p:nvSpPr>
          <p:cNvPr id="41" name="Rectangle 40"/>
          <p:cNvSpPr/>
          <p:nvPr/>
        </p:nvSpPr>
        <p:spPr>
          <a:xfrm>
            <a:off x="6217920" y="2697480"/>
            <a:ext cx="1371600" cy="2286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2" name="Table 41"/>
          <p:cNvGraphicFramePr>
            <a:graphicFrameLocks noGrp="1"/>
          </p:cNvGraphicFramePr>
          <p:nvPr/>
        </p:nvGraphicFramePr>
        <p:xfrm>
          <a:off x="6217920" y="2788920"/>
          <a:ext cx="4480560" cy="1609344"/>
        </p:xfrm>
        <a:graphic>
          <a:graphicData uri="http://schemas.openxmlformats.org/drawingml/2006/table">
            <a:tbl>
              <a:tblPr firstRow="0" bandRow="0" bandCol="0" lastRow="0">
                <a:tableStyleId>{5C22544A-7EE6-4342-B048-85BDC9FD1C3A}</a:tableStyleId>
              </a:tblPr>
              <a:tblGrid>
                <a:gridCol w="1554480"/>
                <a:gridCol w="822960"/>
                <a:gridCol w="731520"/>
                <a:gridCol w="640080"/>
                <a:gridCol w="731520"/>
              </a:tblGrid>
              <a:tr h="201168">
                <a:tc>
                  <a:txBody>
                    <a:bodyPr/>
                    <a:lstStyle/>
                    <a:p>
                      <a:pPr algn="l">
                        <a:defRPr sz="700" b="1">
                          <a:solidFill>
                            <a:srgbClr val="FFFFFF"/>
                          </a:solidFill>
                          <a:latin typeface="Segoe UI Semibold"/>
                        </a:defRPr>
                      </a:pPr>
                      <a:r>
                        <a:t>BDA</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Agencies</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Called</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Rate</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Subs</a:t>
                      </a:r>
                    </a:p>
                  </a:txBody>
                  <a:tcPr anchor="ctr" marL="76200" marR="76200" marT="38100" marB="38100">
                    <a:solidFill>
                      <a:srgbClr val="5B21B6"/>
                    </a:solidFill>
                    <a:lnL w="0">
                      <a:noFill/>
                    </a:lnL>
                    <a:lnR w="0">
                      <a:noFill/>
                    </a:lnR>
                    <a:lnT w="0">
                      <a:noFill/>
                    </a:lnT>
                    <a:lnB w="0">
                      <a:noFill/>
                    </a:lnB>
                  </a:tcPr>
                </a:tc>
              </a:tr>
              <a:tr h="201168">
                <a:tc>
                  <a:txBody>
                    <a:bodyPr/>
                    <a:lstStyle/>
                    <a:p>
                      <a:pPr algn="l">
                        <a:defRPr sz="700" b="1">
                          <a:solidFill>
                            <a:srgbClr val="1E073B"/>
                          </a:solidFill>
                          <a:latin typeface="Segoe UI"/>
                        </a:defRPr>
                      </a:pPr>
                      <a:r>
                        <a:t>Cameron Brader</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29</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7</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24%</a:t>
                      </a:r>
                    </a:p>
                  </a:txBody>
                  <a:tcPr anchor="ctr" marL="76200" marR="76200" marT="38100" marB="38100">
                    <a:noFill/>
                    <a:lnL w="0">
                      <a:noFill/>
                    </a:lnL>
                    <a:lnR w="0">
                      <a:noFill/>
                    </a:lnR>
                    <a:lnT w="0">
                      <a:noFill/>
                    </a:lnT>
                    <a:lnB w="0">
                      <a:noFill/>
                    </a:lnB>
                  </a:tcPr>
                </a:tc>
                <a:tc>
                  <a:txBody>
                    <a:bodyPr/>
                    <a:lstStyle/>
                    <a:p>
                      <a:pPr algn="ctr">
                        <a:defRPr sz="700" b="0">
                          <a:solidFill>
                            <a:srgbClr val="6B5F83"/>
                          </a:solidFill>
                          <a:latin typeface="Segoe UI"/>
                        </a:defRPr>
                      </a:pPr>
                      <a:r>
                        <a:t>63</a:t>
                      </a:r>
                    </a:p>
                  </a:txBody>
                  <a:tcPr anchor="ctr" marL="76200" marR="76200" marT="38100" marB="38100">
                    <a:noFill/>
                    <a:lnL w="0">
                      <a:noFill/>
                    </a:lnL>
                    <a:lnR w="0">
                      <a:noFill/>
                    </a:lnR>
                    <a:lnT w="0">
                      <a:noFill/>
                    </a:lnT>
                    <a:lnB w="0">
                      <a:noFill/>
                    </a:lnB>
                  </a:tcPr>
                </a:tc>
              </a:tr>
              <a:tr h="201168">
                <a:tc>
                  <a:txBody>
                    <a:bodyPr/>
                    <a:lstStyle/>
                    <a:p>
                      <a:pPr algn="l">
                        <a:defRPr sz="700" b="1">
                          <a:solidFill>
                            <a:srgbClr val="1E073B"/>
                          </a:solidFill>
                          <a:latin typeface="Segoe UI"/>
                        </a:defRPr>
                      </a:pPr>
                      <a:r>
                        <a:t>Latoya Madlock</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37</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7</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F59E0B"/>
                          </a:solidFill>
                          <a:latin typeface="Segoe UI"/>
                        </a:defRPr>
                      </a:pPr>
                      <a:r>
                        <a:t>18%</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6B5F83"/>
                          </a:solidFill>
                          <a:latin typeface="Segoe UI"/>
                        </a:defRPr>
                      </a:pPr>
                      <a:r>
                        <a:t>262</a:t>
                      </a:r>
                    </a:p>
                  </a:txBody>
                  <a:tcPr anchor="ctr" marL="76200" marR="76200" marT="38100" marB="38100">
                    <a:solidFill>
                      <a:srgbClr val="F5F3FF"/>
                    </a:solidFill>
                    <a:lnL w="0">
                      <a:noFill/>
                    </a:lnL>
                    <a:lnR w="0">
                      <a:noFill/>
                    </a:lnR>
                    <a:lnT w="0">
                      <a:noFill/>
                    </a:lnT>
                    <a:lnB w="0">
                      <a:noFill/>
                    </a:lnB>
                  </a:tcPr>
                </a:tc>
              </a:tr>
              <a:tr h="201168">
                <a:tc>
                  <a:txBody>
                    <a:bodyPr/>
                    <a:lstStyle/>
                    <a:p>
                      <a:pPr algn="l">
                        <a:defRPr sz="700" b="1">
                          <a:solidFill>
                            <a:srgbClr val="1E073B"/>
                          </a:solidFill>
                          <a:latin typeface="Segoe UI"/>
                        </a:defRPr>
                      </a:pPr>
                      <a:r>
                        <a:t>Dominic Purkett</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25</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4</a:t>
                      </a:r>
                    </a:p>
                  </a:txBody>
                  <a:tcPr anchor="ctr" marL="76200" marR="76200" marT="38100" marB="38100">
                    <a:noFill/>
                    <a:lnL w="0">
                      <a:noFill/>
                    </a:lnL>
                    <a:lnR w="0">
                      <a:noFill/>
                    </a:lnR>
                    <a:lnT w="0">
                      <a:noFill/>
                    </a:lnT>
                    <a:lnB w="0">
                      <a:noFill/>
                    </a:lnB>
                  </a:tcPr>
                </a:tc>
                <a:tc>
                  <a:txBody>
                    <a:bodyPr/>
                    <a:lstStyle/>
                    <a:p>
                      <a:pPr algn="ctr">
                        <a:defRPr sz="700" b="1">
                          <a:solidFill>
                            <a:srgbClr val="F59E0B"/>
                          </a:solidFill>
                          <a:latin typeface="Segoe UI"/>
                        </a:defRPr>
                      </a:pPr>
                      <a:r>
                        <a:t>16%</a:t>
                      </a:r>
                    </a:p>
                  </a:txBody>
                  <a:tcPr anchor="ctr" marL="76200" marR="76200" marT="38100" marB="38100">
                    <a:noFill/>
                    <a:lnL w="0">
                      <a:noFill/>
                    </a:lnL>
                    <a:lnR w="0">
                      <a:noFill/>
                    </a:lnR>
                    <a:lnT w="0">
                      <a:noFill/>
                    </a:lnT>
                    <a:lnB w="0">
                      <a:noFill/>
                    </a:lnB>
                  </a:tcPr>
                </a:tc>
                <a:tc>
                  <a:txBody>
                    <a:bodyPr/>
                    <a:lstStyle/>
                    <a:p>
                      <a:pPr algn="ctr">
                        <a:defRPr sz="700" b="0">
                          <a:solidFill>
                            <a:srgbClr val="6B5F83"/>
                          </a:solidFill>
                          <a:latin typeface="Segoe UI"/>
                        </a:defRPr>
                      </a:pPr>
                      <a:r>
                        <a:t>102</a:t>
                      </a:r>
                    </a:p>
                  </a:txBody>
                  <a:tcPr anchor="ctr" marL="76200" marR="76200" marT="38100" marB="38100">
                    <a:noFill/>
                    <a:lnL w="0">
                      <a:noFill/>
                    </a:lnL>
                    <a:lnR w="0">
                      <a:noFill/>
                    </a:lnR>
                    <a:lnT w="0">
                      <a:noFill/>
                    </a:lnT>
                    <a:lnB w="0">
                      <a:noFill/>
                    </a:lnB>
                  </a:tcPr>
                </a:tc>
              </a:tr>
              <a:tr h="201168">
                <a:tc>
                  <a:txBody>
                    <a:bodyPr/>
                    <a:lstStyle/>
                    <a:p>
                      <a:pPr algn="l">
                        <a:defRPr sz="700" b="1">
                          <a:solidFill>
                            <a:srgbClr val="1E073B"/>
                          </a:solidFill>
                          <a:latin typeface="Segoe UI"/>
                        </a:defRPr>
                      </a:pPr>
                      <a:r>
                        <a:t>Antonio Reyes</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10</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10%</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6B5F83"/>
                          </a:solidFill>
                          <a:latin typeface="Segoe UI"/>
                        </a:defRPr>
                      </a:pPr>
                      <a:r>
                        <a:t>48</a:t>
                      </a:r>
                    </a:p>
                  </a:txBody>
                  <a:tcPr anchor="ctr" marL="76200" marR="76200" marT="38100" marB="38100">
                    <a:solidFill>
                      <a:srgbClr val="F5F3FF"/>
                    </a:solidFill>
                    <a:lnL w="0">
                      <a:noFill/>
                    </a:lnL>
                    <a:lnR w="0">
                      <a:noFill/>
                    </a:lnR>
                    <a:lnT w="0">
                      <a:noFill/>
                    </a:lnT>
                    <a:lnB w="0">
                      <a:noFill/>
                    </a:lnB>
                  </a:tcPr>
                </a:tc>
              </a:tr>
              <a:tr h="201168">
                <a:tc>
                  <a:txBody>
                    <a:bodyPr/>
                    <a:lstStyle/>
                    <a:p>
                      <a:pPr algn="l">
                        <a:defRPr sz="700" b="1">
                          <a:solidFill>
                            <a:srgbClr val="1E073B"/>
                          </a:solidFill>
                          <a:latin typeface="Segoe UI"/>
                        </a:defRPr>
                      </a:pPr>
                      <a:r>
                        <a:t>Westy McLaughlin</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5</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700" b="0">
                          <a:solidFill>
                            <a:srgbClr val="6B5F83"/>
                          </a:solidFill>
                          <a:latin typeface="Segoe UI"/>
                        </a:defRPr>
                      </a:pPr>
                      <a:r>
                        <a:t>8</a:t>
                      </a:r>
                    </a:p>
                  </a:txBody>
                  <a:tcPr anchor="ctr" marL="76200" marR="76200" marT="38100" marB="38100">
                    <a:noFill/>
                    <a:lnL w="0">
                      <a:noFill/>
                    </a:lnL>
                    <a:lnR w="0">
                      <a:noFill/>
                    </a:lnR>
                    <a:lnT w="0">
                      <a:noFill/>
                    </a:lnT>
                    <a:lnB w="0">
                      <a:noFill/>
                    </a:lnB>
                  </a:tcPr>
                </a:tc>
              </a:tr>
              <a:tr h="201168">
                <a:tc>
                  <a:txBody>
                    <a:bodyPr/>
                    <a:lstStyle/>
                    <a:p>
                      <a:pPr algn="l">
                        <a:defRPr sz="700" b="1">
                          <a:solidFill>
                            <a:srgbClr val="1E073B"/>
                          </a:solidFill>
                          <a:latin typeface="Segoe UI"/>
                        </a:defRPr>
                      </a:pPr>
                      <a:r>
                        <a:t>Christopher Hayes</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2D233F"/>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700" b="0">
                          <a:solidFill>
                            <a:srgbClr val="6B5F83"/>
                          </a:solidFill>
                          <a:latin typeface="Segoe UI"/>
                        </a:defRPr>
                      </a:pPr>
                      <a:r>
                        <a:t>7</a:t>
                      </a:r>
                    </a:p>
                  </a:txBody>
                  <a:tcPr anchor="ctr" marL="76200" marR="76200" marT="38100" marB="38100">
                    <a:solidFill>
                      <a:srgbClr val="F5F3FF"/>
                    </a:solidFill>
                    <a:lnL w="0">
                      <a:noFill/>
                    </a:lnL>
                    <a:lnR w="0">
                      <a:noFill/>
                    </a:lnR>
                    <a:lnT w="0">
                      <a:noFill/>
                    </a:lnT>
                    <a:lnB w="0">
                      <a:noFill/>
                    </a:lnB>
                  </a:tcPr>
                </a:tc>
              </a:tr>
              <a:tr h="201168">
                <a:tc>
                  <a:txBody>
                    <a:bodyPr/>
                    <a:lstStyle/>
                    <a:p>
                      <a:pPr algn="l">
                        <a:defRPr sz="700" b="1">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ctr">
                        <a:defRPr sz="700" b="0">
                          <a:solidFill>
                            <a:srgbClr val="2D233F"/>
                          </a:solidFill>
                          <a:latin typeface="Segoe UI"/>
                        </a:defRPr>
                      </a:pPr>
                      <a:r>
                        <a:t>138</a:t>
                      </a:r>
                    </a:p>
                  </a:txBody>
                  <a:tcPr anchor="ctr" marL="76200" marR="76200" marT="38100" marB="38100">
                    <a:noFill/>
                    <a:lnL w="0">
                      <a:noFill/>
                    </a:lnL>
                    <a:lnR w="0">
                      <a:noFill/>
                    </a:lnR>
                    <a:lnT w="0">
                      <a:noFill/>
                    </a:lnT>
                    <a:lnB w="0">
                      <a:noFill/>
                    </a:lnB>
                  </a:tcPr>
                </a:tc>
                <a:tc>
                  <a:txBody>
                    <a:bodyPr/>
                    <a:lstStyle/>
                    <a:p>
                      <a:pPr algn="ctr">
                        <a:defRPr sz="7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700" b="1">
                          <a:solidFill>
                            <a:srgbClr val="D946EF"/>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700" b="0">
                          <a:solidFill>
                            <a:srgbClr val="6B5F83"/>
                          </a:solidFill>
                          <a:latin typeface="Segoe UI"/>
                        </a:defRPr>
                      </a:pPr>
                      <a:r>
                        <a:t>948</a:t>
                      </a:r>
                    </a:p>
                  </a:txBody>
                  <a:tcPr anchor="ctr" marL="76200" marR="76200" marT="38100" marB="38100">
                    <a:noFill/>
                    <a:lnL w="0">
                      <a:noFill/>
                    </a:lnL>
                    <a:lnR w="0">
                      <a:noFill/>
                    </a:lnR>
                    <a:lnT w="0">
                      <a:noFill/>
                    </a:lnT>
                    <a:lnB w="0">
                      <a:noFill/>
                    </a:lnB>
                  </a:tcPr>
                </a:tc>
              </a:tr>
            </a:tbl>
          </a:graphicData>
        </a:graphic>
      </p:graphicFrame>
      <p:sp>
        <p:nvSpPr>
          <p:cNvPr id="43" name="Rounded Rectangle 42"/>
          <p:cNvSpPr/>
          <p:nvPr/>
        </p:nvSpPr>
        <p:spPr>
          <a:xfrm>
            <a:off x="274320" y="4754880"/>
            <a:ext cx="5669280" cy="155448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74320" y="4754880"/>
            <a:ext cx="64008" cy="15544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4828032"/>
            <a:ext cx="5303520" cy="201168"/>
          </a:xfrm>
          <a:prstGeom prst="rect">
            <a:avLst/>
          </a:prstGeom>
          <a:noFill/>
        </p:spPr>
        <p:txBody>
          <a:bodyPr wrap="square">
            <a:spAutoFit/>
          </a:bodyPr>
          <a:lstStyle/>
          <a:p>
            <a:pPr algn="l">
              <a:defRPr sz="900" b="1" i="0">
                <a:solidFill>
                  <a:srgbClr val="EF4444"/>
                </a:solidFill>
                <a:latin typeface="Segoe UI Semibold"/>
              </a:defRPr>
            </a:pPr>
            <a:r>
              <a:t>PROBLEM 1: ZERO-COVERAGE AGENCIES</a:t>
            </a:r>
          </a:p>
        </p:txBody>
      </p:sp>
      <p:sp>
        <p:nvSpPr>
          <p:cNvPr id="46" name="TextBox 45"/>
          <p:cNvSpPr txBox="1"/>
          <p:nvPr/>
        </p:nvSpPr>
        <p:spPr>
          <a:xfrm>
            <a:off x="457200" y="5047488"/>
            <a:ext cx="5303520" cy="146304"/>
          </a:xfrm>
          <a:prstGeom prst="rect">
            <a:avLst/>
          </a:prstGeom>
          <a:noFill/>
        </p:spPr>
        <p:txBody>
          <a:bodyPr wrap="square">
            <a:spAutoFit/>
          </a:bodyPr>
          <a:lstStyle/>
          <a:p>
            <a:pPr algn="l">
              <a:defRPr sz="800" b="0" i="0">
                <a:solidFill>
                  <a:srgbClr val="6B5F83"/>
                </a:solidFill>
                <a:latin typeface="Segoe UI"/>
              </a:defRPr>
            </a:pPr>
            <a:r>
              <a:t>•  42% of agencies (110/260) have no assigned BDM or BDA</a:t>
            </a:r>
          </a:p>
        </p:txBody>
      </p:sp>
      <p:sp>
        <p:nvSpPr>
          <p:cNvPr id="47" name="TextBox 46"/>
          <p:cNvSpPr txBox="1"/>
          <p:nvPr/>
        </p:nvSpPr>
        <p:spPr>
          <a:xfrm>
            <a:off x="457200" y="5193792"/>
            <a:ext cx="5303520" cy="146304"/>
          </a:xfrm>
          <a:prstGeom prst="rect">
            <a:avLst/>
          </a:prstGeom>
          <a:noFill/>
        </p:spPr>
        <p:txBody>
          <a:bodyPr wrap="square">
            <a:spAutoFit/>
          </a:bodyPr>
          <a:lstStyle/>
          <a:p>
            <a:pPr algn="l">
              <a:defRPr sz="800" b="0" i="0">
                <a:solidFill>
                  <a:srgbClr val="6B5F83"/>
                </a:solidFill>
                <a:latin typeface="Segoe UI"/>
              </a:defRPr>
            </a:pPr>
            <a:r>
              <a:t>•  829 submissions (54%) sit at agencies with zero rep coverage</a:t>
            </a:r>
          </a:p>
        </p:txBody>
      </p:sp>
      <p:sp>
        <p:nvSpPr>
          <p:cNvPr id="48" name="TextBox 47"/>
          <p:cNvSpPr txBox="1"/>
          <p:nvPr/>
        </p:nvSpPr>
        <p:spPr>
          <a:xfrm>
            <a:off x="457200" y="5340096"/>
            <a:ext cx="5303520" cy="146304"/>
          </a:xfrm>
          <a:prstGeom prst="rect">
            <a:avLst/>
          </a:prstGeom>
          <a:noFill/>
        </p:spPr>
        <p:txBody>
          <a:bodyPr wrap="square">
            <a:spAutoFit/>
          </a:bodyPr>
          <a:lstStyle/>
          <a:p>
            <a:pPr algn="l">
              <a:defRPr sz="800" b="1" i="0">
                <a:solidFill>
                  <a:srgbClr val="2D233F"/>
                </a:solidFill>
                <a:latin typeface="Segoe UI"/>
              </a:defRPr>
            </a:pPr>
            <a:r>
              <a:t>•  Cover Badger alone: 384 subs (25% of all Feb volume) — fully unassigned</a:t>
            </a:r>
          </a:p>
        </p:txBody>
      </p:sp>
      <p:sp>
        <p:nvSpPr>
          <p:cNvPr id="49" name="TextBox 48"/>
          <p:cNvSpPr txBox="1"/>
          <p:nvPr/>
        </p:nvSpPr>
        <p:spPr>
          <a:xfrm>
            <a:off x="457200" y="5486400"/>
            <a:ext cx="5303520" cy="146304"/>
          </a:xfrm>
          <a:prstGeom prst="rect">
            <a:avLst/>
          </a:prstGeom>
          <a:noFill/>
        </p:spPr>
        <p:txBody>
          <a:bodyPr wrap="square">
            <a:spAutoFit/>
          </a:bodyPr>
          <a:lstStyle/>
          <a:p>
            <a:pPr algn="l">
              <a:defRPr sz="800" b="0" i="0">
                <a:solidFill>
                  <a:srgbClr val="10B981"/>
                </a:solidFill>
                <a:latin typeface="Segoe UI"/>
              </a:defRPr>
            </a:pPr>
            <a:r>
              <a:t>•  150 agencies have partial coverage (BDM or BDA only) — acceptable</a:t>
            </a:r>
          </a:p>
        </p:txBody>
      </p:sp>
      <p:sp>
        <p:nvSpPr>
          <p:cNvPr id="50" name="TextBox 49"/>
          <p:cNvSpPr txBox="1"/>
          <p:nvPr/>
        </p:nvSpPr>
        <p:spPr>
          <a:xfrm>
            <a:off x="457200" y="5669280"/>
            <a:ext cx="5303520" cy="146304"/>
          </a:xfrm>
          <a:prstGeom prst="rect">
            <a:avLst/>
          </a:prstGeom>
          <a:noFill/>
        </p:spPr>
        <p:txBody>
          <a:bodyPr wrap="square">
            <a:spAutoFit/>
          </a:bodyPr>
          <a:lstStyle/>
          <a:p>
            <a:pPr algn="l">
              <a:defRPr sz="800" b="0" i="1">
                <a:solidFill>
                  <a:srgbClr val="6B5F83"/>
                </a:solidFill>
                <a:latin typeface="Segoe UI"/>
              </a:defRPr>
            </a:pPr>
            <a:r>
              <a:t>•  Note: Having only a BDM or only a BDA counts as covered</a:t>
            </a:r>
          </a:p>
        </p:txBody>
      </p:sp>
      <p:sp>
        <p:nvSpPr>
          <p:cNvPr id="51" name="Rounded Rectangle 50"/>
          <p:cNvSpPr/>
          <p:nvPr/>
        </p:nvSpPr>
        <p:spPr>
          <a:xfrm>
            <a:off x="6217920" y="4754880"/>
            <a:ext cx="5669280" cy="155448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17920" y="4754880"/>
            <a:ext cx="64008" cy="15544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0" y="4828032"/>
            <a:ext cx="5303520" cy="201168"/>
          </a:xfrm>
          <a:prstGeom prst="rect">
            <a:avLst/>
          </a:prstGeom>
          <a:noFill/>
        </p:spPr>
        <p:txBody>
          <a:bodyPr wrap="square">
            <a:spAutoFit/>
          </a:bodyPr>
          <a:lstStyle/>
          <a:p>
            <a:pPr algn="l">
              <a:defRPr sz="900" b="1" i="0">
                <a:solidFill>
                  <a:srgbClr val="F59E0B"/>
                </a:solidFill>
                <a:latin typeface="Segoe UI Semibold"/>
              </a:defRPr>
            </a:pPr>
            <a:r>
              <a:t>PROBLEM 2: EXECUTION GAP</a:t>
            </a:r>
          </a:p>
        </p:txBody>
      </p:sp>
      <p:sp>
        <p:nvSpPr>
          <p:cNvPr id="54" name="TextBox 53"/>
          <p:cNvSpPr txBox="1"/>
          <p:nvPr/>
        </p:nvSpPr>
        <p:spPr>
          <a:xfrm>
            <a:off x="6400800" y="5047488"/>
            <a:ext cx="5303520" cy="146304"/>
          </a:xfrm>
          <a:prstGeom prst="rect">
            <a:avLst/>
          </a:prstGeom>
          <a:noFill/>
        </p:spPr>
        <p:txBody>
          <a:bodyPr wrap="square">
            <a:spAutoFit/>
          </a:bodyPr>
          <a:lstStyle/>
          <a:p>
            <a:pPr algn="l">
              <a:defRPr sz="800" b="0" i="0">
                <a:solidFill>
                  <a:srgbClr val="6B5F83"/>
                </a:solidFill>
                <a:latin typeface="Segoe UI"/>
              </a:defRPr>
            </a:pPr>
            <a:r>
              <a:t>•  Even when assigned, BDMs call only 10–25% of agencies</a:t>
            </a:r>
          </a:p>
        </p:txBody>
      </p:sp>
      <p:sp>
        <p:nvSpPr>
          <p:cNvPr id="55" name="TextBox 54"/>
          <p:cNvSpPr txBox="1"/>
          <p:nvPr/>
        </p:nvSpPr>
        <p:spPr>
          <a:xfrm>
            <a:off x="6400800" y="5193792"/>
            <a:ext cx="5303520" cy="146304"/>
          </a:xfrm>
          <a:prstGeom prst="rect">
            <a:avLst/>
          </a:prstGeom>
          <a:noFill/>
        </p:spPr>
        <p:txBody>
          <a:bodyPr wrap="square">
            <a:spAutoFit/>
          </a:bodyPr>
          <a:lstStyle/>
          <a:p>
            <a:pPr algn="l">
              <a:defRPr sz="800" b="0" i="0">
                <a:solidFill>
                  <a:srgbClr val="6B5F83"/>
                </a:solidFill>
                <a:latin typeface="Segoe UI"/>
              </a:defRPr>
            </a:pPr>
            <a:r>
              <a:t>•  Even when assigned, BDAs call only 10–24% of agencies</a:t>
            </a:r>
          </a:p>
        </p:txBody>
      </p:sp>
      <p:sp>
        <p:nvSpPr>
          <p:cNvPr id="56" name="TextBox 55"/>
          <p:cNvSpPr txBox="1"/>
          <p:nvPr/>
        </p:nvSpPr>
        <p:spPr>
          <a:xfrm>
            <a:off x="6400800" y="5340096"/>
            <a:ext cx="5303520" cy="146304"/>
          </a:xfrm>
          <a:prstGeom prst="rect">
            <a:avLst/>
          </a:prstGeom>
          <a:noFill/>
        </p:spPr>
        <p:txBody>
          <a:bodyPr wrap="square">
            <a:spAutoFit/>
          </a:bodyPr>
          <a:lstStyle/>
          <a:p>
            <a:pPr algn="l">
              <a:defRPr sz="800" b="0" i="0">
                <a:solidFill>
                  <a:srgbClr val="6B5F83"/>
                </a:solidFill>
                <a:latin typeface="Segoe UI"/>
              </a:defRPr>
            </a:pPr>
            <a:r>
              <a:t>•  James Reid: 17 agencies, 0 called (111 subs untouched)</a:t>
            </a:r>
          </a:p>
        </p:txBody>
      </p:sp>
      <p:sp>
        <p:nvSpPr>
          <p:cNvPr id="57" name="TextBox 56"/>
          <p:cNvSpPr txBox="1"/>
          <p:nvPr/>
        </p:nvSpPr>
        <p:spPr>
          <a:xfrm>
            <a:off x="6400800" y="5486400"/>
            <a:ext cx="5303520" cy="146304"/>
          </a:xfrm>
          <a:prstGeom prst="rect">
            <a:avLst/>
          </a:prstGeom>
          <a:noFill/>
        </p:spPr>
        <p:txBody>
          <a:bodyPr wrap="square">
            <a:spAutoFit/>
          </a:bodyPr>
          <a:lstStyle/>
          <a:p>
            <a:pPr algn="l">
              <a:defRPr sz="800" b="0" i="0">
                <a:solidFill>
                  <a:srgbClr val="6B5F83"/>
                </a:solidFill>
                <a:latin typeface="Segoe UI"/>
              </a:defRPr>
            </a:pPr>
            <a:r>
              <a:t>•  Antonio Reyes: 10 agencies, 1 called (48 subs, 10%)</a:t>
            </a:r>
          </a:p>
        </p:txBody>
      </p:sp>
      <p:sp>
        <p:nvSpPr>
          <p:cNvPr id="58" name="TextBox 57"/>
          <p:cNvSpPr txBox="1"/>
          <p:nvPr/>
        </p:nvSpPr>
        <p:spPr>
          <a:xfrm>
            <a:off x="6400800" y="5669280"/>
            <a:ext cx="5303520" cy="146304"/>
          </a:xfrm>
          <a:prstGeom prst="rect">
            <a:avLst/>
          </a:prstGeom>
          <a:noFill/>
        </p:spPr>
        <p:txBody>
          <a:bodyPr wrap="square">
            <a:spAutoFit/>
          </a:bodyPr>
          <a:lstStyle/>
          <a:p>
            <a:pPr algn="l">
              <a:defRPr sz="800" b="1" i="0">
                <a:solidFill>
                  <a:srgbClr val="2D233F"/>
                </a:solidFill>
                <a:latin typeface="Segoe UI"/>
              </a:defRPr>
            </a:pPr>
            <a:r>
              <a:t>•  Best: Derrick Leroy 75% (4 agencies) &amp; Cameron Brader 24% (29 agencies)</a:t>
            </a:r>
          </a:p>
        </p:txBody>
      </p:sp>
      <p:sp>
        <p:nvSpPr>
          <p:cNvPr id="59" name="Rectangle 58"/>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61" name="TextBox 60"/>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400" b="1" i="0">
                <a:solidFill>
                  <a:srgbClr val="FFFFFF"/>
                </a:solidFill>
                <a:latin typeface="Segoe UI Light"/>
              </a:defRPr>
            </a:pPr>
            <a:r>
              <a:t>AGENCY GAPS &amp; SUCCESS STORIES</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000" b="0" i="0">
                <a:solidFill>
                  <a:srgbClr val="C4B5FD"/>
                </a:solidFill>
                <a:latin typeface="Segoe UI"/>
              </a:defRPr>
            </a:pPr>
            <a:r>
              <a:t>Where Assigned Reps Missed vs Delivered  |  Feb DSG Submissions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298448"/>
            <a:ext cx="7315200" cy="201168"/>
          </a:xfrm>
          <a:prstGeom prst="rect">
            <a:avLst/>
          </a:prstGeom>
          <a:noFill/>
        </p:spPr>
        <p:txBody>
          <a:bodyPr wrap="square">
            <a:spAutoFit/>
          </a:bodyPr>
          <a:lstStyle/>
          <a:p>
            <a:pPr algn="l">
              <a:defRPr sz="1000" b="1" i="0">
                <a:solidFill>
                  <a:srgbClr val="EF4444"/>
                </a:solidFill>
                <a:latin typeface="Segoe UI Semibold"/>
              </a:defRPr>
            </a:pPr>
            <a:r>
              <a:t>TOP 15 AGENCIES — ASSIGNED REP NEVER CALLED (by submission volume)</a:t>
            </a:r>
          </a:p>
        </p:txBody>
      </p:sp>
      <p:sp>
        <p:nvSpPr>
          <p:cNvPr id="12" name="Rectangle 11"/>
          <p:cNvSpPr/>
          <p:nvPr/>
        </p:nvSpPr>
        <p:spPr>
          <a:xfrm>
            <a:off x="274320" y="1508760"/>
            <a:ext cx="1828800" cy="2286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182880" y="1600200"/>
          <a:ext cx="9418320" cy="2926080"/>
        </p:xfrm>
        <a:graphic>
          <a:graphicData uri="http://schemas.openxmlformats.org/drawingml/2006/table">
            <a:tbl>
              <a:tblPr firstRow="0" bandRow="0" bandCol="0" lastRow="0">
                <a:tableStyleId>{5C22544A-7EE6-4342-B048-85BDC9FD1C3A}</a:tableStyleId>
              </a:tblPr>
              <a:tblGrid>
                <a:gridCol w="1920240"/>
                <a:gridCol w="548640"/>
                <a:gridCol w="1371600"/>
                <a:gridCol w="1371600"/>
                <a:gridCol w="2560320"/>
                <a:gridCol w="1645920"/>
              </a:tblGrid>
              <a:tr h="182880">
                <a:tc>
                  <a:txBody>
                    <a:bodyPr/>
                    <a:lstStyle/>
                    <a:p>
                      <a:pPr algn="l">
                        <a:defRPr sz="7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ctr">
                        <a:defRPr sz="700" b="1">
                          <a:solidFill>
                            <a:srgbClr val="FFFFFF"/>
                          </a:solidFill>
                          <a:latin typeface="Segoe UI Semibold"/>
                        </a:defRPr>
                      </a:pPr>
                      <a:r>
                        <a:t>Subs</a:t>
                      </a:r>
                    </a:p>
                  </a:txBody>
                  <a:tcPr anchor="ctr" marL="76200" marR="76200" marT="38100" marB="38100">
                    <a:solidFill>
                      <a:srgbClr val="5B21B6"/>
                    </a:solidFill>
                    <a:lnL w="0">
                      <a:noFill/>
                    </a:lnL>
                    <a:lnR w="0">
                      <a:noFill/>
                    </a:lnR>
                    <a:lnT w="0">
                      <a:noFill/>
                    </a:lnT>
                    <a:lnB w="0">
                      <a:noFill/>
                    </a:lnB>
                  </a:tcPr>
                </a:tc>
                <a:tc>
                  <a:txBody>
                    <a:bodyPr/>
                    <a:lstStyle/>
                    <a:p>
                      <a:pPr algn="l">
                        <a:defRPr sz="700" b="1">
                          <a:solidFill>
                            <a:srgbClr val="FFFFFF"/>
                          </a:solidFill>
                          <a:latin typeface="Segoe UI Semibold"/>
                        </a:defRPr>
                      </a:pPr>
                      <a:r>
                        <a:t>Assigned BDM</a:t>
                      </a:r>
                    </a:p>
                  </a:txBody>
                  <a:tcPr anchor="ctr" marL="76200" marR="76200" marT="38100" marB="38100">
                    <a:solidFill>
                      <a:srgbClr val="5B21B6"/>
                    </a:solidFill>
                    <a:lnL w="0">
                      <a:noFill/>
                    </a:lnL>
                    <a:lnR w="0">
                      <a:noFill/>
                    </a:lnR>
                    <a:lnT w="0">
                      <a:noFill/>
                    </a:lnT>
                    <a:lnB w="0">
                      <a:noFill/>
                    </a:lnB>
                  </a:tcPr>
                </a:tc>
                <a:tc>
                  <a:txBody>
                    <a:bodyPr/>
                    <a:lstStyle/>
                    <a:p>
                      <a:pPr algn="l">
                        <a:defRPr sz="700" b="1">
                          <a:solidFill>
                            <a:srgbClr val="FFFFFF"/>
                          </a:solidFill>
                          <a:latin typeface="Segoe UI Semibold"/>
                        </a:defRPr>
                      </a:pPr>
                      <a:r>
                        <a:t>Assigned BDA</a:t>
                      </a:r>
                    </a:p>
                  </a:txBody>
                  <a:tcPr anchor="ctr" marL="76200" marR="76200" marT="38100" marB="38100">
                    <a:solidFill>
                      <a:srgbClr val="5B21B6"/>
                    </a:solidFill>
                    <a:lnL w="0">
                      <a:noFill/>
                    </a:lnL>
                    <a:lnR w="0">
                      <a:noFill/>
                    </a:lnR>
                    <a:lnT w="0">
                      <a:noFill/>
                    </a:lnT>
                    <a:lnB w="0">
                      <a:noFill/>
                    </a:lnB>
                  </a:tcPr>
                </a:tc>
                <a:tc>
                  <a:txBody>
                    <a:bodyPr/>
                    <a:lstStyle/>
                    <a:p>
                      <a:pPr algn="l">
                        <a:defRPr sz="700" b="1">
                          <a:solidFill>
                            <a:srgbClr val="FFFFFF"/>
                          </a:solidFill>
                          <a:latin typeface="Segoe UI Semibold"/>
                        </a:defRPr>
                      </a:pPr>
                      <a:r>
                        <a:t>Status Breakdown</a:t>
                      </a:r>
                    </a:p>
                  </a:txBody>
                  <a:tcPr anchor="ctr" marL="76200" marR="76200" marT="38100" marB="38100">
                    <a:solidFill>
                      <a:srgbClr val="5B21B6"/>
                    </a:solidFill>
                    <a:lnL w="0">
                      <a:noFill/>
                    </a:lnL>
                    <a:lnR w="0">
                      <a:noFill/>
                    </a:lnR>
                    <a:lnT w="0">
                      <a:noFill/>
                    </a:lnT>
                    <a:lnB w="0">
                      <a:noFill/>
                    </a:lnB>
                  </a:tcPr>
                </a:tc>
                <a:tc>
                  <a:txBody>
                    <a:bodyPr/>
                    <a:lstStyle/>
                    <a:p>
                      <a:pPr algn="l">
                        <a:defRPr sz="700" b="1">
                          <a:solidFill>
                            <a:srgbClr val="FFFFFF"/>
                          </a:solidFill>
                          <a:latin typeface="Segoe UI Semibold"/>
                        </a:defRPr>
                      </a:pPr>
                      <a:r>
                        <a:t>Who Called?</a:t>
                      </a:r>
                    </a:p>
                  </a:txBody>
                  <a:tcPr anchor="ctr" marL="76200" marR="76200" marT="38100" marB="38100">
                    <a:solidFill>
                      <a:srgbClr val="5B21B6"/>
                    </a:solidFill>
                    <a:lnL w="0">
                      <a:noFill/>
                    </a:lnL>
                    <a:lnR w="0">
                      <a:noFill/>
                    </a:lnR>
                    <a:lnT w="0">
                      <a:noFill/>
                    </a:lnT>
                    <a:lnB w="0">
                      <a:noFill/>
                    </a:lnB>
                  </a:tcPr>
                </a:tc>
              </a:tr>
              <a:tr h="182880">
                <a:tc>
                  <a:txBody>
                    <a:bodyPr/>
                    <a:lstStyle/>
                    <a:p>
                      <a:pPr algn="l">
                        <a:defRPr sz="700" b="1">
                          <a:solidFill>
                            <a:srgbClr val="1E073B"/>
                          </a:solidFill>
                          <a:latin typeface="Segoe UI"/>
                        </a:defRPr>
                      </a:pPr>
                      <a:r>
                        <a:t>Cover Badger LLC</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371</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Quoted: 247, Declined: 112</a:t>
                      </a:r>
                    </a:p>
                  </a:txBody>
                  <a:tcPr anchor="ctr" marL="76200" marR="76200" marT="38100" marB="38100">
                    <a:no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noFill/>
                    <a:lnL w="0">
                      <a:noFill/>
                    </a:lnL>
                    <a:lnR w="0">
                      <a:noFill/>
                    </a:lnR>
                    <a:lnT w="0">
                      <a:noFill/>
                    </a:lnT>
                    <a:lnB w="0">
                      <a:noFill/>
                    </a:lnB>
                  </a:tcPr>
                </a:tc>
              </a:tr>
              <a:tr h="182880">
                <a:tc>
                  <a:txBody>
                    <a:bodyPr/>
                    <a:lstStyle/>
                    <a:p>
                      <a:pPr algn="l">
                        <a:defRPr sz="700" b="1">
                          <a:solidFill>
                            <a:srgbClr val="1E073B"/>
                          </a:solidFill>
                          <a:latin typeface="Segoe UI"/>
                        </a:defRPr>
                      </a:pPr>
                      <a:r>
                        <a:t>Fino Services LLC</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81</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Derrick Leroy</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Latoya Madlock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Quoted: 35, Declined: 29</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solidFill>
                      <a:srgbClr val="F5F3FF"/>
                    </a:solidFill>
                    <a:lnL w="0">
                      <a:noFill/>
                    </a:lnL>
                    <a:lnR w="0">
                      <a:noFill/>
                    </a:lnR>
                    <a:lnT w="0">
                      <a:noFill/>
                    </a:lnT>
                    <a:lnB w="0">
                      <a:noFill/>
                    </a:lnB>
                  </a:tcPr>
                </a:tc>
              </a:tr>
              <a:tr h="182880">
                <a:tc>
                  <a:txBody>
                    <a:bodyPr/>
                    <a:lstStyle/>
                    <a:p>
                      <a:pPr algn="l">
                        <a:defRPr sz="700" b="1">
                          <a:solidFill>
                            <a:srgbClr val="1E073B"/>
                          </a:solidFill>
                          <a:latin typeface="Segoe UI"/>
                        </a:defRPr>
                      </a:pPr>
                      <a:r>
                        <a:t>AMC Agents LLC</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51</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Quoted: 26, Declined: 20</a:t>
                      </a:r>
                    </a:p>
                  </a:txBody>
                  <a:tcPr anchor="ctr" marL="76200" marR="76200" marT="38100" marB="38100">
                    <a:no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noFill/>
                    <a:lnL w="0">
                      <a:noFill/>
                    </a:lnL>
                    <a:lnR w="0">
                      <a:noFill/>
                    </a:lnR>
                    <a:lnT w="0">
                      <a:noFill/>
                    </a:lnT>
                    <a:lnB w="0">
                      <a:noFill/>
                    </a:lnB>
                  </a:tcPr>
                </a:tc>
              </a:tr>
              <a:tr h="182880">
                <a:tc>
                  <a:txBody>
                    <a:bodyPr/>
                    <a:lstStyle/>
                    <a:p>
                      <a:pPr algn="l">
                        <a:defRPr sz="700" b="1">
                          <a:solidFill>
                            <a:srgbClr val="1E073B"/>
                          </a:solidFill>
                          <a:latin typeface="Segoe UI"/>
                        </a:defRPr>
                      </a:pPr>
                      <a:r>
                        <a:t>Storrs Insurance Group</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37</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Derek Janssen</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Dominic Purkett</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Quoted: 22, Declined: 10</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solidFill>
                      <a:srgbClr val="F5F3FF"/>
                    </a:solidFill>
                    <a:lnL w="0">
                      <a:noFill/>
                    </a:lnL>
                    <a:lnR w="0">
                      <a:noFill/>
                    </a:lnR>
                    <a:lnT w="0">
                      <a:noFill/>
                    </a:lnT>
                    <a:lnB w="0">
                      <a:noFill/>
                    </a:lnB>
                  </a:tcPr>
                </a:tc>
              </a:tr>
              <a:tr h="182880">
                <a:tc>
                  <a:txBody>
                    <a:bodyPr/>
                    <a:lstStyle/>
                    <a:p>
                      <a:pPr algn="l">
                        <a:defRPr sz="700" b="1">
                          <a:solidFill>
                            <a:srgbClr val="1E073B"/>
                          </a:solidFill>
                          <a:latin typeface="Segoe UI"/>
                        </a:defRPr>
                      </a:pPr>
                      <a:r>
                        <a:t>United Advantage Ins.</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35</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Latoya Madlock</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Quoted: 19, Declined: 12</a:t>
                      </a:r>
                    </a:p>
                  </a:txBody>
                  <a:tcPr anchor="ctr" marL="76200" marR="76200" marT="38100" marB="38100">
                    <a:no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noFill/>
                    <a:lnL w="0">
                      <a:noFill/>
                    </a:lnL>
                    <a:lnR w="0">
                      <a:noFill/>
                    </a:lnR>
                    <a:lnT w="0">
                      <a:noFill/>
                    </a:lnT>
                    <a:lnB w="0">
                      <a:noFill/>
                    </a:lnB>
                  </a:tcPr>
                </a:tc>
              </a:tr>
              <a:tr h="182880">
                <a:tc>
                  <a:txBody>
                    <a:bodyPr/>
                    <a:lstStyle/>
                    <a:p>
                      <a:pPr algn="l">
                        <a:defRPr sz="700" b="1">
                          <a:solidFill>
                            <a:srgbClr val="1E073B"/>
                          </a:solidFill>
                          <a:latin typeface="Segoe UI"/>
                        </a:defRPr>
                      </a:pPr>
                      <a:r>
                        <a:t>Justin Robert Ins.</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33</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Quoted: 24, Submitted: 4</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solidFill>
                      <a:srgbClr val="F5F3FF"/>
                    </a:solidFill>
                    <a:lnL w="0">
                      <a:noFill/>
                    </a:lnL>
                    <a:lnR w="0">
                      <a:noFill/>
                    </a:lnR>
                    <a:lnT w="0">
                      <a:noFill/>
                    </a:lnT>
                    <a:lnB w="0">
                      <a:noFill/>
                    </a:lnB>
                  </a:tcPr>
                </a:tc>
              </a:tr>
              <a:tr h="182880">
                <a:tc>
                  <a:txBody>
                    <a:bodyPr/>
                    <a:lstStyle/>
                    <a:p>
                      <a:pPr algn="l">
                        <a:defRPr sz="700" b="1">
                          <a:solidFill>
                            <a:srgbClr val="1E073B"/>
                          </a:solidFill>
                          <a:latin typeface="Segoe UI"/>
                        </a:defRPr>
                      </a:pPr>
                      <a:r>
                        <a:t>Insurance4Truckers</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31</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Ron Douglas</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Declined: 15, Quoted: 9</a:t>
                      </a:r>
                    </a:p>
                  </a:txBody>
                  <a:tcPr anchor="ctr" marL="76200" marR="76200" marT="38100" marB="38100">
                    <a:no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noFill/>
                    <a:lnL w="0">
                      <a:noFill/>
                    </a:lnL>
                    <a:lnR w="0">
                      <a:noFill/>
                    </a:lnR>
                    <a:lnT w="0">
                      <a:noFill/>
                    </a:lnT>
                    <a:lnB w="0">
                      <a:noFill/>
                    </a:lnB>
                  </a:tcPr>
                </a:tc>
              </a:tr>
              <a:tr h="182880">
                <a:tc>
                  <a:txBody>
                    <a:bodyPr/>
                    <a:lstStyle/>
                    <a:p>
                      <a:pPr algn="l">
                        <a:defRPr sz="700" b="1">
                          <a:solidFill>
                            <a:srgbClr val="1E073B"/>
                          </a:solidFill>
                          <a:latin typeface="Segoe UI"/>
                        </a:defRPr>
                      </a:pPr>
                      <a:r>
                        <a:t>R-T Specialty, LLC</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29</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James Reid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Latoya Madlock</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Declined: 21, Quoted: 4</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solidFill>
                      <a:srgbClr val="F5F3FF"/>
                    </a:solidFill>
                    <a:lnL w="0">
                      <a:noFill/>
                    </a:lnL>
                    <a:lnR w="0">
                      <a:noFill/>
                    </a:lnR>
                    <a:lnT w="0">
                      <a:noFill/>
                    </a:lnT>
                    <a:lnB w="0">
                      <a:noFill/>
                    </a:lnB>
                  </a:tcPr>
                </a:tc>
              </a:tr>
              <a:tr h="182880">
                <a:tc>
                  <a:txBody>
                    <a:bodyPr/>
                    <a:lstStyle/>
                    <a:p>
                      <a:pPr algn="l">
                        <a:defRPr sz="700" b="1">
                          <a:solidFill>
                            <a:srgbClr val="1E073B"/>
                          </a:solidFill>
                          <a:latin typeface="Segoe UI"/>
                        </a:defRPr>
                      </a:pPr>
                      <a:r>
                        <a:t>DNIS Inc.</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27</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Quoted: 12, Declined: 10</a:t>
                      </a:r>
                    </a:p>
                  </a:txBody>
                  <a:tcPr anchor="ctr" marL="76200" marR="76200" marT="38100" marB="38100">
                    <a:noFill/>
                    <a:lnL w="0">
                      <a:noFill/>
                    </a:lnL>
                    <a:lnR w="0">
                      <a:noFill/>
                    </a:lnR>
                    <a:lnT w="0">
                      <a:noFill/>
                    </a:lnT>
                    <a:lnB w="0">
                      <a:noFill/>
                    </a:lnB>
                  </a:tcPr>
                </a:tc>
                <a:tc>
                  <a:txBody>
                    <a:bodyPr/>
                    <a:lstStyle/>
                    <a:p>
                      <a:pPr algn="l">
                        <a:defRPr sz="700" b="1">
                          <a:solidFill>
                            <a:srgbClr val="7C3AED"/>
                          </a:solidFill>
                          <a:latin typeface="Segoe UI"/>
                        </a:defRPr>
                      </a:pPr>
                      <a:r>
                        <a:t>C.Hayes, L.Madlock</a:t>
                      </a:r>
                    </a:p>
                  </a:txBody>
                  <a:tcPr anchor="ctr" marL="76200" marR="76200" marT="38100" marB="38100">
                    <a:noFill/>
                    <a:lnL w="0">
                      <a:noFill/>
                    </a:lnL>
                    <a:lnR w="0">
                      <a:noFill/>
                    </a:lnR>
                    <a:lnT w="0">
                      <a:noFill/>
                    </a:lnT>
                    <a:lnB w="0">
                      <a:noFill/>
                    </a:lnB>
                  </a:tcPr>
                </a:tc>
              </a:tr>
              <a:tr h="182880">
                <a:tc>
                  <a:txBody>
                    <a:bodyPr/>
                    <a:lstStyle/>
                    <a:p>
                      <a:pPr algn="l">
                        <a:defRPr sz="700" b="1">
                          <a:solidFill>
                            <a:srgbClr val="1E073B"/>
                          </a:solidFill>
                          <a:latin typeface="Segoe UI"/>
                        </a:defRPr>
                      </a:pPr>
                      <a:r>
                        <a:t>American Fleet Ins.</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24</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Declined: 12, Quoted: 10</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solidFill>
                      <a:srgbClr val="F5F3FF"/>
                    </a:solidFill>
                    <a:lnL w="0">
                      <a:noFill/>
                    </a:lnL>
                    <a:lnR w="0">
                      <a:noFill/>
                    </a:lnR>
                    <a:lnT w="0">
                      <a:noFill/>
                    </a:lnT>
                    <a:lnB w="0">
                      <a:noFill/>
                    </a:lnB>
                  </a:tcPr>
                </a:tc>
              </a:tr>
              <a:tr h="182880">
                <a:tc>
                  <a:txBody>
                    <a:bodyPr/>
                    <a:lstStyle/>
                    <a:p>
                      <a:pPr algn="l">
                        <a:defRPr sz="700" b="1">
                          <a:solidFill>
                            <a:srgbClr val="1E073B"/>
                          </a:solidFill>
                          <a:latin typeface="Segoe UI"/>
                        </a:defRPr>
                      </a:pPr>
                      <a:r>
                        <a:t>Reliance Partners</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22</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Derek Janssen</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Declined: 14, Quoted: 2</a:t>
                      </a:r>
                    </a:p>
                  </a:txBody>
                  <a:tcPr anchor="ctr" marL="76200" marR="76200" marT="38100" marB="38100">
                    <a:no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noFill/>
                    <a:lnL w="0">
                      <a:noFill/>
                    </a:lnL>
                    <a:lnR w="0">
                      <a:noFill/>
                    </a:lnR>
                    <a:lnT w="0">
                      <a:noFill/>
                    </a:lnT>
                    <a:lnB w="0">
                      <a:noFill/>
                    </a:lnB>
                  </a:tcPr>
                </a:tc>
              </a:tr>
              <a:tr h="182880">
                <a:tc>
                  <a:txBody>
                    <a:bodyPr/>
                    <a:lstStyle/>
                    <a:p>
                      <a:pPr algn="l">
                        <a:defRPr sz="700" b="1">
                          <a:solidFill>
                            <a:srgbClr val="1E073B"/>
                          </a:solidFill>
                          <a:latin typeface="Segoe UI"/>
                        </a:defRPr>
                      </a:pPr>
                      <a:r>
                        <a:t>Rodriguez Ins. Agency</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21</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Declined: 11, Quoted: 8</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solidFill>
                      <a:srgbClr val="F5F3FF"/>
                    </a:solidFill>
                    <a:lnL w="0">
                      <a:noFill/>
                    </a:lnL>
                    <a:lnR w="0">
                      <a:noFill/>
                    </a:lnR>
                    <a:lnT w="0">
                      <a:noFill/>
                    </a:lnT>
                    <a:lnB w="0">
                      <a:noFill/>
                    </a:lnB>
                  </a:tcPr>
                </a:tc>
              </a:tr>
              <a:tr h="182880">
                <a:tc>
                  <a:txBody>
                    <a:bodyPr/>
                    <a:lstStyle/>
                    <a:p>
                      <a:pPr algn="l">
                        <a:defRPr sz="700" b="1">
                          <a:solidFill>
                            <a:srgbClr val="1E073B"/>
                          </a:solidFill>
                          <a:latin typeface="Segoe UI"/>
                        </a:defRPr>
                      </a:pPr>
                      <a:r>
                        <a:t>Horizons Ins. &amp; Financial</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20</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James Reid</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Antonio Reyes</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Quoted: 15, Declined: 3</a:t>
                      </a:r>
                    </a:p>
                  </a:txBody>
                  <a:tcPr anchor="ctr" marL="76200" marR="76200" marT="38100" marB="38100">
                    <a:no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noFill/>
                    <a:lnL w="0">
                      <a:noFill/>
                    </a:lnL>
                    <a:lnR w="0">
                      <a:noFill/>
                    </a:lnR>
                    <a:lnT w="0">
                      <a:noFill/>
                    </a:lnT>
                    <a:lnB w="0">
                      <a:noFill/>
                    </a:lnB>
                  </a:tcPr>
                </a:tc>
              </a:tr>
              <a:tr h="182880">
                <a:tc>
                  <a:txBody>
                    <a:bodyPr/>
                    <a:lstStyle/>
                    <a:p>
                      <a:pPr algn="l">
                        <a:defRPr sz="700" b="1">
                          <a:solidFill>
                            <a:srgbClr val="1E073B"/>
                          </a:solidFill>
                          <a:latin typeface="Segoe UI"/>
                        </a:defRPr>
                      </a:pPr>
                      <a:r>
                        <a:t>USA Specialty / Preventty</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EF4444"/>
                          </a:solidFill>
                          <a:latin typeface="Segoe UI"/>
                        </a:defRPr>
                      </a:pPr>
                      <a:r>
                        <a:t>16</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Quoted: 7, Declined: 7</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solidFill>
                      <a:srgbClr val="F5F3FF"/>
                    </a:solidFill>
                    <a:lnL w="0">
                      <a:noFill/>
                    </a:lnL>
                    <a:lnR w="0">
                      <a:noFill/>
                    </a:lnR>
                    <a:lnT w="0">
                      <a:noFill/>
                    </a:lnT>
                    <a:lnB w="0">
                      <a:noFill/>
                    </a:lnB>
                  </a:tcPr>
                </a:tc>
              </a:tr>
              <a:tr h="182880">
                <a:tc>
                  <a:txBody>
                    <a:bodyPr/>
                    <a:lstStyle/>
                    <a:p>
                      <a:pPr algn="l">
                        <a:defRPr sz="700" b="1">
                          <a:solidFill>
                            <a:srgbClr val="1E073B"/>
                          </a:solidFill>
                          <a:latin typeface="Segoe UI"/>
                        </a:defRPr>
                      </a:pPr>
                      <a:r>
                        <a:t>All Lines / Valley Truck</a:t>
                      </a:r>
                    </a:p>
                  </a:txBody>
                  <a:tcPr anchor="ctr" marL="76200" marR="76200" marT="38100" marB="38100">
                    <a:noFill/>
                    <a:lnL w="0">
                      <a:noFill/>
                    </a:lnL>
                    <a:lnR w="0">
                      <a:noFill/>
                    </a:lnR>
                    <a:lnT w="0">
                      <a:noFill/>
                    </a:lnT>
                    <a:lnB w="0">
                      <a:noFill/>
                    </a:lnB>
                  </a:tcPr>
                </a:tc>
                <a:tc>
                  <a:txBody>
                    <a:bodyPr/>
                    <a:lstStyle/>
                    <a:p>
                      <a:pPr algn="ctr">
                        <a:defRPr sz="700" b="1">
                          <a:solidFill>
                            <a:srgbClr val="EF4444"/>
                          </a:solidFill>
                          <a:latin typeface="Segoe UI"/>
                        </a:defRPr>
                      </a:pPr>
                      <a:r>
                        <a:t>15</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9C92B5"/>
                          </a:solidFill>
                          <a:latin typeface="Segoe UI"/>
                        </a:defRPr>
                      </a:pPr>
                      <a:r>
                        <a:t>Unassigned</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Declined: 8, Quoted: 5</a:t>
                      </a:r>
                    </a:p>
                  </a:txBody>
                  <a:tcPr anchor="ctr" marL="76200" marR="76200" marT="38100" marB="38100">
                    <a:noFill/>
                    <a:lnL w="0">
                      <a:noFill/>
                    </a:lnL>
                    <a:lnR w="0">
                      <a:noFill/>
                    </a:lnR>
                    <a:lnT w="0">
                      <a:noFill/>
                    </a:lnT>
                    <a:lnB w="0">
                      <a:noFill/>
                    </a:lnB>
                  </a:tcPr>
                </a:tc>
                <a:tc>
                  <a:txBody>
                    <a:bodyPr/>
                    <a:lstStyle/>
                    <a:p>
                      <a:pPr algn="l">
                        <a:defRPr sz="700" b="0">
                          <a:solidFill>
                            <a:srgbClr val="EF4444"/>
                          </a:solidFill>
                          <a:latin typeface="Segoe UI"/>
                        </a:defRPr>
                      </a:pPr>
                      <a:r>
                        <a:t>No one</a:t>
                      </a:r>
                    </a:p>
                  </a:txBody>
                  <a:tcPr anchor="ctr" marL="76200" marR="76200" marT="38100" marB="38100">
                    <a:noFill/>
                    <a:lnL w="0">
                      <a:noFill/>
                    </a:lnL>
                    <a:lnR w="0">
                      <a:noFill/>
                    </a:lnR>
                    <a:lnT w="0">
                      <a:noFill/>
                    </a:lnT>
                    <a:lnB w="0">
                      <a:noFill/>
                    </a:lnB>
                  </a:tcPr>
                </a:tc>
              </a:tr>
            </a:tbl>
          </a:graphicData>
        </a:graphic>
      </p:graphicFrame>
      <p:sp>
        <p:nvSpPr>
          <p:cNvPr id="14" name="TextBox 13"/>
          <p:cNvSpPr txBox="1"/>
          <p:nvPr/>
        </p:nvSpPr>
        <p:spPr>
          <a:xfrm>
            <a:off x="274320" y="4572000"/>
            <a:ext cx="7315200" cy="201168"/>
          </a:xfrm>
          <a:prstGeom prst="rect">
            <a:avLst/>
          </a:prstGeom>
          <a:noFill/>
        </p:spPr>
        <p:txBody>
          <a:bodyPr wrap="square">
            <a:spAutoFit/>
          </a:bodyPr>
          <a:lstStyle/>
          <a:p>
            <a:pPr algn="l">
              <a:defRPr sz="1000" b="1" i="0">
                <a:solidFill>
                  <a:srgbClr val="10B981"/>
                </a:solidFill>
                <a:latin typeface="Segoe UI Semibold"/>
              </a:defRPr>
            </a:pPr>
            <a:r>
              <a:t>SUCCESS STORIES — AGENCIES WHERE ASSIGNED REP CALLED (top by volume)</a:t>
            </a:r>
          </a:p>
        </p:txBody>
      </p:sp>
      <p:sp>
        <p:nvSpPr>
          <p:cNvPr id="15" name="Rectangle 14"/>
          <p:cNvSpPr/>
          <p:nvPr/>
        </p:nvSpPr>
        <p:spPr>
          <a:xfrm>
            <a:off x="274320" y="4782312"/>
            <a:ext cx="1828800" cy="228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6" name="Table 15"/>
          <p:cNvGraphicFramePr>
            <a:graphicFrameLocks noGrp="1"/>
          </p:cNvGraphicFramePr>
          <p:nvPr/>
        </p:nvGraphicFramePr>
        <p:xfrm>
          <a:off x="182880" y="4864608"/>
          <a:ext cx="8138160" cy="1563624"/>
        </p:xfrm>
        <a:graphic>
          <a:graphicData uri="http://schemas.openxmlformats.org/drawingml/2006/table">
            <a:tbl>
              <a:tblPr firstRow="0" bandRow="0" bandCol="0" lastRow="0">
                <a:tableStyleId>{5C22544A-7EE6-4342-B048-85BDC9FD1C3A}</a:tableStyleId>
              </a:tblPr>
              <a:tblGrid>
                <a:gridCol w="2103120"/>
                <a:gridCol w="548640"/>
                <a:gridCol w="2743200"/>
                <a:gridCol w="2743200"/>
              </a:tblGrid>
              <a:tr h="173736">
                <a:tc>
                  <a:txBody>
                    <a:bodyPr/>
                    <a:lstStyle/>
                    <a:p>
                      <a:pPr algn="l">
                        <a:defRPr sz="700" b="1">
                          <a:solidFill>
                            <a:srgbClr val="FFFFFF"/>
                          </a:solidFill>
                          <a:latin typeface="Segoe UI Semibold"/>
                        </a:defRPr>
                      </a:pPr>
                      <a:r>
                        <a:t>Agency</a:t>
                      </a:r>
                    </a:p>
                  </a:txBody>
                  <a:tcPr anchor="ctr" marL="76200" marR="76200" marT="38100" marB="38100">
                    <a:solidFill>
                      <a:srgbClr val="10B981"/>
                    </a:solidFill>
                    <a:lnL w="0">
                      <a:noFill/>
                    </a:lnL>
                    <a:lnR w="0">
                      <a:noFill/>
                    </a:lnR>
                    <a:lnT w="0">
                      <a:noFill/>
                    </a:lnT>
                    <a:lnB w="0">
                      <a:noFill/>
                    </a:lnB>
                  </a:tcPr>
                </a:tc>
                <a:tc>
                  <a:txBody>
                    <a:bodyPr/>
                    <a:lstStyle/>
                    <a:p>
                      <a:pPr algn="ctr">
                        <a:defRPr sz="700" b="1">
                          <a:solidFill>
                            <a:srgbClr val="FFFFFF"/>
                          </a:solidFill>
                          <a:latin typeface="Segoe UI Semibold"/>
                        </a:defRPr>
                      </a:pPr>
                      <a:r>
                        <a:t>Subs</a:t>
                      </a:r>
                    </a:p>
                  </a:txBody>
                  <a:tcPr anchor="ctr" marL="76200" marR="76200" marT="38100" marB="38100">
                    <a:solidFill>
                      <a:srgbClr val="10B981"/>
                    </a:solidFill>
                    <a:lnL w="0">
                      <a:noFill/>
                    </a:lnL>
                    <a:lnR w="0">
                      <a:noFill/>
                    </a:lnR>
                    <a:lnT w="0">
                      <a:noFill/>
                    </a:lnT>
                    <a:lnB w="0">
                      <a:noFill/>
                    </a:lnB>
                  </a:tcPr>
                </a:tc>
                <a:tc>
                  <a:txBody>
                    <a:bodyPr/>
                    <a:lstStyle/>
                    <a:p>
                      <a:pPr algn="l">
                        <a:defRPr sz="700" b="1">
                          <a:solidFill>
                            <a:srgbClr val="FFFFFF"/>
                          </a:solidFill>
                          <a:latin typeface="Segoe UI Semibold"/>
                        </a:defRPr>
                      </a:pPr>
                      <a:r>
                        <a:t>Assigned Rep Who Called</a:t>
                      </a:r>
                    </a:p>
                  </a:txBody>
                  <a:tcPr anchor="ctr" marL="76200" marR="76200" marT="38100" marB="38100">
                    <a:solidFill>
                      <a:srgbClr val="10B981"/>
                    </a:solidFill>
                    <a:lnL w="0">
                      <a:noFill/>
                    </a:lnL>
                    <a:lnR w="0">
                      <a:noFill/>
                    </a:lnR>
                    <a:lnT w="0">
                      <a:noFill/>
                    </a:lnT>
                    <a:lnB w="0">
                      <a:noFill/>
                    </a:lnB>
                  </a:tcPr>
                </a:tc>
                <a:tc>
                  <a:txBody>
                    <a:bodyPr/>
                    <a:lstStyle/>
                    <a:p>
                      <a:pPr algn="l">
                        <a:defRPr sz="700" b="1">
                          <a:solidFill>
                            <a:srgbClr val="FFFFFF"/>
                          </a:solidFill>
                          <a:latin typeface="Segoe UI Semibold"/>
                        </a:defRPr>
                      </a:pPr>
                      <a:r>
                        <a:t>Status Breakdown</a:t>
                      </a:r>
                    </a:p>
                  </a:txBody>
                  <a:tcPr anchor="ctr" marL="76200" marR="76200" marT="38100" marB="38100">
                    <a:solidFill>
                      <a:srgbClr val="10B981"/>
                    </a:solidFill>
                    <a:lnL w="0">
                      <a:noFill/>
                    </a:lnL>
                    <a:lnR w="0">
                      <a:noFill/>
                    </a:lnR>
                    <a:lnT w="0">
                      <a:noFill/>
                    </a:lnT>
                    <a:lnB w="0">
                      <a:noFill/>
                    </a:lnB>
                  </a:tcPr>
                </a:tc>
              </a:tr>
              <a:tr h="173736">
                <a:tc>
                  <a:txBody>
                    <a:bodyPr/>
                    <a:lstStyle/>
                    <a:p>
                      <a:pPr algn="l">
                        <a:defRPr sz="700" b="1">
                          <a:solidFill>
                            <a:srgbClr val="1E073B"/>
                          </a:solidFill>
                          <a:latin typeface="Segoe UI"/>
                        </a:defRPr>
                      </a:pPr>
                      <a:r>
                        <a:t>VL 17 Insurance</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14</a:t>
                      </a:r>
                    </a:p>
                  </a:txBody>
                  <a:tcPr anchor="ctr" marL="76200" marR="76200" marT="38100" marB="38100">
                    <a:noFill/>
                    <a:lnL w="0">
                      <a:noFill/>
                    </a:lnL>
                    <a:lnR w="0">
                      <a:noFill/>
                    </a:lnR>
                    <a:lnT w="0">
                      <a:noFill/>
                    </a:lnT>
                    <a:lnB w="0">
                      <a:noFill/>
                    </a:lnB>
                  </a:tcPr>
                </a:tc>
                <a:tc>
                  <a:txBody>
                    <a:bodyPr/>
                    <a:lstStyle/>
                    <a:p>
                      <a:pPr algn="l">
                        <a:defRPr sz="700" b="1">
                          <a:solidFill>
                            <a:srgbClr val="10B981"/>
                          </a:solidFill>
                          <a:latin typeface="Segoe UI"/>
                        </a:defRPr>
                      </a:pPr>
                      <a:r>
                        <a:t>Derrick Leroy (BDM)</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Quoted: 7, Declined: 4</a:t>
                      </a:r>
                    </a:p>
                  </a:txBody>
                  <a:tcPr anchor="ctr" marL="76200" marR="76200" marT="38100" marB="38100">
                    <a:noFill/>
                    <a:lnL w="0">
                      <a:noFill/>
                    </a:lnL>
                    <a:lnR w="0">
                      <a:noFill/>
                    </a:lnR>
                    <a:lnT w="0">
                      <a:noFill/>
                    </a:lnT>
                    <a:lnB w="0">
                      <a:noFill/>
                    </a:lnB>
                  </a:tcPr>
                </a:tc>
              </a:tr>
              <a:tr h="173736">
                <a:tc>
                  <a:txBody>
                    <a:bodyPr/>
                    <a:lstStyle/>
                    <a:p>
                      <a:pPr algn="l">
                        <a:defRPr sz="700" b="1">
                          <a:solidFill>
                            <a:srgbClr val="1E073B"/>
                          </a:solidFill>
                          <a:latin typeface="Segoe UI"/>
                        </a:defRPr>
                      </a:pPr>
                      <a:r>
                        <a:t>Danaco Group</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7</a:t>
                      </a:r>
                    </a:p>
                  </a:txBody>
                  <a:tcPr anchor="ctr" marL="76200" marR="76200" marT="38100" marB="38100">
                    <a:solidFill>
                      <a:srgbClr val="F5F3FF"/>
                    </a:solidFill>
                    <a:lnL w="0">
                      <a:noFill/>
                    </a:lnL>
                    <a:lnR w="0">
                      <a:noFill/>
                    </a:lnR>
                    <a:lnT w="0">
                      <a:noFill/>
                    </a:lnT>
                    <a:lnB w="0">
                      <a:noFill/>
                    </a:lnB>
                  </a:tcPr>
                </a:tc>
                <a:tc>
                  <a:txBody>
                    <a:bodyPr/>
                    <a:lstStyle/>
                    <a:p>
                      <a:pPr algn="l">
                        <a:defRPr sz="700" b="1">
                          <a:solidFill>
                            <a:srgbClr val="10B981"/>
                          </a:solidFill>
                          <a:latin typeface="Segoe UI"/>
                        </a:defRPr>
                      </a:pPr>
                      <a:r>
                        <a:t>Latoya Madlock (BDA)</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Quoted: 5, Declined: 2</a:t>
                      </a:r>
                    </a:p>
                  </a:txBody>
                  <a:tcPr anchor="ctr" marL="76200" marR="76200" marT="38100" marB="38100">
                    <a:solidFill>
                      <a:srgbClr val="F5F3FF"/>
                    </a:solidFill>
                    <a:lnL w="0">
                      <a:noFill/>
                    </a:lnL>
                    <a:lnR w="0">
                      <a:noFill/>
                    </a:lnR>
                    <a:lnT w="0">
                      <a:noFill/>
                    </a:lnT>
                    <a:lnB w="0">
                      <a:noFill/>
                    </a:lnB>
                  </a:tcPr>
                </a:tc>
              </a:tr>
              <a:tr h="173736">
                <a:tc>
                  <a:txBody>
                    <a:bodyPr/>
                    <a:lstStyle/>
                    <a:p>
                      <a:pPr algn="l">
                        <a:defRPr sz="700" b="1">
                          <a:solidFill>
                            <a:srgbClr val="1E073B"/>
                          </a:solidFill>
                          <a:latin typeface="Segoe UI"/>
                        </a:defRPr>
                      </a:pPr>
                      <a:r>
                        <a:t>Valion Security</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6</a:t>
                      </a:r>
                    </a:p>
                  </a:txBody>
                  <a:tcPr anchor="ctr" marL="76200" marR="76200" marT="38100" marB="38100">
                    <a:noFill/>
                    <a:lnL w="0">
                      <a:noFill/>
                    </a:lnL>
                    <a:lnR w="0">
                      <a:noFill/>
                    </a:lnR>
                    <a:lnT w="0">
                      <a:noFill/>
                    </a:lnT>
                    <a:lnB w="0">
                      <a:noFill/>
                    </a:lnB>
                  </a:tcPr>
                </a:tc>
                <a:tc>
                  <a:txBody>
                    <a:bodyPr/>
                    <a:lstStyle/>
                    <a:p>
                      <a:pPr algn="l">
                        <a:defRPr sz="700" b="1">
                          <a:solidFill>
                            <a:srgbClr val="10B981"/>
                          </a:solidFill>
                          <a:latin typeface="Segoe UI"/>
                        </a:defRPr>
                      </a:pPr>
                      <a:r>
                        <a:t>Ron Douglas (BDM, 4x)</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Declined: 3, NTU: 2</a:t>
                      </a:r>
                    </a:p>
                  </a:txBody>
                  <a:tcPr anchor="ctr" marL="76200" marR="76200" marT="38100" marB="38100">
                    <a:noFill/>
                    <a:lnL w="0">
                      <a:noFill/>
                    </a:lnL>
                    <a:lnR w="0">
                      <a:noFill/>
                    </a:lnR>
                    <a:lnT w="0">
                      <a:noFill/>
                    </a:lnT>
                    <a:lnB w="0">
                      <a:noFill/>
                    </a:lnB>
                  </a:tcPr>
                </a:tc>
              </a:tr>
              <a:tr h="173736">
                <a:tc>
                  <a:txBody>
                    <a:bodyPr/>
                    <a:lstStyle/>
                    <a:p>
                      <a:pPr algn="l">
                        <a:defRPr sz="700" b="1">
                          <a:solidFill>
                            <a:srgbClr val="1E073B"/>
                          </a:solidFill>
                          <a:latin typeface="Segoe UI"/>
                        </a:defRPr>
                      </a:pPr>
                      <a:r>
                        <a:t>PCF Insurance</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l">
                        <a:defRPr sz="700" b="1">
                          <a:solidFill>
                            <a:srgbClr val="10B981"/>
                          </a:solidFill>
                          <a:latin typeface="Segoe UI"/>
                        </a:defRPr>
                      </a:pPr>
                      <a:r>
                        <a:t>Derek Janssen (BDM)</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Quoted: 3, Declined: 2</a:t>
                      </a:r>
                    </a:p>
                  </a:txBody>
                  <a:tcPr anchor="ctr" marL="76200" marR="76200" marT="38100" marB="38100">
                    <a:solidFill>
                      <a:srgbClr val="F5F3FF"/>
                    </a:solidFill>
                    <a:lnL w="0">
                      <a:noFill/>
                    </a:lnL>
                    <a:lnR w="0">
                      <a:noFill/>
                    </a:lnR>
                    <a:lnT w="0">
                      <a:noFill/>
                    </a:lnT>
                    <a:lnB w="0">
                      <a:noFill/>
                    </a:lnB>
                  </a:tcPr>
                </a:tc>
              </a:tr>
              <a:tr h="173736">
                <a:tc>
                  <a:txBody>
                    <a:bodyPr/>
                    <a:lstStyle/>
                    <a:p>
                      <a:pPr algn="l">
                        <a:defRPr sz="700" b="1">
                          <a:solidFill>
                            <a:srgbClr val="1E073B"/>
                          </a:solidFill>
                          <a:latin typeface="Segoe UI"/>
                        </a:defRPr>
                      </a:pPr>
                      <a:r>
                        <a:t>925 Partners</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5</a:t>
                      </a:r>
                    </a:p>
                  </a:txBody>
                  <a:tcPr anchor="ctr" marL="76200" marR="76200" marT="38100" marB="38100">
                    <a:noFill/>
                    <a:lnL w="0">
                      <a:noFill/>
                    </a:lnL>
                    <a:lnR w="0">
                      <a:noFill/>
                    </a:lnR>
                    <a:lnT w="0">
                      <a:noFill/>
                    </a:lnT>
                    <a:lnB w="0">
                      <a:noFill/>
                    </a:lnB>
                  </a:tcPr>
                </a:tc>
                <a:tc>
                  <a:txBody>
                    <a:bodyPr/>
                    <a:lstStyle/>
                    <a:p>
                      <a:pPr algn="l">
                        <a:defRPr sz="700" b="1">
                          <a:solidFill>
                            <a:srgbClr val="10B981"/>
                          </a:solidFill>
                          <a:latin typeface="Segoe UI"/>
                        </a:defRPr>
                      </a:pPr>
                      <a:r>
                        <a:t>Ron Douglas + Cameron B</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Declined: 2, Quoted: 2</a:t>
                      </a:r>
                    </a:p>
                  </a:txBody>
                  <a:tcPr anchor="ctr" marL="76200" marR="76200" marT="38100" marB="38100">
                    <a:noFill/>
                    <a:lnL w="0">
                      <a:noFill/>
                    </a:lnL>
                    <a:lnR w="0">
                      <a:noFill/>
                    </a:lnR>
                    <a:lnT w="0">
                      <a:noFill/>
                    </a:lnT>
                    <a:lnB w="0">
                      <a:noFill/>
                    </a:lnB>
                  </a:tcPr>
                </a:tc>
              </a:tr>
              <a:tr h="173736">
                <a:tc>
                  <a:txBody>
                    <a:bodyPr/>
                    <a:lstStyle/>
                    <a:p>
                      <a:pPr algn="l">
                        <a:defRPr sz="700" b="1">
                          <a:solidFill>
                            <a:srgbClr val="1E073B"/>
                          </a:solidFill>
                          <a:latin typeface="Segoe UI"/>
                        </a:defRPr>
                      </a:pPr>
                      <a:r>
                        <a:t>Cascade Ins.</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l">
                        <a:defRPr sz="700" b="1">
                          <a:solidFill>
                            <a:srgbClr val="10B981"/>
                          </a:solidFill>
                          <a:latin typeface="Segoe UI"/>
                        </a:defRPr>
                      </a:pPr>
                      <a:r>
                        <a:t>Derek J + Dominic P</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Declined: 2, Quoted: 1</a:t>
                      </a:r>
                    </a:p>
                  </a:txBody>
                  <a:tcPr anchor="ctr" marL="76200" marR="76200" marT="38100" marB="38100">
                    <a:solidFill>
                      <a:srgbClr val="F5F3FF"/>
                    </a:solidFill>
                    <a:lnL w="0">
                      <a:noFill/>
                    </a:lnL>
                    <a:lnR w="0">
                      <a:noFill/>
                    </a:lnR>
                    <a:lnT w="0">
                      <a:noFill/>
                    </a:lnT>
                    <a:lnB w="0">
                      <a:noFill/>
                    </a:lnB>
                  </a:tcPr>
                </a:tc>
              </a:tr>
              <a:tr h="173736">
                <a:tc>
                  <a:txBody>
                    <a:bodyPr/>
                    <a:lstStyle/>
                    <a:p>
                      <a:pPr algn="l">
                        <a:defRPr sz="700" b="1">
                          <a:solidFill>
                            <a:srgbClr val="1E073B"/>
                          </a:solidFill>
                          <a:latin typeface="Segoe UI"/>
                        </a:defRPr>
                      </a:pPr>
                      <a:r>
                        <a:t>Shamrock Insurance</a:t>
                      </a:r>
                    </a:p>
                  </a:txBody>
                  <a:tcPr anchor="ctr" marL="76200" marR="76200" marT="38100" marB="38100">
                    <a:noFill/>
                    <a:lnL w="0">
                      <a:noFill/>
                    </a:lnL>
                    <a:lnR w="0">
                      <a:noFill/>
                    </a:lnR>
                    <a:lnT w="0">
                      <a:noFill/>
                    </a:lnT>
                    <a:lnB w="0">
                      <a:noFill/>
                    </a:lnB>
                  </a:tcPr>
                </a:tc>
                <a:tc>
                  <a:txBody>
                    <a:bodyPr/>
                    <a:lstStyle/>
                    <a:p>
                      <a:pPr algn="ctr">
                        <a:defRPr sz="700" b="1">
                          <a:solidFill>
                            <a:srgbClr val="10B981"/>
                          </a:solidFill>
                          <a:latin typeface="Segoe UI"/>
                        </a:defRPr>
                      </a:pPr>
                      <a:r>
                        <a:t>3</a:t>
                      </a:r>
                    </a:p>
                  </a:txBody>
                  <a:tcPr anchor="ctr" marL="76200" marR="76200" marT="38100" marB="38100">
                    <a:noFill/>
                    <a:lnL w="0">
                      <a:noFill/>
                    </a:lnL>
                    <a:lnR w="0">
                      <a:noFill/>
                    </a:lnR>
                    <a:lnT w="0">
                      <a:noFill/>
                    </a:lnT>
                    <a:lnB w="0">
                      <a:noFill/>
                    </a:lnB>
                  </a:tcPr>
                </a:tc>
                <a:tc>
                  <a:txBody>
                    <a:bodyPr/>
                    <a:lstStyle/>
                    <a:p>
                      <a:pPr algn="l">
                        <a:defRPr sz="700" b="1">
                          <a:solidFill>
                            <a:srgbClr val="10B981"/>
                          </a:solidFill>
                          <a:latin typeface="Segoe UI"/>
                        </a:defRPr>
                      </a:pPr>
                      <a:r>
                        <a:t>Derrick L + Latoya M</a:t>
                      </a:r>
                    </a:p>
                  </a:txBody>
                  <a:tcPr anchor="ctr" marL="76200" marR="76200" marT="38100" marB="38100">
                    <a:noFill/>
                    <a:lnL w="0">
                      <a:noFill/>
                    </a:lnL>
                    <a:lnR w="0">
                      <a:noFill/>
                    </a:lnR>
                    <a:lnT w="0">
                      <a:noFill/>
                    </a:lnT>
                    <a:lnB w="0">
                      <a:noFill/>
                    </a:lnB>
                  </a:tcPr>
                </a:tc>
                <a:tc>
                  <a:txBody>
                    <a:bodyPr/>
                    <a:lstStyle/>
                    <a:p>
                      <a:pPr algn="l">
                        <a:defRPr sz="700" b="0">
                          <a:solidFill>
                            <a:srgbClr val="A09CB0"/>
                          </a:solidFill>
                          <a:latin typeface="Segoe UI"/>
                        </a:defRPr>
                      </a:pPr>
                      <a:r>
                        <a:t>Sub: 1, Dec: 1, Quot: 1</a:t>
                      </a:r>
                    </a:p>
                  </a:txBody>
                  <a:tcPr anchor="ctr" marL="76200" marR="76200" marT="38100" marB="38100">
                    <a:noFill/>
                    <a:lnL w="0">
                      <a:noFill/>
                    </a:lnL>
                    <a:lnR w="0">
                      <a:noFill/>
                    </a:lnR>
                    <a:lnT w="0">
                      <a:noFill/>
                    </a:lnT>
                    <a:lnB w="0">
                      <a:noFill/>
                    </a:lnB>
                  </a:tcPr>
                </a:tc>
              </a:tr>
              <a:tr h="173736">
                <a:tc>
                  <a:txBody>
                    <a:bodyPr/>
                    <a:lstStyle/>
                    <a:p>
                      <a:pPr algn="l">
                        <a:defRPr sz="700" b="1">
                          <a:solidFill>
                            <a:srgbClr val="1E073B"/>
                          </a:solidFill>
                          <a:latin typeface="Segoe UI"/>
                        </a:defRPr>
                      </a:pPr>
                      <a:r>
                        <a:t>Monarca Trucking</a:t>
                      </a:r>
                    </a:p>
                  </a:txBody>
                  <a:tcPr anchor="ctr" marL="76200" marR="76200" marT="38100" marB="38100">
                    <a:solidFill>
                      <a:srgbClr val="F5F3FF"/>
                    </a:solidFill>
                    <a:lnL w="0">
                      <a:noFill/>
                    </a:lnL>
                    <a:lnR w="0">
                      <a:noFill/>
                    </a:lnR>
                    <a:lnT w="0">
                      <a:noFill/>
                    </a:lnT>
                    <a:lnB w="0">
                      <a:noFill/>
                    </a:lnB>
                  </a:tcPr>
                </a:tc>
                <a:tc>
                  <a:txBody>
                    <a:bodyPr/>
                    <a:lstStyle/>
                    <a:p>
                      <a:pPr algn="ctr">
                        <a:defRPr sz="7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l">
                        <a:defRPr sz="700" b="1">
                          <a:solidFill>
                            <a:srgbClr val="10B981"/>
                          </a:solidFill>
                          <a:latin typeface="Segoe UI"/>
                        </a:defRPr>
                      </a:pPr>
                      <a:r>
                        <a:t>Dominic Purkett (BDA, 2x)</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A09CB0"/>
                          </a:solidFill>
                          <a:latin typeface="Segoe UI"/>
                        </a:defRPr>
                      </a:pPr>
                      <a:r>
                        <a:t>Bound: 1</a:t>
                      </a:r>
                    </a:p>
                  </a:txBody>
                  <a:tcPr anchor="ctr" marL="76200" marR="76200" marT="38100" marB="38100">
                    <a:solidFill>
                      <a:srgbClr val="F5F3FF"/>
                    </a:solidFill>
                    <a:lnL w="0">
                      <a:noFill/>
                    </a:lnL>
                    <a:lnR w="0">
                      <a:noFill/>
                    </a:lnR>
                    <a:lnT w="0">
                      <a:noFill/>
                    </a:lnT>
                    <a:lnB w="0">
                      <a:noFill/>
                    </a:lnB>
                  </a:tcPr>
                </a:tc>
              </a:tr>
            </a:tbl>
          </a:graphicData>
        </a:graphic>
      </p:graphicFrame>
      <p:sp>
        <p:nvSpPr>
          <p:cNvPr id="17" name="Rounded Rectangle 16"/>
          <p:cNvSpPr/>
          <p:nvPr/>
        </p:nvSpPr>
        <p:spPr>
          <a:xfrm>
            <a:off x="274320" y="6291072"/>
            <a:ext cx="11430000" cy="182880"/>
          </a:xfrm>
          <a:prstGeom prst="roundRect">
            <a:avLst>
              <a:gd name="adj" fmla="val 6000"/>
            </a:avLst>
          </a:prstGeom>
          <a:solidFill>
            <a:srgbClr val="EDE9FE"/>
          </a:solidFill>
          <a:ln w="635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6281928"/>
            <a:ext cx="10972800" cy="201168"/>
          </a:xfrm>
          <a:prstGeom prst="rect">
            <a:avLst/>
          </a:prstGeom>
          <a:noFill/>
        </p:spPr>
        <p:txBody>
          <a:bodyPr wrap="square">
            <a:spAutoFit/>
          </a:bodyPr>
          <a:lstStyle/>
          <a:p>
            <a:pPr algn="l">
              <a:defRPr sz="700" b="1" i="0">
                <a:solidFill>
                  <a:srgbClr val="5B21B6"/>
                </a:solidFill>
                <a:latin typeface="Segoe UI"/>
              </a:defRPr>
            </a:pPr>
            <a:r>
              <a:t>Only 27 of 246 agencies (10%) received a call from their assigned BDM or BDA  |  Top 15 missed agencies above represent 843 submissions (59% of all Feb volume)</a:t>
            </a:r>
          </a:p>
        </p:txBody>
      </p:sp>
      <p:sp>
        <p:nvSpPr>
          <p:cNvPr id="19" name="Rectangle 18"/>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21" name="TextBox 20"/>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STATE EXPANSION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500" b="0" i="0">
                <a:solidFill>
                  <a:srgbClr val="C4B5FD"/>
                </a:solidFill>
                <a:latin typeface="Segoe UI"/>
              </a:defRPr>
            </a:pPr>
            <a:r>
              <a:t>10 → 32 States  |  2026 YTD</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9427" y="1371600"/>
            <a:ext cx="2651760" cy="114300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9427" y="1371600"/>
            <a:ext cx="26517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6587" y="1481328"/>
            <a:ext cx="2377440" cy="201168"/>
          </a:xfrm>
          <a:prstGeom prst="rect">
            <a:avLst/>
          </a:prstGeom>
          <a:noFill/>
        </p:spPr>
        <p:txBody>
          <a:bodyPr wrap="square">
            <a:spAutoFit/>
          </a:bodyPr>
          <a:lstStyle/>
          <a:p>
            <a:pPr algn="l">
              <a:defRPr sz="1000" b="1" i="0">
                <a:solidFill>
                  <a:srgbClr val="9C92B5"/>
                </a:solidFill>
                <a:latin typeface="Segoe UI Semibold"/>
              </a:defRPr>
            </a:pPr>
            <a:r>
              <a:t>YTD SUBMISSIONS</a:t>
            </a:r>
          </a:p>
        </p:txBody>
      </p:sp>
      <p:sp>
        <p:nvSpPr>
          <p:cNvPr id="14" name="TextBox 13"/>
          <p:cNvSpPr txBox="1"/>
          <p:nvPr/>
        </p:nvSpPr>
        <p:spPr>
          <a:xfrm>
            <a:off x="586587" y="1719072"/>
            <a:ext cx="2377440" cy="457200"/>
          </a:xfrm>
          <a:prstGeom prst="rect">
            <a:avLst/>
          </a:prstGeom>
          <a:noFill/>
        </p:spPr>
        <p:txBody>
          <a:bodyPr wrap="square">
            <a:spAutoFit/>
          </a:bodyPr>
          <a:lstStyle/>
          <a:p>
            <a:pPr algn="ctr">
              <a:defRPr sz="3000" b="1" i="0">
                <a:solidFill>
                  <a:srgbClr val="7C3AED"/>
                </a:solidFill>
                <a:latin typeface="Segoe UI Light"/>
              </a:defRPr>
            </a:pPr>
            <a:r>
              <a:t>2,000</a:t>
            </a:r>
          </a:p>
        </p:txBody>
      </p:sp>
      <p:sp>
        <p:nvSpPr>
          <p:cNvPr id="15" name="TextBox 14"/>
          <p:cNvSpPr txBox="1"/>
          <p:nvPr/>
        </p:nvSpPr>
        <p:spPr>
          <a:xfrm>
            <a:off x="586587" y="2240280"/>
            <a:ext cx="2377440" cy="201168"/>
          </a:xfrm>
          <a:prstGeom prst="rect">
            <a:avLst/>
          </a:prstGeom>
          <a:noFill/>
        </p:spPr>
        <p:txBody>
          <a:bodyPr wrap="square">
            <a:spAutoFit/>
          </a:bodyPr>
          <a:lstStyle/>
          <a:p>
            <a:pPr algn="l">
              <a:defRPr sz="1000" b="0" i="1">
                <a:solidFill>
                  <a:srgbClr val="A09CB0"/>
                </a:solidFill>
                <a:latin typeface="Segoe UI"/>
              </a:defRPr>
            </a:pPr>
            <a:r>
              <a:t>across 42 states</a:t>
            </a:r>
          </a:p>
        </p:txBody>
      </p:sp>
      <p:sp>
        <p:nvSpPr>
          <p:cNvPr id="16" name="Rounded Rectangle 15"/>
          <p:cNvSpPr/>
          <p:nvPr/>
        </p:nvSpPr>
        <p:spPr>
          <a:xfrm>
            <a:off x="3329787" y="1371600"/>
            <a:ext cx="2651760" cy="114300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29787" y="1371600"/>
            <a:ext cx="265176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66947" y="1481328"/>
            <a:ext cx="2377440" cy="201168"/>
          </a:xfrm>
          <a:prstGeom prst="rect">
            <a:avLst/>
          </a:prstGeom>
          <a:noFill/>
        </p:spPr>
        <p:txBody>
          <a:bodyPr wrap="square">
            <a:spAutoFit/>
          </a:bodyPr>
          <a:lstStyle/>
          <a:p>
            <a:pPr algn="l">
              <a:defRPr sz="1000" b="1" i="0">
                <a:solidFill>
                  <a:srgbClr val="9C92B5"/>
                </a:solidFill>
                <a:latin typeface="Segoe UI Semibold"/>
              </a:defRPr>
            </a:pPr>
            <a:r>
              <a:t>EXPANSION SUBS</a:t>
            </a:r>
          </a:p>
        </p:txBody>
      </p:sp>
      <p:sp>
        <p:nvSpPr>
          <p:cNvPr id="19" name="TextBox 18"/>
          <p:cNvSpPr txBox="1"/>
          <p:nvPr/>
        </p:nvSpPr>
        <p:spPr>
          <a:xfrm>
            <a:off x="3466947" y="1719072"/>
            <a:ext cx="2377440" cy="457200"/>
          </a:xfrm>
          <a:prstGeom prst="rect">
            <a:avLst/>
          </a:prstGeom>
          <a:noFill/>
        </p:spPr>
        <p:txBody>
          <a:bodyPr wrap="square">
            <a:spAutoFit/>
          </a:bodyPr>
          <a:lstStyle/>
          <a:p>
            <a:pPr algn="ctr">
              <a:defRPr sz="3000" b="1" i="0">
                <a:solidFill>
                  <a:srgbClr val="8B5CF6"/>
                </a:solidFill>
                <a:latin typeface="Segoe UI Light"/>
              </a:defRPr>
            </a:pPr>
            <a:r>
              <a:t>185</a:t>
            </a:r>
          </a:p>
        </p:txBody>
      </p:sp>
      <p:sp>
        <p:nvSpPr>
          <p:cNvPr id="20" name="TextBox 19"/>
          <p:cNvSpPr txBox="1"/>
          <p:nvPr/>
        </p:nvSpPr>
        <p:spPr>
          <a:xfrm>
            <a:off x="3466947" y="2240280"/>
            <a:ext cx="2377440" cy="201168"/>
          </a:xfrm>
          <a:prstGeom prst="rect">
            <a:avLst/>
          </a:prstGeom>
          <a:noFill/>
        </p:spPr>
        <p:txBody>
          <a:bodyPr wrap="square">
            <a:spAutoFit/>
          </a:bodyPr>
          <a:lstStyle/>
          <a:p>
            <a:pPr algn="l">
              <a:defRPr sz="1000" b="0" i="1">
                <a:solidFill>
                  <a:srgbClr val="A09CB0"/>
                </a:solidFill>
                <a:latin typeface="Segoe UI"/>
              </a:defRPr>
            </a:pPr>
            <a:r>
              <a:t>20 of 22 states active</a:t>
            </a:r>
          </a:p>
        </p:txBody>
      </p:sp>
      <p:sp>
        <p:nvSpPr>
          <p:cNvPr id="21" name="Rounded Rectangle 20"/>
          <p:cNvSpPr/>
          <p:nvPr/>
        </p:nvSpPr>
        <p:spPr>
          <a:xfrm>
            <a:off x="6210147" y="1371600"/>
            <a:ext cx="2651760" cy="114300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0147" y="1371600"/>
            <a:ext cx="265176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7307" y="1481328"/>
            <a:ext cx="2377440" cy="201168"/>
          </a:xfrm>
          <a:prstGeom prst="rect">
            <a:avLst/>
          </a:prstGeom>
          <a:noFill/>
        </p:spPr>
        <p:txBody>
          <a:bodyPr wrap="square">
            <a:spAutoFit/>
          </a:bodyPr>
          <a:lstStyle/>
          <a:p>
            <a:pPr algn="l">
              <a:defRPr sz="1000" b="1" i="0">
                <a:solidFill>
                  <a:srgbClr val="9C92B5"/>
                </a:solidFill>
                <a:latin typeface="Segoe UI Semibold"/>
              </a:defRPr>
            </a:pPr>
            <a:r>
              <a:t>YTD BOUND PREM</a:t>
            </a:r>
          </a:p>
        </p:txBody>
      </p:sp>
      <p:sp>
        <p:nvSpPr>
          <p:cNvPr id="24" name="TextBox 23"/>
          <p:cNvSpPr txBox="1"/>
          <p:nvPr/>
        </p:nvSpPr>
        <p:spPr>
          <a:xfrm>
            <a:off x="6347307" y="1719072"/>
            <a:ext cx="2377440" cy="457200"/>
          </a:xfrm>
          <a:prstGeom prst="rect">
            <a:avLst/>
          </a:prstGeom>
          <a:noFill/>
        </p:spPr>
        <p:txBody>
          <a:bodyPr wrap="square">
            <a:spAutoFit/>
          </a:bodyPr>
          <a:lstStyle/>
          <a:p>
            <a:pPr algn="ctr">
              <a:defRPr sz="3000" b="1" i="0">
                <a:solidFill>
                  <a:srgbClr val="10B981"/>
                </a:solidFill>
                <a:latin typeface="Segoe UI Light"/>
              </a:defRPr>
            </a:pPr>
            <a:r>
              <a:t>$5.2M</a:t>
            </a:r>
          </a:p>
        </p:txBody>
      </p:sp>
      <p:sp>
        <p:nvSpPr>
          <p:cNvPr id="25" name="TextBox 24"/>
          <p:cNvSpPr txBox="1"/>
          <p:nvPr/>
        </p:nvSpPr>
        <p:spPr>
          <a:xfrm>
            <a:off x="6347307" y="2240280"/>
            <a:ext cx="2377440" cy="201168"/>
          </a:xfrm>
          <a:prstGeom prst="rect">
            <a:avLst/>
          </a:prstGeom>
          <a:noFill/>
        </p:spPr>
        <p:txBody>
          <a:bodyPr wrap="square">
            <a:spAutoFit/>
          </a:bodyPr>
          <a:lstStyle/>
          <a:p>
            <a:pPr algn="l">
              <a:defRPr sz="1000" b="0" i="1">
                <a:solidFill>
                  <a:srgbClr val="A09CB0"/>
                </a:solidFill>
                <a:latin typeface="Segoe UI"/>
              </a:defRPr>
            </a:pPr>
            <a:r>
              <a:t>184 policies bound</a:t>
            </a:r>
          </a:p>
        </p:txBody>
      </p:sp>
      <p:sp>
        <p:nvSpPr>
          <p:cNvPr id="26" name="Rounded Rectangle 25"/>
          <p:cNvSpPr/>
          <p:nvPr/>
        </p:nvSpPr>
        <p:spPr>
          <a:xfrm>
            <a:off x="9090507" y="1371600"/>
            <a:ext cx="2651760" cy="114300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90507" y="1371600"/>
            <a:ext cx="265176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27667" y="1481328"/>
            <a:ext cx="2377440" cy="201168"/>
          </a:xfrm>
          <a:prstGeom prst="rect">
            <a:avLst/>
          </a:prstGeom>
          <a:noFill/>
        </p:spPr>
        <p:txBody>
          <a:bodyPr wrap="square">
            <a:spAutoFit/>
          </a:bodyPr>
          <a:lstStyle/>
          <a:p>
            <a:pPr algn="l">
              <a:defRPr sz="1000" b="1" i="0">
                <a:solidFill>
                  <a:srgbClr val="9C92B5"/>
                </a:solidFill>
                <a:latin typeface="Segoe UI Semibold"/>
              </a:defRPr>
            </a:pPr>
            <a:r>
              <a:t>QUOTE RATE</a:t>
            </a:r>
          </a:p>
        </p:txBody>
      </p:sp>
      <p:sp>
        <p:nvSpPr>
          <p:cNvPr id="29" name="TextBox 28"/>
          <p:cNvSpPr txBox="1"/>
          <p:nvPr/>
        </p:nvSpPr>
        <p:spPr>
          <a:xfrm>
            <a:off x="9227667" y="1719072"/>
            <a:ext cx="2377440" cy="457200"/>
          </a:xfrm>
          <a:prstGeom prst="rect">
            <a:avLst/>
          </a:prstGeom>
          <a:noFill/>
        </p:spPr>
        <p:txBody>
          <a:bodyPr wrap="square">
            <a:spAutoFit/>
          </a:bodyPr>
          <a:lstStyle/>
          <a:p>
            <a:pPr algn="ctr">
              <a:defRPr sz="3000" b="1" i="0">
                <a:solidFill>
                  <a:srgbClr val="10B981"/>
                </a:solidFill>
                <a:latin typeface="Segoe UI Light"/>
              </a:defRPr>
            </a:pPr>
            <a:r>
              <a:t>185.4%</a:t>
            </a:r>
          </a:p>
        </p:txBody>
      </p:sp>
      <p:sp>
        <p:nvSpPr>
          <p:cNvPr id="30" name="TextBox 29"/>
          <p:cNvSpPr txBox="1"/>
          <p:nvPr/>
        </p:nvSpPr>
        <p:spPr>
          <a:xfrm>
            <a:off x="9227667" y="2240280"/>
            <a:ext cx="2377440" cy="201168"/>
          </a:xfrm>
          <a:prstGeom prst="rect">
            <a:avLst/>
          </a:prstGeom>
          <a:noFill/>
        </p:spPr>
        <p:txBody>
          <a:bodyPr wrap="square">
            <a:spAutoFit/>
          </a:bodyPr>
          <a:lstStyle/>
          <a:p>
            <a:pPr algn="l">
              <a:defRPr sz="1000" b="0" i="1">
                <a:solidFill>
                  <a:srgbClr val="A09CB0"/>
                </a:solidFill>
                <a:latin typeface="Segoe UI"/>
              </a:defRPr>
            </a:pPr>
            <a:r>
              <a:t>vs 45.3% program avg</a:t>
            </a:r>
          </a:p>
        </p:txBody>
      </p:sp>
      <p:sp>
        <p:nvSpPr>
          <p:cNvPr id="31" name="TextBox 30"/>
          <p:cNvSpPr txBox="1"/>
          <p:nvPr/>
        </p:nvSpPr>
        <p:spPr>
          <a:xfrm>
            <a:off x="457200" y="2697480"/>
            <a:ext cx="5029200" cy="320040"/>
          </a:xfrm>
          <a:prstGeom prst="rect">
            <a:avLst/>
          </a:prstGeom>
          <a:noFill/>
        </p:spPr>
        <p:txBody>
          <a:bodyPr wrap="square">
            <a:spAutoFit/>
          </a:bodyPr>
          <a:lstStyle/>
          <a:p>
            <a:pPr algn="l">
              <a:defRPr sz="1400" b="1" i="0">
                <a:solidFill>
                  <a:srgbClr val="2D233F"/>
                </a:solidFill>
                <a:latin typeface="Segoe UI"/>
              </a:defRPr>
            </a:pPr>
            <a:r>
              <a:t>Original 10 States — YTD Subs</a:t>
            </a:r>
          </a:p>
        </p:txBody>
      </p:sp>
      <p:graphicFrame>
        <p:nvGraphicFramePr>
          <p:cNvPr id="32" name="Table 31"/>
          <p:cNvGraphicFramePr>
            <a:graphicFrameLocks noGrp="1"/>
          </p:cNvGraphicFramePr>
          <p:nvPr/>
        </p:nvGraphicFramePr>
        <p:xfrm>
          <a:off x="457200" y="3063240"/>
          <a:ext cx="5303520" cy="2743200"/>
        </p:xfrm>
        <a:graphic>
          <a:graphicData uri="http://schemas.openxmlformats.org/drawingml/2006/table">
            <a:tbl>
              <a:tblPr firstRow="0" bandRow="0" bandCol="0" lastRow="0">
                <a:tableStyleId>{5C22544A-7EE6-4342-B048-85BDC9FD1C3A}</a:tableStyleId>
              </a:tblPr>
              <a:tblGrid>
                <a:gridCol w="1060704"/>
                <a:gridCol w="1060704"/>
                <a:gridCol w="1060704"/>
                <a:gridCol w="1060704"/>
                <a:gridCol w="1060704"/>
              </a:tblGrid>
              <a:tr h="249381">
                <a:tc>
                  <a:txBody>
                    <a:bodyPr/>
                    <a:lstStyle/>
                    <a:p>
                      <a:pPr algn="ctr">
                        <a:defRPr sz="1000" b="1">
                          <a:solidFill>
                            <a:srgbClr val="FFFFFF"/>
                          </a:solidFill>
                          <a:latin typeface="Segoe UI"/>
                        </a:defRPr>
                      </a:pPr>
                      <a:r>
                        <a:t>State</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a:defRPr>
                      </a:pPr>
                      <a:r>
                        <a:t>Subs</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a:defRPr>
                      </a:pPr>
                      <a:r>
                        <a:t>Quoted</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a:defRPr>
                      </a:pPr>
                      <a:r>
                        <a:t>Bound</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a:defRPr>
                      </a:pPr>
                      <a:r>
                        <a:t>Declined</a:t>
                      </a:r>
                    </a:p>
                  </a:txBody>
                  <a:tcPr anchor="ctr" marL="76200" marR="76200" marT="38100" marB="38100">
                    <a:solidFill>
                      <a:srgbClr val="1E073B"/>
                    </a:solidFill>
                    <a:lnL w="0">
                      <a:noFill/>
                    </a:lnL>
                    <a:lnR w="0">
                      <a:noFill/>
                    </a:lnR>
                    <a:lnT w="0">
                      <a:noFill/>
                    </a:lnT>
                    <a:lnB w="0">
                      <a:noFill/>
                    </a:lnB>
                  </a:tcPr>
                </a:tc>
              </a:tr>
              <a:tr h="249381">
                <a:tc>
                  <a:txBody>
                    <a:bodyPr/>
                    <a:lstStyle/>
                    <a:p>
                      <a:pPr algn="l">
                        <a:defRPr sz="1100" b="1">
                          <a:solidFill>
                            <a:srgbClr val="7C3AED"/>
                          </a:solidFill>
                          <a:latin typeface="Segoe UI"/>
                        </a:defRPr>
                      </a:pPr>
                      <a:r>
                        <a:t>TX</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1108</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596</a:t>
                      </a:r>
                    </a:p>
                  </a:txBody>
                  <a:tcPr anchor="ctr" marL="76200" marR="76200" marT="38100" marB="38100">
                    <a:noFill/>
                    <a:lnL w="0">
                      <a:noFill/>
                    </a:lnL>
                    <a:lnR w="0">
                      <a:noFill/>
                    </a:lnR>
                    <a:lnT w="0">
                      <a:noFill/>
                    </a:lnT>
                    <a:lnB w="0">
                      <a:noFill/>
                    </a:lnB>
                  </a:tcPr>
                </a:tc>
                <a:tc>
                  <a:txBody>
                    <a:bodyPr/>
                    <a:lstStyle/>
                    <a:p>
                      <a:pPr algn="ctr">
                        <a:defRPr sz="1100" b="1">
                          <a:solidFill>
                            <a:srgbClr val="10B981"/>
                          </a:solidFill>
                          <a:latin typeface="Segoe UI"/>
                        </a:defRPr>
                      </a:pPr>
                      <a:r>
                        <a:t>30</a:t>
                      </a:r>
                    </a:p>
                  </a:txBody>
                  <a:tcPr anchor="ctr" marL="76200" marR="76200" marT="38100" marB="38100">
                    <a:noFill/>
                    <a:lnL w="0">
                      <a:noFill/>
                    </a:lnL>
                    <a:lnR w="0">
                      <a:noFill/>
                    </a:lnR>
                    <a:lnT w="0">
                      <a:noFill/>
                    </a:lnT>
                    <a:lnB w="0">
                      <a:noFill/>
                    </a:lnB>
                  </a:tcPr>
                </a:tc>
                <a:tc>
                  <a:txBody>
                    <a:bodyPr/>
                    <a:lstStyle/>
                    <a:p>
                      <a:pPr algn="ctr">
                        <a:defRPr sz="1100" b="0">
                          <a:solidFill>
                            <a:srgbClr val="EF4444"/>
                          </a:solidFill>
                          <a:latin typeface="Segoe UI"/>
                        </a:defRPr>
                      </a:pPr>
                      <a:r>
                        <a:t>335</a:t>
                      </a:r>
                    </a:p>
                  </a:txBody>
                  <a:tcPr anchor="ctr" marL="76200" marR="76200" marT="38100" marB="38100">
                    <a:noFill/>
                    <a:lnL w="0">
                      <a:noFill/>
                    </a:lnL>
                    <a:lnR w="0">
                      <a:noFill/>
                    </a:lnR>
                    <a:lnT w="0">
                      <a:noFill/>
                    </a:lnT>
                    <a:lnB w="0">
                      <a:noFill/>
                    </a:lnB>
                  </a:tcPr>
                </a:tc>
              </a:tr>
              <a:tr h="249381">
                <a:tc>
                  <a:txBody>
                    <a:bodyPr/>
                    <a:lstStyle/>
                    <a:p>
                      <a:pPr algn="l">
                        <a:defRPr sz="1100" b="1">
                          <a:solidFill>
                            <a:srgbClr val="7C3AED"/>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322</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146</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10B981"/>
                          </a:solidFill>
                          <a:latin typeface="Segoe UI"/>
                        </a:defRPr>
                      </a:pPr>
                      <a:r>
                        <a:t>7</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EF4444"/>
                          </a:solidFill>
                          <a:latin typeface="Segoe UI"/>
                        </a:defRPr>
                      </a:pPr>
                      <a:r>
                        <a:t>115</a:t>
                      </a:r>
                    </a:p>
                  </a:txBody>
                  <a:tcPr anchor="ctr" marL="76200" marR="76200" marT="38100" marB="38100">
                    <a:solidFill>
                      <a:srgbClr val="F5F3FF"/>
                    </a:solidFill>
                    <a:lnL w="0">
                      <a:noFill/>
                    </a:lnL>
                    <a:lnR w="0">
                      <a:noFill/>
                    </a:lnR>
                    <a:lnT w="0">
                      <a:noFill/>
                    </a:lnT>
                    <a:lnB w="0">
                      <a:noFill/>
                    </a:lnB>
                  </a:tcPr>
                </a:tc>
              </a:tr>
              <a:tr h="249381">
                <a:tc>
                  <a:txBody>
                    <a:bodyPr/>
                    <a:lstStyle/>
                    <a:p>
                      <a:pPr algn="l">
                        <a:defRPr sz="1100" b="1">
                          <a:solidFill>
                            <a:srgbClr val="7C3AED"/>
                          </a:solidFill>
                          <a:latin typeface="Segoe UI"/>
                        </a:defRPr>
                      </a:pPr>
                      <a:r>
                        <a:t>GA</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53</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20</a:t>
                      </a:r>
                    </a:p>
                  </a:txBody>
                  <a:tcPr anchor="ctr" marL="76200" marR="76200" marT="38100" marB="38100">
                    <a:noFill/>
                    <a:lnL w="0">
                      <a:noFill/>
                    </a:lnL>
                    <a:lnR w="0">
                      <a:noFill/>
                    </a:lnR>
                    <a:lnT w="0">
                      <a:noFill/>
                    </a:lnT>
                    <a:lnB w="0">
                      <a:noFill/>
                    </a:lnB>
                  </a:tcPr>
                </a:tc>
                <a:tc>
                  <a:txBody>
                    <a:bodyPr/>
                    <a:lstStyle/>
                    <a:p>
                      <a:pPr algn="ctr">
                        <a:defRPr sz="1100" b="1">
                          <a:solidFill>
                            <a:srgbClr val="10B981"/>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100" b="0">
                          <a:solidFill>
                            <a:srgbClr val="EF4444"/>
                          </a:solidFill>
                          <a:latin typeface="Segoe UI"/>
                        </a:defRPr>
                      </a:pPr>
                      <a:r>
                        <a:t>24</a:t>
                      </a:r>
                    </a:p>
                  </a:txBody>
                  <a:tcPr anchor="ctr" marL="76200" marR="76200" marT="38100" marB="38100">
                    <a:noFill/>
                    <a:lnL w="0">
                      <a:noFill/>
                    </a:lnL>
                    <a:lnR w="0">
                      <a:noFill/>
                    </a:lnR>
                    <a:lnT w="0">
                      <a:noFill/>
                    </a:lnT>
                    <a:lnB w="0">
                      <a:noFill/>
                    </a:lnB>
                  </a:tcPr>
                </a:tc>
              </a:tr>
              <a:tr h="249381">
                <a:tc>
                  <a:txBody>
                    <a:bodyPr/>
                    <a:lstStyle/>
                    <a:p>
                      <a:pPr algn="l">
                        <a:defRPr sz="1100" b="1">
                          <a:solidFill>
                            <a:srgbClr val="7C3AED"/>
                          </a:solidFill>
                          <a:latin typeface="Segoe UI"/>
                        </a:defRPr>
                      </a:pPr>
                      <a:r>
                        <a:t>NJ</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35</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EF4444"/>
                          </a:solidFill>
                          <a:latin typeface="Segoe UI"/>
                        </a:defRPr>
                      </a:pPr>
                      <a:r>
                        <a:t>34</a:t>
                      </a:r>
                    </a:p>
                  </a:txBody>
                  <a:tcPr anchor="ctr" marL="76200" marR="76200" marT="38100" marB="38100">
                    <a:solidFill>
                      <a:srgbClr val="F5F3FF"/>
                    </a:solidFill>
                    <a:lnL w="0">
                      <a:noFill/>
                    </a:lnL>
                    <a:lnR w="0">
                      <a:noFill/>
                    </a:lnR>
                    <a:lnT w="0">
                      <a:noFill/>
                    </a:lnT>
                    <a:lnB w="0">
                      <a:noFill/>
                    </a:lnB>
                  </a:tcPr>
                </a:tc>
              </a:tr>
              <a:tr h="249381">
                <a:tc>
                  <a:txBody>
                    <a:bodyPr/>
                    <a:lstStyle/>
                    <a:p>
                      <a:pPr algn="l">
                        <a:defRPr sz="1100" b="1">
                          <a:solidFill>
                            <a:srgbClr val="7C3AED"/>
                          </a:solidFill>
                          <a:latin typeface="Segoe UI"/>
                        </a:defRPr>
                      </a:pPr>
                      <a:r>
                        <a:t>OH</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30</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9</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1100" b="0">
                          <a:solidFill>
                            <a:srgbClr val="EF4444"/>
                          </a:solidFill>
                          <a:latin typeface="Segoe UI"/>
                        </a:defRPr>
                      </a:pPr>
                      <a:r>
                        <a:t>15</a:t>
                      </a:r>
                    </a:p>
                  </a:txBody>
                  <a:tcPr anchor="ctr" marL="76200" marR="76200" marT="38100" marB="38100">
                    <a:noFill/>
                    <a:lnL w="0">
                      <a:noFill/>
                    </a:lnL>
                    <a:lnR w="0">
                      <a:noFill/>
                    </a:lnR>
                    <a:lnT w="0">
                      <a:noFill/>
                    </a:lnT>
                    <a:lnB w="0">
                      <a:noFill/>
                    </a:lnB>
                  </a:tcPr>
                </a:tc>
              </a:tr>
              <a:tr h="249381">
                <a:tc>
                  <a:txBody>
                    <a:bodyPr/>
                    <a:lstStyle/>
                    <a:p>
                      <a:pPr algn="l">
                        <a:defRPr sz="1100" b="1">
                          <a:solidFill>
                            <a:srgbClr val="7C3AED"/>
                          </a:solidFill>
                          <a:latin typeface="Segoe UI"/>
                        </a:defRPr>
                      </a:pPr>
                      <a:r>
                        <a:t>SC</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21</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EF4444"/>
                          </a:solidFill>
                          <a:latin typeface="Segoe UI"/>
                        </a:defRPr>
                      </a:pPr>
                      <a:r>
                        <a:t>19</a:t>
                      </a:r>
                    </a:p>
                  </a:txBody>
                  <a:tcPr anchor="ctr" marL="76200" marR="76200" marT="38100" marB="38100">
                    <a:solidFill>
                      <a:srgbClr val="F5F3FF"/>
                    </a:solidFill>
                    <a:lnL w="0">
                      <a:noFill/>
                    </a:lnL>
                    <a:lnR w="0">
                      <a:noFill/>
                    </a:lnR>
                    <a:lnT w="0">
                      <a:noFill/>
                    </a:lnT>
                    <a:lnB w="0">
                      <a:noFill/>
                    </a:lnB>
                  </a:tcPr>
                </a:tc>
              </a:tr>
              <a:tr h="249381">
                <a:tc>
                  <a:txBody>
                    <a:bodyPr/>
                    <a:lstStyle/>
                    <a:p>
                      <a:pPr algn="l">
                        <a:defRPr sz="1100" b="1">
                          <a:solidFill>
                            <a:srgbClr val="7C3AED"/>
                          </a:solidFill>
                          <a:latin typeface="Segoe UI"/>
                        </a:defRPr>
                      </a:pPr>
                      <a:r>
                        <a:t>PA</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21</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6</a:t>
                      </a:r>
                    </a:p>
                  </a:txBody>
                  <a:tcPr anchor="ctr" marL="76200" marR="76200" marT="38100" marB="38100">
                    <a:noFill/>
                    <a:lnL w="0">
                      <a:noFill/>
                    </a:lnL>
                    <a:lnR w="0">
                      <a:noFill/>
                    </a:lnR>
                    <a:lnT w="0">
                      <a:noFill/>
                    </a:lnT>
                    <a:lnB w="0">
                      <a:noFill/>
                    </a:lnB>
                  </a:tcPr>
                </a:tc>
                <a:tc>
                  <a:txBody>
                    <a:bodyPr/>
                    <a:lstStyle/>
                    <a:p>
                      <a:pPr algn="ctr">
                        <a:defRPr sz="1100" b="1">
                          <a:solidFill>
                            <a:srgbClr val="10B981"/>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100" b="0">
                          <a:solidFill>
                            <a:srgbClr val="EF4444"/>
                          </a:solidFill>
                          <a:latin typeface="Segoe UI"/>
                        </a:defRPr>
                      </a:pPr>
                      <a:r>
                        <a:t>11</a:t>
                      </a:r>
                    </a:p>
                  </a:txBody>
                  <a:tcPr anchor="ctr" marL="76200" marR="76200" marT="38100" marB="38100">
                    <a:noFill/>
                    <a:lnL w="0">
                      <a:noFill/>
                    </a:lnL>
                    <a:lnR w="0">
                      <a:noFill/>
                    </a:lnR>
                    <a:lnT w="0">
                      <a:noFill/>
                    </a:lnT>
                    <a:lnB w="0">
                      <a:noFill/>
                    </a:lnB>
                  </a:tcPr>
                </a:tc>
              </a:tr>
              <a:tr h="249381">
                <a:tc>
                  <a:txBody>
                    <a:bodyPr/>
                    <a:lstStyle/>
                    <a:p>
                      <a:pPr algn="l">
                        <a:defRPr sz="1100" b="1">
                          <a:solidFill>
                            <a:srgbClr val="7C3AED"/>
                          </a:solidFill>
                          <a:latin typeface="Segoe UI"/>
                        </a:defRPr>
                      </a:pPr>
                      <a:r>
                        <a:t>NM</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14</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EF4444"/>
                          </a:solidFill>
                          <a:latin typeface="Segoe UI"/>
                        </a:defRPr>
                      </a:pPr>
                      <a:r>
                        <a:t>11</a:t>
                      </a:r>
                    </a:p>
                  </a:txBody>
                  <a:tcPr anchor="ctr" marL="76200" marR="76200" marT="38100" marB="38100">
                    <a:solidFill>
                      <a:srgbClr val="F5F3FF"/>
                    </a:solidFill>
                    <a:lnL w="0">
                      <a:noFill/>
                    </a:lnL>
                    <a:lnR w="0">
                      <a:noFill/>
                    </a:lnR>
                    <a:lnT w="0">
                      <a:noFill/>
                    </a:lnT>
                    <a:lnB w="0">
                      <a:noFill/>
                    </a:lnB>
                  </a:tcPr>
                </a:tc>
              </a:tr>
              <a:tr h="249381">
                <a:tc>
                  <a:txBody>
                    <a:bodyPr/>
                    <a:lstStyle/>
                    <a:p>
                      <a:pPr algn="l">
                        <a:defRPr sz="1100" b="1">
                          <a:solidFill>
                            <a:srgbClr val="7C3AED"/>
                          </a:solidFill>
                          <a:latin typeface="Segoe UI"/>
                        </a:defRPr>
                      </a:pPr>
                      <a:r>
                        <a:t>MO</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11</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7</a:t>
                      </a:r>
                    </a:p>
                  </a:txBody>
                  <a:tcPr anchor="ctr" marL="76200" marR="76200" marT="38100" marB="38100">
                    <a:noFill/>
                    <a:lnL w="0">
                      <a:noFill/>
                    </a:lnL>
                    <a:lnR w="0">
                      <a:noFill/>
                    </a:lnR>
                    <a:lnT w="0">
                      <a:noFill/>
                    </a:lnT>
                    <a:lnB w="0">
                      <a:noFill/>
                    </a:lnB>
                  </a:tcPr>
                </a:tc>
              </a:tr>
              <a:tr h="249390">
                <a:tc>
                  <a:txBody>
                    <a:bodyPr/>
                    <a:lstStyle/>
                    <a:p>
                      <a:pPr algn="l">
                        <a:defRPr sz="1100" b="1">
                          <a:solidFill>
                            <a:srgbClr val="7C3AED"/>
                          </a:solidFill>
                          <a:latin typeface="Segoe UI"/>
                        </a:defRPr>
                      </a:pPr>
                      <a:r>
                        <a:t>IL</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7</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r>
            </a:tbl>
          </a:graphicData>
        </a:graphic>
      </p:graphicFrame>
      <p:sp>
        <p:nvSpPr>
          <p:cNvPr id="33" name="TextBox 32"/>
          <p:cNvSpPr txBox="1"/>
          <p:nvPr/>
        </p:nvSpPr>
        <p:spPr>
          <a:xfrm>
            <a:off x="6217920" y="2697480"/>
            <a:ext cx="5486400" cy="320040"/>
          </a:xfrm>
          <a:prstGeom prst="rect">
            <a:avLst/>
          </a:prstGeom>
          <a:noFill/>
        </p:spPr>
        <p:txBody>
          <a:bodyPr wrap="square">
            <a:spAutoFit/>
          </a:bodyPr>
          <a:lstStyle/>
          <a:p>
            <a:pPr algn="l">
              <a:defRPr sz="1400" b="1" i="0">
                <a:solidFill>
                  <a:srgbClr val="2D233F"/>
                </a:solidFill>
                <a:latin typeface="Segoe UI"/>
              </a:defRPr>
            </a:pPr>
            <a:r>
              <a:t>Expansion States — YTD Subs (20/22 Active)</a:t>
            </a:r>
          </a:p>
        </p:txBody>
      </p:sp>
      <p:graphicFrame>
        <p:nvGraphicFramePr>
          <p:cNvPr id="34" name="Table 33"/>
          <p:cNvGraphicFramePr>
            <a:graphicFrameLocks noGrp="1"/>
          </p:cNvGraphicFramePr>
          <p:nvPr/>
        </p:nvGraphicFramePr>
        <p:xfrm>
          <a:off x="6217920" y="3063240"/>
          <a:ext cx="5669280" cy="2743200"/>
        </p:xfrm>
        <a:graphic>
          <a:graphicData uri="http://schemas.openxmlformats.org/drawingml/2006/table">
            <a:tbl>
              <a:tblPr firstRow="0" bandRow="0" bandCol="0" lastRow="0">
                <a:tableStyleId>{5C22544A-7EE6-4342-B048-85BDC9FD1C3A}</a:tableStyleId>
              </a:tblPr>
              <a:tblGrid>
                <a:gridCol w="1133856"/>
                <a:gridCol w="1133856"/>
                <a:gridCol w="1133856"/>
                <a:gridCol w="1133856"/>
                <a:gridCol w="1133856"/>
              </a:tblGrid>
              <a:tr h="195942">
                <a:tc>
                  <a:txBody>
                    <a:bodyPr/>
                    <a:lstStyle/>
                    <a:p>
                      <a:pPr algn="ctr">
                        <a:defRPr sz="1000" b="1">
                          <a:solidFill>
                            <a:srgbClr val="FFFFFF"/>
                          </a:solidFill>
                          <a:latin typeface="Segoe UI"/>
                        </a:defRPr>
                      </a:pPr>
                      <a:r>
                        <a:t>State</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a:defRPr>
                      </a:pPr>
                      <a:r>
                        <a:t>Subs</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a:defRPr>
                      </a:pPr>
                      <a:r>
                        <a:t>Quoted</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a:defRPr>
                      </a:pPr>
                      <a:r>
                        <a:t>Bound</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a:defRPr>
                      </a:pPr>
                      <a:r>
                        <a:t>Declined</a:t>
                      </a:r>
                    </a:p>
                  </a:txBody>
                  <a:tcPr anchor="ctr" marL="76200" marR="76200" marT="38100" marB="38100">
                    <a:solidFill>
                      <a:srgbClr val="1E073B"/>
                    </a:solidFill>
                    <a:lnL w="0">
                      <a:noFill/>
                    </a:lnL>
                    <a:lnR w="0">
                      <a:noFill/>
                    </a:lnR>
                    <a:lnT w="0">
                      <a:noFill/>
                    </a:lnT>
                    <a:lnB w="0">
                      <a:noFill/>
                    </a:lnB>
                  </a:tcPr>
                </a:tc>
              </a:tr>
              <a:tr h="195942">
                <a:tc>
                  <a:txBody>
                    <a:bodyPr/>
                    <a:lstStyle/>
                    <a:p>
                      <a:pPr algn="l">
                        <a:defRPr sz="1100" b="1">
                          <a:solidFill>
                            <a:srgbClr val="8B5CF6"/>
                          </a:solidFill>
                          <a:latin typeface="Segoe UI"/>
                        </a:defRPr>
                      </a:pPr>
                      <a:r>
                        <a:t>AZ</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27</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10</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1100" b="0">
                          <a:solidFill>
                            <a:srgbClr val="EF4444"/>
                          </a:solidFill>
                          <a:latin typeface="Segoe UI"/>
                        </a:defRPr>
                      </a:pPr>
                      <a:r>
                        <a:t>15</a:t>
                      </a:r>
                    </a:p>
                  </a:txBody>
                  <a:tcPr anchor="ctr" marL="76200" marR="76200" marT="38100" marB="38100">
                    <a:noFill/>
                    <a:lnL w="0">
                      <a:noFill/>
                    </a:lnL>
                    <a:lnR w="0">
                      <a:noFill/>
                    </a:lnR>
                    <a:lnT w="0">
                      <a:noFill/>
                    </a:lnT>
                    <a:lnB w="0">
                      <a:noFill/>
                    </a:lnB>
                  </a:tcPr>
                </a:tc>
              </a:tr>
              <a:tr h="195942">
                <a:tc>
                  <a:txBody>
                    <a:bodyPr/>
                    <a:lstStyle/>
                    <a:p>
                      <a:pPr algn="l">
                        <a:defRPr sz="1100" b="1">
                          <a:solidFill>
                            <a:srgbClr val="8B5CF6"/>
                          </a:solidFill>
                          <a:latin typeface="Segoe UI"/>
                        </a:defRPr>
                      </a:pPr>
                      <a:r>
                        <a:t>VA</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26</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EF4444"/>
                          </a:solidFill>
                          <a:latin typeface="Segoe UI"/>
                        </a:defRPr>
                      </a:pPr>
                      <a:r>
                        <a:t>20</a:t>
                      </a:r>
                    </a:p>
                  </a:txBody>
                  <a:tcPr anchor="ctr" marL="76200" marR="76200" marT="38100" marB="38100">
                    <a:solidFill>
                      <a:srgbClr val="F5F3FF"/>
                    </a:solidFill>
                    <a:lnL w="0">
                      <a:noFill/>
                    </a:lnL>
                    <a:lnR w="0">
                      <a:noFill/>
                    </a:lnR>
                    <a:lnT w="0">
                      <a:noFill/>
                    </a:lnT>
                    <a:lnB w="0">
                      <a:noFill/>
                    </a:lnB>
                  </a:tcPr>
                </a:tc>
              </a:tr>
              <a:tr h="195942">
                <a:tc>
                  <a:txBody>
                    <a:bodyPr/>
                    <a:lstStyle/>
                    <a:p>
                      <a:pPr algn="l">
                        <a:defRPr sz="1100" b="1">
                          <a:solidFill>
                            <a:srgbClr val="8B5CF6"/>
                          </a:solidFill>
                          <a:latin typeface="Segoe UI"/>
                        </a:defRPr>
                      </a:pPr>
                      <a:r>
                        <a:t>MS</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26</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12</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1100" b="0">
                          <a:solidFill>
                            <a:srgbClr val="EF4444"/>
                          </a:solidFill>
                          <a:latin typeface="Segoe UI"/>
                        </a:defRPr>
                      </a:pPr>
                      <a:r>
                        <a:t>11</a:t>
                      </a:r>
                    </a:p>
                  </a:txBody>
                  <a:tcPr anchor="ctr" marL="76200" marR="76200" marT="38100" marB="38100">
                    <a:noFill/>
                    <a:lnL w="0">
                      <a:noFill/>
                    </a:lnL>
                    <a:lnR w="0">
                      <a:noFill/>
                    </a:lnR>
                    <a:lnT w="0">
                      <a:noFill/>
                    </a:lnT>
                    <a:lnB w="0">
                      <a:noFill/>
                    </a:lnB>
                  </a:tcPr>
                </a:tc>
              </a:tr>
              <a:tr h="195942">
                <a:tc>
                  <a:txBody>
                    <a:bodyPr/>
                    <a:lstStyle/>
                    <a:p>
                      <a:pPr algn="l">
                        <a:defRPr sz="1100" b="1">
                          <a:solidFill>
                            <a:srgbClr val="8B5CF6"/>
                          </a:solidFill>
                          <a:latin typeface="Segoe UI"/>
                        </a:defRPr>
                      </a:pPr>
                      <a:r>
                        <a:t>CO</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25</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10B981"/>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EF4444"/>
                          </a:solidFill>
                          <a:latin typeface="Segoe UI"/>
                        </a:defRPr>
                      </a:pPr>
                      <a:r>
                        <a:t>14</a:t>
                      </a:r>
                    </a:p>
                  </a:txBody>
                  <a:tcPr anchor="ctr" marL="76200" marR="76200" marT="38100" marB="38100">
                    <a:solidFill>
                      <a:srgbClr val="F5F3FF"/>
                    </a:solidFill>
                    <a:lnL w="0">
                      <a:noFill/>
                    </a:lnL>
                    <a:lnR w="0">
                      <a:noFill/>
                    </a:lnR>
                    <a:lnT w="0">
                      <a:noFill/>
                    </a:lnT>
                    <a:lnB w="0">
                      <a:noFill/>
                    </a:lnB>
                  </a:tcPr>
                </a:tc>
              </a:tr>
              <a:tr h="195942">
                <a:tc>
                  <a:txBody>
                    <a:bodyPr/>
                    <a:lstStyle/>
                    <a:p>
                      <a:pPr algn="l">
                        <a:defRPr sz="1100" b="1">
                          <a:solidFill>
                            <a:srgbClr val="8B5CF6"/>
                          </a:solidFill>
                          <a:latin typeface="Segoe UI"/>
                        </a:defRPr>
                      </a:pPr>
                      <a:r>
                        <a:t>OK</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22</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11</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1100" b="0">
                          <a:solidFill>
                            <a:srgbClr val="EF4444"/>
                          </a:solidFill>
                          <a:latin typeface="Segoe UI"/>
                        </a:defRPr>
                      </a:pPr>
                      <a:r>
                        <a:t>10</a:t>
                      </a:r>
                    </a:p>
                  </a:txBody>
                  <a:tcPr anchor="ctr" marL="76200" marR="76200" marT="38100" marB="38100">
                    <a:noFill/>
                    <a:lnL w="0">
                      <a:noFill/>
                    </a:lnL>
                    <a:lnR w="0">
                      <a:noFill/>
                    </a:lnR>
                    <a:lnT w="0">
                      <a:noFill/>
                    </a:lnT>
                    <a:lnB w="0">
                      <a:noFill/>
                    </a:lnB>
                  </a:tcPr>
                </a:tc>
              </a:tr>
              <a:tr h="195942">
                <a:tc>
                  <a:txBody>
                    <a:bodyPr/>
                    <a:lstStyle/>
                    <a:p>
                      <a:pPr algn="l">
                        <a:defRPr sz="1100" b="1">
                          <a:solidFill>
                            <a:srgbClr val="8B5CF6"/>
                          </a:solidFill>
                          <a:latin typeface="Segoe UI"/>
                        </a:defRPr>
                      </a:pPr>
                      <a:r>
                        <a:t>UT</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11</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5</a:t>
                      </a:r>
                    </a:p>
                  </a:txBody>
                  <a:tcPr anchor="ctr" marL="76200" marR="76200" marT="38100" marB="38100">
                    <a:solidFill>
                      <a:srgbClr val="F5F3FF"/>
                    </a:solidFill>
                    <a:lnL w="0">
                      <a:noFill/>
                    </a:lnL>
                    <a:lnR w="0">
                      <a:noFill/>
                    </a:lnR>
                    <a:lnT w="0">
                      <a:noFill/>
                    </a:lnT>
                    <a:lnB w="0">
                      <a:noFill/>
                    </a:lnB>
                  </a:tcPr>
                </a:tc>
              </a:tr>
              <a:tr h="195942">
                <a:tc>
                  <a:txBody>
                    <a:bodyPr/>
                    <a:lstStyle/>
                    <a:p>
                      <a:pPr algn="l">
                        <a:defRPr sz="1100" b="1">
                          <a:solidFill>
                            <a:srgbClr val="8B5CF6"/>
                          </a:solidFill>
                          <a:latin typeface="Segoe UI"/>
                        </a:defRPr>
                      </a:pPr>
                      <a:r>
                        <a:t>MN</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9</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1100" b="1">
                          <a:solidFill>
                            <a:srgbClr val="10B981"/>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3</a:t>
                      </a:r>
                    </a:p>
                  </a:txBody>
                  <a:tcPr anchor="ctr" marL="76200" marR="76200" marT="38100" marB="38100">
                    <a:noFill/>
                    <a:lnL w="0">
                      <a:noFill/>
                    </a:lnL>
                    <a:lnR w="0">
                      <a:noFill/>
                    </a:lnR>
                    <a:lnT w="0">
                      <a:noFill/>
                    </a:lnT>
                    <a:lnB w="0">
                      <a:noFill/>
                    </a:lnB>
                  </a:tcPr>
                </a:tc>
              </a:tr>
              <a:tr h="195942">
                <a:tc>
                  <a:txBody>
                    <a:bodyPr/>
                    <a:lstStyle/>
                    <a:p>
                      <a:pPr algn="l">
                        <a:defRPr sz="1100" b="1">
                          <a:solidFill>
                            <a:srgbClr val="8B5CF6"/>
                          </a:solidFill>
                          <a:latin typeface="Segoe UI"/>
                        </a:defRPr>
                      </a:pPr>
                      <a:r>
                        <a:t>AL</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7</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r>
              <a:tr h="195942">
                <a:tc>
                  <a:txBody>
                    <a:bodyPr/>
                    <a:lstStyle/>
                    <a:p>
                      <a:pPr algn="l">
                        <a:defRPr sz="1100" b="1">
                          <a:solidFill>
                            <a:srgbClr val="8B5CF6"/>
                          </a:solidFill>
                          <a:latin typeface="Segoe UI"/>
                        </a:defRPr>
                      </a:pPr>
                      <a:r>
                        <a:t>AR</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6</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2</a:t>
                      </a:r>
                    </a:p>
                  </a:txBody>
                  <a:tcPr anchor="ctr" marL="76200" marR="76200" marT="38100" marB="38100">
                    <a:noFill/>
                    <a:lnL w="0">
                      <a:noFill/>
                    </a:lnL>
                    <a:lnR w="0">
                      <a:noFill/>
                    </a:lnR>
                    <a:lnT w="0">
                      <a:noFill/>
                    </a:lnT>
                    <a:lnB w="0">
                      <a:noFill/>
                    </a:lnB>
                  </a:tcPr>
                </a:tc>
              </a:tr>
              <a:tr h="195942">
                <a:tc>
                  <a:txBody>
                    <a:bodyPr/>
                    <a:lstStyle/>
                    <a:p>
                      <a:pPr algn="l">
                        <a:defRPr sz="1100" b="1">
                          <a:solidFill>
                            <a:srgbClr val="8B5CF6"/>
                          </a:solidFill>
                          <a:latin typeface="Segoe UI"/>
                        </a:defRPr>
                      </a:pPr>
                      <a:r>
                        <a:t>ND</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5</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r>
              <a:tr h="195942">
                <a:tc>
                  <a:txBody>
                    <a:bodyPr/>
                    <a:lstStyle/>
                    <a:p>
                      <a:pPr algn="l">
                        <a:defRPr sz="1100" b="1">
                          <a:solidFill>
                            <a:srgbClr val="8B5CF6"/>
                          </a:solidFill>
                          <a:latin typeface="Segoe UI"/>
                        </a:defRPr>
                      </a:pPr>
                      <a:r>
                        <a:t>WI</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4</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3</a:t>
                      </a:r>
                    </a:p>
                  </a:txBody>
                  <a:tcPr anchor="ctr" marL="76200" marR="76200" marT="38100" marB="38100">
                    <a:noFill/>
                    <a:lnL w="0">
                      <a:noFill/>
                    </a:lnL>
                    <a:lnR w="0">
                      <a:noFill/>
                    </a:lnR>
                    <a:lnT w="0">
                      <a:noFill/>
                    </a:lnT>
                    <a:lnB w="0">
                      <a:noFill/>
                    </a:lnB>
                  </a:tcPr>
                </a:tc>
              </a:tr>
              <a:tr h="195942">
                <a:tc>
                  <a:txBody>
                    <a:bodyPr/>
                    <a:lstStyle/>
                    <a:p>
                      <a:pPr algn="l">
                        <a:defRPr sz="1100" b="1">
                          <a:solidFill>
                            <a:srgbClr val="8B5CF6"/>
                          </a:solidFill>
                          <a:latin typeface="Segoe UI"/>
                        </a:defRPr>
                      </a:pPr>
                      <a:r>
                        <a:t>DE</a:t>
                      </a:r>
                    </a:p>
                  </a:txBody>
                  <a:tcPr anchor="ctr" marL="76200" marR="76200" marT="38100" marB="38100">
                    <a:solidFill>
                      <a:srgbClr val="F5F3FF"/>
                    </a:solidFill>
                    <a:lnL w="0">
                      <a:noFill/>
                    </a:lnL>
                    <a:lnR w="0">
                      <a:noFill/>
                    </a:lnR>
                    <a:lnT w="0">
                      <a:noFill/>
                    </a:lnT>
                    <a:lnB w="0">
                      <a:noFill/>
                    </a:lnB>
                  </a:tcPr>
                </a:tc>
                <a:tc>
                  <a:txBody>
                    <a:bodyPr/>
                    <a:lstStyle/>
                    <a:p>
                      <a:pPr algn="ctr">
                        <a:defRPr sz="1100" b="1">
                          <a:solidFill>
                            <a:srgbClr val="2D233F"/>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r>
              <a:tr h="195954">
                <a:tc>
                  <a:txBody>
                    <a:bodyPr/>
                    <a:lstStyle/>
                    <a:p>
                      <a:pPr algn="l">
                        <a:defRPr sz="1100" b="1">
                          <a:solidFill>
                            <a:srgbClr val="8B5CF6"/>
                          </a:solidFill>
                          <a:latin typeface="Segoe UI"/>
                        </a:defRPr>
                      </a:pPr>
                      <a:r>
                        <a:t>NH</a:t>
                      </a:r>
                    </a:p>
                  </a:txBody>
                  <a:tcPr anchor="ctr" marL="76200" marR="76200" marT="38100" marB="38100">
                    <a:noFill/>
                    <a:lnL w="0">
                      <a:noFill/>
                    </a:lnL>
                    <a:lnR w="0">
                      <a:noFill/>
                    </a:lnR>
                    <a:lnT w="0">
                      <a:noFill/>
                    </a:lnT>
                    <a:lnB w="0">
                      <a:noFill/>
                    </a:lnB>
                  </a:tcPr>
                </a:tc>
                <a:tc>
                  <a:txBody>
                    <a:bodyPr/>
                    <a:lstStyle/>
                    <a:p>
                      <a:pPr algn="ctr">
                        <a:defRPr sz="1100" b="1">
                          <a:solidFill>
                            <a:srgbClr val="2D233F"/>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1100" b="0">
                          <a:solidFill>
                            <a:srgbClr val="6B5F83"/>
                          </a:solidFill>
                          <a:latin typeface="Segoe UI"/>
                        </a:defRPr>
                      </a:pPr>
                      <a:r>
                        <a:t>1</a:t>
                      </a:r>
                    </a:p>
                  </a:txBody>
                  <a:tcPr anchor="ctr" marL="76200" marR="76200" marT="38100" marB="38100">
                    <a:noFill/>
                    <a:lnL w="0">
                      <a:noFill/>
                    </a:lnL>
                    <a:lnR w="0">
                      <a:noFill/>
                    </a:lnR>
                    <a:lnT w="0">
                      <a:noFill/>
                    </a:lnT>
                    <a:lnB w="0">
                      <a:noFill/>
                    </a:lnB>
                  </a:tcPr>
                </a:tc>
              </a:tr>
            </a:tbl>
          </a:graphicData>
        </a:graphic>
      </p:graphicFrame>
      <p:sp>
        <p:nvSpPr>
          <p:cNvPr id="35" name="Rounded Rectangle 34"/>
          <p:cNvSpPr/>
          <p:nvPr/>
        </p:nvSpPr>
        <p:spPr>
          <a:xfrm>
            <a:off x="457200" y="5943600"/>
            <a:ext cx="11430000" cy="50292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7200" y="5943600"/>
            <a:ext cx="54864"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971032"/>
            <a:ext cx="10972800" cy="411480"/>
          </a:xfrm>
          <a:prstGeom prst="rect">
            <a:avLst/>
          </a:prstGeom>
          <a:noFill/>
        </p:spPr>
        <p:txBody>
          <a:bodyPr wrap="square">
            <a:spAutoFit/>
          </a:bodyPr>
          <a:lstStyle/>
          <a:p>
            <a:pPr algn="l">
              <a:defRPr sz="1000" b="1" i="0">
                <a:solidFill>
                  <a:srgbClr val="2D233F"/>
                </a:solidFill>
                <a:latin typeface="Segoe UI"/>
              </a:defRPr>
            </a:pPr>
            <a:r>
              <a:t>DORMANT (7):  IA, ME, NE, OR, RI, SD, WV   |   EXPANSION BINDS: 16 policies (AZ, CO, ID, MN, MS, ND, NE, NH, OK, UT, VA), $252,992</a:t>
            </a:r>
          </a:p>
        </p:txBody>
      </p:sp>
      <p:sp>
        <p:nvSpPr>
          <p:cNvPr id="38" name="Rectangle 37"/>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0" name="TextBox 39"/>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400" b="1" i="0">
                <a:solidFill>
                  <a:srgbClr val="FFFFFF"/>
                </a:solidFill>
                <a:latin typeface="Segoe UI Light"/>
              </a:defRPr>
            </a:pPr>
            <a:r>
              <a:t>EXPANSION STATE PERFORMANCE</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22 New States  |  2026 YTD Detail</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9427" y="960120"/>
            <a:ext cx="2651760" cy="114300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9427" y="960120"/>
            <a:ext cx="26517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0867" y="1069848"/>
            <a:ext cx="2468880" cy="411480"/>
          </a:xfrm>
          <a:prstGeom prst="rect">
            <a:avLst/>
          </a:prstGeom>
          <a:noFill/>
        </p:spPr>
        <p:txBody>
          <a:bodyPr wrap="square">
            <a:spAutoFit/>
          </a:bodyPr>
          <a:lstStyle/>
          <a:p>
            <a:pPr algn="ctr">
              <a:defRPr sz="3200" b="1" i="0">
                <a:solidFill>
                  <a:srgbClr val="7C3AED"/>
                </a:solidFill>
                <a:latin typeface="Segoe UI"/>
              </a:defRPr>
            </a:pPr>
            <a:r>
              <a:t>185</a:t>
            </a:r>
          </a:p>
        </p:txBody>
      </p:sp>
      <p:sp>
        <p:nvSpPr>
          <p:cNvPr id="14" name="TextBox 13"/>
          <p:cNvSpPr txBox="1"/>
          <p:nvPr/>
        </p:nvSpPr>
        <p:spPr>
          <a:xfrm>
            <a:off x="540867" y="1527048"/>
            <a:ext cx="2468880" cy="228600"/>
          </a:xfrm>
          <a:prstGeom prst="rect">
            <a:avLst/>
          </a:prstGeom>
          <a:noFill/>
        </p:spPr>
        <p:txBody>
          <a:bodyPr wrap="square">
            <a:spAutoFit/>
          </a:bodyPr>
          <a:lstStyle/>
          <a:p>
            <a:pPr algn="ctr">
              <a:defRPr sz="1200" b="1" i="0">
                <a:solidFill>
                  <a:srgbClr val="2D233F"/>
                </a:solidFill>
                <a:latin typeface="Segoe UI"/>
              </a:defRPr>
            </a:pPr>
            <a:r>
              <a:t>Expansion Subs</a:t>
            </a:r>
          </a:p>
        </p:txBody>
      </p:sp>
      <p:sp>
        <p:nvSpPr>
          <p:cNvPr id="15" name="TextBox 14"/>
          <p:cNvSpPr txBox="1"/>
          <p:nvPr/>
        </p:nvSpPr>
        <p:spPr>
          <a:xfrm>
            <a:off x="540867" y="1783080"/>
            <a:ext cx="2468880" cy="228600"/>
          </a:xfrm>
          <a:prstGeom prst="rect">
            <a:avLst/>
          </a:prstGeom>
          <a:noFill/>
        </p:spPr>
        <p:txBody>
          <a:bodyPr wrap="square">
            <a:spAutoFit/>
          </a:bodyPr>
          <a:lstStyle/>
          <a:p>
            <a:pPr algn="ctr">
              <a:defRPr sz="1000" b="0" i="1">
                <a:solidFill>
                  <a:srgbClr val="A09CB0"/>
                </a:solidFill>
                <a:latin typeface="Segoe UI"/>
              </a:defRPr>
            </a:pPr>
            <a:r>
              <a:t>20/22 states active</a:t>
            </a:r>
          </a:p>
        </p:txBody>
      </p:sp>
      <p:sp>
        <p:nvSpPr>
          <p:cNvPr id="16" name="Rounded Rectangle 15"/>
          <p:cNvSpPr/>
          <p:nvPr/>
        </p:nvSpPr>
        <p:spPr>
          <a:xfrm>
            <a:off x="3329787" y="960120"/>
            <a:ext cx="2651760" cy="114300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29787" y="960120"/>
            <a:ext cx="265176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1227" y="1069848"/>
            <a:ext cx="2468880" cy="411480"/>
          </a:xfrm>
          <a:prstGeom prst="rect">
            <a:avLst/>
          </a:prstGeom>
          <a:noFill/>
        </p:spPr>
        <p:txBody>
          <a:bodyPr wrap="square">
            <a:spAutoFit/>
          </a:bodyPr>
          <a:lstStyle/>
          <a:p>
            <a:pPr algn="ctr">
              <a:defRPr sz="3200" b="1" i="0">
                <a:solidFill>
                  <a:srgbClr val="10B981"/>
                </a:solidFill>
                <a:latin typeface="Segoe UI"/>
              </a:defRPr>
            </a:pPr>
            <a:r>
              <a:t>16</a:t>
            </a:r>
          </a:p>
        </p:txBody>
      </p:sp>
      <p:sp>
        <p:nvSpPr>
          <p:cNvPr id="19" name="TextBox 18"/>
          <p:cNvSpPr txBox="1"/>
          <p:nvPr/>
        </p:nvSpPr>
        <p:spPr>
          <a:xfrm>
            <a:off x="3421227" y="1527048"/>
            <a:ext cx="2468880" cy="228600"/>
          </a:xfrm>
          <a:prstGeom prst="rect">
            <a:avLst/>
          </a:prstGeom>
          <a:noFill/>
        </p:spPr>
        <p:txBody>
          <a:bodyPr wrap="square">
            <a:spAutoFit/>
          </a:bodyPr>
          <a:lstStyle/>
          <a:p>
            <a:pPr algn="ctr">
              <a:defRPr sz="1200" b="1" i="0">
                <a:solidFill>
                  <a:srgbClr val="2D233F"/>
                </a:solidFill>
                <a:latin typeface="Segoe UI"/>
              </a:defRPr>
            </a:pPr>
            <a:r>
              <a:t>Expansion Binds</a:t>
            </a:r>
          </a:p>
        </p:txBody>
      </p:sp>
      <p:sp>
        <p:nvSpPr>
          <p:cNvPr id="20" name="TextBox 19"/>
          <p:cNvSpPr txBox="1"/>
          <p:nvPr/>
        </p:nvSpPr>
        <p:spPr>
          <a:xfrm>
            <a:off x="3421227" y="1783080"/>
            <a:ext cx="2468880" cy="228600"/>
          </a:xfrm>
          <a:prstGeom prst="rect">
            <a:avLst/>
          </a:prstGeom>
          <a:noFill/>
        </p:spPr>
        <p:txBody>
          <a:bodyPr wrap="square">
            <a:spAutoFit/>
          </a:bodyPr>
          <a:lstStyle/>
          <a:p>
            <a:pPr algn="ctr">
              <a:defRPr sz="1000" b="0" i="1">
                <a:solidFill>
                  <a:srgbClr val="A09CB0"/>
                </a:solidFill>
                <a:latin typeface="Segoe UI"/>
              </a:defRPr>
            </a:pPr>
            <a:r>
              <a:t>$252,992</a:t>
            </a:r>
          </a:p>
        </p:txBody>
      </p:sp>
      <p:sp>
        <p:nvSpPr>
          <p:cNvPr id="21" name="Rounded Rectangle 20"/>
          <p:cNvSpPr/>
          <p:nvPr/>
        </p:nvSpPr>
        <p:spPr>
          <a:xfrm>
            <a:off x="6210147" y="960120"/>
            <a:ext cx="2651760" cy="114300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0147" y="960120"/>
            <a:ext cx="2651760"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1587" y="1069848"/>
            <a:ext cx="2468880" cy="411480"/>
          </a:xfrm>
          <a:prstGeom prst="rect">
            <a:avLst/>
          </a:prstGeom>
          <a:noFill/>
        </p:spPr>
        <p:txBody>
          <a:bodyPr wrap="square">
            <a:spAutoFit/>
          </a:bodyPr>
          <a:lstStyle/>
          <a:p>
            <a:pPr algn="ctr">
              <a:defRPr sz="3200" b="1" i="0">
                <a:solidFill>
                  <a:srgbClr val="EF4444"/>
                </a:solidFill>
                <a:latin typeface="Segoe UI"/>
              </a:defRPr>
            </a:pPr>
            <a:r>
              <a:t>7</a:t>
            </a:r>
          </a:p>
        </p:txBody>
      </p:sp>
      <p:sp>
        <p:nvSpPr>
          <p:cNvPr id="24" name="TextBox 23"/>
          <p:cNvSpPr txBox="1"/>
          <p:nvPr/>
        </p:nvSpPr>
        <p:spPr>
          <a:xfrm>
            <a:off x="6301587" y="1527048"/>
            <a:ext cx="2468880" cy="228600"/>
          </a:xfrm>
          <a:prstGeom prst="rect">
            <a:avLst/>
          </a:prstGeom>
          <a:noFill/>
        </p:spPr>
        <p:txBody>
          <a:bodyPr wrap="square">
            <a:spAutoFit/>
          </a:bodyPr>
          <a:lstStyle/>
          <a:p>
            <a:pPr algn="ctr">
              <a:defRPr sz="1200" b="1" i="0">
                <a:solidFill>
                  <a:srgbClr val="2D233F"/>
                </a:solidFill>
                <a:latin typeface="Segoe UI"/>
              </a:defRPr>
            </a:pPr>
            <a:r>
              <a:t>Dormant States</a:t>
            </a:r>
          </a:p>
        </p:txBody>
      </p:sp>
      <p:sp>
        <p:nvSpPr>
          <p:cNvPr id="25" name="TextBox 24"/>
          <p:cNvSpPr txBox="1"/>
          <p:nvPr/>
        </p:nvSpPr>
        <p:spPr>
          <a:xfrm>
            <a:off x="6301587" y="1783080"/>
            <a:ext cx="2468880" cy="228600"/>
          </a:xfrm>
          <a:prstGeom prst="rect">
            <a:avLst/>
          </a:prstGeom>
          <a:noFill/>
        </p:spPr>
        <p:txBody>
          <a:bodyPr wrap="square">
            <a:spAutoFit/>
          </a:bodyPr>
          <a:lstStyle/>
          <a:p>
            <a:pPr algn="ctr">
              <a:defRPr sz="1000" b="0" i="1">
                <a:solidFill>
                  <a:srgbClr val="A09CB0"/>
                </a:solidFill>
                <a:latin typeface="Segoe UI"/>
              </a:defRPr>
            </a:pPr>
            <a:r>
              <a:t>0-1 submissions YTD</a:t>
            </a:r>
          </a:p>
        </p:txBody>
      </p:sp>
      <p:sp>
        <p:nvSpPr>
          <p:cNvPr id="26" name="Rounded Rectangle 25"/>
          <p:cNvSpPr/>
          <p:nvPr/>
        </p:nvSpPr>
        <p:spPr>
          <a:xfrm>
            <a:off x="9090507" y="960120"/>
            <a:ext cx="2651760" cy="114300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90507" y="960120"/>
            <a:ext cx="265176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1947" y="1069848"/>
            <a:ext cx="2468880" cy="411480"/>
          </a:xfrm>
          <a:prstGeom prst="rect">
            <a:avLst/>
          </a:prstGeom>
          <a:noFill/>
        </p:spPr>
        <p:txBody>
          <a:bodyPr wrap="square">
            <a:spAutoFit/>
          </a:bodyPr>
          <a:lstStyle/>
          <a:p>
            <a:pPr algn="ctr">
              <a:defRPr sz="3200" b="1" i="0">
                <a:solidFill>
                  <a:srgbClr val="8B5CF6"/>
                </a:solidFill>
                <a:latin typeface="Segoe UI"/>
              </a:defRPr>
            </a:pPr>
            <a:r>
              <a:t>20</a:t>
            </a:r>
          </a:p>
        </p:txBody>
      </p:sp>
      <p:sp>
        <p:nvSpPr>
          <p:cNvPr id="29" name="TextBox 28"/>
          <p:cNvSpPr txBox="1"/>
          <p:nvPr/>
        </p:nvSpPr>
        <p:spPr>
          <a:xfrm>
            <a:off x="9181947" y="1527048"/>
            <a:ext cx="2468880" cy="228600"/>
          </a:xfrm>
          <a:prstGeom prst="rect">
            <a:avLst/>
          </a:prstGeom>
          <a:noFill/>
        </p:spPr>
        <p:txBody>
          <a:bodyPr wrap="square">
            <a:spAutoFit/>
          </a:bodyPr>
          <a:lstStyle/>
          <a:p>
            <a:pPr algn="ctr">
              <a:defRPr sz="1200" b="1" i="0">
                <a:solidFill>
                  <a:srgbClr val="2D233F"/>
                </a:solidFill>
                <a:latin typeface="Segoe UI"/>
              </a:defRPr>
            </a:pPr>
            <a:r>
              <a:t>States Active</a:t>
            </a:r>
          </a:p>
        </p:txBody>
      </p:sp>
      <p:sp>
        <p:nvSpPr>
          <p:cNvPr id="30" name="TextBox 29"/>
          <p:cNvSpPr txBox="1"/>
          <p:nvPr/>
        </p:nvSpPr>
        <p:spPr>
          <a:xfrm>
            <a:off x="9181947" y="1783080"/>
            <a:ext cx="2468880" cy="228600"/>
          </a:xfrm>
          <a:prstGeom prst="rect">
            <a:avLst/>
          </a:prstGeom>
          <a:noFill/>
        </p:spPr>
        <p:txBody>
          <a:bodyPr wrap="square">
            <a:spAutoFit/>
          </a:bodyPr>
          <a:lstStyle/>
          <a:p>
            <a:pPr algn="ctr">
              <a:defRPr sz="1000" b="0" i="1">
                <a:solidFill>
                  <a:srgbClr val="A09CB0"/>
                </a:solidFill>
                <a:latin typeface="Segoe UI"/>
              </a:defRPr>
            </a:pPr>
            <a:r>
              <a:t>of 22 expansion states</a:t>
            </a:r>
          </a:p>
        </p:txBody>
      </p:sp>
      <p:sp>
        <p:nvSpPr>
          <p:cNvPr id="31" name="TextBox 30"/>
          <p:cNvSpPr txBox="1"/>
          <p:nvPr/>
        </p:nvSpPr>
        <p:spPr>
          <a:xfrm>
            <a:off x="274320" y="2240280"/>
            <a:ext cx="9144000" cy="320040"/>
          </a:xfrm>
          <a:prstGeom prst="rect">
            <a:avLst/>
          </a:prstGeom>
          <a:noFill/>
        </p:spPr>
        <p:txBody>
          <a:bodyPr wrap="square">
            <a:spAutoFit/>
          </a:bodyPr>
          <a:lstStyle/>
          <a:p>
            <a:pPr algn="l">
              <a:defRPr sz="1600" b="1" i="0">
                <a:solidFill>
                  <a:srgbClr val="1E073B"/>
                </a:solidFill>
                <a:latin typeface="Segoe UI Semibold"/>
              </a:defRPr>
            </a:pPr>
            <a:r>
              <a:t>EXPANSION STATES — YTD SUBMISSIONS (20/22 Active)</a:t>
            </a:r>
          </a:p>
        </p:txBody>
      </p:sp>
      <p:sp>
        <p:nvSpPr>
          <p:cNvPr id="32" name="Rectangle 31"/>
          <p:cNvSpPr/>
          <p:nvPr/>
        </p:nvSpPr>
        <p:spPr>
          <a:xfrm>
            <a:off x="274320" y="2569464"/>
            <a:ext cx="1828800" cy="27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3" name="Table 32"/>
          <p:cNvGraphicFramePr>
            <a:graphicFrameLocks noGrp="1"/>
          </p:cNvGraphicFramePr>
          <p:nvPr/>
        </p:nvGraphicFramePr>
        <p:xfrm>
          <a:off x="274320" y="2651760"/>
          <a:ext cx="11612880" cy="3291840"/>
        </p:xfrm>
        <a:graphic>
          <a:graphicData uri="http://schemas.openxmlformats.org/drawingml/2006/table">
            <a:tbl>
              <a:tblPr firstRow="0" bandRow="0" bandCol="0" lastRow="0">
                <a:tableStyleId>{5C22544A-7EE6-4342-B048-85BDC9FD1C3A}</a:tableStyleId>
              </a:tblPr>
              <a:tblGrid>
                <a:gridCol w="1188720"/>
                <a:gridCol w="1463040"/>
                <a:gridCol w="1463040"/>
                <a:gridCol w="1463040"/>
                <a:gridCol w="1463040"/>
                <a:gridCol w="2286000"/>
                <a:gridCol w="2286000"/>
              </a:tblGrid>
              <a:tr h="156754">
                <a:tc>
                  <a:txBody>
                    <a:bodyPr/>
                    <a:lstStyle/>
                    <a:p>
                      <a:pPr algn="ctr">
                        <a:defRPr sz="1000" b="1">
                          <a:solidFill>
                            <a:srgbClr val="FFFFFF"/>
                          </a:solidFill>
                          <a:latin typeface="Segoe UI Semibold"/>
                        </a:defRPr>
                      </a:pPr>
                      <a:r>
                        <a:t>State</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Semibold"/>
                        </a:defRPr>
                      </a:pPr>
                      <a:r>
                        <a:t>Subs</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Semibold"/>
                        </a:defRPr>
                      </a:pPr>
                      <a:r>
                        <a:t>Quoted</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Semibold"/>
                        </a:defRPr>
                      </a:pPr>
                      <a:r>
                        <a:t>Bound</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Semibold"/>
                        </a:defRPr>
                      </a:pPr>
                      <a:r>
                        <a:t>Declined</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Semibold"/>
                        </a:defRPr>
                      </a:pPr>
                      <a:r>
                        <a:t>Status</a:t>
                      </a:r>
                    </a:p>
                  </a:txBody>
                  <a:tcPr anchor="ctr" marL="76200" marR="76200" marT="38100" marB="38100">
                    <a:solidFill>
                      <a:srgbClr val="1E073B"/>
                    </a:solidFill>
                    <a:lnL w="0">
                      <a:noFill/>
                    </a:lnL>
                    <a:lnR w="0">
                      <a:noFill/>
                    </a:lnR>
                    <a:lnT w="0">
                      <a:noFill/>
                    </a:lnT>
                    <a:lnB w="0">
                      <a:noFill/>
                    </a:lnB>
                  </a:tcPr>
                </a:tc>
                <a:tc>
                  <a:txBody>
                    <a:bodyPr/>
                    <a:lstStyle/>
                    <a:p>
                      <a:pPr algn="ctr">
                        <a:defRPr sz="1000" b="1">
                          <a:solidFill>
                            <a:srgbClr val="FFFFFF"/>
                          </a:solidFill>
                          <a:latin typeface="Segoe UI Semibold"/>
                        </a:defRPr>
                      </a:pPr>
                      <a:r>
                        <a:t>Bound GWP</a:t>
                      </a:r>
                    </a:p>
                  </a:txBody>
                  <a:tcPr anchor="ctr" marL="76200" marR="76200" marT="38100" marB="38100">
                    <a:solidFill>
                      <a:srgbClr val="1E073B"/>
                    </a:solidFill>
                    <a:lnL w="0">
                      <a:noFill/>
                    </a:lnL>
                    <a:lnR w="0">
                      <a:noFill/>
                    </a:lnR>
                    <a:lnT w="0">
                      <a:noFill/>
                    </a:lnT>
                    <a:lnB w="0">
                      <a:noFill/>
                    </a:lnB>
                  </a:tcPr>
                </a:tc>
              </a:tr>
              <a:tr h="156754">
                <a:tc>
                  <a:txBody>
                    <a:bodyPr/>
                    <a:lstStyle/>
                    <a:p>
                      <a:pPr algn="ctr">
                        <a:defRPr sz="1000" b="1">
                          <a:solidFill>
                            <a:srgbClr val="8B5CF6"/>
                          </a:solidFill>
                          <a:latin typeface="Segoe UI"/>
                        </a:defRPr>
                      </a:pPr>
                      <a:r>
                        <a:t>AZ</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27</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10</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EF4444"/>
                          </a:solidFill>
                          <a:latin typeface="Segoe UI"/>
                        </a:defRPr>
                      </a:pPr>
                      <a:r>
                        <a:t>15</a:t>
                      </a:r>
                    </a:p>
                  </a:txBody>
                  <a:tcPr anchor="ctr" marL="76200" marR="76200" marT="38100" marB="38100">
                    <a:no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noFill/>
                    <a:lnL w="0">
                      <a:noFill/>
                    </a:lnL>
                    <a:lnR w="0">
                      <a:noFill/>
                    </a:lnR>
                    <a:lnT w="0">
                      <a:noFill/>
                    </a:lnT>
                    <a:lnB w="0">
                      <a:noFill/>
                    </a:lnB>
                  </a:tcPr>
                </a:tc>
                <a:tc>
                  <a:txBody>
                    <a:bodyPr/>
                    <a:lstStyle/>
                    <a:p>
                      <a:pPr algn="r">
                        <a:defRPr sz="1000" b="1">
                          <a:solidFill>
                            <a:srgbClr val="10B981"/>
                          </a:solidFill>
                          <a:latin typeface="Segoe UI"/>
                        </a:defRPr>
                      </a:pPr>
                      <a:r>
                        <a:t>$13,649</a:t>
                      </a:r>
                    </a:p>
                  </a:txBody>
                  <a:tcPr anchor="ctr" marL="76200" marR="76200" marT="38100" marB="38100">
                    <a:noFill/>
                    <a:lnL w="0">
                      <a:noFill/>
                    </a:lnL>
                    <a:lnR w="0">
                      <a:noFill/>
                    </a:lnR>
                    <a:lnT w="0">
                      <a:noFill/>
                    </a:lnT>
                    <a:lnB w="0">
                      <a:noFill/>
                    </a:lnB>
                  </a:tcPr>
                </a:tc>
              </a:tr>
              <a:tr h="156754">
                <a:tc>
                  <a:txBody>
                    <a:bodyPr/>
                    <a:lstStyle/>
                    <a:p>
                      <a:pPr algn="ctr">
                        <a:defRPr sz="1000" b="1">
                          <a:solidFill>
                            <a:srgbClr val="8B5CF6"/>
                          </a:solidFill>
                          <a:latin typeface="Segoe UI"/>
                        </a:defRPr>
                      </a:pPr>
                      <a:r>
                        <a:t>MS</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26</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12</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EF4444"/>
                          </a:solidFill>
                          <a:latin typeface="Segoe UI"/>
                        </a:defRPr>
                      </a:pPr>
                      <a:r>
                        <a:t>11</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0B981"/>
                          </a:solidFill>
                          <a:latin typeface="Segoe UI"/>
                        </a:defRPr>
                      </a:pPr>
                      <a:r>
                        <a:t>$550</a:t>
                      </a:r>
                    </a:p>
                  </a:txBody>
                  <a:tcPr anchor="ctr" marL="76200" marR="76200" marT="38100" marB="38100">
                    <a:solidFill>
                      <a:srgbClr val="F5F3FF"/>
                    </a:solidFill>
                    <a:lnL w="0">
                      <a:noFill/>
                    </a:lnL>
                    <a:lnR w="0">
                      <a:noFill/>
                    </a:lnR>
                    <a:lnT w="0">
                      <a:noFill/>
                    </a:lnT>
                    <a:lnB w="0">
                      <a:noFill/>
                    </a:lnB>
                  </a:tcPr>
                </a:tc>
              </a:tr>
              <a:tr h="156754">
                <a:tc>
                  <a:txBody>
                    <a:bodyPr/>
                    <a:lstStyle/>
                    <a:p>
                      <a:pPr algn="ctr">
                        <a:defRPr sz="1000" b="1">
                          <a:solidFill>
                            <a:srgbClr val="8B5CF6"/>
                          </a:solidFill>
                          <a:latin typeface="Segoe UI"/>
                        </a:defRPr>
                      </a:pPr>
                      <a:r>
                        <a:t>VA</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26</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1000" b="1">
                          <a:solidFill>
                            <a:srgbClr val="10B981"/>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000" b="0">
                          <a:solidFill>
                            <a:srgbClr val="EF4444"/>
                          </a:solidFill>
                          <a:latin typeface="Segoe UI"/>
                        </a:defRPr>
                      </a:pPr>
                      <a:r>
                        <a:t>20</a:t>
                      </a:r>
                    </a:p>
                  </a:txBody>
                  <a:tcPr anchor="ctr" marL="76200" marR="76200" marT="38100" marB="38100">
                    <a:no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noFill/>
                    <a:lnL w="0">
                      <a:noFill/>
                    </a:lnL>
                    <a:lnR w="0">
                      <a:noFill/>
                    </a:lnR>
                    <a:lnT w="0">
                      <a:noFill/>
                    </a:lnT>
                    <a:lnB w="0">
                      <a:noFill/>
                    </a:lnB>
                  </a:tcPr>
                </a:tc>
                <a:tc>
                  <a:txBody>
                    <a:bodyPr/>
                    <a:lstStyle/>
                    <a:p>
                      <a:pPr algn="r">
                        <a:defRPr sz="1000" b="1">
                          <a:solidFill>
                            <a:srgbClr val="10B981"/>
                          </a:solidFill>
                          <a:latin typeface="Segoe UI"/>
                        </a:defRPr>
                      </a:pPr>
                      <a:r>
                        <a:t>$138,776</a:t>
                      </a:r>
                    </a:p>
                  </a:txBody>
                  <a:tcPr anchor="ctr" marL="76200" marR="76200" marT="38100" marB="38100">
                    <a:noFill/>
                    <a:lnL w="0">
                      <a:noFill/>
                    </a:lnL>
                    <a:lnR w="0">
                      <a:noFill/>
                    </a:lnR>
                    <a:lnT w="0">
                      <a:noFill/>
                    </a:lnT>
                    <a:lnB w="0">
                      <a:noFill/>
                    </a:lnB>
                  </a:tcPr>
                </a:tc>
              </a:tr>
              <a:tr h="156754">
                <a:tc>
                  <a:txBody>
                    <a:bodyPr/>
                    <a:lstStyle/>
                    <a:p>
                      <a:pPr algn="ctr">
                        <a:defRPr sz="1000" b="1">
                          <a:solidFill>
                            <a:srgbClr val="8B5CF6"/>
                          </a:solidFill>
                          <a:latin typeface="Segoe UI"/>
                        </a:defRPr>
                      </a:pPr>
                      <a:r>
                        <a:t>CO</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25</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6</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10B981"/>
                          </a:solidFill>
                          <a:latin typeface="Segoe UI"/>
                        </a:defRPr>
                      </a:pPr>
                      <a:r>
                        <a:t>2</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EF4444"/>
                          </a:solidFill>
                          <a:latin typeface="Segoe UI"/>
                        </a:defRPr>
                      </a:pPr>
                      <a:r>
                        <a:t>14</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0B981"/>
                          </a:solidFill>
                          <a:latin typeface="Segoe UI"/>
                        </a:defRPr>
                      </a:pPr>
                      <a:r>
                        <a:t>$32,771</a:t>
                      </a:r>
                    </a:p>
                  </a:txBody>
                  <a:tcPr anchor="ctr" marL="76200" marR="76200" marT="38100" marB="38100">
                    <a:solidFill>
                      <a:srgbClr val="F5F3FF"/>
                    </a:solidFill>
                    <a:lnL w="0">
                      <a:noFill/>
                    </a:lnL>
                    <a:lnR w="0">
                      <a:noFill/>
                    </a:lnR>
                    <a:lnT w="0">
                      <a:noFill/>
                    </a:lnT>
                    <a:lnB w="0">
                      <a:noFill/>
                    </a:lnB>
                  </a:tcPr>
                </a:tc>
              </a:tr>
              <a:tr h="156754">
                <a:tc>
                  <a:txBody>
                    <a:bodyPr/>
                    <a:lstStyle/>
                    <a:p>
                      <a:pPr algn="ctr">
                        <a:defRPr sz="1000" b="1">
                          <a:solidFill>
                            <a:srgbClr val="8B5CF6"/>
                          </a:solidFill>
                          <a:latin typeface="Segoe UI"/>
                        </a:defRPr>
                      </a:pPr>
                      <a:r>
                        <a:t>OK</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22</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11</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EF4444"/>
                          </a:solidFill>
                          <a:latin typeface="Segoe UI"/>
                        </a:defRPr>
                      </a:pPr>
                      <a:r>
                        <a:t>10</a:t>
                      </a:r>
                    </a:p>
                  </a:txBody>
                  <a:tcPr anchor="ctr" marL="76200" marR="76200" marT="38100" marB="38100">
                    <a:no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noFill/>
                    <a:lnL w="0">
                      <a:noFill/>
                    </a:lnL>
                    <a:lnR w="0">
                      <a:noFill/>
                    </a:lnR>
                    <a:lnT w="0">
                      <a:noFill/>
                    </a:lnT>
                    <a:lnB w="0">
                      <a:noFill/>
                    </a:lnB>
                  </a:tcPr>
                </a:tc>
                <a:tc>
                  <a:txBody>
                    <a:bodyPr/>
                    <a:lstStyle/>
                    <a:p>
                      <a:pPr algn="r">
                        <a:defRPr sz="1000" b="1">
                          <a:solidFill>
                            <a:srgbClr val="10B981"/>
                          </a:solidFill>
                          <a:latin typeface="Segoe UI"/>
                        </a:defRPr>
                      </a:pPr>
                      <a:r>
                        <a:t>$11,870</a:t>
                      </a:r>
                    </a:p>
                  </a:txBody>
                  <a:tcPr anchor="ctr" marL="76200" marR="76200" marT="38100" marB="38100">
                    <a:noFill/>
                    <a:lnL w="0">
                      <a:noFill/>
                    </a:lnL>
                    <a:lnR w="0">
                      <a:noFill/>
                    </a:lnR>
                    <a:lnT w="0">
                      <a:noFill/>
                    </a:lnT>
                    <a:lnB w="0">
                      <a:noFill/>
                    </a:lnB>
                  </a:tcPr>
                </a:tc>
              </a:tr>
              <a:tr h="156754">
                <a:tc>
                  <a:txBody>
                    <a:bodyPr/>
                    <a:lstStyle/>
                    <a:p>
                      <a:pPr algn="ctr">
                        <a:defRPr sz="1000" b="1">
                          <a:solidFill>
                            <a:srgbClr val="8B5CF6"/>
                          </a:solidFill>
                          <a:latin typeface="Segoe UI"/>
                        </a:defRPr>
                      </a:pPr>
                      <a:r>
                        <a:t>UT</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11</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10B981"/>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EF4444"/>
                          </a:solidFill>
                          <a:latin typeface="Segoe UI"/>
                        </a:defRPr>
                      </a:pPr>
                      <a:r>
                        <a:t>5</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0B981"/>
                          </a:solidFill>
                          <a:latin typeface="Segoe UI"/>
                        </a:defRPr>
                      </a:pPr>
                      <a:r>
                        <a:t>$550</a:t>
                      </a:r>
                    </a:p>
                  </a:txBody>
                  <a:tcPr anchor="ctr" marL="76200" marR="76200" marT="38100" marB="38100">
                    <a:solidFill>
                      <a:srgbClr val="F5F3FF"/>
                    </a:solidFill>
                    <a:lnL w="0">
                      <a:noFill/>
                    </a:lnL>
                    <a:lnR w="0">
                      <a:noFill/>
                    </a:lnR>
                    <a:lnT w="0">
                      <a:noFill/>
                    </a:lnT>
                    <a:lnB w="0">
                      <a:noFill/>
                    </a:lnB>
                  </a:tcPr>
                </a:tc>
              </a:tr>
              <a:tr h="156754">
                <a:tc>
                  <a:txBody>
                    <a:bodyPr/>
                    <a:lstStyle/>
                    <a:p>
                      <a:pPr algn="ctr">
                        <a:defRPr sz="1000" b="1">
                          <a:solidFill>
                            <a:srgbClr val="8B5CF6"/>
                          </a:solidFill>
                          <a:latin typeface="Segoe UI"/>
                        </a:defRPr>
                      </a:pPr>
                      <a:r>
                        <a:t>MN</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9</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1000" b="1">
                          <a:solidFill>
                            <a:srgbClr val="10B981"/>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noFill/>
                    <a:lnL w="0">
                      <a:noFill/>
                    </a:lnL>
                    <a:lnR w="0">
                      <a:noFill/>
                    </a:lnR>
                    <a:lnT w="0">
                      <a:noFill/>
                    </a:lnT>
                    <a:lnB w="0">
                      <a:noFill/>
                    </a:lnB>
                  </a:tcPr>
                </a:tc>
                <a:tc>
                  <a:txBody>
                    <a:bodyPr/>
                    <a:lstStyle/>
                    <a:p>
                      <a:pPr algn="r">
                        <a:defRPr sz="1000" b="1">
                          <a:solidFill>
                            <a:srgbClr val="10B981"/>
                          </a:solidFill>
                          <a:latin typeface="Segoe UI"/>
                        </a:defRPr>
                      </a:pPr>
                      <a:r>
                        <a:t>$15,034</a:t>
                      </a:r>
                    </a:p>
                  </a:txBody>
                  <a:tcPr anchor="ctr" marL="76200" marR="76200" marT="38100" marB="38100">
                    <a:noFill/>
                    <a:lnL w="0">
                      <a:noFill/>
                    </a:lnL>
                    <a:lnR w="0">
                      <a:noFill/>
                    </a:lnR>
                    <a:lnT w="0">
                      <a:noFill/>
                    </a:lnT>
                    <a:lnB w="0">
                      <a:noFill/>
                    </a:lnB>
                  </a:tcPr>
                </a:tc>
              </a:tr>
              <a:tr h="156754">
                <a:tc>
                  <a:txBody>
                    <a:bodyPr/>
                    <a:lstStyle/>
                    <a:p>
                      <a:pPr algn="ctr">
                        <a:defRPr sz="1000" b="1">
                          <a:solidFill>
                            <a:srgbClr val="8B5CF6"/>
                          </a:solidFill>
                          <a:latin typeface="Segoe UI"/>
                        </a:defRPr>
                      </a:pPr>
                      <a:r>
                        <a:t>AL</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7</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F59E0B"/>
                          </a:solidFill>
                          <a:latin typeface="Segoe UI"/>
                        </a:defRPr>
                      </a:pPr>
                      <a:r>
                        <a:t>Quoted</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r>
              <a:tr h="156754">
                <a:tc>
                  <a:txBody>
                    <a:bodyPr/>
                    <a:lstStyle/>
                    <a:p>
                      <a:pPr algn="ctr">
                        <a:defRPr sz="1000" b="1">
                          <a:solidFill>
                            <a:srgbClr val="8B5CF6"/>
                          </a:solidFill>
                          <a:latin typeface="Segoe UI"/>
                        </a:defRPr>
                      </a:pPr>
                      <a:r>
                        <a:t>AR</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6</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1000" b="1">
                          <a:solidFill>
                            <a:srgbClr val="F59E0B"/>
                          </a:solidFill>
                          <a:latin typeface="Segoe UI"/>
                        </a:defRPr>
                      </a:pPr>
                      <a:r>
                        <a:t>Quoted</a:t>
                      </a:r>
                    </a:p>
                  </a:txBody>
                  <a:tcPr anchor="ctr" marL="76200" marR="76200" marT="38100" marB="38100">
                    <a:noFill/>
                    <a:lnL w="0">
                      <a:noFill/>
                    </a:lnL>
                    <a:lnR w="0">
                      <a:noFill/>
                    </a:lnR>
                    <a:lnT w="0">
                      <a:noFill/>
                    </a:lnT>
                    <a:lnB w="0">
                      <a:noFill/>
                    </a:lnB>
                  </a:tcPr>
                </a:tc>
                <a:tc>
                  <a:txBody>
                    <a:bodyPr/>
                    <a:lstStyle/>
                    <a:p>
                      <a:pPr algn="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r>
              <a:tr h="156754">
                <a:tc>
                  <a:txBody>
                    <a:bodyPr/>
                    <a:lstStyle/>
                    <a:p>
                      <a:pPr algn="ctr">
                        <a:defRPr sz="1000" b="1">
                          <a:solidFill>
                            <a:srgbClr val="8B5CF6"/>
                          </a:solidFill>
                          <a:latin typeface="Segoe UI"/>
                        </a:defRPr>
                      </a:pPr>
                      <a:r>
                        <a:t>ND</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5</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0B981"/>
                          </a:solidFill>
                          <a:latin typeface="Segoe UI"/>
                        </a:defRPr>
                      </a:pPr>
                      <a:r>
                        <a:t>$550</a:t>
                      </a:r>
                    </a:p>
                  </a:txBody>
                  <a:tcPr anchor="ctr" marL="76200" marR="76200" marT="38100" marB="38100">
                    <a:solidFill>
                      <a:srgbClr val="F5F3FF"/>
                    </a:solidFill>
                    <a:lnL w="0">
                      <a:noFill/>
                    </a:lnL>
                    <a:lnR w="0">
                      <a:noFill/>
                    </a:lnR>
                    <a:lnT w="0">
                      <a:noFill/>
                    </a:lnT>
                    <a:lnB w="0">
                      <a:noFill/>
                    </a:lnB>
                  </a:tcPr>
                </a:tc>
              </a:tr>
              <a:tr h="156754">
                <a:tc>
                  <a:txBody>
                    <a:bodyPr/>
                    <a:lstStyle/>
                    <a:p>
                      <a:pPr algn="ctr">
                        <a:defRPr sz="1000" b="1">
                          <a:solidFill>
                            <a:srgbClr val="8B5CF6"/>
                          </a:solidFill>
                          <a:latin typeface="Segoe UI"/>
                        </a:defRPr>
                      </a:pPr>
                      <a:r>
                        <a:t>DE</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4</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1">
                          <a:solidFill>
                            <a:srgbClr val="F59E0B"/>
                          </a:solidFill>
                          <a:latin typeface="Segoe UI"/>
                        </a:defRPr>
                      </a:pPr>
                      <a:r>
                        <a:t>Quoted</a:t>
                      </a:r>
                    </a:p>
                  </a:txBody>
                  <a:tcPr anchor="ctr" marL="76200" marR="76200" marT="38100" marB="38100">
                    <a:noFill/>
                    <a:lnL w="0">
                      <a:noFill/>
                    </a:lnL>
                    <a:lnR w="0">
                      <a:noFill/>
                    </a:lnR>
                    <a:lnT w="0">
                      <a:noFill/>
                    </a:lnT>
                    <a:lnB w="0">
                      <a:noFill/>
                    </a:lnB>
                  </a:tcPr>
                </a:tc>
                <a:tc>
                  <a:txBody>
                    <a:bodyPr/>
                    <a:lstStyle/>
                    <a:p>
                      <a:pPr algn="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r>
              <a:tr h="156754">
                <a:tc>
                  <a:txBody>
                    <a:bodyPr/>
                    <a:lstStyle/>
                    <a:p>
                      <a:pPr algn="ctr">
                        <a:defRPr sz="1000" b="1">
                          <a:solidFill>
                            <a:srgbClr val="8B5CF6"/>
                          </a:solidFill>
                          <a:latin typeface="Segoe UI"/>
                        </a:defRPr>
                      </a:pPr>
                      <a:r>
                        <a:t>WI</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7C3AED"/>
                          </a:solidFill>
                          <a:latin typeface="Segoe UI"/>
                        </a:defRPr>
                      </a:pPr>
                      <a:r>
                        <a:t>Active</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r>
              <a:tr h="156754">
                <a:tc>
                  <a:txBody>
                    <a:bodyPr/>
                    <a:lstStyle/>
                    <a:p>
                      <a:pPr algn="ctr">
                        <a:defRPr sz="1000" b="1">
                          <a:solidFill>
                            <a:srgbClr val="8B5CF6"/>
                          </a:solidFill>
                          <a:latin typeface="Segoe UI"/>
                        </a:defRPr>
                      </a:pPr>
                      <a:r>
                        <a:t>MT</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000" b="1">
                          <a:solidFill>
                            <a:srgbClr val="F59E0B"/>
                          </a:solidFill>
                          <a:latin typeface="Segoe UI"/>
                        </a:defRPr>
                      </a:pPr>
                      <a:r>
                        <a:t>Quoted</a:t>
                      </a:r>
                    </a:p>
                  </a:txBody>
                  <a:tcPr anchor="ctr" marL="76200" marR="76200" marT="38100" marB="38100">
                    <a:noFill/>
                    <a:lnL w="0">
                      <a:noFill/>
                    </a:lnL>
                    <a:lnR w="0">
                      <a:noFill/>
                    </a:lnR>
                    <a:lnT w="0">
                      <a:noFill/>
                    </a:lnT>
                    <a:lnB w="0">
                      <a:noFill/>
                    </a:lnB>
                  </a:tcPr>
                </a:tc>
                <a:tc>
                  <a:txBody>
                    <a:bodyPr/>
                    <a:lstStyle/>
                    <a:p>
                      <a:pPr algn="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r>
              <a:tr h="156754">
                <a:tc>
                  <a:txBody>
                    <a:bodyPr/>
                    <a:lstStyle/>
                    <a:p>
                      <a:pPr algn="ctr">
                        <a:defRPr sz="1000" b="1">
                          <a:solidFill>
                            <a:srgbClr val="8B5CF6"/>
                          </a:solidFill>
                          <a:latin typeface="Segoe UI"/>
                        </a:defRPr>
                      </a:pPr>
                      <a:r>
                        <a:t>NH</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solidFill>
                      <a:srgbClr val="F5F3FF"/>
                    </a:solidFill>
                    <a:lnL w="0">
                      <a:noFill/>
                    </a:lnL>
                    <a:lnR w="0">
                      <a:noFill/>
                    </a:lnR>
                    <a:lnT w="0">
                      <a:noFill/>
                    </a:lnT>
                    <a:lnB w="0">
                      <a:noFill/>
                    </a:lnB>
                  </a:tcPr>
                </a:tc>
                <a:tc>
                  <a:txBody>
                    <a:bodyPr/>
                    <a:lstStyle/>
                    <a:p>
                      <a:pPr algn="r">
                        <a:defRPr sz="1000" b="1">
                          <a:solidFill>
                            <a:srgbClr val="10B981"/>
                          </a:solidFill>
                          <a:latin typeface="Segoe UI"/>
                        </a:defRPr>
                      </a:pPr>
                      <a:r>
                        <a:t>$12,128</a:t>
                      </a:r>
                    </a:p>
                  </a:txBody>
                  <a:tcPr anchor="ctr" marL="76200" marR="76200" marT="38100" marB="38100">
                    <a:solidFill>
                      <a:srgbClr val="F5F3FF"/>
                    </a:solidFill>
                    <a:lnL w="0">
                      <a:noFill/>
                    </a:lnL>
                    <a:lnR w="0">
                      <a:noFill/>
                    </a:lnR>
                    <a:lnT w="0">
                      <a:noFill/>
                    </a:lnT>
                    <a:lnB w="0">
                      <a:noFill/>
                    </a:lnB>
                  </a:tcPr>
                </a:tc>
              </a:tr>
              <a:tr h="156754">
                <a:tc>
                  <a:txBody>
                    <a:bodyPr/>
                    <a:lstStyle/>
                    <a:p>
                      <a:pPr algn="ctr">
                        <a:defRPr sz="1000" b="1">
                          <a:solidFill>
                            <a:srgbClr val="8B5CF6"/>
                          </a:solidFill>
                          <a:latin typeface="Segoe UI"/>
                        </a:defRPr>
                      </a:pPr>
                      <a:r>
                        <a:t>ID</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noFill/>
                    <a:lnL w="0">
                      <a:noFill/>
                    </a:lnL>
                    <a:lnR w="0">
                      <a:noFill/>
                    </a:lnR>
                    <a:lnT w="0">
                      <a:noFill/>
                    </a:lnT>
                    <a:lnB w="0">
                      <a:noFill/>
                    </a:lnB>
                  </a:tcPr>
                </a:tc>
                <a:tc>
                  <a:txBody>
                    <a:bodyPr/>
                    <a:lstStyle/>
                    <a:p>
                      <a:pPr algn="r">
                        <a:defRPr sz="1000" b="1">
                          <a:solidFill>
                            <a:srgbClr val="10B981"/>
                          </a:solidFill>
                          <a:latin typeface="Segoe UI"/>
                        </a:defRPr>
                      </a:pPr>
                      <a:r>
                        <a:t>$15,764</a:t>
                      </a:r>
                    </a:p>
                  </a:txBody>
                  <a:tcPr anchor="ctr" marL="76200" marR="76200" marT="38100" marB="38100">
                    <a:noFill/>
                    <a:lnL w="0">
                      <a:noFill/>
                    </a:lnL>
                    <a:lnR w="0">
                      <a:noFill/>
                    </a:lnR>
                    <a:lnT w="0">
                      <a:noFill/>
                    </a:lnT>
                    <a:lnB w="0">
                      <a:noFill/>
                    </a:lnB>
                  </a:tcPr>
                </a:tc>
              </a:tr>
              <a:tr h="156754">
                <a:tc>
                  <a:txBody>
                    <a:bodyPr/>
                    <a:lstStyle/>
                    <a:p>
                      <a:pPr algn="ctr">
                        <a:defRPr sz="1000" b="1">
                          <a:solidFill>
                            <a:srgbClr val="8B5CF6"/>
                          </a:solidFill>
                          <a:latin typeface="Segoe UI"/>
                        </a:defRPr>
                      </a:pPr>
                      <a:r>
                        <a:t>IA</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F59E0B"/>
                          </a:solidFill>
                          <a:latin typeface="Segoe UI"/>
                        </a:defRPr>
                      </a:pPr>
                      <a:r>
                        <a:t>Quoted</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r>
              <a:tr h="156754">
                <a:tc>
                  <a:txBody>
                    <a:bodyPr/>
                    <a:lstStyle/>
                    <a:p>
                      <a:pPr algn="ctr">
                        <a:defRPr sz="1000" b="1">
                          <a:solidFill>
                            <a:srgbClr val="8B5CF6"/>
                          </a:solidFill>
                          <a:latin typeface="Segoe UI"/>
                        </a:defRPr>
                      </a:pPr>
                      <a:r>
                        <a:t>NE</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000" b="1">
                          <a:solidFill>
                            <a:srgbClr val="10B981"/>
                          </a:solidFill>
                          <a:latin typeface="Segoe UI"/>
                        </a:defRPr>
                      </a:pPr>
                      <a:r>
                        <a:t>BOUND</a:t>
                      </a:r>
                    </a:p>
                  </a:txBody>
                  <a:tcPr anchor="ctr" marL="76200" marR="76200" marT="38100" marB="38100">
                    <a:noFill/>
                    <a:lnL w="0">
                      <a:noFill/>
                    </a:lnL>
                    <a:lnR w="0">
                      <a:noFill/>
                    </a:lnR>
                    <a:lnT w="0">
                      <a:noFill/>
                    </a:lnT>
                    <a:lnB w="0">
                      <a:noFill/>
                    </a:lnB>
                  </a:tcPr>
                </a:tc>
                <a:tc>
                  <a:txBody>
                    <a:bodyPr/>
                    <a:lstStyle/>
                    <a:p>
                      <a:pPr algn="r">
                        <a:defRPr sz="1000" b="1">
                          <a:solidFill>
                            <a:srgbClr val="10B981"/>
                          </a:solidFill>
                          <a:latin typeface="Segoe UI"/>
                        </a:defRPr>
                      </a:pPr>
                      <a:r>
                        <a:t>$11,350</a:t>
                      </a:r>
                    </a:p>
                  </a:txBody>
                  <a:tcPr anchor="ctr" marL="76200" marR="76200" marT="38100" marB="38100">
                    <a:noFill/>
                    <a:lnL w="0">
                      <a:noFill/>
                    </a:lnL>
                    <a:lnR w="0">
                      <a:noFill/>
                    </a:lnR>
                    <a:lnT w="0">
                      <a:noFill/>
                    </a:lnT>
                    <a:lnB w="0">
                      <a:noFill/>
                    </a:lnB>
                  </a:tcPr>
                </a:tc>
              </a:tr>
              <a:tr h="156754">
                <a:tc>
                  <a:txBody>
                    <a:bodyPr/>
                    <a:lstStyle/>
                    <a:p>
                      <a:pPr algn="ctr">
                        <a:defRPr sz="1000" b="1">
                          <a:solidFill>
                            <a:srgbClr val="8B5CF6"/>
                          </a:solidFill>
                          <a:latin typeface="Segoe UI"/>
                        </a:defRPr>
                      </a:pPr>
                      <a:r>
                        <a:t>OR</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6B5F83"/>
                          </a:solidFill>
                          <a:latin typeface="Segoe UI"/>
                        </a:defRPr>
                      </a:pPr>
                      <a:r>
                        <a:t>Emerging</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r>
              <a:tr h="156754">
                <a:tc>
                  <a:txBody>
                    <a:bodyPr/>
                    <a:lstStyle/>
                    <a:p>
                      <a:pPr algn="ctr">
                        <a:defRPr sz="1000" b="1">
                          <a:solidFill>
                            <a:srgbClr val="8B5CF6"/>
                          </a:solidFill>
                          <a:latin typeface="Segoe UI"/>
                        </a:defRPr>
                      </a:pPr>
                      <a:r>
                        <a:t>RI</a:t>
                      </a:r>
                    </a:p>
                  </a:txBody>
                  <a:tcPr anchor="ctr" marL="76200" marR="76200" marT="38100" marB="38100">
                    <a:noFill/>
                    <a:lnL w="0">
                      <a:noFill/>
                    </a:lnL>
                    <a:lnR w="0">
                      <a:noFill/>
                    </a:lnR>
                    <a:lnT w="0">
                      <a:noFill/>
                    </a:lnT>
                    <a:lnB w="0">
                      <a:noFill/>
                    </a:lnB>
                  </a:tcPr>
                </a:tc>
                <a:tc>
                  <a:txBody>
                    <a:bodyPr/>
                    <a:lstStyle/>
                    <a:p>
                      <a:pPr algn="ctr">
                        <a:defRPr sz="1000" b="1">
                          <a:solidFill>
                            <a:srgbClr val="2D233F"/>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000" b="0">
                          <a:solidFill>
                            <a:srgbClr val="6B5F83"/>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ctr">
                        <a:defRPr sz="1000" b="1">
                          <a:solidFill>
                            <a:srgbClr val="F59E0B"/>
                          </a:solidFill>
                          <a:latin typeface="Segoe UI"/>
                        </a:defRPr>
                      </a:pPr>
                      <a:r>
                        <a:t>Quoted</a:t>
                      </a:r>
                    </a:p>
                  </a:txBody>
                  <a:tcPr anchor="ctr" marL="76200" marR="76200" marT="38100" marB="38100">
                    <a:noFill/>
                    <a:lnL w="0">
                      <a:noFill/>
                    </a:lnL>
                    <a:lnR w="0">
                      <a:noFill/>
                    </a:lnR>
                    <a:lnT w="0">
                      <a:noFill/>
                    </a:lnT>
                    <a:lnB w="0">
                      <a:noFill/>
                    </a:lnB>
                  </a:tcPr>
                </a:tc>
                <a:tc>
                  <a:txBody>
                    <a:bodyPr/>
                    <a:lstStyle/>
                    <a:p>
                      <a:pPr algn="r">
                        <a:defRPr sz="1000" b="0">
                          <a:solidFill>
                            <a:srgbClr val="9C92B5"/>
                          </a:solidFill>
                          <a:latin typeface="Segoe UI"/>
                        </a:defRPr>
                      </a:pPr>
                      <a:r>
                        <a:t>—</a:t>
                      </a:r>
                    </a:p>
                  </a:txBody>
                  <a:tcPr anchor="ctr" marL="76200" marR="76200" marT="38100" marB="38100">
                    <a:noFill/>
                    <a:lnL w="0">
                      <a:noFill/>
                    </a:lnL>
                    <a:lnR w="0">
                      <a:noFill/>
                    </a:lnR>
                    <a:lnT w="0">
                      <a:noFill/>
                    </a:lnT>
                    <a:lnB w="0">
                      <a:noFill/>
                    </a:lnB>
                  </a:tcPr>
                </a:tc>
              </a:tr>
              <a:tr h="156760">
                <a:tc>
                  <a:txBody>
                    <a:bodyPr/>
                    <a:lstStyle/>
                    <a:p>
                      <a:pPr algn="ctr">
                        <a:defRPr sz="1000" b="1">
                          <a:solidFill>
                            <a:srgbClr val="8B5CF6"/>
                          </a:solidFill>
                          <a:latin typeface="Segoe UI"/>
                        </a:defRPr>
                      </a:pPr>
                      <a:r>
                        <a:t>WV</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2D233F"/>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6B5F83"/>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ctr">
                        <a:defRPr sz="1000" b="1">
                          <a:solidFill>
                            <a:srgbClr val="F59E0B"/>
                          </a:solidFill>
                          <a:latin typeface="Segoe UI"/>
                        </a:defRPr>
                      </a:pPr>
                      <a:r>
                        <a:t>Quoted</a:t>
                      </a:r>
                    </a:p>
                  </a:txBody>
                  <a:tcPr anchor="ctr" marL="76200" marR="76200" marT="38100" marB="38100">
                    <a:solidFill>
                      <a:srgbClr val="F5F3FF"/>
                    </a:solidFill>
                    <a:lnL w="0">
                      <a:noFill/>
                    </a:lnL>
                    <a:lnR w="0">
                      <a:noFill/>
                    </a:lnR>
                    <a:lnT w="0">
                      <a:noFill/>
                    </a:lnT>
                    <a:lnB w="0">
                      <a:noFill/>
                    </a:lnB>
                  </a:tcPr>
                </a:tc>
                <a:tc>
                  <a:txBody>
                    <a:bodyPr/>
                    <a:lstStyle/>
                    <a:p>
                      <a:pPr algn="r">
                        <a:defRPr sz="1000" b="0">
                          <a:solidFill>
                            <a:srgbClr val="9C92B5"/>
                          </a:solidFill>
                          <a:latin typeface="Segoe UI"/>
                        </a:defRPr>
                      </a:pPr>
                      <a:r>
                        <a:t>—</a:t>
                      </a:r>
                    </a:p>
                  </a:txBody>
                  <a:tcPr anchor="ctr" marL="76200" marR="76200" marT="38100" marB="38100">
                    <a:solidFill>
                      <a:srgbClr val="F5F3FF"/>
                    </a:solidFill>
                    <a:lnL w="0">
                      <a:noFill/>
                    </a:lnL>
                    <a:lnR w="0">
                      <a:noFill/>
                    </a:lnR>
                    <a:lnT w="0">
                      <a:noFill/>
                    </a:lnT>
                    <a:lnB w="0">
                      <a:noFill/>
                    </a:lnB>
                  </a:tcPr>
                </a:tc>
              </a:tr>
            </a:tbl>
          </a:graphicData>
        </a:graphic>
      </p:graphicFrame>
      <p:sp>
        <p:nvSpPr>
          <p:cNvPr id="34" name="Rounded Rectangle 33"/>
          <p:cNvSpPr/>
          <p:nvPr/>
        </p:nvSpPr>
        <p:spPr>
          <a:xfrm>
            <a:off x="274320" y="6035040"/>
            <a:ext cx="11612880" cy="36576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74320" y="6035040"/>
            <a:ext cx="54864" cy="36576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6080760"/>
            <a:ext cx="11247120" cy="274320"/>
          </a:xfrm>
          <a:prstGeom prst="rect">
            <a:avLst/>
          </a:prstGeom>
          <a:noFill/>
        </p:spPr>
        <p:txBody>
          <a:bodyPr wrap="square">
            <a:spAutoFit/>
          </a:bodyPr>
          <a:lstStyle/>
          <a:p>
            <a:pPr algn="l">
              <a:defRPr sz="1000" b="1" i="0">
                <a:solidFill>
                  <a:srgbClr val="2D233F"/>
                </a:solidFill>
                <a:latin typeface="Segoe UI"/>
              </a:defRPr>
            </a:pPr>
            <a:r>
              <a:t>DORMANT (2):  ME, SD   |   BINDS: 16 in AZ, CO, ID, MN, MS, ND, NE, NH, OK, UT, VA ($252,992)</a:t>
            </a:r>
          </a:p>
        </p:txBody>
      </p:sp>
      <p:sp>
        <p:nvSpPr>
          <p:cNvPr id="37" name="Rectangle 36"/>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39" name="TextBox 38"/>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400" b="1" i="0">
                <a:solidFill>
                  <a:srgbClr val="FFFFFF"/>
                </a:solidFill>
                <a:latin typeface="Segoe UI Light"/>
              </a:defRPr>
            </a:pPr>
            <a:r>
              <a:t>DORMANT STATE ACTIVATION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10 Expansion States with 0-1 Submissions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371600"/>
            <a:ext cx="2743200" cy="77724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371600"/>
            <a:ext cx="2743200" cy="457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1444752"/>
            <a:ext cx="640080" cy="365760"/>
          </a:xfrm>
          <a:prstGeom prst="rect">
            <a:avLst/>
          </a:prstGeom>
          <a:noFill/>
        </p:spPr>
        <p:txBody>
          <a:bodyPr wrap="square">
            <a:spAutoFit/>
          </a:bodyPr>
          <a:lstStyle/>
          <a:p>
            <a:pPr algn="l">
              <a:defRPr sz="2800" b="1" i="0">
                <a:solidFill>
                  <a:srgbClr val="EF4444"/>
                </a:solidFill>
                <a:latin typeface="Segoe UI Light"/>
              </a:defRPr>
            </a:pPr>
            <a:r>
              <a:t>10</a:t>
            </a:r>
          </a:p>
        </p:txBody>
      </p:sp>
      <p:sp>
        <p:nvSpPr>
          <p:cNvPr id="14" name="TextBox 13"/>
          <p:cNvSpPr txBox="1"/>
          <p:nvPr/>
        </p:nvSpPr>
        <p:spPr>
          <a:xfrm>
            <a:off x="1051560" y="1444752"/>
            <a:ext cx="1828800" cy="182880"/>
          </a:xfrm>
          <a:prstGeom prst="rect">
            <a:avLst/>
          </a:prstGeom>
          <a:noFill/>
        </p:spPr>
        <p:txBody>
          <a:bodyPr wrap="square">
            <a:spAutoFit/>
          </a:bodyPr>
          <a:lstStyle/>
          <a:p>
            <a:pPr algn="l">
              <a:defRPr sz="1000" b="1" i="0">
                <a:solidFill>
                  <a:srgbClr val="2D233F"/>
                </a:solidFill>
                <a:latin typeface="Segoe UI"/>
              </a:defRPr>
            </a:pPr>
            <a:r>
              <a:t>Dormant States</a:t>
            </a:r>
          </a:p>
        </p:txBody>
      </p:sp>
      <p:sp>
        <p:nvSpPr>
          <p:cNvPr id="15" name="TextBox 14"/>
          <p:cNvSpPr txBox="1"/>
          <p:nvPr/>
        </p:nvSpPr>
        <p:spPr>
          <a:xfrm>
            <a:off x="1051560" y="1691640"/>
            <a:ext cx="1828800" cy="182880"/>
          </a:xfrm>
          <a:prstGeom prst="rect">
            <a:avLst/>
          </a:prstGeom>
          <a:noFill/>
        </p:spPr>
        <p:txBody>
          <a:bodyPr wrap="square">
            <a:spAutoFit/>
          </a:bodyPr>
          <a:lstStyle/>
          <a:p>
            <a:pPr algn="l">
              <a:defRPr sz="800" b="0" i="1">
                <a:solidFill>
                  <a:srgbClr val="A09CB0"/>
                </a:solidFill>
                <a:latin typeface="Segoe UI"/>
              </a:defRPr>
            </a:pPr>
            <a:r>
              <a:t>Of 22 expansion states</a:t>
            </a:r>
          </a:p>
        </p:txBody>
      </p:sp>
      <p:sp>
        <p:nvSpPr>
          <p:cNvPr id="16" name="Rounded Rectangle 15"/>
          <p:cNvSpPr/>
          <p:nvPr/>
        </p:nvSpPr>
        <p:spPr>
          <a:xfrm>
            <a:off x="3200400" y="1371600"/>
            <a:ext cx="2743200" cy="77724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1371600"/>
            <a:ext cx="274320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0128" y="1444752"/>
            <a:ext cx="640080" cy="365760"/>
          </a:xfrm>
          <a:prstGeom prst="rect">
            <a:avLst/>
          </a:prstGeom>
          <a:noFill/>
        </p:spPr>
        <p:txBody>
          <a:bodyPr wrap="square">
            <a:spAutoFit/>
          </a:bodyPr>
          <a:lstStyle/>
          <a:p>
            <a:pPr algn="l">
              <a:defRPr sz="2800" b="1" i="0">
                <a:solidFill>
                  <a:srgbClr val="F59E0B"/>
                </a:solidFill>
                <a:latin typeface="Segoe UI Light"/>
              </a:defRPr>
            </a:pPr>
            <a:r>
              <a:t>11</a:t>
            </a:r>
          </a:p>
        </p:txBody>
      </p:sp>
      <p:sp>
        <p:nvSpPr>
          <p:cNvPr id="19" name="TextBox 18"/>
          <p:cNvSpPr txBox="1"/>
          <p:nvPr/>
        </p:nvSpPr>
        <p:spPr>
          <a:xfrm>
            <a:off x="3977640" y="1444752"/>
            <a:ext cx="1828800" cy="182880"/>
          </a:xfrm>
          <a:prstGeom prst="rect">
            <a:avLst/>
          </a:prstGeom>
          <a:noFill/>
        </p:spPr>
        <p:txBody>
          <a:bodyPr wrap="square">
            <a:spAutoFit/>
          </a:bodyPr>
          <a:lstStyle/>
          <a:p>
            <a:pPr algn="l">
              <a:defRPr sz="1000" b="1" i="0">
                <a:solidFill>
                  <a:srgbClr val="2D233F"/>
                </a:solidFill>
                <a:latin typeface="Segoe UI"/>
              </a:defRPr>
            </a:pPr>
            <a:r>
              <a:t>Total Submissions</a:t>
            </a:r>
          </a:p>
        </p:txBody>
      </p:sp>
      <p:sp>
        <p:nvSpPr>
          <p:cNvPr id="20" name="TextBox 19"/>
          <p:cNvSpPr txBox="1"/>
          <p:nvPr/>
        </p:nvSpPr>
        <p:spPr>
          <a:xfrm>
            <a:off x="3977640" y="1691640"/>
            <a:ext cx="1828800" cy="182880"/>
          </a:xfrm>
          <a:prstGeom prst="rect">
            <a:avLst/>
          </a:prstGeom>
          <a:noFill/>
        </p:spPr>
        <p:txBody>
          <a:bodyPr wrap="square">
            <a:spAutoFit/>
          </a:bodyPr>
          <a:lstStyle/>
          <a:p>
            <a:pPr algn="l">
              <a:defRPr sz="800" b="0" i="1">
                <a:solidFill>
                  <a:srgbClr val="A09CB0"/>
                </a:solidFill>
                <a:latin typeface="Segoe UI"/>
              </a:defRPr>
            </a:pPr>
            <a:r>
              <a:t>Across all 10 dormant states</a:t>
            </a:r>
          </a:p>
        </p:txBody>
      </p:sp>
      <p:sp>
        <p:nvSpPr>
          <p:cNvPr id="21" name="Rounded Rectangle 20"/>
          <p:cNvSpPr/>
          <p:nvPr/>
        </p:nvSpPr>
        <p:spPr>
          <a:xfrm>
            <a:off x="6126480" y="1371600"/>
            <a:ext cx="2743200" cy="77724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26480" y="1371600"/>
            <a:ext cx="274320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6208" y="1444752"/>
            <a:ext cx="640080" cy="365760"/>
          </a:xfrm>
          <a:prstGeom prst="rect">
            <a:avLst/>
          </a:prstGeom>
          <a:noFill/>
        </p:spPr>
        <p:txBody>
          <a:bodyPr wrap="square">
            <a:spAutoFit/>
          </a:bodyPr>
          <a:lstStyle/>
          <a:p>
            <a:pPr algn="l">
              <a:defRPr sz="2800" b="1" i="0">
                <a:solidFill>
                  <a:srgbClr val="7C3AED"/>
                </a:solidFill>
                <a:latin typeface="Segoe UI Light"/>
              </a:defRPr>
            </a:pPr>
            <a:r>
              <a:t>3</a:t>
            </a:r>
          </a:p>
        </p:txBody>
      </p:sp>
      <p:sp>
        <p:nvSpPr>
          <p:cNvPr id="24" name="TextBox 23"/>
          <p:cNvSpPr txBox="1"/>
          <p:nvPr/>
        </p:nvSpPr>
        <p:spPr>
          <a:xfrm>
            <a:off x="6903720" y="1444752"/>
            <a:ext cx="1828800" cy="182880"/>
          </a:xfrm>
          <a:prstGeom prst="rect">
            <a:avLst/>
          </a:prstGeom>
          <a:noFill/>
        </p:spPr>
        <p:txBody>
          <a:bodyPr wrap="square">
            <a:spAutoFit/>
          </a:bodyPr>
          <a:lstStyle/>
          <a:p>
            <a:pPr algn="l">
              <a:defRPr sz="1000" b="1" i="0">
                <a:solidFill>
                  <a:srgbClr val="2D233F"/>
                </a:solidFill>
                <a:latin typeface="Segoe UI"/>
              </a:defRPr>
            </a:pPr>
            <a:r>
              <a:t>Bound Agency Overlap</a:t>
            </a:r>
          </a:p>
        </p:txBody>
      </p:sp>
      <p:sp>
        <p:nvSpPr>
          <p:cNvPr id="25" name="TextBox 24"/>
          <p:cNvSpPr txBox="1"/>
          <p:nvPr/>
        </p:nvSpPr>
        <p:spPr>
          <a:xfrm>
            <a:off x="6903720" y="1691640"/>
            <a:ext cx="1828800" cy="182880"/>
          </a:xfrm>
          <a:prstGeom prst="rect">
            <a:avLst/>
          </a:prstGeom>
          <a:noFill/>
        </p:spPr>
        <p:txBody>
          <a:bodyPr wrap="square">
            <a:spAutoFit/>
          </a:bodyPr>
          <a:lstStyle/>
          <a:p>
            <a:pPr algn="l">
              <a:defRPr sz="800" b="0" i="1">
                <a:solidFill>
                  <a:srgbClr val="A09CB0"/>
                </a:solidFill>
                <a:latin typeface="Segoe UI"/>
              </a:defRPr>
            </a:pPr>
            <a:r>
              <a:t>Agencies bound elsewhere + dormant subs</a:t>
            </a:r>
          </a:p>
        </p:txBody>
      </p:sp>
      <p:sp>
        <p:nvSpPr>
          <p:cNvPr id="26" name="Rounded Rectangle 25"/>
          <p:cNvSpPr/>
          <p:nvPr/>
        </p:nvSpPr>
        <p:spPr>
          <a:xfrm>
            <a:off x="9052560" y="1371600"/>
            <a:ext cx="2743200" cy="77724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52560" y="1371600"/>
            <a:ext cx="2743200" cy="457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2288" y="1444752"/>
            <a:ext cx="640080" cy="365760"/>
          </a:xfrm>
          <a:prstGeom prst="rect">
            <a:avLst/>
          </a:prstGeom>
          <a:noFill/>
        </p:spPr>
        <p:txBody>
          <a:bodyPr wrap="square">
            <a:spAutoFit/>
          </a:bodyPr>
          <a:lstStyle/>
          <a:p>
            <a:pPr algn="l">
              <a:defRPr sz="2800" b="1" i="0">
                <a:solidFill>
                  <a:srgbClr val="EF4444"/>
                </a:solidFill>
                <a:latin typeface="Segoe UI Light"/>
              </a:defRPr>
            </a:pPr>
            <a:r>
              <a:t>4</a:t>
            </a:r>
          </a:p>
        </p:txBody>
      </p:sp>
      <p:sp>
        <p:nvSpPr>
          <p:cNvPr id="29" name="TextBox 28"/>
          <p:cNvSpPr txBox="1"/>
          <p:nvPr/>
        </p:nvSpPr>
        <p:spPr>
          <a:xfrm>
            <a:off x="9829800" y="1444752"/>
            <a:ext cx="1828800" cy="182880"/>
          </a:xfrm>
          <a:prstGeom prst="rect">
            <a:avLst/>
          </a:prstGeom>
          <a:noFill/>
        </p:spPr>
        <p:txBody>
          <a:bodyPr wrap="square">
            <a:spAutoFit/>
          </a:bodyPr>
          <a:lstStyle/>
          <a:p>
            <a:pPr algn="l">
              <a:defRPr sz="1000" b="1" i="0">
                <a:solidFill>
                  <a:srgbClr val="2D233F"/>
                </a:solidFill>
                <a:latin typeface="Segoe UI"/>
              </a:defRPr>
            </a:pPr>
            <a:r>
              <a:t>Zero Activity States</a:t>
            </a:r>
          </a:p>
        </p:txBody>
      </p:sp>
      <p:sp>
        <p:nvSpPr>
          <p:cNvPr id="30" name="TextBox 29"/>
          <p:cNvSpPr txBox="1"/>
          <p:nvPr/>
        </p:nvSpPr>
        <p:spPr>
          <a:xfrm>
            <a:off x="9829800" y="1691640"/>
            <a:ext cx="1828800" cy="182880"/>
          </a:xfrm>
          <a:prstGeom prst="rect">
            <a:avLst/>
          </a:prstGeom>
          <a:noFill/>
        </p:spPr>
        <p:txBody>
          <a:bodyPr wrap="square">
            <a:spAutoFit/>
          </a:bodyPr>
          <a:lstStyle/>
          <a:p>
            <a:pPr algn="l">
              <a:defRPr sz="800" b="0" i="1">
                <a:solidFill>
                  <a:srgbClr val="A09CB0"/>
                </a:solidFill>
                <a:latin typeface="Segoe UI"/>
              </a:defRPr>
            </a:pPr>
            <a:r>
              <a:t>IA, ME, RI, SD — no subs at all</a:t>
            </a:r>
          </a:p>
        </p:txBody>
      </p:sp>
      <p:sp>
        <p:nvSpPr>
          <p:cNvPr id="31" name="TextBox 30"/>
          <p:cNvSpPr txBox="1"/>
          <p:nvPr/>
        </p:nvSpPr>
        <p:spPr>
          <a:xfrm>
            <a:off x="274320" y="2331720"/>
            <a:ext cx="5029200" cy="228600"/>
          </a:xfrm>
          <a:prstGeom prst="rect">
            <a:avLst/>
          </a:prstGeom>
          <a:noFill/>
        </p:spPr>
        <p:txBody>
          <a:bodyPr wrap="square">
            <a:spAutoFit/>
          </a:bodyPr>
          <a:lstStyle/>
          <a:p>
            <a:pPr algn="l">
              <a:defRPr sz="1100" b="1" i="0">
                <a:solidFill>
                  <a:srgbClr val="5B21B6"/>
                </a:solidFill>
                <a:latin typeface="Segoe UI Semibold"/>
              </a:defRPr>
            </a:pPr>
            <a:r>
              <a:t>STATE-BY-STATE BREAKDOWN</a:t>
            </a:r>
          </a:p>
        </p:txBody>
      </p:sp>
      <p:sp>
        <p:nvSpPr>
          <p:cNvPr id="32" name="Rectangle 31"/>
          <p:cNvSpPr/>
          <p:nvPr/>
        </p:nvSpPr>
        <p:spPr>
          <a:xfrm>
            <a:off x="274320" y="2578608"/>
            <a:ext cx="1371600" cy="2286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3" name="Table 32"/>
          <p:cNvGraphicFramePr>
            <a:graphicFrameLocks noGrp="1"/>
          </p:cNvGraphicFramePr>
          <p:nvPr/>
        </p:nvGraphicFramePr>
        <p:xfrm>
          <a:off x="274320" y="2670048"/>
          <a:ext cx="5669280" cy="2414015"/>
        </p:xfrm>
        <a:graphic>
          <a:graphicData uri="http://schemas.openxmlformats.org/drawingml/2006/table">
            <a:tbl>
              <a:tblPr firstRow="0" bandRow="0" bandCol="0" lastRow="0">
                <a:tableStyleId>{5C22544A-7EE6-4342-B048-85BDC9FD1C3A}</a:tableStyleId>
              </a:tblPr>
              <a:tblGrid>
                <a:gridCol w="457200"/>
                <a:gridCol w="457200"/>
                <a:gridCol w="640080"/>
                <a:gridCol w="822960"/>
                <a:gridCol w="3291840"/>
              </a:tblGrid>
              <a:tr h="219455">
                <a:tc>
                  <a:txBody>
                    <a:bodyPr/>
                    <a:lstStyle/>
                    <a:p>
                      <a:pPr algn="ctr">
                        <a:defRPr sz="800" b="1">
                          <a:solidFill>
                            <a:srgbClr val="FFFFFF"/>
                          </a:solidFill>
                          <a:latin typeface="Segoe UI Semibold"/>
                        </a:defRPr>
                      </a:pPr>
                      <a:r>
                        <a:t>State</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Subs</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Agencies</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Overlap</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Notes</a:t>
                      </a:r>
                    </a:p>
                  </a:txBody>
                  <a:tcPr anchor="ctr" marL="76200" marR="76200" marT="38100" marB="38100">
                    <a:solidFill>
                      <a:srgbClr val="5B21B6"/>
                    </a:solidFill>
                    <a:lnL w="0">
                      <a:noFill/>
                    </a:lnL>
                    <a:lnR w="0">
                      <a:noFill/>
                    </a:lnR>
                    <a:lnT w="0">
                      <a:noFill/>
                    </a:lnT>
                    <a:lnB w="0">
                      <a:noFill/>
                    </a:lnB>
                  </a:tcPr>
                </a:tc>
              </a:tr>
              <a:tr h="219455">
                <a:tc>
                  <a:txBody>
                    <a:bodyPr/>
                    <a:lstStyle/>
                    <a:p>
                      <a:pPr algn="ctr">
                        <a:defRPr sz="900" b="1">
                          <a:solidFill>
                            <a:srgbClr val="7C3AED"/>
                          </a:solidFill>
                          <a:latin typeface="Segoe UI"/>
                        </a:defRPr>
                      </a:pPr>
                      <a:r>
                        <a:t>UT</a:t>
                      </a:r>
                    </a:p>
                  </a:txBody>
                  <a:tcPr anchor="ctr" marL="76200" marR="76200" marT="38100" marB="38100">
                    <a:noFill/>
                    <a:lnL w="0">
                      <a:noFill/>
                    </a:lnL>
                    <a:lnR w="0">
                      <a:noFill/>
                    </a:lnR>
                    <a:lnT w="0">
                      <a:noFill/>
                    </a:lnT>
                    <a:lnB w="0">
                      <a:noFill/>
                    </a:lnB>
                  </a:tcPr>
                </a:tc>
                <a:tc>
                  <a:txBody>
                    <a:bodyPr/>
                    <a:lstStyle/>
                    <a:p>
                      <a:pPr algn="ctr">
                        <a:defRPr sz="900" b="0">
                          <a:solidFill>
                            <a:srgbClr val="2D233F"/>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900" b="0">
                          <a:solidFill>
                            <a:srgbClr val="2D233F"/>
                          </a:solidFill>
                          <a:latin typeface="Segoe UI"/>
                        </a:defRPr>
                      </a:pPr>
                      <a:r>
                        <a:t>3</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2 BOUND</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USA Specialty $50K quoted (LIVE)</a:t>
                      </a:r>
                    </a:p>
                  </a:txBody>
                  <a:tcPr anchor="ctr" marL="76200" marR="76200" marT="38100" marB="38100">
                    <a:noFill/>
                    <a:lnL w="0">
                      <a:noFill/>
                    </a:lnL>
                    <a:lnR w="0">
                      <a:noFill/>
                    </a:lnR>
                    <a:lnT w="0">
                      <a:noFill/>
                    </a:lnT>
                    <a:lnB w="0">
                      <a:noFill/>
                    </a:lnB>
                  </a:tcPr>
                </a:tc>
              </a:tr>
              <a:tr h="219455">
                <a:tc>
                  <a:txBody>
                    <a:bodyPr/>
                    <a:lstStyle/>
                    <a:p>
                      <a:pPr algn="ctr">
                        <a:defRPr sz="900" b="1">
                          <a:solidFill>
                            <a:srgbClr val="7C3AED"/>
                          </a:solidFill>
                          <a:latin typeface="Segoe UI"/>
                        </a:defRPr>
                      </a:pPr>
                      <a:r>
                        <a:t>MN</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2D233F"/>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2D233F"/>
                          </a:solidFill>
                          <a:latin typeface="Segoe UI"/>
                        </a:defRPr>
                      </a:pPr>
                      <a:r>
                        <a:t>3</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0 bound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2 quoted — Bond Ins, CSLR</a:t>
                      </a:r>
                    </a:p>
                  </a:txBody>
                  <a:tcPr anchor="ctr" marL="76200" marR="76200" marT="38100" marB="38100">
                    <a:solidFill>
                      <a:srgbClr val="F5F3FF"/>
                    </a:solidFill>
                    <a:lnL w="0">
                      <a:noFill/>
                    </a:lnL>
                    <a:lnR w="0">
                      <a:noFill/>
                    </a:lnR>
                    <a:lnT w="0">
                      <a:noFill/>
                    </a:lnT>
                    <a:lnB w="0">
                      <a:noFill/>
                    </a:lnB>
                  </a:tcPr>
                </a:tc>
              </a:tr>
              <a:tr h="219455">
                <a:tc>
                  <a:txBody>
                    <a:bodyPr/>
                    <a:lstStyle/>
                    <a:p>
                      <a:pPr algn="ctr">
                        <a:defRPr sz="900" b="1">
                          <a:solidFill>
                            <a:srgbClr val="7C3AED"/>
                          </a:solidFill>
                          <a:latin typeface="Segoe UI"/>
                        </a:defRPr>
                      </a:pPr>
                      <a:r>
                        <a:t>WI</a:t>
                      </a:r>
                    </a:p>
                  </a:txBody>
                  <a:tcPr anchor="ctr" marL="76200" marR="76200" marT="38100" marB="38100">
                    <a:noFill/>
                    <a:lnL w="0">
                      <a:noFill/>
                    </a:lnL>
                    <a:lnR w="0">
                      <a:noFill/>
                    </a:lnR>
                    <a:lnT w="0">
                      <a:noFill/>
                    </a:lnT>
                    <a:lnB w="0">
                      <a:noFill/>
                    </a:lnB>
                  </a:tcPr>
                </a:tc>
                <a:tc>
                  <a:txBody>
                    <a:bodyPr/>
                    <a:lstStyle/>
                    <a:p>
                      <a:pPr algn="ctr">
                        <a:defRPr sz="900" b="0">
                          <a:solidFill>
                            <a:srgbClr val="2D233F"/>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900" b="0">
                          <a:solidFill>
                            <a:srgbClr val="2D233F"/>
                          </a:solidFill>
                          <a:latin typeface="Segoe UI"/>
                        </a:defRPr>
                      </a:pPr>
                      <a:r>
                        <a:t>2</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0 bound</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Both declined — Ins Team of America</a:t>
                      </a:r>
                    </a:p>
                  </a:txBody>
                  <a:tcPr anchor="ctr" marL="76200" marR="76200" marT="38100" marB="38100">
                    <a:noFill/>
                    <a:lnL w="0">
                      <a:noFill/>
                    </a:lnL>
                    <a:lnR w="0">
                      <a:noFill/>
                    </a:lnR>
                    <a:lnT w="0">
                      <a:noFill/>
                    </a:lnT>
                    <a:lnB w="0">
                      <a:noFill/>
                    </a:lnB>
                  </a:tcPr>
                </a:tc>
              </a:tr>
              <a:tr h="219455">
                <a:tc>
                  <a:txBody>
                    <a:bodyPr/>
                    <a:lstStyle/>
                    <a:p>
                      <a:pPr algn="ctr">
                        <a:defRPr sz="900" b="1">
                          <a:solidFill>
                            <a:srgbClr val="7C3AED"/>
                          </a:solidFill>
                          <a:latin typeface="Segoe UI"/>
                        </a:defRPr>
                      </a:pPr>
                      <a:r>
                        <a:t>MT</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2D233F"/>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2D233F"/>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1 BOUND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United Advantage — declined</a:t>
                      </a:r>
                    </a:p>
                  </a:txBody>
                  <a:tcPr anchor="ctr" marL="76200" marR="76200" marT="38100" marB="38100">
                    <a:solidFill>
                      <a:srgbClr val="F5F3FF"/>
                    </a:solidFill>
                    <a:lnL w="0">
                      <a:noFill/>
                    </a:lnL>
                    <a:lnR w="0">
                      <a:noFill/>
                    </a:lnR>
                    <a:lnT w="0">
                      <a:noFill/>
                    </a:lnT>
                    <a:lnB w="0">
                      <a:noFill/>
                    </a:lnB>
                  </a:tcPr>
                </a:tc>
              </a:tr>
              <a:tr h="219455">
                <a:tc>
                  <a:txBody>
                    <a:bodyPr/>
                    <a:lstStyle/>
                    <a:p>
                      <a:pPr algn="ctr">
                        <a:defRPr sz="900" b="1">
                          <a:solidFill>
                            <a:srgbClr val="7C3AED"/>
                          </a:solidFill>
                          <a:latin typeface="Segoe UI"/>
                        </a:defRPr>
                      </a:pPr>
                      <a:r>
                        <a:t>ID</a:t>
                      </a:r>
                    </a:p>
                  </a:txBody>
                  <a:tcPr anchor="ctr" marL="76200" marR="76200" marT="38100" marB="38100">
                    <a:noFill/>
                    <a:lnL w="0">
                      <a:noFill/>
                    </a:lnL>
                    <a:lnR w="0">
                      <a:noFill/>
                    </a:lnR>
                    <a:lnT w="0">
                      <a:noFill/>
                    </a:lnT>
                    <a:lnB w="0">
                      <a:noFill/>
                    </a:lnB>
                  </a:tcPr>
                </a:tc>
                <a:tc>
                  <a:txBody>
                    <a:bodyPr/>
                    <a:lstStyle/>
                    <a:p>
                      <a:pPr algn="ctr">
                        <a:defRPr sz="900" b="0">
                          <a:solidFill>
                            <a:srgbClr val="2D233F"/>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900" b="0">
                          <a:solidFill>
                            <a:srgbClr val="2D233F"/>
                          </a:solidFill>
                          <a:latin typeface="Segoe UI"/>
                        </a:defRPr>
                      </a:pPr>
                      <a:r>
                        <a:t>1</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0 bound</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McClure Agency — incomplete</a:t>
                      </a:r>
                    </a:p>
                  </a:txBody>
                  <a:tcPr anchor="ctr" marL="76200" marR="76200" marT="38100" marB="38100">
                    <a:noFill/>
                    <a:lnL w="0">
                      <a:noFill/>
                    </a:lnL>
                    <a:lnR w="0">
                      <a:noFill/>
                    </a:lnR>
                    <a:lnT w="0">
                      <a:noFill/>
                    </a:lnT>
                    <a:lnB w="0">
                      <a:noFill/>
                    </a:lnB>
                  </a:tcPr>
                </a:tc>
              </a:tr>
              <a:tr h="219455">
                <a:tc>
                  <a:txBody>
                    <a:bodyPr/>
                    <a:lstStyle/>
                    <a:p>
                      <a:pPr algn="ctr">
                        <a:defRPr sz="900" b="1">
                          <a:solidFill>
                            <a:srgbClr val="7C3AED"/>
                          </a:solidFill>
                          <a:latin typeface="Segoe UI"/>
                        </a:defRPr>
                      </a:pPr>
                      <a:r>
                        <a:t>NE</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2D233F"/>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2D233F"/>
                          </a:solidFill>
                          <a:latin typeface="Segoe UI"/>
                        </a:defRPr>
                      </a:pPr>
                      <a:r>
                        <a:t>1</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0 bound</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Han Inc — incomplete</a:t>
                      </a:r>
                    </a:p>
                  </a:txBody>
                  <a:tcPr anchor="ctr" marL="76200" marR="76200" marT="38100" marB="38100">
                    <a:solidFill>
                      <a:srgbClr val="F5F3FF"/>
                    </a:solidFill>
                    <a:lnL w="0">
                      <a:noFill/>
                    </a:lnL>
                    <a:lnR w="0">
                      <a:noFill/>
                    </a:lnR>
                    <a:lnT w="0">
                      <a:noFill/>
                    </a:lnT>
                    <a:lnB w="0">
                      <a:noFill/>
                    </a:lnB>
                  </a:tcPr>
                </a:tc>
              </a:tr>
              <a:tr h="219455">
                <a:tc>
                  <a:txBody>
                    <a:bodyPr/>
                    <a:lstStyle/>
                    <a:p>
                      <a:pPr algn="ctr">
                        <a:defRPr sz="900" b="1">
                          <a:solidFill>
                            <a:srgbClr val="9C92B5"/>
                          </a:solidFill>
                          <a:latin typeface="Segoe UI"/>
                        </a:defRPr>
                      </a:pPr>
                      <a:r>
                        <a:t>IA</a:t>
                      </a:r>
                    </a:p>
                  </a:txBody>
                  <a:tcPr anchor="ctr" marL="76200" marR="76200" marT="38100" marB="38100">
                    <a:noFill/>
                    <a:lnL w="0">
                      <a:noFill/>
                    </a:lnL>
                    <a:lnR w="0">
                      <a:noFill/>
                    </a:lnR>
                    <a:lnT w="0">
                      <a:noFill/>
                    </a:lnT>
                    <a:lnB w="0">
                      <a:noFill/>
                    </a:lnB>
                  </a:tcPr>
                </a:tc>
                <a:tc>
                  <a:txBody>
                    <a:bodyPr/>
                    <a:lstStyle/>
                    <a:p>
                      <a:pPr algn="ctr">
                        <a:defRPr sz="9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9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No submissions received</a:t>
                      </a:r>
                    </a:p>
                  </a:txBody>
                  <a:tcPr anchor="ctr" marL="76200" marR="76200" marT="38100" marB="38100">
                    <a:noFill/>
                    <a:lnL w="0">
                      <a:noFill/>
                    </a:lnL>
                    <a:lnR w="0">
                      <a:noFill/>
                    </a:lnR>
                    <a:lnT w="0">
                      <a:noFill/>
                    </a:lnT>
                    <a:lnB w="0">
                      <a:noFill/>
                    </a:lnB>
                  </a:tcPr>
                </a:tc>
              </a:tr>
              <a:tr h="219455">
                <a:tc>
                  <a:txBody>
                    <a:bodyPr/>
                    <a:lstStyle/>
                    <a:p>
                      <a:pPr algn="ctr">
                        <a:defRPr sz="900" b="1">
                          <a:solidFill>
                            <a:srgbClr val="9C92B5"/>
                          </a:solidFill>
                          <a:latin typeface="Segoe UI"/>
                        </a:defRPr>
                      </a:pPr>
                      <a:r>
                        <a:t>ME</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9C92B5"/>
                          </a:solidFill>
                          <a:latin typeface="Segoe UI"/>
                        </a:defRPr>
                      </a:pPr>
                      <a:r>
                        <a:t>No submissions received</a:t>
                      </a:r>
                    </a:p>
                  </a:txBody>
                  <a:tcPr anchor="ctr" marL="76200" marR="76200" marT="38100" marB="38100">
                    <a:solidFill>
                      <a:srgbClr val="F5F3FF"/>
                    </a:solidFill>
                    <a:lnL w="0">
                      <a:noFill/>
                    </a:lnL>
                    <a:lnR w="0">
                      <a:noFill/>
                    </a:lnR>
                    <a:lnT w="0">
                      <a:noFill/>
                    </a:lnT>
                    <a:lnB w="0">
                      <a:noFill/>
                    </a:lnB>
                  </a:tcPr>
                </a:tc>
              </a:tr>
              <a:tr h="219455">
                <a:tc>
                  <a:txBody>
                    <a:bodyPr/>
                    <a:lstStyle/>
                    <a:p>
                      <a:pPr algn="ctr">
                        <a:defRPr sz="900" b="1">
                          <a:solidFill>
                            <a:srgbClr val="9C92B5"/>
                          </a:solidFill>
                          <a:latin typeface="Segoe UI"/>
                        </a:defRPr>
                      </a:pPr>
                      <a:r>
                        <a:t>RI</a:t>
                      </a:r>
                    </a:p>
                  </a:txBody>
                  <a:tcPr anchor="ctr" marL="76200" marR="76200" marT="38100" marB="38100">
                    <a:noFill/>
                    <a:lnL w="0">
                      <a:noFill/>
                    </a:lnL>
                    <a:lnR w="0">
                      <a:noFill/>
                    </a:lnR>
                    <a:lnT w="0">
                      <a:noFill/>
                    </a:lnT>
                    <a:lnB w="0">
                      <a:noFill/>
                    </a:lnB>
                  </a:tcPr>
                </a:tc>
                <a:tc>
                  <a:txBody>
                    <a:bodyPr/>
                    <a:lstStyle/>
                    <a:p>
                      <a:pPr algn="ctr">
                        <a:defRPr sz="9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900" b="0">
                          <a:solidFill>
                            <a:srgbClr val="9C92B5"/>
                          </a:solidFill>
                          <a:latin typeface="Segoe UI"/>
                        </a:defRPr>
                      </a:pPr>
                      <a:r>
                        <a:t>0</a:t>
                      </a:r>
                    </a:p>
                  </a:txBody>
                  <a:tcPr anchor="ctr" marL="76200" marR="76200" marT="38100" marB="38100">
                    <a:noFill/>
                    <a:lnL w="0">
                      <a:noFill/>
                    </a:lnL>
                    <a:lnR w="0">
                      <a:noFill/>
                    </a:lnR>
                    <a:lnT w="0">
                      <a:noFill/>
                    </a:lnT>
                    <a:lnB w="0">
                      <a:noFill/>
                    </a:lnB>
                  </a:tcPr>
                </a:tc>
                <a:tc>
                  <a:txBody>
                    <a:bodyPr/>
                    <a:lstStyle/>
                    <a:p>
                      <a:pPr algn="ctr">
                        <a:defRPr sz="800" b="0">
                          <a:solidFill>
                            <a:srgbClr val="6B5F83"/>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No submissions received</a:t>
                      </a:r>
                    </a:p>
                  </a:txBody>
                  <a:tcPr anchor="ctr" marL="76200" marR="76200" marT="38100" marB="38100">
                    <a:noFill/>
                    <a:lnL w="0">
                      <a:noFill/>
                    </a:lnL>
                    <a:lnR w="0">
                      <a:noFill/>
                    </a:lnR>
                    <a:lnT w="0">
                      <a:noFill/>
                    </a:lnT>
                    <a:lnB w="0">
                      <a:noFill/>
                    </a:lnB>
                  </a:tcPr>
                </a:tc>
              </a:tr>
              <a:tr h="219465">
                <a:tc>
                  <a:txBody>
                    <a:bodyPr/>
                    <a:lstStyle/>
                    <a:p>
                      <a:pPr algn="ctr">
                        <a:defRPr sz="900" b="1">
                          <a:solidFill>
                            <a:srgbClr val="9C92B5"/>
                          </a:solidFill>
                          <a:latin typeface="Segoe UI"/>
                        </a:defRPr>
                      </a:pPr>
                      <a:r>
                        <a:t>SD</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900" b="0">
                          <a:solidFill>
                            <a:srgbClr val="9C92B5"/>
                          </a:solidFill>
                          <a:latin typeface="Segoe UI"/>
                        </a:defRPr>
                      </a:pPr>
                      <a:r>
                        <a:t>0</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6B5F83"/>
                          </a:solidFill>
                          <a:latin typeface="Segoe UI"/>
                        </a:defRPr>
                      </a:pPr>
                      <a:r>
                        <a:t>—</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9C92B5"/>
                          </a:solidFill>
                          <a:latin typeface="Segoe UI"/>
                        </a:defRPr>
                      </a:pPr>
                      <a:r>
                        <a:t>No submissions received</a:t>
                      </a:r>
                    </a:p>
                  </a:txBody>
                  <a:tcPr anchor="ctr" marL="76200" marR="76200" marT="38100" marB="38100">
                    <a:solidFill>
                      <a:srgbClr val="F5F3FF"/>
                    </a:solidFill>
                    <a:lnL w="0">
                      <a:noFill/>
                    </a:lnL>
                    <a:lnR w="0">
                      <a:noFill/>
                    </a:lnR>
                    <a:lnT w="0">
                      <a:noFill/>
                    </a:lnT>
                    <a:lnB w="0">
                      <a:noFill/>
                    </a:lnB>
                  </a:tcPr>
                </a:tc>
              </a:tr>
            </a:tbl>
          </a:graphicData>
        </a:graphic>
      </p:graphicFrame>
      <p:sp>
        <p:nvSpPr>
          <p:cNvPr id="34" name="TextBox 33"/>
          <p:cNvSpPr txBox="1"/>
          <p:nvPr/>
        </p:nvSpPr>
        <p:spPr>
          <a:xfrm>
            <a:off x="6217920" y="2331720"/>
            <a:ext cx="5486400" cy="228600"/>
          </a:xfrm>
          <a:prstGeom prst="rect">
            <a:avLst/>
          </a:prstGeom>
          <a:noFill/>
        </p:spPr>
        <p:txBody>
          <a:bodyPr wrap="square">
            <a:spAutoFit/>
          </a:bodyPr>
          <a:lstStyle/>
          <a:p>
            <a:pPr algn="l">
              <a:defRPr sz="1100" b="1" i="0">
                <a:solidFill>
                  <a:srgbClr val="5B21B6"/>
                </a:solidFill>
                <a:latin typeface="Segoe UI Semibold"/>
              </a:defRPr>
            </a:pPr>
            <a:r>
              <a:t>BOUND AGENCY OVERLAP</a:t>
            </a:r>
          </a:p>
        </p:txBody>
      </p:sp>
      <p:sp>
        <p:nvSpPr>
          <p:cNvPr id="35" name="Rectangle 34"/>
          <p:cNvSpPr/>
          <p:nvPr/>
        </p:nvSpPr>
        <p:spPr>
          <a:xfrm>
            <a:off x="6217920" y="2578608"/>
            <a:ext cx="1371600" cy="2286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217920" y="2697480"/>
            <a:ext cx="5669280" cy="91440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17920" y="2697480"/>
            <a:ext cx="64008"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2743200"/>
            <a:ext cx="3200400" cy="201168"/>
          </a:xfrm>
          <a:prstGeom prst="rect">
            <a:avLst/>
          </a:prstGeom>
          <a:noFill/>
        </p:spPr>
        <p:txBody>
          <a:bodyPr wrap="square">
            <a:spAutoFit/>
          </a:bodyPr>
          <a:lstStyle/>
          <a:p>
            <a:pPr algn="l">
              <a:defRPr sz="1000" b="1" i="0">
                <a:solidFill>
                  <a:srgbClr val="2D233F"/>
                </a:solidFill>
                <a:latin typeface="Segoe UI"/>
              </a:defRPr>
            </a:pPr>
            <a:r>
              <a:t>USA Specialty Insurance</a:t>
            </a:r>
          </a:p>
        </p:txBody>
      </p:sp>
      <p:sp>
        <p:nvSpPr>
          <p:cNvPr id="39" name="Rounded Rectangle 38"/>
          <p:cNvSpPr/>
          <p:nvPr/>
        </p:nvSpPr>
        <p:spPr>
          <a:xfrm>
            <a:off x="9875520" y="2752344"/>
            <a:ext cx="822960" cy="182880"/>
          </a:xfrm>
          <a:prstGeom prst="roundRect">
            <a:avLst>
              <a:gd name="adj" fmla="val 3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21240" y="2752344"/>
            <a:ext cx="777240" cy="182880"/>
          </a:xfrm>
          <a:prstGeom prst="rect">
            <a:avLst/>
          </a:prstGeom>
          <a:noFill/>
        </p:spPr>
        <p:txBody>
          <a:bodyPr wrap="square">
            <a:spAutoFit/>
          </a:bodyPr>
          <a:lstStyle/>
          <a:p>
            <a:pPr algn="ctr">
              <a:defRPr sz="700" b="1" i="0">
                <a:solidFill>
                  <a:srgbClr val="FFFFFF"/>
                </a:solidFill>
                <a:latin typeface="Segoe UI"/>
              </a:defRPr>
            </a:pPr>
            <a:r>
              <a:t>LIVE QUOTE</a:t>
            </a:r>
          </a:p>
        </p:txBody>
      </p:sp>
      <p:sp>
        <p:nvSpPr>
          <p:cNvPr id="41" name="TextBox 40"/>
          <p:cNvSpPr txBox="1"/>
          <p:nvPr/>
        </p:nvSpPr>
        <p:spPr>
          <a:xfrm>
            <a:off x="6400800" y="2971800"/>
            <a:ext cx="5303520" cy="164592"/>
          </a:xfrm>
          <a:prstGeom prst="rect">
            <a:avLst/>
          </a:prstGeom>
          <a:noFill/>
        </p:spPr>
        <p:txBody>
          <a:bodyPr wrap="square">
            <a:spAutoFit/>
          </a:bodyPr>
          <a:lstStyle/>
          <a:p>
            <a:pPr algn="l">
              <a:defRPr sz="900" b="0" i="0">
                <a:solidFill>
                  <a:srgbClr val="6B5F83"/>
                </a:solidFill>
                <a:latin typeface="Segoe UI"/>
              </a:defRPr>
            </a:pPr>
            <a:r>
              <a:t>Bound: 2 policies in TX ($16K GWP)  |  UT submission: $50,329 quoted — Rigo Transportation</a:t>
            </a:r>
          </a:p>
        </p:txBody>
      </p:sp>
      <p:sp>
        <p:nvSpPr>
          <p:cNvPr id="42" name="TextBox 41"/>
          <p:cNvSpPr txBox="1"/>
          <p:nvPr/>
        </p:nvSpPr>
        <p:spPr>
          <a:xfrm>
            <a:off x="6400800" y="3172968"/>
            <a:ext cx="5303520" cy="164592"/>
          </a:xfrm>
          <a:prstGeom prst="rect">
            <a:avLst/>
          </a:prstGeom>
          <a:noFill/>
        </p:spPr>
        <p:txBody>
          <a:bodyPr wrap="square">
            <a:spAutoFit/>
          </a:bodyPr>
          <a:lstStyle/>
          <a:p>
            <a:pPr algn="l">
              <a:defRPr sz="900" b="0" i="0">
                <a:solidFill>
                  <a:srgbClr val="6B5F83"/>
                </a:solidFill>
                <a:latin typeface="Segoe UI"/>
              </a:defRPr>
            </a:pPr>
            <a:r>
              <a:t>Eff date: 03/04/2026  |  Multi-state agency (CA, GA, NJ, TN, TX, UT)</a:t>
            </a:r>
          </a:p>
        </p:txBody>
      </p:sp>
      <p:sp>
        <p:nvSpPr>
          <p:cNvPr id="43" name="TextBox 42"/>
          <p:cNvSpPr txBox="1"/>
          <p:nvPr/>
        </p:nvSpPr>
        <p:spPr>
          <a:xfrm>
            <a:off x="6400800" y="3374136"/>
            <a:ext cx="5303520" cy="164592"/>
          </a:xfrm>
          <a:prstGeom prst="rect">
            <a:avLst/>
          </a:prstGeom>
          <a:noFill/>
        </p:spPr>
        <p:txBody>
          <a:bodyPr wrap="square">
            <a:spAutoFit/>
          </a:bodyPr>
          <a:lstStyle/>
          <a:p>
            <a:pPr algn="l">
              <a:defRPr sz="900" b="1" i="0">
                <a:solidFill>
                  <a:srgbClr val="10B981"/>
                </a:solidFill>
                <a:latin typeface="Segoe UI"/>
              </a:defRPr>
            </a:pPr>
            <a:r>
              <a:t>ACTION: Follow up immediately — highest-value dormant state opportunity</a:t>
            </a:r>
          </a:p>
        </p:txBody>
      </p:sp>
      <p:sp>
        <p:nvSpPr>
          <p:cNvPr id="44" name="Rounded Rectangle 43"/>
          <p:cNvSpPr/>
          <p:nvPr/>
        </p:nvSpPr>
        <p:spPr>
          <a:xfrm>
            <a:off x="6217920" y="3703320"/>
            <a:ext cx="5669280" cy="64008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217920" y="3703320"/>
            <a:ext cx="64008" cy="6400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3749040"/>
            <a:ext cx="3200400" cy="201168"/>
          </a:xfrm>
          <a:prstGeom prst="rect">
            <a:avLst/>
          </a:prstGeom>
          <a:noFill/>
        </p:spPr>
        <p:txBody>
          <a:bodyPr wrap="square">
            <a:spAutoFit/>
          </a:bodyPr>
          <a:lstStyle/>
          <a:p>
            <a:pPr algn="l">
              <a:defRPr sz="1000" b="1" i="0">
                <a:solidFill>
                  <a:srgbClr val="2D233F"/>
                </a:solidFill>
                <a:latin typeface="Segoe UI"/>
              </a:defRPr>
            </a:pPr>
            <a:r>
              <a:t>United Advantage Insurance</a:t>
            </a:r>
          </a:p>
        </p:txBody>
      </p:sp>
      <p:sp>
        <p:nvSpPr>
          <p:cNvPr id="47" name="TextBox 46"/>
          <p:cNvSpPr txBox="1"/>
          <p:nvPr/>
        </p:nvSpPr>
        <p:spPr>
          <a:xfrm>
            <a:off x="6400800" y="3959352"/>
            <a:ext cx="5303520" cy="164592"/>
          </a:xfrm>
          <a:prstGeom prst="rect">
            <a:avLst/>
          </a:prstGeom>
          <a:noFill/>
        </p:spPr>
        <p:txBody>
          <a:bodyPr wrap="square">
            <a:spAutoFit/>
          </a:bodyPr>
          <a:lstStyle/>
          <a:p>
            <a:pPr algn="l">
              <a:defRPr sz="900" b="0" i="0">
                <a:solidFill>
                  <a:srgbClr val="6B5F83"/>
                </a:solidFill>
                <a:latin typeface="Segoe UI"/>
              </a:defRPr>
            </a:pPr>
            <a:r>
              <a:t>Bound: 7 policies in CA, TX ($45K GWP)  |  MT sub declined ($6.5K, Nightwind Trucking)</a:t>
            </a:r>
          </a:p>
        </p:txBody>
      </p:sp>
      <p:sp>
        <p:nvSpPr>
          <p:cNvPr id="48" name="TextBox 47"/>
          <p:cNvSpPr txBox="1"/>
          <p:nvPr/>
        </p:nvSpPr>
        <p:spPr>
          <a:xfrm>
            <a:off x="6400800" y="4142232"/>
            <a:ext cx="5303520" cy="164592"/>
          </a:xfrm>
          <a:prstGeom prst="rect">
            <a:avLst/>
          </a:prstGeom>
          <a:noFill/>
        </p:spPr>
        <p:txBody>
          <a:bodyPr wrap="square">
            <a:spAutoFit/>
          </a:bodyPr>
          <a:lstStyle/>
          <a:p>
            <a:pPr algn="l">
              <a:defRPr sz="900" b="0" i="0">
                <a:solidFill>
                  <a:srgbClr val="6B5F83"/>
                </a:solidFill>
                <a:latin typeface="Segoe UI"/>
              </a:defRPr>
            </a:pPr>
            <a:r>
              <a:t>Most active submitter: 41 subs across 10 states — strong multi-state presence</a:t>
            </a:r>
          </a:p>
        </p:txBody>
      </p:sp>
      <p:sp>
        <p:nvSpPr>
          <p:cNvPr id="49" name="Rounded Rectangle 48"/>
          <p:cNvSpPr/>
          <p:nvPr/>
        </p:nvSpPr>
        <p:spPr>
          <a:xfrm>
            <a:off x="6217920" y="4434840"/>
            <a:ext cx="5669280" cy="64008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217920" y="4434840"/>
            <a:ext cx="64008" cy="6400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0" y="4480560"/>
            <a:ext cx="3200400" cy="201168"/>
          </a:xfrm>
          <a:prstGeom prst="rect">
            <a:avLst/>
          </a:prstGeom>
          <a:noFill/>
        </p:spPr>
        <p:txBody>
          <a:bodyPr wrap="square">
            <a:spAutoFit/>
          </a:bodyPr>
          <a:lstStyle/>
          <a:p>
            <a:pPr algn="l">
              <a:defRPr sz="1000" b="1" i="0">
                <a:solidFill>
                  <a:srgbClr val="2D233F"/>
                </a:solidFill>
                <a:latin typeface="Segoe UI"/>
              </a:defRPr>
            </a:pPr>
            <a:r>
              <a:t>Resolute Insurance Group</a:t>
            </a:r>
          </a:p>
        </p:txBody>
      </p:sp>
      <p:sp>
        <p:nvSpPr>
          <p:cNvPr id="52" name="TextBox 51"/>
          <p:cNvSpPr txBox="1"/>
          <p:nvPr/>
        </p:nvSpPr>
        <p:spPr>
          <a:xfrm>
            <a:off x="6400800" y="4690872"/>
            <a:ext cx="5303520" cy="164592"/>
          </a:xfrm>
          <a:prstGeom prst="rect">
            <a:avLst/>
          </a:prstGeom>
          <a:noFill/>
        </p:spPr>
        <p:txBody>
          <a:bodyPr wrap="square">
            <a:spAutoFit/>
          </a:bodyPr>
          <a:lstStyle/>
          <a:p>
            <a:pPr algn="l">
              <a:defRPr sz="900" b="0" i="0">
                <a:solidFill>
                  <a:srgbClr val="6B5F83"/>
                </a:solidFill>
                <a:latin typeface="Segoe UI"/>
              </a:defRPr>
            </a:pPr>
            <a:r>
              <a:t>Bound: 3 policies in CO ($22K GWP)  |  UT sub declined ($5.1K, JEM Trucking)</a:t>
            </a:r>
          </a:p>
        </p:txBody>
      </p:sp>
      <p:sp>
        <p:nvSpPr>
          <p:cNvPr id="53" name="TextBox 52"/>
          <p:cNvSpPr txBox="1"/>
          <p:nvPr/>
        </p:nvSpPr>
        <p:spPr>
          <a:xfrm>
            <a:off x="6400800" y="4873752"/>
            <a:ext cx="5303520" cy="164592"/>
          </a:xfrm>
          <a:prstGeom prst="rect">
            <a:avLst/>
          </a:prstGeom>
          <a:noFill/>
        </p:spPr>
        <p:txBody>
          <a:bodyPr wrap="square">
            <a:spAutoFit/>
          </a:bodyPr>
          <a:lstStyle/>
          <a:p>
            <a:pPr algn="l">
              <a:defRPr sz="900" b="0" i="0">
                <a:solidFill>
                  <a:srgbClr val="6B5F83"/>
                </a:solidFill>
                <a:latin typeface="Segoe UI"/>
              </a:defRPr>
            </a:pPr>
            <a:r>
              <a:t>Submits in 6 states (CO, LA, MO, NC, OK, UT) — re-engage for UT pipeline</a:t>
            </a:r>
          </a:p>
        </p:txBody>
      </p:sp>
      <p:sp>
        <p:nvSpPr>
          <p:cNvPr id="54" name="Rounded Rectangle 53"/>
          <p:cNvSpPr/>
          <p:nvPr/>
        </p:nvSpPr>
        <p:spPr>
          <a:xfrm>
            <a:off x="274320" y="5257800"/>
            <a:ext cx="11612880" cy="10515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4320" y="5257800"/>
            <a:ext cx="11612880" cy="5486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7200" y="5349240"/>
            <a:ext cx="11247120" cy="201168"/>
          </a:xfrm>
          <a:prstGeom prst="rect">
            <a:avLst/>
          </a:prstGeom>
          <a:noFill/>
        </p:spPr>
        <p:txBody>
          <a:bodyPr wrap="square">
            <a:spAutoFit/>
          </a:bodyPr>
          <a:lstStyle/>
          <a:p>
            <a:pPr algn="l">
              <a:defRPr sz="1000" b="1" i="0">
                <a:solidFill>
                  <a:srgbClr val="1E073B"/>
                </a:solidFill>
                <a:latin typeface="Segoe UI Semibold"/>
              </a:defRPr>
            </a:pPr>
            <a:r>
              <a:t>KEY TAKEAWAYS &amp; ACTIVATION STRATEGY</a:t>
            </a:r>
          </a:p>
        </p:txBody>
      </p:sp>
      <p:sp>
        <p:nvSpPr>
          <p:cNvPr id="57" name="TextBox 56"/>
          <p:cNvSpPr txBox="1"/>
          <p:nvPr/>
        </p:nvSpPr>
        <p:spPr>
          <a:xfrm>
            <a:off x="457200" y="5596128"/>
            <a:ext cx="11247120" cy="182880"/>
          </a:xfrm>
          <a:prstGeom prst="rect">
            <a:avLst/>
          </a:prstGeom>
          <a:noFill/>
        </p:spPr>
        <p:txBody>
          <a:bodyPr wrap="square">
            <a:spAutoFit/>
          </a:bodyPr>
          <a:lstStyle/>
          <a:p>
            <a:pPr algn="l">
              <a:defRPr sz="900" b="0" i="0">
                <a:solidFill>
                  <a:srgbClr val="2D233F"/>
                </a:solidFill>
                <a:latin typeface="Segoe UI"/>
              </a:defRPr>
            </a:pPr>
            <a:r>
              <a:t>•  Only 3 of 27 bound agencies have ever submitted in a dormant state — organic crossover is minimal</a:t>
            </a:r>
          </a:p>
        </p:txBody>
      </p:sp>
      <p:sp>
        <p:nvSpPr>
          <p:cNvPr id="58" name="TextBox 57"/>
          <p:cNvSpPr txBox="1"/>
          <p:nvPr/>
        </p:nvSpPr>
        <p:spPr>
          <a:xfrm>
            <a:off x="457200" y="5779008"/>
            <a:ext cx="11247120" cy="182880"/>
          </a:xfrm>
          <a:prstGeom prst="rect">
            <a:avLst/>
          </a:prstGeom>
          <a:noFill/>
        </p:spPr>
        <p:txBody>
          <a:bodyPr wrap="square">
            <a:spAutoFit/>
          </a:bodyPr>
          <a:lstStyle/>
          <a:p>
            <a:pPr algn="l">
              <a:defRPr sz="900" b="0" i="0">
                <a:solidFill>
                  <a:srgbClr val="2D233F"/>
                </a:solidFill>
                <a:latin typeface="Segoe UI"/>
              </a:defRPr>
            </a:pPr>
            <a:r>
              <a:t>•  USA Specialty has a live $50K quoted deal in UT (eff 03/04) — immediate follow-up required</a:t>
            </a:r>
          </a:p>
        </p:txBody>
      </p:sp>
      <p:sp>
        <p:nvSpPr>
          <p:cNvPr id="59" name="TextBox 58"/>
          <p:cNvSpPr txBox="1"/>
          <p:nvPr/>
        </p:nvSpPr>
        <p:spPr>
          <a:xfrm>
            <a:off x="457200" y="5961888"/>
            <a:ext cx="11247120" cy="182880"/>
          </a:xfrm>
          <a:prstGeom prst="rect">
            <a:avLst/>
          </a:prstGeom>
          <a:noFill/>
        </p:spPr>
        <p:txBody>
          <a:bodyPr wrap="square">
            <a:spAutoFit/>
          </a:bodyPr>
          <a:lstStyle/>
          <a:p>
            <a:pPr algn="l">
              <a:defRPr sz="900" b="0" i="0">
                <a:solidFill>
                  <a:srgbClr val="2D233F"/>
                </a:solidFill>
                <a:latin typeface="Segoe UI"/>
              </a:defRPr>
            </a:pPr>
            <a:r>
              <a:t>•  MN shows most promise: 3 subs from 3 agencies, 2 currently quoted — worth targeted outreach</a:t>
            </a:r>
          </a:p>
        </p:txBody>
      </p:sp>
      <p:sp>
        <p:nvSpPr>
          <p:cNvPr id="60" name="TextBox 59"/>
          <p:cNvSpPr txBox="1"/>
          <p:nvPr/>
        </p:nvSpPr>
        <p:spPr>
          <a:xfrm>
            <a:off x="457200" y="6144768"/>
            <a:ext cx="11247120" cy="182880"/>
          </a:xfrm>
          <a:prstGeom prst="rect">
            <a:avLst/>
          </a:prstGeom>
          <a:noFill/>
        </p:spPr>
        <p:txBody>
          <a:bodyPr wrap="square">
            <a:spAutoFit/>
          </a:bodyPr>
          <a:lstStyle/>
          <a:p>
            <a:pPr algn="l">
              <a:defRPr sz="900" b="0" i="0">
                <a:solidFill>
                  <a:srgbClr val="2D233F"/>
                </a:solidFill>
                <a:latin typeface="Segoe UI"/>
              </a:defRPr>
            </a:pPr>
            <a:r>
              <a:t>•  IA, ME, RI, SD have zero activity — activation requires net-new agency recruitment in those geographies</a:t>
            </a:r>
          </a:p>
        </p:txBody>
      </p:sp>
      <p:sp>
        <p:nvSpPr>
          <p:cNvPr id="61" name="Rectangle 60"/>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63" name="TextBox 62"/>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MARCH 2026 OVERVIEW</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Submissions &amp; Binds  |  Month-to-Date</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0040" y="1371600"/>
            <a:ext cx="2148840" cy="100584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1371600"/>
            <a:ext cx="214884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481328"/>
            <a:ext cx="1874520" cy="182880"/>
          </a:xfrm>
          <a:prstGeom prst="rect">
            <a:avLst/>
          </a:prstGeom>
          <a:noFill/>
        </p:spPr>
        <p:txBody>
          <a:bodyPr wrap="square">
            <a:spAutoFit/>
          </a:bodyPr>
          <a:lstStyle/>
          <a:p>
            <a:pPr algn="l">
              <a:defRPr sz="800" b="1" i="0">
                <a:solidFill>
                  <a:srgbClr val="9C92B5"/>
                </a:solidFill>
                <a:latin typeface="Segoe UI Semibold"/>
              </a:defRPr>
            </a:pPr>
            <a:r>
              <a:t>SUBMISSIONS</a:t>
            </a:r>
          </a:p>
        </p:txBody>
      </p:sp>
      <p:sp>
        <p:nvSpPr>
          <p:cNvPr id="14" name="TextBox 13"/>
          <p:cNvSpPr txBox="1"/>
          <p:nvPr/>
        </p:nvSpPr>
        <p:spPr>
          <a:xfrm>
            <a:off x="457200" y="1691640"/>
            <a:ext cx="1874520" cy="411480"/>
          </a:xfrm>
          <a:prstGeom prst="rect">
            <a:avLst/>
          </a:prstGeom>
          <a:noFill/>
        </p:spPr>
        <p:txBody>
          <a:bodyPr wrap="square">
            <a:spAutoFit/>
          </a:bodyPr>
          <a:lstStyle/>
          <a:p>
            <a:pPr algn="l">
              <a:defRPr sz="2400" b="1" i="0">
                <a:solidFill>
                  <a:srgbClr val="7C3AED"/>
                </a:solidFill>
                <a:latin typeface="Segoe UI Light"/>
              </a:defRPr>
            </a:pPr>
            <a:r>
              <a:t>1,607</a:t>
            </a:r>
          </a:p>
        </p:txBody>
      </p:sp>
      <p:sp>
        <p:nvSpPr>
          <p:cNvPr id="15" name="TextBox 14"/>
          <p:cNvSpPr txBox="1"/>
          <p:nvPr/>
        </p:nvSpPr>
        <p:spPr>
          <a:xfrm>
            <a:off x="457200" y="2084832"/>
            <a:ext cx="1874520" cy="201168"/>
          </a:xfrm>
          <a:prstGeom prst="rect">
            <a:avLst/>
          </a:prstGeom>
          <a:noFill/>
        </p:spPr>
        <p:txBody>
          <a:bodyPr wrap="square">
            <a:spAutoFit/>
          </a:bodyPr>
          <a:lstStyle/>
          <a:p>
            <a:pPr algn="l">
              <a:defRPr sz="1000" b="1" i="0">
                <a:solidFill>
                  <a:srgbClr val="10B981"/>
                </a:solidFill>
                <a:latin typeface="Segoe UI"/>
              </a:defRPr>
            </a:pPr>
            <a:r>
              <a:t>↑ 441 vs Feb</a:t>
            </a:r>
          </a:p>
        </p:txBody>
      </p:sp>
      <p:sp>
        <p:nvSpPr>
          <p:cNvPr id="16" name="Rounded Rectangle 15"/>
          <p:cNvSpPr/>
          <p:nvPr/>
        </p:nvSpPr>
        <p:spPr>
          <a:xfrm>
            <a:off x="2633472" y="1371600"/>
            <a:ext cx="2148840" cy="100584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33472" y="1371600"/>
            <a:ext cx="214884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0632" y="1481328"/>
            <a:ext cx="1874520" cy="182880"/>
          </a:xfrm>
          <a:prstGeom prst="rect">
            <a:avLst/>
          </a:prstGeom>
          <a:noFill/>
        </p:spPr>
        <p:txBody>
          <a:bodyPr wrap="square">
            <a:spAutoFit/>
          </a:bodyPr>
          <a:lstStyle/>
          <a:p>
            <a:pPr algn="l">
              <a:defRPr sz="800" b="1" i="0">
                <a:solidFill>
                  <a:srgbClr val="9C92B5"/>
                </a:solidFill>
                <a:latin typeface="Segoe UI Semibold"/>
              </a:defRPr>
            </a:pPr>
            <a:r>
              <a:t>QUOTES</a:t>
            </a:r>
          </a:p>
        </p:txBody>
      </p:sp>
      <p:sp>
        <p:nvSpPr>
          <p:cNvPr id="19" name="TextBox 18"/>
          <p:cNvSpPr txBox="1"/>
          <p:nvPr/>
        </p:nvSpPr>
        <p:spPr>
          <a:xfrm>
            <a:off x="2770632" y="1691640"/>
            <a:ext cx="1874520" cy="411480"/>
          </a:xfrm>
          <a:prstGeom prst="rect">
            <a:avLst/>
          </a:prstGeom>
          <a:noFill/>
        </p:spPr>
        <p:txBody>
          <a:bodyPr wrap="square">
            <a:spAutoFit/>
          </a:bodyPr>
          <a:lstStyle/>
          <a:p>
            <a:pPr algn="l">
              <a:defRPr sz="2400" b="1" i="0">
                <a:solidFill>
                  <a:srgbClr val="8B5CF6"/>
                </a:solidFill>
                <a:latin typeface="Segoe UI Light"/>
              </a:defRPr>
            </a:pPr>
            <a:r>
              <a:t>870</a:t>
            </a:r>
          </a:p>
        </p:txBody>
      </p:sp>
      <p:sp>
        <p:nvSpPr>
          <p:cNvPr id="20" name="TextBox 19"/>
          <p:cNvSpPr txBox="1"/>
          <p:nvPr/>
        </p:nvSpPr>
        <p:spPr>
          <a:xfrm>
            <a:off x="2770632" y="2084832"/>
            <a:ext cx="1874520" cy="164592"/>
          </a:xfrm>
          <a:prstGeom prst="rect">
            <a:avLst/>
          </a:prstGeom>
          <a:noFill/>
        </p:spPr>
        <p:txBody>
          <a:bodyPr wrap="square">
            <a:spAutoFit/>
          </a:bodyPr>
          <a:lstStyle/>
          <a:p>
            <a:pPr algn="l">
              <a:defRPr sz="800" b="0" i="1">
                <a:solidFill>
                  <a:srgbClr val="A09CB0"/>
                </a:solidFill>
                <a:latin typeface="Segoe UI"/>
              </a:defRPr>
            </a:pPr>
            <a:r>
              <a:t>Quote rate: 54.1%</a:t>
            </a:r>
          </a:p>
        </p:txBody>
      </p:sp>
      <p:sp>
        <p:nvSpPr>
          <p:cNvPr id="21" name="TextBox 20"/>
          <p:cNvSpPr txBox="1"/>
          <p:nvPr/>
        </p:nvSpPr>
        <p:spPr>
          <a:xfrm>
            <a:off x="2770632" y="2221992"/>
            <a:ext cx="1874520" cy="201168"/>
          </a:xfrm>
          <a:prstGeom prst="rect">
            <a:avLst/>
          </a:prstGeom>
          <a:noFill/>
        </p:spPr>
        <p:txBody>
          <a:bodyPr wrap="square">
            <a:spAutoFit/>
          </a:bodyPr>
          <a:lstStyle/>
          <a:p>
            <a:pPr algn="l">
              <a:defRPr sz="1000" b="1" i="0">
                <a:solidFill>
                  <a:srgbClr val="10B981"/>
                </a:solidFill>
                <a:latin typeface="Segoe UI"/>
              </a:defRPr>
            </a:pPr>
            <a:r>
              <a:t>↑ 281 vs Feb</a:t>
            </a:r>
          </a:p>
        </p:txBody>
      </p:sp>
      <p:sp>
        <p:nvSpPr>
          <p:cNvPr id="22" name="Rounded Rectangle 21"/>
          <p:cNvSpPr/>
          <p:nvPr/>
        </p:nvSpPr>
        <p:spPr>
          <a:xfrm>
            <a:off x="4946904" y="1371600"/>
            <a:ext cx="2148840" cy="100584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946904" y="1371600"/>
            <a:ext cx="214884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84064" y="1481328"/>
            <a:ext cx="1874520" cy="182880"/>
          </a:xfrm>
          <a:prstGeom prst="rect">
            <a:avLst/>
          </a:prstGeom>
          <a:noFill/>
        </p:spPr>
        <p:txBody>
          <a:bodyPr wrap="square">
            <a:spAutoFit/>
          </a:bodyPr>
          <a:lstStyle/>
          <a:p>
            <a:pPr algn="l">
              <a:defRPr sz="800" b="1" i="0">
                <a:solidFill>
                  <a:srgbClr val="9C92B5"/>
                </a:solidFill>
                <a:latin typeface="Segoe UI Semibold"/>
              </a:defRPr>
            </a:pPr>
            <a:r>
              <a:t>BINDS</a:t>
            </a:r>
          </a:p>
        </p:txBody>
      </p:sp>
      <p:sp>
        <p:nvSpPr>
          <p:cNvPr id="25" name="TextBox 24"/>
          <p:cNvSpPr txBox="1"/>
          <p:nvPr/>
        </p:nvSpPr>
        <p:spPr>
          <a:xfrm>
            <a:off x="5084064" y="1691640"/>
            <a:ext cx="1874520" cy="411480"/>
          </a:xfrm>
          <a:prstGeom prst="rect">
            <a:avLst/>
          </a:prstGeom>
          <a:noFill/>
        </p:spPr>
        <p:txBody>
          <a:bodyPr wrap="square">
            <a:spAutoFit/>
          </a:bodyPr>
          <a:lstStyle/>
          <a:p>
            <a:pPr algn="l">
              <a:defRPr sz="2400" b="1" i="0">
                <a:solidFill>
                  <a:srgbClr val="10B981"/>
                </a:solidFill>
                <a:latin typeface="Segoe UI Light"/>
              </a:defRPr>
            </a:pPr>
            <a:r>
              <a:t>51</a:t>
            </a:r>
          </a:p>
        </p:txBody>
      </p:sp>
      <p:sp>
        <p:nvSpPr>
          <p:cNvPr id="26" name="TextBox 25"/>
          <p:cNvSpPr txBox="1"/>
          <p:nvPr/>
        </p:nvSpPr>
        <p:spPr>
          <a:xfrm>
            <a:off x="5084064" y="2084832"/>
            <a:ext cx="1874520" cy="201168"/>
          </a:xfrm>
          <a:prstGeom prst="rect">
            <a:avLst/>
          </a:prstGeom>
          <a:noFill/>
        </p:spPr>
        <p:txBody>
          <a:bodyPr wrap="square">
            <a:spAutoFit/>
          </a:bodyPr>
          <a:lstStyle/>
          <a:p>
            <a:pPr algn="l">
              <a:defRPr sz="1000" b="1" i="0">
                <a:solidFill>
                  <a:srgbClr val="10B981"/>
                </a:solidFill>
                <a:latin typeface="Segoe UI"/>
              </a:defRPr>
            </a:pPr>
            <a:r>
              <a:t>↑ 26 vs Feb (25)</a:t>
            </a:r>
          </a:p>
        </p:txBody>
      </p:sp>
      <p:sp>
        <p:nvSpPr>
          <p:cNvPr id="27" name="Rounded Rectangle 26"/>
          <p:cNvSpPr/>
          <p:nvPr/>
        </p:nvSpPr>
        <p:spPr>
          <a:xfrm>
            <a:off x="7260336" y="1371600"/>
            <a:ext cx="2148840" cy="100584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60336" y="1371600"/>
            <a:ext cx="214884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97496" y="1481328"/>
            <a:ext cx="1874520" cy="182880"/>
          </a:xfrm>
          <a:prstGeom prst="rect">
            <a:avLst/>
          </a:prstGeom>
          <a:noFill/>
        </p:spPr>
        <p:txBody>
          <a:bodyPr wrap="square">
            <a:spAutoFit/>
          </a:bodyPr>
          <a:lstStyle/>
          <a:p>
            <a:pPr algn="l">
              <a:defRPr sz="800" b="1" i="0">
                <a:solidFill>
                  <a:srgbClr val="9C92B5"/>
                </a:solidFill>
                <a:latin typeface="Segoe UI Semibold"/>
              </a:defRPr>
            </a:pPr>
            <a:r>
              <a:t>BOUND PREMIUM</a:t>
            </a:r>
          </a:p>
        </p:txBody>
      </p:sp>
      <p:sp>
        <p:nvSpPr>
          <p:cNvPr id="30" name="TextBox 29"/>
          <p:cNvSpPr txBox="1"/>
          <p:nvPr/>
        </p:nvSpPr>
        <p:spPr>
          <a:xfrm>
            <a:off x="7397496" y="1691640"/>
            <a:ext cx="1874520" cy="411480"/>
          </a:xfrm>
          <a:prstGeom prst="rect">
            <a:avLst/>
          </a:prstGeom>
          <a:noFill/>
        </p:spPr>
        <p:txBody>
          <a:bodyPr wrap="square">
            <a:spAutoFit/>
          </a:bodyPr>
          <a:lstStyle/>
          <a:p>
            <a:pPr algn="l">
              <a:defRPr sz="2400" b="1" i="0">
                <a:solidFill>
                  <a:srgbClr val="F59E0B"/>
                </a:solidFill>
                <a:latin typeface="Segoe UI Light"/>
              </a:defRPr>
            </a:pPr>
            <a:r>
              <a:t>$1.2M</a:t>
            </a:r>
          </a:p>
        </p:txBody>
      </p:sp>
      <p:sp>
        <p:nvSpPr>
          <p:cNvPr id="31" name="TextBox 30"/>
          <p:cNvSpPr txBox="1"/>
          <p:nvPr/>
        </p:nvSpPr>
        <p:spPr>
          <a:xfrm>
            <a:off x="7397496" y="2084832"/>
            <a:ext cx="1874520" cy="201168"/>
          </a:xfrm>
          <a:prstGeom prst="rect">
            <a:avLst/>
          </a:prstGeom>
          <a:noFill/>
        </p:spPr>
        <p:txBody>
          <a:bodyPr wrap="square">
            <a:spAutoFit/>
          </a:bodyPr>
          <a:lstStyle/>
          <a:p>
            <a:pPr algn="l">
              <a:defRPr sz="1000" b="1" i="0">
                <a:solidFill>
                  <a:srgbClr val="10B981"/>
                </a:solidFill>
                <a:latin typeface="Segoe UI"/>
              </a:defRPr>
            </a:pPr>
            <a:r>
              <a:t>↑ $111,950 vs Feb</a:t>
            </a:r>
          </a:p>
        </p:txBody>
      </p:sp>
      <p:sp>
        <p:nvSpPr>
          <p:cNvPr id="32" name="Rounded Rectangle 31"/>
          <p:cNvSpPr/>
          <p:nvPr/>
        </p:nvSpPr>
        <p:spPr>
          <a:xfrm>
            <a:off x="9573768" y="1371600"/>
            <a:ext cx="2148840" cy="100584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73768" y="1371600"/>
            <a:ext cx="2148840" cy="54864"/>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10928" y="1481328"/>
            <a:ext cx="1874520" cy="182880"/>
          </a:xfrm>
          <a:prstGeom prst="rect">
            <a:avLst/>
          </a:prstGeom>
          <a:noFill/>
        </p:spPr>
        <p:txBody>
          <a:bodyPr wrap="square">
            <a:spAutoFit/>
          </a:bodyPr>
          <a:lstStyle/>
          <a:p>
            <a:pPr algn="l">
              <a:defRPr sz="800" b="1" i="0">
                <a:solidFill>
                  <a:srgbClr val="9C92B5"/>
                </a:solidFill>
                <a:latin typeface="Segoe UI Semibold"/>
              </a:defRPr>
            </a:pPr>
            <a:r>
              <a:t>AVG PREMIUM</a:t>
            </a:r>
          </a:p>
        </p:txBody>
      </p:sp>
      <p:sp>
        <p:nvSpPr>
          <p:cNvPr id="35" name="TextBox 34"/>
          <p:cNvSpPr txBox="1"/>
          <p:nvPr/>
        </p:nvSpPr>
        <p:spPr>
          <a:xfrm>
            <a:off x="9710928" y="1691640"/>
            <a:ext cx="1874520" cy="411480"/>
          </a:xfrm>
          <a:prstGeom prst="rect">
            <a:avLst/>
          </a:prstGeom>
          <a:noFill/>
        </p:spPr>
        <p:txBody>
          <a:bodyPr wrap="square">
            <a:spAutoFit/>
          </a:bodyPr>
          <a:lstStyle/>
          <a:p>
            <a:pPr algn="l">
              <a:defRPr sz="2400" b="1" i="0">
                <a:solidFill>
                  <a:srgbClr val="D946EF"/>
                </a:solidFill>
                <a:latin typeface="Segoe UI Light"/>
              </a:defRPr>
            </a:pPr>
            <a:r>
              <a:t>$22,954</a:t>
            </a:r>
          </a:p>
        </p:txBody>
      </p:sp>
      <p:sp>
        <p:nvSpPr>
          <p:cNvPr id="36" name="TextBox 35"/>
          <p:cNvSpPr txBox="1"/>
          <p:nvPr/>
        </p:nvSpPr>
        <p:spPr>
          <a:xfrm>
            <a:off x="9710928" y="2084832"/>
            <a:ext cx="1874520" cy="164592"/>
          </a:xfrm>
          <a:prstGeom prst="rect">
            <a:avLst/>
          </a:prstGeom>
          <a:noFill/>
        </p:spPr>
        <p:txBody>
          <a:bodyPr wrap="square">
            <a:spAutoFit/>
          </a:bodyPr>
          <a:lstStyle/>
          <a:p>
            <a:pPr algn="l">
              <a:defRPr sz="800" b="0" i="1">
                <a:solidFill>
                  <a:srgbClr val="A09CB0"/>
                </a:solidFill>
                <a:latin typeface="Segoe UI"/>
              </a:defRPr>
            </a:pPr>
            <a:r>
              <a:t>Bind rate: 5.9%</a:t>
            </a:r>
          </a:p>
        </p:txBody>
      </p:sp>
      <p:sp>
        <p:nvSpPr>
          <p:cNvPr id="37" name="TextBox 36"/>
          <p:cNvSpPr txBox="1"/>
          <p:nvPr/>
        </p:nvSpPr>
        <p:spPr>
          <a:xfrm>
            <a:off x="365760" y="2606040"/>
            <a:ext cx="4572000" cy="228600"/>
          </a:xfrm>
          <a:prstGeom prst="rect">
            <a:avLst/>
          </a:prstGeom>
          <a:noFill/>
        </p:spPr>
        <p:txBody>
          <a:bodyPr wrap="square">
            <a:spAutoFit/>
          </a:bodyPr>
          <a:lstStyle/>
          <a:p>
            <a:pPr algn="l">
              <a:defRPr sz="1200" b="1" i="0">
                <a:solidFill>
                  <a:srgbClr val="5B21B6"/>
                </a:solidFill>
                <a:latin typeface="Segoe UI Semibold"/>
              </a:defRPr>
            </a:pPr>
            <a:r>
              <a:t>MARCH BINDS</a:t>
            </a:r>
          </a:p>
        </p:txBody>
      </p:sp>
      <p:sp>
        <p:nvSpPr>
          <p:cNvPr id="38" name="Rectangle 37"/>
          <p:cNvSpPr/>
          <p:nvPr/>
        </p:nvSpPr>
        <p:spPr>
          <a:xfrm>
            <a:off x="365760" y="2852928"/>
            <a:ext cx="13716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9" name="Table 38"/>
          <p:cNvGraphicFramePr>
            <a:graphicFrameLocks noGrp="1"/>
          </p:cNvGraphicFramePr>
          <p:nvPr/>
        </p:nvGraphicFramePr>
        <p:xfrm>
          <a:off x="274320" y="2971800"/>
          <a:ext cx="6629400" cy="3209544"/>
        </p:xfrm>
        <a:graphic>
          <a:graphicData uri="http://schemas.openxmlformats.org/drawingml/2006/table">
            <a:tbl>
              <a:tblPr firstRow="0" bandRow="0" bandCol="0" lastRow="0">
                <a:tableStyleId>{5C22544A-7EE6-4342-B048-85BDC9FD1C3A}</a:tableStyleId>
              </a:tblPr>
              <a:tblGrid>
                <a:gridCol w="457200"/>
                <a:gridCol w="2560320"/>
                <a:gridCol w="411480"/>
                <a:gridCol w="1828800"/>
                <a:gridCol w="1371600"/>
              </a:tblGrid>
              <a:tr h="246888">
                <a:tc>
                  <a:txBody>
                    <a:bodyPr/>
                    <a:lstStyle/>
                    <a:p>
                      <a:pPr algn="l">
                        <a:defRPr sz="800" b="1">
                          <a:solidFill>
                            <a:srgbClr val="FFFFFF"/>
                          </a:solidFill>
                          <a:latin typeface="Segoe UI Semibold"/>
                        </a:defRPr>
                      </a:pPr>
                      <a:r>
                        <a:t>Eff</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Insured</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ST</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noFill/>
                    <a:lnL w="0">
                      <a:noFill/>
                    </a:lnL>
                    <a:lnR w="0">
                      <a:noFill/>
                    </a:lnR>
                    <a:lnT w="0">
                      <a:noFill/>
                    </a:lnT>
                    <a:lnB w="0">
                      <a:noFill/>
                    </a:lnB>
                  </a:tcPr>
                </a:tc>
                <a:tc>
                  <a:txBody>
                    <a:bodyPr/>
                    <a:lstStyle/>
                    <a:p>
                      <a:pPr algn="l">
                        <a:defRPr sz="800" b="1">
                          <a:solidFill>
                            <a:srgbClr val="2D233F"/>
                          </a:solidFill>
                          <a:latin typeface="Segoe UI"/>
                        </a:defRPr>
                      </a:pPr>
                      <a:r>
                        <a:t>CHARLIE SMITH TRUCKING LLC</a:t>
                      </a:r>
                    </a:p>
                  </a:txBody>
                  <a:tcPr anchor="ctr" marL="76200" marR="76200" marT="38100" marB="38100">
                    <a:noFill/>
                    <a:lnL w="0">
                      <a:noFill/>
                    </a:lnL>
                    <a:lnR w="0">
                      <a:noFill/>
                    </a:lnR>
                    <a:lnT w="0">
                      <a:noFill/>
                    </a:lnT>
                    <a:lnB w="0">
                      <a:noFill/>
                    </a:lnB>
                  </a:tcPr>
                </a:tc>
                <a:tc>
                  <a:txBody>
                    <a:bodyPr/>
                    <a:lstStyle/>
                    <a:p>
                      <a:pPr algn="l">
                        <a:defRPr sz="800" b="1">
                          <a:solidFill>
                            <a:srgbClr val="5B21B6"/>
                          </a:solidFill>
                          <a:latin typeface="Segoe UI"/>
                        </a:defRPr>
                      </a:pPr>
                      <a:r>
                        <a:t>GA</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First Connect Insuranc</a:t>
                      </a:r>
                    </a:p>
                  </a:txBody>
                  <a:tcPr anchor="ctr" marL="76200" marR="76200" marT="38100" marB="38100">
                    <a:noFill/>
                    <a:lnL w="0">
                      <a:noFill/>
                    </a:lnL>
                    <a:lnR w="0">
                      <a:noFill/>
                    </a:lnR>
                    <a:lnT w="0">
                      <a:noFill/>
                    </a:lnT>
                    <a:lnB w="0">
                      <a:noFill/>
                    </a:lnB>
                  </a:tcPr>
                </a:tc>
                <a:tc>
                  <a:txBody>
                    <a:bodyPr/>
                    <a:lstStyle/>
                    <a:p>
                      <a:pPr algn="r">
                        <a:defRPr sz="800" b="1">
                          <a:solidFill>
                            <a:srgbClr val="10B981"/>
                          </a:solidFill>
                          <a:latin typeface="Segoe UI"/>
                        </a:defRPr>
                      </a:pPr>
                      <a:r>
                        <a:t>$175,211</a:t>
                      </a:r>
                    </a:p>
                  </a:txBody>
                  <a:tcPr anchor="ctr" marL="76200" marR="76200" marT="38100" marB="38100">
                    <a:no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2D233F"/>
                          </a:solidFill>
                          <a:latin typeface="Segoe UI"/>
                        </a:defRPr>
                      </a:pPr>
                      <a:r>
                        <a:t>GUEORQUI TRANSPORT LLC</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5B21B6"/>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AMC Agents LLC</a:t>
                      </a:r>
                    </a:p>
                  </a:txBody>
                  <a:tcPr anchor="ctr" marL="76200" marR="76200" marT="38100" marB="38100">
                    <a:solidFill>
                      <a:srgbClr val="F5F3FF"/>
                    </a:solidFill>
                    <a:lnL w="0">
                      <a:noFill/>
                    </a:lnL>
                    <a:lnR w="0">
                      <a:noFill/>
                    </a:lnR>
                    <a:lnT w="0">
                      <a:noFill/>
                    </a:lnT>
                    <a:lnB w="0">
                      <a:noFill/>
                    </a:lnB>
                  </a:tcPr>
                </a:tc>
                <a:tc>
                  <a:txBody>
                    <a:bodyPr/>
                    <a:lstStyle/>
                    <a:p>
                      <a:pPr algn="r">
                        <a:defRPr sz="800" b="1">
                          <a:solidFill>
                            <a:srgbClr val="10B981"/>
                          </a:solidFill>
                          <a:latin typeface="Segoe UI"/>
                        </a:defRPr>
                      </a:pPr>
                      <a:r>
                        <a:t>$84,141</a:t>
                      </a:r>
                    </a:p>
                  </a:txBody>
                  <a:tcPr anchor="ctr" marL="76200" marR="76200" marT="38100" marB="38100">
                    <a:solidFill>
                      <a:srgbClr val="F5F3FF"/>
                    </a:solid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noFill/>
                    <a:lnL w="0">
                      <a:noFill/>
                    </a:lnL>
                    <a:lnR w="0">
                      <a:noFill/>
                    </a:lnR>
                    <a:lnT w="0">
                      <a:noFill/>
                    </a:lnT>
                    <a:lnB w="0">
                      <a:noFill/>
                    </a:lnB>
                  </a:tcPr>
                </a:tc>
                <a:tc>
                  <a:txBody>
                    <a:bodyPr/>
                    <a:lstStyle/>
                    <a:p>
                      <a:pPr algn="l">
                        <a:defRPr sz="800" b="1">
                          <a:solidFill>
                            <a:srgbClr val="2D233F"/>
                          </a:solidFill>
                          <a:latin typeface="Segoe UI"/>
                        </a:defRPr>
                      </a:pPr>
                      <a:r>
                        <a:t>T&amp;A ELITE TRANSPORT LLC</a:t>
                      </a:r>
                    </a:p>
                  </a:txBody>
                  <a:tcPr anchor="ctr" marL="76200" marR="76200" marT="38100" marB="38100">
                    <a:noFill/>
                    <a:lnL w="0">
                      <a:noFill/>
                    </a:lnL>
                    <a:lnR w="0">
                      <a:noFill/>
                    </a:lnR>
                    <a:lnT w="0">
                      <a:noFill/>
                    </a:lnT>
                    <a:lnB w="0">
                      <a:noFill/>
                    </a:lnB>
                  </a:tcPr>
                </a:tc>
                <a:tc>
                  <a:txBody>
                    <a:bodyPr/>
                    <a:lstStyle/>
                    <a:p>
                      <a:pPr algn="l">
                        <a:defRPr sz="800" b="1">
                          <a:solidFill>
                            <a:srgbClr val="5B21B6"/>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Cover Badger LLC</a:t>
                      </a:r>
                    </a:p>
                  </a:txBody>
                  <a:tcPr anchor="ctr" marL="76200" marR="76200" marT="38100" marB="38100">
                    <a:noFill/>
                    <a:lnL w="0">
                      <a:noFill/>
                    </a:lnL>
                    <a:lnR w="0">
                      <a:noFill/>
                    </a:lnR>
                    <a:lnT w="0">
                      <a:noFill/>
                    </a:lnT>
                    <a:lnB w="0">
                      <a:noFill/>
                    </a:lnB>
                  </a:tcPr>
                </a:tc>
                <a:tc>
                  <a:txBody>
                    <a:bodyPr/>
                    <a:lstStyle/>
                    <a:p>
                      <a:pPr algn="r">
                        <a:defRPr sz="800" b="1">
                          <a:solidFill>
                            <a:srgbClr val="10B981"/>
                          </a:solidFill>
                          <a:latin typeface="Segoe UI"/>
                        </a:defRPr>
                      </a:pPr>
                      <a:r>
                        <a:t>$82,935</a:t>
                      </a:r>
                    </a:p>
                  </a:txBody>
                  <a:tcPr anchor="ctr" marL="76200" marR="76200" marT="38100" marB="38100">
                    <a:no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2D233F"/>
                          </a:solidFill>
                          <a:latin typeface="Segoe UI"/>
                        </a:defRPr>
                      </a:pPr>
                      <a:r>
                        <a:t>ACD 4 LLC</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5B21B6"/>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AMC Agents LLC</a:t>
                      </a:r>
                    </a:p>
                  </a:txBody>
                  <a:tcPr anchor="ctr" marL="76200" marR="76200" marT="38100" marB="38100">
                    <a:solidFill>
                      <a:srgbClr val="F5F3FF"/>
                    </a:solidFill>
                    <a:lnL w="0">
                      <a:noFill/>
                    </a:lnL>
                    <a:lnR w="0">
                      <a:noFill/>
                    </a:lnR>
                    <a:lnT w="0">
                      <a:noFill/>
                    </a:lnT>
                    <a:lnB w="0">
                      <a:noFill/>
                    </a:lnB>
                  </a:tcPr>
                </a:tc>
                <a:tc>
                  <a:txBody>
                    <a:bodyPr/>
                    <a:lstStyle/>
                    <a:p>
                      <a:pPr algn="r">
                        <a:defRPr sz="800" b="1">
                          <a:solidFill>
                            <a:srgbClr val="10B981"/>
                          </a:solidFill>
                          <a:latin typeface="Segoe UI"/>
                        </a:defRPr>
                      </a:pPr>
                      <a:r>
                        <a:t>$46,272</a:t>
                      </a:r>
                    </a:p>
                  </a:txBody>
                  <a:tcPr anchor="ctr" marL="76200" marR="76200" marT="38100" marB="38100">
                    <a:solidFill>
                      <a:srgbClr val="F5F3FF"/>
                    </a:solid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noFill/>
                    <a:lnL w="0">
                      <a:noFill/>
                    </a:lnL>
                    <a:lnR w="0">
                      <a:noFill/>
                    </a:lnR>
                    <a:lnT w="0">
                      <a:noFill/>
                    </a:lnT>
                    <a:lnB w="0">
                      <a:noFill/>
                    </a:lnB>
                  </a:tcPr>
                </a:tc>
                <a:tc>
                  <a:txBody>
                    <a:bodyPr/>
                    <a:lstStyle/>
                    <a:p>
                      <a:pPr algn="l">
                        <a:defRPr sz="800" b="1">
                          <a:solidFill>
                            <a:srgbClr val="2D233F"/>
                          </a:solidFill>
                          <a:latin typeface="Segoe UI"/>
                        </a:defRPr>
                      </a:pPr>
                      <a:r>
                        <a:t>A&amp;A  SAWING LLC</a:t>
                      </a:r>
                    </a:p>
                  </a:txBody>
                  <a:tcPr anchor="ctr" marL="76200" marR="76200" marT="38100" marB="38100">
                    <a:noFill/>
                    <a:lnL w="0">
                      <a:noFill/>
                    </a:lnL>
                    <a:lnR w="0">
                      <a:noFill/>
                    </a:lnR>
                    <a:lnT w="0">
                      <a:noFill/>
                    </a:lnT>
                    <a:lnB w="0">
                      <a:noFill/>
                    </a:lnB>
                  </a:tcPr>
                </a:tc>
                <a:tc>
                  <a:txBody>
                    <a:bodyPr/>
                    <a:lstStyle/>
                    <a:p>
                      <a:pPr algn="l">
                        <a:defRPr sz="800" b="1">
                          <a:solidFill>
                            <a:srgbClr val="5B21B6"/>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Cover Badger LLC</a:t>
                      </a:r>
                    </a:p>
                  </a:txBody>
                  <a:tcPr anchor="ctr" marL="76200" marR="76200" marT="38100" marB="38100">
                    <a:noFill/>
                    <a:lnL w="0">
                      <a:noFill/>
                    </a:lnL>
                    <a:lnR w="0">
                      <a:noFill/>
                    </a:lnR>
                    <a:lnT w="0">
                      <a:noFill/>
                    </a:lnT>
                    <a:lnB w="0">
                      <a:noFill/>
                    </a:lnB>
                  </a:tcPr>
                </a:tc>
                <a:tc>
                  <a:txBody>
                    <a:bodyPr/>
                    <a:lstStyle/>
                    <a:p>
                      <a:pPr algn="r">
                        <a:defRPr sz="800" b="1">
                          <a:solidFill>
                            <a:srgbClr val="10B981"/>
                          </a:solidFill>
                          <a:latin typeface="Segoe UI"/>
                        </a:defRPr>
                      </a:pPr>
                      <a:r>
                        <a:t>$40,381</a:t>
                      </a:r>
                    </a:p>
                  </a:txBody>
                  <a:tcPr anchor="ctr" marL="76200" marR="76200" marT="38100" marB="38100">
                    <a:no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2D233F"/>
                          </a:solidFill>
                          <a:latin typeface="Segoe UI"/>
                        </a:defRPr>
                      </a:pPr>
                      <a:r>
                        <a:t>SACHA TRANSPORTATION INC</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5B21B6"/>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Valion Security LLC</a:t>
                      </a:r>
                    </a:p>
                  </a:txBody>
                  <a:tcPr anchor="ctr" marL="76200" marR="76200" marT="38100" marB="38100">
                    <a:solidFill>
                      <a:srgbClr val="F5F3FF"/>
                    </a:solidFill>
                    <a:lnL w="0">
                      <a:noFill/>
                    </a:lnL>
                    <a:lnR w="0">
                      <a:noFill/>
                    </a:lnR>
                    <a:lnT w="0">
                      <a:noFill/>
                    </a:lnT>
                    <a:lnB w="0">
                      <a:noFill/>
                    </a:lnB>
                  </a:tcPr>
                </a:tc>
                <a:tc>
                  <a:txBody>
                    <a:bodyPr/>
                    <a:lstStyle/>
                    <a:p>
                      <a:pPr algn="r">
                        <a:defRPr sz="800" b="1">
                          <a:solidFill>
                            <a:srgbClr val="10B981"/>
                          </a:solidFill>
                          <a:latin typeface="Segoe UI"/>
                        </a:defRPr>
                      </a:pPr>
                      <a:r>
                        <a:t>$27,288</a:t>
                      </a:r>
                    </a:p>
                  </a:txBody>
                  <a:tcPr anchor="ctr" marL="76200" marR="76200" marT="38100" marB="38100">
                    <a:solidFill>
                      <a:srgbClr val="F5F3FF"/>
                    </a:solid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noFill/>
                    <a:lnL w="0">
                      <a:noFill/>
                    </a:lnL>
                    <a:lnR w="0">
                      <a:noFill/>
                    </a:lnR>
                    <a:lnT w="0">
                      <a:noFill/>
                    </a:lnT>
                    <a:lnB w="0">
                      <a:noFill/>
                    </a:lnB>
                  </a:tcPr>
                </a:tc>
                <a:tc>
                  <a:txBody>
                    <a:bodyPr/>
                    <a:lstStyle/>
                    <a:p>
                      <a:pPr algn="l">
                        <a:defRPr sz="800" b="1">
                          <a:solidFill>
                            <a:srgbClr val="2D233F"/>
                          </a:solidFill>
                          <a:latin typeface="Segoe UI"/>
                        </a:defRPr>
                      </a:pPr>
                      <a:r>
                        <a:t>JGJ TRUCKING LLC</a:t>
                      </a:r>
                    </a:p>
                  </a:txBody>
                  <a:tcPr anchor="ctr" marL="76200" marR="76200" marT="38100" marB="38100">
                    <a:noFill/>
                    <a:lnL w="0">
                      <a:noFill/>
                    </a:lnL>
                    <a:lnR w="0">
                      <a:noFill/>
                    </a:lnR>
                    <a:lnT w="0">
                      <a:noFill/>
                    </a:lnT>
                    <a:lnB w="0">
                      <a:noFill/>
                    </a:lnB>
                  </a:tcPr>
                </a:tc>
                <a:tc>
                  <a:txBody>
                    <a:bodyPr/>
                    <a:lstStyle/>
                    <a:p>
                      <a:pPr algn="l">
                        <a:defRPr sz="800" b="1">
                          <a:solidFill>
                            <a:srgbClr val="5B21B6"/>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DNIS Inc.</a:t>
                      </a:r>
                    </a:p>
                  </a:txBody>
                  <a:tcPr anchor="ctr" marL="76200" marR="76200" marT="38100" marB="38100">
                    <a:noFill/>
                    <a:lnL w="0">
                      <a:noFill/>
                    </a:lnL>
                    <a:lnR w="0">
                      <a:noFill/>
                    </a:lnR>
                    <a:lnT w="0">
                      <a:noFill/>
                    </a:lnT>
                    <a:lnB w="0">
                      <a:noFill/>
                    </a:lnB>
                  </a:tcPr>
                </a:tc>
                <a:tc>
                  <a:txBody>
                    <a:bodyPr/>
                    <a:lstStyle/>
                    <a:p>
                      <a:pPr algn="r">
                        <a:defRPr sz="800" b="1">
                          <a:solidFill>
                            <a:srgbClr val="10B981"/>
                          </a:solidFill>
                          <a:latin typeface="Segoe UI"/>
                        </a:defRPr>
                      </a:pPr>
                      <a:r>
                        <a:t>$26,979</a:t>
                      </a:r>
                    </a:p>
                  </a:txBody>
                  <a:tcPr anchor="ctr" marL="76200" marR="76200" marT="38100" marB="38100">
                    <a:no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2D233F"/>
                          </a:solidFill>
                          <a:latin typeface="Segoe UI"/>
                        </a:defRPr>
                      </a:pPr>
                      <a:r>
                        <a:t>RS GILL INC</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5B21B6"/>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MST INSURANCE SERVICES</a:t>
                      </a:r>
                    </a:p>
                  </a:txBody>
                  <a:tcPr anchor="ctr" marL="76200" marR="76200" marT="38100" marB="38100">
                    <a:solidFill>
                      <a:srgbClr val="F5F3FF"/>
                    </a:solidFill>
                    <a:lnL w="0">
                      <a:noFill/>
                    </a:lnL>
                    <a:lnR w="0">
                      <a:noFill/>
                    </a:lnR>
                    <a:lnT w="0">
                      <a:noFill/>
                    </a:lnT>
                    <a:lnB w="0">
                      <a:noFill/>
                    </a:lnB>
                  </a:tcPr>
                </a:tc>
                <a:tc>
                  <a:txBody>
                    <a:bodyPr/>
                    <a:lstStyle/>
                    <a:p>
                      <a:pPr algn="r">
                        <a:defRPr sz="800" b="1">
                          <a:solidFill>
                            <a:srgbClr val="10B981"/>
                          </a:solidFill>
                          <a:latin typeface="Segoe UI"/>
                        </a:defRPr>
                      </a:pPr>
                      <a:r>
                        <a:t>$26,215</a:t>
                      </a:r>
                    </a:p>
                  </a:txBody>
                  <a:tcPr anchor="ctr" marL="76200" marR="76200" marT="38100" marB="38100">
                    <a:solidFill>
                      <a:srgbClr val="F5F3FF"/>
                    </a:solid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noFill/>
                    <a:lnL w="0">
                      <a:noFill/>
                    </a:lnL>
                    <a:lnR w="0">
                      <a:noFill/>
                    </a:lnR>
                    <a:lnT w="0">
                      <a:noFill/>
                    </a:lnT>
                    <a:lnB w="0">
                      <a:noFill/>
                    </a:lnB>
                  </a:tcPr>
                </a:tc>
                <a:tc>
                  <a:txBody>
                    <a:bodyPr/>
                    <a:lstStyle/>
                    <a:p>
                      <a:pPr algn="l">
                        <a:defRPr sz="800" b="1">
                          <a:solidFill>
                            <a:srgbClr val="2D233F"/>
                          </a:solidFill>
                          <a:latin typeface="Segoe UI"/>
                        </a:defRPr>
                      </a:pPr>
                      <a:r>
                        <a:t>JGJ TRUCKING LLC</a:t>
                      </a:r>
                    </a:p>
                  </a:txBody>
                  <a:tcPr anchor="ctr" marL="76200" marR="76200" marT="38100" marB="38100">
                    <a:noFill/>
                    <a:lnL w="0">
                      <a:noFill/>
                    </a:lnL>
                    <a:lnR w="0">
                      <a:noFill/>
                    </a:lnR>
                    <a:lnT w="0">
                      <a:noFill/>
                    </a:lnT>
                    <a:lnB w="0">
                      <a:noFill/>
                    </a:lnB>
                  </a:tcPr>
                </a:tc>
                <a:tc>
                  <a:txBody>
                    <a:bodyPr/>
                    <a:lstStyle/>
                    <a:p>
                      <a:pPr algn="l">
                        <a:defRPr sz="800" b="1">
                          <a:solidFill>
                            <a:srgbClr val="5B21B6"/>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DNIS Inc.</a:t>
                      </a:r>
                    </a:p>
                  </a:txBody>
                  <a:tcPr anchor="ctr" marL="76200" marR="76200" marT="38100" marB="38100">
                    <a:noFill/>
                    <a:lnL w="0">
                      <a:noFill/>
                    </a:lnL>
                    <a:lnR w="0">
                      <a:noFill/>
                    </a:lnR>
                    <a:lnT w="0">
                      <a:noFill/>
                    </a:lnT>
                    <a:lnB w="0">
                      <a:noFill/>
                    </a:lnB>
                  </a:tcPr>
                </a:tc>
                <a:tc>
                  <a:txBody>
                    <a:bodyPr/>
                    <a:lstStyle/>
                    <a:p>
                      <a:pPr algn="r">
                        <a:defRPr sz="800" b="1">
                          <a:solidFill>
                            <a:srgbClr val="10B981"/>
                          </a:solidFill>
                          <a:latin typeface="Segoe UI"/>
                        </a:defRPr>
                      </a:pPr>
                      <a:r>
                        <a:t>$26,061</a:t>
                      </a:r>
                    </a:p>
                  </a:txBody>
                  <a:tcPr anchor="ctr" marL="76200" marR="76200" marT="38100" marB="38100">
                    <a:no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2D233F"/>
                          </a:solidFill>
                          <a:latin typeface="Segoe UI"/>
                        </a:defRPr>
                      </a:pPr>
                      <a:r>
                        <a:t>EZEEMABI TRUCKING LLC</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5B21B6"/>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Cover Badger LLC</a:t>
                      </a:r>
                    </a:p>
                  </a:txBody>
                  <a:tcPr anchor="ctr" marL="76200" marR="76200" marT="38100" marB="38100">
                    <a:solidFill>
                      <a:srgbClr val="F5F3FF"/>
                    </a:solidFill>
                    <a:lnL w="0">
                      <a:noFill/>
                    </a:lnL>
                    <a:lnR w="0">
                      <a:noFill/>
                    </a:lnR>
                    <a:lnT w="0">
                      <a:noFill/>
                    </a:lnT>
                    <a:lnB w="0">
                      <a:noFill/>
                    </a:lnB>
                  </a:tcPr>
                </a:tc>
                <a:tc>
                  <a:txBody>
                    <a:bodyPr/>
                    <a:lstStyle/>
                    <a:p>
                      <a:pPr algn="r">
                        <a:defRPr sz="800" b="1">
                          <a:solidFill>
                            <a:srgbClr val="10B981"/>
                          </a:solidFill>
                          <a:latin typeface="Segoe UI"/>
                        </a:defRPr>
                      </a:pPr>
                      <a:r>
                        <a:t>$25,002</a:t>
                      </a:r>
                    </a:p>
                  </a:txBody>
                  <a:tcPr anchor="ctr" marL="76200" marR="76200" marT="38100" marB="38100">
                    <a:solidFill>
                      <a:srgbClr val="F5F3FF"/>
                    </a:solid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noFill/>
                    <a:lnL w="0">
                      <a:noFill/>
                    </a:lnL>
                    <a:lnR w="0">
                      <a:noFill/>
                    </a:lnR>
                    <a:lnT w="0">
                      <a:noFill/>
                    </a:lnT>
                    <a:lnB w="0">
                      <a:noFill/>
                    </a:lnB>
                  </a:tcPr>
                </a:tc>
                <a:tc>
                  <a:txBody>
                    <a:bodyPr/>
                    <a:lstStyle/>
                    <a:p>
                      <a:pPr algn="l">
                        <a:defRPr sz="800" b="1">
                          <a:solidFill>
                            <a:srgbClr val="2D233F"/>
                          </a:solidFill>
                          <a:latin typeface="Segoe UI"/>
                        </a:defRPr>
                      </a:pPr>
                      <a:r>
                        <a:t>Apollo Energy Services Inc.</a:t>
                      </a:r>
                    </a:p>
                  </a:txBody>
                  <a:tcPr anchor="ctr" marL="76200" marR="76200" marT="38100" marB="38100">
                    <a:noFill/>
                    <a:lnL w="0">
                      <a:noFill/>
                    </a:lnL>
                    <a:lnR w="0">
                      <a:noFill/>
                    </a:lnR>
                    <a:lnT w="0">
                      <a:noFill/>
                    </a:lnT>
                    <a:lnB w="0">
                      <a:noFill/>
                    </a:lnB>
                  </a:tcPr>
                </a:tc>
                <a:tc>
                  <a:txBody>
                    <a:bodyPr/>
                    <a:lstStyle/>
                    <a:p>
                      <a:pPr algn="l">
                        <a:defRPr sz="800" b="1">
                          <a:solidFill>
                            <a:srgbClr val="5B21B6"/>
                          </a:solidFill>
                          <a:latin typeface="Segoe UI"/>
                        </a:defRPr>
                      </a:pPr>
                      <a:r>
                        <a:t>TX</a:t>
                      </a:r>
                    </a:p>
                  </a:txBody>
                  <a:tcPr anchor="ctr" marL="76200" marR="76200" marT="38100" marB="38100">
                    <a:noFill/>
                    <a:lnL w="0">
                      <a:noFill/>
                    </a:lnL>
                    <a:lnR w="0">
                      <a:noFill/>
                    </a:lnR>
                    <a:lnT w="0">
                      <a:noFill/>
                    </a:lnT>
                    <a:lnB w="0">
                      <a:noFill/>
                    </a:lnB>
                  </a:tcPr>
                </a:tc>
                <a:tc>
                  <a:txBody>
                    <a:bodyPr/>
                    <a:lstStyle/>
                    <a:p>
                      <a:pPr algn="l">
                        <a:defRPr sz="700" b="0">
                          <a:solidFill>
                            <a:srgbClr val="6B5F83"/>
                          </a:solidFill>
                          <a:latin typeface="Segoe UI"/>
                        </a:defRPr>
                      </a:pPr>
                      <a:r>
                        <a:t>Cover Badger LLC</a:t>
                      </a:r>
                    </a:p>
                  </a:txBody>
                  <a:tcPr anchor="ctr" marL="76200" marR="76200" marT="38100" marB="38100">
                    <a:noFill/>
                    <a:lnL w="0">
                      <a:noFill/>
                    </a:lnL>
                    <a:lnR w="0">
                      <a:noFill/>
                    </a:lnR>
                    <a:lnT w="0">
                      <a:noFill/>
                    </a:lnT>
                    <a:lnB w="0">
                      <a:noFill/>
                    </a:lnB>
                  </a:tcPr>
                </a:tc>
                <a:tc>
                  <a:txBody>
                    <a:bodyPr/>
                    <a:lstStyle/>
                    <a:p>
                      <a:pPr algn="r">
                        <a:defRPr sz="800" b="1">
                          <a:solidFill>
                            <a:srgbClr val="10B981"/>
                          </a:solidFill>
                          <a:latin typeface="Segoe UI"/>
                        </a:defRPr>
                      </a:pPr>
                      <a:r>
                        <a:t>$24,528</a:t>
                      </a:r>
                    </a:p>
                  </a:txBody>
                  <a:tcPr anchor="ctr" marL="76200" marR="76200" marT="38100" marB="38100">
                    <a:noFill/>
                    <a:lnL w="0">
                      <a:noFill/>
                    </a:lnL>
                    <a:lnR w="0">
                      <a:noFill/>
                    </a:lnR>
                    <a:lnT w="0">
                      <a:noFill/>
                    </a:lnT>
                    <a:lnB w="0">
                      <a:noFill/>
                    </a:lnB>
                  </a:tcPr>
                </a:tc>
              </a:tr>
              <a:tr h="246888">
                <a:tc>
                  <a:txBody>
                    <a:bodyPr/>
                    <a:lstStyle/>
                    <a:p>
                      <a:pPr algn="l">
                        <a:defRPr sz="800" b="0">
                          <a:solidFill>
                            <a:srgbClr val="6B5F83"/>
                          </a:solidFill>
                          <a:latin typeface="Segoe UI"/>
                        </a:defRPr>
                      </a:pPr>
                      <a:r>
                        <a:t>03</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2D233F"/>
                          </a:solidFill>
                          <a:latin typeface="Segoe UI"/>
                        </a:defRPr>
                      </a:pPr>
                      <a:r>
                        <a:t>SIIRTLI LLC</a:t>
                      </a:r>
                    </a:p>
                  </a:txBody>
                  <a:tcPr anchor="ctr" marL="76200" marR="76200" marT="38100" marB="38100">
                    <a:solidFill>
                      <a:srgbClr val="F5F3FF"/>
                    </a:solidFill>
                    <a:lnL w="0">
                      <a:noFill/>
                    </a:lnL>
                    <a:lnR w="0">
                      <a:noFill/>
                    </a:lnR>
                    <a:lnT w="0">
                      <a:noFill/>
                    </a:lnT>
                    <a:lnB w="0">
                      <a:noFill/>
                    </a:lnB>
                  </a:tcPr>
                </a:tc>
                <a:tc>
                  <a:txBody>
                    <a:bodyPr/>
                    <a:lstStyle/>
                    <a:p>
                      <a:pPr algn="l">
                        <a:defRPr sz="800" b="1">
                          <a:solidFill>
                            <a:srgbClr val="5B21B6"/>
                          </a:solidFill>
                          <a:latin typeface="Segoe UI"/>
                        </a:defRPr>
                      </a:pPr>
                      <a:r>
                        <a:t>TN</a:t>
                      </a:r>
                    </a:p>
                  </a:txBody>
                  <a:tcPr anchor="ctr" marL="76200" marR="76200" marT="38100" marB="38100">
                    <a:solidFill>
                      <a:srgbClr val="F5F3FF"/>
                    </a:solidFill>
                    <a:lnL w="0">
                      <a:noFill/>
                    </a:lnL>
                    <a:lnR w="0">
                      <a:noFill/>
                    </a:lnR>
                    <a:lnT w="0">
                      <a:noFill/>
                    </a:lnT>
                    <a:lnB w="0">
                      <a:noFill/>
                    </a:lnB>
                  </a:tcPr>
                </a:tc>
                <a:tc>
                  <a:txBody>
                    <a:bodyPr/>
                    <a:lstStyle/>
                    <a:p>
                      <a:pPr algn="l">
                        <a:defRPr sz="700" b="0">
                          <a:solidFill>
                            <a:srgbClr val="6B5F83"/>
                          </a:solidFill>
                          <a:latin typeface="Segoe UI"/>
                        </a:defRPr>
                      </a:pPr>
                      <a:r>
                        <a:t>CRC Insurance Services</a:t>
                      </a:r>
                    </a:p>
                  </a:txBody>
                  <a:tcPr anchor="ctr" marL="76200" marR="76200" marT="38100" marB="38100">
                    <a:solidFill>
                      <a:srgbClr val="F5F3FF"/>
                    </a:solidFill>
                    <a:lnL w="0">
                      <a:noFill/>
                    </a:lnL>
                    <a:lnR w="0">
                      <a:noFill/>
                    </a:lnR>
                    <a:lnT w="0">
                      <a:noFill/>
                    </a:lnT>
                    <a:lnB w="0">
                      <a:noFill/>
                    </a:lnB>
                  </a:tcPr>
                </a:tc>
                <a:tc>
                  <a:txBody>
                    <a:bodyPr/>
                    <a:lstStyle/>
                    <a:p>
                      <a:pPr algn="r">
                        <a:defRPr sz="800" b="1">
                          <a:solidFill>
                            <a:srgbClr val="10B981"/>
                          </a:solidFill>
                          <a:latin typeface="Segoe UI"/>
                        </a:defRPr>
                      </a:pPr>
                      <a:r>
                        <a:t>$23,922</a:t>
                      </a:r>
                    </a:p>
                  </a:txBody>
                  <a:tcPr anchor="ctr" marL="76200" marR="76200" marT="38100" marB="38100">
                    <a:solidFill>
                      <a:srgbClr val="F5F3FF"/>
                    </a:solidFill>
                    <a:lnL w="0">
                      <a:noFill/>
                    </a:lnL>
                    <a:lnR w="0">
                      <a:noFill/>
                    </a:lnR>
                    <a:lnT w="0">
                      <a:noFill/>
                    </a:lnT>
                    <a:lnB w="0">
                      <a:noFill/>
                    </a:lnB>
                  </a:tcPr>
                </a:tc>
              </a:tr>
            </a:tbl>
          </a:graphicData>
        </a:graphic>
      </p:graphicFrame>
      <p:sp>
        <p:nvSpPr>
          <p:cNvPr id="40" name="TextBox 39"/>
          <p:cNvSpPr txBox="1"/>
          <p:nvPr/>
        </p:nvSpPr>
        <p:spPr>
          <a:xfrm>
            <a:off x="7955279" y="2606040"/>
            <a:ext cx="3657600" cy="228600"/>
          </a:xfrm>
          <a:prstGeom prst="rect">
            <a:avLst/>
          </a:prstGeom>
          <a:noFill/>
        </p:spPr>
        <p:txBody>
          <a:bodyPr wrap="square">
            <a:spAutoFit/>
          </a:bodyPr>
          <a:lstStyle/>
          <a:p>
            <a:pPr algn="l">
              <a:defRPr sz="1100" b="1" i="0">
                <a:solidFill>
                  <a:srgbClr val="5B21B6"/>
                </a:solidFill>
                <a:latin typeface="Segoe UI Semibold"/>
              </a:defRPr>
            </a:pPr>
            <a:r>
              <a:t>TOP STATES — SUBMISSIONS</a:t>
            </a:r>
          </a:p>
        </p:txBody>
      </p:sp>
      <p:sp>
        <p:nvSpPr>
          <p:cNvPr id="41" name="Rectangle 40"/>
          <p:cNvSpPr/>
          <p:nvPr/>
        </p:nvSpPr>
        <p:spPr>
          <a:xfrm>
            <a:off x="7955279" y="2852928"/>
            <a:ext cx="13716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2" name="Table 41"/>
          <p:cNvGraphicFramePr>
            <a:graphicFrameLocks noGrp="1"/>
          </p:cNvGraphicFramePr>
          <p:nvPr/>
        </p:nvGraphicFramePr>
        <p:xfrm>
          <a:off x="7863839" y="2971800"/>
          <a:ext cx="2743200" cy="1975104"/>
        </p:xfrm>
        <a:graphic>
          <a:graphicData uri="http://schemas.openxmlformats.org/drawingml/2006/table">
            <a:tbl>
              <a:tblPr firstRow="0" bandRow="0" bandCol="0" lastRow="0">
                <a:tableStyleId>{5C22544A-7EE6-4342-B048-85BDC9FD1C3A}</a:tableStyleId>
              </a:tblPr>
              <a:tblGrid>
                <a:gridCol w="548640"/>
                <a:gridCol w="1097280"/>
                <a:gridCol w="1097280"/>
              </a:tblGrid>
              <a:tr h="219456">
                <a:tc>
                  <a:txBody>
                    <a:bodyPr/>
                    <a:lstStyle/>
                    <a:p>
                      <a:pPr algn="l">
                        <a:defRPr sz="800" b="1">
                          <a:solidFill>
                            <a:srgbClr val="FFFFFF"/>
                          </a:solidFill>
                          <a:latin typeface="Segoe UI Semibold"/>
                        </a:defRPr>
                      </a:pPr>
                      <a:r>
                        <a:t>State</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Subs</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Quotes</a:t>
                      </a:r>
                    </a:p>
                  </a:txBody>
                  <a:tcPr anchor="ctr" marL="76200" marR="76200" marT="38100" marB="38100">
                    <a:solidFill>
                      <a:srgbClr val="5B21B6"/>
                    </a:solidFill>
                    <a:lnL w="0">
                      <a:noFill/>
                    </a:lnL>
                    <a:lnR w="0">
                      <a:noFill/>
                    </a:lnR>
                    <a:lnT w="0">
                      <a:noFill/>
                    </a:lnT>
                    <a:lnB w="0">
                      <a:noFill/>
                    </a:lnB>
                  </a:tcPr>
                </a:tc>
              </a:tr>
              <a:tr h="219456">
                <a:tc>
                  <a:txBody>
                    <a:bodyPr/>
                    <a:lstStyle/>
                    <a:p>
                      <a:pPr algn="l">
                        <a:defRPr sz="900" b="1">
                          <a:solidFill>
                            <a:srgbClr val="5B21B6"/>
                          </a:solidFill>
                          <a:latin typeface="Segoe UI"/>
                        </a:defRPr>
                      </a:pPr>
                      <a:r>
                        <a:t>TX</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818</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542</a:t>
                      </a:r>
                    </a:p>
                  </a:txBody>
                  <a:tcPr anchor="ctr" marL="76200" marR="76200" marT="38100" marB="38100">
                    <a:noFill/>
                    <a:lnL w="0">
                      <a:noFill/>
                    </a:lnL>
                    <a:lnR w="0">
                      <a:noFill/>
                    </a:lnR>
                    <a:lnT w="0">
                      <a:noFill/>
                    </a:lnT>
                    <a:lnB w="0">
                      <a:noFill/>
                    </a:lnB>
                  </a:tcPr>
                </a:tc>
              </a:tr>
              <a:tr h="219456">
                <a:tc>
                  <a:txBody>
                    <a:bodyPr/>
                    <a:lstStyle/>
                    <a:p>
                      <a:pPr algn="l">
                        <a:defRPr sz="900" b="1">
                          <a:solidFill>
                            <a:srgbClr val="5B21B6"/>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275</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162</a:t>
                      </a:r>
                    </a:p>
                  </a:txBody>
                  <a:tcPr anchor="ctr" marL="76200" marR="76200" marT="38100" marB="38100">
                    <a:solidFill>
                      <a:srgbClr val="F5F3FF"/>
                    </a:solidFill>
                    <a:lnL w="0">
                      <a:noFill/>
                    </a:lnL>
                    <a:lnR w="0">
                      <a:noFill/>
                    </a:lnR>
                    <a:lnT w="0">
                      <a:noFill/>
                    </a:lnT>
                    <a:lnB w="0">
                      <a:noFill/>
                    </a:lnB>
                  </a:tcPr>
                </a:tc>
              </a:tr>
              <a:tr h="219456">
                <a:tc>
                  <a:txBody>
                    <a:bodyPr/>
                    <a:lstStyle/>
                    <a:p>
                      <a:pPr algn="l">
                        <a:defRPr sz="900" b="1">
                          <a:solidFill>
                            <a:srgbClr val="5B21B6"/>
                          </a:solidFill>
                          <a:latin typeface="Segoe UI"/>
                        </a:defRPr>
                      </a:pPr>
                      <a:r>
                        <a:t>FL</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86</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3</a:t>
                      </a:r>
                    </a:p>
                  </a:txBody>
                  <a:tcPr anchor="ctr" marL="76200" marR="76200" marT="38100" marB="38100">
                    <a:noFill/>
                    <a:lnL w="0">
                      <a:noFill/>
                    </a:lnL>
                    <a:lnR w="0">
                      <a:noFill/>
                    </a:lnR>
                    <a:lnT w="0">
                      <a:noFill/>
                    </a:lnT>
                    <a:lnB w="0">
                      <a:noFill/>
                    </a:lnB>
                  </a:tcPr>
                </a:tc>
              </a:tr>
              <a:tr h="219456">
                <a:tc>
                  <a:txBody>
                    <a:bodyPr/>
                    <a:lstStyle/>
                    <a:p>
                      <a:pPr algn="l">
                        <a:defRPr sz="900" b="1">
                          <a:solidFill>
                            <a:srgbClr val="5B21B6"/>
                          </a:solidFill>
                          <a:latin typeface="Segoe UI"/>
                        </a:defRPr>
                      </a:pPr>
                      <a:r>
                        <a:t>GA</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68</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41</a:t>
                      </a:r>
                    </a:p>
                  </a:txBody>
                  <a:tcPr anchor="ctr" marL="76200" marR="76200" marT="38100" marB="38100">
                    <a:solidFill>
                      <a:srgbClr val="F5F3FF"/>
                    </a:solidFill>
                    <a:lnL w="0">
                      <a:noFill/>
                    </a:lnL>
                    <a:lnR w="0">
                      <a:noFill/>
                    </a:lnR>
                    <a:lnT w="0">
                      <a:noFill/>
                    </a:lnT>
                    <a:lnB w="0">
                      <a:noFill/>
                    </a:lnB>
                  </a:tcPr>
                </a:tc>
              </a:tr>
              <a:tr h="219456">
                <a:tc>
                  <a:txBody>
                    <a:bodyPr/>
                    <a:lstStyle/>
                    <a:p>
                      <a:pPr algn="l">
                        <a:defRPr sz="900" b="1">
                          <a:solidFill>
                            <a:srgbClr val="5B21B6"/>
                          </a:solidFill>
                          <a:latin typeface="Segoe UI"/>
                        </a:defRPr>
                      </a:pPr>
                      <a:r>
                        <a:t>NC</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30</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3</a:t>
                      </a:r>
                    </a:p>
                  </a:txBody>
                  <a:tcPr anchor="ctr" marL="76200" marR="76200" marT="38100" marB="38100">
                    <a:noFill/>
                    <a:lnL w="0">
                      <a:noFill/>
                    </a:lnL>
                    <a:lnR w="0">
                      <a:noFill/>
                    </a:lnR>
                    <a:lnT w="0">
                      <a:noFill/>
                    </a:lnT>
                    <a:lnB w="0">
                      <a:noFill/>
                    </a:lnB>
                  </a:tcPr>
                </a:tc>
              </a:tr>
              <a:tr h="219456">
                <a:tc>
                  <a:txBody>
                    <a:bodyPr/>
                    <a:lstStyle/>
                    <a:p>
                      <a:pPr algn="l">
                        <a:defRPr sz="900" b="1">
                          <a:solidFill>
                            <a:srgbClr val="5B21B6"/>
                          </a:solidFill>
                          <a:latin typeface="Segoe UI"/>
                        </a:defRPr>
                      </a:pPr>
                      <a:r>
                        <a:t>NJ</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24</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0</a:t>
                      </a:r>
                    </a:p>
                  </a:txBody>
                  <a:tcPr anchor="ctr" marL="76200" marR="76200" marT="38100" marB="38100">
                    <a:solidFill>
                      <a:srgbClr val="F5F3FF"/>
                    </a:solidFill>
                    <a:lnL w="0">
                      <a:noFill/>
                    </a:lnL>
                    <a:lnR w="0">
                      <a:noFill/>
                    </a:lnR>
                    <a:lnT w="0">
                      <a:noFill/>
                    </a:lnT>
                    <a:lnB w="0">
                      <a:noFill/>
                    </a:lnB>
                  </a:tcPr>
                </a:tc>
              </a:tr>
              <a:tr h="219456">
                <a:tc>
                  <a:txBody>
                    <a:bodyPr/>
                    <a:lstStyle/>
                    <a:p>
                      <a:pPr algn="l">
                        <a:defRPr sz="900" b="1">
                          <a:solidFill>
                            <a:srgbClr val="5B21B6"/>
                          </a:solidFill>
                          <a:latin typeface="Segoe UI"/>
                        </a:defRPr>
                      </a:pPr>
                      <a:r>
                        <a:t>NV</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20</a:t>
                      </a:r>
                    </a:p>
                  </a:txBody>
                  <a:tcPr anchor="ctr" marL="76200" marR="76200" marT="38100" marB="38100">
                    <a:noFill/>
                    <a:lnL w="0">
                      <a:noFill/>
                    </a:lnL>
                    <a:lnR w="0">
                      <a:noFill/>
                    </a:lnR>
                    <a:lnT w="0">
                      <a:noFill/>
                    </a:lnT>
                    <a:lnB w="0">
                      <a:noFill/>
                    </a:lnB>
                  </a:tcPr>
                </a:tc>
                <a:tc>
                  <a:txBody>
                    <a:bodyPr/>
                    <a:lstStyle/>
                    <a:p>
                      <a:pPr algn="r">
                        <a:defRPr sz="900" b="0">
                          <a:solidFill>
                            <a:srgbClr val="6B5F83"/>
                          </a:solidFill>
                          <a:latin typeface="Segoe UI"/>
                        </a:defRPr>
                      </a:pPr>
                      <a:r>
                        <a:t>2</a:t>
                      </a:r>
                    </a:p>
                  </a:txBody>
                  <a:tcPr anchor="ctr" marL="76200" marR="76200" marT="38100" marB="38100">
                    <a:noFill/>
                    <a:lnL w="0">
                      <a:noFill/>
                    </a:lnL>
                    <a:lnR w="0">
                      <a:noFill/>
                    </a:lnR>
                    <a:lnT w="0">
                      <a:noFill/>
                    </a:lnT>
                    <a:lnB w="0">
                      <a:noFill/>
                    </a:lnB>
                  </a:tcPr>
                </a:tc>
              </a:tr>
              <a:tr h="219456">
                <a:tc>
                  <a:txBody>
                    <a:bodyPr/>
                    <a:lstStyle/>
                    <a:p>
                      <a:pPr algn="l">
                        <a:defRPr sz="900" b="1">
                          <a:solidFill>
                            <a:srgbClr val="5B21B6"/>
                          </a:solidFill>
                          <a:latin typeface="Segoe UI"/>
                        </a:defRPr>
                      </a:pPr>
                      <a:r>
                        <a:t>MD</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20</a:t>
                      </a:r>
                    </a:p>
                  </a:txBody>
                  <a:tcPr anchor="ctr" marL="76200" marR="76200" marT="38100" marB="38100">
                    <a:solidFill>
                      <a:srgbClr val="F5F3FF"/>
                    </a:solidFill>
                    <a:lnL w="0">
                      <a:noFill/>
                    </a:lnL>
                    <a:lnR w="0">
                      <a:noFill/>
                    </a:lnR>
                    <a:lnT w="0">
                      <a:noFill/>
                    </a:lnT>
                    <a:lnB w="0">
                      <a:noFill/>
                    </a:lnB>
                  </a:tcPr>
                </a:tc>
                <a:tc>
                  <a:txBody>
                    <a:bodyPr/>
                    <a:lstStyle/>
                    <a:p>
                      <a:pPr algn="r">
                        <a:defRPr sz="900" b="0">
                          <a:solidFill>
                            <a:srgbClr val="6B5F83"/>
                          </a:solidFill>
                          <a:latin typeface="Segoe UI"/>
                        </a:defRPr>
                      </a:pPr>
                      <a:r>
                        <a:t>13</a:t>
                      </a:r>
                    </a:p>
                  </a:txBody>
                  <a:tcPr anchor="ctr" marL="76200" marR="76200" marT="38100" marB="38100">
                    <a:solidFill>
                      <a:srgbClr val="F5F3FF"/>
                    </a:solidFill>
                    <a:lnL w="0">
                      <a:noFill/>
                    </a:lnL>
                    <a:lnR w="0">
                      <a:noFill/>
                    </a:lnR>
                    <a:lnT w="0">
                      <a:noFill/>
                    </a:lnT>
                    <a:lnB w="0">
                      <a:noFill/>
                    </a:lnB>
                  </a:tcPr>
                </a:tc>
              </a:tr>
            </a:tbl>
          </a:graphicData>
        </a:graphic>
      </p:graphicFrame>
      <p:sp>
        <p:nvSpPr>
          <p:cNvPr id="43" name="TextBox 42"/>
          <p:cNvSpPr txBox="1"/>
          <p:nvPr/>
        </p:nvSpPr>
        <p:spPr>
          <a:xfrm>
            <a:off x="7955279" y="4937760"/>
            <a:ext cx="3657600" cy="228600"/>
          </a:xfrm>
          <a:prstGeom prst="rect">
            <a:avLst/>
          </a:prstGeom>
          <a:noFill/>
        </p:spPr>
        <p:txBody>
          <a:bodyPr wrap="square">
            <a:spAutoFit/>
          </a:bodyPr>
          <a:lstStyle/>
          <a:p>
            <a:pPr algn="l">
              <a:defRPr sz="1100" b="1" i="0">
                <a:solidFill>
                  <a:srgbClr val="5B21B6"/>
                </a:solidFill>
                <a:latin typeface="Segoe UI Semibold"/>
              </a:defRPr>
            </a:pPr>
            <a:r>
              <a:t>BY YEARS IN BUSINESS</a:t>
            </a:r>
          </a:p>
        </p:txBody>
      </p:sp>
      <p:sp>
        <p:nvSpPr>
          <p:cNvPr id="44" name="Rectangle 43"/>
          <p:cNvSpPr/>
          <p:nvPr/>
        </p:nvSpPr>
        <p:spPr>
          <a:xfrm>
            <a:off x="7955279" y="5184648"/>
            <a:ext cx="13716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5" name="Table 44"/>
          <p:cNvGraphicFramePr>
            <a:graphicFrameLocks noGrp="1"/>
          </p:cNvGraphicFramePr>
          <p:nvPr/>
        </p:nvGraphicFramePr>
        <p:xfrm>
          <a:off x="7863839" y="5257800"/>
          <a:ext cx="3474720" cy="1024128"/>
        </p:xfrm>
        <a:graphic>
          <a:graphicData uri="http://schemas.openxmlformats.org/drawingml/2006/table">
            <a:tbl>
              <a:tblPr firstRow="0" bandRow="0" bandCol="0" lastRow="0">
                <a:tableStyleId>{5C22544A-7EE6-4342-B048-85BDC9FD1C3A}</a:tableStyleId>
              </a:tblPr>
              <a:tblGrid>
                <a:gridCol w="1371600"/>
                <a:gridCol w="731520"/>
                <a:gridCol w="1371600"/>
              </a:tblGrid>
              <a:tr h="256032">
                <a:tc>
                  <a:txBody>
                    <a:bodyPr/>
                    <a:lstStyle/>
                    <a:p>
                      <a:pPr algn="l">
                        <a:defRPr sz="800" b="1">
                          <a:solidFill>
                            <a:srgbClr val="FFFFFF"/>
                          </a:solidFill>
                          <a:latin typeface="Segoe UI Semibold"/>
                        </a:defRPr>
                      </a:pPr>
                      <a:r>
                        <a:t>Category</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Binds</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r>
              <a:tr h="256032">
                <a:tc>
                  <a:txBody>
                    <a:bodyPr/>
                    <a:lstStyle/>
                    <a:p>
                      <a:pPr algn="l">
                        <a:defRPr sz="900" b="1">
                          <a:solidFill>
                            <a:srgbClr val="D946EF"/>
                          </a:solidFill>
                          <a:latin typeface="Segoe UI"/>
                        </a:defRPr>
                      </a:pPr>
                      <a:r>
                        <a:t>New Venture</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36</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$832,939</a:t>
                      </a:r>
                    </a:p>
                  </a:txBody>
                  <a:tcPr anchor="ctr" marL="76200" marR="76200" marT="38100" marB="38100">
                    <a:noFill/>
                    <a:lnL w="0">
                      <a:noFill/>
                    </a:lnL>
                    <a:lnR w="0">
                      <a:noFill/>
                    </a:lnR>
                    <a:lnT w="0">
                      <a:noFill/>
                    </a:lnT>
                    <a:lnB w="0">
                      <a:noFill/>
                    </a:lnB>
                  </a:tcPr>
                </a:tc>
              </a:tr>
              <a:tr h="256032">
                <a:tc>
                  <a:txBody>
                    <a:bodyPr/>
                    <a:lstStyle/>
                    <a:p>
                      <a:pPr algn="l">
                        <a:defRPr sz="900" b="1">
                          <a:solidFill>
                            <a:srgbClr val="8B5CF6"/>
                          </a:solidFill>
                          <a:latin typeface="Segoe UI"/>
                        </a:defRPr>
                      </a:pPr>
                      <a:r>
                        <a:t>1 Year</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E073B"/>
                          </a:solidFill>
                          <a:latin typeface="Segoe UI"/>
                        </a:defRPr>
                      </a:pPr>
                      <a:r>
                        <a:t>4</a:t>
                      </a:r>
                    </a:p>
                  </a:txBody>
                  <a:tcPr anchor="ctr" marL="76200" marR="76200" marT="38100" marB="38100">
                    <a:solidFill>
                      <a:srgbClr val="F5F3FF"/>
                    </a:solidFill>
                    <a:lnL w="0">
                      <a:noFill/>
                    </a:lnL>
                    <a:lnR w="0">
                      <a:noFill/>
                    </a:lnR>
                    <a:lnT w="0">
                      <a:noFill/>
                    </a:lnT>
                    <a:lnB w="0">
                      <a:noFill/>
                    </a:lnB>
                  </a:tcPr>
                </a:tc>
                <a:tc>
                  <a:txBody>
                    <a:bodyPr/>
                    <a:lstStyle/>
                    <a:p>
                      <a:pPr algn="r">
                        <a:defRPr sz="900" b="1">
                          <a:solidFill>
                            <a:srgbClr val="10B981"/>
                          </a:solidFill>
                          <a:latin typeface="Segoe UI"/>
                        </a:defRPr>
                      </a:pPr>
                      <a:r>
                        <a:t>$90,112</a:t>
                      </a:r>
                    </a:p>
                  </a:txBody>
                  <a:tcPr anchor="ctr" marL="76200" marR="76200" marT="38100" marB="38100">
                    <a:solidFill>
                      <a:srgbClr val="F5F3FF"/>
                    </a:solidFill>
                    <a:lnL w="0">
                      <a:noFill/>
                    </a:lnL>
                    <a:lnR w="0">
                      <a:noFill/>
                    </a:lnR>
                    <a:lnT w="0">
                      <a:noFill/>
                    </a:lnT>
                    <a:lnB w="0">
                      <a:noFill/>
                    </a:lnB>
                  </a:tcPr>
                </a:tc>
              </a:tr>
              <a:tr h="256032">
                <a:tc>
                  <a:txBody>
                    <a:bodyPr/>
                    <a:lstStyle/>
                    <a:p>
                      <a:pPr algn="l">
                        <a:defRPr sz="900" b="1">
                          <a:solidFill>
                            <a:srgbClr val="7C3AED"/>
                          </a:solidFill>
                          <a:latin typeface="Segoe UI"/>
                        </a:defRPr>
                      </a:pPr>
                      <a:r>
                        <a:t>2+ Years</a:t>
                      </a:r>
                    </a:p>
                  </a:txBody>
                  <a:tcPr anchor="ctr" marL="76200" marR="76200" marT="38100" marB="38100">
                    <a:noFill/>
                    <a:lnL w="0">
                      <a:noFill/>
                    </a:lnL>
                    <a:lnR w="0">
                      <a:noFill/>
                    </a:lnR>
                    <a:lnT w="0">
                      <a:noFill/>
                    </a:lnT>
                    <a:lnB w="0">
                      <a:noFill/>
                    </a:lnB>
                  </a:tcPr>
                </a:tc>
                <a:tc>
                  <a:txBody>
                    <a:bodyPr/>
                    <a:lstStyle/>
                    <a:p>
                      <a:pPr algn="r">
                        <a:defRPr sz="900" b="1">
                          <a:solidFill>
                            <a:srgbClr val="1E073B"/>
                          </a:solidFill>
                          <a:latin typeface="Segoe UI"/>
                        </a:defRPr>
                      </a:pPr>
                      <a:r>
                        <a:t>11</a:t>
                      </a:r>
                    </a:p>
                  </a:txBody>
                  <a:tcPr anchor="ctr" marL="76200" marR="76200" marT="38100" marB="38100">
                    <a:noFill/>
                    <a:lnL w="0">
                      <a:noFill/>
                    </a:lnL>
                    <a:lnR w="0">
                      <a:noFill/>
                    </a:lnR>
                    <a:lnT w="0">
                      <a:noFill/>
                    </a:lnT>
                    <a:lnB w="0">
                      <a:noFill/>
                    </a:lnB>
                  </a:tcPr>
                </a:tc>
                <a:tc>
                  <a:txBody>
                    <a:bodyPr/>
                    <a:lstStyle/>
                    <a:p>
                      <a:pPr algn="r">
                        <a:defRPr sz="900" b="1">
                          <a:solidFill>
                            <a:srgbClr val="10B981"/>
                          </a:solidFill>
                          <a:latin typeface="Segoe UI"/>
                        </a:defRPr>
                      </a:pPr>
                      <a:r>
                        <a:t>$247,579</a:t>
                      </a:r>
                    </a:p>
                  </a:txBody>
                  <a:tcPr anchor="ctr" marL="76200" marR="76200" marT="38100" marB="38100">
                    <a:noFill/>
                    <a:lnL w="0">
                      <a:noFill/>
                    </a:lnL>
                    <a:lnR w="0">
                      <a:noFill/>
                    </a:lnR>
                    <a:lnT w="0">
                      <a:noFill/>
                    </a:lnT>
                    <a:lnB w="0">
                      <a:noFill/>
                    </a:lnB>
                  </a:tcPr>
                </a:tc>
              </a:tr>
            </a:tbl>
          </a:graphicData>
        </a:graphic>
      </p:graphicFrame>
      <p:sp>
        <p:nvSpPr>
          <p:cNvPr id="46" name="Rectangle 45"/>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8" name="TextBox 47"/>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Q1 BATTLE CARD</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January  vs  February  vs  March 2026</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0040" y="1371600"/>
            <a:ext cx="3657600" cy="493776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1371600"/>
            <a:ext cx="365760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508760"/>
            <a:ext cx="3383280" cy="320040"/>
          </a:xfrm>
          <a:prstGeom prst="rect">
            <a:avLst/>
          </a:prstGeom>
          <a:noFill/>
        </p:spPr>
        <p:txBody>
          <a:bodyPr wrap="square">
            <a:spAutoFit/>
          </a:bodyPr>
          <a:lstStyle/>
          <a:p>
            <a:pPr algn="l">
              <a:defRPr sz="1800" b="1" i="0">
                <a:solidFill>
                  <a:srgbClr val="8B5CF6"/>
                </a:solidFill>
                <a:latin typeface="Segoe UI Light"/>
              </a:defRPr>
            </a:pPr>
            <a:r>
              <a:t>JANUARY</a:t>
            </a:r>
          </a:p>
        </p:txBody>
      </p:sp>
      <p:sp>
        <p:nvSpPr>
          <p:cNvPr id="14" name="TextBox 13"/>
          <p:cNvSpPr txBox="1"/>
          <p:nvPr/>
        </p:nvSpPr>
        <p:spPr>
          <a:xfrm>
            <a:off x="457200" y="1874520"/>
            <a:ext cx="3383280" cy="365760"/>
          </a:xfrm>
          <a:prstGeom prst="rect">
            <a:avLst/>
          </a:prstGeom>
          <a:noFill/>
        </p:spPr>
        <p:txBody>
          <a:bodyPr wrap="square">
            <a:spAutoFit/>
          </a:bodyPr>
          <a:lstStyle/>
          <a:p>
            <a:pPr algn="l">
              <a:defRPr sz="2800" b="1" i="0">
                <a:solidFill>
                  <a:srgbClr val="8B5CF6"/>
                </a:solidFill>
                <a:latin typeface="Segoe UI"/>
              </a:defRPr>
            </a:pPr>
            <a:r>
              <a:t>$500,726</a:t>
            </a:r>
          </a:p>
        </p:txBody>
      </p:sp>
      <p:sp>
        <p:nvSpPr>
          <p:cNvPr id="15" name="TextBox 14"/>
          <p:cNvSpPr txBox="1"/>
          <p:nvPr/>
        </p:nvSpPr>
        <p:spPr>
          <a:xfrm>
            <a:off x="457200" y="2240280"/>
            <a:ext cx="3383280" cy="182880"/>
          </a:xfrm>
          <a:prstGeom prst="rect">
            <a:avLst/>
          </a:prstGeom>
          <a:noFill/>
        </p:spPr>
        <p:txBody>
          <a:bodyPr wrap="square">
            <a:spAutoFit/>
          </a:bodyPr>
          <a:lstStyle/>
          <a:p>
            <a:pPr algn="l">
              <a:defRPr sz="900" b="0" i="0">
                <a:solidFill>
                  <a:srgbClr val="6B5F83"/>
                </a:solidFill>
                <a:latin typeface="Segoe UI"/>
              </a:defRPr>
            </a:pPr>
            <a:r>
              <a:t>13 binds  |  Avg $38,517</a:t>
            </a:r>
          </a:p>
        </p:txBody>
      </p:sp>
      <p:sp>
        <p:nvSpPr>
          <p:cNvPr id="16" name="Rectangle 15"/>
          <p:cNvSpPr/>
          <p:nvPr/>
        </p:nvSpPr>
        <p:spPr>
          <a:xfrm>
            <a:off x="457200" y="251460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2651760"/>
            <a:ext cx="1828800" cy="228600"/>
          </a:xfrm>
          <a:prstGeom prst="rect">
            <a:avLst/>
          </a:prstGeom>
          <a:noFill/>
        </p:spPr>
        <p:txBody>
          <a:bodyPr wrap="square">
            <a:spAutoFit/>
          </a:bodyPr>
          <a:lstStyle/>
          <a:p>
            <a:pPr algn="l">
              <a:defRPr sz="900" b="0" i="0">
                <a:solidFill>
                  <a:srgbClr val="9C92B5"/>
                </a:solidFill>
                <a:latin typeface="Segoe UI"/>
              </a:defRPr>
            </a:pPr>
            <a:r>
              <a:t>Submissions</a:t>
            </a:r>
          </a:p>
        </p:txBody>
      </p:sp>
      <p:sp>
        <p:nvSpPr>
          <p:cNvPr id="18" name="TextBox 17"/>
          <p:cNvSpPr txBox="1"/>
          <p:nvPr/>
        </p:nvSpPr>
        <p:spPr>
          <a:xfrm>
            <a:off x="2331720" y="2651760"/>
            <a:ext cx="1371600" cy="228600"/>
          </a:xfrm>
          <a:prstGeom prst="rect">
            <a:avLst/>
          </a:prstGeom>
          <a:noFill/>
        </p:spPr>
        <p:txBody>
          <a:bodyPr wrap="square">
            <a:spAutoFit/>
          </a:bodyPr>
          <a:lstStyle/>
          <a:p>
            <a:pPr algn="r">
              <a:defRPr sz="1100" b="1" i="0">
                <a:solidFill>
                  <a:srgbClr val="7C3AED"/>
                </a:solidFill>
                <a:latin typeface="Segoe UI"/>
              </a:defRPr>
            </a:pPr>
            <a:r>
              <a:t>911</a:t>
            </a:r>
          </a:p>
        </p:txBody>
      </p:sp>
      <p:sp>
        <p:nvSpPr>
          <p:cNvPr id="19" name="TextBox 18"/>
          <p:cNvSpPr txBox="1"/>
          <p:nvPr/>
        </p:nvSpPr>
        <p:spPr>
          <a:xfrm>
            <a:off x="502920" y="2999232"/>
            <a:ext cx="1828800" cy="228600"/>
          </a:xfrm>
          <a:prstGeom prst="rect">
            <a:avLst/>
          </a:prstGeom>
          <a:noFill/>
        </p:spPr>
        <p:txBody>
          <a:bodyPr wrap="square">
            <a:spAutoFit/>
          </a:bodyPr>
          <a:lstStyle/>
          <a:p>
            <a:pPr algn="l">
              <a:defRPr sz="900" b="0" i="0">
                <a:solidFill>
                  <a:srgbClr val="9C92B5"/>
                </a:solidFill>
                <a:latin typeface="Segoe UI"/>
              </a:defRPr>
            </a:pPr>
            <a:r>
              <a:t>Quotes</a:t>
            </a:r>
          </a:p>
        </p:txBody>
      </p:sp>
      <p:sp>
        <p:nvSpPr>
          <p:cNvPr id="20" name="TextBox 19"/>
          <p:cNvSpPr txBox="1"/>
          <p:nvPr/>
        </p:nvSpPr>
        <p:spPr>
          <a:xfrm>
            <a:off x="2331720" y="2999232"/>
            <a:ext cx="1371600" cy="228600"/>
          </a:xfrm>
          <a:prstGeom prst="rect">
            <a:avLst/>
          </a:prstGeom>
          <a:noFill/>
        </p:spPr>
        <p:txBody>
          <a:bodyPr wrap="square">
            <a:spAutoFit/>
          </a:bodyPr>
          <a:lstStyle/>
          <a:p>
            <a:pPr algn="r">
              <a:defRPr sz="1100" b="1" i="0">
                <a:solidFill>
                  <a:srgbClr val="8B5CF6"/>
                </a:solidFill>
                <a:latin typeface="Segoe UI"/>
              </a:defRPr>
            </a:pPr>
            <a:r>
              <a:t>471</a:t>
            </a:r>
          </a:p>
        </p:txBody>
      </p:sp>
      <p:sp>
        <p:nvSpPr>
          <p:cNvPr id="21" name="TextBox 20"/>
          <p:cNvSpPr txBox="1"/>
          <p:nvPr/>
        </p:nvSpPr>
        <p:spPr>
          <a:xfrm>
            <a:off x="502920" y="3346704"/>
            <a:ext cx="1828800" cy="228600"/>
          </a:xfrm>
          <a:prstGeom prst="rect">
            <a:avLst/>
          </a:prstGeom>
          <a:noFill/>
        </p:spPr>
        <p:txBody>
          <a:bodyPr wrap="square">
            <a:spAutoFit/>
          </a:bodyPr>
          <a:lstStyle/>
          <a:p>
            <a:pPr algn="l">
              <a:defRPr sz="900" b="0" i="0">
                <a:solidFill>
                  <a:srgbClr val="9C92B5"/>
                </a:solidFill>
                <a:latin typeface="Segoe UI"/>
              </a:defRPr>
            </a:pPr>
            <a:r>
              <a:t>Quote Rate</a:t>
            </a:r>
          </a:p>
        </p:txBody>
      </p:sp>
      <p:sp>
        <p:nvSpPr>
          <p:cNvPr id="22" name="TextBox 21"/>
          <p:cNvSpPr txBox="1"/>
          <p:nvPr/>
        </p:nvSpPr>
        <p:spPr>
          <a:xfrm>
            <a:off x="2331720" y="3346704"/>
            <a:ext cx="1371600" cy="228600"/>
          </a:xfrm>
          <a:prstGeom prst="rect">
            <a:avLst/>
          </a:prstGeom>
          <a:noFill/>
        </p:spPr>
        <p:txBody>
          <a:bodyPr wrap="square">
            <a:spAutoFit/>
          </a:bodyPr>
          <a:lstStyle/>
          <a:p>
            <a:pPr algn="r">
              <a:defRPr sz="1100" b="1" i="0">
                <a:solidFill>
                  <a:srgbClr val="6B5F83"/>
                </a:solidFill>
                <a:latin typeface="Segoe UI"/>
              </a:defRPr>
            </a:pPr>
            <a:r>
              <a:t>51.7%</a:t>
            </a:r>
          </a:p>
        </p:txBody>
      </p:sp>
      <p:sp>
        <p:nvSpPr>
          <p:cNvPr id="23" name="TextBox 22"/>
          <p:cNvSpPr txBox="1"/>
          <p:nvPr/>
        </p:nvSpPr>
        <p:spPr>
          <a:xfrm>
            <a:off x="502920" y="3694176"/>
            <a:ext cx="1828800" cy="228600"/>
          </a:xfrm>
          <a:prstGeom prst="rect">
            <a:avLst/>
          </a:prstGeom>
          <a:noFill/>
        </p:spPr>
        <p:txBody>
          <a:bodyPr wrap="square">
            <a:spAutoFit/>
          </a:bodyPr>
          <a:lstStyle/>
          <a:p>
            <a:pPr algn="l">
              <a:defRPr sz="900" b="0" i="0">
                <a:solidFill>
                  <a:srgbClr val="9C92B5"/>
                </a:solidFill>
                <a:latin typeface="Segoe UI"/>
              </a:defRPr>
            </a:pPr>
            <a:r>
              <a:t>Bind Rate</a:t>
            </a:r>
          </a:p>
        </p:txBody>
      </p:sp>
      <p:sp>
        <p:nvSpPr>
          <p:cNvPr id="24" name="TextBox 23"/>
          <p:cNvSpPr txBox="1"/>
          <p:nvPr/>
        </p:nvSpPr>
        <p:spPr>
          <a:xfrm>
            <a:off x="2331720" y="3694176"/>
            <a:ext cx="1371600" cy="228600"/>
          </a:xfrm>
          <a:prstGeom prst="rect">
            <a:avLst/>
          </a:prstGeom>
          <a:noFill/>
        </p:spPr>
        <p:txBody>
          <a:bodyPr wrap="square">
            <a:spAutoFit/>
          </a:bodyPr>
          <a:lstStyle/>
          <a:p>
            <a:pPr algn="r">
              <a:defRPr sz="1100" b="1" i="0">
                <a:solidFill>
                  <a:srgbClr val="6B5F83"/>
                </a:solidFill>
                <a:latin typeface="Segoe UI"/>
              </a:defRPr>
            </a:pPr>
            <a:r>
              <a:t>2.8%</a:t>
            </a:r>
          </a:p>
        </p:txBody>
      </p:sp>
      <p:sp>
        <p:nvSpPr>
          <p:cNvPr id="25" name="TextBox 24"/>
          <p:cNvSpPr txBox="1"/>
          <p:nvPr/>
        </p:nvSpPr>
        <p:spPr>
          <a:xfrm>
            <a:off x="502920" y="4041648"/>
            <a:ext cx="1828800" cy="228600"/>
          </a:xfrm>
          <a:prstGeom prst="rect">
            <a:avLst/>
          </a:prstGeom>
          <a:noFill/>
        </p:spPr>
        <p:txBody>
          <a:bodyPr wrap="square">
            <a:spAutoFit/>
          </a:bodyPr>
          <a:lstStyle/>
          <a:p>
            <a:pPr algn="l">
              <a:defRPr sz="900" b="0" i="0">
                <a:solidFill>
                  <a:srgbClr val="9C92B5"/>
                </a:solidFill>
                <a:latin typeface="Segoe UI"/>
              </a:defRPr>
            </a:pPr>
            <a:r>
              <a:t>New Business</a:t>
            </a:r>
          </a:p>
        </p:txBody>
      </p:sp>
      <p:sp>
        <p:nvSpPr>
          <p:cNvPr id="26" name="TextBox 25"/>
          <p:cNvSpPr txBox="1"/>
          <p:nvPr/>
        </p:nvSpPr>
        <p:spPr>
          <a:xfrm>
            <a:off x="2331720" y="4041648"/>
            <a:ext cx="1371600" cy="228600"/>
          </a:xfrm>
          <a:prstGeom prst="rect">
            <a:avLst/>
          </a:prstGeom>
          <a:noFill/>
        </p:spPr>
        <p:txBody>
          <a:bodyPr wrap="square">
            <a:spAutoFit/>
          </a:bodyPr>
          <a:lstStyle/>
          <a:p>
            <a:pPr algn="r">
              <a:defRPr sz="1100" b="1" i="0">
                <a:solidFill>
                  <a:srgbClr val="8B5CF6"/>
                </a:solidFill>
                <a:latin typeface="Segoe UI"/>
              </a:defRPr>
            </a:pPr>
            <a:r>
              <a:t>13</a:t>
            </a:r>
          </a:p>
        </p:txBody>
      </p:sp>
      <p:sp>
        <p:nvSpPr>
          <p:cNvPr id="27" name="TextBox 26"/>
          <p:cNvSpPr txBox="1"/>
          <p:nvPr/>
        </p:nvSpPr>
        <p:spPr>
          <a:xfrm>
            <a:off x="502920" y="4389120"/>
            <a:ext cx="1828800" cy="228600"/>
          </a:xfrm>
          <a:prstGeom prst="rect">
            <a:avLst/>
          </a:prstGeom>
          <a:noFill/>
        </p:spPr>
        <p:txBody>
          <a:bodyPr wrap="square">
            <a:spAutoFit/>
          </a:bodyPr>
          <a:lstStyle/>
          <a:p>
            <a:pPr algn="l">
              <a:defRPr sz="900" b="0" i="0">
                <a:solidFill>
                  <a:srgbClr val="9C92B5"/>
                </a:solidFill>
                <a:latin typeface="Segoe UI"/>
              </a:defRPr>
            </a:pPr>
            <a:r>
              <a:t>Renewals</a:t>
            </a:r>
          </a:p>
        </p:txBody>
      </p:sp>
      <p:sp>
        <p:nvSpPr>
          <p:cNvPr id="28" name="TextBox 27"/>
          <p:cNvSpPr txBox="1"/>
          <p:nvPr/>
        </p:nvSpPr>
        <p:spPr>
          <a:xfrm>
            <a:off x="2331720" y="4389120"/>
            <a:ext cx="1371600" cy="228600"/>
          </a:xfrm>
          <a:prstGeom prst="rect">
            <a:avLst/>
          </a:prstGeom>
          <a:noFill/>
        </p:spPr>
        <p:txBody>
          <a:bodyPr wrap="square">
            <a:spAutoFit/>
          </a:bodyPr>
          <a:lstStyle/>
          <a:p>
            <a:pPr algn="r">
              <a:defRPr sz="1100" b="1" i="0">
                <a:solidFill>
                  <a:srgbClr val="F59E0B"/>
                </a:solidFill>
                <a:latin typeface="Segoe UI"/>
              </a:defRPr>
            </a:pPr>
            <a:r>
              <a:t>0</a:t>
            </a:r>
          </a:p>
        </p:txBody>
      </p:sp>
      <p:sp>
        <p:nvSpPr>
          <p:cNvPr id="29" name="Rectangle 28"/>
          <p:cNvSpPr/>
          <p:nvPr/>
        </p:nvSpPr>
        <p:spPr>
          <a:xfrm>
            <a:off x="457200" y="475488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846320"/>
            <a:ext cx="3383280" cy="182880"/>
          </a:xfrm>
          <a:prstGeom prst="rect">
            <a:avLst/>
          </a:prstGeom>
          <a:noFill/>
        </p:spPr>
        <p:txBody>
          <a:bodyPr wrap="square">
            <a:spAutoFit/>
          </a:bodyPr>
          <a:lstStyle/>
          <a:p>
            <a:pPr algn="l">
              <a:defRPr sz="800" b="1" i="0">
                <a:solidFill>
                  <a:srgbClr val="5B21B6"/>
                </a:solidFill>
                <a:latin typeface="Segoe UI Semibold"/>
              </a:defRPr>
            </a:pPr>
            <a:r>
              <a:t>TOP STATES</a:t>
            </a:r>
          </a:p>
        </p:txBody>
      </p:sp>
      <p:sp>
        <p:nvSpPr>
          <p:cNvPr id="31" name="TextBox 30"/>
          <p:cNvSpPr txBox="1"/>
          <p:nvPr/>
        </p:nvSpPr>
        <p:spPr>
          <a:xfrm>
            <a:off x="502920" y="5074920"/>
            <a:ext cx="457200" cy="201168"/>
          </a:xfrm>
          <a:prstGeom prst="rect">
            <a:avLst/>
          </a:prstGeom>
          <a:noFill/>
        </p:spPr>
        <p:txBody>
          <a:bodyPr wrap="square">
            <a:spAutoFit/>
          </a:bodyPr>
          <a:lstStyle/>
          <a:p>
            <a:pPr algn="l">
              <a:defRPr sz="900" b="1" i="0">
                <a:solidFill>
                  <a:srgbClr val="5B21B6"/>
                </a:solidFill>
                <a:latin typeface="Segoe UI"/>
              </a:defRPr>
            </a:pPr>
            <a:r>
              <a:t>TX</a:t>
            </a:r>
          </a:p>
        </p:txBody>
      </p:sp>
      <p:sp>
        <p:nvSpPr>
          <p:cNvPr id="32" name="TextBox 31"/>
          <p:cNvSpPr txBox="1"/>
          <p:nvPr/>
        </p:nvSpPr>
        <p:spPr>
          <a:xfrm>
            <a:off x="1051560" y="5074920"/>
            <a:ext cx="914400" cy="201168"/>
          </a:xfrm>
          <a:prstGeom prst="rect">
            <a:avLst/>
          </a:prstGeom>
          <a:noFill/>
        </p:spPr>
        <p:txBody>
          <a:bodyPr wrap="square">
            <a:spAutoFit/>
          </a:bodyPr>
          <a:lstStyle/>
          <a:p>
            <a:pPr algn="l">
              <a:defRPr sz="800" b="0" i="0">
                <a:solidFill>
                  <a:srgbClr val="6B5F83"/>
                </a:solidFill>
                <a:latin typeface="Segoe UI"/>
              </a:defRPr>
            </a:pPr>
            <a:r>
              <a:t>4 binds</a:t>
            </a:r>
          </a:p>
        </p:txBody>
      </p:sp>
      <p:sp>
        <p:nvSpPr>
          <p:cNvPr id="33" name="TextBox 32"/>
          <p:cNvSpPr txBox="1"/>
          <p:nvPr/>
        </p:nvSpPr>
        <p:spPr>
          <a:xfrm>
            <a:off x="2148840" y="5074920"/>
            <a:ext cx="1554480" cy="201168"/>
          </a:xfrm>
          <a:prstGeom prst="rect">
            <a:avLst/>
          </a:prstGeom>
          <a:noFill/>
        </p:spPr>
        <p:txBody>
          <a:bodyPr wrap="square">
            <a:spAutoFit/>
          </a:bodyPr>
          <a:lstStyle/>
          <a:p>
            <a:pPr algn="r">
              <a:defRPr sz="900" b="1" i="0">
                <a:solidFill>
                  <a:srgbClr val="10B981"/>
                </a:solidFill>
                <a:latin typeface="Segoe UI"/>
              </a:defRPr>
            </a:pPr>
            <a:r>
              <a:t>$243,990</a:t>
            </a:r>
          </a:p>
        </p:txBody>
      </p:sp>
      <p:sp>
        <p:nvSpPr>
          <p:cNvPr id="34" name="TextBox 33"/>
          <p:cNvSpPr txBox="1"/>
          <p:nvPr/>
        </p:nvSpPr>
        <p:spPr>
          <a:xfrm>
            <a:off x="502920" y="5349240"/>
            <a:ext cx="457200" cy="201168"/>
          </a:xfrm>
          <a:prstGeom prst="rect">
            <a:avLst/>
          </a:prstGeom>
          <a:noFill/>
        </p:spPr>
        <p:txBody>
          <a:bodyPr wrap="square">
            <a:spAutoFit/>
          </a:bodyPr>
          <a:lstStyle/>
          <a:p>
            <a:pPr algn="l">
              <a:defRPr sz="900" b="1" i="0">
                <a:solidFill>
                  <a:srgbClr val="5B21B6"/>
                </a:solidFill>
                <a:latin typeface="Segoe UI"/>
              </a:defRPr>
            </a:pPr>
            <a:r>
              <a:t>CA</a:t>
            </a:r>
          </a:p>
        </p:txBody>
      </p:sp>
      <p:sp>
        <p:nvSpPr>
          <p:cNvPr id="35" name="TextBox 34"/>
          <p:cNvSpPr txBox="1"/>
          <p:nvPr/>
        </p:nvSpPr>
        <p:spPr>
          <a:xfrm>
            <a:off x="1051560" y="5349240"/>
            <a:ext cx="914400" cy="201168"/>
          </a:xfrm>
          <a:prstGeom prst="rect">
            <a:avLst/>
          </a:prstGeom>
          <a:noFill/>
        </p:spPr>
        <p:txBody>
          <a:bodyPr wrap="square">
            <a:spAutoFit/>
          </a:bodyPr>
          <a:lstStyle/>
          <a:p>
            <a:pPr algn="l">
              <a:defRPr sz="800" b="0" i="0">
                <a:solidFill>
                  <a:srgbClr val="6B5F83"/>
                </a:solidFill>
                <a:latin typeface="Segoe UI"/>
              </a:defRPr>
            </a:pPr>
            <a:r>
              <a:t>5 binds</a:t>
            </a:r>
          </a:p>
        </p:txBody>
      </p:sp>
      <p:sp>
        <p:nvSpPr>
          <p:cNvPr id="36" name="TextBox 35"/>
          <p:cNvSpPr txBox="1"/>
          <p:nvPr/>
        </p:nvSpPr>
        <p:spPr>
          <a:xfrm>
            <a:off x="2148840" y="5349240"/>
            <a:ext cx="1554480" cy="201168"/>
          </a:xfrm>
          <a:prstGeom prst="rect">
            <a:avLst/>
          </a:prstGeom>
          <a:noFill/>
        </p:spPr>
        <p:txBody>
          <a:bodyPr wrap="square">
            <a:spAutoFit/>
          </a:bodyPr>
          <a:lstStyle/>
          <a:p>
            <a:pPr algn="r">
              <a:defRPr sz="900" b="1" i="0">
                <a:solidFill>
                  <a:srgbClr val="10B981"/>
                </a:solidFill>
                <a:latin typeface="Segoe UI"/>
              </a:defRPr>
            </a:pPr>
            <a:r>
              <a:t>$221,144</a:t>
            </a:r>
          </a:p>
        </p:txBody>
      </p:sp>
      <p:sp>
        <p:nvSpPr>
          <p:cNvPr id="37" name="TextBox 36"/>
          <p:cNvSpPr txBox="1"/>
          <p:nvPr/>
        </p:nvSpPr>
        <p:spPr>
          <a:xfrm>
            <a:off x="502920" y="5623560"/>
            <a:ext cx="457200" cy="201168"/>
          </a:xfrm>
          <a:prstGeom prst="rect">
            <a:avLst/>
          </a:prstGeom>
          <a:noFill/>
        </p:spPr>
        <p:txBody>
          <a:bodyPr wrap="square">
            <a:spAutoFit/>
          </a:bodyPr>
          <a:lstStyle/>
          <a:p>
            <a:pPr algn="l">
              <a:defRPr sz="900" b="1" i="0">
                <a:solidFill>
                  <a:srgbClr val="5B21B6"/>
                </a:solidFill>
                <a:latin typeface="Segoe UI"/>
              </a:defRPr>
            </a:pPr>
            <a:r>
              <a:t>PA</a:t>
            </a:r>
          </a:p>
        </p:txBody>
      </p:sp>
      <p:sp>
        <p:nvSpPr>
          <p:cNvPr id="38" name="TextBox 37"/>
          <p:cNvSpPr txBox="1"/>
          <p:nvPr/>
        </p:nvSpPr>
        <p:spPr>
          <a:xfrm>
            <a:off x="1051560" y="5623560"/>
            <a:ext cx="914400" cy="201168"/>
          </a:xfrm>
          <a:prstGeom prst="rect">
            <a:avLst/>
          </a:prstGeom>
          <a:noFill/>
        </p:spPr>
        <p:txBody>
          <a:bodyPr wrap="square">
            <a:spAutoFit/>
          </a:bodyPr>
          <a:lstStyle/>
          <a:p>
            <a:pPr algn="l">
              <a:defRPr sz="800" b="0" i="0">
                <a:solidFill>
                  <a:srgbClr val="6B5F83"/>
                </a:solidFill>
                <a:latin typeface="Segoe UI"/>
              </a:defRPr>
            </a:pPr>
            <a:r>
              <a:t>1 bind</a:t>
            </a:r>
          </a:p>
        </p:txBody>
      </p:sp>
      <p:sp>
        <p:nvSpPr>
          <p:cNvPr id="39" name="TextBox 38"/>
          <p:cNvSpPr txBox="1"/>
          <p:nvPr/>
        </p:nvSpPr>
        <p:spPr>
          <a:xfrm>
            <a:off x="2148840" y="5623560"/>
            <a:ext cx="1554480" cy="201168"/>
          </a:xfrm>
          <a:prstGeom prst="rect">
            <a:avLst/>
          </a:prstGeom>
          <a:noFill/>
        </p:spPr>
        <p:txBody>
          <a:bodyPr wrap="square">
            <a:spAutoFit/>
          </a:bodyPr>
          <a:lstStyle/>
          <a:p>
            <a:pPr algn="r">
              <a:defRPr sz="900" b="1" i="0">
                <a:solidFill>
                  <a:srgbClr val="10B981"/>
                </a:solidFill>
                <a:latin typeface="Segoe UI"/>
              </a:defRPr>
            </a:pPr>
            <a:r>
              <a:t>$19,612</a:t>
            </a:r>
          </a:p>
        </p:txBody>
      </p:sp>
      <p:sp>
        <p:nvSpPr>
          <p:cNvPr id="40" name="TextBox 39"/>
          <p:cNvSpPr txBox="1"/>
          <p:nvPr/>
        </p:nvSpPr>
        <p:spPr>
          <a:xfrm>
            <a:off x="502920" y="5897880"/>
            <a:ext cx="457200" cy="201168"/>
          </a:xfrm>
          <a:prstGeom prst="rect">
            <a:avLst/>
          </a:prstGeom>
          <a:noFill/>
        </p:spPr>
        <p:txBody>
          <a:bodyPr wrap="square">
            <a:spAutoFit/>
          </a:bodyPr>
          <a:lstStyle/>
          <a:p>
            <a:pPr algn="l">
              <a:defRPr sz="900" b="1" i="0">
                <a:solidFill>
                  <a:srgbClr val="5B21B6"/>
                </a:solidFill>
                <a:latin typeface="Segoe UI"/>
              </a:defRPr>
            </a:pPr>
            <a:r>
              <a:t>SC</a:t>
            </a:r>
          </a:p>
        </p:txBody>
      </p:sp>
      <p:sp>
        <p:nvSpPr>
          <p:cNvPr id="41" name="TextBox 40"/>
          <p:cNvSpPr txBox="1"/>
          <p:nvPr/>
        </p:nvSpPr>
        <p:spPr>
          <a:xfrm>
            <a:off x="1051560" y="5897880"/>
            <a:ext cx="914400" cy="201168"/>
          </a:xfrm>
          <a:prstGeom prst="rect">
            <a:avLst/>
          </a:prstGeom>
          <a:noFill/>
        </p:spPr>
        <p:txBody>
          <a:bodyPr wrap="square">
            <a:spAutoFit/>
          </a:bodyPr>
          <a:lstStyle/>
          <a:p>
            <a:pPr algn="l">
              <a:defRPr sz="800" b="0" i="0">
                <a:solidFill>
                  <a:srgbClr val="6B5F83"/>
                </a:solidFill>
                <a:latin typeface="Segoe UI"/>
              </a:defRPr>
            </a:pPr>
            <a:r>
              <a:t>1 bind</a:t>
            </a:r>
          </a:p>
        </p:txBody>
      </p:sp>
      <p:sp>
        <p:nvSpPr>
          <p:cNvPr id="42" name="TextBox 41"/>
          <p:cNvSpPr txBox="1"/>
          <p:nvPr/>
        </p:nvSpPr>
        <p:spPr>
          <a:xfrm>
            <a:off x="2148840" y="5897880"/>
            <a:ext cx="1554480" cy="201168"/>
          </a:xfrm>
          <a:prstGeom prst="rect">
            <a:avLst/>
          </a:prstGeom>
          <a:noFill/>
        </p:spPr>
        <p:txBody>
          <a:bodyPr wrap="square">
            <a:spAutoFit/>
          </a:bodyPr>
          <a:lstStyle/>
          <a:p>
            <a:pPr algn="r">
              <a:defRPr sz="900" b="1" i="0">
                <a:solidFill>
                  <a:srgbClr val="10B981"/>
                </a:solidFill>
                <a:latin typeface="Segoe UI"/>
              </a:defRPr>
            </a:pPr>
            <a:r>
              <a:t>$14,880</a:t>
            </a:r>
          </a:p>
        </p:txBody>
      </p:sp>
      <p:sp>
        <p:nvSpPr>
          <p:cNvPr id="43" name="Rounded Rectangle 42"/>
          <p:cNvSpPr/>
          <p:nvPr/>
        </p:nvSpPr>
        <p:spPr>
          <a:xfrm>
            <a:off x="4160520" y="1371600"/>
            <a:ext cx="3657600" cy="493776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60520" y="1371600"/>
            <a:ext cx="365760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97680" y="1508760"/>
            <a:ext cx="3383280" cy="320040"/>
          </a:xfrm>
          <a:prstGeom prst="rect">
            <a:avLst/>
          </a:prstGeom>
          <a:noFill/>
        </p:spPr>
        <p:txBody>
          <a:bodyPr wrap="square">
            <a:spAutoFit/>
          </a:bodyPr>
          <a:lstStyle/>
          <a:p>
            <a:pPr algn="l">
              <a:defRPr sz="1800" b="1" i="0">
                <a:solidFill>
                  <a:srgbClr val="7C3AED"/>
                </a:solidFill>
                <a:latin typeface="Segoe UI Light"/>
              </a:defRPr>
            </a:pPr>
            <a:r>
              <a:t>FEBRUARY</a:t>
            </a:r>
          </a:p>
        </p:txBody>
      </p:sp>
      <p:sp>
        <p:nvSpPr>
          <p:cNvPr id="46" name="TextBox 45"/>
          <p:cNvSpPr txBox="1"/>
          <p:nvPr/>
        </p:nvSpPr>
        <p:spPr>
          <a:xfrm>
            <a:off x="4297680" y="1874520"/>
            <a:ext cx="3383280" cy="365760"/>
          </a:xfrm>
          <a:prstGeom prst="rect">
            <a:avLst/>
          </a:prstGeom>
          <a:noFill/>
        </p:spPr>
        <p:txBody>
          <a:bodyPr wrap="square">
            <a:spAutoFit/>
          </a:bodyPr>
          <a:lstStyle/>
          <a:p>
            <a:pPr algn="l">
              <a:defRPr sz="2800" b="1" i="0">
                <a:solidFill>
                  <a:srgbClr val="7C3AED"/>
                </a:solidFill>
                <a:latin typeface="Segoe UI"/>
              </a:defRPr>
            </a:pPr>
            <a:r>
              <a:t>$1.1M</a:t>
            </a:r>
          </a:p>
        </p:txBody>
      </p:sp>
      <p:sp>
        <p:nvSpPr>
          <p:cNvPr id="47" name="TextBox 46"/>
          <p:cNvSpPr txBox="1"/>
          <p:nvPr/>
        </p:nvSpPr>
        <p:spPr>
          <a:xfrm>
            <a:off x="4297680" y="2240280"/>
            <a:ext cx="3383280" cy="182880"/>
          </a:xfrm>
          <a:prstGeom prst="rect">
            <a:avLst/>
          </a:prstGeom>
          <a:noFill/>
        </p:spPr>
        <p:txBody>
          <a:bodyPr wrap="square">
            <a:spAutoFit/>
          </a:bodyPr>
          <a:lstStyle/>
          <a:p>
            <a:pPr algn="l">
              <a:defRPr sz="900" b="0" i="0">
                <a:solidFill>
                  <a:srgbClr val="6B5F83"/>
                </a:solidFill>
                <a:latin typeface="Segoe UI"/>
              </a:defRPr>
            </a:pPr>
            <a:r>
              <a:t>25 binds  |  Avg $42,347</a:t>
            </a:r>
          </a:p>
        </p:txBody>
      </p:sp>
      <p:sp>
        <p:nvSpPr>
          <p:cNvPr id="48" name="Rectangle 47"/>
          <p:cNvSpPr/>
          <p:nvPr/>
        </p:nvSpPr>
        <p:spPr>
          <a:xfrm>
            <a:off x="4297680" y="251460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43400" y="2651760"/>
            <a:ext cx="1828800" cy="228600"/>
          </a:xfrm>
          <a:prstGeom prst="rect">
            <a:avLst/>
          </a:prstGeom>
          <a:noFill/>
        </p:spPr>
        <p:txBody>
          <a:bodyPr wrap="square">
            <a:spAutoFit/>
          </a:bodyPr>
          <a:lstStyle/>
          <a:p>
            <a:pPr algn="l">
              <a:defRPr sz="900" b="0" i="0">
                <a:solidFill>
                  <a:srgbClr val="9C92B5"/>
                </a:solidFill>
                <a:latin typeface="Segoe UI"/>
              </a:defRPr>
            </a:pPr>
            <a:r>
              <a:t>Submissions</a:t>
            </a:r>
          </a:p>
        </p:txBody>
      </p:sp>
      <p:sp>
        <p:nvSpPr>
          <p:cNvPr id="50" name="TextBox 49"/>
          <p:cNvSpPr txBox="1"/>
          <p:nvPr/>
        </p:nvSpPr>
        <p:spPr>
          <a:xfrm>
            <a:off x="6172200" y="2651760"/>
            <a:ext cx="1371600" cy="228600"/>
          </a:xfrm>
          <a:prstGeom prst="rect">
            <a:avLst/>
          </a:prstGeom>
          <a:noFill/>
        </p:spPr>
        <p:txBody>
          <a:bodyPr wrap="square">
            <a:spAutoFit/>
          </a:bodyPr>
          <a:lstStyle/>
          <a:p>
            <a:pPr algn="r">
              <a:defRPr sz="1100" b="1" i="0">
                <a:solidFill>
                  <a:srgbClr val="7C3AED"/>
                </a:solidFill>
                <a:latin typeface="Segoe UI"/>
              </a:defRPr>
            </a:pPr>
            <a:r>
              <a:t>1,166</a:t>
            </a:r>
          </a:p>
        </p:txBody>
      </p:sp>
      <p:sp>
        <p:nvSpPr>
          <p:cNvPr id="51" name="TextBox 50"/>
          <p:cNvSpPr txBox="1"/>
          <p:nvPr/>
        </p:nvSpPr>
        <p:spPr>
          <a:xfrm>
            <a:off x="4343400" y="2999232"/>
            <a:ext cx="1828800" cy="228600"/>
          </a:xfrm>
          <a:prstGeom prst="rect">
            <a:avLst/>
          </a:prstGeom>
          <a:noFill/>
        </p:spPr>
        <p:txBody>
          <a:bodyPr wrap="square">
            <a:spAutoFit/>
          </a:bodyPr>
          <a:lstStyle/>
          <a:p>
            <a:pPr algn="l">
              <a:defRPr sz="900" b="0" i="0">
                <a:solidFill>
                  <a:srgbClr val="9C92B5"/>
                </a:solidFill>
                <a:latin typeface="Segoe UI"/>
              </a:defRPr>
            </a:pPr>
            <a:r>
              <a:t>Quotes</a:t>
            </a:r>
          </a:p>
        </p:txBody>
      </p:sp>
      <p:sp>
        <p:nvSpPr>
          <p:cNvPr id="52" name="TextBox 51"/>
          <p:cNvSpPr txBox="1"/>
          <p:nvPr/>
        </p:nvSpPr>
        <p:spPr>
          <a:xfrm>
            <a:off x="6172200" y="2999232"/>
            <a:ext cx="1371600" cy="228600"/>
          </a:xfrm>
          <a:prstGeom prst="rect">
            <a:avLst/>
          </a:prstGeom>
          <a:noFill/>
        </p:spPr>
        <p:txBody>
          <a:bodyPr wrap="square">
            <a:spAutoFit/>
          </a:bodyPr>
          <a:lstStyle/>
          <a:p>
            <a:pPr algn="r">
              <a:defRPr sz="1100" b="1" i="0">
                <a:solidFill>
                  <a:srgbClr val="8B5CF6"/>
                </a:solidFill>
                <a:latin typeface="Segoe UI"/>
              </a:defRPr>
            </a:pPr>
            <a:r>
              <a:t>589</a:t>
            </a:r>
          </a:p>
        </p:txBody>
      </p:sp>
      <p:sp>
        <p:nvSpPr>
          <p:cNvPr id="53" name="TextBox 52"/>
          <p:cNvSpPr txBox="1"/>
          <p:nvPr/>
        </p:nvSpPr>
        <p:spPr>
          <a:xfrm>
            <a:off x="4343400" y="3346704"/>
            <a:ext cx="1828800" cy="228600"/>
          </a:xfrm>
          <a:prstGeom prst="rect">
            <a:avLst/>
          </a:prstGeom>
          <a:noFill/>
        </p:spPr>
        <p:txBody>
          <a:bodyPr wrap="square">
            <a:spAutoFit/>
          </a:bodyPr>
          <a:lstStyle/>
          <a:p>
            <a:pPr algn="l">
              <a:defRPr sz="900" b="0" i="0">
                <a:solidFill>
                  <a:srgbClr val="9C92B5"/>
                </a:solidFill>
                <a:latin typeface="Segoe UI"/>
              </a:defRPr>
            </a:pPr>
            <a:r>
              <a:t>Quote Rate</a:t>
            </a:r>
          </a:p>
        </p:txBody>
      </p:sp>
      <p:sp>
        <p:nvSpPr>
          <p:cNvPr id="54" name="TextBox 53"/>
          <p:cNvSpPr txBox="1"/>
          <p:nvPr/>
        </p:nvSpPr>
        <p:spPr>
          <a:xfrm>
            <a:off x="6172200" y="3346704"/>
            <a:ext cx="1371600" cy="228600"/>
          </a:xfrm>
          <a:prstGeom prst="rect">
            <a:avLst/>
          </a:prstGeom>
          <a:noFill/>
        </p:spPr>
        <p:txBody>
          <a:bodyPr wrap="square">
            <a:spAutoFit/>
          </a:bodyPr>
          <a:lstStyle/>
          <a:p>
            <a:pPr algn="r">
              <a:defRPr sz="1100" b="1" i="0">
                <a:solidFill>
                  <a:srgbClr val="6B5F83"/>
                </a:solidFill>
                <a:latin typeface="Segoe UI"/>
              </a:defRPr>
            </a:pPr>
            <a:r>
              <a:t>50.5%</a:t>
            </a:r>
          </a:p>
        </p:txBody>
      </p:sp>
      <p:sp>
        <p:nvSpPr>
          <p:cNvPr id="55" name="TextBox 54"/>
          <p:cNvSpPr txBox="1"/>
          <p:nvPr/>
        </p:nvSpPr>
        <p:spPr>
          <a:xfrm>
            <a:off x="4343400" y="3694176"/>
            <a:ext cx="1828800" cy="228600"/>
          </a:xfrm>
          <a:prstGeom prst="rect">
            <a:avLst/>
          </a:prstGeom>
          <a:noFill/>
        </p:spPr>
        <p:txBody>
          <a:bodyPr wrap="square">
            <a:spAutoFit/>
          </a:bodyPr>
          <a:lstStyle/>
          <a:p>
            <a:pPr algn="l">
              <a:defRPr sz="900" b="0" i="0">
                <a:solidFill>
                  <a:srgbClr val="9C92B5"/>
                </a:solidFill>
                <a:latin typeface="Segoe UI"/>
              </a:defRPr>
            </a:pPr>
            <a:r>
              <a:t>Bind Rate</a:t>
            </a:r>
          </a:p>
        </p:txBody>
      </p:sp>
      <p:sp>
        <p:nvSpPr>
          <p:cNvPr id="56" name="TextBox 55"/>
          <p:cNvSpPr txBox="1"/>
          <p:nvPr/>
        </p:nvSpPr>
        <p:spPr>
          <a:xfrm>
            <a:off x="6172200" y="3694176"/>
            <a:ext cx="1371600" cy="228600"/>
          </a:xfrm>
          <a:prstGeom prst="rect">
            <a:avLst/>
          </a:prstGeom>
          <a:noFill/>
        </p:spPr>
        <p:txBody>
          <a:bodyPr wrap="square">
            <a:spAutoFit/>
          </a:bodyPr>
          <a:lstStyle/>
          <a:p>
            <a:pPr algn="r">
              <a:defRPr sz="1100" b="1" i="0">
                <a:solidFill>
                  <a:srgbClr val="6B5F83"/>
                </a:solidFill>
                <a:latin typeface="Segoe UI"/>
              </a:defRPr>
            </a:pPr>
            <a:r>
              <a:t>4.2%</a:t>
            </a:r>
          </a:p>
        </p:txBody>
      </p:sp>
      <p:sp>
        <p:nvSpPr>
          <p:cNvPr id="57" name="TextBox 56"/>
          <p:cNvSpPr txBox="1"/>
          <p:nvPr/>
        </p:nvSpPr>
        <p:spPr>
          <a:xfrm>
            <a:off x="4343400" y="4041648"/>
            <a:ext cx="1828800" cy="228600"/>
          </a:xfrm>
          <a:prstGeom prst="rect">
            <a:avLst/>
          </a:prstGeom>
          <a:noFill/>
        </p:spPr>
        <p:txBody>
          <a:bodyPr wrap="square">
            <a:spAutoFit/>
          </a:bodyPr>
          <a:lstStyle/>
          <a:p>
            <a:pPr algn="l">
              <a:defRPr sz="900" b="0" i="0">
                <a:solidFill>
                  <a:srgbClr val="9C92B5"/>
                </a:solidFill>
                <a:latin typeface="Segoe UI"/>
              </a:defRPr>
            </a:pPr>
            <a:r>
              <a:t>New Business</a:t>
            </a:r>
          </a:p>
        </p:txBody>
      </p:sp>
      <p:sp>
        <p:nvSpPr>
          <p:cNvPr id="58" name="TextBox 57"/>
          <p:cNvSpPr txBox="1"/>
          <p:nvPr/>
        </p:nvSpPr>
        <p:spPr>
          <a:xfrm>
            <a:off x="6172200" y="4041648"/>
            <a:ext cx="1371600" cy="228600"/>
          </a:xfrm>
          <a:prstGeom prst="rect">
            <a:avLst/>
          </a:prstGeom>
          <a:noFill/>
        </p:spPr>
        <p:txBody>
          <a:bodyPr wrap="square">
            <a:spAutoFit/>
          </a:bodyPr>
          <a:lstStyle/>
          <a:p>
            <a:pPr algn="r">
              <a:defRPr sz="1100" b="1" i="0">
                <a:solidFill>
                  <a:srgbClr val="8B5CF6"/>
                </a:solidFill>
                <a:latin typeface="Segoe UI"/>
              </a:defRPr>
            </a:pPr>
            <a:r>
              <a:t>22</a:t>
            </a:r>
          </a:p>
        </p:txBody>
      </p:sp>
      <p:sp>
        <p:nvSpPr>
          <p:cNvPr id="59" name="TextBox 58"/>
          <p:cNvSpPr txBox="1"/>
          <p:nvPr/>
        </p:nvSpPr>
        <p:spPr>
          <a:xfrm>
            <a:off x="4343400" y="4389120"/>
            <a:ext cx="1828800" cy="228600"/>
          </a:xfrm>
          <a:prstGeom prst="rect">
            <a:avLst/>
          </a:prstGeom>
          <a:noFill/>
        </p:spPr>
        <p:txBody>
          <a:bodyPr wrap="square">
            <a:spAutoFit/>
          </a:bodyPr>
          <a:lstStyle/>
          <a:p>
            <a:pPr algn="l">
              <a:defRPr sz="900" b="0" i="0">
                <a:solidFill>
                  <a:srgbClr val="9C92B5"/>
                </a:solidFill>
                <a:latin typeface="Segoe UI"/>
              </a:defRPr>
            </a:pPr>
            <a:r>
              <a:t>Renewals</a:t>
            </a:r>
          </a:p>
        </p:txBody>
      </p:sp>
      <p:sp>
        <p:nvSpPr>
          <p:cNvPr id="60" name="TextBox 59"/>
          <p:cNvSpPr txBox="1"/>
          <p:nvPr/>
        </p:nvSpPr>
        <p:spPr>
          <a:xfrm>
            <a:off x="6172200" y="4389120"/>
            <a:ext cx="1371600" cy="228600"/>
          </a:xfrm>
          <a:prstGeom prst="rect">
            <a:avLst/>
          </a:prstGeom>
          <a:noFill/>
        </p:spPr>
        <p:txBody>
          <a:bodyPr wrap="square">
            <a:spAutoFit/>
          </a:bodyPr>
          <a:lstStyle/>
          <a:p>
            <a:pPr algn="r">
              <a:defRPr sz="1100" b="1" i="0">
                <a:solidFill>
                  <a:srgbClr val="F59E0B"/>
                </a:solidFill>
                <a:latin typeface="Segoe UI"/>
              </a:defRPr>
            </a:pPr>
            <a:r>
              <a:t>3</a:t>
            </a:r>
          </a:p>
        </p:txBody>
      </p:sp>
      <p:sp>
        <p:nvSpPr>
          <p:cNvPr id="61" name="Rectangle 60"/>
          <p:cNvSpPr/>
          <p:nvPr/>
        </p:nvSpPr>
        <p:spPr>
          <a:xfrm>
            <a:off x="4297680" y="475488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297680" y="4846320"/>
            <a:ext cx="3383280" cy="182880"/>
          </a:xfrm>
          <a:prstGeom prst="rect">
            <a:avLst/>
          </a:prstGeom>
          <a:noFill/>
        </p:spPr>
        <p:txBody>
          <a:bodyPr wrap="square">
            <a:spAutoFit/>
          </a:bodyPr>
          <a:lstStyle/>
          <a:p>
            <a:pPr algn="l">
              <a:defRPr sz="800" b="1" i="0">
                <a:solidFill>
                  <a:srgbClr val="5B21B6"/>
                </a:solidFill>
                <a:latin typeface="Segoe UI Semibold"/>
              </a:defRPr>
            </a:pPr>
            <a:r>
              <a:t>TOP STATES</a:t>
            </a:r>
          </a:p>
        </p:txBody>
      </p:sp>
      <p:sp>
        <p:nvSpPr>
          <p:cNvPr id="63" name="TextBox 62"/>
          <p:cNvSpPr txBox="1"/>
          <p:nvPr/>
        </p:nvSpPr>
        <p:spPr>
          <a:xfrm>
            <a:off x="4343400" y="5074920"/>
            <a:ext cx="457200" cy="201168"/>
          </a:xfrm>
          <a:prstGeom prst="rect">
            <a:avLst/>
          </a:prstGeom>
          <a:noFill/>
        </p:spPr>
        <p:txBody>
          <a:bodyPr wrap="square">
            <a:spAutoFit/>
          </a:bodyPr>
          <a:lstStyle/>
          <a:p>
            <a:pPr algn="l">
              <a:defRPr sz="900" b="1" i="0">
                <a:solidFill>
                  <a:srgbClr val="5B21B6"/>
                </a:solidFill>
                <a:latin typeface="Segoe UI"/>
              </a:defRPr>
            </a:pPr>
            <a:r>
              <a:t>CA</a:t>
            </a:r>
          </a:p>
        </p:txBody>
      </p:sp>
      <p:sp>
        <p:nvSpPr>
          <p:cNvPr id="64" name="TextBox 63"/>
          <p:cNvSpPr txBox="1"/>
          <p:nvPr/>
        </p:nvSpPr>
        <p:spPr>
          <a:xfrm>
            <a:off x="4892040" y="5074920"/>
            <a:ext cx="914400" cy="201168"/>
          </a:xfrm>
          <a:prstGeom prst="rect">
            <a:avLst/>
          </a:prstGeom>
          <a:noFill/>
        </p:spPr>
        <p:txBody>
          <a:bodyPr wrap="square">
            <a:spAutoFit/>
          </a:bodyPr>
          <a:lstStyle/>
          <a:p>
            <a:pPr algn="l">
              <a:defRPr sz="800" b="0" i="0">
                <a:solidFill>
                  <a:srgbClr val="6B5F83"/>
                </a:solidFill>
                <a:latin typeface="Segoe UI"/>
              </a:defRPr>
            </a:pPr>
            <a:r>
              <a:t>9 binds</a:t>
            </a:r>
          </a:p>
        </p:txBody>
      </p:sp>
      <p:sp>
        <p:nvSpPr>
          <p:cNvPr id="65" name="TextBox 64"/>
          <p:cNvSpPr txBox="1"/>
          <p:nvPr/>
        </p:nvSpPr>
        <p:spPr>
          <a:xfrm>
            <a:off x="5989320" y="5074920"/>
            <a:ext cx="1554480" cy="201168"/>
          </a:xfrm>
          <a:prstGeom prst="rect">
            <a:avLst/>
          </a:prstGeom>
          <a:noFill/>
        </p:spPr>
        <p:txBody>
          <a:bodyPr wrap="square">
            <a:spAutoFit/>
          </a:bodyPr>
          <a:lstStyle/>
          <a:p>
            <a:pPr algn="r">
              <a:defRPr sz="900" b="1" i="0">
                <a:solidFill>
                  <a:srgbClr val="10B981"/>
                </a:solidFill>
                <a:latin typeface="Segoe UI"/>
              </a:defRPr>
            </a:pPr>
            <a:r>
              <a:t>$709,322</a:t>
            </a:r>
          </a:p>
        </p:txBody>
      </p:sp>
      <p:sp>
        <p:nvSpPr>
          <p:cNvPr id="66" name="TextBox 65"/>
          <p:cNvSpPr txBox="1"/>
          <p:nvPr/>
        </p:nvSpPr>
        <p:spPr>
          <a:xfrm>
            <a:off x="4343400" y="5349240"/>
            <a:ext cx="457200" cy="201168"/>
          </a:xfrm>
          <a:prstGeom prst="rect">
            <a:avLst/>
          </a:prstGeom>
          <a:noFill/>
        </p:spPr>
        <p:txBody>
          <a:bodyPr wrap="square">
            <a:spAutoFit/>
          </a:bodyPr>
          <a:lstStyle/>
          <a:p>
            <a:pPr algn="l">
              <a:defRPr sz="900" b="1" i="0">
                <a:solidFill>
                  <a:srgbClr val="5B21B6"/>
                </a:solidFill>
                <a:latin typeface="Segoe UI"/>
              </a:defRPr>
            </a:pPr>
            <a:r>
              <a:t>TX</a:t>
            </a:r>
          </a:p>
        </p:txBody>
      </p:sp>
      <p:sp>
        <p:nvSpPr>
          <p:cNvPr id="67" name="TextBox 66"/>
          <p:cNvSpPr txBox="1"/>
          <p:nvPr/>
        </p:nvSpPr>
        <p:spPr>
          <a:xfrm>
            <a:off x="4892040" y="5349240"/>
            <a:ext cx="914400" cy="201168"/>
          </a:xfrm>
          <a:prstGeom prst="rect">
            <a:avLst/>
          </a:prstGeom>
          <a:noFill/>
        </p:spPr>
        <p:txBody>
          <a:bodyPr wrap="square">
            <a:spAutoFit/>
          </a:bodyPr>
          <a:lstStyle/>
          <a:p>
            <a:pPr algn="l">
              <a:defRPr sz="800" b="0" i="0">
                <a:solidFill>
                  <a:srgbClr val="6B5F83"/>
                </a:solidFill>
                <a:latin typeface="Segoe UI"/>
              </a:defRPr>
            </a:pPr>
            <a:r>
              <a:t>11 binds</a:t>
            </a:r>
          </a:p>
        </p:txBody>
      </p:sp>
      <p:sp>
        <p:nvSpPr>
          <p:cNvPr id="68" name="TextBox 67"/>
          <p:cNvSpPr txBox="1"/>
          <p:nvPr/>
        </p:nvSpPr>
        <p:spPr>
          <a:xfrm>
            <a:off x="5989320" y="5349240"/>
            <a:ext cx="1554480" cy="201168"/>
          </a:xfrm>
          <a:prstGeom prst="rect">
            <a:avLst/>
          </a:prstGeom>
          <a:noFill/>
        </p:spPr>
        <p:txBody>
          <a:bodyPr wrap="square">
            <a:spAutoFit/>
          </a:bodyPr>
          <a:lstStyle/>
          <a:p>
            <a:pPr algn="r">
              <a:defRPr sz="900" b="1" i="0">
                <a:solidFill>
                  <a:srgbClr val="10B981"/>
                </a:solidFill>
                <a:latin typeface="Segoe UI"/>
              </a:defRPr>
            </a:pPr>
            <a:r>
              <a:t>$217,687</a:t>
            </a:r>
          </a:p>
        </p:txBody>
      </p:sp>
      <p:sp>
        <p:nvSpPr>
          <p:cNvPr id="69" name="TextBox 68"/>
          <p:cNvSpPr txBox="1"/>
          <p:nvPr/>
        </p:nvSpPr>
        <p:spPr>
          <a:xfrm>
            <a:off x="4343400" y="5623560"/>
            <a:ext cx="457200" cy="201168"/>
          </a:xfrm>
          <a:prstGeom prst="rect">
            <a:avLst/>
          </a:prstGeom>
          <a:noFill/>
        </p:spPr>
        <p:txBody>
          <a:bodyPr wrap="square">
            <a:spAutoFit/>
          </a:bodyPr>
          <a:lstStyle/>
          <a:p>
            <a:pPr algn="l">
              <a:defRPr sz="900" b="1" i="0">
                <a:solidFill>
                  <a:srgbClr val="5B21B6"/>
                </a:solidFill>
                <a:latin typeface="Segoe UI"/>
              </a:defRPr>
            </a:pPr>
            <a:r>
              <a:t>PA</a:t>
            </a:r>
          </a:p>
        </p:txBody>
      </p:sp>
      <p:sp>
        <p:nvSpPr>
          <p:cNvPr id="70" name="TextBox 69"/>
          <p:cNvSpPr txBox="1"/>
          <p:nvPr/>
        </p:nvSpPr>
        <p:spPr>
          <a:xfrm>
            <a:off x="4892040" y="5623560"/>
            <a:ext cx="914400" cy="201168"/>
          </a:xfrm>
          <a:prstGeom prst="rect">
            <a:avLst/>
          </a:prstGeom>
          <a:noFill/>
        </p:spPr>
        <p:txBody>
          <a:bodyPr wrap="square">
            <a:spAutoFit/>
          </a:bodyPr>
          <a:lstStyle/>
          <a:p>
            <a:pPr algn="l">
              <a:defRPr sz="800" b="0" i="0">
                <a:solidFill>
                  <a:srgbClr val="6B5F83"/>
                </a:solidFill>
                <a:latin typeface="Segoe UI"/>
              </a:defRPr>
            </a:pPr>
            <a:r>
              <a:t>2 binds</a:t>
            </a:r>
          </a:p>
        </p:txBody>
      </p:sp>
      <p:sp>
        <p:nvSpPr>
          <p:cNvPr id="71" name="TextBox 70"/>
          <p:cNvSpPr txBox="1"/>
          <p:nvPr/>
        </p:nvSpPr>
        <p:spPr>
          <a:xfrm>
            <a:off x="5989320" y="5623560"/>
            <a:ext cx="1554480" cy="201168"/>
          </a:xfrm>
          <a:prstGeom prst="rect">
            <a:avLst/>
          </a:prstGeom>
          <a:noFill/>
        </p:spPr>
        <p:txBody>
          <a:bodyPr wrap="square">
            <a:spAutoFit/>
          </a:bodyPr>
          <a:lstStyle/>
          <a:p>
            <a:pPr algn="r">
              <a:defRPr sz="900" b="1" i="0">
                <a:solidFill>
                  <a:srgbClr val="10B981"/>
                </a:solidFill>
                <a:latin typeface="Segoe UI"/>
              </a:defRPr>
            </a:pPr>
            <a:r>
              <a:t>$89,154</a:t>
            </a:r>
          </a:p>
        </p:txBody>
      </p:sp>
      <p:sp>
        <p:nvSpPr>
          <p:cNvPr id="72" name="TextBox 71"/>
          <p:cNvSpPr txBox="1"/>
          <p:nvPr/>
        </p:nvSpPr>
        <p:spPr>
          <a:xfrm>
            <a:off x="4343400" y="5897880"/>
            <a:ext cx="457200" cy="201168"/>
          </a:xfrm>
          <a:prstGeom prst="rect">
            <a:avLst/>
          </a:prstGeom>
          <a:noFill/>
        </p:spPr>
        <p:txBody>
          <a:bodyPr wrap="square">
            <a:spAutoFit/>
          </a:bodyPr>
          <a:lstStyle/>
          <a:p>
            <a:pPr algn="l">
              <a:defRPr sz="900" b="1" i="0">
                <a:solidFill>
                  <a:srgbClr val="5B21B6"/>
                </a:solidFill>
                <a:latin typeface="Segoe UI"/>
              </a:defRPr>
            </a:pPr>
            <a:r>
              <a:t>CO</a:t>
            </a:r>
          </a:p>
        </p:txBody>
      </p:sp>
      <p:sp>
        <p:nvSpPr>
          <p:cNvPr id="73" name="TextBox 72"/>
          <p:cNvSpPr txBox="1"/>
          <p:nvPr/>
        </p:nvSpPr>
        <p:spPr>
          <a:xfrm>
            <a:off x="4892040" y="5897880"/>
            <a:ext cx="914400" cy="201168"/>
          </a:xfrm>
          <a:prstGeom prst="rect">
            <a:avLst/>
          </a:prstGeom>
          <a:noFill/>
        </p:spPr>
        <p:txBody>
          <a:bodyPr wrap="square">
            <a:spAutoFit/>
          </a:bodyPr>
          <a:lstStyle/>
          <a:p>
            <a:pPr algn="l">
              <a:defRPr sz="800" b="0" i="0">
                <a:solidFill>
                  <a:srgbClr val="6B5F83"/>
                </a:solidFill>
                <a:latin typeface="Segoe UI"/>
              </a:defRPr>
            </a:pPr>
            <a:r>
              <a:t>1 bind</a:t>
            </a:r>
          </a:p>
        </p:txBody>
      </p:sp>
      <p:sp>
        <p:nvSpPr>
          <p:cNvPr id="74" name="TextBox 73"/>
          <p:cNvSpPr txBox="1"/>
          <p:nvPr/>
        </p:nvSpPr>
        <p:spPr>
          <a:xfrm>
            <a:off x="5989320" y="5897880"/>
            <a:ext cx="1554480" cy="201168"/>
          </a:xfrm>
          <a:prstGeom prst="rect">
            <a:avLst/>
          </a:prstGeom>
          <a:noFill/>
        </p:spPr>
        <p:txBody>
          <a:bodyPr wrap="square">
            <a:spAutoFit/>
          </a:bodyPr>
          <a:lstStyle/>
          <a:p>
            <a:pPr algn="r">
              <a:defRPr sz="900" b="1" i="0">
                <a:solidFill>
                  <a:srgbClr val="10B981"/>
                </a:solidFill>
                <a:latin typeface="Segoe UI"/>
              </a:defRPr>
            </a:pPr>
            <a:r>
              <a:t>$22,421</a:t>
            </a:r>
          </a:p>
        </p:txBody>
      </p:sp>
      <p:sp>
        <p:nvSpPr>
          <p:cNvPr id="75" name="Rounded Rectangle 74"/>
          <p:cNvSpPr/>
          <p:nvPr/>
        </p:nvSpPr>
        <p:spPr>
          <a:xfrm>
            <a:off x="8001000" y="1371600"/>
            <a:ext cx="3657600" cy="493776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001000" y="1371600"/>
            <a:ext cx="365760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138160" y="1508760"/>
            <a:ext cx="3383280" cy="320040"/>
          </a:xfrm>
          <a:prstGeom prst="rect">
            <a:avLst/>
          </a:prstGeom>
          <a:noFill/>
        </p:spPr>
        <p:txBody>
          <a:bodyPr wrap="square">
            <a:spAutoFit/>
          </a:bodyPr>
          <a:lstStyle/>
          <a:p>
            <a:pPr algn="l">
              <a:defRPr sz="1800" b="1" i="0">
                <a:solidFill>
                  <a:srgbClr val="10B981"/>
                </a:solidFill>
                <a:latin typeface="Segoe UI Light"/>
              </a:defRPr>
            </a:pPr>
            <a:r>
              <a:t>MARCH</a:t>
            </a:r>
          </a:p>
        </p:txBody>
      </p:sp>
      <p:sp>
        <p:nvSpPr>
          <p:cNvPr id="78" name="TextBox 77"/>
          <p:cNvSpPr txBox="1"/>
          <p:nvPr/>
        </p:nvSpPr>
        <p:spPr>
          <a:xfrm>
            <a:off x="8138160" y="1874520"/>
            <a:ext cx="3383280" cy="365760"/>
          </a:xfrm>
          <a:prstGeom prst="rect">
            <a:avLst/>
          </a:prstGeom>
          <a:noFill/>
        </p:spPr>
        <p:txBody>
          <a:bodyPr wrap="square">
            <a:spAutoFit/>
          </a:bodyPr>
          <a:lstStyle/>
          <a:p>
            <a:pPr algn="l">
              <a:defRPr sz="2800" b="1" i="0">
                <a:solidFill>
                  <a:srgbClr val="10B981"/>
                </a:solidFill>
                <a:latin typeface="Segoe UI"/>
              </a:defRPr>
            </a:pPr>
            <a:r>
              <a:t>$1.2M</a:t>
            </a:r>
          </a:p>
        </p:txBody>
      </p:sp>
      <p:sp>
        <p:nvSpPr>
          <p:cNvPr id="79" name="TextBox 78"/>
          <p:cNvSpPr txBox="1"/>
          <p:nvPr/>
        </p:nvSpPr>
        <p:spPr>
          <a:xfrm>
            <a:off x="8138160" y="2240280"/>
            <a:ext cx="3383280" cy="182880"/>
          </a:xfrm>
          <a:prstGeom prst="rect">
            <a:avLst/>
          </a:prstGeom>
          <a:noFill/>
        </p:spPr>
        <p:txBody>
          <a:bodyPr wrap="square">
            <a:spAutoFit/>
          </a:bodyPr>
          <a:lstStyle/>
          <a:p>
            <a:pPr algn="l">
              <a:defRPr sz="900" b="0" i="0">
                <a:solidFill>
                  <a:srgbClr val="6B5F83"/>
                </a:solidFill>
                <a:latin typeface="Segoe UI"/>
              </a:defRPr>
            </a:pPr>
            <a:r>
              <a:t>51 binds  |  Avg $22,954</a:t>
            </a:r>
          </a:p>
        </p:txBody>
      </p:sp>
      <p:sp>
        <p:nvSpPr>
          <p:cNvPr id="80" name="Rectangle 79"/>
          <p:cNvSpPr/>
          <p:nvPr/>
        </p:nvSpPr>
        <p:spPr>
          <a:xfrm>
            <a:off x="8138160" y="251460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183880" y="2651760"/>
            <a:ext cx="1828800" cy="228600"/>
          </a:xfrm>
          <a:prstGeom prst="rect">
            <a:avLst/>
          </a:prstGeom>
          <a:noFill/>
        </p:spPr>
        <p:txBody>
          <a:bodyPr wrap="square">
            <a:spAutoFit/>
          </a:bodyPr>
          <a:lstStyle/>
          <a:p>
            <a:pPr algn="l">
              <a:defRPr sz="900" b="0" i="0">
                <a:solidFill>
                  <a:srgbClr val="9C92B5"/>
                </a:solidFill>
                <a:latin typeface="Segoe UI"/>
              </a:defRPr>
            </a:pPr>
            <a:r>
              <a:t>Submissions</a:t>
            </a:r>
          </a:p>
        </p:txBody>
      </p:sp>
      <p:sp>
        <p:nvSpPr>
          <p:cNvPr id="82" name="TextBox 81"/>
          <p:cNvSpPr txBox="1"/>
          <p:nvPr/>
        </p:nvSpPr>
        <p:spPr>
          <a:xfrm>
            <a:off x="10012680" y="2651760"/>
            <a:ext cx="1371600" cy="228600"/>
          </a:xfrm>
          <a:prstGeom prst="rect">
            <a:avLst/>
          </a:prstGeom>
          <a:noFill/>
        </p:spPr>
        <p:txBody>
          <a:bodyPr wrap="square">
            <a:spAutoFit/>
          </a:bodyPr>
          <a:lstStyle/>
          <a:p>
            <a:pPr algn="r">
              <a:defRPr sz="1100" b="1" i="0">
                <a:solidFill>
                  <a:srgbClr val="7C3AED"/>
                </a:solidFill>
                <a:latin typeface="Segoe UI"/>
              </a:defRPr>
            </a:pPr>
            <a:r>
              <a:t>1,607</a:t>
            </a:r>
          </a:p>
        </p:txBody>
      </p:sp>
      <p:sp>
        <p:nvSpPr>
          <p:cNvPr id="83" name="TextBox 82"/>
          <p:cNvSpPr txBox="1"/>
          <p:nvPr/>
        </p:nvSpPr>
        <p:spPr>
          <a:xfrm>
            <a:off x="8183880" y="2999232"/>
            <a:ext cx="1828800" cy="228600"/>
          </a:xfrm>
          <a:prstGeom prst="rect">
            <a:avLst/>
          </a:prstGeom>
          <a:noFill/>
        </p:spPr>
        <p:txBody>
          <a:bodyPr wrap="square">
            <a:spAutoFit/>
          </a:bodyPr>
          <a:lstStyle/>
          <a:p>
            <a:pPr algn="l">
              <a:defRPr sz="900" b="0" i="0">
                <a:solidFill>
                  <a:srgbClr val="9C92B5"/>
                </a:solidFill>
                <a:latin typeface="Segoe UI"/>
              </a:defRPr>
            </a:pPr>
            <a:r>
              <a:t>Quotes</a:t>
            </a:r>
          </a:p>
        </p:txBody>
      </p:sp>
      <p:sp>
        <p:nvSpPr>
          <p:cNvPr id="84" name="TextBox 83"/>
          <p:cNvSpPr txBox="1"/>
          <p:nvPr/>
        </p:nvSpPr>
        <p:spPr>
          <a:xfrm>
            <a:off x="10012680" y="2999232"/>
            <a:ext cx="1371600" cy="228600"/>
          </a:xfrm>
          <a:prstGeom prst="rect">
            <a:avLst/>
          </a:prstGeom>
          <a:noFill/>
        </p:spPr>
        <p:txBody>
          <a:bodyPr wrap="square">
            <a:spAutoFit/>
          </a:bodyPr>
          <a:lstStyle/>
          <a:p>
            <a:pPr algn="r">
              <a:defRPr sz="1100" b="1" i="0">
                <a:solidFill>
                  <a:srgbClr val="8B5CF6"/>
                </a:solidFill>
                <a:latin typeface="Segoe UI"/>
              </a:defRPr>
            </a:pPr>
            <a:r>
              <a:t>870</a:t>
            </a:r>
          </a:p>
        </p:txBody>
      </p:sp>
      <p:sp>
        <p:nvSpPr>
          <p:cNvPr id="85" name="TextBox 84"/>
          <p:cNvSpPr txBox="1"/>
          <p:nvPr/>
        </p:nvSpPr>
        <p:spPr>
          <a:xfrm>
            <a:off x="8183880" y="3346704"/>
            <a:ext cx="1828800" cy="228600"/>
          </a:xfrm>
          <a:prstGeom prst="rect">
            <a:avLst/>
          </a:prstGeom>
          <a:noFill/>
        </p:spPr>
        <p:txBody>
          <a:bodyPr wrap="square">
            <a:spAutoFit/>
          </a:bodyPr>
          <a:lstStyle/>
          <a:p>
            <a:pPr algn="l">
              <a:defRPr sz="900" b="0" i="0">
                <a:solidFill>
                  <a:srgbClr val="9C92B5"/>
                </a:solidFill>
                <a:latin typeface="Segoe UI"/>
              </a:defRPr>
            </a:pPr>
            <a:r>
              <a:t>Quote Rate</a:t>
            </a:r>
          </a:p>
        </p:txBody>
      </p:sp>
      <p:sp>
        <p:nvSpPr>
          <p:cNvPr id="86" name="TextBox 85"/>
          <p:cNvSpPr txBox="1"/>
          <p:nvPr/>
        </p:nvSpPr>
        <p:spPr>
          <a:xfrm>
            <a:off x="10012680" y="3346704"/>
            <a:ext cx="1371600" cy="228600"/>
          </a:xfrm>
          <a:prstGeom prst="rect">
            <a:avLst/>
          </a:prstGeom>
          <a:noFill/>
        </p:spPr>
        <p:txBody>
          <a:bodyPr wrap="square">
            <a:spAutoFit/>
          </a:bodyPr>
          <a:lstStyle/>
          <a:p>
            <a:pPr algn="r">
              <a:defRPr sz="1100" b="1" i="0">
                <a:solidFill>
                  <a:srgbClr val="6B5F83"/>
                </a:solidFill>
                <a:latin typeface="Segoe UI"/>
              </a:defRPr>
            </a:pPr>
            <a:r>
              <a:t>54.1%</a:t>
            </a:r>
          </a:p>
        </p:txBody>
      </p:sp>
      <p:sp>
        <p:nvSpPr>
          <p:cNvPr id="87" name="TextBox 86"/>
          <p:cNvSpPr txBox="1"/>
          <p:nvPr/>
        </p:nvSpPr>
        <p:spPr>
          <a:xfrm>
            <a:off x="8183880" y="3694176"/>
            <a:ext cx="1828800" cy="228600"/>
          </a:xfrm>
          <a:prstGeom prst="rect">
            <a:avLst/>
          </a:prstGeom>
          <a:noFill/>
        </p:spPr>
        <p:txBody>
          <a:bodyPr wrap="square">
            <a:spAutoFit/>
          </a:bodyPr>
          <a:lstStyle/>
          <a:p>
            <a:pPr algn="l">
              <a:defRPr sz="900" b="0" i="0">
                <a:solidFill>
                  <a:srgbClr val="9C92B5"/>
                </a:solidFill>
                <a:latin typeface="Segoe UI"/>
              </a:defRPr>
            </a:pPr>
            <a:r>
              <a:t>Bind Rate</a:t>
            </a:r>
          </a:p>
        </p:txBody>
      </p:sp>
      <p:sp>
        <p:nvSpPr>
          <p:cNvPr id="88" name="TextBox 87"/>
          <p:cNvSpPr txBox="1"/>
          <p:nvPr/>
        </p:nvSpPr>
        <p:spPr>
          <a:xfrm>
            <a:off x="10012680" y="3694176"/>
            <a:ext cx="1371600" cy="228600"/>
          </a:xfrm>
          <a:prstGeom prst="rect">
            <a:avLst/>
          </a:prstGeom>
          <a:noFill/>
        </p:spPr>
        <p:txBody>
          <a:bodyPr wrap="square">
            <a:spAutoFit/>
          </a:bodyPr>
          <a:lstStyle/>
          <a:p>
            <a:pPr algn="r">
              <a:defRPr sz="1100" b="1" i="0">
                <a:solidFill>
                  <a:srgbClr val="6B5F83"/>
                </a:solidFill>
                <a:latin typeface="Segoe UI"/>
              </a:defRPr>
            </a:pPr>
            <a:r>
              <a:t>5.9%</a:t>
            </a:r>
          </a:p>
        </p:txBody>
      </p:sp>
      <p:sp>
        <p:nvSpPr>
          <p:cNvPr id="89" name="TextBox 88"/>
          <p:cNvSpPr txBox="1"/>
          <p:nvPr/>
        </p:nvSpPr>
        <p:spPr>
          <a:xfrm>
            <a:off x="8183880" y="4041648"/>
            <a:ext cx="1828800" cy="228600"/>
          </a:xfrm>
          <a:prstGeom prst="rect">
            <a:avLst/>
          </a:prstGeom>
          <a:noFill/>
        </p:spPr>
        <p:txBody>
          <a:bodyPr wrap="square">
            <a:spAutoFit/>
          </a:bodyPr>
          <a:lstStyle/>
          <a:p>
            <a:pPr algn="l">
              <a:defRPr sz="900" b="0" i="0">
                <a:solidFill>
                  <a:srgbClr val="9C92B5"/>
                </a:solidFill>
                <a:latin typeface="Segoe UI"/>
              </a:defRPr>
            </a:pPr>
            <a:r>
              <a:t>New Business</a:t>
            </a:r>
          </a:p>
        </p:txBody>
      </p:sp>
      <p:sp>
        <p:nvSpPr>
          <p:cNvPr id="90" name="TextBox 89"/>
          <p:cNvSpPr txBox="1"/>
          <p:nvPr/>
        </p:nvSpPr>
        <p:spPr>
          <a:xfrm>
            <a:off x="10012680" y="4041648"/>
            <a:ext cx="1371600" cy="228600"/>
          </a:xfrm>
          <a:prstGeom prst="rect">
            <a:avLst/>
          </a:prstGeom>
          <a:noFill/>
        </p:spPr>
        <p:txBody>
          <a:bodyPr wrap="square">
            <a:spAutoFit/>
          </a:bodyPr>
          <a:lstStyle/>
          <a:p>
            <a:pPr algn="r">
              <a:defRPr sz="1100" b="1" i="0">
                <a:solidFill>
                  <a:srgbClr val="8B5CF6"/>
                </a:solidFill>
                <a:latin typeface="Segoe UI"/>
              </a:defRPr>
            </a:pPr>
            <a:r>
              <a:t>49</a:t>
            </a:r>
          </a:p>
        </p:txBody>
      </p:sp>
      <p:sp>
        <p:nvSpPr>
          <p:cNvPr id="91" name="TextBox 90"/>
          <p:cNvSpPr txBox="1"/>
          <p:nvPr/>
        </p:nvSpPr>
        <p:spPr>
          <a:xfrm>
            <a:off x="8183880" y="4389120"/>
            <a:ext cx="1828800" cy="228600"/>
          </a:xfrm>
          <a:prstGeom prst="rect">
            <a:avLst/>
          </a:prstGeom>
          <a:noFill/>
        </p:spPr>
        <p:txBody>
          <a:bodyPr wrap="square">
            <a:spAutoFit/>
          </a:bodyPr>
          <a:lstStyle/>
          <a:p>
            <a:pPr algn="l">
              <a:defRPr sz="900" b="0" i="0">
                <a:solidFill>
                  <a:srgbClr val="9C92B5"/>
                </a:solidFill>
                <a:latin typeface="Segoe UI"/>
              </a:defRPr>
            </a:pPr>
            <a:r>
              <a:t>Renewals</a:t>
            </a:r>
          </a:p>
        </p:txBody>
      </p:sp>
      <p:sp>
        <p:nvSpPr>
          <p:cNvPr id="92" name="TextBox 91"/>
          <p:cNvSpPr txBox="1"/>
          <p:nvPr/>
        </p:nvSpPr>
        <p:spPr>
          <a:xfrm>
            <a:off x="10012680" y="4389120"/>
            <a:ext cx="1371600" cy="228600"/>
          </a:xfrm>
          <a:prstGeom prst="rect">
            <a:avLst/>
          </a:prstGeom>
          <a:noFill/>
        </p:spPr>
        <p:txBody>
          <a:bodyPr wrap="square">
            <a:spAutoFit/>
          </a:bodyPr>
          <a:lstStyle/>
          <a:p>
            <a:pPr algn="r">
              <a:defRPr sz="1100" b="1" i="0">
                <a:solidFill>
                  <a:srgbClr val="F59E0B"/>
                </a:solidFill>
                <a:latin typeface="Segoe UI"/>
              </a:defRPr>
            </a:pPr>
            <a:r>
              <a:t>2</a:t>
            </a:r>
          </a:p>
        </p:txBody>
      </p:sp>
      <p:sp>
        <p:nvSpPr>
          <p:cNvPr id="93" name="Rectangle 92"/>
          <p:cNvSpPr/>
          <p:nvPr/>
        </p:nvSpPr>
        <p:spPr>
          <a:xfrm>
            <a:off x="8138160" y="475488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8138160" y="4846320"/>
            <a:ext cx="3383280" cy="182880"/>
          </a:xfrm>
          <a:prstGeom prst="rect">
            <a:avLst/>
          </a:prstGeom>
          <a:noFill/>
        </p:spPr>
        <p:txBody>
          <a:bodyPr wrap="square">
            <a:spAutoFit/>
          </a:bodyPr>
          <a:lstStyle/>
          <a:p>
            <a:pPr algn="l">
              <a:defRPr sz="800" b="1" i="0">
                <a:solidFill>
                  <a:srgbClr val="5B21B6"/>
                </a:solidFill>
                <a:latin typeface="Segoe UI Semibold"/>
              </a:defRPr>
            </a:pPr>
            <a:r>
              <a:t>TOP STATES</a:t>
            </a:r>
          </a:p>
        </p:txBody>
      </p:sp>
      <p:sp>
        <p:nvSpPr>
          <p:cNvPr id="95" name="TextBox 94"/>
          <p:cNvSpPr txBox="1"/>
          <p:nvPr/>
        </p:nvSpPr>
        <p:spPr>
          <a:xfrm>
            <a:off x="8183880" y="5074920"/>
            <a:ext cx="457200" cy="201168"/>
          </a:xfrm>
          <a:prstGeom prst="rect">
            <a:avLst/>
          </a:prstGeom>
          <a:noFill/>
        </p:spPr>
        <p:txBody>
          <a:bodyPr wrap="square">
            <a:spAutoFit/>
          </a:bodyPr>
          <a:lstStyle/>
          <a:p>
            <a:pPr algn="l">
              <a:defRPr sz="900" b="1" i="0">
                <a:solidFill>
                  <a:srgbClr val="5B21B6"/>
                </a:solidFill>
                <a:latin typeface="Segoe UI"/>
              </a:defRPr>
            </a:pPr>
            <a:r>
              <a:t>TX</a:t>
            </a:r>
          </a:p>
        </p:txBody>
      </p:sp>
      <p:sp>
        <p:nvSpPr>
          <p:cNvPr id="96" name="TextBox 95"/>
          <p:cNvSpPr txBox="1"/>
          <p:nvPr/>
        </p:nvSpPr>
        <p:spPr>
          <a:xfrm>
            <a:off x="8732520" y="5074920"/>
            <a:ext cx="914400" cy="201168"/>
          </a:xfrm>
          <a:prstGeom prst="rect">
            <a:avLst/>
          </a:prstGeom>
          <a:noFill/>
        </p:spPr>
        <p:txBody>
          <a:bodyPr wrap="square">
            <a:spAutoFit/>
          </a:bodyPr>
          <a:lstStyle/>
          <a:p>
            <a:pPr algn="l">
              <a:defRPr sz="800" b="0" i="0">
                <a:solidFill>
                  <a:srgbClr val="6B5F83"/>
                </a:solidFill>
                <a:latin typeface="Segoe UI"/>
              </a:defRPr>
            </a:pPr>
            <a:r>
              <a:t>25 binds</a:t>
            </a:r>
          </a:p>
        </p:txBody>
      </p:sp>
      <p:sp>
        <p:nvSpPr>
          <p:cNvPr id="97" name="TextBox 96"/>
          <p:cNvSpPr txBox="1"/>
          <p:nvPr/>
        </p:nvSpPr>
        <p:spPr>
          <a:xfrm>
            <a:off x="9829800" y="5074920"/>
            <a:ext cx="1554480" cy="201168"/>
          </a:xfrm>
          <a:prstGeom prst="rect">
            <a:avLst/>
          </a:prstGeom>
          <a:noFill/>
        </p:spPr>
        <p:txBody>
          <a:bodyPr wrap="square">
            <a:spAutoFit/>
          </a:bodyPr>
          <a:lstStyle/>
          <a:p>
            <a:pPr algn="r">
              <a:defRPr sz="900" b="1" i="0">
                <a:solidFill>
                  <a:srgbClr val="10B981"/>
                </a:solidFill>
                <a:latin typeface="Segoe UI"/>
              </a:defRPr>
            </a:pPr>
            <a:r>
              <a:t>$577,911</a:t>
            </a:r>
          </a:p>
        </p:txBody>
      </p:sp>
      <p:sp>
        <p:nvSpPr>
          <p:cNvPr id="98" name="TextBox 97"/>
          <p:cNvSpPr txBox="1"/>
          <p:nvPr/>
        </p:nvSpPr>
        <p:spPr>
          <a:xfrm>
            <a:off x="8183880" y="5349240"/>
            <a:ext cx="457200" cy="201168"/>
          </a:xfrm>
          <a:prstGeom prst="rect">
            <a:avLst/>
          </a:prstGeom>
          <a:noFill/>
        </p:spPr>
        <p:txBody>
          <a:bodyPr wrap="square">
            <a:spAutoFit/>
          </a:bodyPr>
          <a:lstStyle/>
          <a:p>
            <a:pPr algn="l">
              <a:defRPr sz="900" b="1" i="0">
                <a:solidFill>
                  <a:srgbClr val="5B21B6"/>
                </a:solidFill>
                <a:latin typeface="Segoe UI"/>
              </a:defRPr>
            </a:pPr>
            <a:r>
              <a:t>GA</a:t>
            </a:r>
          </a:p>
        </p:txBody>
      </p:sp>
      <p:sp>
        <p:nvSpPr>
          <p:cNvPr id="99" name="TextBox 98"/>
          <p:cNvSpPr txBox="1"/>
          <p:nvPr/>
        </p:nvSpPr>
        <p:spPr>
          <a:xfrm>
            <a:off x="8732520" y="5349240"/>
            <a:ext cx="914400" cy="201168"/>
          </a:xfrm>
          <a:prstGeom prst="rect">
            <a:avLst/>
          </a:prstGeom>
          <a:noFill/>
        </p:spPr>
        <p:txBody>
          <a:bodyPr wrap="square">
            <a:spAutoFit/>
          </a:bodyPr>
          <a:lstStyle/>
          <a:p>
            <a:pPr algn="l">
              <a:defRPr sz="800" b="0" i="0">
                <a:solidFill>
                  <a:srgbClr val="6B5F83"/>
                </a:solidFill>
                <a:latin typeface="Segoe UI"/>
              </a:defRPr>
            </a:pPr>
            <a:r>
              <a:t>4 binds</a:t>
            </a:r>
          </a:p>
        </p:txBody>
      </p:sp>
      <p:sp>
        <p:nvSpPr>
          <p:cNvPr id="100" name="TextBox 99"/>
          <p:cNvSpPr txBox="1"/>
          <p:nvPr/>
        </p:nvSpPr>
        <p:spPr>
          <a:xfrm>
            <a:off x="9829800" y="5349240"/>
            <a:ext cx="1554480" cy="201168"/>
          </a:xfrm>
          <a:prstGeom prst="rect">
            <a:avLst/>
          </a:prstGeom>
          <a:noFill/>
        </p:spPr>
        <p:txBody>
          <a:bodyPr wrap="square">
            <a:spAutoFit/>
          </a:bodyPr>
          <a:lstStyle/>
          <a:p>
            <a:pPr algn="r">
              <a:defRPr sz="900" b="1" i="0">
                <a:solidFill>
                  <a:srgbClr val="10B981"/>
                </a:solidFill>
                <a:latin typeface="Segoe UI"/>
              </a:defRPr>
            </a:pPr>
            <a:r>
              <a:t>$238,871</a:t>
            </a:r>
          </a:p>
        </p:txBody>
      </p:sp>
      <p:sp>
        <p:nvSpPr>
          <p:cNvPr id="101" name="TextBox 100"/>
          <p:cNvSpPr txBox="1"/>
          <p:nvPr/>
        </p:nvSpPr>
        <p:spPr>
          <a:xfrm>
            <a:off x="8183880" y="5623560"/>
            <a:ext cx="457200" cy="201168"/>
          </a:xfrm>
          <a:prstGeom prst="rect">
            <a:avLst/>
          </a:prstGeom>
          <a:noFill/>
        </p:spPr>
        <p:txBody>
          <a:bodyPr wrap="square">
            <a:spAutoFit/>
          </a:bodyPr>
          <a:lstStyle/>
          <a:p>
            <a:pPr algn="l">
              <a:defRPr sz="900" b="1" i="0">
                <a:solidFill>
                  <a:srgbClr val="5B21B6"/>
                </a:solidFill>
                <a:latin typeface="Segoe UI"/>
              </a:defRPr>
            </a:pPr>
            <a:r>
              <a:t>CA</a:t>
            </a:r>
          </a:p>
        </p:txBody>
      </p:sp>
      <p:sp>
        <p:nvSpPr>
          <p:cNvPr id="102" name="TextBox 101"/>
          <p:cNvSpPr txBox="1"/>
          <p:nvPr/>
        </p:nvSpPr>
        <p:spPr>
          <a:xfrm>
            <a:off x="8732520" y="5623560"/>
            <a:ext cx="914400" cy="201168"/>
          </a:xfrm>
          <a:prstGeom prst="rect">
            <a:avLst/>
          </a:prstGeom>
          <a:noFill/>
        </p:spPr>
        <p:txBody>
          <a:bodyPr wrap="square">
            <a:spAutoFit/>
          </a:bodyPr>
          <a:lstStyle/>
          <a:p>
            <a:pPr algn="l">
              <a:defRPr sz="800" b="0" i="0">
                <a:solidFill>
                  <a:srgbClr val="6B5F83"/>
                </a:solidFill>
                <a:latin typeface="Segoe UI"/>
              </a:defRPr>
            </a:pPr>
            <a:r>
              <a:t>13 binds</a:t>
            </a:r>
          </a:p>
        </p:txBody>
      </p:sp>
      <p:sp>
        <p:nvSpPr>
          <p:cNvPr id="103" name="TextBox 102"/>
          <p:cNvSpPr txBox="1"/>
          <p:nvPr/>
        </p:nvSpPr>
        <p:spPr>
          <a:xfrm>
            <a:off x="9829800" y="5623560"/>
            <a:ext cx="1554480" cy="201168"/>
          </a:xfrm>
          <a:prstGeom prst="rect">
            <a:avLst/>
          </a:prstGeom>
          <a:noFill/>
        </p:spPr>
        <p:txBody>
          <a:bodyPr wrap="square">
            <a:spAutoFit/>
          </a:bodyPr>
          <a:lstStyle/>
          <a:p>
            <a:pPr algn="r">
              <a:defRPr sz="900" b="1" i="0">
                <a:solidFill>
                  <a:srgbClr val="10B981"/>
                </a:solidFill>
                <a:latin typeface="Segoe UI"/>
              </a:defRPr>
            </a:pPr>
            <a:r>
              <a:t>$231,579</a:t>
            </a:r>
          </a:p>
        </p:txBody>
      </p:sp>
      <p:sp>
        <p:nvSpPr>
          <p:cNvPr id="104" name="TextBox 103"/>
          <p:cNvSpPr txBox="1"/>
          <p:nvPr/>
        </p:nvSpPr>
        <p:spPr>
          <a:xfrm>
            <a:off x="8183880" y="5897880"/>
            <a:ext cx="457200" cy="201168"/>
          </a:xfrm>
          <a:prstGeom prst="rect">
            <a:avLst/>
          </a:prstGeom>
          <a:noFill/>
        </p:spPr>
        <p:txBody>
          <a:bodyPr wrap="square">
            <a:spAutoFit/>
          </a:bodyPr>
          <a:lstStyle/>
          <a:p>
            <a:pPr algn="l">
              <a:defRPr sz="900" b="1" i="0">
                <a:solidFill>
                  <a:srgbClr val="5B21B6"/>
                </a:solidFill>
                <a:latin typeface="Segoe UI"/>
              </a:defRPr>
            </a:pPr>
            <a:r>
              <a:t>VA</a:t>
            </a:r>
          </a:p>
        </p:txBody>
      </p:sp>
      <p:sp>
        <p:nvSpPr>
          <p:cNvPr id="105" name="TextBox 104"/>
          <p:cNvSpPr txBox="1"/>
          <p:nvPr/>
        </p:nvSpPr>
        <p:spPr>
          <a:xfrm>
            <a:off x="8732520" y="5897880"/>
            <a:ext cx="914400" cy="201168"/>
          </a:xfrm>
          <a:prstGeom prst="rect">
            <a:avLst/>
          </a:prstGeom>
          <a:noFill/>
        </p:spPr>
        <p:txBody>
          <a:bodyPr wrap="square">
            <a:spAutoFit/>
          </a:bodyPr>
          <a:lstStyle/>
          <a:p>
            <a:pPr algn="l">
              <a:defRPr sz="800" b="0" i="0">
                <a:solidFill>
                  <a:srgbClr val="6B5F83"/>
                </a:solidFill>
                <a:latin typeface="Segoe UI"/>
              </a:defRPr>
            </a:pPr>
            <a:r>
              <a:t>2 binds</a:t>
            </a:r>
          </a:p>
        </p:txBody>
      </p:sp>
      <p:sp>
        <p:nvSpPr>
          <p:cNvPr id="106" name="TextBox 105"/>
          <p:cNvSpPr txBox="1"/>
          <p:nvPr/>
        </p:nvSpPr>
        <p:spPr>
          <a:xfrm>
            <a:off x="9829800" y="5897880"/>
            <a:ext cx="1554480" cy="201168"/>
          </a:xfrm>
          <a:prstGeom prst="rect">
            <a:avLst/>
          </a:prstGeom>
          <a:noFill/>
        </p:spPr>
        <p:txBody>
          <a:bodyPr wrap="square">
            <a:spAutoFit/>
          </a:bodyPr>
          <a:lstStyle/>
          <a:p>
            <a:pPr algn="r">
              <a:defRPr sz="900" b="1" i="0">
                <a:solidFill>
                  <a:srgbClr val="10B981"/>
                </a:solidFill>
                <a:latin typeface="Segoe UI"/>
              </a:defRPr>
            </a:pPr>
            <a:r>
              <a:t>$30,784</a:t>
            </a:r>
          </a:p>
        </p:txBody>
      </p:sp>
      <p:sp>
        <p:nvSpPr>
          <p:cNvPr id="107" name="Rectangle 106"/>
          <p:cNvSpPr/>
          <p:nvPr/>
        </p:nvSpPr>
        <p:spPr>
          <a:xfrm>
            <a:off x="320040" y="6400800"/>
            <a:ext cx="11521440"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110" name="TextBox 109"/>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YEARS IN BUSINESS</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New Ventures vs Established  |  2026 YTD</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0040" y="1371600"/>
            <a:ext cx="3657600" cy="493776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1371600"/>
            <a:ext cx="3657600" cy="54864"/>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508760"/>
            <a:ext cx="3291840" cy="274320"/>
          </a:xfrm>
          <a:prstGeom prst="rect">
            <a:avLst/>
          </a:prstGeom>
          <a:noFill/>
        </p:spPr>
        <p:txBody>
          <a:bodyPr wrap="square">
            <a:spAutoFit/>
          </a:bodyPr>
          <a:lstStyle/>
          <a:p>
            <a:pPr algn="l">
              <a:defRPr sz="1600" b="1" i="0">
                <a:solidFill>
                  <a:srgbClr val="D946EF"/>
                </a:solidFill>
                <a:latin typeface="Segoe UI Light"/>
              </a:defRPr>
            </a:pPr>
            <a:r>
              <a:t>NEW VENTURE</a:t>
            </a:r>
          </a:p>
        </p:txBody>
      </p:sp>
      <p:sp>
        <p:nvSpPr>
          <p:cNvPr id="14" name="TextBox 13"/>
          <p:cNvSpPr txBox="1"/>
          <p:nvPr/>
        </p:nvSpPr>
        <p:spPr>
          <a:xfrm>
            <a:off x="502920" y="1783080"/>
            <a:ext cx="3291840" cy="182880"/>
          </a:xfrm>
          <a:prstGeom prst="rect">
            <a:avLst/>
          </a:prstGeom>
          <a:noFill/>
        </p:spPr>
        <p:txBody>
          <a:bodyPr wrap="square">
            <a:spAutoFit/>
          </a:bodyPr>
          <a:lstStyle/>
          <a:p>
            <a:pPr algn="l">
              <a:defRPr sz="900" b="0" i="0">
                <a:solidFill>
                  <a:srgbClr val="9C92B5"/>
                </a:solidFill>
                <a:latin typeface="Segoe UI"/>
              </a:defRPr>
            </a:pPr>
            <a:r>
              <a:t>0 Years in Business</a:t>
            </a:r>
          </a:p>
        </p:txBody>
      </p:sp>
      <p:sp>
        <p:nvSpPr>
          <p:cNvPr id="15" name="TextBox 14"/>
          <p:cNvSpPr txBox="1"/>
          <p:nvPr/>
        </p:nvSpPr>
        <p:spPr>
          <a:xfrm>
            <a:off x="502920" y="2057400"/>
            <a:ext cx="3291840" cy="411480"/>
          </a:xfrm>
          <a:prstGeom prst="rect">
            <a:avLst/>
          </a:prstGeom>
          <a:noFill/>
        </p:spPr>
        <p:txBody>
          <a:bodyPr wrap="square">
            <a:spAutoFit/>
          </a:bodyPr>
          <a:lstStyle/>
          <a:p>
            <a:pPr algn="l">
              <a:defRPr sz="2800" b="1" i="0">
                <a:solidFill>
                  <a:srgbClr val="D946EF"/>
                </a:solidFill>
                <a:latin typeface="Segoe UI"/>
              </a:defRPr>
            </a:pPr>
            <a:r>
              <a:t>$3.3M</a:t>
            </a:r>
          </a:p>
        </p:txBody>
      </p:sp>
      <p:sp>
        <p:nvSpPr>
          <p:cNvPr id="16" name="TextBox 15"/>
          <p:cNvSpPr txBox="1"/>
          <p:nvPr/>
        </p:nvSpPr>
        <p:spPr>
          <a:xfrm>
            <a:off x="502920" y="2468880"/>
            <a:ext cx="3291840" cy="182880"/>
          </a:xfrm>
          <a:prstGeom prst="rect">
            <a:avLst/>
          </a:prstGeom>
          <a:noFill/>
        </p:spPr>
        <p:txBody>
          <a:bodyPr wrap="square">
            <a:spAutoFit/>
          </a:bodyPr>
          <a:lstStyle/>
          <a:p>
            <a:pPr algn="l">
              <a:defRPr sz="900" b="0" i="0">
                <a:solidFill>
                  <a:srgbClr val="6B5F83"/>
                </a:solidFill>
                <a:latin typeface="Segoe UI"/>
              </a:defRPr>
            </a:pPr>
            <a:r>
              <a:t>120 binds  (65% of total)  |  63% of GWP</a:t>
            </a:r>
          </a:p>
        </p:txBody>
      </p:sp>
      <p:sp>
        <p:nvSpPr>
          <p:cNvPr id="17" name="Rectangle 16"/>
          <p:cNvSpPr/>
          <p:nvPr/>
        </p:nvSpPr>
        <p:spPr>
          <a:xfrm>
            <a:off x="457200" y="278892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2926080"/>
            <a:ext cx="1828800" cy="201168"/>
          </a:xfrm>
          <a:prstGeom prst="rect">
            <a:avLst/>
          </a:prstGeom>
          <a:noFill/>
        </p:spPr>
        <p:txBody>
          <a:bodyPr wrap="square">
            <a:spAutoFit/>
          </a:bodyPr>
          <a:lstStyle/>
          <a:p>
            <a:pPr algn="l">
              <a:defRPr sz="900" b="0" i="0">
                <a:solidFill>
                  <a:srgbClr val="9C92B5"/>
                </a:solidFill>
                <a:latin typeface="Segoe UI"/>
              </a:defRPr>
            </a:pPr>
            <a:r>
              <a:t>Avg Premium</a:t>
            </a:r>
          </a:p>
        </p:txBody>
      </p:sp>
      <p:sp>
        <p:nvSpPr>
          <p:cNvPr id="19" name="TextBox 18"/>
          <p:cNvSpPr txBox="1"/>
          <p:nvPr/>
        </p:nvSpPr>
        <p:spPr>
          <a:xfrm>
            <a:off x="2331720" y="2926080"/>
            <a:ext cx="1371600" cy="201168"/>
          </a:xfrm>
          <a:prstGeom prst="rect">
            <a:avLst/>
          </a:prstGeom>
          <a:noFill/>
        </p:spPr>
        <p:txBody>
          <a:bodyPr wrap="square">
            <a:spAutoFit/>
          </a:bodyPr>
          <a:lstStyle/>
          <a:p>
            <a:pPr algn="r">
              <a:defRPr sz="1000" b="1" i="0">
                <a:solidFill>
                  <a:srgbClr val="2D233F"/>
                </a:solidFill>
                <a:latin typeface="Segoe UI"/>
              </a:defRPr>
            </a:pPr>
            <a:r>
              <a:t>$27,139</a:t>
            </a:r>
          </a:p>
        </p:txBody>
      </p:sp>
      <p:sp>
        <p:nvSpPr>
          <p:cNvPr id="20" name="TextBox 19"/>
          <p:cNvSpPr txBox="1"/>
          <p:nvPr/>
        </p:nvSpPr>
        <p:spPr>
          <a:xfrm>
            <a:off x="502920" y="3218688"/>
            <a:ext cx="1828800" cy="201168"/>
          </a:xfrm>
          <a:prstGeom prst="rect">
            <a:avLst/>
          </a:prstGeom>
          <a:noFill/>
        </p:spPr>
        <p:txBody>
          <a:bodyPr wrap="square">
            <a:spAutoFit/>
          </a:bodyPr>
          <a:lstStyle/>
          <a:p>
            <a:pPr algn="l">
              <a:defRPr sz="900" b="0" i="0">
                <a:solidFill>
                  <a:srgbClr val="9C92B5"/>
                </a:solidFill>
                <a:latin typeface="Segoe UI"/>
              </a:defRPr>
            </a:pPr>
            <a:r>
              <a:t>Binds</a:t>
            </a:r>
          </a:p>
        </p:txBody>
      </p:sp>
      <p:sp>
        <p:nvSpPr>
          <p:cNvPr id="21" name="TextBox 20"/>
          <p:cNvSpPr txBox="1"/>
          <p:nvPr/>
        </p:nvSpPr>
        <p:spPr>
          <a:xfrm>
            <a:off x="2331720" y="3218688"/>
            <a:ext cx="1371600" cy="201168"/>
          </a:xfrm>
          <a:prstGeom prst="rect">
            <a:avLst/>
          </a:prstGeom>
          <a:noFill/>
        </p:spPr>
        <p:txBody>
          <a:bodyPr wrap="square">
            <a:spAutoFit/>
          </a:bodyPr>
          <a:lstStyle/>
          <a:p>
            <a:pPr algn="r">
              <a:defRPr sz="1000" b="1" i="0">
                <a:solidFill>
                  <a:srgbClr val="2D233F"/>
                </a:solidFill>
                <a:latin typeface="Segoe UI"/>
              </a:defRPr>
            </a:pPr>
            <a:r>
              <a:t>120</a:t>
            </a:r>
          </a:p>
        </p:txBody>
      </p:sp>
      <p:sp>
        <p:nvSpPr>
          <p:cNvPr id="22" name="TextBox 21"/>
          <p:cNvSpPr txBox="1"/>
          <p:nvPr/>
        </p:nvSpPr>
        <p:spPr>
          <a:xfrm>
            <a:off x="502920" y="3511296"/>
            <a:ext cx="1828800" cy="201168"/>
          </a:xfrm>
          <a:prstGeom prst="rect">
            <a:avLst/>
          </a:prstGeom>
          <a:noFill/>
        </p:spPr>
        <p:txBody>
          <a:bodyPr wrap="square">
            <a:spAutoFit/>
          </a:bodyPr>
          <a:lstStyle/>
          <a:p>
            <a:pPr algn="l">
              <a:defRPr sz="900" b="0" i="0">
                <a:solidFill>
                  <a:srgbClr val="9C92B5"/>
                </a:solidFill>
                <a:latin typeface="Segoe UI"/>
              </a:defRPr>
            </a:pPr>
            <a:r>
              <a:t>% of Binds</a:t>
            </a:r>
          </a:p>
        </p:txBody>
      </p:sp>
      <p:sp>
        <p:nvSpPr>
          <p:cNvPr id="23" name="TextBox 22"/>
          <p:cNvSpPr txBox="1"/>
          <p:nvPr/>
        </p:nvSpPr>
        <p:spPr>
          <a:xfrm>
            <a:off x="2331720" y="3511296"/>
            <a:ext cx="1371600" cy="201168"/>
          </a:xfrm>
          <a:prstGeom prst="rect">
            <a:avLst/>
          </a:prstGeom>
          <a:noFill/>
        </p:spPr>
        <p:txBody>
          <a:bodyPr wrap="square">
            <a:spAutoFit/>
          </a:bodyPr>
          <a:lstStyle/>
          <a:p>
            <a:pPr algn="r">
              <a:defRPr sz="1000" b="1" i="0">
                <a:solidFill>
                  <a:srgbClr val="2D233F"/>
                </a:solidFill>
                <a:latin typeface="Segoe UI"/>
              </a:defRPr>
            </a:pPr>
            <a:r>
              <a:t>65.2%</a:t>
            </a:r>
          </a:p>
        </p:txBody>
      </p:sp>
      <p:sp>
        <p:nvSpPr>
          <p:cNvPr id="24" name="TextBox 23"/>
          <p:cNvSpPr txBox="1"/>
          <p:nvPr/>
        </p:nvSpPr>
        <p:spPr>
          <a:xfrm>
            <a:off x="502920" y="3803904"/>
            <a:ext cx="1828800" cy="201168"/>
          </a:xfrm>
          <a:prstGeom prst="rect">
            <a:avLst/>
          </a:prstGeom>
          <a:noFill/>
        </p:spPr>
        <p:txBody>
          <a:bodyPr wrap="square">
            <a:spAutoFit/>
          </a:bodyPr>
          <a:lstStyle/>
          <a:p>
            <a:pPr algn="l">
              <a:defRPr sz="900" b="0" i="0">
                <a:solidFill>
                  <a:srgbClr val="9C92B5"/>
                </a:solidFill>
                <a:latin typeface="Segoe UI"/>
              </a:defRPr>
            </a:pPr>
            <a:r>
              <a:t>% of GWP</a:t>
            </a:r>
          </a:p>
        </p:txBody>
      </p:sp>
      <p:sp>
        <p:nvSpPr>
          <p:cNvPr id="25" name="TextBox 24"/>
          <p:cNvSpPr txBox="1"/>
          <p:nvPr/>
        </p:nvSpPr>
        <p:spPr>
          <a:xfrm>
            <a:off x="2331720" y="3803904"/>
            <a:ext cx="1371600" cy="201168"/>
          </a:xfrm>
          <a:prstGeom prst="rect">
            <a:avLst/>
          </a:prstGeom>
          <a:noFill/>
        </p:spPr>
        <p:txBody>
          <a:bodyPr wrap="square">
            <a:spAutoFit/>
          </a:bodyPr>
          <a:lstStyle/>
          <a:p>
            <a:pPr algn="r">
              <a:defRPr sz="1000" b="1" i="0">
                <a:solidFill>
                  <a:srgbClr val="2D233F"/>
                </a:solidFill>
                <a:latin typeface="Segoe UI"/>
              </a:defRPr>
            </a:pPr>
            <a:r>
              <a:t>62.6%</a:t>
            </a:r>
          </a:p>
        </p:txBody>
      </p:sp>
      <p:sp>
        <p:nvSpPr>
          <p:cNvPr id="26" name="Rectangle 25"/>
          <p:cNvSpPr/>
          <p:nvPr/>
        </p:nvSpPr>
        <p:spPr>
          <a:xfrm>
            <a:off x="457200" y="416052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251960"/>
            <a:ext cx="3383280" cy="182880"/>
          </a:xfrm>
          <a:prstGeom prst="rect">
            <a:avLst/>
          </a:prstGeom>
          <a:noFill/>
        </p:spPr>
        <p:txBody>
          <a:bodyPr wrap="square">
            <a:spAutoFit/>
          </a:bodyPr>
          <a:lstStyle/>
          <a:p>
            <a:pPr algn="l">
              <a:defRPr sz="800" b="1" i="0">
                <a:solidFill>
                  <a:srgbClr val="5B21B6"/>
                </a:solidFill>
                <a:latin typeface="Segoe UI Semibold"/>
              </a:defRPr>
            </a:pPr>
            <a:r>
              <a:t>SUBMISSION FUNNEL</a:t>
            </a:r>
          </a:p>
        </p:txBody>
      </p:sp>
      <p:sp>
        <p:nvSpPr>
          <p:cNvPr id="28" name="TextBox 27"/>
          <p:cNvSpPr txBox="1"/>
          <p:nvPr/>
        </p:nvSpPr>
        <p:spPr>
          <a:xfrm>
            <a:off x="502920" y="4480560"/>
            <a:ext cx="1828800" cy="201168"/>
          </a:xfrm>
          <a:prstGeom prst="rect">
            <a:avLst/>
          </a:prstGeom>
          <a:noFill/>
        </p:spPr>
        <p:txBody>
          <a:bodyPr wrap="square">
            <a:spAutoFit/>
          </a:bodyPr>
          <a:lstStyle/>
          <a:p>
            <a:pPr algn="l">
              <a:defRPr sz="900" b="0" i="0">
                <a:solidFill>
                  <a:srgbClr val="9C92B5"/>
                </a:solidFill>
                <a:latin typeface="Segoe UI"/>
              </a:defRPr>
            </a:pPr>
            <a:r>
              <a:t>Submissions</a:t>
            </a:r>
          </a:p>
        </p:txBody>
      </p:sp>
      <p:sp>
        <p:nvSpPr>
          <p:cNvPr id="29" name="TextBox 28"/>
          <p:cNvSpPr txBox="1"/>
          <p:nvPr/>
        </p:nvSpPr>
        <p:spPr>
          <a:xfrm>
            <a:off x="2331720" y="4480560"/>
            <a:ext cx="1371600" cy="201168"/>
          </a:xfrm>
          <a:prstGeom prst="rect">
            <a:avLst/>
          </a:prstGeom>
          <a:noFill/>
        </p:spPr>
        <p:txBody>
          <a:bodyPr wrap="square">
            <a:spAutoFit/>
          </a:bodyPr>
          <a:lstStyle/>
          <a:p>
            <a:pPr algn="r">
              <a:defRPr sz="1000" b="1" i="0">
                <a:solidFill>
                  <a:srgbClr val="6B5F83"/>
                </a:solidFill>
                <a:latin typeface="Segoe UI"/>
              </a:defRPr>
            </a:pPr>
            <a:r>
              <a:t>1,621</a:t>
            </a:r>
          </a:p>
        </p:txBody>
      </p:sp>
      <p:sp>
        <p:nvSpPr>
          <p:cNvPr id="30" name="TextBox 29"/>
          <p:cNvSpPr txBox="1"/>
          <p:nvPr/>
        </p:nvSpPr>
        <p:spPr>
          <a:xfrm>
            <a:off x="502920" y="4754880"/>
            <a:ext cx="1828800" cy="201168"/>
          </a:xfrm>
          <a:prstGeom prst="rect">
            <a:avLst/>
          </a:prstGeom>
          <a:noFill/>
        </p:spPr>
        <p:txBody>
          <a:bodyPr wrap="square">
            <a:spAutoFit/>
          </a:bodyPr>
          <a:lstStyle/>
          <a:p>
            <a:pPr algn="l">
              <a:defRPr sz="900" b="0" i="0">
                <a:solidFill>
                  <a:srgbClr val="9C92B5"/>
                </a:solidFill>
                <a:latin typeface="Segoe UI"/>
              </a:defRPr>
            </a:pPr>
            <a:r>
              <a:t>Quoted</a:t>
            </a:r>
          </a:p>
        </p:txBody>
      </p:sp>
      <p:sp>
        <p:nvSpPr>
          <p:cNvPr id="31" name="TextBox 30"/>
          <p:cNvSpPr txBox="1"/>
          <p:nvPr/>
        </p:nvSpPr>
        <p:spPr>
          <a:xfrm>
            <a:off x="2331720" y="4754880"/>
            <a:ext cx="1371600" cy="201168"/>
          </a:xfrm>
          <a:prstGeom prst="rect">
            <a:avLst/>
          </a:prstGeom>
          <a:noFill/>
        </p:spPr>
        <p:txBody>
          <a:bodyPr wrap="square">
            <a:spAutoFit/>
          </a:bodyPr>
          <a:lstStyle/>
          <a:p>
            <a:pPr algn="r">
              <a:defRPr sz="1000" b="1" i="0">
                <a:solidFill>
                  <a:srgbClr val="6B5F83"/>
                </a:solidFill>
                <a:latin typeface="Segoe UI"/>
              </a:defRPr>
            </a:pPr>
            <a:r>
              <a:t>771</a:t>
            </a:r>
          </a:p>
        </p:txBody>
      </p:sp>
      <p:sp>
        <p:nvSpPr>
          <p:cNvPr id="32" name="TextBox 31"/>
          <p:cNvSpPr txBox="1"/>
          <p:nvPr/>
        </p:nvSpPr>
        <p:spPr>
          <a:xfrm>
            <a:off x="502920" y="5029200"/>
            <a:ext cx="1828800" cy="201168"/>
          </a:xfrm>
          <a:prstGeom prst="rect">
            <a:avLst/>
          </a:prstGeom>
          <a:noFill/>
        </p:spPr>
        <p:txBody>
          <a:bodyPr wrap="square">
            <a:spAutoFit/>
          </a:bodyPr>
          <a:lstStyle/>
          <a:p>
            <a:pPr algn="l">
              <a:defRPr sz="900" b="0" i="0">
                <a:solidFill>
                  <a:srgbClr val="9C92B5"/>
                </a:solidFill>
                <a:latin typeface="Segoe UI"/>
              </a:defRPr>
            </a:pPr>
            <a:r>
              <a:t>Bound</a:t>
            </a:r>
          </a:p>
        </p:txBody>
      </p:sp>
      <p:sp>
        <p:nvSpPr>
          <p:cNvPr id="33" name="TextBox 32"/>
          <p:cNvSpPr txBox="1"/>
          <p:nvPr/>
        </p:nvSpPr>
        <p:spPr>
          <a:xfrm>
            <a:off x="2331720" y="5029200"/>
            <a:ext cx="1371600" cy="201168"/>
          </a:xfrm>
          <a:prstGeom prst="rect">
            <a:avLst/>
          </a:prstGeom>
          <a:noFill/>
        </p:spPr>
        <p:txBody>
          <a:bodyPr wrap="square">
            <a:spAutoFit/>
          </a:bodyPr>
          <a:lstStyle/>
          <a:p>
            <a:pPr algn="r">
              <a:defRPr sz="1000" b="1" i="0">
                <a:solidFill>
                  <a:srgbClr val="6B5F83"/>
                </a:solidFill>
                <a:latin typeface="Segoe UI"/>
              </a:defRPr>
            </a:pPr>
            <a:r>
              <a:t>34</a:t>
            </a:r>
          </a:p>
        </p:txBody>
      </p:sp>
      <p:sp>
        <p:nvSpPr>
          <p:cNvPr id="34" name="TextBox 33"/>
          <p:cNvSpPr txBox="1"/>
          <p:nvPr/>
        </p:nvSpPr>
        <p:spPr>
          <a:xfrm>
            <a:off x="502920" y="5303520"/>
            <a:ext cx="1828800" cy="201168"/>
          </a:xfrm>
          <a:prstGeom prst="rect">
            <a:avLst/>
          </a:prstGeom>
          <a:noFill/>
        </p:spPr>
        <p:txBody>
          <a:bodyPr wrap="square">
            <a:spAutoFit/>
          </a:bodyPr>
          <a:lstStyle/>
          <a:p>
            <a:pPr algn="l">
              <a:defRPr sz="900" b="0" i="0">
                <a:solidFill>
                  <a:srgbClr val="9C92B5"/>
                </a:solidFill>
                <a:latin typeface="Segoe UI"/>
              </a:defRPr>
            </a:pPr>
            <a:r>
              <a:t>Quote Rate</a:t>
            </a:r>
          </a:p>
        </p:txBody>
      </p:sp>
      <p:sp>
        <p:nvSpPr>
          <p:cNvPr id="35" name="TextBox 34"/>
          <p:cNvSpPr txBox="1"/>
          <p:nvPr/>
        </p:nvSpPr>
        <p:spPr>
          <a:xfrm>
            <a:off x="2331720" y="5303520"/>
            <a:ext cx="1371600" cy="201168"/>
          </a:xfrm>
          <a:prstGeom prst="rect">
            <a:avLst/>
          </a:prstGeom>
          <a:noFill/>
        </p:spPr>
        <p:txBody>
          <a:bodyPr wrap="square">
            <a:spAutoFit/>
          </a:bodyPr>
          <a:lstStyle/>
          <a:p>
            <a:pPr algn="r">
              <a:defRPr sz="1000" b="1" i="0">
                <a:solidFill>
                  <a:srgbClr val="6B5F83"/>
                </a:solidFill>
                <a:latin typeface="Segoe UI"/>
              </a:defRPr>
            </a:pPr>
            <a:r>
              <a:t>47.6%</a:t>
            </a:r>
          </a:p>
        </p:txBody>
      </p:sp>
      <p:sp>
        <p:nvSpPr>
          <p:cNvPr id="36" name="TextBox 35"/>
          <p:cNvSpPr txBox="1"/>
          <p:nvPr/>
        </p:nvSpPr>
        <p:spPr>
          <a:xfrm>
            <a:off x="502920" y="5577840"/>
            <a:ext cx="1828800" cy="201168"/>
          </a:xfrm>
          <a:prstGeom prst="rect">
            <a:avLst/>
          </a:prstGeom>
          <a:noFill/>
        </p:spPr>
        <p:txBody>
          <a:bodyPr wrap="square">
            <a:spAutoFit/>
          </a:bodyPr>
          <a:lstStyle/>
          <a:p>
            <a:pPr algn="l">
              <a:defRPr sz="900" b="0" i="0">
                <a:solidFill>
                  <a:srgbClr val="9C92B5"/>
                </a:solidFill>
                <a:latin typeface="Segoe UI"/>
              </a:defRPr>
            </a:pPr>
            <a:r>
              <a:t>Bind Rate</a:t>
            </a:r>
          </a:p>
        </p:txBody>
      </p:sp>
      <p:sp>
        <p:nvSpPr>
          <p:cNvPr id="37" name="TextBox 36"/>
          <p:cNvSpPr txBox="1"/>
          <p:nvPr/>
        </p:nvSpPr>
        <p:spPr>
          <a:xfrm>
            <a:off x="2331720" y="5577840"/>
            <a:ext cx="1371600" cy="201168"/>
          </a:xfrm>
          <a:prstGeom prst="rect">
            <a:avLst/>
          </a:prstGeom>
          <a:noFill/>
        </p:spPr>
        <p:txBody>
          <a:bodyPr wrap="square">
            <a:spAutoFit/>
          </a:bodyPr>
          <a:lstStyle/>
          <a:p>
            <a:pPr algn="r">
              <a:defRPr sz="1000" b="1" i="0">
                <a:solidFill>
                  <a:srgbClr val="6B5F83"/>
                </a:solidFill>
                <a:latin typeface="Segoe UI"/>
              </a:defRPr>
            </a:pPr>
            <a:r>
              <a:t>2.1%</a:t>
            </a:r>
          </a:p>
        </p:txBody>
      </p:sp>
      <p:sp>
        <p:nvSpPr>
          <p:cNvPr id="38" name="TextBox 37"/>
          <p:cNvSpPr txBox="1"/>
          <p:nvPr/>
        </p:nvSpPr>
        <p:spPr>
          <a:xfrm>
            <a:off x="457200" y="5897880"/>
            <a:ext cx="3383280" cy="182880"/>
          </a:xfrm>
          <a:prstGeom prst="rect">
            <a:avLst/>
          </a:prstGeom>
          <a:noFill/>
        </p:spPr>
        <p:txBody>
          <a:bodyPr wrap="square">
            <a:spAutoFit/>
          </a:bodyPr>
          <a:lstStyle/>
          <a:p>
            <a:pPr algn="l">
              <a:defRPr sz="700" b="1" i="0">
                <a:solidFill>
                  <a:srgbClr val="5B21B6"/>
                </a:solidFill>
                <a:latin typeface="Segoe UI Semibold"/>
              </a:defRPr>
            </a:pPr>
            <a:r>
              <a:t>BY MONTH</a:t>
            </a:r>
          </a:p>
        </p:txBody>
      </p:sp>
      <p:sp>
        <p:nvSpPr>
          <p:cNvPr id="39" name="TextBox 38"/>
          <p:cNvSpPr txBox="1"/>
          <p:nvPr/>
        </p:nvSpPr>
        <p:spPr>
          <a:xfrm>
            <a:off x="457200" y="6080760"/>
            <a:ext cx="3383280" cy="182880"/>
          </a:xfrm>
          <a:prstGeom prst="rect">
            <a:avLst/>
          </a:prstGeom>
          <a:noFill/>
        </p:spPr>
        <p:txBody>
          <a:bodyPr wrap="square">
            <a:spAutoFit/>
          </a:bodyPr>
          <a:lstStyle/>
          <a:p>
            <a:pPr algn="l">
              <a:defRPr sz="800" b="0" i="0">
                <a:solidFill>
                  <a:srgbClr val="6B5F83"/>
                </a:solidFill>
                <a:latin typeface="Segoe UI"/>
              </a:defRPr>
            </a:pPr>
            <a:r>
              <a:t>Jan: 5 / $119,381  |  Feb: 13 / $433,452  |  Mar: 36 / $832,939</a:t>
            </a:r>
          </a:p>
        </p:txBody>
      </p:sp>
      <p:sp>
        <p:nvSpPr>
          <p:cNvPr id="40" name="Rounded Rectangle 39"/>
          <p:cNvSpPr/>
          <p:nvPr/>
        </p:nvSpPr>
        <p:spPr>
          <a:xfrm>
            <a:off x="4114800" y="1371600"/>
            <a:ext cx="3657600" cy="493776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114800" y="1371600"/>
            <a:ext cx="365760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97680" y="1508760"/>
            <a:ext cx="3291840" cy="274320"/>
          </a:xfrm>
          <a:prstGeom prst="rect">
            <a:avLst/>
          </a:prstGeom>
          <a:noFill/>
        </p:spPr>
        <p:txBody>
          <a:bodyPr wrap="square">
            <a:spAutoFit/>
          </a:bodyPr>
          <a:lstStyle/>
          <a:p>
            <a:pPr algn="l">
              <a:defRPr sz="1600" b="1" i="0">
                <a:solidFill>
                  <a:srgbClr val="8B5CF6"/>
                </a:solidFill>
                <a:latin typeface="Segoe UI Light"/>
              </a:defRPr>
            </a:pPr>
            <a:r>
              <a:t>1 YEAR</a:t>
            </a:r>
          </a:p>
        </p:txBody>
      </p:sp>
      <p:sp>
        <p:nvSpPr>
          <p:cNvPr id="43" name="TextBox 42"/>
          <p:cNvSpPr txBox="1"/>
          <p:nvPr/>
        </p:nvSpPr>
        <p:spPr>
          <a:xfrm>
            <a:off x="4297680" y="1783080"/>
            <a:ext cx="3291840" cy="182880"/>
          </a:xfrm>
          <a:prstGeom prst="rect">
            <a:avLst/>
          </a:prstGeom>
          <a:noFill/>
        </p:spPr>
        <p:txBody>
          <a:bodyPr wrap="square">
            <a:spAutoFit/>
          </a:bodyPr>
          <a:lstStyle/>
          <a:p>
            <a:pPr algn="l">
              <a:defRPr sz="900" b="0" i="0">
                <a:solidFill>
                  <a:srgbClr val="9C92B5"/>
                </a:solidFill>
                <a:latin typeface="Segoe UI"/>
              </a:defRPr>
            </a:pPr>
            <a:r>
              <a:t>1 Year in Business</a:t>
            </a:r>
          </a:p>
        </p:txBody>
      </p:sp>
      <p:sp>
        <p:nvSpPr>
          <p:cNvPr id="44" name="TextBox 43"/>
          <p:cNvSpPr txBox="1"/>
          <p:nvPr/>
        </p:nvSpPr>
        <p:spPr>
          <a:xfrm>
            <a:off x="4297680" y="2057400"/>
            <a:ext cx="3291840" cy="411480"/>
          </a:xfrm>
          <a:prstGeom prst="rect">
            <a:avLst/>
          </a:prstGeom>
          <a:noFill/>
        </p:spPr>
        <p:txBody>
          <a:bodyPr wrap="square">
            <a:spAutoFit/>
          </a:bodyPr>
          <a:lstStyle/>
          <a:p>
            <a:pPr algn="l">
              <a:defRPr sz="2800" b="1" i="0">
                <a:solidFill>
                  <a:srgbClr val="8B5CF6"/>
                </a:solidFill>
                <a:latin typeface="Segoe UI"/>
              </a:defRPr>
            </a:pPr>
            <a:r>
              <a:t>$262,342</a:t>
            </a:r>
          </a:p>
        </p:txBody>
      </p:sp>
      <p:sp>
        <p:nvSpPr>
          <p:cNvPr id="45" name="TextBox 44"/>
          <p:cNvSpPr txBox="1"/>
          <p:nvPr/>
        </p:nvSpPr>
        <p:spPr>
          <a:xfrm>
            <a:off x="4297680" y="2468880"/>
            <a:ext cx="3291840" cy="182880"/>
          </a:xfrm>
          <a:prstGeom prst="rect">
            <a:avLst/>
          </a:prstGeom>
          <a:noFill/>
        </p:spPr>
        <p:txBody>
          <a:bodyPr wrap="square">
            <a:spAutoFit/>
          </a:bodyPr>
          <a:lstStyle/>
          <a:p>
            <a:pPr algn="l">
              <a:defRPr sz="900" b="0" i="0">
                <a:solidFill>
                  <a:srgbClr val="6B5F83"/>
                </a:solidFill>
                <a:latin typeface="Segoe UI"/>
              </a:defRPr>
            </a:pPr>
            <a:r>
              <a:t>12 binds  (7% of total)  |  5% of GWP</a:t>
            </a:r>
          </a:p>
        </p:txBody>
      </p:sp>
      <p:sp>
        <p:nvSpPr>
          <p:cNvPr id="46" name="Rectangle 45"/>
          <p:cNvSpPr/>
          <p:nvPr/>
        </p:nvSpPr>
        <p:spPr>
          <a:xfrm>
            <a:off x="4251960" y="278892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97680" y="2926080"/>
            <a:ext cx="1828800" cy="201168"/>
          </a:xfrm>
          <a:prstGeom prst="rect">
            <a:avLst/>
          </a:prstGeom>
          <a:noFill/>
        </p:spPr>
        <p:txBody>
          <a:bodyPr wrap="square">
            <a:spAutoFit/>
          </a:bodyPr>
          <a:lstStyle/>
          <a:p>
            <a:pPr algn="l">
              <a:defRPr sz="900" b="0" i="0">
                <a:solidFill>
                  <a:srgbClr val="9C92B5"/>
                </a:solidFill>
                <a:latin typeface="Segoe UI"/>
              </a:defRPr>
            </a:pPr>
            <a:r>
              <a:t>Avg Premium</a:t>
            </a:r>
          </a:p>
        </p:txBody>
      </p:sp>
      <p:sp>
        <p:nvSpPr>
          <p:cNvPr id="48" name="TextBox 47"/>
          <p:cNvSpPr txBox="1"/>
          <p:nvPr/>
        </p:nvSpPr>
        <p:spPr>
          <a:xfrm>
            <a:off x="6126480" y="2926080"/>
            <a:ext cx="1371600" cy="201168"/>
          </a:xfrm>
          <a:prstGeom prst="rect">
            <a:avLst/>
          </a:prstGeom>
          <a:noFill/>
        </p:spPr>
        <p:txBody>
          <a:bodyPr wrap="square">
            <a:spAutoFit/>
          </a:bodyPr>
          <a:lstStyle/>
          <a:p>
            <a:pPr algn="r">
              <a:defRPr sz="1000" b="1" i="0">
                <a:solidFill>
                  <a:srgbClr val="2D233F"/>
                </a:solidFill>
                <a:latin typeface="Segoe UI"/>
              </a:defRPr>
            </a:pPr>
            <a:r>
              <a:t>$21,862</a:t>
            </a:r>
          </a:p>
        </p:txBody>
      </p:sp>
      <p:sp>
        <p:nvSpPr>
          <p:cNvPr id="49" name="TextBox 48"/>
          <p:cNvSpPr txBox="1"/>
          <p:nvPr/>
        </p:nvSpPr>
        <p:spPr>
          <a:xfrm>
            <a:off x="4297680" y="3218688"/>
            <a:ext cx="1828800" cy="201168"/>
          </a:xfrm>
          <a:prstGeom prst="rect">
            <a:avLst/>
          </a:prstGeom>
          <a:noFill/>
        </p:spPr>
        <p:txBody>
          <a:bodyPr wrap="square">
            <a:spAutoFit/>
          </a:bodyPr>
          <a:lstStyle/>
          <a:p>
            <a:pPr algn="l">
              <a:defRPr sz="900" b="0" i="0">
                <a:solidFill>
                  <a:srgbClr val="9C92B5"/>
                </a:solidFill>
                <a:latin typeface="Segoe UI"/>
              </a:defRPr>
            </a:pPr>
            <a:r>
              <a:t>Binds</a:t>
            </a:r>
          </a:p>
        </p:txBody>
      </p:sp>
      <p:sp>
        <p:nvSpPr>
          <p:cNvPr id="50" name="TextBox 49"/>
          <p:cNvSpPr txBox="1"/>
          <p:nvPr/>
        </p:nvSpPr>
        <p:spPr>
          <a:xfrm>
            <a:off x="6126480" y="3218688"/>
            <a:ext cx="1371600" cy="201168"/>
          </a:xfrm>
          <a:prstGeom prst="rect">
            <a:avLst/>
          </a:prstGeom>
          <a:noFill/>
        </p:spPr>
        <p:txBody>
          <a:bodyPr wrap="square">
            <a:spAutoFit/>
          </a:bodyPr>
          <a:lstStyle/>
          <a:p>
            <a:pPr algn="r">
              <a:defRPr sz="1000" b="1" i="0">
                <a:solidFill>
                  <a:srgbClr val="2D233F"/>
                </a:solidFill>
                <a:latin typeface="Segoe UI"/>
              </a:defRPr>
            </a:pPr>
            <a:r>
              <a:t>12</a:t>
            </a:r>
          </a:p>
        </p:txBody>
      </p:sp>
      <p:sp>
        <p:nvSpPr>
          <p:cNvPr id="51" name="TextBox 50"/>
          <p:cNvSpPr txBox="1"/>
          <p:nvPr/>
        </p:nvSpPr>
        <p:spPr>
          <a:xfrm>
            <a:off x="4297680" y="3511296"/>
            <a:ext cx="1828800" cy="201168"/>
          </a:xfrm>
          <a:prstGeom prst="rect">
            <a:avLst/>
          </a:prstGeom>
          <a:noFill/>
        </p:spPr>
        <p:txBody>
          <a:bodyPr wrap="square">
            <a:spAutoFit/>
          </a:bodyPr>
          <a:lstStyle/>
          <a:p>
            <a:pPr algn="l">
              <a:defRPr sz="900" b="0" i="0">
                <a:solidFill>
                  <a:srgbClr val="9C92B5"/>
                </a:solidFill>
                <a:latin typeface="Segoe UI"/>
              </a:defRPr>
            </a:pPr>
            <a:r>
              <a:t>% of Binds</a:t>
            </a:r>
          </a:p>
        </p:txBody>
      </p:sp>
      <p:sp>
        <p:nvSpPr>
          <p:cNvPr id="52" name="TextBox 51"/>
          <p:cNvSpPr txBox="1"/>
          <p:nvPr/>
        </p:nvSpPr>
        <p:spPr>
          <a:xfrm>
            <a:off x="6126480" y="3511296"/>
            <a:ext cx="1371600" cy="201168"/>
          </a:xfrm>
          <a:prstGeom prst="rect">
            <a:avLst/>
          </a:prstGeom>
          <a:noFill/>
        </p:spPr>
        <p:txBody>
          <a:bodyPr wrap="square">
            <a:spAutoFit/>
          </a:bodyPr>
          <a:lstStyle/>
          <a:p>
            <a:pPr algn="r">
              <a:defRPr sz="1000" b="1" i="0">
                <a:solidFill>
                  <a:srgbClr val="2D233F"/>
                </a:solidFill>
                <a:latin typeface="Segoe UI"/>
              </a:defRPr>
            </a:pPr>
            <a:r>
              <a:t>6.5%</a:t>
            </a:r>
          </a:p>
        </p:txBody>
      </p:sp>
      <p:sp>
        <p:nvSpPr>
          <p:cNvPr id="53" name="TextBox 52"/>
          <p:cNvSpPr txBox="1"/>
          <p:nvPr/>
        </p:nvSpPr>
        <p:spPr>
          <a:xfrm>
            <a:off x="4297680" y="3803904"/>
            <a:ext cx="1828800" cy="201168"/>
          </a:xfrm>
          <a:prstGeom prst="rect">
            <a:avLst/>
          </a:prstGeom>
          <a:noFill/>
        </p:spPr>
        <p:txBody>
          <a:bodyPr wrap="square">
            <a:spAutoFit/>
          </a:bodyPr>
          <a:lstStyle/>
          <a:p>
            <a:pPr algn="l">
              <a:defRPr sz="900" b="0" i="0">
                <a:solidFill>
                  <a:srgbClr val="9C92B5"/>
                </a:solidFill>
                <a:latin typeface="Segoe UI"/>
              </a:defRPr>
            </a:pPr>
            <a:r>
              <a:t>% of GWP</a:t>
            </a:r>
          </a:p>
        </p:txBody>
      </p:sp>
      <p:sp>
        <p:nvSpPr>
          <p:cNvPr id="54" name="TextBox 53"/>
          <p:cNvSpPr txBox="1"/>
          <p:nvPr/>
        </p:nvSpPr>
        <p:spPr>
          <a:xfrm>
            <a:off x="6126480" y="3803904"/>
            <a:ext cx="1371600" cy="201168"/>
          </a:xfrm>
          <a:prstGeom prst="rect">
            <a:avLst/>
          </a:prstGeom>
          <a:noFill/>
        </p:spPr>
        <p:txBody>
          <a:bodyPr wrap="square">
            <a:spAutoFit/>
          </a:bodyPr>
          <a:lstStyle/>
          <a:p>
            <a:pPr algn="r">
              <a:defRPr sz="1000" b="1" i="0">
                <a:solidFill>
                  <a:srgbClr val="2D233F"/>
                </a:solidFill>
                <a:latin typeface="Segoe UI"/>
              </a:defRPr>
            </a:pPr>
            <a:r>
              <a:t>5.0%</a:t>
            </a:r>
          </a:p>
        </p:txBody>
      </p:sp>
      <p:sp>
        <p:nvSpPr>
          <p:cNvPr id="55" name="Rectangle 54"/>
          <p:cNvSpPr/>
          <p:nvPr/>
        </p:nvSpPr>
        <p:spPr>
          <a:xfrm>
            <a:off x="4251960" y="416052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60" y="4251960"/>
            <a:ext cx="3383280" cy="182880"/>
          </a:xfrm>
          <a:prstGeom prst="rect">
            <a:avLst/>
          </a:prstGeom>
          <a:noFill/>
        </p:spPr>
        <p:txBody>
          <a:bodyPr wrap="square">
            <a:spAutoFit/>
          </a:bodyPr>
          <a:lstStyle/>
          <a:p>
            <a:pPr algn="l">
              <a:defRPr sz="800" b="1" i="0">
                <a:solidFill>
                  <a:srgbClr val="5B21B6"/>
                </a:solidFill>
                <a:latin typeface="Segoe UI Semibold"/>
              </a:defRPr>
            </a:pPr>
            <a:r>
              <a:t>SUBMISSION FUNNEL</a:t>
            </a:r>
          </a:p>
        </p:txBody>
      </p:sp>
      <p:sp>
        <p:nvSpPr>
          <p:cNvPr id="57" name="TextBox 56"/>
          <p:cNvSpPr txBox="1"/>
          <p:nvPr/>
        </p:nvSpPr>
        <p:spPr>
          <a:xfrm>
            <a:off x="4297680" y="4480560"/>
            <a:ext cx="1828800" cy="201168"/>
          </a:xfrm>
          <a:prstGeom prst="rect">
            <a:avLst/>
          </a:prstGeom>
          <a:noFill/>
        </p:spPr>
        <p:txBody>
          <a:bodyPr wrap="square">
            <a:spAutoFit/>
          </a:bodyPr>
          <a:lstStyle/>
          <a:p>
            <a:pPr algn="l">
              <a:defRPr sz="900" b="0" i="0">
                <a:solidFill>
                  <a:srgbClr val="9C92B5"/>
                </a:solidFill>
                <a:latin typeface="Segoe UI"/>
              </a:defRPr>
            </a:pPr>
            <a:r>
              <a:t>Submissions</a:t>
            </a:r>
          </a:p>
        </p:txBody>
      </p:sp>
      <p:sp>
        <p:nvSpPr>
          <p:cNvPr id="58" name="TextBox 57"/>
          <p:cNvSpPr txBox="1"/>
          <p:nvPr/>
        </p:nvSpPr>
        <p:spPr>
          <a:xfrm>
            <a:off x="6126480" y="4480560"/>
            <a:ext cx="1371600" cy="201168"/>
          </a:xfrm>
          <a:prstGeom prst="rect">
            <a:avLst/>
          </a:prstGeom>
          <a:noFill/>
        </p:spPr>
        <p:txBody>
          <a:bodyPr wrap="square">
            <a:spAutoFit/>
          </a:bodyPr>
          <a:lstStyle/>
          <a:p>
            <a:pPr algn="r">
              <a:defRPr sz="1000" b="1" i="0">
                <a:solidFill>
                  <a:srgbClr val="6B5F83"/>
                </a:solidFill>
                <a:latin typeface="Segoe UI"/>
              </a:defRPr>
            </a:pPr>
            <a:r>
              <a:t>107</a:t>
            </a:r>
          </a:p>
        </p:txBody>
      </p:sp>
      <p:sp>
        <p:nvSpPr>
          <p:cNvPr id="59" name="TextBox 58"/>
          <p:cNvSpPr txBox="1"/>
          <p:nvPr/>
        </p:nvSpPr>
        <p:spPr>
          <a:xfrm>
            <a:off x="4297680" y="4754880"/>
            <a:ext cx="1828800" cy="201168"/>
          </a:xfrm>
          <a:prstGeom prst="rect">
            <a:avLst/>
          </a:prstGeom>
          <a:noFill/>
        </p:spPr>
        <p:txBody>
          <a:bodyPr wrap="square">
            <a:spAutoFit/>
          </a:bodyPr>
          <a:lstStyle/>
          <a:p>
            <a:pPr algn="l">
              <a:defRPr sz="900" b="0" i="0">
                <a:solidFill>
                  <a:srgbClr val="9C92B5"/>
                </a:solidFill>
                <a:latin typeface="Segoe UI"/>
              </a:defRPr>
            </a:pPr>
            <a:r>
              <a:t>Quoted</a:t>
            </a:r>
          </a:p>
        </p:txBody>
      </p:sp>
      <p:sp>
        <p:nvSpPr>
          <p:cNvPr id="60" name="TextBox 59"/>
          <p:cNvSpPr txBox="1"/>
          <p:nvPr/>
        </p:nvSpPr>
        <p:spPr>
          <a:xfrm>
            <a:off x="6126480" y="4754880"/>
            <a:ext cx="1371600" cy="201168"/>
          </a:xfrm>
          <a:prstGeom prst="rect">
            <a:avLst/>
          </a:prstGeom>
          <a:noFill/>
        </p:spPr>
        <p:txBody>
          <a:bodyPr wrap="square">
            <a:spAutoFit/>
          </a:bodyPr>
          <a:lstStyle/>
          <a:p>
            <a:pPr algn="r">
              <a:defRPr sz="1000" b="1" i="0">
                <a:solidFill>
                  <a:srgbClr val="6B5F83"/>
                </a:solidFill>
                <a:latin typeface="Segoe UI"/>
              </a:defRPr>
            </a:pPr>
            <a:r>
              <a:t>46</a:t>
            </a:r>
          </a:p>
        </p:txBody>
      </p:sp>
      <p:sp>
        <p:nvSpPr>
          <p:cNvPr id="61" name="TextBox 60"/>
          <p:cNvSpPr txBox="1"/>
          <p:nvPr/>
        </p:nvSpPr>
        <p:spPr>
          <a:xfrm>
            <a:off x="4297680" y="5029200"/>
            <a:ext cx="1828800" cy="201168"/>
          </a:xfrm>
          <a:prstGeom prst="rect">
            <a:avLst/>
          </a:prstGeom>
          <a:noFill/>
        </p:spPr>
        <p:txBody>
          <a:bodyPr wrap="square">
            <a:spAutoFit/>
          </a:bodyPr>
          <a:lstStyle/>
          <a:p>
            <a:pPr algn="l">
              <a:defRPr sz="900" b="0" i="0">
                <a:solidFill>
                  <a:srgbClr val="9C92B5"/>
                </a:solidFill>
                <a:latin typeface="Segoe UI"/>
              </a:defRPr>
            </a:pPr>
            <a:r>
              <a:t>Bound</a:t>
            </a:r>
          </a:p>
        </p:txBody>
      </p:sp>
      <p:sp>
        <p:nvSpPr>
          <p:cNvPr id="62" name="TextBox 61"/>
          <p:cNvSpPr txBox="1"/>
          <p:nvPr/>
        </p:nvSpPr>
        <p:spPr>
          <a:xfrm>
            <a:off x="6126480" y="5029200"/>
            <a:ext cx="1371600" cy="201168"/>
          </a:xfrm>
          <a:prstGeom prst="rect">
            <a:avLst/>
          </a:prstGeom>
          <a:noFill/>
        </p:spPr>
        <p:txBody>
          <a:bodyPr wrap="square">
            <a:spAutoFit/>
          </a:bodyPr>
          <a:lstStyle/>
          <a:p>
            <a:pPr algn="r">
              <a:defRPr sz="1000" b="1" i="0">
                <a:solidFill>
                  <a:srgbClr val="6B5F83"/>
                </a:solidFill>
                <a:latin typeface="Segoe UI"/>
              </a:defRPr>
            </a:pPr>
            <a:r>
              <a:t>2</a:t>
            </a:r>
          </a:p>
        </p:txBody>
      </p:sp>
      <p:sp>
        <p:nvSpPr>
          <p:cNvPr id="63" name="TextBox 62"/>
          <p:cNvSpPr txBox="1"/>
          <p:nvPr/>
        </p:nvSpPr>
        <p:spPr>
          <a:xfrm>
            <a:off x="4297680" y="5303520"/>
            <a:ext cx="1828800" cy="201168"/>
          </a:xfrm>
          <a:prstGeom prst="rect">
            <a:avLst/>
          </a:prstGeom>
          <a:noFill/>
        </p:spPr>
        <p:txBody>
          <a:bodyPr wrap="square">
            <a:spAutoFit/>
          </a:bodyPr>
          <a:lstStyle/>
          <a:p>
            <a:pPr algn="l">
              <a:defRPr sz="900" b="0" i="0">
                <a:solidFill>
                  <a:srgbClr val="9C92B5"/>
                </a:solidFill>
                <a:latin typeface="Segoe UI"/>
              </a:defRPr>
            </a:pPr>
            <a:r>
              <a:t>Quote Rate</a:t>
            </a:r>
          </a:p>
        </p:txBody>
      </p:sp>
      <p:sp>
        <p:nvSpPr>
          <p:cNvPr id="64" name="TextBox 63"/>
          <p:cNvSpPr txBox="1"/>
          <p:nvPr/>
        </p:nvSpPr>
        <p:spPr>
          <a:xfrm>
            <a:off x="6126480" y="5303520"/>
            <a:ext cx="1371600" cy="201168"/>
          </a:xfrm>
          <a:prstGeom prst="rect">
            <a:avLst/>
          </a:prstGeom>
          <a:noFill/>
        </p:spPr>
        <p:txBody>
          <a:bodyPr wrap="square">
            <a:spAutoFit/>
          </a:bodyPr>
          <a:lstStyle/>
          <a:p>
            <a:pPr algn="r">
              <a:defRPr sz="1000" b="1" i="0">
                <a:solidFill>
                  <a:srgbClr val="6B5F83"/>
                </a:solidFill>
                <a:latin typeface="Segoe UI"/>
              </a:defRPr>
            </a:pPr>
            <a:r>
              <a:t>43.0%</a:t>
            </a:r>
          </a:p>
        </p:txBody>
      </p:sp>
      <p:sp>
        <p:nvSpPr>
          <p:cNvPr id="65" name="TextBox 64"/>
          <p:cNvSpPr txBox="1"/>
          <p:nvPr/>
        </p:nvSpPr>
        <p:spPr>
          <a:xfrm>
            <a:off x="4297680" y="5577840"/>
            <a:ext cx="1828800" cy="201168"/>
          </a:xfrm>
          <a:prstGeom prst="rect">
            <a:avLst/>
          </a:prstGeom>
          <a:noFill/>
        </p:spPr>
        <p:txBody>
          <a:bodyPr wrap="square">
            <a:spAutoFit/>
          </a:bodyPr>
          <a:lstStyle/>
          <a:p>
            <a:pPr algn="l">
              <a:defRPr sz="900" b="0" i="0">
                <a:solidFill>
                  <a:srgbClr val="9C92B5"/>
                </a:solidFill>
                <a:latin typeface="Segoe UI"/>
              </a:defRPr>
            </a:pPr>
            <a:r>
              <a:t>Bind Rate</a:t>
            </a:r>
          </a:p>
        </p:txBody>
      </p:sp>
      <p:sp>
        <p:nvSpPr>
          <p:cNvPr id="66" name="TextBox 65"/>
          <p:cNvSpPr txBox="1"/>
          <p:nvPr/>
        </p:nvSpPr>
        <p:spPr>
          <a:xfrm>
            <a:off x="6126480" y="5577840"/>
            <a:ext cx="1371600" cy="201168"/>
          </a:xfrm>
          <a:prstGeom prst="rect">
            <a:avLst/>
          </a:prstGeom>
          <a:noFill/>
        </p:spPr>
        <p:txBody>
          <a:bodyPr wrap="square">
            <a:spAutoFit/>
          </a:bodyPr>
          <a:lstStyle/>
          <a:p>
            <a:pPr algn="r">
              <a:defRPr sz="1000" b="1" i="0">
                <a:solidFill>
                  <a:srgbClr val="6B5F83"/>
                </a:solidFill>
                <a:latin typeface="Segoe UI"/>
              </a:defRPr>
            </a:pPr>
            <a:r>
              <a:t>1.9%</a:t>
            </a:r>
          </a:p>
        </p:txBody>
      </p:sp>
      <p:sp>
        <p:nvSpPr>
          <p:cNvPr id="67" name="TextBox 66"/>
          <p:cNvSpPr txBox="1"/>
          <p:nvPr/>
        </p:nvSpPr>
        <p:spPr>
          <a:xfrm>
            <a:off x="4251960" y="5897880"/>
            <a:ext cx="3383280" cy="182880"/>
          </a:xfrm>
          <a:prstGeom prst="rect">
            <a:avLst/>
          </a:prstGeom>
          <a:noFill/>
        </p:spPr>
        <p:txBody>
          <a:bodyPr wrap="square">
            <a:spAutoFit/>
          </a:bodyPr>
          <a:lstStyle/>
          <a:p>
            <a:pPr algn="l">
              <a:defRPr sz="700" b="1" i="0">
                <a:solidFill>
                  <a:srgbClr val="5B21B6"/>
                </a:solidFill>
                <a:latin typeface="Segoe UI Semibold"/>
              </a:defRPr>
            </a:pPr>
            <a:r>
              <a:t>BY MONTH</a:t>
            </a:r>
          </a:p>
        </p:txBody>
      </p:sp>
      <p:sp>
        <p:nvSpPr>
          <p:cNvPr id="68" name="TextBox 67"/>
          <p:cNvSpPr txBox="1"/>
          <p:nvPr/>
        </p:nvSpPr>
        <p:spPr>
          <a:xfrm>
            <a:off x="4251960" y="6080760"/>
            <a:ext cx="3383280" cy="182880"/>
          </a:xfrm>
          <a:prstGeom prst="rect">
            <a:avLst/>
          </a:prstGeom>
          <a:noFill/>
        </p:spPr>
        <p:txBody>
          <a:bodyPr wrap="square">
            <a:spAutoFit/>
          </a:bodyPr>
          <a:lstStyle/>
          <a:p>
            <a:pPr algn="l">
              <a:defRPr sz="800" b="0" i="0">
                <a:solidFill>
                  <a:srgbClr val="6B5F83"/>
                </a:solidFill>
                <a:latin typeface="Segoe UI"/>
              </a:defRPr>
            </a:pPr>
            <a:r>
              <a:t>Feb: 2 / $37,241  |  Mar: 4 / $90,112</a:t>
            </a:r>
          </a:p>
        </p:txBody>
      </p:sp>
      <p:sp>
        <p:nvSpPr>
          <p:cNvPr id="69" name="Rounded Rectangle 68"/>
          <p:cNvSpPr/>
          <p:nvPr/>
        </p:nvSpPr>
        <p:spPr>
          <a:xfrm>
            <a:off x="7909560" y="1371600"/>
            <a:ext cx="3657600" cy="4937760"/>
          </a:xfrm>
          <a:prstGeom prst="roundRect">
            <a:avLst>
              <a:gd name="adj" fmla="val 8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7909560" y="1371600"/>
            <a:ext cx="365760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092440" y="1508760"/>
            <a:ext cx="3291840" cy="274320"/>
          </a:xfrm>
          <a:prstGeom prst="rect">
            <a:avLst/>
          </a:prstGeom>
          <a:noFill/>
        </p:spPr>
        <p:txBody>
          <a:bodyPr wrap="square">
            <a:spAutoFit/>
          </a:bodyPr>
          <a:lstStyle/>
          <a:p>
            <a:pPr algn="l">
              <a:defRPr sz="1600" b="1" i="0">
                <a:solidFill>
                  <a:srgbClr val="7C3AED"/>
                </a:solidFill>
                <a:latin typeface="Segoe UI Light"/>
              </a:defRPr>
            </a:pPr>
            <a:r>
              <a:t>2+ YEARS</a:t>
            </a:r>
          </a:p>
        </p:txBody>
      </p:sp>
      <p:sp>
        <p:nvSpPr>
          <p:cNvPr id="72" name="TextBox 71"/>
          <p:cNvSpPr txBox="1"/>
          <p:nvPr/>
        </p:nvSpPr>
        <p:spPr>
          <a:xfrm>
            <a:off x="8092440" y="1783080"/>
            <a:ext cx="3291840" cy="182880"/>
          </a:xfrm>
          <a:prstGeom prst="rect">
            <a:avLst/>
          </a:prstGeom>
          <a:noFill/>
        </p:spPr>
        <p:txBody>
          <a:bodyPr wrap="square">
            <a:spAutoFit/>
          </a:bodyPr>
          <a:lstStyle/>
          <a:p>
            <a:pPr algn="l">
              <a:defRPr sz="900" b="0" i="0">
                <a:solidFill>
                  <a:srgbClr val="9C92B5"/>
                </a:solidFill>
                <a:latin typeface="Segoe UI"/>
              </a:defRPr>
            </a:pPr>
            <a:r>
              <a:t>Established Business</a:t>
            </a:r>
          </a:p>
        </p:txBody>
      </p:sp>
      <p:sp>
        <p:nvSpPr>
          <p:cNvPr id="73" name="TextBox 72"/>
          <p:cNvSpPr txBox="1"/>
          <p:nvPr/>
        </p:nvSpPr>
        <p:spPr>
          <a:xfrm>
            <a:off x="8092440" y="2057400"/>
            <a:ext cx="3291840" cy="411480"/>
          </a:xfrm>
          <a:prstGeom prst="rect">
            <a:avLst/>
          </a:prstGeom>
          <a:noFill/>
        </p:spPr>
        <p:txBody>
          <a:bodyPr wrap="square">
            <a:spAutoFit/>
          </a:bodyPr>
          <a:lstStyle/>
          <a:p>
            <a:pPr algn="l">
              <a:defRPr sz="2800" b="1" i="0">
                <a:solidFill>
                  <a:srgbClr val="7C3AED"/>
                </a:solidFill>
                <a:latin typeface="Segoe UI"/>
              </a:defRPr>
            </a:pPr>
            <a:r>
              <a:t>$1.7M</a:t>
            </a:r>
          </a:p>
        </p:txBody>
      </p:sp>
      <p:sp>
        <p:nvSpPr>
          <p:cNvPr id="74" name="TextBox 73"/>
          <p:cNvSpPr txBox="1"/>
          <p:nvPr/>
        </p:nvSpPr>
        <p:spPr>
          <a:xfrm>
            <a:off x="8092440" y="2468880"/>
            <a:ext cx="3291840" cy="182880"/>
          </a:xfrm>
          <a:prstGeom prst="rect">
            <a:avLst/>
          </a:prstGeom>
          <a:noFill/>
        </p:spPr>
        <p:txBody>
          <a:bodyPr wrap="square">
            <a:spAutoFit/>
          </a:bodyPr>
          <a:lstStyle/>
          <a:p>
            <a:pPr algn="l">
              <a:defRPr sz="900" b="0" i="0">
                <a:solidFill>
                  <a:srgbClr val="6B5F83"/>
                </a:solidFill>
                <a:latin typeface="Segoe UI"/>
              </a:defRPr>
            </a:pPr>
            <a:r>
              <a:t>52 binds  (28% of total)  |  32% of GWP</a:t>
            </a:r>
          </a:p>
        </p:txBody>
      </p:sp>
      <p:sp>
        <p:nvSpPr>
          <p:cNvPr id="75" name="Rectangle 74"/>
          <p:cNvSpPr/>
          <p:nvPr/>
        </p:nvSpPr>
        <p:spPr>
          <a:xfrm>
            <a:off x="8046720" y="278892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92440" y="2926080"/>
            <a:ext cx="1828800" cy="201168"/>
          </a:xfrm>
          <a:prstGeom prst="rect">
            <a:avLst/>
          </a:prstGeom>
          <a:noFill/>
        </p:spPr>
        <p:txBody>
          <a:bodyPr wrap="square">
            <a:spAutoFit/>
          </a:bodyPr>
          <a:lstStyle/>
          <a:p>
            <a:pPr algn="l">
              <a:defRPr sz="900" b="0" i="0">
                <a:solidFill>
                  <a:srgbClr val="9C92B5"/>
                </a:solidFill>
                <a:latin typeface="Segoe UI"/>
              </a:defRPr>
            </a:pPr>
            <a:r>
              <a:t>Avg Premium</a:t>
            </a:r>
          </a:p>
        </p:txBody>
      </p:sp>
      <p:sp>
        <p:nvSpPr>
          <p:cNvPr id="77" name="TextBox 76"/>
          <p:cNvSpPr txBox="1"/>
          <p:nvPr/>
        </p:nvSpPr>
        <p:spPr>
          <a:xfrm>
            <a:off x="9921240" y="2926080"/>
            <a:ext cx="1371600" cy="201168"/>
          </a:xfrm>
          <a:prstGeom prst="rect">
            <a:avLst/>
          </a:prstGeom>
          <a:noFill/>
        </p:spPr>
        <p:txBody>
          <a:bodyPr wrap="square">
            <a:spAutoFit/>
          </a:bodyPr>
          <a:lstStyle/>
          <a:p>
            <a:pPr algn="r">
              <a:defRPr sz="1000" b="1" i="0">
                <a:solidFill>
                  <a:srgbClr val="2D233F"/>
                </a:solidFill>
                <a:latin typeface="Segoe UI"/>
              </a:defRPr>
            </a:pPr>
            <a:r>
              <a:t>$32,411</a:t>
            </a:r>
          </a:p>
        </p:txBody>
      </p:sp>
      <p:sp>
        <p:nvSpPr>
          <p:cNvPr id="78" name="TextBox 77"/>
          <p:cNvSpPr txBox="1"/>
          <p:nvPr/>
        </p:nvSpPr>
        <p:spPr>
          <a:xfrm>
            <a:off x="8092440" y="3218688"/>
            <a:ext cx="1828800" cy="201168"/>
          </a:xfrm>
          <a:prstGeom prst="rect">
            <a:avLst/>
          </a:prstGeom>
          <a:noFill/>
        </p:spPr>
        <p:txBody>
          <a:bodyPr wrap="square">
            <a:spAutoFit/>
          </a:bodyPr>
          <a:lstStyle/>
          <a:p>
            <a:pPr algn="l">
              <a:defRPr sz="900" b="0" i="0">
                <a:solidFill>
                  <a:srgbClr val="9C92B5"/>
                </a:solidFill>
                <a:latin typeface="Segoe UI"/>
              </a:defRPr>
            </a:pPr>
            <a:r>
              <a:t>Binds</a:t>
            </a:r>
          </a:p>
        </p:txBody>
      </p:sp>
      <p:sp>
        <p:nvSpPr>
          <p:cNvPr id="79" name="TextBox 78"/>
          <p:cNvSpPr txBox="1"/>
          <p:nvPr/>
        </p:nvSpPr>
        <p:spPr>
          <a:xfrm>
            <a:off x="9921240" y="3218688"/>
            <a:ext cx="1371600" cy="201168"/>
          </a:xfrm>
          <a:prstGeom prst="rect">
            <a:avLst/>
          </a:prstGeom>
          <a:noFill/>
        </p:spPr>
        <p:txBody>
          <a:bodyPr wrap="square">
            <a:spAutoFit/>
          </a:bodyPr>
          <a:lstStyle/>
          <a:p>
            <a:pPr algn="r">
              <a:defRPr sz="1000" b="1" i="0">
                <a:solidFill>
                  <a:srgbClr val="2D233F"/>
                </a:solidFill>
                <a:latin typeface="Segoe UI"/>
              </a:defRPr>
            </a:pPr>
            <a:r>
              <a:t>52</a:t>
            </a:r>
          </a:p>
        </p:txBody>
      </p:sp>
      <p:sp>
        <p:nvSpPr>
          <p:cNvPr id="80" name="TextBox 79"/>
          <p:cNvSpPr txBox="1"/>
          <p:nvPr/>
        </p:nvSpPr>
        <p:spPr>
          <a:xfrm>
            <a:off x="8092440" y="3511296"/>
            <a:ext cx="1828800" cy="201168"/>
          </a:xfrm>
          <a:prstGeom prst="rect">
            <a:avLst/>
          </a:prstGeom>
          <a:noFill/>
        </p:spPr>
        <p:txBody>
          <a:bodyPr wrap="square">
            <a:spAutoFit/>
          </a:bodyPr>
          <a:lstStyle/>
          <a:p>
            <a:pPr algn="l">
              <a:defRPr sz="900" b="0" i="0">
                <a:solidFill>
                  <a:srgbClr val="9C92B5"/>
                </a:solidFill>
                <a:latin typeface="Segoe UI"/>
              </a:defRPr>
            </a:pPr>
            <a:r>
              <a:t>% of Binds</a:t>
            </a:r>
          </a:p>
        </p:txBody>
      </p:sp>
      <p:sp>
        <p:nvSpPr>
          <p:cNvPr id="81" name="TextBox 80"/>
          <p:cNvSpPr txBox="1"/>
          <p:nvPr/>
        </p:nvSpPr>
        <p:spPr>
          <a:xfrm>
            <a:off x="9921240" y="3511296"/>
            <a:ext cx="1371600" cy="201168"/>
          </a:xfrm>
          <a:prstGeom prst="rect">
            <a:avLst/>
          </a:prstGeom>
          <a:noFill/>
        </p:spPr>
        <p:txBody>
          <a:bodyPr wrap="square">
            <a:spAutoFit/>
          </a:bodyPr>
          <a:lstStyle/>
          <a:p>
            <a:pPr algn="r">
              <a:defRPr sz="1000" b="1" i="0">
                <a:solidFill>
                  <a:srgbClr val="2D233F"/>
                </a:solidFill>
                <a:latin typeface="Segoe UI"/>
              </a:defRPr>
            </a:pPr>
            <a:r>
              <a:t>28.3%</a:t>
            </a:r>
          </a:p>
        </p:txBody>
      </p:sp>
      <p:sp>
        <p:nvSpPr>
          <p:cNvPr id="82" name="TextBox 81"/>
          <p:cNvSpPr txBox="1"/>
          <p:nvPr/>
        </p:nvSpPr>
        <p:spPr>
          <a:xfrm>
            <a:off x="8092440" y="3803904"/>
            <a:ext cx="1828800" cy="201168"/>
          </a:xfrm>
          <a:prstGeom prst="rect">
            <a:avLst/>
          </a:prstGeom>
          <a:noFill/>
        </p:spPr>
        <p:txBody>
          <a:bodyPr wrap="square">
            <a:spAutoFit/>
          </a:bodyPr>
          <a:lstStyle/>
          <a:p>
            <a:pPr algn="l">
              <a:defRPr sz="900" b="0" i="0">
                <a:solidFill>
                  <a:srgbClr val="9C92B5"/>
                </a:solidFill>
                <a:latin typeface="Segoe UI"/>
              </a:defRPr>
            </a:pPr>
            <a:r>
              <a:t>% of GWP</a:t>
            </a:r>
          </a:p>
        </p:txBody>
      </p:sp>
      <p:sp>
        <p:nvSpPr>
          <p:cNvPr id="83" name="TextBox 82"/>
          <p:cNvSpPr txBox="1"/>
          <p:nvPr/>
        </p:nvSpPr>
        <p:spPr>
          <a:xfrm>
            <a:off x="9921240" y="3803904"/>
            <a:ext cx="1371600" cy="201168"/>
          </a:xfrm>
          <a:prstGeom prst="rect">
            <a:avLst/>
          </a:prstGeom>
          <a:noFill/>
        </p:spPr>
        <p:txBody>
          <a:bodyPr wrap="square">
            <a:spAutoFit/>
          </a:bodyPr>
          <a:lstStyle/>
          <a:p>
            <a:pPr algn="r">
              <a:defRPr sz="1000" b="1" i="0">
                <a:solidFill>
                  <a:srgbClr val="2D233F"/>
                </a:solidFill>
                <a:latin typeface="Segoe UI"/>
              </a:defRPr>
            </a:pPr>
            <a:r>
              <a:t>32.4%</a:t>
            </a:r>
          </a:p>
        </p:txBody>
      </p:sp>
      <p:sp>
        <p:nvSpPr>
          <p:cNvPr id="84" name="Rectangle 83"/>
          <p:cNvSpPr/>
          <p:nvPr/>
        </p:nvSpPr>
        <p:spPr>
          <a:xfrm>
            <a:off x="8046720" y="4160520"/>
            <a:ext cx="3383280" cy="18288"/>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046720" y="4251960"/>
            <a:ext cx="3383280" cy="182880"/>
          </a:xfrm>
          <a:prstGeom prst="rect">
            <a:avLst/>
          </a:prstGeom>
          <a:noFill/>
        </p:spPr>
        <p:txBody>
          <a:bodyPr wrap="square">
            <a:spAutoFit/>
          </a:bodyPr>
          <a:lstStyle/>
          <a:p>
            <a:pPr algn="l">
              <a:defRPr sz="800" b="1" i="0">
                <a:solidFill>
                  <a:srgbClr val="5B21B6"/>
                </a:solidFill>
                <a:latin typeface="Segoe UI Semibold"/>
              </a:defRPr>
            </a:pPr>
            <a:r>
              <a:t>SUBMISSION FUNNEL</a:t>
            </a:r>
          </a:p>
        </p:txBody>
      </p:sp>
      <p:sp>
        <p:nvSpPr>
          <p:cNvPr id="86" name="TextBox 85"/>
          <p:cNvSpPr txBox="1"/>
          <p:nvPr/>
        </p:nvSpPr>
        <p:spPr>
          <a:xfrm>
            <a:off x="8092440" y="4480560"/>
            <a:ext cx="1828800" cy="201168"/>
          </a:xfrm>
          <a:prstGeom prst="rect">
            <a:avLst/>
          </a:prstGeom>
          <a:noFill/>
        </p:spPr>
        <p:txBody>
          <a:bodyPr wrap="square">
            <a:spAutoFit/>
          </a:bodyPr>
          <a:lstStyle/>
          <a:p>
            <a:pPr algn="l">
              <a:defRPr sz="900" b="0" i="0">
                <a:solidFill>
                  <a:srgbClr val="9C92B5"/>
                </a:solidFill>
                <a:latin typeface="Segoe UI"/>
              </a:defRPr>
            </a:pPr>
            <a:r>
              <a:t>Submissions</a:t>
            </a:r>
          </a:p>
        </p:txBody>
      </p:sp>
      <p:sp>
        <p:nvSpPr>
          <p:cNvPr id="87" name="TextBox 86"/>
          <p:cNvSpPr txBox="1"/>
          <p:nvPr/>
        </p:nvSpPr>
        <p:spPr>
          <a:xfrm>
            <a:off x="9921240" y="4480560"/>
            <a:ext cx="1371600" cy="201168"/>
          </a:xfrm>
          <a:prstGeom prst="rect">
            <a:avLst/>
          </a:prstGeom>
          <a:noFill/>
        </p:spPr>
        <p:txBody>
          <a:bodyPr wrap="square">
            <a:spAutoFit/>
          </a:bodyPr>
          <a:lstStyle/>
          <a:p>
            <a:pPr algn="r">
              <a:defRPr sz="1000" b="1" i="0">
                <a:solidFill>
                  <a:srgbClr val="6B5F83"/>
                </a:solidFill>
                <a:latin typeface="Segoe UI"/>
              </a:defRPr>
            </a:pPr>
            <a:r>
              <a:t>272</a:t>
            </a:r>
          </a:p>
        </p:txBody>
      </p:sp>
      <p:sp>
        <p:nvSpPr>
          <p:cNvPr id="88" name="TextBox 87"/>
          <p:cNvSpPr txBox="1"/>
          <p:nvPr/>
        </p:nvSpPr>
        <p:spPr>
          <a:xfrm>
            <a:off x="8092440" y="4754880"/>
            <a:ext cx="1828800" cy="201168"/>
          </a:xfrm>
          <a:prstGeom prst="rect">
            <a:avLst/>
          </a:prstGeom>
          <a:noFill/>
        </p:spPr>
        <p:txBody>
          <a:bodyPr wrap="square">
            <a:spAutoFit/>
          </a:bodyPr>
          <a:lstStyle/>
          <a:p>
            <a:pPr algn="l">
              <a:defRPr sz="900" b="0" i="0">
                <a:solidFill>
                  <a:srgbClr val="9C92B5"/>
                </a:solidFill>
                <a:latin typeface="Segoe UI"/>
              </a:defRPr>
            </a:pPr>
            <a:r>
              <a:t>Quoted</a:t>
            </a:r>
          </a:p>
        </p:txBody>
      </p:sp>
      <p:sp>
        <p:nvSpPr>
          <p:cNvPr id="89" name="TextBox 88"/>
          <p:cNvSpPr txBox="1"/>
          <p:nvPr/>
        </p:nvSpPr>
        <p:spPr>
          <a:xfrm>
            <a:off x="9921240" y="4754880"/>
            <a:ext cx="1371600" cy="201168"/>
          </a:xfrm>
          <a:prstGeom prst="rect">
            <a:avLst/>
          </a:prstGeom>
          <a:noFill/>
        </p:spPr>
        <p:txBody>
          <a:bodyPr wrap="square">
            <a:spAutoFit/>
          </a:bodyPr>
          <a:lstStyle/>
          <a:p>
            <a:pPr algn="r">
              <a:defRPr sz="1000" b="1" i="0">
                <a:solidFill>
                  <a:srgbClr val="6B5F83"/>
                </a:solidFill>
                <a:latin typeface="Segoe UI"/>
              </a:defRPr>
            </a:pPr>
            <a:r>
              <a:t>108</a:t>
            </a:r>
          </a:p>
        </p:txBody>
      </p:sp>
      <p:sp>
        <p:nvSpPr>
          <p:cNvPr id="90" name="TextBox 89"/>
          <p:cNvSpPr txBox="1"/>
          <p:nvPr/>
        </p:nvSpPr>
        <p:spPr>
          <a:xfrm>
            <a:off x="8092440" y="5029200"/>
            <a:ext cx="1828800" cy="201168"/>
          </a:xfrm>
          <a:prstGeom prst="rect">
            <a:avLst/>
          </a:prstGeom>
          <a:noFill/>
        </p:spPr>
        <p:txBody>
          <a:bodyPr wrap="square">
            <a:spAutoFit/>
          </a:bodyPr>
          <a:lstStyle/>
          <a:p>
            <a:pPr algn="l">
              <a:defRPr sz="900" b="0" i="0">
                <a:solidFill>
                  <a:srgbClr val="9C92B5"/>
                </a:solidFill>
                <a:latin typeface="Segoe UI"/>
              </a:defRPr>
            </a:pPr>
            <a:r>
              <a:t>Bound</a:t>
            </a:r>
          </a:p>
        </p:txBody>
      </p:sp>
      <p:sp>
        <p:nvSpPr>
          <p:cNvPr id="91" name="TextBox 90"/>
          <p:cNvSpPr txBox="1"/>
          <p:nvPr/>
        </p:nvSpPr>
        <p:spPr>
          <a:xfrm>
            <a:off x="9921240" y="5029200"/>
            <a:ext cx="1371600" cy="201168"/>
          </a:xfrm>
          <a:prstGeom prst="rect">
            <a:avLst/>
          </a:prstGeom>
          <a:noFill/>
        </p:spPr>
        <p:txBody>
          <a:bodyPr wrap="square">
            <a:spAutoFit/>
          </a:bodyPr>
          <a:lstStyle/>
          <a:p>
            <a:pPr algn="r">
              <a:defRPr sz="1000" b="1" i="0">
                <a:solidFill>
                  <a:srgbClr val="6B5F83"/>
                </a:solidFill>
                <a:latin typeface="Segoe UI"/>
              </a:defRPr>
            </a:pPr>
            <a:r>
              <a:t>11</a:t>
            </a:r>
          </a:p>
        </p:txBody>
      </p:sp>
      <p:sp>
        <p:nvSpPr>
          <p:cNvPr id="92" name="TextBox 91"/>
          <p:cNvSpPr txBox="1"/>
          <p:nvPr/>
        </p:nvSpPr>
        <p:spPr>
          <a:xfrm>
            <a:off x="8092440" y="5303520"/>
            <a:ext cx="1828800" cy="201168"/>
          </a:xfrm>
          <a:prstGeom prst="rect">
            <a:avLst/>
          </a:prstGeom>
          <a:noFill/>
        </p:spPr>
        <p:txBody>
          <a:bodyPr wrap="square">
            <a:spAutoFit/>
          </a:bodyPr>
          <a:lstStyle/>
          <a:p>
            <a:pPr algn="l">
              <a:defRPr sz="900" b="0" i="0">
                <a:solidFill>
                  <a:srgbClr val="9C92B5"/>
                </a:solidFill>
                <a:latin typeface="Segoe UI"/>
              </a:defRPr>
            </a:pPr>
            <a:r>
              <a:t>Quote Rate</a:t>
            </a:r>
          </a:p>
        </p:txBody>
      </p:sp>
      <p:sp>
        <p:nvSpPr>
          <p:cNvPr id="93" name="TextBox 92"/>
          <p:cNvSpPr txBox="1"/>
          <p:nvPr/>
        </p:nvSpPr>
        <p:spPr>
          <a:xfrm>
            <a:off x="9921240" y="5303520"/>
            <a:ext cx="1371600" cy="201168"/>
          </a:xfrm>
          <a:prstGeom prst="rect">
            <a:avLst/>
          </a:prstGeom>
          <a:noFill/>
        </p:spPr>
        <p:txBody>
          <a:bodyPr wrap="square">
            <a:spAutoFit/>
          </a:bodyPr>
          <a:lstStyle/>
          <a:p>
            <a:pPr algn="r">
              <a:defRPr sz="1000" b="1" i="0">
                <a:solidFill>
                  <a:srgbClr val="6B5F83"/>
                </a:solidFill>
                <a:latin typeface="Segoe UI"/>
              </a:defRPr>
            </a:pPr>
            <a:r>
              <a:t>39.7%</a:t>
            </a:r>
          </a:p>
        </p:txBody>
      </p:sp>
      <p:sp>
        <p:nvSpPr>
          <p:cNvPr id="94" name="TextBox 93"/>
          <p:cNvSpPr txBox="1"/>
          <p:nvPr/>
        </p:nvSpPr>
        <p:spPr>
          <a:xfrm>
            <a:off x="8092440" y="5577840"/>
            <a:ext cx="1828800" cy="201168"/>
          </a:xfrm>
          <a:prstGeom prst="rect">
            <a:avLst/>
          </a:prstGeom>
          <a:noFill/>
        </p:spPr>
        <p:txBody>
          <a:bodyPr wrap="square">
            <a:spAutoFit/>
          </a:bodyPr>
          <a:lstStyle/>
          <a:p>
            <a:pPr algn="l">
              <a:defRPr sz="900" b="0" i="0">
                <a:solidFill>
                  <a:srgbClr val="9C92B5"/>
                </a:solidFill>
                <a:latin typeface="Segoe UI"/>
              </a:defRPr>
            </a:pPr>
            <a:r>
              <a:t>Bind Rate</a:t>
            </a:r>
          </a:p>
        </p:txBody>
      </p:sp>
      <p:sp>
        <p:nvSpPr>
          <p:cNvPr id="95" name="TextBox 94"/>
          <p:cNvSpPr txBox="1"/>
          <p:nvPr/>
        </p:nvSpPr>
        <p:spPr>
          <a:xfrm>
            <a:off x="9921240" y="5577840"/>
            <a:ext cx="1371600" cy="201168"/>
          </a:xfrm>
          <a:prstGeom prst="rect">
            <a:avLst/>
          </a:prstGeom>
          <a:noFill/>
        </p:spPr>
        <p:txBody>
          <a:bodyPr wrap="square">
            <a:spAutoFit/>
          </a:bodyPr>
          <a:lstStyle/>
          <a:p>
            <a:pPr algn="r">
              <a:defRPr sz="1000" b="1" i="0">
                <a:solidFill>
                  <a:srgbClr val="6B5F83"/>
                </a:solidFill>
                <a:latin typeface="Segoe UI"/>
              </a:defRPr>
            </a:pPr>
            <a:r>
              <a:t>4.0%</a:t>
            </a:r>
          </a:p>
        </p:txBody>
      </p:sp>
      <p:sp>
        <p:nvSpPr>
          <p:cNvPr id="96" name="TextBox 95"/>
          <p:cNvSpPr txBox="1"/>
          <p:nvPr/>
        </p:nvSpPr>
        <p:spPr>
          <a:xfrm>
            <a:off x="8046720" y="5897880"/>
            <a:ext cx="3383280" cy="182880"/>
          </a:xfrm>
          <a:prstGeom prst="rect">
            <a:avLst/>
          </a:prstGeom>
          <a:noFill/>
        </p:spPr>
        <p:txBody>
          <a:bodyPr wrap="square">
            <a:spAutoFit/>
          </a:bodyPr>
          <a:lstStyle/>
          <a:p>
            <a:pPr algn="l">
              <a:defRPr sz="700" b="1" i="0">
                <a:solidFill>
                  <a:srgbClr val="5B21B6"/>
                </a:solidFill>
                <a:latin typeface="Segoe UI Semibold"/>
              </a:defRPr>
            </a:pPr>
            <a:r>
              <a:t>BY MONTH</a:t>
            </a:r>
          </a:p>
        </p:txBody>
      </p:sp>
      <p:sp>
        <p:nvSpPr>
          <p:cNvPr id="97" name="TextBox 96"/>
          <p:cNvSpPr txBox="1"/>
          <p:nvPr/>
        </p:nvSpPr>
        <p:spPr>
          <a:xfrm>
            <a:off x="8046720" y="6080760"/>
            <a:ext cx="3383280" cy="182880"/>
          </a:xfrm>
          <a:prstGeom prst="rect">
            <a:avLst/>
          </a:prstGeom>
          <a:noFill/>
        </p:spPr>
        <p:txBody>
          <a:bodyPr wrap="square">
            <a:spAutoFit/>
          </a:bodyPr>
          <a:lstStyle/>
          <a:p>
            <a:pPr algn="l">
              <a:defRPr sz="800" b="0" i="0">
                <a:solidFill>
                  <a:srgbClr val="6B5F83"/>
                </a:solidFill>
                <a:latin typeface="Segoe UI"/>
              </a:defRPr>
            </a:pPr>
            <a:r>
              <a:t>Jan: 8 / $381,345  |  Feb: 10 / $587,987  |  Mar: 11 / $247,579</a:t>
            </a:r>
          </a:p>
        </p:txBody>
      </p:sp>
      <p:sp>
        <p:nvSpPr>
          <p:cNvPr id="98" name="Rectangle 97"/>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100" name="TextBox 99"/>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400" b="1" i="0">
                <a:solidFill>
                  <a:srgbClr val="FFFFFF"/>
                </a:solidFill>
                <a:latin typeface="Segoe UI Light"/>
              </a:defRPr>
            </a:pPr>
            <a:r>
              <a:t>FEBRUARY CAMPAIGN RECAP</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000" b="0" i="0">
                <a:solidFill>
                  <a:srgbClr val="C4B5FD"/>
                </a:solidFill>
                <a:latin typeface="Segoe UI"/>
              </a:defRPr>
            </a:pPr>
            <a:r>
              <a:t>What We Did  |  Growth DSG + Newsletter + 32-State Expansion</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371600"/>
            <a:ext cx="3703320" cy="150876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371600"/>
            <a:ext cx="3703320" cy="32004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426464"/>
            <a:ext cx="3429000" cy="228600"/>
          </a:xfrm>
          <a:prstGeom prst="rect">
            <a:avLst/>
          </a:prstGeom>
          <a:noFill/>
        </p:spPr>
        <p:txBody>
          <a:bodyPr wrap="square">
            <a:spAutoFit/>
          </a:bodyPr>
          <a:lstStyle/>
          <a:p>
            <a:pPr algn="l">
              <a:defRPr sz="1000" b="1" i="0">
                <a:solidFill>
                  <a:srgbClr val="FFFFFF"/>
                </a:solidFill>
                <a:latin typeface="Segoe UI Semibold"/>
              </a:defRPr>
            </a:pPr>
            <a:r>
              <a:t>GROWTH DSG CAMPAIGN</a:t>
            </a:r>
          </a:p>
        </p:txBody>
      </p:sp>
      <p:sp>
        <p:nvSpPr>
          <p:cNvPr id="14" name="TextBox 13"/>
          <p:cNvSpPr txBox="1"/>
          <p:nvPr/>
        </p:nvSpPr>
        <p:spPr>
          <a:xfrm>
            <a:off x="411480" y="1783080"/>
            <a:ext cx="1097280" cy="320040"/>
          </a:xfrm>
          <a:prstGeom prst="rect">
            <a:avLst/>
          </a:prstGeom>
          <a:noFill/>
        </p:spPr>
        <p:txBody>
          <a:bodyPr wrap="square">
            <a:spAutoFit/>
          </a:bodyPr>
          <a:lstStyle/>
          <a:p>
            <a:pPr algn="l">
              <a:defRPr sz="2400" b="1" i="0">
                <a:solidFill>
                  <a:srgbClr val="D946EF"/>
                </a:solidFill>
                <a:latin typeface="Segoe UI Light"/>
              </a:defRPr>
            </a:pPr>
            <a:r>
              <a:t>7,297</a:t>
            </a:r>
          </a:p>
        </p:txBody>
      </p:sp>
      <p:sp>
        <p:nvSpPr>
          <p:cNvPr id="15" name="TextBox 14"/>
          <p:cNvSpPr txBox="1"/>
          <p:nvPr/>
        </p:nvSpPr>
        <p:spPr>
          <a:xfrm>
            <a:off x="1554480" y="1810512"/>
            <a:ext cx="2194560" cy="228600"/>
          </a:xfrm>
          <a:prstGeom prst="rect">
            <a:avLst/>
          </a:prstGeom>
          <a:noFill/>
        </p:spPr>
        <p:txBody>
          <a:bodyPr wrap="square">
            <a:spAutoFit/>
          </a:bodyPr>
          <a:lstStyle/>
          <a:p>
            <a:pPr algn="l">
              <a:defRPr sz="1100" b="1" i="0">
                <a:solidFill>
                  <a:srgbClr val="2D233F"/>
                </a:solidFill>
                <a:latin typeface="Segoe UI"/>
              </a:defRPr>
            </a:pPr>
            <a:r>
              <a:t>emails sent</a:t>
            </a:r>
          </a:p>
        </p:txBody>
      </p:sp>
      <p:sp>
        <p:nvSpPr>
          <p:cNvPr id="16" name="TextBox 15"/>
          <p:cNvSpPr txBox="1"/>
          <p:nvPr/>
        </p:nvSpPr>
        <p:spPr>
          <a:xfrm>
            <a:off x="411480" y="2148840"/>
            <a:ext cx="3429000" cy="182880"/>
          </a:xfrm>
          <a:prstGeom prst="rect">
            <a:avLst/>
          </a:prstGeom>
          <a:noFill/>
        </p:spPr>
        <p:txBody>
          <a:bodyPr wrap="square">
            <a:spAutoFit/>
          </a:bodyPr>
          <a:lstStyle/>
          <a:p>
            <a:pPr algn="l">
              <a:defRPr sz="900" b="0" i="0">
                <a:solidFill>
                  <a:srgbClr val="6B5F83"/>
                </a:solidFill>
                <a:latin typeface="Segoe UI"/>
              </a:defRPr>
            </a:pPr>
            <a:r>
              <a:t>•  2,052 opened (28.8%)</a:t>
            </a:r>
          </a:p>
        </p:txBody>
      </p:sp>
      <p:sp>
        <p:nvSpPr>
          <p:cNvPr id="17" name="TextBox 16"/>
          <p:cNvSpPr txBox="1"/>
          <p:nvPr/>
        </p:nvSpPr>
        <p:spPr>
          <a:xfrm>
            <a:off x="411480" y="2359152"/>
            <a:ext cx="3429000" cy="182880"/>
          </a:xfrm>
          <a:prstGeom prst="rect">
            <a:avLst/>
          </a:prstGeom>
          <a:noFill/>
        </p:spPr>
        <p:txBody>
          <a:bodyPr wrap="square">
            <a:spAutoFit/>
          </a:bodyPr>
          <a:lstStyle/>
          <a:p>
            <a:pPr algn="l">
              <a:defRPr sz="900" b="0" i="0">
                <a:solidFill>
                  <a:srgbClr val="6B5F83"/>
                </a:solidFill>
                <a:latin typeface="Segoe UI"/>
              </a:defRPr>
            </a:pPr>
            <a:r>
              <a:t>•  1,200 contacts influenced</a:t>
            </a:r>
          </a:p>
        </p:txBody>
      </p:sp>
      <p:sp>
        <p:nvSpPr>
          <p:cNvPr id="18" name="TextBox 17"/>
          <p:cNvSpPr txBox="1"/>
          <p:nvPr/>
        </p:nvSpPr>
        <p:spPr>
          <a:xfrm>
            <a:off x="411480" y="2569464"/>
            <a:ext cx="3429000" cy="182880"/>
          </a:xfrm>
          <a:prstGeom prst="rect">
            <a:avLst/>
          </a:prstGeom>
          <a:noFill/>
        </p:spPr>
        <p:txBody>
          <a:bodyPr wrap="square">
            <a:spAutoFit/>
          </a:bodyPr>
          <a:lstStyle/>
          <a:p>
            <a:pPr algn="l">
              <a:defRPr sz="900" b="1" i="0">
                <a:solidFill>
                  <a:srgbClr val="2D233F"/>
                </a:solidFill>
                <a:latin typeface="Segoe UI"/>
              </a:defRPr>
            </a:pPr>
            <a:r>
              <a:t>•  5 of 16 Feb bound agents directly tied to campaign</a:t>
            </a:r>
          </a:p>
        </p:txBody>
      </p:sp>
      <p:sp>
        <p:nvSpPr>
          <p:cNvPr id="19" name="Rounded Rectangle 18"/>
          <p:cNvSpPr/>
          <p:nvPr/>
        </p:nvSpPr>
        <p:spPr>
          <a:xfrm>
            <a:off x="4160520" y="1371600"/>
            <a:ext cx="3703320" cy="150876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60520" y="1371600"/>
            <a:ext cx="370332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1426464"/>
            <a:ext cx="3429000" cy="228600"/>
          </a:xfrm>
          <a:prstGeom prst="rect">
            <a:avLst/>
          </a:prstGeom>
          <a:noFill/>
        </p:spPr>
        <p:txBody>
          <a:bodyPr wrap="square">
            <a:spAutoFit/>
          </a:bodyPr>
          <a:lstStyle/>
          <a:p>
            <a:pPr algn="l">
              <a:defRPr sz="1000" b="1" i="0">
                <a:solidFill>
                  <a:srgbClr val="FFFFFF"/>
                </a:solidFill>
                <a:latin typeface="Segoe UI Semibold"/>
              </a:defRPr>
            </a:pPr>
            <a:r>
              <a:t>AGENT NEWSLETTER</a:t>
            </a:r>
          </a:p>
        </p:txBody>
      </p:sp>
      <p:sp>
        <p:nvSpPr>
          <p:cNvPr id="22" name="TextBox 21"/>
          <p:cNvSpPr txBox="1"/>
          <p:nvPr/>
        </p:nvSpPr>
        <p:spPr>
          <a:xfrm>
            <a:off x="4297680" y="1783080"/>
            <a:ext cx="1097280" cy="320040"/>
          </a:xfrm>
          <a:prstGeom prst="rect">
            <a:avLst/>
          </a:prstGeom>
          <a:noFill/>
        </p:spPr>
        <p:txBody>
          <a:bodyPr wrap="square">
            <a:spAutoFit/>
          </a:bodyPr>
          <a:lstStyle/>
          <a:p>
            <a:pPr algn="l">
              <a:defRPr sz="2400" b="1" i="0">
                <a:solidFill>
                  <a:srgbClr val="7C3AED"/>
                </a:solidFill>
                <a:latin typeface="Segoe UI Light"/>
              </a:defRPr>
            </a:pPr>
            <a:r>
              <a:t>~2,399</a:t>
            </a:r>
          </a:p>
        </p:txBody>
      </p:sp>
      <p:sp>
        <p:nvSpPr>
          <p:cNvPr id="23" name="TextBox 22"/>
          <p:cNvSpPr txBox="1"/>
          <p:nvPr/>
        </p:nvSpPr>
        <p:spPr>
          <a:xfrm>
            <a:off x="5440680" y="1810512"/>
            <a:ext cx="2194560" cy="228600"/>
          </a:xfrm>
          <a:prstGeom prst="rect">
            <a:avLst/>
          </a:prstGeom>
          <a:noFill/>
        </p:spPr>
        <p:txBody>
          <a:bodyPr wrap="square">
            <a:spAutoFit/>
          </a:bodyPr>
          <a:lstStyle/>
          <a:p>
            <a:pPr algn="l">
              <a:defRPr sz="1100" b="1" i="0">
                <a:solidFill>
                  <a:srgbClr val="2D233F"/>
                </a:solidFill>
                <a:latin typeface="Segoe UI"/>
              </a:defRPr>
            </a:pPr>
            <a:r>
              <a:t>recipients</a:t>
            </a:r>
          </a:p>
        </p:txBody>
      </p:sp>
      <p:sp>
        <p:nvSpPr>
          <p:cNvPr id="24" name="TextBox 23"/>
          <p:cNvSpPr txBox="1"/>
          <p:nvPr/>
        </p:nvSpPr>
        <p:spPr>
          <a:xfrm>
            <a:off x="4297680" y="2148840"/>
            <a:ext cx="3429000" cy="182880"/>
          </a:xfrm>
          <a:prstGeom prst="rect">
            <a:avLst/>
          </a:prstGeom>
          <a:noFill/>
        </p:spPr>
        <p:txBody>
          <a:bodyPr wrap="square">
            <a:spAutoFit/>
          </a:bodyPr>
          <a:lstStyle/>
          <a:p>
            <a:pPr algn="l">
              <a:defRPr sz="900" b="0" i="0">
                <a:solidFill>
                  <a:srgbClr val="6B5F83"/>
                </a:solidFill>
                <a:latin typeface="Segoe UI"/>
              </a:defRPr>
            </a:pPr>
            <a:r>
              <a:t>•  4 confirmed  |  7 likely opens</a:t>
            </a:r>
          </a:p>
        </p:txBody>
      </p:sp>
      <p:sp>
        <p:nvSpPr>
          <p:cNvPr id="25" name="TextBox 24"/>
          <p:cNvSpPr txBox="1"/>
          <p:nvPr/>
        </p:nvSpPr>
        <p:spPr>
          <a:xfrm>
            <a:off x="4297680" y="2359152"/>
            <a:ext cx="3429000" cy="182880"/>
          </a:xfrm>
          <a:prstGeom prst="rect">
            <a:avLst/>
          </a:prstGeom>
          <a:noFill/>
        </p:spPr>
        <p:txBody>
          <a:bodyPr wrap="square">
            <a:spAutoFit/>
          </a:bodyPr>
          <a:lstStyle/>
          <a:p>
            <a:pPr algn="l">
              <a:defRPr sz="900" b="0" i="0">
                <a:solidFill>
                  <a:srgbClr val="6B5F83"/>
                </a:solidFill>
                <a:latin typeface="Segoe UI"/>
              </a:defRPr>
            </a:pPr>
            <a:r>
              <a:t>•  ~69% estimated reach</a:t>
            </a:r>
          </a:p>
        </p:txBody>
      </p:sp>
      <p:sp>
        <p:nvSpPr>
          <p:cNvPr id="26" name="TextBox 25"/>
          <p:cNvSpPr txBox="1"/>
          <p:nvPr/>
        </p:nvSpPr>
        <p:spPr>
          <a:xfrm>
            <a:off x="4297680" y="2569464"/>
            <a:ext cx="3429000" cy="182880"/>
          </a:xfrm>
          <a:prstGeom prst="rect">
            <a:avLst/>
          </a:prstGeom>
          <a:noFill/>
        </p:spPr>
        <p:txBody>
          <a:bodyPr wrap="square">
            <a:spAutoFit/>
          </a:bodyPr>
          <a:lstStyle/>
          <a:p>
            <a:pPr algn="l">
              <a:defRPr sz="900" b="1" i="0">
                <a:solidFill>
                  <a:srgbClr val="2D233F"/>
                </a:solidFill>
                <a:latin typeface="Segoe UI"/>
              </a:defRPr>
            </a:pPr>
            <a:r>
              <a:t>•  13 of 16 bound agents currently marketable</a:t>
            </a:r>
          </a:p>
        </p:txBody>
      </p:sp>
      <p:sp>
        <p:nvSpPr>
          <p:cNvPr id="27" name="Rounded Rectangle 26"/>
          <p:cNvSpPr/>
          <p:nvPr/>
        </p:nvSpPr>
        <p:spPr>
          <a:xfrm>
            <a:off x="8046720" y="1371600"/>
            <a:ext cx="3703320" cy="150876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46720" y="1371600"/>
            <a:ext cx="3703320" cy="3200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426464"/>
            <a:ext cx="3429000" cy="228600"/>
          </a:xfrm>
          <a:prstGeom prst="rect">
            <a:avLst/>
          </a:prstGeom>
          <a:noFill/>
        </p:spPr>
        <p:txBody>
          <a:bodyPr wrap="square">
            <a:spAutoFit/>
          </a:bodyPr>
          <a:lstStyle/>
          <a:p>
            <a:pPr algn="l">
              <a:defRPr sz="1000" b="1" i="0">
                <a:solidFill>
                  <a:srgbClr val="FFFFFF"/>
                </a:solidFill>
                <a:latin typeface="Segoe UI Semibold"/>
              </a:defRPr>
            </a:pPr>
            <a:r>
              <a:t>DSG EXPANSION LAUNCH</a:t>
            </a:r>
          </a:p>
        </p:txBody>
      </p:sp>
      <p:sp>
        <p:nvSpPr>
          <p:cNvPr id="30" name="TextBox 29"/>
          <p:cNvSpPr txBox="1"/>
          <p:nvPr/>
        </p:nvSpPr>
        <p:spPr>
          <a:xfrm>
            <a:off x="8183880" y="1783080"/>
            <a:ext cx="1097280" cy="320040"/>
          </a:xfrm>
          <a:prstGeom prst="rect">
            <a:avLst/>
          </a:prstGeom>
          <a:noFill/>
        </p:spPr>
        <p:txBody>
          <a:bodyPr wrap="square">
            <a:spAutoFit/>
          </a:bodyPr>
          <a:lstStyle/>
          <a:p>
            <a:pPr algn="l">
              <a:defRPr sz="2400" b="1" i="0">
                <a:solidFill>
                  <a:srgbClr val="10B981"/>
                </a:solidFill>
                <a:latin typeface="Segoe UI Light"/>
              </a:defRPr>
            </a:pPr>
            <a:r>
              <a:t>10 → 32</a:t>
            </a:r>
          </a:p>
        </p:txBody>
      </p:sp>
      <p:sp>
        <p:nvSpPr>
          <p:cNvPr id="31" name="TextBox 30"/>
          <p:cNvSpPr txBox="1"/>
          <p:nvPr/>
        </p:nvSpPr>
        <p:spPr>
          <a:xfrm>
            <a:off x="9326880" y="1810512"/>
            <a:ext cx="2194560" cy="228600"/>
          </a:xfrm>
          <a:prstGeom prst="rect">
            <a:avLst/>
          </a:prstGeom>
          <a:noFill/>
        </p:spPr>
        <p:txBody>
          <a:bodyPr wrap="square">
            <a:spAutoFit/>
          </a:bodyPr>
          <a:lstStyle/>
          <a:p>
            <a:pPr algn="l">
              <a:defRPr sz="1100" b="1" i="0">
                <a:solidFill>
                  <a:srgbClr val="2D233F"/>
                </a:solidFill>
                <a:latin typeface="Segoe UI"/>
              </a:defRPr>
            </a:pPr>
            <a:r>
              <a:t>states</a:t>
            </a:r>
          </a:p>
        </p:txBody>
      </p:sp>
      <p:sp>
        <p:nvSpPr>
          <p:cNvPr id="32" name="TextBox 31"/>
          <p:cNvSpPr txBox="1"/>
          <p:nvPr/>
        </p:nvSpPr>
        <p:spPr>
          <a:xfrm>
            <a:off x="8183880" y="2148840"/>
            <a:ext cx="3429000" cy="182880"/>
          </a:xfrm>
          <a:prstGeom prst="rect">
            <a:avLst/>
          </a:prstGeom>
          <a:noFill/>
        </p:spPr>
        <p:txBody>
          <a:bodyPr wrap="square">
            <a:spAutoFit/>
          </a:bodyPr>
          <a:lstStyle/>
          <a:p>
            <a:pPr algn="l">
              <a:defRPr sz="900" b="0" i="0">
                <a:solidFill>
                  <a:srgbClr val="6B5F83"/>
                </a:solidFill>
                <a:latin typeface="Segoe UI"/>
              </a:defRPr>
            </a:pPr>
            <a:r>
              <a:t>•  Announced Feb 5, 2026</a:t>
            </a:r>
          </a:p>
        </p:txBody>
      </p:sp>
      <p:sp>
        <p:nvSpPr>
          <p:cNvPr id="33" name="TextBox 32"/>
          <p:cNvSpPr txBox="1"/>
          <p:nvPr/>
        </p:nvSpPr>
        <p:spPr>
          <a:xfrm>
            <a:off x="8183880" y="2359152"/>
            <a:ext cx="3429000" cy="182880"/>
          </a:xfrm>
          <a:prstGeom prst="rect">
            <a:avLst/>
          </a:prstGeom>
          <a:noFill/>
        </p:spPr>
        <p:txBody>
          <a:bodyPr wrap="square">
            <a:spAutoFit/>
          </a:bodyPr>
          <a:lstStyle/>
          <a:p>
            <a:pPr algn="l">
              <a:defRPr sz="900" b="0" i="0">
                <a:solidFill>
                  <a:srgbClr val="6B5F83"/>
                </a:solidFill>
                <a:latin typeface="Segoe UI"/>
              </a:defRPr>
            </a:pPr>
            <a:r>
              <a:t>•  22 new states opened</a:t>
            </a:r>
          </a:p>
        </p:txBody>
      </p:sp>
      <p:sp>
        <p:nvSpPr>
          <p:cNvPr id="34" name="TextBox 33"/>
          <p:cNvSpPr txBox="1"/>
          <p:nvPr/>
        </p:nvSpPr>
        <p:spPr>
          <a:xfrm>
            <a:off x="8183880" y="2569464"/>
            <a:ext cx="3429000" cy="182880"/>
          </a:xfrm>
          <a:prstGeom prst="rect">
            <a:avLst/>
          </a:prstGeom>
          <a:noFill/>
        </p:spPr>
        <p:txBody>
          <a:bodyPr wrap="square">
            <a:spAutoFit/>
          </a:bodyPr>
          <a:lstStyle/>
          <a:p>
            <a:pPr algn="l">
              <a:defRPr sz="900" b="1" i="0">
                <a:solidFill>
                  <a:srgbClr val="2D233F"/>
                </a:solidFill>
                <a:latin typeface="Segoe UI"/>
              </a:defRPr>
            </a:pPr>
            <a:r>
              <a:t>•  87 expansion-state subs in first month</a:t>
            </a:r>
          </a:p>
        </p:txBody>
      </p:sp>
      <p:sp>
        <p:nvSpPr>
          <p:cNvPr id="35" name="TextBox 34"/>
          <p:cNvSpPr txBox="1"/>
          <p:nvPr/>
        </p:nvSpPr>
        <p:spPr>
          <a:xfrm>
            <a:off x="274320" y="3063240"/>
            <a:ext cx="4572000" cy="256032"/>
          </a:xfrm>
          <a:prstGeom prst="rect">
            <a:avLst/>
          </a:prstGeom>
          <a:noFill/>
        </p:spPr>
        <p:txBody>
          <a:bodyPr wrap="square">
            <a:spAutoFit/>
          </a:bodyPr>
          <a:lstStyle/>
          <a:p>
            <a:pPr algn="l">
              <a:defRPr sz="1200" b="1" i="0">
                <a:solidFill>
                  <a:srgbClr val="1E073B"/>
                </a:solidFill>
                <a:latin typeface="Segoe UI Semibold"/>
              </a:defRPr>
            </a:pPr>
            <a:r>
              <a:t>CAMPAIGN → PIPELINE RESULTS</a:t>
            </a:r>
          </a:p>
        </p:txBody>
      </p:sp>
      <p:sp>
        <p:nvSpPr>
          <p:cNvPr id="36" name="Rectangle 35"/>
          <p:cNvSpPr/>
          <p:nvPr/>
        </p:nvSpPr>
        <p:spPr>
          <a:xfrm>
            <a:off x="274320" y="3337560"/>
            <a:ext cx="1828800" cy="2286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65760" y="3493008"/>
            <a:ext cx="2011680" cy="6858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3493008"/>
            <a:ext cx="201168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566160"/>
            <a:ext cx="1828800" cy="320040"/>
          </a:xfrm>
          <a:prstGeom prst="rect">
            <a:avLst/>
          </a:prstGeom>
          <a:noFill/>
        </p:spPr>
        <p:txBody>
          <a:bodyPr wrap="square">
            <a:spAutoFit/>
          </a:bodyPr>
          <a:lstStyle/>
          <a:p>
            <a:pPr algn="ctr">
              <a:defRPr sz="2000" b="1" i="0">
                <a:solidFill>
                  <a:srgbClr val="7C3AED"/>
                </a:solidFill>
                <a:latin typeface="Segoe UI Light"/>
              </a:defRPr>
            </a:pPr>
            <a:r>
              <a:t>2,552</a:t>
            </a:r>
          </a:p>
        </p:txBody>
      </p:sp>
      <p:sp>
        <p:nvSpPr>
          <p:cNvPr id="40" name="TextBox 39"/>
          <p:cNvSpPr txBox="1"/>
          <p:nvPr/>
        </p:nvSpPr>
        <p:spPr>
          <a:xfrm>
            <a:off x="457200" y="3886200"/>
            <a:ext cx="1828800" cy="228600"/>
          </a:xfrm>
          <a:prstGeom prst="rect">
            <a:avLst/>
          </a:prstGeom>
          <a:noFill/>
        </p:spPr>
        <p:txBody>
          <a:bodyPr wrap="square">
            <a:spAutoFit/>
          </a:bodyPr>
          <a:lstStyle/>
          <a:p>
            <a:pPr algn="ctr">
              <a:defRPr sz="1000" b="0" i="0">
                <a:solidFill>
                  <a:srgbClr val="2D233F"/>
                </a:solidFill>
                <a:latin typeface="Segoe UI"/>
              </a:defRPr>
            </a:pPr>
            <a:r>
              <a:t>Submissions</a:t>
            </a:r>
          </a:p>
        </p:txBody>
      </p:sp>
      <p:sp>
        <p:nvSpPr>
          <p:cNvPr id="41" name="TextBox 40"/>
          <p:cNvSpPr txBox="1"/>
          <p:nvPr/>
        </p:nvSpPr>
        <p:spPr>
          <a:xfrm>
            <a:off x="2651760" y="3520440"/>
            <a:ext cx="365760" cy="457200"/>
          </a:xfrm>
          <a:prstGeom prst="rect">
            <a:avLst/>
          </a:prstGeom>
          <a:noFill/>
        </p:spPr>
        <p:txBody>
          <a:bodyPr wrap="square">
            <a:spAutoFit/>
          </a:bodyPr>
          <a:lstStyle/>
          <a:p>
            <a:pPr algn="ctr">
              <a:defRPr sz="1800" b="0" i="0">
                <a:solidFill>
                  <a:srgbClr val="A09CB0"/>
                </a:solidFill>
                <a:latin typeface="Segoe UI"/>
              </a:defRPr>
            </a:pPr>
            <a:r>
              <a:t>→</a:t>
            </a:r>
          </a:p>
        </p:txBody>
      </p:sp>
      <p:sp>
        <p:nvSpPr>
          <p:cNvPr id="42" name="Rounded Rectangle 41"/>
          <p:cNvSpPr/>
          <p:nvPr/>
        </p:nvSpPr>
        <p:spPr>
          <a:xfrm>
            <a:off x="3108960" y="3493008"/>
            <a:ext cx="2011680" cy="6858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108960" y="3493008"/>
            <a:ext cx="2011680" cy="4572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00400" y="3566160"/>
            <a:ext cx="1828800" cy="320040"/>
          </a:xfrm>
          <a:prstGeom prst="rect">
            <a:avLst/>
          </a:prstGeom>
          <a:noFill/>
        </p:spPr>
        <p:txBody>
          <a:bodyPr wrap="square">
            <a:spAutoFit/>
          </a:bodyPr>
          <a:lstStyle/>
          <a:p>
            <a:pPr algn="ctr">
              <a:defRPr sz="2000" b="1" i="0">
                <a:solidFill>
                  <a:srgbClr val="8B5CF6"/>
                </a:solidFill>
                <a:latin typeface="Segoe UI Light"/>
              </a:defRPr>
            </a:pPr>
            <a:r>
              <a:t>1,352</a:t>
            </a:r>
          </a:p>
        </p:txBody>
      </p:sp>
      <p:sp>
        <p:nvSpPr>
          <p:cNvPr id="45" name="TextBox 44"/>
          <p:cNvSpPr txBox="1"/>
          <p:nvPr/>
        </p:nvSpPr>
        <p:spPr>
          <a:xfrm>
            <a:off x="3200400" y="3886200"/>
            <a:ext cx="1828800" cy="228600"/>
          </a:xfrm>
          <a:prstGeom prst="rect">
            <a:avLst/>
          </a:prstGeom>
          <a:noFill/>
        </p:spPr>
        <p:txBody>
          <a:bodyPr wrap="square">
            <a:spAutoFit/>
          </a:bodyPr>
          <a:lstStyle/>
          <a:p>
            <a:pPr algn="ctr">
              <a:defRPr sz="1000" b="0" i="0">
                <a:solidFill>
                  <a:srgbClr val="2D233F"/>
                </a:solidFill>
                <a:latin typeface="Segoe UI"/>
              </a:defRPr>
            </a:pPr>
            <a:r>
              <a:t>Quoted (53%)</a:t>
            </a:r>
          </a:p>
        </p:txBody>
      </p:sp>
      <p:sp>
        <p:nvSpPr>
          <p:cNvPr id="46" name="TextBox 45"/>
          <p:cNvSpPr txBox="1"/>
          <p:nvPr/>
        </p:nvSpPr>
        <p:spPr>
          <a:xfrm>
            <a:off x="5394960" y="3520440"/>
            <a:ext cx="365760" cy="457200"/>
          </a:xfrm>
          <a:prstGeom prst="rect">
            <a:avLst/>
          </a:prstGeom>
          <a:noFill/>
        </p:spPr>
        <p:txBody>
          <a:bodyPr wrap="square">
            <a:spAutoFit/>
          </a:bodyPr>
          <a:lstStyle/>
          <a:p>
            <a:pPr algn="ctr">
              <a:defRPr sz="1800" b="0" i="0">
                <a:solidFill>
                  <a:srgbClr val="A09CB0"/>
                </a:solidFill>
                <a:latin typeface="Segoe UI"/>
              </a:defRPr>
            </a:pPr>
            <a:r>
              <a:t>→</a:t>
            </a:r>
          </a:p>
        </p:txBody>
      </p:sp>
      <p:sp>
        <p:nvSpPr>
          <p:cNvPr id="47" name="Rounded Rectangle 46"/>
          <p:cNvSpPr/>
          <p:nvPr/>
        </p:nvSpPr>
        <p:spPr>
          <a:xfrm>
            <a:off x="5852160" y="3493008"/>
            <a:ext cx="2011680" cy="6858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852160" y="3493008"/>
            <a:ext cx="2011680"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0" y="3566160"/>
            <a:ext cx="1828800" cy="320040"/>
          </a:xfrm>
          <a:prstGeom prst="rect">
            <a:avLst/>
          </a:prstGeom>
          <a:noFill/>
        </p:spPr>
        <p:txBody>
          <a:bodyPr wrap="square">
            <a:spAutoFit/>
          </a:bodyPr>
          <a:lstStyle/>
          <a:p>
            <a:pPr algn="ctr">
              <a:defRPr sz="2000" b="1" i="0">
                <a:solidFill>
                  <a:srgbClr val="10B981"/>
                </a:solidFill>
                <a:latin typeface="Segoe UI Light"/>
              </a:defRPr>
            </a:pPr>
            <a:r>
              <a:t>36</a:t>
            </a:r>
          </a:p>
        </p:txBody>
      </p:sp>
      <p:sp>
        <p:nvSpPr>
          <p:cNvPr id="50" name="TextBox 49"/>
          <p:cNvSpPr txBox="1"/>
          <p:nvPr/>
        </p:nvSpPr>
        <p:spPr>
          <a:xfrm>
            <a:off x="5943600" y="3886200"/>
            <a:ext cx="1828800" cy="228600"/>
          </a:xfrm>
          <a:prstGeom prst="rect">
            <a:avLst/>
          </a:prstGeom>
          <a:noFill/>
        </p:spPr>
        <p:txBody>
          <a:bodyPr wrap="square">
            <a:spAutoFit/>
          </a:bodyPr>
          <a:lstStyle/>
          <a:p>
            <a:pPr algn="ctr">
              <a:defRPr sz="1000" b="0" i="0">
                <a:solidFill>
                  <a:srgbClr val="2D233F"/>
                </a:solidFill>
                <a:latin typeface="Segoe UI"/>
              </a:defRPr>
            </a:pPr>
            <a:r>
              <a:t>Bound</a:t>
            </a:r>
          </a:p>
        </p:txBody>
      </p:sp>
      <p:sp>
        <p:nvSpPr>
          <p:cNvPr id="51" name="TextBox 50"/>
          <p:cNvSpPr txBox="1"/>
          <p:nvPr/>
        </p:nvSpPr>
        <p:spPr>
          <a:xfrm>
            <a:off x="8138160" y="3520440"/>
            <a:ext cx="365760" cy="457200"/>
          </a:xfrm>
          <a:prstGeom prst="rect">
            <a:avLst/>
          </a:prstGeom>
          <a:noFill/>
        </p:spPr>
        <p:txBody>
          <a:bodyPr wrap="square">
            <a:spAutoFit/>
          </a:bodyPr>
          <a:lstStyle/>
          <a:p>
            <a:pPr algn="ctr">
              <a:defRPr sz="1800" b="0" i="0">
                <a:solidFill>
                  <a:srgbClr val="A09CB0"/>
                </a:solidFill>
                <a:latin typeface="Segoe UI"/>
              </a:defRPr>
            </a:pPr>
            <a:r>
              <a:t>→</a:t>
            </a:r>
          </a:p>
        </p:txBody>
      </p:sp>
      <p:sp>
        <p:nvSpPr>
          <p:cNvPr id="52" name="Rounded Rectangle 51"/>
          <p:cNvSpPr/>
          <p:nvPr/>
        </p:nvSpPr>
        <p:spPr>
          <a:xfrm>
            <a:off x="8595360" y="3493008"/>
            <a:ext cx="2011680" cy="6858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595360" y="3493008"/>
            <a:ext cx="2011680"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0" y="3566160"/>
            <a:ext cx="1828800" cy="320040"/>
          </a:xfrm>
          <a:prstGeom prst="rect">
            <a:avLst/>
          </a:prstGeom>
          <a:noFill/>
        </p:spPr>
        <p:txBody>
          <a:bodyPr wrap="square">
            <a:spAutoFit/>
          </a:bodyPr>
          <a:lstStyle/>
          <a:p>
            <a:pPr algn="ctr">
              <a:defRPr sz="2000" b="1" i="0">
                <a:solidFill>
                  <a:srgbClr val="10B981"/>
                </a:solidFill>
                <a:latin typeface="Segoe UI Light"/>
              </a:defRPr>
            </a:pPr>
            <a:r>
              <a:t>$1.4M</a:t>
            </a:r>
          </a:p>
        </p:txBody>
      </p:sp>
      <p:sp>
        <p:nvSpPr>
          <p:cNvPr id="55" name="TextBox 54"/>
          <p:cNvSpPr txBox="1"/>
          <p:nvPr/>
        </p:nvSpPr>
        <p:spPr>
          <a:xfrm>
            <a:off x="8686800" y="3886200"/>
            <a:ext cx="1828800" cy="228600"/>
          </a:xfrm>
          <a:prstGeom prst="rect">
            <a:avLst/>
          </a:prstGeom>
          <a:noFill/>
        </p:spPr>
        <p:txBody>
          <a:bodyPr wrap="square">
            <a:spAutoFit/>
          </a:bodyPr>
          <a:lstStyle/>
          <a:p>
            <a:pPr algn="ctr">
              <a:defRPr sz="1000" b="0" i="0">
                <a:solidFill>
                  <a:srgbClr val="2D233F"/>
                </a:solidFill>
                <a:latin typeface="Segoe UI"/>
              </a:defRPr>
            </a:pPr>
            <a:r>
              <a:t>GWP</a:t>
            </a:r>
          </a:p>
        </p:txBody>
      </p:sp>
      <p:sp>
        <p:nvSpPr>
          <p:cNvPr id="56" name="TextBox 55"/>
          <p:cNvSpPr txBox="1"/>
          <p:nvPr/>
        </p:nvSpPr>
        <p:spPr>
          <a:xfrm>
            <a:off x="274320" y="4434840"/>
            <a:ext cx="4572000" cy="256032"/>
          </a:xfrm>
          <a:prstGeom prst="rect">
            <a:avLst/>
          </a:prstGeom>
          <a:noFill/>
        </p:spPr>
        <p:txBody>
          <a:bodyPr wrap="square">
            <a:spAutoFit/>
          </a:bodyPr>
          <a:lstStyle/>
          <a:p>
            <a:pPr algn="l">
              <a:defRPr sz="1200" b="1" i="0">
                <a:solidFill>
                  <a:srgbClr val="1E073B"/>
                </a:solidFill>
                <a:latin typeface="Segoe UI Semibold"/>
              </a:defRPr>
            </a:pPr>
            <a:r>
              <a:t>TEAM OUTREACH ACTIVITY</a:t>
            </a:r>
          </a:p>
        </p:txBody>
      </p:sp>
      <p:sp>
        <p:nvSpPr>
          <p:cNvPr id="57" name="Rectangle 56"/>
          <p:cNvSpPr/>
          <p:nvPr/>
        </p:nvSpPr>
        <p:spPr>
          <a:xfrm>
            <a:off x="274320" y="4709160"/>
            <a:ext cx="1828800" cy="2286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274320" y="4846320"/>
            <a:ext cx="2194560" cy="10515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74320" y="4846320"/>
            <a:ext cx="54864" cy="10515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38912" y="4919472"/>
            <a:ext cx="1920240" cy="182880"/>
          </a:xfrm>
          <a:prstGeom prst="rect">
            <a:avLst/>
          </a:prstGeom>
          <a:noFill/>
        </p:spPr>
        <p:txBody>
          <a:bodyPr wrap="square">
            <a:spAutoFit/>
          </a:bodyPr>
          <a:lstStyle/>
          <a:p>
            <a:pPr algn="l">
              <a:defRPr sz="1000" b="1" i="0">
                <a:solidFill>
                  <a:srgbClr val="2D233F"/>
                </a:solidFill>
                <a:latin typeface="Segoe UI"/>
              </a:defRPr>
            </a:pPr>
            <a:r>
              <a:t>Dominic Purkett</a:t>
            </a:r>
          </a:p>
        </p:txBody>
      </p:sp>
      <p:sp>
        <p:nvSpPr>
          <p:cNvPr id="61" name="TextBox 60"/>
          <p:cNvSpPr txBox="1"/>
          <p:nvPr/>
        </p:nvSpPr>
        <p:spPr>
          <a:xfrm>
            <a:off x="438912" y="5166360"/>
            <a:ext cx="1920240" cy="182880"/>
          </a:xfrm>
          <a:prstGeom prst="rect">
            <a:avLst/>
          </a:prstGeom>
          <a:noFill/>
        </p:spPr>
        <p:txBody>
          <a:bodyPr wrap="square">
            <a:spAutoFit/>
          </a:bodyPr>
          <a:lstStyle/>
          <a:p>
            <a:pPr algn="l">
              <a:defRPr sz="900" b="1" i="0">
                <a:solidFill>
                  <a:srgbClr val="10B981"/>
                </a:solidFill>
                <a:latin typeface="Segoe UI"/>
              </a:defRPr>
            </a:pPr>
            <a:r>
              <a:t>53 outbound  |  20 agencies</a:t>
            </a:r>
          </a:p>
        </p:txBody>
      </p:sp>
      <p:sp>
        <p:nvSpPr>
          <p:cNvPr id="62" name="TextBox 61"/>
          <p:cNvSpPr txBox="1"/>
          <p:nvPr/>
        </p:nvSpPr>
        <p:spPr>
          <a:xfrm>
            <a:off x="438912" y="5376672"/>
            <a:ext cx="1920240" cy="182880"/>
          </a:xfrm>
          <a:prstGeom prst="rect">
            <a:avLst/>
          </a:prstGeom>
          <a:noFill/>
        </p:spPr>
        <p:txBody>
          <a:bodyPr wrap="square">
            <a:spAutoFit/>
          </a:bodyPr>
          <a:lstStyle/>
          <a:p>
            <a:pPr algn="l">
              <a:defRPr sz="900" b="0" i="0">
                <a:solidFill>
                  <a:srgbClr val="6B5F83"/>
                </a:solidFill>
                <a:latin typeface="Segoe UI"/>
              </a:defRPr>
            </a:pPr>
            <a:r>
              <a:t>4 pre-bind wins</a:t>
            </a:r>
          </a:p>
        </p:txBody>
      </p:sp>
      <p:sp>
        <p:nvSpPr>
          <p:cNvPr id="63" name="Rounded Rectangle 62"/>
          <p:cNvSpPr/>
          <p:nvPr/>
        </p:nvSpPr>
        <p:spPr>
          <a:xfrm>
            <a:off x="438912" y="5650992"/>
            <a:ext cx="1828800" cy="137160"/>
          </a:xfrm>
          <a:prstGeom prst="roundRect">
            <a:avLst>
              <a:gd name="adj" fmla="val 3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38912" y="5650992"/>
            <a:ext cx="1828800" cy="137160"/>
          </a:xfrm>
          <a:prstGeom prst="roundRect">
            <a:avLst>
              <a:gd name="adj" fmla="val 3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2606039" y="4846320"/>
            <a:ext cx="2194560" cy="10515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606039" y="4846320"/>
            <a:ext cx="54864" cy="10515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70631" y="4919472"/>
            <a:ext cx="1920240" cy="182880"/>
          </a:xfrm>
          <a:prstGeom prst="rect">
            <a:avLst/>
          </a:prstGeom>
          <a:noFill/>
        </p:spPr>
        <p:txBody>
          <a:bodyPr wrap="square">
            <a:spAutoFit/>
          </a:bodyPr>
          <a:lstStyle/>
          <a:p>
            <a:pPr algn="l">
              <a:defRPr sz="1000" b="1" i="0">
                <a:solidFill>
                  <a:srgbClr val="2D233F"/>
                </a:solidFill>
                <a:latin typeface="Segoe UI"/>
              </a:defRPr>
            </a:pPr>
            <a:r>
              <a:t>Latoya Madlock</a:t>
            </a:r>
          </a:p>
        </p:txBody>
      </p:sp>
      <p:sp>
        <p:nvSpPr>
          <p:cNvPr id="68" name="TextBox 67"/>
          <p:cNvSpPr txBox="1"/>
          <p:nvPr/>
        </p:nvSpPr>
        <p:spPr>
          <a:xfrm>
            <a:off x="2770631" y="5166360"/>
            <a:ext cx="1920240" cy="182880"/>
          </a:xfrm>
          <a:prstGeom prst="rect">
            <a:avLst/>
          </a:prstGeom>
          <a:noFill/>
        </p:spPr>
        <p:txBody>
          <a:bodyPr wrap="square">
            <a:spAutoFit/>
          </a:bodyPr>
          <a:lstStyle/>
          <a:p>
            <a:pPr algn="l">
              <a:defRPr sz="900" b="1" i="0">
                <a:solidFill>
                  <a:srgbClr val="7C3AED"/>
                </a:solidFill>
                <a:latin typeface="Segoe UI"/>
              </a:defRPr>
            </a:pPr>
            <a:r>
              <a:t>22 outbound  |  16 agencies</a:t>
            </a:r>
          </a:p>
        </p:txBody>
      </p:sp>
      <p:sp>
        <p:nvSpPr>
          <p:cNvPr id="69" name="TextBox 68"/>
          <p:cNvSpPr txBox="1"/>
          <p:nvPr/>
        </p:nvSpPr>
        <p:spPr>
          <a:xfrm>
            <a:off x="2770631" y="5376672"/>
            <a:ext cx="1920240" cy="182880"/>
          </a:xfrm>
          <a:prstGeom prst="rect">
            <a:avLst/>
          </a:prstGeom>
          <a:noFill/>
        </p:spPr>
        <p:txBody>
          <a:bodyPr wrap="square">
            <a:spAutoFit/>
          </a:bodyPr>
          <a:lstStyle/>
          <a:p>
            <a:pPr algn="l">
              <a:defRPr sz="900" b="0" i="0">
                <a:solidFill>
                  <a:srgbClr val="6B5F83"/>
                </a:solidFill>
                <a:latin typeface="Segoe UI"/>
              </a:defRPr>
            </a:pPr>
            <a:r>
              <a:t>18 growth notes</a:t>
            </a:r>
          </a:p>
        </p:txBody>
      </p:sp>
      <p:sp>
        <p:nvSpPr>
          <p:cNvPr id="70" name="Rounded Rectangle 69"/>
          <p:cNvSpPr/>
          <p:nvPr/>
        </p:nvSpPr>
        <p:spPr>
          <a:xfrm>
            <a:off x="2770631" y="5650992"/>
            <a:ext cx="1828800" cy="137160"/>
          </a:xfrm>
          <a:prstGeom prst="roundRect">
            <a:avLst>
              <a:gd name="adj" fmla="val 3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2770631" y="5650992"/>
            <a:ext cx="759124" cy="137160"/>
          </a:xfrm>
          <a:prstGeom prst="roundRect">
            <a:avLst>
              <a:gd name="adj" fmla="val 3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4937759" y="4846320"/>
            <a:ext cx="2194560" cy="10515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937759" y="4846320"/>
            <a:ext cx="54864" cy="10515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02351" y="4919472"/>
            <a:ext cx="1920240" cy="182880"/>
          </a:xfrm>
          <a:prstGeom prst="rect">
            <a:avLst/>
          </a:prstGeom>
          <a:noFill/>
        </p:spPr>
        <p:txBody>
          <a:bodyPr wrap="square">
            <a:spAutoFit/>
          </a:bodyPr>
          <a:lstStyle/>
          <a:p>
            <a:pPr algn="l">
              <a:defRPr sz="1000" b="1" i="0">
                <a:solidFill>
                  <a:srgbClr val="2D233F"/>
                </a:solidFill>
                <a:latin typeface="Segoe UI"/>
              </a:defRPr>
            </a:pPr>
            <a:r>
              <a:t>Westy McLaughlin</a:t>
            </a:r>
          </a:p>
        </p:txBody>
      </p:sp>
      <p:sp>
        <p:nvSpPr>
          <p:cNvPr id="75" name="TextBox 74"/>
          <p:cNvSpPr txBox="1"/>
          <p:nvPr/>
        </p:nvSpPr>
        <p:spPr>
          <a:xfrm>
            <a:off x="5102351" y="5166360"/>
            <a:ext cx="1920240" cy="182880"/>
          </a:xfrm>
          <a:prstGeom prst="rect">
            <a:avLst/>
          </a:prstGeom>
          <a:noFill/>
        </p:spPr>
        <p:txBody>
          <a:bodyPr wrap="square">
            <a:spAutoFit/>
          </a:bodyPr>
          <a:lstStyle/>
          <a:p>
            <a:pPr algn="l">
              <a:defRPr sz="900" b="1" i="0">
                <a:solidFill>
                  <a:srgbClr val="7C3AED"/>
                </a:solidFill>
                <a:latin typeface="Segoe UI"/>
              </a:defRPr>
            </a:pPr>
            <a:r>
              <a:t>20 outbound  |  9 agencies</a:t>
            </a:r>
          </a:p>
        </p:txBody>
      </p:sp>
      <p:sp>
        <p:nvSpPr>
          <p:cNvPr id="76" name="TextBox 75"/>
          <p:cNvSpPr txBox="1"/>
          <p:nvPr/>
        </p:nvSpPr>
        <p:spPr>
          <a:xfrm>
            <a:off x="5102351" y="5376672"/>
            <a:ext cx="1920240" cy="182880"/>
          </a:xfrm>
          <a:prstGeom prst="rect">
            <a:avLst/>
          </a:prstGeom>
          <a:noFill/>
        </p:spPr>
        <p:txBody>
          <a:bodyPr wrap="square">
            <a:spAutoFit/>
          </a:bodyPr>
          <a:lstStyle/>
          <a:p>
            <a:pPr algn="l">
              <a:defRPr sz="900" b="0" i="0">
                <a:solidFill>
                  <a:srgbClr val="6B5F83"/>
                </a:solidFill>
                <a:latin typeface="Segoe UI"/>
              </a:defRPr>
            </a:pPr>
            <a:r>
              <a:t>22 growth notes</a:t>
            </a:r>
          </a:p>
        </p:txBody>
      </p:sp>
      <p:sp>
        <p:nvSpPr>
          <p:cNvPr id="77" name="Rounded Rectangle 76"/>
          <p:cNvSpPr/>
          <p:nvPr/>
        </p:nvSpPr>
        <p:spPr>
          <a:xfrm>
            <a:off x="5102351" y="5650992"/>
            <a:ext cx="1828800" cy="137160"/>
          </a:xfrm>
          <a:prstGeom prst="roundRect">
            <a:avLst>
              <a:gd name="adj" fmla="val 3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5102351" y="5650992"/>
            <a:ext cx="690113" cy="137160"/>
          </a:xfrm>
          <a:prstGeom prst="roundRect">
            <a:avLst>
              <a:gd name="adj" fmla="val 3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7269479" y="4846320"/>
            <a:ext cx="2194560" cy="10515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269479" y="4846320"/>
            <a:ext cx="54864" cy="10515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434071" y="4919472"/>
            <a:ext cx="1920240" cy="182880"/>
          </a:xfrm>
          <a:prstGeom prst="rect">
            <a:avLst/>
          </a:prstGeom>
          <a:noFill/>
        </p:spPr>
        <p:txBody>
          <a:bodyPr wrap="square">
            <a:spAutoFit/>
          </a:bodyPr>
          <a:lstStyle/>
          <a:p>
            <a:pPr algn="l">
              <a:defRPr sz="1000" b="1" i="0">
                <a:solidFill>
                  <a:srgbClr val="2D233F"/>
                </a:solidFill>
                <a:latin typeface="Segoe UI"/>
              </a:defRPr>
            </a:pPr>
            <a:r>
              <a:t>Cameron Brader</a:t>
            </a:r>
          </a:p>
        </p:txBody>
      </p:sp>
      <p:sp>
        <p:nvSpPr>
          <p:cNvPr id="82" name="TextBox 81"/>
          <p:cNvSpPr txBox="1"/>
          <p:nvPr/>
        </p:nvSpPr>
        <p:spPr>
          <a:xfrm>
            <a:off x="7434071" y="5166360"/>
            <a:ext cx="1920240" cy="182880"/>
          </a:xfrm>
          <a:prstGeom prst="rect">
            <a:avLst/>
          </a:prstGeom>
          <a:noFill/>
        </p:spPr>
        <p:txBody>
          <a:bodyPr wrap="square">
            <a:spAutoFit/>
          </a:bodyPr>
          <a:lstStyle/>
          <a:p>
            <a:pPr algn="l">
              <a:defRPr sz="900" b="1" i="0">
                <a:solidFill>
                  <a:srgbClr val="F59E0B"/>
                </a:solidFill>
                <a:latin typeface="Segoe UI"/>
              </a:defRPr>
            </a:pPr>
            <a:r>
              <a:t>14 outbound  |  9 agencies</a:t>
            </a:r>
          </a:p>
        </p:txBody>
      </p:sp>
      <p:sp>
        <p:nvSpPr>
          <p:cNvPr id="83" name="TextBox 82"/>
          <p:cNvSpPr txBox="1"/>
          <p:nvPr/>
        </p:nvSpPr>
        <p:spPr>
          <a:xfrm>
            <a:off x="7434071" y="5376672"/>
            <a:ext cx="1920240" cy="182880"/>
          </a:xfrm>
          <a:prstGeom prst="rect">
            <a:avLst/>
          </a:prstGeom>
          <a:noFill/>
        </p:spPr>
        <p:txBody>
          <a:bodyPr wrap="square">
            <a:spAutoFit/>
          </a:bodyPr>
          <a:lstStyle/>
          <a:p>
            <a:pPr algn="l">
              <a:defRPr sz="900" b="0" i="0">
                <a:solidFill>
                  <a:srgbClr val="6B5F83"/>
                </a:solidFill>
                <a:latin typeface="Segoe UI"/>
              </a:defRPr>
            </a:pPr>
            <a:r>
              <a:t>7 agencies called</a:t>
            </a:r>
          </a:p>
        </p:txBody>
      </p:sp>
      <p:sp>
        <p:nvSpPr>
          <p:cNvPr id="84" name="Rounded Rectangle 83"/>
          <p:cNvSpPr/>
          <p:nvPr/>
        </p:nvSpPr>
        <p:spPr>
          <a:xfrm>
            <a:off x="7434071" y="5650992"/>
            <a:ext cx="1828800" cy="137160"/>
          </a:xfrm>
          <a:prstGeom prst="roundRect">
            <a:avLst>
              <a:gd name="adj" fmla="val 3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434071" y="5650992"/>
            <a:ext cx="483079" cy="137160"/>
          </a:xfrm>
          <a:prstGeom prst="roundRect">
            <a:avLst>
              <a:gd name="adj" fmla="val 3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9601200" y="4846320"/>
            <a:ext cx="2194560" cy="105156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601200" y="4846320"/>
            <a:ext cx="54864" cy="10515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65792" y="4919472"/>
            <a:ext cx="1920240" cy="182880"/>
          </a:xfrm>
          <a:prstGeom prst="rect">
            <a:avLst/>
          </a:prstGeom>
          <a:noFill/>
        </p:spPr>
        <p:txBody>
          <a:bodyPr wrap="square">
            <a:spAutoFit/>
          </a:bodyPr>
          <a:lstStyle/>
          <a:p>
            <a:pPr algn="l">
              <a:defRPr sz="1000" b="1" i="0">
                <a:solidFill>
                  <a:srgbClr val="2D233F"/>
                </a:solidFill>
                <a:latin typeface="Segoe UI"/>
              </a:defRPr>
            </a:pPr>
            <a:r>
              <a:t>Antonio Reyes</a:t>
            </a:r>
          </a:p>
        </p:txBody>
      </p:sp>
      <p:sp>
        <p:nvSpPr>
          <p:cNvPr id="89" name="TextBox 88"/>
          <p:cNvSpPr txBox="1"/>
          <p:nvPr/>
        </p:nvSpPr>
        <p:spPr>
          <a:xfrm>
            <a:off x="9765792" y="5166360"/>
            <a:ext cx="1920240" cy="182880"/>
          </a:xfrm>
          <a:prstGeom prst="rect">
            <a:avLst/>
          </a:prstGeom>
          <a:noFill/>
        </p:spPr>
        <p:txBody>
          <a:bodyPr wrap="square">
            <a:spAutoFit/>
          </a:bodyPr>
          <a:lstStyle/>
          <a:p>
            <a:pPr algn="l">
              <a:defRPr sz="900" b="1" i="0">
                <a:solidFill>
                  <a:srgbClr val="F59E0B"/>
                </a:solidFill>
                <a:latin typeface="Segoe UI"/>
              </a:defRPr>
            </a:pPr>
            <a:r>
              <a:t>6 outbound  |  4 agencies</a:t>
            </a:r>
          </a:p>
        </p:txBody>
      </p:sp>
      <p:sp>
        <p:nvSpPr>
          <p:cNvPr id="90" name="TextBox 89"/>
          <p:cNvSpPr txBox="1"/>
          <p:nvPr/>
        </p:nvSpPr>
        <p:spPr>
          <a:xfrm>
            <a:off x="9765792" y="5376672"/>
            <a:ext cx="1920240" cy="182880"/>
          </a:xfrm>
          <a:prstGeom prst="rect">
            <a:avLst/>
          </a:prstGeom>
          <a:noFill/>
        </p:spPr>
        <p:txBody>
          <a:bodyPr wrap="square">
            <a:spAutoFit/>
          </a:bodyPr>
          <a:lstStyle/>
          <a:p>
            <a:pPr algn="l">
              <a:defRPr sz="900" b="0" i="0">
                <a:solidFill>
                  <a:srgbClr val="6B5F83"/>
                </a:solidFill>
                <a:latin typeface="Segoe UI"/>
              </a:defRPr>
            </a:pPr>
            <a:r>
              <a:t>3 pre-bind calls</a:t>
            </a:r>
          </a:p>
        </p:txBody>
      </p:sp>
      <p:sp>
        <p:nvSpPr>
          <p:cNvPr id="91" name="Rounded Rectangle 90"/>
          <p:cNvSpPr/>
          <p:nvPr/>
        </p:nvSpPr>
        <p:spPr>
          <a:xfrm>
            <a:off x="9765792" y="5650992"/>
            <a:ext cx="1828800" cy="137160"/>
          </a:xfrm>
          <a:prstGeom prst="roundRect">
            <a:avLst>
              <a:gd name="adj" fmla="val 3000"/>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9765792" y="5650992"/>
            <a:ext cx="207033" cy="137160"/>
          </a:xfrm>
          <a:prstGeom prst="roundRect">
            <a:avLst>
              <a:gd name="adj" fmla="val 3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95" name="TextBox 94"/>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200" b="1" i="0">
                <a:solidFill>
                  <a:srgbClr val="FFFFFF"/>
                </a:solidFill>
                <a:latin typeface="Segoe UI Light"/>
              </a:defRPr>
            </a:pPr>
            <a:r>
              <a:t>EXPANSION WINS &amp; TEAM PERFORMANCE</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000" b="0" i="0">
                <a:solidFill>
                  <a:srgbClr val="C4B5FD"/>
                </a:solidFill>
                <a:latin typeface="Segoe UI"/>
              </a:defRPr>
            </a:pPr>
            <a:r>
              <a:t>February 2026 Results  |  YTD: 36 Binds, $1.4M GWP</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371600"/>
            <a:ext cx="2194560" cy="84124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371600"/>
            <a:ext cx="219456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463040"/>
            <a:ext cx="2011680" cy="320040"/>
          </a:xfrm>
          <a:prstGeom prst="rect">
            <a:avLst/>
          </a:prstGeom>
          <a:noFill/>
        </p:spPr>
        <p:txBody>
          <a:bodyPr wrap="square">
            <a:spAutoFit/>
          </a:bodyPr>
          <a:lstStyle/>
          <a:p>
            <a:pPr algn="ctr">
              <a:defRPr sz="2200" b="1" i="0">
                <a:solidFill>
                  <a:srgbClr val="7C3AED"/>
                </a:solidFill>
                <a:latin typeface="Segoe UI Light"/>
              </a:defRPr>
            </a:pPr>
            <a:r>
              <a:t>$500,726</a:t>
            </a:r>
          </a:p>
        </p:txBody>
      </p:sp>
      <p:sp>
        <p:nvSpPr>
          <p:cNvPr id="14" name="TextBox 13"/>
          <p:cNvSpPr txBox="1"/>
          <p:nvPr/>
        </p:nvSpPr>
        <p:spPr>
          <a:xfrm>
            <a:off x="365760" y="1783080"/>
            <a:ext cx="2011680" cy="182880"/>
          </a:xfrm>
          <a:prstGeom prst="rect">
            <a:avLst/>
          </a:prstGeom>
          <a:noFill/>
        </p:spPr>
        <p:txBody>
          <a:bodyPr wrap="square">
            <a:spAutoFit/>
          </a:bodyPr>
          <a:lstStyle/>
          <a:p>
            <a:pPr algn="ctr">
              <a:defRPr sz="1000" b="1" i="0">
                <a:solidFill>
                  <a:srgbClr val="2D233F"/>
                </a:solidFill>
                <a:latin typeface="Segoe UI"/>
              </a:defRPr>
            </a:pPr>
            <a:r>
              <a:t>January Premium</a:t>
            </a:r>
          </a:p>
        </p:txBody>
      </p:sp>
      <p:sp>
        <p:nvSpPr>
          <p:cNvPr id="15" name="TextBox 14"/>
          <p:cNvSpPr txBox="1"/>
          <p:nvPr/>
        </p:nvSpPr>
        <p:spPr>
          <a:xfrm>
            <a:off x="365760" y="1993392"/>
            <a:ext cx="2011680" cy="182880"/>
          </a:xfrm>
          <a:prstGeom prst="rect">
            <a:avLst/>
          </a:prstGeom>
          <a:noFill/>
        </p:spPr>
        <p:txBody>
          <a:bodyPr wrap="square">
            <a:spAutoFit/>
          </a:bodyPr>
          <a:lstStyle/>
          <a:p>
            <a:pPr algn="ctr">
              <a:defRPr sz="800" b="0" i="1">
                <a:solidFill>
                  <a:srgbClr val="A09CB0"/>
                </a:solidFill>
                <a:latin typeface="Segoe UI"/>
              </a:defRPr>
            </a:pPr>
            <a:r>
              <a:t>13 binds</a:t>
            </a:r>
          </a:p>
        </p:txBody>
      </p:sp>
      <p:sp>
        <p:nvSpPr>
          <p:cNvPr id="16" name="Rounded Rectangle 15"/>
          <p:cNvSpPr/>
          <p:nvPr/>
        </p:nvSpPr>
        <p:spPr>
          <a:xfrm>
            <a:off x="2606039" y="1371600"/>
            <a:ext cx="2194560" cy="84124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06039" y="1371600"/>
            <a:ext cx="2194560"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97479" y="1463040"/>
            <a:ext cx="2011680" cy="320040"/>
          </a:xfrm>
          <a:prstGeom prst="rect">
            <a:avLst/>
          </a:prstGeom>
          <a:noFill/>
        </p:spPr>
        <p:txBody>
          <a:bodyPr wrap="square">
            <a:spAutoFit/>
          </a:bodyPr>
          <a:lstStyle/>
          <a:p>
            <a:pPr algn="ctr">
              <a:defRPr sz="2200" b="1" i="0">
                <a:solidFill>
                  <a:srgbClr val="10B981"/>
                </a:solidFill>
                <a:latin typeface="Segoe UI Light"/>
              </a:defRPr>
            </a:pPr>
            <a:r>
              <a:t>$873,413</a:t>
            </a:r>
          </a:p>
        </p:txBody>
      </p:sp>
      <p:sp>
        <p:nvSpPr>
          <p:cNvPr id="19" name="TextBox 18"/>
          <p:cNvSpPr txBox="1"/>
          <p:nvPr/>
        </p:nvSpPr>
        <p:spPr>
          <a:xfrm>
            <a:off x="2697479" y="1783080"/>
            <a:ext cx="2011680" cy="182880"/>
          </a:xfrm>
          <a:prstGeom prst="rect">
            <a:avLst/>
          </a:prstGeom>
          <a:noFill/>
        </p:spPr>
        <p:txBody>
          <a:bodyPr wrap="square">
            <a:spAutoFit/>
          </a:bodyPr>
          <a:lstStyle/>
          <a:p>
            <a:pPr algn="ctr">
              <a:defRPr sz="1000" b="1" i="0">
                <a:solidFill>
                  <a:srgbClr val="2D233F"/>
                </a:solidFill>
                <a:latin typeface="Segoe UI"/>
              </a:defRPr>
            </a:pPr>
            <a:r>
              <a:t>February Premium</a:t>
            </a:r>
          </a:p>
        </p:txBody>
      </p:sp>
      <p:sp>
        <p:nvSpPr>
          <p:cNvPr id="20" name="TextBox 19"/>
          <p:cNvSpPr txBox="1"/>
          <p:nvPr/>
        </p:nvSpPr>
        <p:spPr>
          <a:xfrm>
            <a:off x="2697479" y="1993392"/>
            <a:ext cx="2011680" cy="182880"/>
          </a:xfrm>
          <a:prstGeom prst="rect">
            <a:avLst/>
          </a:prstGeom>
          <a:noFill/>
        </p:spPr>
        <p:txBody>
          <a:bodyPr wrap="square">
            <a:spAutoFit/>
          </a:bodyPr>
          <a:lstStyle/>
          <a:p>
            <a:pPr algn="ctr">
              <a:defRPr sz="800" b="0" i="1">
                <a:solidFill>
                  <a:srgbClr val="A09CB0"/>
                </a:solidFill>
                <a:latin typeface="Segoe UI"/>
              </a:defRPr>
            </a:pPr>
            <a:r>
              <a:t>22 binds  |  +74% MoM</a:t>
            </a:r>
          </a:p>
        </p:txBody>
      </p:sp>
      <p:sp>
        <p:nvSpPr>
          <p:cNvPr id="21" name="Rounded Rectangle 20"/>
          <p:cNvSpPr/>
          <p:nvPr/>
        </p:nvSpPr>
        <p:spPr>
          <a:xfrm>
            <a:off x="4937759" y="1371600"/>
            <a:ext cx="2194560" cy="84124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59" y="1371600"/>
            <a:ext cx="2194560" cy="457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199" y="1463040"/>
            <a:ext cx="2011680" cy="320040"/>
          </a:xfrm>
          <a:prstGeom prst="rect">
            <a:avLst/>
          </a:prstGeom>
          <a:noFill/>
        </p:spPr>
        <p:txBody>
          <a:bodyPr wrap="square">
            <a:spAutoFit/>
          </a:bodyPr>
          <a:lstStyle/>
          <a:p>
            <a:pPr algn="ctr">
              <a:defRPr sz="2200" b="1" i="0">
                <a:solidFill>
                  <a:srgbClr val="1E073B"/>
                </a:solidFill>
                <a:latin typeface="Segoe UI Light"/>
              </a:defRPr>
            </a:pPr>
            <a:r>
              <a:t>$1.4M</a:t>
            </a:r>
          </a:p>
        </p:txBody>
      </p:sp>
      <p:sp>
        <p:nvSpPr>
          <p:cNvPr id="24" name="TextBox 23"/>
          <p:cNvSpPr txBox="1"/>
          <p:nvPr/>
        </p:nvSpPr>
        <p:spPr>
          <a:xfrm>
            <a:off x="5029199" y="1783080"/>
            <a:ext cx="2011680" cy="182880"/>
          </a:xfrm>
          <a:prstGeom prst="rect">
            <a:avLst/>
          </a:prstGeom>
          <a:noFill/>
        </p:spPr>
        <p:txBody>
          <a:bodyPr wrap="square">
            <a:spAutoFit/>
          </a:bodyPr>
          <a:lstStyle/>
          <a:p>
            <a:pPr algn="ctr">
              <a:defRPr sz="1000" b="1" i="0">
                <a:solidFill>
                  <a:srgbClr val="2D233F"/>
                </a:solidFill>
                <a:latin typeface="Segoe UI"/>
              </a:defRPr>
            </a:pPr>
            <a:r>
              <a:t>YTD GWP</a:t>
            </a:r>
          </a:p>
        </p:txBody>
      </p:sp>
      <p:sp>
        <p:nvSpPr>
          <p:cNvPr id="25" name="TextBox 24"/>
          <p:cNvSpPr txBox="1"/>
          <p:nvPr/>
        </p:nvSpPr>
        <p:spPr>
          <a:xfrm>
            <a:off x="5029199" y="1993392"/>
            <a:ext cx="2011680" cy="182880"/>
          </a:xfrm>
          <a:prstGeom prst="rect">
            <a:avLst/>
          </a:prstGeom>
          <a:noFill/>
        </p:spPr>
        <p:txBody>
          <a:bodyPr wrap="square">
            <a:spAutoFit/>
          </a:bodyPr>
          <a:lstStyle/>
          <a:p>
            <a:pPr algn="ctr">
              <a:defRPr sz="800" b="0" i="1">
                <a:solidFill>
                  <a:srgbClr val="A09CB0"/>
                </a:solidFill>
                <a:latin typeface="Segoe UI"/>
              </a:defRPr>
            </a:pPr>
            <a:r>
              <a:t>36 total binds</a:t>
            </a:r>
          </a:p>
        </p:txBody>
      </p:sp>
      <p:sp>
        <p:nvSpPr>
          <p:cNvPr id="26" name="Rounded Rectangle 25"/>
          <p:cNvSpPr/>
          <p:nvPr/>
        </p:nvSpPr>
        <p:spPr>
          <a:xfrm>
            <a:off x="7269479" y="1371600"/>
            <a:ext cx="2194560" cy="84124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69479" y="1371600"/>
            <a:ext cx="2194560"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19" y="1463040"/>
            <a:ext cx="2011680" cy="320040"/>
          </a:xfrm>
          <a:prstGeom prst="rect">
            <a:avLst/>
          </a:prstGeom>
          <a:noFill/>
        </p:spPr>
        <p:txBody>
          <a:bodyPr wrap="square">
            <a:spAutoFit/>
          </a:bodyPr>
          <a:lstStyle/>
          <a:p>
            <a:pPr algn="ctr">
              <a:defRPr sz="2200" b="1" i="0">
                <a:solidFill>
                  <a:srgbClr val="10B981"/>
                </a:solidFill>
                <a:latin typeface="Segoe UI Light"/>
              </a:defRPr>
            </a:pPr>
            <a:r>
              <a:t>54.2%</a:t>
            </a:r>
          </a:p>
        </p:txBody>
      </p:sp>
      <p:sp>
        <p:nvSpPr>
          <p:cNvPr id="29" name="TextBox 28"/>
          <p:cNvSpPr txBox="1"/>
          <p:nvPr/>
        </p:nvSpPr>
        <p:spPr>
          <a:xfrm>
            <a:off x="7360919" y="1783080"/>
            <a:ext cx="2011680" cy="182880"/>
          </a:xfrm>
          <a:prstGeom prst="rect">
            <a:avLst/>
          </a:prstGeom>
          <a:noFill/>
        </p:spPr>
        <p:txBody>
          <a:bodyPr wrap="square">
            <a:spAutoFit/>
          </a:bodyPr>
          <a:lstStyle/>
          <a:p>
            <a:pPr algn="ctr">
              <a:defRPr sz="1000" b="1" i="0">
                <a:solidFill>
                  <a:srgbClr val="2D233F"/>
                </a:solidFill>
                <a:latin typeface="Segoe UI"/>
              </a:defRPr>
            </a:pPr>
            <a:r>
              <a:t>Feb Quote Rate</a:t>
            </a:r>
          </a:p>
        </p:txBody>
      </p:sp>
      <p:sp>
        <p:nvSpPr>
          <p:cNvPr id="30" name="TextBox 29"/>
          <p:cNvSpPr txBox="1"/>
          <p:nvPr/>
        </p:nvSpPr>
        <p:spPr>
          <a:xfrm>
            <a:off x="7360919" y="1993392"/>
            <a:ext cx="2011680" cy="182880"/>
          </a:xfrm>
          <a:prstGeom prst="rect">
            <a:avLst/>
          </a:prstGeom>
          <a:noFill/>
        </p:spPr>
        <p:txBody>
          <a:bodyPr wrap="square">
            <a:spAutoFit/>
          </a:bodyPr>
          <a:lstStyle/>
          <a:p>
            <a:pPr algn="ctr">
              <a:defRPr sz="800" b="0" i="1">
                <a:solidFill>
                  <a:srgbClr val="A09CB0"/>
                </a:solidFill>
                <a:latin typeface="Segoe UI"/>
              </a:defRPr>
            </a:pPr>
            <a:r>
              <a:t>vs 45.3% program avg</a:t>
            </a:r>
          </a:p>
        </p:txBody>
      </p:sp>
      <p:sp>
        <p:nvSpPr>
          <p:cNvPr id="31" name="Rounded Rectangle 30"/>
          <p:cNvSpPr/>
          <p:nvPr/>
        </p:nvSpPr>
        <p:spPr>
          <a:xfrm>
            <a:off x="9601200" y="1371600"/>
            <a:ext cx="2194560" cy="841248"/>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01200" y="1371600"/>
            <a:ext cx="219456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463040"/>
            <a:ext cx="2011680" cy="320040"/>
          </a:xfrm>
          <a:prstGeom prst="rect">
            <a:avLst/>
          </a:prstGeom>
          <a:noFill/>
        </p:spPr>
        <p:txBody>
          <a:bodyPr wrap="square">
            <a:spAutoFit/>
          </a:bodyPr>
          <a:lstStyle/>
          <a:p>
            <a:pPr algn="ctr">
              <a:defRPr sz="2200" b="1" i="0">
                <a:solidFill>
                  <a:srgbClr val="7C3AED"/>
                </a:solidFill>
                <a:latin typeface="Segoe UI Light"/>
              </a:defRPr>
            </a:pPr>
            <a:r>
              <a:t>13 / 22</a:t>
            </a:r>
          </a:p>
        </p:txBody>
      </p:sp>
      <p:sp>
        <p:nvSpPr>
          <p:cNvPr id="34" name="TextBox 33"/>
          <p:cNvSpPr txBox="1"/>
          <p:nvPr/>
        </p:nvSpPr>
        <p:spPr>
          <a:xfrm>
            <a:off x="9692640" y="1783080"/>
            <a:ext cx="2011680" cy="182880"/>
          </a:xfrm>
          <a:prstGeom prst="rect">
            <a:avLst/>
          </a:prstGeom>
          <a:noFill/>
        </p:spPr>
        <p:txBody>
          <a:bodyPr wrap="square">
            <a:spAutoFit/>
          </a:bodyPr>
          <a:lstStyle/>
          <a:p>
            <a:pPr algn="ctr">
              <a:defRPr sz="1000" b="1" i="0">
                <a:solidFill>
                  <a:srgbClr val="2D233F"/>
                </a:solidFill>
                <a:latin typeface="Segoe UI"/>
              </a:defRPr>
            </a:pPr>
            <a:r>
              <a:t>Expansion States Active</a:t>
            </a:r>
          </a:p>
        </p:txBody>
      </p:sp>
      <p:sp>
        <p:nvSpPr>
          <p:cNvPr id="35" name="TextBox 34"/>
          <p:cNvSpPr txBox="1"/>
          <p:nvPr/>
        </p:nvSpPr>
        <p:spPr>
          <a:xfrm>
            <a:off x="9692640" y="1993392"/>
            <a:ext cx="2011680" cy="182880"/>
          </a:xfrm>
          <a:prstGeom prst="rect">
            <a:avLst/>
          </a:prstGeom>
          <a:noFill/>
        </p:spPr>
        <p:txBody>
          <a:bodyPr wrap="square">
            <a:spAutoFit/>
          </a:bodyPr>
          <a:lstStyle/>
          <a:p>
            <a:pPr algn="ctr">
              <a:defRPr sz="800" b="0" i="1">
                <a:solidFill>
                  <a:srgbClr val="A09CB0"/>
                </a:solidFill>
                <a:latin typeface="Segoe UI"/>
              </a:defRPr>
            </a:pPr>
            <a:r>
              <a:t>87 subs  |  3 binds ($35K)</a:t>
            </a:r>
          </a:p>
        </p:txBody>
      </p:sp>
      <p:sp>
        <p:nvSpPr>
          <p:cNvPr id="36" name="TextBox 35"/>
          <p:cNvSpPr txBox="1"/>
          <p:nvPr/>
        </p:nvSpPr>
        <p:spPr>
          <a:xfrm>
            <a:off x="274320" y="2423160"/>
            <a:ext cx="5486400" cy="228600"/>
          </a:xfrm>
          <a:prstGeom prst="rect">
            <a:avLst/>
          </a:prstGeom>
          <a:noFill/>
        </p:spPr>
        <p:txBody>
          <a:bodyPr wrap="square">
            <a:spAutoFit/>
          </a:bodyPr>
          <a:lstStyle/>
          <a:p>
            <a:pPr algn="l">
              <a:defRPr sz="1100" b="1" i="0">
                <a:solidFill>
                  <a:srgbClr val="5B21B6"/>
                </a:solidFill>
                <a:latin typeface="Segoe UI Semibold"/>
              </a:defRPr>
            </a:pPr>
            <a:r>
              <a:t>TOP WINS — FEBRUARY 2026</a:t>
            </a:r>
          </a:p>
        </p:txBody>
      </p:sp>
      <p:sp>
        <p:nvSpPr>
          <p:cNvPr id="37" name="Rectangle 36"/>
          <p:cNvSpPr/>
          <p:nvPr/>
        </p:nvSpPr>
        <p:spPr>
          <a:xfrm>
            <a:off x="274320" y="2670048"/>
            <a:ext cx="1371600" cy="2286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8" name="Table 37"/>
          <p:cNvGraphicFramePr>
            <a:graphicFrameLocks noGrp="1"/>
          </p:cNvGraphicFramePr>
          <p:nvPr/>
        </p:nvGraphicFramePr>
        <p:xfrm>
          <a:off x="274320" y="2761488"/>
          <a:ext cx="5303520" cy="1975104"/>
        </p:xfrm>
        <a:graphic>
          <a:graphicData uri="http://schemas.openxmlformats.org/drawingml/2006/table">
            <a:tbl>
              <a:tblPr firstRow="0" bandRow="0" bandCol="0" lastRow="0">
                <a:tableStyleId>{5C22544A-7EE6-4342-B048-85BDC9FD1C3A}</a:tableStyleId>
              </a:tblPr>
              <a:tblGrid>
                <a:gridCol w="1463040"/>
                <a:gridCol w="1371600"/>
                <a:gridCol w="457200"/>
                <a:gridCol w="640080"/>
                <a:gridCol w="1371600"/>
              </a:tblGrid>
              <a:tr h="219456">
                <a:tc>
                  <a:txBody>
                    <a:bodyPr/>
                    <a:lstStyle/>
                    <a:p>
                      <a:pPr algn="l">
                        <a:defRPr sz="800" b="1">
                          <a:solidFill>
                            <a:srgbClr val="FFFFFF"/>
                          </a:solidFill>
                          <a:latin typeface="Segoe UI Semibold"/>
                        </a:defRPr>
                      </a:pPr>
                      <a:r>
                        <a:t>Insured</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St</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GWP</a:t>
                      </a:r>
                    </a:p>
                  </a:txBody>
                  <a:tcPr anchor="ctr" marL="76200" marR="76200" marT="38100" marB="38100">
                    <a:solidFill>
                      <a:srgbClr val="5B21B6"/>
                    </a:solidFill>
                    <a:lnL w="0">
                      <a:noFill/>
                    </a:lnL>
                    <a:lnR w="0">
                      <a:noFill/>
                    </a:lnR>
                    <a:lnT w="0">
                      <a:noFill/>
                    </a:lnT>
                    <a:lnB w="0">
                      <a:noFill/>
                    </a:lnB>
                  </a:tcPr>
                </a:tc>
                <a:tc>
                  <a:txBody>
                    <a:bodyPr/>
                    <a:lstStyle/>
                    <a:p>
                      <a:pPr algn="ctr">
                        <a:defRPr sz="800" b="1">
                          <a:solidFill>
                            <a:srgbClr val="FFFFFF"/>
                          </a:solidFill>
                          <a:latin typeface="Segoe UI Semibold"/>
                        </a:defRPr>
                      </a:pPr>
                      <a:r>
                        <a:t>BDM</a:t>
                      </a:r>
                    </a:p>
                  </a:txBody>
                  <a:tcPr anchor="ctr" marL="76200" marR="76200" marT="38100" marB="38100">
                    <a:solidFill>
                      <a:srgbClr val="5B21B6"/>
                    </a:solidFill>
                    <a:lnL w="0">
                      <a:noFill/>
                    </a:lnL>
                    <a:lnR w="0">
                      <a:noFill/>
                    </a:lnR>
                    <a:lnT w="0">
                      <a:noFill/>
                    </a:lnT>
                    <a:lnB w="0">
                      <a:noFill/>
                    </a:lnB>
                  </a:tcPr>
                </a:tc>
              </a:tr>
              <a:tr h="219456">
                <a:tc>
                  <a:txBody>
                    <a:bodyPr/>
                    <a:lstStyle/>
                    <a:p>
                      <a:pPr algn="l">
                        <a:defRPr sz="800" b="1">
                          <a:solidFill>
                            <a:srgbClr val="1E073B"/>
                          </a:solidFill>
                          <a:latin typeface="Segoe UI"/>
                        </a:defRPr>
                      </a:pPr>
                      <a:r>
                        <a:t>Telekinesis LLC</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Paramount Excl.</a:t>
                      </a:r>
                    </a:p>
                  </a:txBody>
                  <a:tcPr anchor="ctr" marL="76200" marR="76200" marT="38100" marB="38100">
                    <a:noFill/>
                    <a:lnL w="0">
                      <a:noFill/>
                    </a:lnL>
                    <a:lnR w="0">
                      <a:noFill/>
                    </a:lnR>
                    <a:lnT w="0">
                      <a:noFill/>
                    </a:lnT>
                    <a:lnB w="0">
                      <a:noFill/>
                    </a:lnB>
                  </a:tcPr>
                </a:tc>
                <a:tc>
                  <a:txBody>
                    <a:bodyPr/>
                    <a:lstStyle/>
                    <a:p>
                      <a:pPr algn="ctr">
                        <a:defRPr sz="800" b="0">
                          <a:solidFill>
                            <a:srgbClr val="2D233F"/>
                          </a:solidFill>
                          <a:latin typeface="Segoe UI"/>
                        </a:defRPr>
                      </a:pPr>
                      <a:r>
                        <a:t>TX</a:t>
                      </a:r>
                    </a:p>
                  </a:txBody>
                  <a:tcPr anchor="ctr" marL="76200" marR="76200" marT="38100" marB="38100">
                    <a:noFill/>
                    <a:lnL w="0">
                      <a:noFill/>
                    </a:lnL>
                    <a:lnR w="0">
                      <a:noFill/>
                    </a:lnR>
                    <a:lnT w="0">
                      <a:noFill/>
                    </a:lnT>
                    <a:lnB w="0">
                      <a:noFill/>
                    </a:lnB>
                  </a:tcPr>
                </a:tc>
                <a:tc>
                  <a:txBody>
                    <a:bodyPr/>
                    <a:lstStyle/>
                    <a:p>
                      <a:pPr algn="ctr">
                        <a:defRPr sz="800" b="1">
                          <a:solidFill>
                            <a:srgbClr val="10B981"/>
                          </a:solidFill>
                          <a:latin typeface="Segoe UI"/>
                        </a:defRPr>
                      </a:pPr>
                      <a:r>
                        <a:t>$205K</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Derek Janssen</a:t>
                      </a:r>
                    </a:p>
                  </a:txBody>
                  <a:tcPr anchor="ctr" marL="76200" marR="76200" marT="38100" marB="38100">
                    <a:noFill/>
                    <a:lnL w="0">
                      <a:noFill/>
                    </a:lnL>
                    <a:lnR w="0">
                      <a:noFill/>
                    </a:lnR>
                    <a:lnT w="0">
                      <a:noFill/>
                    </a:lnT>
                    <a:lnB w="0">
                      <a:noFill/>
                    </a:lnB>
                  </a:tcPr>
                </a:tc>
              </a:tr>
              <a:tr h="219456">
                <a:tc>
                  <a:txBody>
                    <a:bodyPr/>
                    <a:lstStyle/>
                    <a:p>
                      <a:pPr algn="l">
                        <a:defRPr sz="800" b="1">
                          <a:solidFill>
                            <a:srgbClr val="1E073B"/>
                          </a:solidFill>
                          <a:latin typeface="Segoe UI"/>
                        </a:defRPr>
                      </a:pPr>
                      <a:r>
                        <a:t>Guillen Trucking</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Safeline Ins.</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2D233F"/>
                          </a:solidFill>
                          <a:latin typeface="Segoe UI"/>
                        </a:defRPr>
                      </a:pPr>
                      <a:r>
                        <a:t>CA</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10B981"/>
                          </a:solidFill>
                          <a:latin typeface="Segoe UI"/>
                        </a:defRPr>
                      </a:pPr>
                      <a:r>
                        <a:t>$136K</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Derek Janssen</a:t>
                      </a:r>
                    </a:p>
                  </a:txBody>
                  <a:tcPr anchor="ctr" marL="76200" marR="76200" marT="38100" marB="38100">
                    <a:solidFill>
                      <a:srgbClr val="F5F3FF"/>
                    </a:solidFill>
                    <a:lnL w="0">
                      <a:noFill/>
                    </a:lnL>
                    <a:lnR w="0">
                      <a:noFill/>
                    </a:lnR>
                    <a:lnT w="0">
                      <a:noFill/>
                    </a:lnT>
                    <a:lnB w="0">
                      <a:noFill/>
                    </a:lnB>
                  </a:tcPr>
                </a:tc>
              </a:tr>
              <a:tr h="219456">
                <a:tc>
                  <a:txBody>
                    <a:bodyPr/>
                    <a:lstStyle/>
                    <a:p>
                      <a:pPr algn="l">
                        <a:defRPr sz="800" b="1">
                          <a:solidFill>
                            <a:srgbClr val="1E073B"/>
                          </a:solidFill>
                          <a:latin typeface="Segoe UI"/>
                        </a:defRPr>
                      </a:pPr>
                      <a:r>
                        <a:t>Boo's Trucking</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Christian Charles</a:t>
                      </a:r>
                    </a:p>
                  </a:txBody>
                  <a:tcPr anchor="ctr" marL="76200" marR="76200" marT="38100" marB="38100">
                    <a:noFill/>
                    <a:lnL w="0">
                      <a:noFill/>
                    </a:lnL>
                    <a:lnR w="0">
                      <a:noFill/>
                    </a:lnR>
                    <a:lnT w="0">
                      <a:noFill/>
                    </a:lnT>
                    <a:lnB w="0">
                      <a:noFill/>
                    </a:lnB>
                  </a:tcPr>
                </a:tc>
                <a:tc>
                  <a:txBody>
                    <a:bodyPr/>
                    <a:lstStyle/>
                    <a:p>
                      <a:pPr algn="ctr">
                        <a:defRPr sz="800" b="0">
                          <a:solidFill>
                            <a:srgbClr val="2D233F"/>
                          </a:solidFill>
                          <a:latin typeface="Segoe UI"/>
                        </a:defRPr>
                      </a:pPr>
                      <a:r>
                        <a:t>CA</a:t>
                      </a:r>
                    </a:p>
                  </a:txBody>
                  <a:tcPr anchor="ctr" marL="76200" marR="76200" marT="38100" marB="38100">
                    <a:noFill/>
                    <a:lnL w="0">
                      <a:noFill/>
                    </a:lnL>
                    <a:lnR w="0">
                      <a:noFill/>
                    </a:lnR>
                    <a:lnT w="0">
                      <a:noFill/>
                    </a:lnT>
                    <a:lnB w="0">
                      <a:noFill/>
                    </a:lnB>
                  </a:tcPr>
                </a:tc>
                <a:tc>
                  <a:txBody>
                    <a:bodyPr/>
                    <a:lstStyle/>
                    <a:p>
                      <a:pPr algn="ctr">
                        <a:defRPr sz="800" b="1">
                          <a:solidFill>
                            <a:srgbClr val="F59E0B"/>
                          </a:solidFill>
                          <a:latin typeface="Segoe UI"/>
                        </a:defRPr>
                      </a:pPr>
                      <a:r>
                        <a:t>$109K</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Unassigned</a:t>
                      </a:r>
                    </a:p>
                  </a:txBody>
                  <a:tcPr anchor="ctr" marL="76200" marR="76200" marT="38100" marB="38100">
                    <a:noFill/>
                    <a:lnL w="0">
                      <a:noFill/>
                    </a:lnL>
                    <a:lnR w="0">
                      <a:noFill/>
                    </a:lnR>
                    <a:lnT w="0">
                      <a:noFill/>
                    </a:lnT>
                    <a:lnB w="0">
                      <a:noFill/>
                    </a:lnB>
                  </a:tcPr>
                </a:tc>
              </a:tr>
              <a:tr h="219456">
                <a:tc>
                  <a:txBody>
                    <a:bodyPr/>
                    <a:lstStyle/>
                    <a:p>
                      <a:pPr algn="l">
                        <a:defRPr sz="800" b="1">
                          <a:solidFill>
                            <a:srgbClr val="1E073B"/>
                          </a:solidFill>
                          <a:latin typeface="Segoe UI"/>
                        </a:defRPr>
                      </a:pPr>
                      <a:r>
                        <a:t>A&amp;M Trucking Repair</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USG Insurance</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2D233F"/>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F59E0B"/>
                          </a:solidFill>
                          <a:latin typeface="Segoe UI"/>
                        </a:defRPr>
                      </a:pPr>
                      <a:r>
                        <a:t>$83K</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r>
              <a:tr h="219456">
                <a:tc>
                  <a:txBody>
                    <a:bodyPr/>
                    <a:lstStyle/>
                    <a:p>
                      <a:pPr algn="l">
                        <a:defRPr sz="800" b="1">
                          <a:solidFill>
                            <a:srgbClr val="1E073B"/>
                          </a:solidFill>
                          <a:latin typeface="Segoe UI"/>
                        </a:defRPr>
                      </a:pPr>
                      <a:r>
                        <a:t>Cover Badger (6 pol)</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Cover Badger</a:t>
                      </a:r>
                    </a:p>
                  </a:txBody>
                  <a:tcPr anchor="ctr" marL="76200" marR="76200" marT="38100" marB="38100">
                    <a:noFill/>
                    <a:lnL w="0">
                      <a:noFill/>
                    </a:lnL>
                    <a:lnR w="0">
                      <a:noFill/>
                    </a:lnR>
                    <a:lnT w="0">
                      <a:noFill/>
                    </a:lnT>
                    <a:lnB w="0">
                      <a:noFill/>
                    </a:lnB>
                  </a:tcPr>
                </a:tc>
                <a:tc>
                  <a:txBody>
                    <a:bodyPr/>
                    <a:lstStyle/>
                    <a:p>
                      <a:pPr algn="ctr">
                        <a:defRPr sz="800" b="0">
                          <a:solidFill>
                            <a:srgbClr val="2D233F"/>
                          </a:solidFill>
                          <a:latin typeface="Segoe UI"/>
                        </a:defRPr>
                      </a:pPr>
                      <a:r>
                        <a:t>CA/TX</a:t>
                      </a:r>
                    </a:p>
                  </a:txBody>
                  <a:tcPr anchor="ctr" marL="76200" marR="76200" marT="38100" marB="38100">
                    <a:noFill/>
                    <a:lnL w="0">
                      <a:noFill/>
                    </a:lnL>
                    <a:lnR w="0">
                      <a:noFill/>
                    </a:lnR>
                    <a:lnT w="0">
                      <a:noFill/>
                    </a:lnT>
                    <a:lnB w="0">
                      <a:noFill/>
                    </a:lnB>
                  </a:tcPr>
                </a:tc>
                <a:tc>
                  <a:txBody>
                    <a:bodyPr/>
                    <a:lstStyle/>
                    <a:p>
                      <a:pPr algn="ctr">
                        <a:defRPr sz="800" b="1">
                          <a:solidFill>
                            <a:srgbClr val="7C3AED"/>
                          </a:solidFill>
                          <a:latin typeface="Segoe UI"/>
                        </a:defRPr>
                      </a:pPr>
                      <a:r>
                        <a:t>$83K</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James Reid</a:t>
                      </a:r>
                    </a:p>
                  </a:txBody>
                  <a:tcPr anchor="ctr" marL="76200" marR="76200" marT="38100" marB="38100">
                    <a:noFill/>
                    <a:lnL w="0">
                      <a:noFill/>
                    </a:lnL>
                    <a:lnR w="0">
                      <a:noFill/>
                    </a:lnR>
                    <a:lnT w="0">
                      <a:noFill/>
                    </a:lnT>
                    <a:lnB w="0">
                      <a:noFill/>
                    </a:lnB>
                  </a:tcPr>
                </a:tc>
              </a:tr>
              <a:tr h="219456">
                <a:tc>
                  <a:txBody>
                    <a:bodyPr/>
                    <a:lstStyle/>
                    <a:p>
                      <a:pPr algn="l">
                        <a:defRPr sz="800" b="1">
                          <a:solidFill>
                            <a:srgbClr val="1E073B"/>
                          </a:solidFill>
                          <a:latin typeface="Segoe UI"/>
                        </a:defRPr>
                      </a:pPr>
                      <a:r>
                        <a:t>Justin Robert (2 pol</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Justin Robert Ins.</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2D233F"/>
                          </a:solidFill>
                          <a:latin typeface="Segoe UI"/>
                        </a:defRPr>
                      </a:pPr>
                      <a:r>
                        <a:t>TX</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F59E0B"/>
                          </a:solidFill>
                          <a:latin typeface="Segoe UI"/>
                        </a:defRPr>
                      </a:pPr>
                      <a:r>
                        <a:t>$53K</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9C92B5"/>
                          </a:solidFill>
                          <a:latin typeface="Segoe UI"/>
                        </a:defRPr>
                      </a:pPr>
                      <a:r>
                        <a:t>Unassigned</a:t>
                      </a:r>
                    </a:p>
                  </a:txBody>
                  <a:tcPr anchor="ctr" marL="76200" marR="76200" marT="38100" marB="38100">
                    <a:solidFill>
                      <a:srgbClr val="F5F3FF"/>
                    </a:solidFill>
                    <a:lnL w="0">
                      <a:noFill/>
                    </a:lnL>
                    <a:lnR w="0">
                      <a:noFill/>
                    </a:lnR>
                    <a:lnT w="0">
                      <a:noFill/>
                    </a:lnT>
                    <a:lnB w="0">
                      <a:noFill/>
                    </a:lnB>
                  </a:tcPr>
                </a:tc>
              </a:tr>
              <a:tr h="219456">
                <a:tc>
                  <a:txBody>
                    <a:bodyPr/>
                    <a:lstStyle/>
                    <a:p>
                      <a:pPr algn="l">
                        <a:defRPr sz="800" b="1">
                          <a:solidFill>
                            <a:srgbClr val="1E073B"/>
                          </a:solidFill>
                          <a:latin typeface="Segoe UI"/>
                        </a:defRPr>
                      </a:pPr>
                      <a:r>
                        <a:t>Insuremart (3 pol)</a:t>
                      </a: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Insuremart Inc</a:t>
                      </a:r>
                    </a:p>
                  </a:txBody>
                  <a:tcPr anchor="ctr" marL="76200" marR="76200" marT="38100" marB="38100">
                    <a:noFill/>
                    <a:lnL w="0">
                      <a:noFill/>
                    </a:lnL>
                    <a:lnR w="0">
                      <a:noFill/>
                    </a:lnR>
                    <a:lnT w="0">
                      <a:noFill/>
                    </a:lnT>
                    <a:lnB w="0">
                      <a:noFill/>
                    </a:lnB>
                  </a:tcPr>
                </a:tc>
                <a:tc>
                  <a:txBody>
                    <a:bodyPr/>
                    <a:lstStyle/>
                    <a:p>
                      <a:pPr algn="ctr">
                        <a:defRPr sz="800" b="0">
                          <a:solidFill>
                            <a:srgbClr val="2D233F"/>
                          </a:solidFill>
                          <a:latin typeface="Segoe UI"/>
                        </a:defRPr>
                      </a:pPr>
                      <a:r>
                        <a:t>PA</a:t>
                      </a:r>
                    </a:p>
                  </a:txBody>
                  <a:tcPr anchor="ctr" marL="76200" marR="76200" marT="38100" marB="38100">
                    <a:noFill/>
                    <a:lnL w="0">
                      <a:noFill/>
                    </a:lnL>
                    <a:lnR w="0">
                      <a:noFill/>
                    </a:lnR>
                    <a:lnT w="0">
                      <a:noFill/>
                    </a:lnT>
                    <a:lnB w="0">
                      <a:noFill/>
                    </a:lnB>
                  </a:tcPr>
                </a:tc>
                <a:tc>
                  <a:txBody>
                    <a:bodyPr/>
                    <a:lstStyle/>
                    <a:p>
                      <a:pPr algn="ctr">
                        <a:defRPr sz="800" b="1">
                          <a:solidFill>
                            <a:srgbClr val="F59E0B"/>
                          </a:solidFill>
                          <a:latin typeface="Segoe UI"/>
                        </a:defRPr>
                      </a:pPr>
                      <a:r>
                        <a:t>$48K</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Unassigned</a:t>
                      </a:r>
                    </a:p>
                  </a:txBody>
                  <a:tcPr anchor="ctr" marL="76200" marR="76200" marT="38100" marB="38100">
                    <a:noFill/>
                    <a:lnL w="0">
                      <a:noFill/>
                    </a:lnL>
                    <a:lnR w="0">
                      <a:noFill/>
                    </a:lnR>
                    <a:lnT w="0">
                      <a:noFill/>
                    </a:lnT>
                    <a:lnB w="0">
                      <a:noFill/>
                    </a:lnB>
                  </a:tcPr>
                </a:tc>
              </a:tr>
              <a:tr h="219456">
                <a:tc>
                  <a:txBody>
                    <a:bodyPr/>
                    <a:lstStyle/>
                    <a:p>
                      <a:pPr algn="l">
                        <a:defRPr sz="800" b="1">
                          <a:solidFill>
                            <a:srgbClr val="1E073B"/>
                          </a:solidFill>
                          <a:latin typeface="Segoe UI"/>
                        </a:defRPr>
                      </a:pPr>
                      <a:r>
                        <a:t>Ins4Truckers (6 pol)</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6B5F83"/>
                          </a:solidFill>
                          <a:latin typeface="Segoe UI"/>
                        </a:defRPr>
                      </a:pPr>
                      <a:r>
                        <a:t>Insurance4Truckers</a:t>
                      </a:r>
                    </a:p>
                  </a:txBody>
                  <a:tcPr anchor="ctr" marL="76200" marR="76200" marT="38100" marB="38100">
                    <a:solidFill>
                      <a:srgbClr val="F5F3FF"/>
                    </a:solidFill>
                    <a:lnL w="0">
                      <a:noFill/>
                    </a:lnL>
                    <a:lnR w="0">
                      <a:noFill/>
                    </a:lnR>
                    <a:lnT w="0">
                      <a:noFill/>
                    </a:lnT>
                    <a:lnB w="0">
                      <a:noFill/>
                    </a:lnB>
                  </a:tcPr>
                </a:tc>
                <a:tc>
                  <a:txBody>
                    <a:bodyPr/>
                    <a:lstStyle/>
                    <a:p>
                      <a:pPr algn="ctr">
                        <a:defRPr sz="800" b="0">
                          <a:solidFill>
                            <a:srgbClr val="2D233F"/>
                          </a:solidFill>
                          <a:latin typeface="Segoe UI"/>
                        </a:defRPr>
                      </a:pPr>
                      <a:r>
                        <a:t>CA/TX</a:t>
                      </a:r>
                    </a:p>
                  </a:txBody>
                  <a:tcPr anchor="ctr" marL="76200" marR="76200" marT="38100" marB="38100">
                    <a:solidFill>
                      <a:srgbClr val="F5F3FF"/>
                    </a:solidFill>
                    <a:lnL w="0">
                      <a:noFill/>
                    </a:lnL>
                    <a:lnR w="0">
                      <a:noFill/>
                    </a:lnR>
                    <a:lnT w="0">
                      <a:noFill/>
                    </a:lnT>
                    <a:lnB w="0">
                      <a:noFill/>
                    </a:lnB>
                  </a:tcPr>
                </a:tc>
                <a:tc>
                  <a:txBody>
                    <a:bodyPr/>
                    <a:lstStyle/>
                    <a:p>
                      <a:pPr algn="ctr">
                        <a:defRPr sz="800" b="1">
                          <a:solidFill>
                            <a:srgbClr val="7C3AED"/>
                          </a:solidFill>
                          <a:latin typeface="Segoe UI"/>
                        </a:defRPr>
                      </a:pPr>
                      <a:r>
                        <a:t>$47K</a:t>
                      </a:r>
                    </a:p>
                  </a:txBody>
                  <a:tcPr anchor="ctr" marL="76200" marR="76200" marT="38100" marB="38100">
                    <a:solidFill>
                      <a:srgbClr val="F5F3FF"/>
                    </a:solidFill>
                    <a:lnL w="0">
                      <a:noFill/>
                    </a:lnL>
                    <a:lnR w="0">
                      <a:noFill/>
                    </a:lnR>
                    <a:lnT w="0">
                      <a:noFill/>
                    </a:lnT>
                    <a:lnB w="0">
                      <a:noFill/>
                    </a:lnB>
                  </a:tcPr>
                </a:tc>
                <a:tc>
                  <a:txBody>
                    <a:bodyPr/>
                    <a:lstStyle/>
                    <a:p>
                      <a:pPr algn="l">
                        <a:defRPr sz="800" b="0">
                          <a:solidFill>
                            <a:srgbClr val="2D233F"/>
                          </a:solidFill>
                          <a:latin typeface="Segoe UI"/>
                        </a:defRPr>
                      </a:pPr>
                      <a:r>
                        <a:t>Ron Douglas</a:t>
                      </a:r>
                    </a:p>
                  </a:txBody>
                  <a:tcPr anchor="ctr" marL="76200" marR="76200" marT="38100" marB="38100">
                    <a:solidFill>
                      <a:srgbClr val="F5F3FF"/>
                    </a:solidFill>
                    <a:lnL w="0">
                      <a:noFill/>
                    </a:lnL>
                    <a:lnR w="0">
                      <a:noFill/>
                    </a:lnR>
                    <a:lnT w="0">
                      <a:noFill/>
                    </a:lnT>
                    <a:lnB w="0">
                      <a:noFill/>
                    </a:lnB>
                  </a:tcPr>
                </a:tc>
              </a:tr>
            </a:tbl>
          </a:graphicData>
        </a:graphic>
      </p:graphicFrame>
      <p:sp>
        <p:nvSpPr>
          <p:cNvPr id="39" name="TextBox 38"/>
          <p:cNvSpPr txBox="1"/>
          <p:nvPr/>
        </p:nvSpPr>
        <p:spPr>
          <a:xfrm>
            <a:off x="6217920" y="2423160"/>
            <a:ext cx="5486400" cy="228600"/>
          </a:xfrm>
          <a:prstGeom prst="rect">
            <a:avLst/>
          </a:prstGeom>
          <a:noFill/>
        </p:spPr>
        <p:txBody>
          <a:bodyPr wrap="square">
            <a:spAutoFit/>
          </a:bodyPr>
          <a:lstStyle/>
          <a:p>
            <a:pPr algn="l">
              <a:defRPr sz="1100" b="1" i="0">
                <a:solidFill>
                  <a:srgbClr val="5B21B6"/>
                </a:solidFill>
                <a:latin typeface="Segoe UI Semibold"/>
              </a:defRPr>
            </a:pPr>
            <a:r>
              <a:t>MARKETING ATTRIBUTION</a:t>
            </a:r>
          </a:p>
        </p:txBody>
      </p:sp>
      <p:sp>
        <p:nvSpPr>
          <p:cNvPr id="40" name="Rectangle 39"/>
          <p:cNvSpPr/>
          <p:nvPr/>
        </p:nvSpPr>
        <p:spPr>
          <a:xfrm>
            <a:off x="6217920" y="2670048"/>
            <a:ext cx="1371600" cy="2286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217920" y="2816352"/>
            <a:ext cx="5669280" cy="347472"/>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217920" y="2816352"/>
            <a:ext cx="54864" cy="3474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2862072"/>
            <a:ext cx="914400" cy="256032"/>
          </a:xfrm>
          <a:prstGeom prst="rect">
            <a:avLst/>
          </a:prstGeom>
          <a:noFill/>
        </p:spPr>
        <p:txBody>
          <a:bodyPr wrap="square">
            <a:spAutoFit/>
          </a:bodyPr>
          <a:lstStyle/>
          <a:p>
            <a:pPr algn="l">
              <a:defRPr sz="1300" b="1" i="0">
                <a:solidFill>
                  <a:srgbClr val="10B981"/>
                </a:solidFill>
                <a:latin typeface="Segoe UI Light"/>
              </a:defRPr>
            </a:pPr>
            <a:r>
              <a:t>5 / 16</a:t>
            </a:r>
          </a:p>
        </p:txBody>
      </p:sp>
      <p:sp>
        <p:nvSpPr>
          <p:cNvPr id="44" name="TextBox 43"/>
          <p:cNvSpPr txBox="1"/>
          <p:nvPr/>
        </p:nvSpPr>
        <p:spPr>
          <a:xfrm>
            <a:off x="7406640" y="2880360"/>
            <a:ext cx="4297680" cy="228600"/>
          </a:xfrm>
          <a:prstGeom prst="rect">
            <a:avLst/>
          </a:prstGeom>
          <a:noFill/>
        </p:spPr>
        <p:txBody>
          <a:bodyPr wrap="square">
            <a:spAutoFit/>
          </a:bodyPr>
          <a:lstStyle/>
          <a:p>
            <a:pPr algn="l">
              <a:defRPr sz="900" b="0" i="0">
                <a:solidFill>
                  <a:srgbClr val="2D233F"/>
                </a:solidFill>
                <a:latin typeface="Segoe UI"/>
              </a:defRPr>
            </a:pPr>
            <a:r>
              <a:t>agents directly influenced by Growth DSG campaign</a:t>
            </a:r>
          </a:p>
        </p:txBody>
      </p:sp>
      <p:sp>
        <p:nvSpPr>
          <p:cNvPr id="45" name="Rounded Rectangle 44"/>
          <p:cNvSpPr/>
          <p:nvPr/>
        </p:nvSpPr>
        <p:spPr>
          <a:xfrm>
            <a:off x="6217920" y="3200400"/>
            <a:ext cx="5669280" cy="347472"/>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17920" y="3200400"/>
            <a:ext cx="54864"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0" y="3246120"/>
            <a:ext cx="914400" cy="256032"/>
          </a:xfrm>
          <a:prstGeom prst="rect">
            <a:avLst/>
          </a:prstGeom>
          <a:noFill/>
        </p:spPr>
        <p:txBody>
          <a:bodyPr wrap="square">
            <a:spAutoFit/>
          </a:bodyPr>
          <a:lstStyle/>
          <a:p>
            <a:pPr algn="l">
              <a:defRPr sz="1300" b="1" i="0">
                <a:solidFill>
                  <a:srgbClr val="7C3AED"/>
                </a:solidFill>
                <a:latin typeface="Segoe UI Light"/>
              </a:defRPr>
            </a:pPr>
            <a:r>
              <a:t>13 / 16</a:t>
            </a:r>
          </a:p>
        </p:txBody>
      </p:sp>
      <p:sp>
        <p:nvSpPr>
          <p:cNvPr id="48" name="TextBox 47"/>
          <p:cNvSpPr txBox="1"/>
          <p:nvPr/>
        </p:nvSpPr>
        <p:spPr>
          <a:xfrm>
            <a:off x="7406640" y="3264408"/>
            <a:ext cx="4297680" cy="228600"/>
          </a:xfrm>
          <a:prstGeom prst="rect">
            <a:avLst/>
          </a:prstGeom>
          <a:noFill/>
        </p:spPr>
        <p:txBody>
          <a:bodyPr wrap="square">
            <a:spAutoFit/>
          </a:bodyPr>
          <a:lstStyle/>
          <a:p>
            <a:pPr algn="l">
              <a:defRPr sz="900" b="0" i="0">
                <a:solidFill>
                  <a:srgbClr val="2D233F"/>
                </a:solidFill>
                <a:latin typeface="Segoe UI"/>
              </a:defRPr>
            </a:pPr>
            <a:r>
              <a:t>bound agents were currently marketable (81%)</a:t>
            </a:r>
          </a:p>
        </p:txBody>
      </p:sp>
      <p:sp>
        <p:nvSpPr>
          <p:cNvPr id="49" name="Rounded Rectangle 48"/>
          <p:cNvSpPr/>
          <p:nvPr/>
        </p:nvSpPr>
        <p:spPr>
          <a:xfrm>
            <a:off x="6217920" y="3584448"/>
            <a:ext cx="5669280" cy="347472"/>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217920" y="3584448"/>
            <a:ext cx="54864" cy="3474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0" y="3630168"/>
            <a:ext cx="914400" cy="256032"/>
          </a:xfrm>
          <a:prstGeom prst="rect">
            <a:avLst/>
          </a:prstGeom>
          <a:noFill/>
        </p:spPr>
        <p:txBody>
          <a:bodyPr wrap="square">
            <a:spAutoFit/>
          </a:bodyPr>
          <a:lstStyle/>
          <a:p>
            <a:pPr algn="l">
              <a:defRPr sz="1300" b="1" i="0">
                <a:solidFill>
                  <a:srgbClr val="10B981"/>
                </a:solidFill>
                <a:latin typeface="Segoe UI Light"/>
              </a:defRPr>
            </a:pPr>
            <a:r>
              <a:t>28.8%</a:t>
            </a:r>
          </a:p>
        </p:txBody>
      </p:sp>
      <p:sp>
        <p:nvSpPr>
          <p:cNvPr id="52" name="TextBox 51"/>
          <p:cNvSpPr txBox="1"/>
          <p:nvPr/>
        </p:nvSpPr>
        <p:spPr>
          <a:xfrm>
            <a:off x="7406640" y="3648456"/>
            <a:ext cx="4297680" cy="228600"/>
          </a:xfrm>
          <a:prstGeom prst="rect">
            <a:avLst/>
          </a:prstGeom>
          <a:noFill/>
        </p:spPr>
        <p:txBody>
          <a:bodyPr wrap="square">
            <a:spAutoFit/>
          </a:bodyPr>
          <a:lstStyle/>
          <a:p>
            <a:pPr algn="l">
              <a:defRPr sz="900" b="0" i="0">
                <a:solidFill>
                  <a:srgbClr val="2D233F"/>
                </a:solidFill>
                <a:latin typeface="Segoe UI"/>
              </a:defRPr>
            </a:pPr>
            <a:r>
              <a:t>campaign open rate — strong for B2B insurance</a:t>
            </a:r>
          </a:p>
        </p:txBody>
      </p:sp>
      <p:sp>
        <p:nvSpPr>
          <p:cNvPr id="53" name="Rounded Rectangle 52"/>
          <p:cNvSpPr/>
          <p:nvPr/>
        </p:nvSpPr>
        <p:spPr>
          <a:xfrm>
            <a:off x="6217920" y="3968496"/>
            <a:ext cx="5669280" cy="347472"/>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17920" y="3968496"/>
            <a:ext cx="54864" cy="347472"/>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4014216"/>
            <a:ext cx="914400" cy="256032"/>
          </a:xfrm>
          <a:prstGeom prst="rect">
            <a:avLst/>
          </a:prstGeom>
          <a:noFill/>
        </p:spPr>
        <p:txBody>
          <a:bodyPr wrap="square">
            <a:spAutoFit/>
          </a:bodyPr>
          <a:lstStyle/>
          <a:p>
            <a:pPr algn="l">
              <a:defRPr sz="1300" b="1" i="0">
                <a:solidFill>
                  <a:srgbClr val="8B5CF6"/>
                </a:solidFill>
                <a:latin typeface="Segoe UI Light"/>
              </a:defRPr>
            </a:pPr>
            <a:r>
              <a:t>1,200</a:t>
            </a:r>
          </a:p>
        </p:txBody>
      </p:sp>
      <p:sp>
        <p:nvSpPr>
          <p:cNvPr id="56" name="TextBox 55"/>
          <p:cNvSpPr txBox="1"/>
          <p:nvPr/>
        </p:nvSpPr>
        <p:spPr>
          <a:xfrm>
            <a:off x="7406640" y="4032504"/>
            <a:ext cx="4297680" cy="228600"/>
          </a:xfrm>
          <a:prstGeom prst="rect">
            <a:avLst/>
          </a:prstGeom>
          <a:noFill/>
        </p:spPr>
        <p:txBody>
          <a:bodyPr wrap="square">
            <a:spAutoFit/>
          </a:bodyPr>
          <a:lstStyle/>
          <a:p>
            <a:pPr algn="l">
              <a:defRPr sz="900" b="0" i="0">
                <a:solidFill>
                  <a:srgbClr val="2D233F"/>
                </a:solidFill>
                <a:latin typeface="Segoe UI"/>
              </a:defRPr>
            </a:pPr>
            <a:r>
              <a:t>total contacts influenced across campaign</a:t>
            </a:r>
          </a:p>
        </p:txBody>
      </p:sp>
      <p:sp>
        <p:nvSpPr>
          <p:cNvPr id="57" name="TextBox 56"/>
          <p:cNvSpPr txBox="1"/>
          <p:nvPr/>
        </p:nvSpPr>
        <p:spPr>
          <a:xfrm>
            <a:off x="6217920" y="4434840"/>
            <a:ext cx="5486400" cy="228600"/>
          </a:xfrm>
          <a:prstGeom prst="rect">
            <a:avLst/>
          </a:prstGeom>
          <a:noFill/>
        </p:spPr>
        <p:txBody>
          <a:bodyPr wrap="square">
            <a:spAutoFit/>
          </a:bodyPr>
          <a:lstStyle/>
          <a:p>
            <a:pPr algn="l">
              <a:defRPr sz="1100" b="1" i="0">
                <a:solidFill>
                  <a:srgbClr val="5B21B6"/>
                </a:solidFill>
                <a:latin typeface="Segoe UI Semibold"/>
              </a:defRPr>
            </a:pPr>
            <a:r>
              <a:t>TEAM STANDOUTS</a:t>
            </a:r>
          </a:p>
        </p:txBody>
      </p:sp>
      <p:sp>
        <p:nvSpPr>
          <p:cNvPr id="58" name="Rectangle 57"/>
          <p:cNvSpPr/>
          <p:nvPr/>
        </p:nvSpPr>
        <p:spPr>
          <a:xfrm>
            <a:off x="6217920" y="4681728"/>
            <a:ext cx="1371600" cy="2286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6217920" y="4773168"/>
            <a:ext cx="56692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217920" y="4773168"/>
            <a:ext cx="54864"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00800" y="4809744"/>
            <a:ext cx="5303520" cy="182880"/>
          </a:xfrm>
          <a:prstGeom prst="rect">
            <a:avLst/>
          </a:prstGeom>
          <a:noFill/>
        </p:spPr>
        <p:txBody>
          <a:bodyPr wrap="square">
            <a:spAutoFit/>
          </a:bodyPr>
          <a:lstStyle/>
          <a:p>
            <a:pPr algn="l">
              <a:defRPr sz="900" b="1" i="0">
                <a:solidFill>
                  <a:srgbClr val="10B981"/>
                </a:solidFill>
                <a:latin typeface="Segoe UI"/>
              </a:defRPr>
            </a:pPr>
            <a:r>
              <a:t>Dominic Purkett (BDA)</a:t>
            </a:r>
          </a:p>
        </p:txBody>
      </p:sp>
      <p:sp>
        <p:nvSpPr>
          <p:cNvPr id="62" name="TextBox 61"/>
          <p:cNvSpPr txBox="1"/>
          <p:nvPr/>
        </p:nvSpPr>
        <p:spPr>
          <a:xfrm>
            <a:off x="6400800" y="4992624"/>
            <a:ext cx="5303520" cy="201168"/>
          </a:xfrm>
          <a:prstGeom prst="rect">
            <a:avLst/>
          </a:prstGeom>
          <a:noFill/>
        </p:spPr>
        <p:txBody>
          <a:bodyPr wrap="square">
            <a:spAutoFit/>
          </a:bodyPr>
          <a:lstStyle/>
          <a:p>
            <a:pPr algn="l">
              <a:defRPr sz="800" b="0" i="0">
                <a:solidFill>
                  <a:srgbClr val="6B5F83"/>
                </a:solidFill>
                <a:latin typeface="Segoe UI"/>
              </a:defRPr>
            </a:pPr>
            <a:r>
              <a:t>53 outbound calls, 20 agencies. 4 pre-bind agencies. 53-min call with Rosa Gomez (Monarca) led to bind.</a:t>
            </a:r>
          </a:p>
        </p:txBody>
      </p:sp>
      <p:sp>
        <p:nvSpPr>
          <p:cNvPr id="63" name="Rounded Rectangle 62"/>
          <p:cNvSpPr/>
          <p:nvPr/>
        </p:nvSpPr>
        <p:spPr>
          <a:xfrm>
            <a:off x="6217920" y="5276088"/>
            <a:ext cx="56692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217920" y="5276088"/>
            <a:ext cx="54864"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00800" y="5312664"/>
            <a:ext cx="5303520" cy="182880"/>
          </a:xfrm>
          <a:prstGeom prst="rect">
            <a:avLst/>
          </a:prstGeom>
          <a:noFill/>
        </p:spPr>
        <p:txBody>
          <a:bodyPr wrap="square">
            <a:spAutoFit/>
          </a:bodyPr>
          <a:lstStyle/>
          <a:p>
            <a:pPr algn="l">
              <a:defRPr sz="900" b="1" i="0">
                <a:solidFill>
                  <a:srgbClr val="10B981"/>
                </a:solidFill>
                <a:latin typeface="Segoe UI"/>
              </a:defRPr>
            </a:pPr>
            <a:r>
              <a:t>Derrick Leroy (BDM)</a:t>
            </a:r>
          </a:p>
        </p:txBody>
      </p:sp>
      <p:sp>
        <p:nvSpPr>
          <p:cNvPr id="66" name="TextBox 65"/>
          <p:cNvSpPr txBox="1"/>
          <p:nvPr/>
        </p:nvSpPr>
        <p:spPr>
          <a:xfrm>
            <a:off x="6400800" y="5495544"/>
            <a:ext cx="5303520" cy="201168"/>
          </a:xfrm>
          <a:prstGeom prst="rect">
            <a:avLst/>
          </a:prstGeom>
          <a:noFill/>
        </p:spPr>
        <p:txBody>
          <a:bodyPr wrap="square">
            <a:spAutoFit/>
          </a:bodyPr>
          <a:lstStyle/>
          <a:p>
            <a:pPr algn="l">
              <a:defRPr sz="800" b="0" i="0">
                <a:solidFill>
                  <a:srgbClr val="6B5F83"/>
                </a:solidFill>
                <a:latin typeface="Segoe UI"/>
              </a:defRPr>
            </a:pPr>
            <a:r>
              <a:t>Only BDM to make pre-bind calls. 8 outbound calls, 3 agencies. 75% call rate on assigned.</a:t>
            </a:r>
          </a:p>
        </p:txBody>
      </p:sp>
      <p:sp>
        <p:nvSpPr>
          <p:cNvPr id="67" name="Rounded Rectangle 66"/>
          <p:cNvSpPr/>
          <p:nvPr/>
        </p:nvSpPr>
        <p:spPr>
          <a:xfrm>
            <a:off x="6217920" y="5779008"/>
            <a:ext cx="5669280" cy="457200"/>
          </a:xfrm>
          <a:prstGeom prst="roundRect">
            <a:avLst>
              <a:gd name="adj" fmla="val 5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217920" y="5779008"/>
            <a:ext cx="54864" cy="4572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400800" y="5815584"/>
            <a:ext cx="5303520" cy="182880"/>
          </a:xfrm>
          <a:prstGeom prst="rect">
            <a:avLst/>
          </a:prstGeom>
          <a:noFill/>
        </p:spPr>
        <p:txBody>
          <a:bodyPr wrap="square">
            <a:spAutoFit/>
          </a:bodyPr>
          <a:lstStyle/>
          <a:p>
            <a:pPr algn="l">
              <a:defRPr sz="900" b="1" i="0">
                <a:solidFill>
                  <a:srgbClr val="F59E0B"/>
                </a:solidFill>
                <a:latin typeface="Segoe UI"/>
              </a:defRPr>
            </a:pPr>
            <a:r>
              <a:t>Cameron Brader (BDA)</a:t>
            </a:r>
          </a:p>
        </p:txBody>
      </p:sp>
      <p:sp>
        <p:nvSpPr>
          <p:cNvPr id="70" name="TextBox 69"/>
          <p:cNvSpPr txBox="1"/>
          <p:nvPr/>
        </p:nvSpPr>
        <p:spPr>
          <a:xfrm>
            <a:off x="6400800" y="5998464"/>
            <a:ext cx="5303520" cy="201168"/>
          </a:xfrm>
          <a:prstGeom prst="rect">
            <a:avLst/>
          </a:prstGeom>
          <a:noFill/>
        </p:spPr>
        <p:txBody>
          <a:bodyPr wrap="square">
            <a:spAutoFit/>
          </a:bodyPr>
          <a:lstStyle/>
          <a:p>
            <a:pPr algn="l">
              <a:defRPr sz="800" b="0" i="0">
                <a:solidFill>
                  <a:srgbClr val="6B5F83"/>
                </a:solidFill>
                <a:latin typeface="Segoe UI"/>
              </a:defRPr>
            </a:pPr>
            <a:r>
              <a:t>14 outbound calls, 9 agencies. 24% call rate on assigned. Consistent coverage.</a:t>
            </a:r>
          </a:p>
        </p:txBody>
      </p:sp>
      <p:sp>
        <p:nvSpPr>
          <p:cNvPr id="71" name="Rounded Rectangle 70"/>
          <p:cNvSpPr/>
          <p:nvPr/>
        </p:nvSpPr>
        <p:spPr>
          <a:xfrm>
            <a:off x="274320" y="5989320"/>
            <a:ext cx="5669280" cy="411480"/>
          </a:xfrm>
          <a:prstGeom prst="roundRect">
            <a:avLst>
              <a:gd name="adj" fmla="val 5000"/>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7200" y="6025896"/>
            <a:ext cx="5303520" cy="365760"/>
          </a:xfrm>
          <a:prstGeom prst="rect">
            <a:avLst/>
          </a:prstGeom>
          <a:noFill/>
        </p:spPr>
        <p:txBody>
          <a:bodyPr wrap="square">
            <a:spAutoFit/>
          </a:bodyPr>
          <a:lstStyle/>
          <a:p>
            <a:pPr algn="ctr">
              <a:defRPr sz="1000" b="1" i="0">
                <a:solidFill>
                  <a:srgbClr val="10B981"/>
                </a:solidFill>
                <a:latin typeface="Segoe UI"/>
              </a:defRPr>
            </a:pPr>
            <a:r>
              <a:t>Feb premium of $873K represents a 74% increase over January — strongest DSG month in 2026.</a:t>
            </a:r>
          </a:p>
        </p:txBody>
      </p:sp>
      <p:sp>
        <p:nvSpPr>
          <p:cNvPr id="73" name="Rectangle 72"/>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75" name="TextBox 74"/>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200" b="1" i="0">
                <a:solidFill>
                  <a:srgbClr val="FFFFFF"/>
                </a:solidFill>
                <a:latin typeface="Segoe UI Light"/>
              </a:defRPr>
            </a:pPr>
            <a:r>
              <a:t>LESSONS LEARNED &amp; OPPORTUNITIES</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Key Takeaways from the February DSG Campaign</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371600"/>
            <a:ext cx="5669280" cy="224028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371600"/>
            <a:ext cx="73152" cy="22402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5488" y="1481328"/>
            <a:ext cx="1463040" cy="256032"/>
          </a:xfrm>
          <a:prstGeom prst="roundRect">
            <a:avLst>
              <a:gd name="adj" fmla="val 10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 y="1481328"/>
            <a:ext cx="1463040" cy="256032"/>
          </a:xfrm>
          <a:prstGeom prst="rect">
            <a:avLst/>
          </a:prstGeom>
          <a:noFill/>
        </p:spPr>
        <p:txBody>
          <a:bodyPr wrap="square">
            <a:spAutoFit/>
          </a:bodyPr>
          <a:lstStyle/>
          <a:p>
            <a:pPr algn="ctr">
              <a:defRPr sz="1000" b="1" i="0">
                <a:solidFill>
                  <a:srgbClr val="FFFFFF"/>
                </a:solidFill>
                <a:latin typeface="Segoe UI Semibold"/>
              </a:defRPr>
            </a:pPr>
            <a:r>
              <a:t>WHAT WORKED</a:t>
            </a:r>
          </a:p>
        </p:txBody>
      </p:sp>
      <p:sp>
        <p:nvSpPr>
          <p:cNvPr id="15" name="TextBox 14"/>
          <p:cNvSpPr txBox="1"/>
          <p:nvPr/>
        </p:nvSpPr>
        <p:spPr>
          <a:xfrm>
            <a:off x="475488" y="1847088"/>
            <a:ext cx="5266944" cy="320040"/>
          </a:xfrm>
          <a:prstGeom prst="rect">
            <a:avLst/>
          </a:prstGeom>
          <a:noFill/>
        </p:spPr>
        <p:txBody>
          <a:bodyPr wrap="square">
            <a:spAutoFit/>
          </a:bodyPr>
          <a:lstStyle/>
          <a:p>
            <a:pPr algn="l">
              <a:defRPr sz="900" b="0" i="0">
                <a:solidFill>
                  <a:srgbClr val="6B5F83"/>
                </a:solidFill>
                <a:latin typeface="Segoe UI"/>
              </a:defRPr>
            </a:pPr>
            <a:r>
              <a:t>•  Growth DSG campaign drove measurable awareness — 28.8% open rate, 5 bound agents directly influenced</a:t>
            </a:r>
          </a:p>
        </p:txBody>
      </p:sp>
      <p:sp>
        <p:nvSpPr>
          <p:cNvPr id="16" name="TextBox 15"/>
          <p:cNvSpPr txBox="1"/>
          <p:nvPr/>
        </p:nvSpPr>
        <p:spPr>
          <a:xfrm>
            <a:off x="475488" y="2185416"/>
            <a:ext cx="5266944" cy="320040"/>
          </a:xfrm>
          <a:prstGeom prst="rect">
            <a:avLst/>
          </a:prstGeom>
          <a:noFill/>
        </p:spPr>
        <p:txBody>
          <a:bodyPr wrap="square">
            <a:spAutoFit/>
          </a:bodyPr>
          <a:lstStyle/>
          <a:p>
            <a:pPr algn="l">
              <a:defRPr sz="900" b="0" i="0">
                <a:solidFill>
                  <a:srgbClr val="6B5F83"/>
                </a:solidFill>
                <a:latin typeface="Segoe UI"/>
              </a:defRPr>
            </a:pPr>
            <a:r>
              <a:t>•  32-state expansion generated immediate traction — 13 states active, 87 subs in first month</a:t>
            </a:r>
          </a:p>
        </p:txBody>
      </p:sp>
      <p:sp>
        <p:nvSpPr>
          <p:cNvPr id="17" name="TextBox 16"/>
          <p:cNvSpPr txBox="1"/>
          <p:nvPr/>
        </p:nvSpPr>
        <p:spPr>
          <a:xfrm>
            <a:off x="475488" y="2523744"/>
            <a:ext cx="5266944" cy="320040"/>
          </a:xfrm>
          <a:prstGeom prst="rect">
            <a:avLst/>
          </a:prstGeom>
          <a:noFill/>
        </p:spPr>
        <p:txBody>
          <a:bodyPr wrap="square">
            <a:spAutoFit/>
          </a:bodyPr>
          <a:lstStyle/>
          <a:p>
            <a:pPr algn="l">
              <a:defRPr sz="900" b="0" i="0">
                <a:solidFill>
                  <a:srgbClr val="6B5F83"/>
                </a:solidFill>
                <a:latin typeface="Segoe UI"/>
              </a:defRPr>
            </a:pPr>
            <a:r>
              <a:t>•  Feb premium +74% MoM ($501K → $873K) — campaign coincided with spring construction season uptick</a:t>
            </a:r>
          </a:p>
        </p:txBody>
      </p:sp>
      <p:sp>
        <p:nvSpPr>
          <p:cNvPr id="18" name="TextBox 17"/>
          <p:cNvSpPr txBox="1"/>
          <p:nvPr/>
        </p:nvSpPr>
        <p:spPr>
          <a:xfrm>
            <a:off x="475488" y="2862072"/>
            <a:ext cx="5266944" cy="320040"/>
          </a:xfrm>
          <a:prstGeom prst="rect">
            <a:avLst/>
          </a:prstGeom>
          <a:noFill/>
        </p:spPr>
        <p:txBody>
          <a:bodyPr wrap="square">
            <a:spAutoFit/>
          </a:bodyPr>
          <a:lstStyle/>
          <a:p>
            <a:pPr algn="l">
              <a:defRPr sz="900" b="0" i="0">
                <a:solidFill>
                  <a:srgbClr val="6B5F83"/>
                </a:solidFill>
                <a:latin typeface="Segoe UI"/>
              </a:defRPr>
            </a:pPr>
            <a:r>
              <a:t>•  Quote rate of 54.2% exceeds 45.3% program average — quality of submissions improving</a:t>
            </a:r>
          </a:p>
        </p:txBody>
      </p:sp>
      <p:sp>
        <p:nvSpPr>
          <p:cNvPr id="19" name="TextBox 18"/>
          <p:cNvSpPr txBox="1"/>
          <p:nvPr/>
        </p:nvSpPr>
        <p:spPr>
          <a:xfrm>
            <a:off x="475488" y="3200400"/>
            <a:ext cx="5266944" cy="320040"/>
          </a:xfrm>
          <a:prstGeom prst="rect">
            <a:avLst/>
          </a:prstGeom>
          <a:noFill/>
        </p:spPr>
        <p:txBody>
          <a:bodyPr wrap="square">
            <a:spAutoFit/>
          </a:bodyPr>
          <a:lstStyle/>
          <a:p>
            <a:pPr algn="l">
              <a:defRPr sz="900" b="0" i="0">
                <a:solidFill>
                  <a:srgbClr val="6B5F83"/>
                </a:solidFill>
                <a:latin typeface="Segoe UI"/>
              </a:defRPr>
            </a:pPr>
            <a:r>
              <a:t>•  Dominic Purkett proved outbound model works — 53 calls, 4 pre-bind agencies, including 53-min call → bind</a:t>
            </a:r>
          </a:p>
        </p:txBody>
      </p:sp>
      <p:sp>
        <p:nvSpPr>
          <p:cNvPr id="20" name="Rounded Rectangle 19"/>
          <p:cNvSpPr/>
          <p:nvPr/>
        </p:nvSpPr>
        <p:spPr>
          <a:xfrm>
            <a:off x="6217920" y="1371600"/>
            <a:ext cx="5669280" cy="224028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371600"/>
            <a:ext cx="73152" cy="22402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19088" y="1481328"/>
            <a:ext cx="2011680" cy="256032"/>
          </a:xfrm>
          <a:prstGeom prst="roundRect">
            <a:avLst>
              <a:gd name="adj" fmla="val 1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1481328"/>
            <a:ext cx="2011680" cy="256032"/>
          </a:xfrm>
          <a:prstGeom prst="rect">
            <a:avLst/>
          </a:prstGeom>
          <a:noFill/>
        </p:spPr>
        <p:txBody>
          <a:bodyPr wrap="square">
            <a:spAutoFit/>
          </a:bodyPr>
          <a:lstStyle/>
          <a:p>
            <a:pPr algn="ctr">
              <a:defRPr sz="1000" b="1" i="0">
                <a:solidFill>
                  <a:srgbClr val="FFFFFF"/>
                </a:solidFill>
                <a:latin typeface="Segoe UI Semibold"/>
              </a:defRPr>
            </a:pPr>
            <a:r>
              <a:t>WHAT DIDN'T WORK</a:t>
            </a:r>
          </a:p>
        </p:txBody>
      </p:sp>
      <p:sp>
        <p:nvSpPr>
          <p:cNvPr id="24" name="TextBox 23"/>
          <p:cNvSpPr txBox="1"/>
          <p:nvPr/>
        </p:nvSpPr>
        <p:spPr>
          <a:xfrm>
            <a:off x="6419088" y="1847088"/>
            <a:ext cx="5266944" cy="320040"/>
          </a:xfrm>
          <a:prstGeom prst="rect">
            <a:avLst/>
          </a:prstGeom>
          <a:noFill/>
        </p:spPr>
        <p:txBody>
          <a:bodyPr wrap="square">
            <a:spAutoFit/>
          </a:bodyPr>
          <a:lstStyle/>
          <a:p>
            <a:pPr algn="l">
              <a:defRPr sz="900" b="0" i="0">
                <a:solidFill>
                  <a:srgbClr val="6B5F83"/>
                </a:solidFill>
                <a:latin typeface="Segoe UI"/>
              </a:defRPr>
            </a:pPr>
            <a:r>
              <a:t>•  BDM execution gap: 0 of 16 bound agents called by their assigned BDM pre-bind</a:t>
            </a:r>
          </a:p>
        </p:txBody>
      </p:sp>
      <p:sp>
        <p:nvSpPr>
          <p:cNvPr id="25" name="TextBox 24"/>
          <p:cNvSpPr txBox="1"/>
          <p:nvPr/>
        </p:nvSpPr>
        <p:spPr>
          <a:xfrm>
            <a:off x="6419088" y="2185416"/>
            <a:ext cx="5266944" cy="320040"/>
          </a:xfrm>
          <a:prstGeom prst="rect">
            <a:avLst/>
          </a:prstGeom>
          <a:noFill/>
        </p:spPr>
        <p:txBody>
          <a:bodyPr wrap="square">
            <a:spAutoFit/>
          </a:bodyPr>
          <a:lstStyle/>
          <a:p>
            <a:pPr algn="l">
              <a:defRPr sz="900" b="0" i="0">
                <a:solidFill>
                  <a:srgbClr val="6B5F83"/>
                </a:solidFill>
                <a:latin typeface="Segoe UI"/>
              </a:defRPr>
            </a:pPr>
            <a:r>
              <a:t>•  BDA coverage inconsistent: only 3 of 16 called by assigned BDA before bind</a:t>
            </a:r>
          </a:p>
        </p:txBody>
      </p:sp>
      <p:sp>
        <p:nvSpPr>
          <p:cNvPr id="26" name="TextBox 25"/>
          <p:cNvSpPr txBox="1"/>
          <p:nvPr/>
        </p:nvSpPr>
        <p:spPr>
          <a:xfrm>
            <a:off x="6419088" y="2523744"/>
            <a:ext cx="5266944" cy="320040"/>
          </a:xfrm>
          <a:prstGeom prst="rect">
            <a:avLst/>
          </a:prstGeom>
          <a:noFill/>
        </p:spPr>
        <p:txBody>
          <a:bodyPr wrap="square">
            <a:spAutoFit/>
          </a:bodyPr>
          <a:lstStyle/>
          <a:p>
            <a:pPr algn="l">
              <a:defRPr sz="900" b="0" i="0">
                <a:solidFill>
                  <a:srgbClr val="6B5F83"/>
                </a:solidFill>
                <a:latin typeface="Segoe UI"/>
              </a:defRPr>
            </a:pPr>
            <a:r>
              <a:t>•  42% of submitting agencies (110/260) have no BDM or BDA assigned at all</a:t>
            </a:r>
          </a:p>
        </p:txBody>
      </p:sp>
      <p:sp>
        <p:nvSpPr>
          <p:cNvPr id="27" name="TextBox 26"/>
          <p:cNvSpPr txBox="1"/>
          <p:nvPr/>
        </p:nvSpPr>
        <p:spPr>
          <a:xfrm>
            <a:off x="6419088" y="2862072"/>
            <a:ext cx="5266944" cy="320040"/>
          </a:xfrm>
          <a:prstGeom prst="rect">
            <a:avLst/>
          </a:prstGeom>
          <a:noFill/>
        </p:spPr>
        <p:txBody>
          <a:bodyPr wrap="square">
            <a:spAutoFit/>
          </a:bodyPr>
          <a:lstStyle/>
          <a:p>
            <a:pPr algn="l">
              <a:defRPr sz="900" b="0" i="0">
                <a:solidFill>
                  <a:srgbClr val="6B5F83"/>
                </a:solidFill>
                <a:latin typeface="Segoe UI"/>
              </a:defRPr>
            </a:pPr>
            <a:r>
              <a:t>•  10 of 22 expansion states still dormant — IA, ME, RI, SD have zero submissions</a:t>
            </a:r>
          </a:p>
        </p:txBody>
      </p:sp>
      <p:sp>
        <p:nvSpPr>
          <p:cNvPr id="28" name="TextBox 27"/>
          <p:cNvSpPr txBox="1"/>
          <p:nvPr/>
        </p:nvSpPr>
        <p:spPr>
          <a:xfrm>
            <a:off x="6419088" y="3200400"/>
            <a:ext cx="5266944" cy="320040"/>
          </a:xfrm>
          <a:prstGeom prst="rect">
            <a:avLst/>
          </a:prstGeom>
          <a:noFill/>
        </p:spPr>
        <p:txBody>
          <a:bodyPr wrap="square">
            <a:spAutoFit/>
          </a:bodyPr>
          <a:lstStyle/>
          <a:p>
            <a:pPr algn="l">
              <a:defRPr sz="900" b="0" i="0">
                <a:solidFill>
                  <a:srgbClr val="6B5F83"/>
                </a:solidFill>
                <a:latin typeface="Segoe UI"/>
              </a:defRPr>
            </a:pPr>
            <a:r>
              <a:t>•  NJ expansion and VA classification resolution would unlock significant new pipeline</a:t>
            </a:r>
          </a:p>
        </p:txBody>
      </p:sp>
      <p:sp>
        <p:nvSpPr>
          <p:cNvPr id="29" name="Rounded Rectangle 28"/>
          <p:cNvSpPr/>
          <p:nvPr/>
        </p:nvSpPr>
        <p:spPr>
          <a:xfrm>
            <a:off x="274320" y="3794760"/>
            <a:ext cx="5669280" cy="237744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4320" y="3794760"/>
            <a:ext cx="73152" cy="23774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3904488"/>
            <a:ext cx="2286000" cy="256032"/>
          </a:xfrm>
          <a:prstGeom prst="roundRect">
            <a:avLst>
              <a:gd name="adj" fmla="val 10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904488"/>
            <a:ext cx="2286000" cy="256032"/>
          </a:xfrm>
          <a:prstGeom prst="rect">
            <a:avLst/>
          </a:prstGeom>
          <a:noFill/>
        </p:spPr>
        <p:txBody>
          <a:bodyPr wrap="square">
            <a:spAutoFit/>
          </a:bodyPr>
          <a:lstStyle/>
          <a:p>
            <a:pPr algn="ctr">
              <a:defRPr sz="1000" b="1" i="0">
                <a:solidFill>
                  <a:srgbClr val="FFFFFF"/>
                </a:solidFill>
                <a:latin typeface="Segoe UI Semibold"/>
              </a:defRPr>
            </a:pPr>
            <a:r>
              <a:t>BIGGEST OPPORTUNITIES</a:t>
            </a:r>
          </a:p>
        </p:txBody>
      </p:sp>
      <p:sp>
        <p:nvSpPr>
          <p:cNvPr id="33" name="TextBox 32"/>
          <p:cNvSpPr txBox="1"/>
          <p:nvPr/>
        </p:nvSpPr>
        <p:spPr>
          <a:xfrm>
            <a:off x="475488" y="4270248"/>
            <a:ext cx="5266944" cy="274320"/>
          </a:xfrm>
          <a:prstGeom prst="rect">
            <a:avLst/>
          </a:prstGeom>
          <a:noFill/>
        </p:spPr>
        <p:txBody>
          <a:bodyPr wrap="square">
            <a:spAutoFit/>
          </a:bodyPr>
          <a:lstStyle/>
          <a:p>
            <a:pPr algn="l">
              <a:defRPr sz="900" b="0" i="0">
                <a:solidFill>
                  <a:srgbClr val="6B5F83"/>
                </a:solidFill>
                <a:latin typeface="Segoe UI"/>
              </a:defRPr>
            </a:pPr>
            <a:r>
              <a:t>•  USA Specialty: $50K UT deal live NOW (eff 03/04) — first dormant-state conversion opportunity</a:t>
            </a:r>
          </a:p>
        </p:txBody>
      </p:sp>
      <p:sp>
        <p:nvSpPr>
          <p:cNvPr id="34" name="TextBox 33"/>
          <p:cNvSpPr txBox="1"/>
          <p:nvPr/>
        </p:nvSpPr>
        <p:spPr>
          <a:xfrm>
            <a:off x="475488" y="4590288"/>
            <a:ext cx="5266944" cy="274320"/>
          </a:xfrm>
          <a:prstGeom prst="rect">
            <a:avLst/>
          </a:prstGeom>
          <a:noFill/>
        </p:spPr>
        <p:txBody>
          <a:bodyPr wrap="square">
            <a:spAutoFit/>
          </a:bodyPr>
          <a:lstStyle/>
          <a:p>
            <a:pPr algn="l">
              <a:defRPr sz="900" b="0" i="0">
                <a:solidFill>
                  <a:srgbClr val="6B5F83"/>
                </a:solidFill>
                <a:latin typeface="Segoe UI"/>
              </a:defRPr>
            </a:pPr>
            <a:r>
              <a:t>•  MN pipeline: 3 submissions, 2 quoted — most promising dormant state for activation</a:t>
            </a:r>
          </a:p>
        </p:txBody>
      </p:sp>
      <p:sp>
        <p:nvSpPr>
          <p:cNvPr id="35" name="TextBox 34"/>
          <p:cNvSpPr txBox="1"/>
          <p:nvPr/>
        </p:nvSpPr>
        <p:spPr>
          <a:xfrm>
            <a:off x="475488" y="4910328"/>
            <a:ext cx="5266944" cy="274320"/>
          </a:xfrm>
          <a:prstGeom prst="rect">
            <a:avLst/>
          </a:prstGeom>
          <a:noFill/>
        </p:spPr>
        <p:txBody>
          <a:bodyPr wrap="square">
            <a:spAutoFit/>
          </a:bodyPr>
          <a:lstStyle/>
          <a:p>
            <a:pPr algn="l">
              <a:defRPr sz="900" b="0" i="0">
                <a:solidFill>
                  <a:srgbClr val="6B5F83"/>
                </a:solidFill>
                <a:latin typeface="Segoe UI"/>
              </a:defRPr>
            </a:pPr>
            <a:r>
              <a:t>•  NJ is #1 state gap — tri-state agents say more DSG leads in NJ than PA</a:t>
            </a:r>
          </a:p>
        </p:txBody>
      </p:sp>
      <p:sp>
        <p:nvSpPr>
          <p:cNvPr id="36" name="TextBox 35"/>
          <p:cNvSpPr txBox="1"/>
          <p:nvPr/>
        </p:nvSpPr>
        <p:spPr>
          <a:xfrm>
            <a:off x="475488" y="5230367"/>
            <a:ext cx="5266944" cy="274320"/>
          </a:xfrm>
          <a:prstGeom prst="rect">
            <a:avLst/>
          </a:prstGeom>
          <a:noFill/>
        </p:spPr>
        <p:txBody>
          <a:bodyPr wrap="square">
            <a:spAutoFit/>
          </a:bodyPr>
          <a:lstStyle/>
          <a:p>
            <a:pPr algn="l">
              <a:defRPr sz="900" b="0" i="0">
                <a:solidFill>
                  <a:srgbClr val="6B5F83"/>
                </a:solidFill>
                <a:latin typeface="Segoe UI"/>
              </a:defRPr>
            </a:pPr>
            <a:r>
              <a:t>•  Spring construction season = peak submission window — momentum from Feb should accelerate</a:t>
            </a:r>
          </a:p>
        </p:txBody>
      </p:sp>
      <p:sp>
        <p:nvSpPr>
          <p:cNvPr id="37" name="TextBox 36"/>
          <p:cNvSpPr txBox="1"/>
          <p:nvPr/>
        </p:nvSpPr>
        <p:spPr>
          <a:xfrm>
            <a:off x="475488" y="5550408"/>
            <a:ext cx="5266944" cy="274320"/>
          </a:xfrm>
          <a:prstGeom prst="rect">
            <a:avLst/>
          </a:prstGeom>
          <a:noFill/>
        </p:spPr>
        <p:txBody>
          <a:bodyPr wrap="square">
            <a:spAutoFit/>
          </a:bodyPr>
          <a:lstStyle/>
          <a:p>
            <a:pPr algn="l">
              <a:defRPr sz="900" b="0" i="0">
                <a:solidFill>
                  <a:srgbClr val="6B5F83"/>
                </a:solidFill>
                <a:latin typeface="Segoe UI"/>
              </a:defRPr>
            </a:pPr>
            <a:r>
              <a:t>•  110 agencies with no BDM/BDA = assignment opportunity to increase coverage-to-bind conversion</a:t>
            </a:r>
          </a:p>
        </p:txBody>
      </p:sp>
      <p:sp>
        <p:nvSpPr>
          <p:cNvPr id="38" name="TextBox 37"/>
          <p:cNvSpPr txBox="1"/>
          <p:nvPr/>
        </p:nvSpPr>
        <p:spPr>
          <a:xfrm>
            <a:off x="475488" y="5870448"/>
            <a:ext cx="5266944" cy="274320"/>
          </a:xfrm>
          <a:prstGeom prst="rect">
            <a:avLst/>
          </a:prstGeom>
          <a:noFill/>
        </p:spPr>
        <p:txBody>
          <a:bodyPr wrap="square">
            <a:spAutoFit/>
          </a:bodyPr>
          <a:lstStyle/>
          <a:p>
            <a:pPr algn="l">
              <a:defRPr sz="900" b="0" i="0">
                <a:solidFill>
                  <a:srgbClr val="6B5F83"/>
                </a:solidFill>
                <a:latin typeface="Segoe UI"/>
              </a:defRPr>
            </a:pPr>
            <a:r>
              <a:t>•  VA classification fix could unlock largest DSG agency — currently blocked from submitting</a:t>
            </a:r>
          </a:p>
        </p:txBody>
      </p:sp>
      <p:sp>
        <p:nvSpPr>
          <p:cNvPr id="39" name="Rounded Rectangle 38"/>
          <p:cNvSpPr/>
          <p:nvPr/>
        </p:nvSpPr>
        <p:spPr>
          <a:xfrm>
            <a:off x="6217920" y="3794760"/>
            <a:ext cx="5669280" cy="237744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17920" y="3794760"/>
            <a:ext cx="73152" cy="23774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419088" y="3904488"/>
            <a:ext cx="2468880" cy="256032"/>
          </a:xfrm>
          <a:prstGeom prst="roundRect">
            <a:avLst>
              <a:gd name="adj" fmla="val 1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9088" y="3904488"/>
            <a:ext cx="2468880" cy="256032"/>
          </a:xfrm>
          <a:prstGeom prst="rect">
            <a:avLst/>
          </a:prstGeom>
          <a:noFill/>
        </p:spPr>
        <p:txBody>
          <a:bodyPr wrap="square">
            <a:spAutoFit/>
          </a:bodyPr>
          <a:lstStyle/>
          <a:p>
            <a:pPr algn="ctr">
              <a:defRPr sz="1000" b="1" i="0">
                <a:solidFill>
                  <a:srgbClr val="FFFFFF"/>
                </a:solidFill>
                <a:latin typeface="Segoe UI Semibold"/>
              </a:defRPr>
            </a:pPr>
            <a:r>
              <a:t>RECOMMENDED NEXT STEPS</a:t>
            </a:r>
          </a:p>
        </p:txBody>
      </p:sp>
      <p:sp>
        <p:nvSpPr>
          <p:cNvPr id="43" name="TextBox 42"/>
          <p:cNvSpPr txBox="1"/>
          <p:nvPr/>
        </p:nvSpPr>
        <p:spPr>
          <a:xfrm>
            <a:off x="6419088" y="4270248"/>
            <a:ext cx="5266944" cy="274320"/>
          </a:xfrm>
          <a:prstGeom prst="rect">
            <a:avLst/>
          </a:prstGeom>
          <a:noFill/>
        </p:spPr>
        <p:txBody>
          <a:bodyPr wrap="square">
            <a:spAutoFit/>
          </a:bodyPr>
          <a:lstStyle/>
          <a:p>
            <a:pPr algn="l">
              <a:defRPr sz="900" b="0" i="0">
                <a:solidFill>
                  <a:srgbClr val="6B5F83"/>
                </a:solidFill>
                <a:latin typeface="Segoe UI"/>
              </a:defRPr>
            </a:pPr>
            <a:r>
              <a:t>•  Replicate Dominic's outbound model — assign top 50 agencies to BDAs with call targets</a:t>
            </a:r>
          </a:p>
        </p:txBody>
      </p:sp>
      <p:sp>
        <p:nvSpPr>
          <p:cNvPr id="44" name="TextBox 43"/>
          <p:cNvSpPr txBox="1"/>
          <p:nvPr/>
        </p:nvSpPr>
        <p:spPr>
          <a:xfrm>
            <a:off x="6419088" y="4590288"/>
            <a:ext cx="5266944" cy="274320"/>
          </a:xfrm>
          <a:prstGeom prst="rect">
            <a:avLst/>
          </a:prstGeom>
          <a:noFill/>
        </p:spPr>
        <p:txBody>
          <a:bodyPr wrap="square">
            <a:spAutoFit/>
          </a:bodyPr>
          <a:lstStyle/>
          <a:p>
            <a:pPr algn="l">
              <a:defRPr sz="900" b="0" i="0">
                <a:solidFill>
                  <a:srgbClr val="6B5F83"/>
                </a:solidFill>
                <a:latin typeface="Segoe UI"/>
              </a:defRPr>
            </a:pPr>
            <a:r>
              <a:t>•  Close USA Specialty UT deal ($50K) — follow up immediately, prove expansion model works</a:t>
            </a:r>
          </a:p>
        </p:txBody>
      </p:sp>
      <p:sp>
        <p:nvSpPr>
          <p:cNvPr id="45" name="TextBox 44"/>
          <p:cNvSpPr txBox="1"/>
          <p:nvPr/>
        </p:nvSpPr>
        <p:spPr>
          <a:xfrm>
            <a:off x="6419088" y="4910328"/>
            <a:ext cx="5266944" cy="274320"/>
          </a:xfrm>
          <a:prstGeom prst="rect">
            <a:avLst/>
          </a:prstGeom>
          <a:noFill/>
        </p:spPr>
        <p:txBody>
          <a:bodyPr wrap="square">
            <a:spAutoFit/>
          </a:bodyPr>
          <a:lstStyle/>
          <a:p>
            <a:pPr algn="l">
              <a:defRPr sz="900" b="0" i="0">
                <a:solidFill>
                  <a:srgbClr val="6B5F83"/>
                </a:solidFill>
                <a:latin typeface="Segoe UI"/>
              </a:defRPr>
            </a:pPr>
            <a:r>
              <a:t>•  Fix BDM assignment gap: 110 agencies need a rep. Prioritize agencies with active pipeline</a:t>
            </a:r>
          </a:p>
        </p:txBody>
      </p:sp>
      <p:sp>
        <p:nvSpPr>
          <p:cNvPr id="46" name="TextBox 45"/>
          <p:cNvSpPr txBox="1"/>
          <p:nvPr/>
        </p:nvSpPr>
        <p:spPr>
          <a:xfrm>
            <a:off x="6419088" y="5230367"/>
            <a:ext cx="5266944" cy="274320"/>
          </a:xfrm>
          <a:prstGeom prst="rect">
            <a:avLst/>
          </a:prstGeom>
          <a:noFill/>
        </p:spPr>
        <p:txBody>
          <a:bodyPr wrap="square">
            <a:spAutoFit/>
          </a:bodyPr>
          <a:lstStyle/>
          <a:p>
            <a:pPr algn="l">
              <a:defRPr sz="900" b="0" i="0">
                <a:solidFill>
                  <a:srgbClr val="6B5F83"/>
                </a:solidFill>
                <a:latin typeface="Segoe UI"/>
              </a:defRPr>
            </a:pPr>
            <a:r>
              <a:t>•  Launch targeted outreach in MN, WI, NE — early-stage activity needs nurturing</a:t>
            </a:r>
          </a:p>
        </p:txBody>
      </p:sp>
      <p:sp>
        <p:nvSpPr>
          <p:cNvPr id="47" name="TextBox 46"/>
          <p:cNvSpPr txBox="1"/>
          <p:nvPr/>
        </p:nvSpPr>
        <p:spPr>
          <a:xfrm>
            <a:off x="6419088" y="5550408"/>
            <a:ext cx="5266944" cy="274320"/>
          </a:xfrm>
          <a:prstGeom prst="rect">
            <a:avLst/>
          </a:prstGeom>
          <a:noFill/>
        </p:spPr>
        <p:txBody>
          <a:bodyPr wrap="square">
            <a:spAutoFit/>
          </a:bodyPr>
          <a:lstStyle/>
          <a:p>
            <a:pPr algn="l">
              <a:defRPr sz="900" b="0" i="0">
                <a:solidFill>
                  <a:srgbClr val="6B5F83"/>
                </a:solidFill>
                <a:latin typeface="Segoe UI"/>
              </a:defRPr>
            </a:pPr>
            <a:r>
              <a:t>•  Resolve VA classification issue — unblocking could add significant submission volume</a:t>
            </a:r>
          </a:p>
        </p:txBody>
      </p:sp>
      <p:sp>
        <p:nvSpPr>
          <p:cNvPr id="48" name="TextBox 47"/>
          <p:cNvSpPr txBox="1"/>
          <p:nvPr/>
        </p:nvSpPr>
        <p:spPr>
          <a:xfrm>
            <a:off x="6419088" y="5870448"/>
            <a:ext cx="5266944" cy="274320"/>
          </a:xfrm>
          <a:prstGeom prst="rect">
            <a:avLst/>
          </a:prstGeom>
          <a:noFill/>
        </p:spPr>
        <p:txBody>
          <a:bodyPr wrap="square">
            <a:spAutoFit/>
          </a:bodyPr>
          <a:lstStyle/>
          <a:p>
            <a:pPr algn="l">
              <a:defRPr sz="900" b="0" i="0">
                <a:solidFill>
                  <a:srgbClr val="6B5F83"/>
                </a:solidFill>
                <a:latin typeface="Segoe UI"/>
              </a:defRPr>
            </a:pPr>
            <a:r>
              <a:t>•  Run March campaign building on 32-state expansion + spring construction season timing</a:t>
            </a:r>
          </a:p>
        </p:txBody>
      </p:sp>
      <p:sp>
        <p:nvSpPr>
          <p:cNvPr id="49" name="Rectangle 48"/>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51" name="TextBox 50"/>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3FF"/>
        </a:solidFill>
        <a:effectLst/>
      </p:bgPr>
    </p:bg>
    <p:spTree>
      <p:nvGrpSpPr>
        <p:cNvPr id="1" name=""/>
        <p:cNvGrpSpPr/>
        <p:nvPr/>
      </p:nvGrpSpPr>
      <p:grpSpPr/>
      <p:sp>
        <p:nvSpPr>
          <p:cNvPr id="2" name="Rectangle 1"/>
          <p:cNvSpPr/>
          <p:nvPr/>
        </p:nvSpPr>
        <p:spPr>
          <a:xfrm>
            <a:off x="0" y="0"/>
            <a:ext cx="12191695" cy="7772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8229600" cy="594360"/>
          </a:xfrm>
          <a:prstGeom prst="rect">
            <a:avLst/>
          </a:prstGeom>
          <a:noFill/>
        </p:spPr>
        <p:txBody>
          <a:bodyPr wrap="square">
            <a:spAutoFit/>
          </a:bodyPr>
          <a:lstStyle/>
          <a:p>
            <a:pPr algn="l"/>
            <a:r>
              <a:rPr sz="2200" b="1">
                <a:solidFill>
                  <a:srgbClr val="FFFFFF"/>
                </a:solidFill>
              </a:rPr>
              <a:t>DSG Growth Outreach — Key Takeaways</a:t>
            </a:r>
          </a:p>
          <a:p>
            <a:pPr algn="l">
              <a:spcBef>
                <a:spcPts val="200"/>
              </a:spcBef>
              <a:spcAft>
                <a:spcPts val="0"/>
              </a:spcAft>
            </a:pPr>
            <a:r>
              <a:rPr sz="1100" b="0">
                <a:solidFill>
                  <a:srgbClr val="A78BFA"/>
                </a:solidFill>
              </a:rPr>
              <a:t>What We've Learned from 47 BDM/BDA Notes &amp; Calls</a:t>
            </a:r>
          </a:p>
        </p:txBody>
      </p:sp>
      <p:sp>
        <p:nvSpPr>
          <p:cNvPr id="4" name="Rounded Rectangle 3"/>
          <p:cNvSpPr/>
          <p:nvPr/>
        </p:nvSpPr>
        <p:spPr>
          <a:xfrm>
            <a:off x="274320" y="960120"/>
            <a:ext cx="4160520" cy="1060704"/>
          </a:xfrm>
          <a:prstGeom prst="roundRect">
            <a:avLst>
              <a:gd name="adj" fmla="val 3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960120"/>
            <a:ext cx="45720" cy="10607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014984"/>
            <a:ext cx="3931920" cy="228600"/>
          </a:xfrm>
          <a:prstGeom prst="rect">
            <a:avLst/>
          </a:prstGeom>
          <a:noFill/>
        </p:spPr>
        <p:txBody>
          <a:bodyPr wrap="square">
            <a:spAutoFit/>
          </a:bodyPr>
          <a:lstStyle/>
          <a:p>
            <a:pPr algn="l"/>
            <a:r>
              <a:rPr sz="1000" b="1">
                <a:solidFill>
                  <a:srgbClr val="2D233F"/>
                </a:solidFill>
              </a:rPr>
              <a:t>We Own the 10-25 Power Unit DSG Space</a:t>
            </a:r>
          </a:p>
        </p:txBody>
      </p:sp>
      <p:sp>
        <p:nvSpPr>
          <p:cNvPr id="7" name="TextBox 6"/>
          <p:cNvSpPr txBox="1"/>
          <p:nvPr/>
        </p:nvSpPr>
        <p:spPr>
          <a:xfrm>
            <a:off x="438912" y="1216152"/>
            <a:ext cx="3886200" cy="768096"/>
          </a:xfrm>
          <a:prstGeom prst="rect">
            <a:avLst/>
          </a:prstGeom>
          <a:noFill/>
        </p:spPr>
        <p:txBody>
          <a:bodyPr wrap="square">
            <a:spAutoFit/>
          </a:bodyPr>
          <a:lstStyle/>
          <a:p>
            <a:pPr algn="l" marL="137160" indent="-109728">
              <a:spcBef>
                <a:spcPts val="200"/>
              </a:spcBef>
              <a:spcAft>
                <a:spcPts val="0"/>
              </a:spcAft>
              <a:buChar char="•"/>
            </a:pPr>
            <a:r>
              <a:rPr sz="800">
                <a:solidFill>
                  <a:srgbClr val="6B5F83"/>
                </a:solidFill>
              </a:rPr>
              <a:t> Geico caps at 9 PU for DSG; Acuity is often the only other option</a:t>
            </a:r>
          </a:p>
          <a:p>
            <a:pPr algn="l" marL="137160" indent="-109728">
              <a:spcBef>
                <a:spcPts val="200"/>
              </a:spcBef>
              <a:spcAft>
                <a:spcPts val="0"/>
              </a:spcAft>
              <a:buChar char="•"/>
            </a:pPr>
            <a:r>
              <a:rPr sz="800">
                <a:solidFill>
                  <a:srgbClr val="6B5F83"/>
                </a:solidFill>
              </a:rPr>
              <a:t> In MO we are the only market for 10-25 PU DSG fleets</a:t>
            </a:r>
          </a:p>
          <a:p>
            <a:pPr algn="l" marL="137160" indent="-109728">
              <a:spcBef>
                <a:spcPts val="200"/>
              </a:spcBef>
              <a:spcAft>
                <a:spcPts val="0"/>
              </a:spcAft>
              <a:buChar char="•"/>
            </a:pPr>
            <a:r>
              <a:rPr sz="800">
                <a:solidFill>
                  <a:srgbClr val="6B5F83"/>
                </a:solidFill>
              </a:rPr>
              <a:t> Agents consistently say they have no other place to put this business</a:t>
            </a:r>
          </a:p>
          <a:p>
            <a:pPr algn="l" marL="137160" indent="-109728">
              <a:spcBef>
                <a:spcPts val="200"/>
              </a:spcBef>
              <a:spcAft>
                <a:spcPts val="0"/>
              </a:spcAft>
              <a:buChar char="•"/>
            </a:pPr>
            <a:r>
              <a:rPr sz="800">
                <a:solidFill>
                  <a:srgbClr val="6B5F83"/>
                </a:solidFill>
              </a:rPr>
              <a:t> Sweet spot: 15-25 PU accounts where competition is thinnest</a:t>
            </a:r>
          </a:p>
        </p:txBody>
      </p:sp>
      <p:sp>
        <p:nvSpPr>
          <p:cNvPr id="8" name="Rounded Rectangle 7"/>
          <p:cNvSpPr/>
          <p:nvPr/>
        </p:nvSpPr>
        <p:spPr>
          <a:xfrm>
            <a:off x="274320" y="2093976"/>
            <a:ext cx="4160520" cy="1060704"/>
          </a:xfrm>
          <a:prstGeom prst="roundRect">
            <a:avLst>
              <a:gd name="adj" fmla="val 3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2093976"/>
            <a:ext cx="45720" cy="106070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2148840"/>
            <a:ext cx="3931920" cy="228600"/>
          </a:xfrm>
          <a:prstGeom prst="rect">
            <a:avLst/>
          </a:prstGeom>
          <a:noFill/>
        </p:spPr>
        <p:txBody>
          <a:bodyPr wrap="square">
            <a:spAutoFit/>
          </a:bodyPr>
          <a:lstStyle/>
          <a:p>
            <a:pPr algn="l"/>
            <a:r>
              <a:rPr sz="1000" b="1">
                <a:solidFill>
                  <a:srgbClr val="2D233F"/>
                </a:solidFill>
              </a:rPr>
              <a:t>Illinois Reopening Is a Major Catalyst</a:t>
            </a:r>
          </a:p>
        </p:txBody>
      </p:sp>
      <p:sp>
        <p:nvSpPr>
          <p:cNvPr id="11" name="TextBox 10"/>
          <p:cNvSpPr txBox="1"/>
          <p:nvPr/>
        </p:nvSpPr>
        <p:spPr>
          <a:xfrm>
            <a:off x="438912" y="2350008"/>
            <a:ext cx="3886200" cy="768096"/>
          </a:xfrm>
          <a:prstGeom prst="rect">
            <a:avLst/>
          </a:prstGeom>
          <a:noFill/>
        </p:spPr>
        <p:txBody>
          <a:bodyPr wrap="square">
            <a:spAutoFit/>
          </a:bodyPr>
          <a:lstStyle/>
          <a:p>
            <a:pPr algn="l" marL="137160" indent="-109728">
              <a:spcBef>
                <a:spcPts val="200"/>
              </a:spcBef>
              <a:spcAft>
                <a:spcPts val="0"/>
              </a:spcAft>
              <a:buChar char="•"/>
            </a:pPr>
            <a:r>
              <a:rPr sz="800">
                <a:solidFill>
                  <a:srgbClr val="6B5F83"/>
                </a:solidFill>
              </a:rPr>
              <a:t> IL reopening cited in 10+ outreach notes as the #1 conversation starter</a:t>
            </a:r>
          </a:p>
          <a:p>
            <a:pPr algn="l" marL="137160" indent="-109728">
              <a:spcBef>
                <a:spcPts val="200"/>
              </a:spcBef>
              <a:spcAft>
                <a:spcPts val="0"/>
              </a:spcAft>
              <a:buChar char="•"/>
            </a:pPr>
            <a:r>
              <a:rPr sz="800">
                <a:solidFill>
                  <a:srgbClr val="6B5F83"/>
                </a:solidFill>
              </a:rPr>
              <a:t> Alera Group (Bonder Ins.) has 'several clients to submit' because of IL</a:t>
            </a:r>
          </a:p>
          <a:p>
            <a:pPr algn="l" marL="137160" indent="-109728">
              <a:spcBef>
                <a:spcPts val="200"/>
              </a:spcBef>
              <a:spcAft>
                <a:spcPts val="0"/>
              </a:spcAft>
              <a:buChar char="•"/>
            </a:pPr>
            <a:r>
              <a:rPr sz="800">
                <a:solidFill>
                  <a:srgbClr val="6B5F83"/>
                </a:solidFill>
              </a:rPr>
              <a:t> Agency w/ $10M book, 100% trucking, 'super excited' about IL + DSG expansion</a:t>
            </a:r>
          </a:p>
          <a:p>
            <a:pPr algn="l" marL="137160" indent="-109728">
              <a:spcBef>
                <a:spcPts val="200"/>
              </a:spcBef>
              <a:spcAft>
                <a:spcPts val="0"/>
              </a:spcAft>
              <a:buChar char="•"/>
            </a:pPr>
            <a:r>
              <a:rPr sz="800">
                <a:solidFill>
                  <a:srgbClr val="6B5F83"/>
                </a:solidFill>
              </a:rPr>
              <a:t> Opening new states immediately converts to inbound submissions</a:t>
            </a:r>
          </a:p>
        </p:txBody>
      </p:sp>
      <p:sp>
        <p:nvSpPr>
          <p:cNvPr id="12" name="Rounded Rectangle 11"/>
          <p:cNvSpPr/>
          <p:nvPr/>
        </p:nvSpPr>
        <p:spPr>
          <a:xfrm>
            <a:off x="274320" y="3227832"/>
            <a:ext cx="4160520" cy="1060704"/>
          </a:xfrm>
          <a:prstGeom prst="roundRect">
            <a:avLst>
              <a:gd name="adj" fmla="val 3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227832"/>
            <a:ext cx="45720" cy="106070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3282696"/>
            <a:ext cx="3931920" cy="228600"/>
          </a:xfrm>
          <a:prstGeom prst="rect">
            <a:avLst/>
          </a:prstGeom>
          <a:noFill/>
        </p:spPr>
        <p:txBody>
          <a:bodyPr wrap="square">
            <a:spAutoFit/>
          </a:bodyPr>
          <a:lstStyle/>
          <a:p>
            <a:pPr algn="l"/>
            <a:r>
              <a:rPr sz="1000" b="1">
                <a:solidFill>
                  <a:srgbClr val="2D233F"/>
                </a:solidFill>
              </a:rPr>
              <a:t>Classification Issue Blocking VA Volume</a:t>
            </a:r>
          </a:p>
        </p:txBody>
      </p:sp>
      <p:sp>
        <p:nvSpPr>
          <p:cNvPr id="15" name="TextBox 14"/>
          <p:cNvSpPr txBox="1"/>
          <p:nvPr/>
        </p:nvSpPr>
        <p:spPr>
          <a:xfrm>
            <a:off x="438912" y="3483864"/>
            <a:ext cx="3886200" cy="768096"/>
          </a:xfrm>
          <a:prstGeom prst="rect">
            <a:avLst/>
          </a:prstGeom>
          <a:noFill/>
        </p:spPr>
        <p:txBody>
          <a:bodyPr wrap="square">
            <a:spAutoFit/>
          </a:bodyPr>
          <a:lstStyle/>
          <a:p>
            <a:pPr algn="l" marL="137160" indent="-109728">
              <a:spcBef>
                <a:spcPts val="200"/>
              </a:spcBef>
              <a:spcAft>
                <a:spcPts val="0"/>
              </a:spcAft>
              <a:buChar char="•"/>
            </a:pPr>
            <a:r>
              <a:rPr sz="800">
                <a:solidFill>
                  <a:srgbClr val="6B5F83"/>
                </a:solidFill>
              </a:rPr>
              <a:t> Largest DSG agency in VA started submitting immediately when VA opened</a:t>
            </a:r>
          </a:p>
          <a:p>
            <a:pPr algn="l" marL="137160" indent="-109728">
              <a:spcBef>
                <a:spcPts val="200"/>
              </a:spcBef>
              <a:spcAft>
                <a:spcPts val="0"/>
              </a:spcAft>
              <a:buChar char="•"/>
            </a:pPr>
            <a:r>
              <a:rPr sz="800">
                <a:solidFill>
                  <a:srgbClr val="6B5F83"/>
                </a:solidFill>
              </a:rPr>
              <a:t> Insureds told to select 'exempt for hire' for DSG-only authority</a:t>
            </a:r>
          </a:p>
          <a:p>
            <a:pPr algn="l" marL="137160" indent="-109728">
              <a:spcBef>
                <a:spcPts val="200"/>
              </a:spcBef>
              <a:spcAft>
                <a:spcPts val="0"/>
              </a:spcAft>
              <a:buChar char="•"/>
            </a:pPr>
            <a:r>
              <a:rPr sz="800">
                <a:solidFill>
                  <a:srgbClr val="6B5F83"/>
                </a:solidFill>
              </a:rPr>
              <a:t> This makes risks ineligible under current classification rules</a:t>
            </a:r>
          </a:p>
          <a:p>
            <a:pPr algn="l" marL="137160" indent="-109728">
              <a:spcBef>
                <a:spcPts val="200"/>
              </a:spcBef>
              <a:spcAft>
                <a:spcPts val="0"/>
              </a:spcAft>
              <a:buChar char="•"/>
            </a:pPr>
            <a:r>
              <a:rPr sz="800">
                <a:solidFill>
                  <a:srgbClr val="6B5F83"/>
                </a:solidFill>
              </a:rPr>
              <a:t> Reported to UW — needs resolution to unlock significant VA pipeline</a:t>
            </a:r>
          </a:p>
        </p:txBody>
      </p:sp>
      <p:sp>
        <p:nvSpPr>
          <p:cNvPr id="16" name="Rounded Rectangle 15"/>
          <p:cNvSpPr/>
          <p:nvPr/>
        </p:nvSpPr>
        <p:spPr>
          <a:xfrm>
            <a:off x="274320" y="4361688"/>
            <a:ext cx="4160520" cy="1060704"/>
          </a:xfrm>
          <a:prstGeom prst="roundRect">
            <a:avLst>
              <a:gd name="adj" fmla="val 3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4361688"/>
            <a:ext cx="45720" cy="106070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416552"/>
            <a:ext cx="3931920" cy="228600"/>
          </a:xfrm>
          <a:prstGeom prst="rect">
            <a:avLst/>
          </a:prstGeom>
          <a:noFill/>
        </p:spPr>
        <p:txBody>
          <a:bodyPr wrap="square">
            <a:spAutoFit/>
          </a:bodyPr>
          <a:lstStyle/>
          <a:p>
            <a:pPr algn="l"/>
            <a:r>
              <a:rPr sz="1000" b="1">
                <a:solidFill>
                  <a:srgbClr val="2D233F"/>
                </a:solidFill>
              </a:rPr>
              <a:t>Pricing Feedback: $30K/Truck Is the Line</a:t>
            </a:r>
          </a:p>
        </p:txBody>
      </p:sp>
      <p:sp>
        <p:nvSpPr>
          <p:cNvPr id="19" name="TextBox 18"/>
          <p:cNvSpPr txBox="1"/>
          <p:nvPr/>
        </p:nvSpPr>
        <p:spPr>
          <a:xfrm>
            <a:off x="438912" y="4617720"/>
            <a:ext cx="3886200" cy="768096"/>
          </a:xfrm>
          <a:prstGeom prst="rect">
            <a:avLst/>
          </a:prstGeom>
          <a:noFill/>
        </p:spPr>
        <p:txBody>
          <a:bodyPr wrap="square">
            <a:spAutoFit/>
          </a:bodyPr>
          <a:lstStyle/>
          <a:p>
            <a:pPr algn="l" marL="137160" indent="-109728">
              <a:spcBef>
                <a:spcPts val="200"/>
              </a:spcBef>
              <a:spcAft>
                <a:spcPts val="0"/>
              </a:spcAft>
              <a:buChar char="•"/>
            </a:pPr>
            <a:r>
              <a:rPr sz="800">
                <a:solidFill>
                  <a:srgbClr val="6B5F83"/>
                </a:solidFill>
              </a:rPr>
              <a:t> Agents say sub-$30K per truck is what they need to close small accounts</a:t>
            </a:r>
          </a:p>
          <a:p>
            <a:pPr algn="l" marL="137160" indent="-109728">
              <a:spcBef>
                <a:spcPts val="200"/>
              </a:spcBef>
              <a:spcAft>
                <a:spcPts val="0"/>
              </a:spcAft>
              <a:buChar char="•"/>
            </a:pPr>
            <a:r>
              <a:rPr sz="800">
                <a:solidFill>
                  <a:srgbClr val="6B5F83"/>
                </a:solidFill>
              </a:rPr>
              <a:t> Current GA quoting at $31-33K/truck for 2-unit accounts</a:t>
            </a:r>
          </a:p>
          <a:p>
            <a:pPr algn="l" marL="137160" indent="-109728">
              <a:spcBef>
                <a:spcPts val="200"/>
              </a:spcBef>
              <a:spcAft>
                <a:spcPts val="0"/>
              </a:spcAft>
              <a:buChar char="•"/>
            </a:pPr>
            <a:r>
              <a:rPr sz="800">
                <a:solidFill>
                  <a:srgbClr val="6B5F83"/>
                </a:solidFill>
              </a:rPr>
              <a:t> UW guidance: more room on larger fleets, hold firm on small accounts</a:t>
            </a:r>
          </a:p>
          <a:p>
            <a:pPr algn="l" marL="137160" indent="-109728">
              <a:spcBef>
                <a:spcPts val="200"/>
              </a:spcBef>
              <a:spcAft>
                <a:spcPts val="0"/>
              </a:spcAft>
              <a:buChar char="•"/>
            </a:pPr>
            <a:r>
              <a:rPr sz="800">
                <a:solidFill>
                  <a:srgbClr val="6B5F83"/>
                </a:solidFill>
              </a:rPr>
              <a:t> Hartford incumbent at $25K — need to be within ~$5K to flip accounts</a:t>
            </a:r>
          </a:p>
        </p:txBody>
      </p:sp>
      <p:sp>
        <p:nvSpPr>
          <p:cNvPr id="20" name="Rounded Rectangle 19"/>
          <p:cNvSpPr/>
          <p:nvPr/>
        </p:nvSpPr>
        <p:spPr>
          <a:xfrm>
            <a:off x="4617720" y="960120"/>
            <a:ext cx="4160520" cy="1060704"/>
          </a:xfrm>
          <a:prstGeom prst="roundRect">
            <a:avLst>
              <a:gd name="adj" fmla="val 3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17720" y="960120"/>
            <a:ext cx="45720" cy="10607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1014984"/>
            <a:ext cx="3931920" cy="228600"/>
          </a:xfrm>
          <a:prstGeom prst="rect">
            <a:avLst/>
          </a:prstGeom>
          <a:noFill/>
        </p:spPr>
        <p:txBody>
          <a:bodyPr wrap="square">
            <a:spAutoFit/>
          </a:bodyPr>
          <a:lstStyle/>
          <a:p>
            <a:pPr algn="l"/>
            <a:r>
              <a:rPr sz="1000" b="1">
                <a:solidFill>
                  <a:srgbClr val="2D233F"/>
                </a:solidFill>
              </a:rPr>
              <a:t>Agents Are Actively Selling DSG for Us</a:t>
            </a:r>
          </a:p>
        </p:txBody>
      </p:sp>
      <p:sp>
        <p:nvSpPr>
          <p:cNvPr id="23" name="TextBox 22"/>
          <p:cNvSpPr txBox="1"/>
          <p:nvPr/>
        </p:nvSpPr>
        <p:spPr>
          <a:xfrm>
            <a:off x="4782312" y="1216152"/>
            <a:ext cx="3886200" cy="768096"/>
          </a:xfrm>
          <a:prstGeom prst="rect">
            <a:avLst/>
          </a:prstGeom>
          <a:noFill/>
        </p:spPr>
        <p:txBody>
          <a:bodyPr wrap="square">
            <a:spAutoFit/>
          </a:bodyPr>
          <a:lstStyle/>
          <a:p>
            <a:pPr algn="l" marL="137160" indent="-109728">
              <a:spcBef>
                <a:spcPts val="200"/>
              </a:spcBef>
              <a:spcAft>
                <a:spcPts val="0"/>
              </a:spcAft>
              <a:buChar char="•"/>
            </a:pPr>
            <a:r>
              <a:rPr sz="800">
                <a:solidFill>
                  <a:srgbClr val="6B5F83"/>
                </a:solidFill>
              </a:rPr>
              <a:t> Karen &amp; King LLC made a LinkedIn post promoting CW DSG availability</a:t>
            </a:r>
          </a:p>
          <a:p>
            <a:pPr algn="l" marL="137160" indent="-109728">
              <a:spcBef>
                <a:spcPts val="200"/>
              </a:spcBef>
              <a:spcAft>
                <a:spcPts val="0"/>
              </a:spcAft>
              <a:buChar char="•"/>
            </a:pPr>
            <a:r>
              <a:rPr sz="800">
                <a:solidFill>
                  <a:srgbClr val="6B5F83"/>
                </a:solidFill>
              </a:rPr>
              <a:t> Agencies combing Progressive &amp; Geico renewals to place with us</a:t>
            </a:r>
          </a:p>
          <a:p>
            <a:pPr algn="l" marL="137160" indent="-109728">
              <a:spcBef>
                <a:spcPts val="200"/>
              </a:spcBef>
              <a:spcAft>
                <a:spcPts val="0"/>
              </a:spcAft>
              <a:buChar char="•"/>
            </a:pPr>
            <a:r>
              <a:rPr sz="800">
                <a:solidFill>
                  <a:srgbClr val="6B5F83"/>
                </a:solidFill>
              </a:rPr>
              <a:t> Multiple agents with $5-15M books shifting DSG business our way</a:t>
            </a:r>
          </a:p>
          <a:p>
            <a:pPr algn="l" marL="137160" indent="-109728">
              <a:spcBef>
                <a:spcPts val="200"/>
              </a:spcBef>
              <a:spcAft>
                <a:spcPts val="0"/>
              </a:spcAft>
              <a:buChar char="•"/>
            </a:pPr>
            <a:r>
              <a:rPr sz="800">
                <a:solidFill>
                  <a:srgbClr val="6B5F83"/>
                </a:solidFill>
              </a:rPr>
              <a:t> Word-of-mouth and organic advocacy building among appointed agents</a:t>
            </a:r>
          </a:p>
        </p:txBody>
      </p:sp>
      <p:sp>
        <p:nvSpPr>
          <p:cNvPr id="24" name="Rounded Rectangle 23"/>
          <p:cNvSpPr/>
          <p:nvPr/>
        </p:nvSpPr>
        <p:spPr>
          <a:xfrm>
            <a:off x="4617720" y="2093976"/>
            <a:ext cx="4160520" cy="1060704"/>
          </a:xfrm>
          <a:prstGeom prst="roundRect">
            <a:avLst>
              <a:gd name="adj" fmla="val 3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17720" y="2093976"/>
            <a:ext cx="45720" cy="106070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2148840"/>
            <a:ext cx="3931920" cy="228600"/>
          </a:xfrm>
          <a:prstGeom prst="rect">
            <a:avLst/>
          </a:prstGeom>
          <a:noFill/>
        </p:spPr>
        <p:txBody>
          <a:bodyPr wrap="square">
            <a:spAutoFit/>
          </a:bodyPr>
          <a:lstStyle/>
          <a:p>
            <a:pPr algn="l"/>
            <a:r>
              <a:rPr sz="1000" b="1">
                <a:solidFill>
                  <a:srgbClr val="2D233F"/>
                </a:solidFill>
              </a:rPr>
              <a:t>Geographic Hotspots &amp; Gaps</a:t>
            </a:r>
          </a:p>
        </p:txBody>
      </p:sp>
      <p:sp>
        <p:nvSpPr>
          <p:cNvPr id="27" name="TextBox 26"/>
          <p:cNvSpPr txBox="1"/>
          <p:nvPr/>
        </p:nvSpPr>
        <p:spPr>
          <a:xfrm>
            <a:off x="4782312" y="2350008"/>
            <a:ext cx="3886200" cy="768096"/>
          </a:xfrm>
          <a:prstGeom prst="rect">
            <a:avLst/>
          </a:prstGeom>
          <a:noFill/>
        </p:spPr>
        <p:txBody>
          <a:bodyPr wrap="square">
            <a:spAutoFit/>
          </a:bodyPr>
          <a:lstStyle/>
          <a:p>
            <a:pPr algn="l" marL="137160" indent="-109728">
              <a:spcBef>
                <a:spcPts val="200"/>
              </a:spcBef>
              <a:spcAft>
                <a:spcPts val="0"/>
              </a:spcAft>
              <a:buChar char="•"/>
            </a:pPr>
            <a:r>
              <a:rPr sz="800">
                <a:solidFill>
                  <a:srgbClr val="6B5F83"/>
                </a:solidFill>
              </a:rPr>
              <a:t> GA is the hottest market — Marsh Georgia 'runs the show' in west GA</a:t>
            </a:r>
          </a:p>
          <a:p>
            <a:pPr algn="l" marL="137160" indent="-109728">
              <a:spcBef>
                <a:spcPts val="200"/>
              </a:spcBef>
              <a:spcAft>
                <a:spcPts val="0"/>
              </a:spcAft>
              <a:buChar char="•"/>
            </a:pPr>
            <a:r>
              <a:rPr sz="800">
                <a:solidFill>
                  <a:srgbClr val="6B5F83"/>
                </a:solidFill>
              </a:rPr>
              <a:t> MO, VA, IL, TX, PA all generating active pipeline</a:t>
            </a:r>
          </a:p>
          <a:p>
            <a:pPr algn="l" marL="137160" indent="-109728">
              <a:spcBef>
                <a:spcPts val="200"/>
              </a:spcBef>
              <a:spcAft>
                <a:spcPts val="0"/>
              </a:spcAft>
              <a:buChar char="•"/>
            </a:pPr>
            <a:r>
              <a:rPr sz="800">
                <a:solidFill>
                  <a:srgbClr val="6B5F83"/>
                </a:solidFill>
              </a:rPr>
              <a:t> NJ is the #1 gap — tri-state agents say NJ has more DSG leads than PA</a:t>
            </a:r>
          </a:p>
          <a:p>
            <a:pPr algn="l" marL="137160" indent="-109728">
              <a:spcBef>
                <a:spcPts val="200"/>
              </a:spcBef>
              <a:spcAft>
                <a:spcPts val="0"/>
              </a:spcAft>
              <a:buChar char="•"/>
            </a:pPr>
            <a:r>
              <a:rPr sz="800">
                <a:solidFill>
                  <a:srgbClr val="6B5F83"/>
                </a:solidFill>
              </a:rPr>
              <a:t> Agents licensed in 26-48 states are ready to submit across footprint</a:t>
            </a:r>
          </a:p>
        </p:txBody>
      </p:sp>
      <p:sp>
        <p:nvSpPr>
          <p:cNvPr id="28" name="Rounded Rectangle 27"/>
          <p:cNvSpPr/>
          <p:nvPr/>
        </p:nvSpPr>
        <p:spPr>
          <a:xfrm>
            <a:off x="4617720" y="3227832"/>
            <a:ext cx="4160520" cy="1060704"/>
          </a:xfrm>
          <a:prstGeom prst="roundRect">
            <a:avLst>
              <a:gd name="adj" fmla="val 3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17720" y="3227832"/>
            <a:ext cx="45720" cy="106070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0" y="3282696"/>
            <a:ext cx="3931920" cy="228600"/>
          </a:xfrm>
          <a:prstGeom prst="rect">
            <a:avLst/>
          </a:prstGeom>
          <a:noFill/>
        </p:spPr>
        <p:txBody>
          <a:bodyPr wrap="square">
            <a:spAutoFit/>
          </a:bodyPr>
          <a:lstStyle/>
          <a:p>
            <a:pPr algn="l"/>
            <a:r>
              <a:rPr sz="1000" b="1">
                <a:solidFill>
                  <a:srgbClr val="2D233F"/>
                </a:solidFill>
              </a:rPr>
              <a:t>Dashcam/ELD Resistance Is a Hurdle</a:t>
            </a:r>
          </a:p>
        </p:txBody>
      </p:sp>
      <p:sp>
        <p:nvSpPr>
          <p:cNvPr id="31" name="TextBox 30"/>
          <p:cNvSpPr txBox="1"/>
          <p:nvPr/>
        </p:nvSpPr>
        <p:spPr>
          <a:xfrm>
            <a:off x="4782312" y="3483864"/>
            <a:ext cx="3886200" cy="768096"/>
          </a:xfrm>
          <a:prstGeom prst="rect">
            <a:avLst/>
          </a:prstGeom>
          <a:noFill/>
        </p:spPr>
        <p:txBody>
          <a:bodyPr wrap="square">
            <a:spAutoFit/>
          </a:bodyPr>
          <a:lstStyle/>
          <a:p>
            <a:pPr algn="l" marL="137160" indent="-109728">
              <a:spcBef>
                <a:spcPts val="200"/>
              </a:spcBef>
              <a:spcAft>
                <a:spcPts val="0"/>
              </a:spcAft>
              <a:buChar char="•"/>
            </a:pPr>
            <a:r>
              <a:rPr sz="800">
                <a:solidFill>
                  <a:srgbClr val="6B5F83"/>
                </a:solidFill>
              </a:rPr>
              <a:t> 18-unit TN account may not bind due to dashcam/ELD requirement</a:t>
            </a:r>
          </a:p>
          <a:p>
            <a:pPr algn="l" marL="137160" indent="-109728">
              <a:spcBef>
                <a:spcPts val="200"/>
              </a:spcBef>
              <a:spcAft>
                <a:spcPts val="0"/>
              </a:spcAft>
              <a:buChar char="•"/>
            </a:pPr>
            <a:r>
              <a:rPr sz="800">
                <a:solidFill>
                  <a:srgbClr val="6B5F83"/>
                </a:solidFill>
              </a:rPr>
              <a:t> Agents need better education on how the ELD plug-in works</a:t>
            </a:r>
          </a:p>
          <a:p>
            <a:pPr algn="l" marL="137160" indent="-109728">
              <a:spcBef>
                <a:spcPts val="200"/>
              </a:spcBef>
              <a:spcAft>
                <a:spcPts val="0"/>
              </a:spcAft>
              <a:buChar char="•"/>
            </a:pPr>
            <a:r>
              <a:rPr sz="800">
                <a:solidFill>
                  <a:srgbClr val="6B5F83"/>
                </a:solidFill>
              </a:rPr>
              <a:t> Camera delivery/installation logistics still causing friction</a:t>
            </a:r>
          </a:p>
          <a:p>
            <a:pPr algn="l" marL="137160" indent="-109728">
              <a:spcBef>
                <a:spcPts val="200"/>
              </a:spcBef>
              <a:spcAft>
                <a:spcPts val="0"/>
              </a:spcAft>
              <a:buChar char="•"/>
            </a:pPr>
            <a:r>
              <a:rPr sz="800">
                <a:solidFill>
                  <a:srgbClr val="6B5F83"/>
                </a:solidFill>
              </a:rPr>
              <a:t> Requirement is a differentiator but also a deal-breaker for some</a:t>
            </a:r>
          </a:p>
        </p:txBody>
      </p:sp>
      <p:sp>
        <p:nvSpPr>
          <p:cNvPr id="32" name="Rounded Rectangle 31"/>
          <p:cNvSpPr/>
          <p:nvPr/>
        </p:nvSpPr>
        <p:spPr>
          <a:xfrm>
            <a:off x="4617720" y="4361688"/>
            <a:ext cx="4160520" cy="1060704"/>
          </a:xfrm>
          <a:prstGeom prst="roundRect">
            <a:avLst>
              <a:gd name="adj" fmla="val 3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617720" y="4361688"/>
            <a:ext cx="45720" cy="10607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54880" y="4416552"/>
            <a:ext cx="3931920" cy="228600"/>
          </a:xfrm>
          <a:prstGeom prst="rect">
            <a:avLst/>
          </a:prstGeom>
          <a:noFill/>
        </p:spPr>
        <p:txBody>
          <a:bodyPr wrap="square">
            <a:spAutoFit/>
          </a:bodyPr>
          <a:lstStyle/>
          <a:p>
            <a:pPr algn="l"/>
            <a:r>
              <a:rPr sz="1000" b="1">
                <a:solidFill>
                  <a:srgbClr val="2D233F"/>
                </a:solidFill>
              </a:rPr>
              <a:t>Pipeline Is Large and Building Fast</a:t>
            </a:r>
          </a:p>
        </p:txBody>
      </p:sp>
      <p:sp>
        <p:nvSpPr>
          <p:cNvPr id="35" name="TextBox 34"/>
          <p:cNvSpPr txBox="1"/>
          <p:nvPr/>
        </p:nvSpPr>
        <p:spPr>
          <a:xfrm>
            <a:off x="4782312" y="4617720"/>
            <a:ext cx="3886200" cy="768096"/>
          </a:xfrm>
          <a:prstGeom prst="rect">
            <a:avLst/>
          </a:prstGeom>
          <a:noFill/>
        </p:spPr>
        <p:txBody>
          <a:bodyPr wrap="square">
            <a:spAutoFit/>
          </a:bodyPr>
          <a:lstStyle/>
          <a:p>
            <a:pPr algn="l" marL="137160" indent="-109728">
              <a:spcBef>
                <a:spcPts val="200"/>
              </a:spcBef>
              <a:spcAft>
                <a:spcPts val="0"/>
              </a:spcAft>
              <a:buChar char="•"/>
            </a:pPr>
            <a:r>
              <a:rPr sz="800">
                <a:solidFill>
                  <a:srgbClr val="6B5F83"/>
                </a:solidFill>
              </a:rPr>
              <a:t> 25 PU (Westmoreland), 20 PU (GA), 19 PU (MO), 18 PU (TN) in pipeline</a:t>
            </a:r>
          </a:p>
          <a:p>
            <a:pPr algn="l" marL="137160" indent="-109728">
              <a:spcBef>
                <a:spcPts val="200"/>
              </a:spcBef>
              <a:spcAft>
                <a:spcPts val="0"/>
              </a:spcAft>
              <a:buChar char="•"/>
            </a:pPr>
            <a:r>
              <a:rPr sz="800">
                <a:solidFill>
                  <a:srgbClr val="6B5F83"/>
                </a:solidFill>
              </a:rPr>
              <a:t> Agencies with $5M-$15M+ trucking books now actively engaged on DSG</a:t>
            </a:r>
          </a:p>
          <a:p>
            <a:pPr algn="l" marL="137160" indent="-109728">
              <a:spcBef>
                <a:spcPts val="200"/>
              </a:spcBef>
              <a:spcAft>
                <a:spcPts val="0"/>
              </a:spcAft>
              <a:buChar char="•"/>
            </a:pPr>
            <a:r>
              <a:rPr sz="800">
                <a:solidFill>
                  <a:srgbClr val="6B5F83"/>
                </a:solidFill>
              </a:rPr>
              <a:t> AssuredPartners/Gallagher offices exploring quoting access nationwide</a:t>
            </a:r>
          </a:p>
          <a:p>
            <a:pPr algn="l" marL="137160" indent="-109728">
              <a:spcBef>
                <a:spcPts val="200"/>
              </a:spcBef>
              <a:spcAft>
                <a:spcPts val="0"/>
              </a:spcAft>
              <a:buChar char="•"/>
            </a:pPr>
            <a:r>
              <a:rPr sz="800">
                <a:solidFill>
                  <a:srgbClr val="6B5F83"/>
                </a:solidFill>
              </a:rPr>
              <a:t> 5 reps running dedicated DSG growth outreach with steady weekly cadence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E073B"/>
        </a:solidFill>
        <a:effectLst/>
      </p:bgPr>
    </p:bg>
    <p:spTree>
      <p:nvGrpSpPr>
        <p:cNvPr id="1" name=""/>
        <p:cNvGrpSpPr/>
        <p:nvPr/>
      </p:nvGrpSpPr>
      <p:grpSpPr/>
      <p:sp>
        <p:nvSpPr>
          <p:cNvPr id="2" name="Oval 1"/>
          <p:cNvSpPr/>
          <p:nvPr/>
        </p:nvSpPr>
        <p:spPr>
          <a:xfrm>
            <a:off x="8229600" y="-914400"/>
            <a:ext cx="5486400" cy="5486400"/>
          </a:xfrm>
          <a:prstGeom prst="ellipse">
            <a:avLst/>
          </a:prstGeom>
          <a:solidFill>
            <a:srgbClr val="5B21B6">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914400"/>
            <a:ext cx="3200400" cy="3200400"/>
          </a:xfrm>
          <a:prstGeom prst="ellipse">
            <a:avLst/>
          </a:prstGeom>
          <a:solidFill>
            <a:srgbClr val="7C3AED">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0" y="3657600"/>
            <a:ext cx="4572000" cy="4572000"/>
          </a:xfrm>
          <a:prstGeom prst="ellipse">
            <a:avLst/>
          </a:prstGeom>
          <a:solidFill>
            <a:srgbClr val="5B21B6">
              <a:alpha val="1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57200" y="5029200"/>
            <a:ext cx="1828800" cy="1828800"/>
          </a:xfrm>
          <a:prstGeom prst="ellipse">
            <a:avLst/>
          </a:prstGeom>
          <a:solidFill>
            <a:srgbClr val="8B5CF6">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10058400" cy="731520"/>
          </a:xfrm>
          <a:prstGeom prst="rect">
            <a:avLst/>
          </a:prstGeom>
          <a:noFill/>
        </p:spPr>
        <p:txBody>
          <a:bodyPr wrap="square">
            <a:spAutoFit/>
          </a:bodyPr>
          <a:lstStyle/>
          <a:p>
            <a:pPr algn="ctr">
              <a:defRPr sz="3400" b="1" i="0">
                <a:solidFill>
                  <a:srgbClr val="FFFFFF"/>
                </a:solidFill>
                <a:latin typeface="Segoe UI Light"/>
              </a:defRPr>
            </a:pPr>
            <a:r>
              <a:t>DSG GROWTH OUTREACH ACTIVITY</a:t>
            </a:r>
          </a:p>
        </p:txBody>
      </p:sp>
      <p:sp>
        <p:nvSpPr>
          <p:cNvPr id="7" name="TextBox 6"/>
          <p:cNvSpPr txBox="1"/>
          <p:nvPr/>
        </p:nvSpPr>
        <p:spPr>
          <a:xfrm>
            <a:off x="914400" y="2194560"/>
            <a:ext cx="10058400" cy="457200"/>
          </a:xfrm>
          <a:prstGeom prst="rect">
            <a:avLst/>
          </a:prstGeom>
          <a:noFill/>
        </p:spPr>
        <p:txBody>
          <a:bodyPr wrap="square">
            <a:spAutoFit/>
          </a:bodyPr>
          <a:lstStyle/>
          <a:p>
            <a:pPr algn="ctr">
              <a:defRPr sz="1600" b="0" i="0">
                <a:solidFill>
                  <a:srgbClr val="C4B5FD"/>
                </a:solidFill>
                <a:latin typeface="Segoe UI"/>
              </a:defRPr>
            </a:pPr>
            <a:r>
              <a:t>Notes &amp; Calls Tagged 'DSG GROWTH' in HubSpot</a:t>
            </a:r>
          </a:p>
        </p:txBody>
      </p:sp>
      <p:sp>
        <p:nvSpPr>
          <p:cNvPr id="8" name="TextBox 7"/>
          <p:cNvSpPr txBox="1"/>
          <p:nvPr/>
        </p:nvSpPr>
        <p:spPr>
          <a:xfrm>
            <a:off x="914400" y="2651760"/>
            <a:ext cx="10058400" cy="365760"/>
          </a:xfrm>
          <a:prstGeom prst="rect">
            <a:avLst/>
          </a:prstGeom>
          <a:noFill/>
        </p:spPr>
        <p:txBody>
          <a:bodyPr wrap="square">
            <a:spAutoFit/>
          </a:bodyPr>
          <a:lstStyle/>
          <a:p>
            <a:pPr algn="ctr">
              <a:defRPr sz="1200" b="0" i="0">
                <a:solidFill>
                  <a:srgbClr val="A78BFA"/>
                </a:solidFill>
                <a:latin typeface="Segoe UI"/>
              </a:defRPr>
            </a:pPr>
            <a:r>
              <a:t>As of May 28, 2026</a:t>
            </a:r>
          </a:p>
        </p:txBody>
      </p:sp>
      <p:sp>
        <p:nvSpPr>
          <p:cNvPr id="9" name="Rounded Rectangle 8"/>
          <p:cNvSpPr/>
          <p:nvPr/>
        </p:nvSpPr>
        <p:spPr>
          <a:xfrm>
            <a:off x="1112367" y="3657600"/>
            <a:ext cx="2286000" cy="1097280"/>
          </a:xfrm>
          <a:prstGeom prst="roundRect">
            <a:avLst>
              <a:gd name="adj" fmla="val 8000"/>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12367" y="3657600"/>
            <a:ext cx="228600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2367" y="3840480"/>
            <a:ext cx="2286000" cy="457200"/>
          </a:xfrm>
          <a:prstGeom prst="rect">
            <a:avLst/>
          </a:prstGeom>
          <a:noFill/>
        </p:spPr>
        <p:txBody>
          <a:bodyPr wrap="square">
            <a:spAutoFit/>
          </a:bodyPr>
          <a:lstStyle/>
          <a:p>
            <a:pPr algn="ctr">
              <a:defRPr sz="3200" b="1" i="0">
                <a:solidFill>
                  <a:srgbClr val="FFFFFF"/>
                </a:solidFill>
                <a:latin typeface="Segoe UI Light"/>
              </a:defRPr>
            </a:pPr>
            <a:r>
              <a:t>50</a:t>
            </a:r>
          </a:p>
        </p:txBody>
      </p:sp>
      <p:sp>
        <p:nvSpPr>
          <p:cNvPr id="12" name="TextBox 11"/>
          <p:cNvSpPr txBox="1"/>
          <p:nvPr/>
        </p:nvSpPr>
        <p:spPr>
          <a:xfrm>
            <a:off x="1112367" y="4343400"/>
            <a:ext cx="2286000" cy="274320"/>
          </a:xfrm>
          <a:prstGeom prst="rect">
            <a:avLst/>
          </a:prstGeom>
          <a:noFill/>
        </p:spPr>
        <p:txBody>
          <a:bodyPr wrap="square">
            <a:spAutoFit/>
          </a:bodyPr>
          <a:lstStyle/>
          <a:p>
            <a:pPr algn="ctr">
              <a:defRPr sz="1100" b="0" i="0">
                <a:solidFill>
                  <a:srgbClr val="C4B5FD"/>
                </a:solidFill>
                <a:latin typeface="Segoe UI"/>
              </a:defRPr>
            </a:pPr>
            <a:r>
              <a:t>Total Activities</a:t>
            </a:r>
          </a:p>
        </p:txBody>
      </p:sp>
      <p:sp>
        <p:nvSpPr>
          <p:cNvPr id="13" name="Rounded Rectangle 12"/>
          <p:cNvSpPr/>
          <p:nvPr/>
        </p:nvSpPr>
        <p:spPr>
          <a:xfrm>
            <a:off x="3672687" y="3657600"/>
            <a:ext cx="2286000" cy="1097280"/>
          </a:xfrm>
          <a:prstGeom prst="roundRect">
            <a:avLst>
              <a:gd name="adj" fmla="val 8000"/>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72687" y="3657600"/>
            <a:ext cx="228600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2687" y="3840480"/>
            <a:ext cx="2286000" cy="457200"/>
          </a:xfrm>
          <a:prstGeom prst="rect">
            <a:avLst/>
          </a:prstGeom>
          <a:noFill/>
        </p:spPr>
        <p:txBody>
          <a:bodyPr wrap="square">
            <a:spAutoFit/>
          </a:bodyPr>
          <a:lstStyle/>
          <a:p>
            <a:pPr algn="ctr">
              <a:defRPr sz="3200" b="1" i="0">
                <a:solidFill>
                  <a:srgbClr val="FFFFFF"/>
                </a:solidFill>
                <a:latin typeface="Segoe UI Light"/>
              </a:defRPr>
            </a:pPr>
            <a:r>
              <a:t>29</a:t>
            </a:r>
          </a:p>
        </p:txBody>
      </p:sp>
      <p:sp>
        <p:nvSpPr>
          <p:cNvPr id="16" name="TextBox 15"/>
          <p:cNvSpPr txBox="1"/>
          <p:nvPr/>
        </p:nvSpPr>
        <p:spPr>
          <a:xfrm>
            <a:off x="3672687" y="4343400"/>
            <a:ext cx="2286000" cy="274320"/>
          </a:xfrm>
          <a:prstGeom prst="rect">
            <a:avLst/>
          </a:prstGeom>
          <a:noFill/>
        </p:spPr>
        <p:txBody>
          <a:bodyPr wrap="square">
            <a:spAutoFit/>
          </a:bodyPr>
          <a:lstStyle/>
          <a:p>
            <a:pPr algn="ctr">
              <a:defRPr sz="1100" b="0" i="0">
                <a:solidFill>
                  <a:srgbClr val="C4B5FD"/>
                </a:solidFill>
                <a:latin typeface="Segoe UI"/>
              </a:defRPr>
            </a:pPr>
            <a:r>
              <a:t>Notes</a:t>
            </a:r>
          </a:p>
        </p:txBody>
      </p:sp>
      <p:sp>
        <p:nvSpPr>
          <p:cNvPr id="17" name="Rounded Rectangle 16"/>
          <p:cNvSpPr/>
          <p:nvPr/>
        </p:nvSpPr>
        <p:spPr>
          <a:xfrm>
            <a:off x="6233007" y="3657600"/>
            <a:ext cx="2286000" cy="1097280"/>
          </a:xfrm>
          <a:prstGeom prst="roundRect">
            <a:avLst>
              <a:gd name="adj" fmla="val 8000"/>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657600"/>
            <a:ext cx="228600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3840480"/>
            <a:ext cx="2286000" cy="457200"/>
          </a:xfrm>
          <a:prstGeom prst="rect">
            <a:avLst/>
          </a:prstGeom>
          <a:noFill/>
        </p:spPr>
        <p:txBody>
          <a:bodyPr wrap="square">
            <a:spAutoFit/>
          </a:bodyPr>
          <a:lstStyle/>
          <a:p>
            <a:pPr algn="ctr">
              <a:defRPr sz="3200" b="1" i="0">
                <a:solidFill>
                  <a:srgbClr val="FFFFFF"/>
                </a:solidFill>
                <a:latin typeface="Segoe UI Light"/>
              </a:defRPr>
            </a:pPr>
            <a:r>
              <a:t>21</a:t>
            </a:r>
          </a:p>
        </p:txBody>
      </p:sp>
      <p:sp>
        <p:nvSpPr>
          <p:cNvPr id="20" name="TextBox 19"/>
          <p:cNvSpPr txBox="1"/>
          <p:nvPr/>
        </p:nvSpPr>
        <p:spPr>
          <a:xfrm>
            <a:off x="6233007" y="4343400"/>
            <a:ext cx="2286000" cy="274320"/>
          </a:xfrm>
          <a:prstGeom prst="rect">
            <a:avLst/>
          </a:prstGeom>
          <a:noFill/>
        </p:spPr>
        <p:txBody>
          <a:bodyPr wrap="square">
            <a:spAutoFit/>
          </a:bodyPr>
          <a:lstStyle/>
          <a:p>
            <a:pPr algn="ctr">
              <a:defRPr sz="1100" b="0" i="0">
                <a:solidFill>
                  <a:srgbClr val="C4B5FD"/>
                </a:solidFill>
                <a:latin typeface="Segoe UI"/>
              </a:defRPr>
            </a:pPr>
            <a:r>
              <a:t>Calls</a:t>
            </a:r>
          </a:p>
        </p:txBody>
      </p:sp>
      <p:sp>
        <p:nvSpPr>
          <p:cNvPr id="21" name="Rounded Rectangle 20"/>
          <p:cNvSpPr/>
          <p:nvPr/>
        </p:nvSpPr>
        <p:spPr>
          <a:xfrm>
            <a:off x="8793327" y="3657600"/>
            <a:ext cx="2286000" cy="1097280"/>
          </a:xfrm>
          <a:prstGeom prst="roundRect">
            <a:avLst>
              <a:gd name="adj" fmla="val 8000"/>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793327" y="3657600"/>
            <a:ext cx="2286000" cy="54864"/>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93327" y="3840480"/>
            <a:ext cx="2286000" cy="457200"/>
          </a:xfrm>
          <a:prstGeom prst="rect">
            <a:avLst/>
          </a:prstGeom>
          <a:noFill/>
        </p:spPr>
        <p:txBody>
          <a:bodyPr wrap="square">
            <a:spAutoFit/>
          </a:bodyPr>
          <a:lstStyle/>
          <a:p>
            <a:pPr algn="ctr">
              <a:defRPr sz="3200" b="1" i="0">
                <a:solidFill>
                  <a:srgbClr val="FFFFFF"/>
                </a:solidFill>
                <a:latin typeface="Segoe UI Light"/>
              </a:defRPr>
            </a:pPr>
            <a:r>
              <a:t>6</a:t>
            </a:r>
          </a:p>
        </p:txBody>
      </p:sp>
      <p:sp>
        <p:nvSpPr>
          <p:cNvPr id="24" name="TextBox 23"/>
          <p:cNvSpPr txBox="1"/>
          <p:nvPr/>
        </p:nvSpPr>
        <p:spPr>
          <a:xfrm>
            <a:off x="8793327" y="4343400"/>
            <a:ext cx="2286000" cy="274320"/>
          </a:xfrm>
          <a:prstGeom prst="rect">
            <a:avLst/>
          </a:prstGeom>
          <a:noFill/>
        </p:spPr>
        <p:txBody>
          <a:bodyPr wrap="square">
            <a:spAutoFit/>
          </a:bodyPr>
          <a:lstStyle/>
          <a:p>
            <a:pPr algn="ctr">
              <a:defRPr sz="1100" b="0" i="0">
                <a:solidFill>
                  <a:srgbClr val="C4B5FD"/>
                </a:solidFill>
                <a:latin typeface="Segoe UI"/>
              </a:defRPr>
            </a:pPr>
            <a:r>
              <a:t>Reps Active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Cameron Brader</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 4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02/18/2026</a:t>
            </a:r>
          </a:p>
        </p:txBody>
      </p:sp>
      <p:sp>
        <p:nvSpPr>
          <p:cNvPr id="16" name="TextBox 15"/>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7" name="TextBox 16"/>
          <p:cNvSpPr txBox="1"/>
          <p:nvPr/>
        </p:nvSpPr>
        <p:spPr>
          <a:xfrm>
            <a:off x="438912" y="2002536"/>
            <a:ext cx="11155680" cy="274320"/>
          </a:xfrm>
          <a:prstGeom prst="rect">
            <a:avLst/>
          </a:prstGeom>
          <a:noFill/>
        </p:spPr>
        <p:txBody>
          <a:bodyPr wrap="square">
            <a:spAutoFit/>
          </a:bodyPr>
          <a:lstStyle/>
          <a:p>
            <a:pPr algn="l">
              <a:defRPr sz="900" b="0" i="0">
                <a:solidFill>
                  <a:srgbClr val="2D233F"/>
                </a:solidFill>
                <a:latin typeface="Segoe UI"/>
              </a:defRPr>
            </a:pPr>
            <a:r>
              <a:t>Karen is selling Coverwhale DSG! she made a linked in post offering DSG availability inspired by our post. I am working well with Karen she keeps me in the loop on any submissions.</a:t>
            </a:r>
          </a:p>
        </p:txBody>
      </p:sp>
      <p:sp>
        <p:nvSpPr>
          <p:cNvPr id="18" name="Rounded Rectangle 17"/>
          <p:cNvSpPr/>
          <p:nvPr/>
        </p:nvSpPr>
        <p:spPr>
          <a:xfrm>
            <a:off x="274320" y="2441448"/>
            <a:ext cx="11521440" cy="987552"/>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441448"/>
            <a:ext cx="73152" cy="9875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8912" y="2551176"/>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2551176"/>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2" name="TextBox 21"/>
          <p:cNvSpPr txBox="1"/>
          <p:nvPr/>
        </p:nvSpPr>
        <p:spPr>
          <a:xfrm>
            <a:off x="1097280" y="2551176"/>
            <a:ext cx="1097280" cy="219456"/>
          </a:xfrm>
          <a:prstGeom prst="rect">
            <a:avLst/>
          </a:prstGeom>
          <a:noFill/>
        </p:spPr>
        <p:txBody>
          <a:bodyPr wrap="square">
            <a:spAutoFit/>
          </a:bodyPr>
          <a:lstStyle/>
          <a:p>
            <a:pPr algn="l">
              <a:defRPr sz="900" b="1" i="0">
                <a:solidFill>
                  <a:srgbClr val="6B5F83"/>
                </a:solidFill>
                <a:latin typeface="Segoe UI"/>
              </a:defRPr>
            </a:pPr>
            <a:r>
              <a:t>02/17/2026</a:t>
            </a:r>
          </a:p>
        </p:txBody>
      </p:sp>
      <p:sp>
        <p:nvSpPr>
          <p:cNvPr id="23" name="TextBox 22"/>
          <p:cNvSpPr txBox="1"/>
          <p:nvPr/>
        </p:nvSpPr>
        <p:spPr>
          <a:xfrm>
            <a:off x="438912" y="280720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4" name="TextBox 23"/>
          <p:cNvSpPr txBox="1"/>
          <p:nvPr/>
        </p:nvSpPr>
        <p:spPr>
          <a:xfrm>
            <a:off x="438912" y="3026664"/>
            <a:ext cx="11155680" cy="347472"/>
          </a:xfrm>
          <a:prstGeom prst="rect">
            <a:avLst/>
          </a:prstGeom>
          <a:noFill/>
        </p:spPr>
        <p:txBody>
          <a:bodyPr wrap="square">
            <a:spAutoFit/>
          </a:bodyPr>
          <a:lstStyle/>
          <a:p>
            <a:pPr algn="l">
              <a:defRPr sz="900" b="0" i="0">
                <a:solidFill>
                  <a:srgbClr val="2D233F"/>
                </a:solidFill>
                <a:latin typeface="Segoe UI"/>
              </a:defRPr>
            </a:pPr>
            <a:r>
              <a:t>They love the availability and options, they are combing progressive and gieco renewals to try to place with us. Also served as my phone introduction to this agency, they will be submitting more with me looking over them.</a:t>
            </a:r>
          </a:p>
        </p:txBody>
      </p:sp>
      <p:sp>
        <p:nvSpPr>
          <p:cNvPr id="25" name="Rounded Rectangle 24"/>
          <p:cNvSpPr/>
          <p:nvPr/>
        </p:nvSpPr>
        <p:spPr>
          <a:xfrm>
            <a:off x="274320" y="3538728"/>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3538728"/>
            <a:ext cx="73152" cy="11338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38912" y="3648456"/>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3648456"/>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9" name="TextBox 28"/>
          <p:cNvSpPr txBox="1"/>
          <p:nvPr/>
        </p:nvSpPr>
        <p:spPr>
          <a:xfrm>
            <a:off x="1097280" y="3648456"/>
            <a:ext cx="1097280" cy="219456"/>
          </a:xfrm>
          <a:prstGeom prst="rect">
            <a:avLst/>
          </a:prstGeom>
          <a:noFill/>
        </p:spPr>
        <p:txBody>
          <a:bodyPr wrap="square">
            <a:spAutoFit/>
          </a:bodyPr>
          <a:lstStyle/>
          <a:p>
            <a:pPr algn="l">
              <a:defRPr sz="900" b="1" i="0">
                <a:solidFill>
                  <a:srgbClr val="6B5F83"/>
                </a:solidFill>
                <a:latin typeface="Segoe UI"/>
              </a:defRPr>
            </a:pPr>
            <a:r>
              <a:t>02/17/2026</a:t>
            </a:r>
          </a:p>
        </p:txBody>
      </p:sp>
      <p:sp>
        <p:nvSpPr>
          <p:cNvPr id="30" name="TextBox 29"/>
          <p:cNvSpPr txBox="1"/>
          <p:nvPr/>
        </p:nvSpPr>
        <p:spPr>
          <a:xfrm>
            <a:off x="438912" y="390448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1" name="TextBox 30"/>
          <p:cNvSpPr txBox="1"/>
          <p:nvPr/>
        </p:nvSpPr>
        <p:spPr>
          <a:xfrm>
            <a:off x="438912" y="4123944"/>
            <a:ext cx="11155680" cy="493776"/>
          </a:xfrm>
          <a:prstGeom prst="rect">
            <a:avLst/>
          </a:prstGeom>
          <a:noFill/>
        </p:spPr>
        <p:txBody>
          <a:bodyPr wrap="square">
            <a:spAutoFit/>
          </a:bodyPr>
          <a:lstStyle/>
          <a:p>
            <a:pPr algn="l">
              <a:defRPr sz="900" b="0" i="0">
                <a:solidFill>
                  <a:srgbClr val="2D233F"/>
                </a:solidFill>
                <a:latin typeface="Segoe UI"/>
              </a:defRPr>
            </a:pPr>
            <a:r>
              <a:t>Was told about DSG immediately, they are one of the largest DSG agencies in VA, they instantly started submitting risks once hearing VA was open. Ran into issues with classification, This has been mentioned to UW but I was told their insureds are told to select exempt for hire when starting a DSG only authority. thus that makes a lot of their risks not eligible.</a:t>
            </a:r>
          </a:p>
        </p:txBody>
      </p:sp>
      <p:sp>
        <p:nvSpPr>
          <p:cNvPr id="32" name="Rounded Rectangle 31"/>
          <p:cNvSpPr/>
          <p:nvPr/>
        </p:nvSpPr>
        <p:spPr>
          <a:xfrm>
            <a:off x="274320" y="4782312"/>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782312"/>
            <a:ext cx="73152" cy="11338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38912" y="4892040"/>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4892040"/>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36" name="TextBox 35"/>
          <p:cNvSpPr txBox="1"/>
          <p:nvPr/>
        </p:nvSpPr>
        <p:spPr>
          <a:xfrm>
            <a:off x="1097280" y="4892040"/>
            <a:ext cx="1097280" cy="219456"/>
          </a:xfrm>
          <a:prstGeom prst="rect">
            <a:avLst/>
          </a:prstGeom>
          <a:noFill/>
        </p:spPr>
        <p:txBody>
          <a:bodyPr wrap="square">
            <a:spAutoFit/>
          </a:bodyPr>
          <a:lstStyle/>
          <a:p>
            <a:pPr algn="l">
              <a:defRPr sz="900" b="1" i="0">
                <a:solidFill>
                  <a:srgbClr val="6B5F83"/>
                </a:solidFill>
                <a:latin typeface="Segoe UI"/>
              </a:defRPr>
            </a:pPr>
            <a:r>
              <a:t>01/23/2026</a:t>
            </a:r>
          </a:p>
        </p:txBody>
      </p:sp>
      <p:sp>
        <p:nvSpPr>
          <p:cNvPr id="37" name="TextBox 36"/>
          <p:cNvSpPr txBox="1"/>
          <p:nvPr/>
        </p:nvSpPr>
        <p:spPr>
          <a:xfrm>
            <a:off x="438912" y="5148072"/>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8" name="TextBox 37"/>
          <p:cNvSpPr txBox="1"/>
          <p:nvPr/>
        </p:nvSpPr>
        <p:spPr>
          <a:xfrm>
            <a:off x="438912" y="5367528"/>
            <a:ext cx="11155680" cy="493776"/>
          </a:xfrm>
          <a:prstGeom prst="rect">
            <a:avLst/>
          </a:prstGeom>
          <a:noFill/>
        </p:spPr>
        <p:txBody>
          <a:bodyPr wrap="square">
            <a:spAutoFit/>
          </a:bodyPr>
          <a:lstStyle/>
          <a:p>
            <a:pPr algn="l">
              <a:defRPr sz="900" b="0" i="0">
                <a:solidFill>
                  <a:srgbClr val="2D233F"/>
                </a:solidFill>
                <a:latin typeface="Segoe UI"/>
              </a:defRPr>
            </a:pPr>
            <a:r>
              <a:t>@Roland Massey @Derek Janssen Prospect: Gurbhinder (Agency Principal) Purpose: Agency prospecting / potential appointment with Cover Whale Overview Spoke with Gurbhinder to introduce Cover Whale and assess fit for an agency partnership. Call was highly productive and consultative. Gurbhinder runs a transportation-focused agency with a strong emphasis on analytics, underwriting discipline, and t...</a:t>
            </a:r>
          </a:p>
        </p:txBody>
      </p:sp>
      <p:sp>
        <p:nvSpPr>
          <p:cNvPr id="39" name="Rectangle 38"/>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1" name="TextBox 40"/>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Christopher Hayes</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 3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11338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02/09/2026</a:t>
            </a:r>
          </a:p>
        </p:txBody>
      </p:sp>
      <p:sp>
        <p:nvSpPr>
          <p:cNvPr id="16" name="TextBox 15"/>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7" name="TextBox 16"/>
          <p:cNvSpPr txBox="1"/>
          <p:nvPr/>
        </p:nvSpPr>
        <p:spPr>
          <a:xfrm>
            <a:off x="438912" y="2002536"/>
            <a:ext cx="11155680" cy="493776"/>
          </a:xfrm>
          <a:prstGeom prst="rect">
            <a:avLst/>
          </a:prstGeom>
          <a:noFill/>
        </p:spPr>
        <p:txBody>
          <a:bodyPr wrap="square">
            <a:spAutoFit/>
          </a:bodyPr>
          <a:lstStyle/>
          <a:p>
            <a:pPr algn="l">
              <a:defRPr sz="900" b="0" i="0">
                <a:solidFill>
                  <a:srgbClr val="2D233F"/>
                </a:solidFill>
                <a:latin typeface="Segoe UI"/>
              </a:defRPr>
            </a:pPr>
            <a:r>
              <a:t>Spoke with Dave on the team. He mentioned that primarily they do see a lot of DSG business come out of the tri-state area. They see way more leads/business from the NJ area than the PA area but since we are not in NJ yet they will satrt to send over the leads they have for the PA; but they did reiterate the fact that NJ would be a better outlet for DSG for their team. About 20% of t...</a:t>
            </a:r>
          </a:p>
        </p:txBody>
      </p:sp>
      <p:sp>
        <p:nvSpPr>
          <p:cNvPr id="18" name="Rounded Rectangle 17"/>
          <p:cNvSpPr/>
          <p:nvPr/>
        </p:nvSpPr>
        <p:spPr>
          <a:xfrm>
            <a:off x="274320" y="2660904"/>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660904"/>
            <a:ext cx="73152" cy="11338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8912" y="2770632"/>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2770632"/>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2" name="TextBox 21"/>
          <p:cNvSpPr txBox="1"/>
          <p:nvPr/>
        </p:nvSpPr>
        <p:spPr>
          <a:xfrm>
            <a:off x="1097280" y="2770632"/>
            <a:ext cx="1097280" cy="219456"/>
          </a:xfrm>
          <a:prstGeom prst="rect">
            <a:avLst/>
          </a:prstGeom>
          <a:noFill/>
        </p:spPr>
        <p:txBody>
          <a:bodyPr wrap="square">
            <a:spAutoFit/>
          </a:bodyPr>
          <a:lstStyle/>
          <a:p>
            <a:pPr algn="l">
              <a:defRPr sz="900" b="1" i="0">
                <a:solidFill>
                  <a:srgbClr val="6B5F83"/>
                </a:solidFill>
                <a:latin typeface="Segoe UI"/>
              </a:defRPr>
            </a:pPr>
            <a:r>
              <a:t>01/23/2026</a:t>
            </a:r>
          </a:p>
        </p:txBody>
      </p:sp>
      <p:sp>
        <p:nvSpPr>
          <p:cNvPr id="23" name="TextBox 22"/>
          <p:cNvSpPr txBox="1"/>
          <p:nvPr/>
        </p:nvSpPr>
        <p:spPr>
          <a:xfrm>
            <a:off x="438912" y="3026664"/>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4" name="TextBox 23"/>
          <p:cNvSpPr txBox="1"/>
          <p:nvPr/>
        </p:nvSpPr>
        <p:spPr>
          <a:xfrm>
            <a:off x="438912" y="3246120"/>
            <a:ext cx="11155680" cy="493776"/>
          </a:xfrm>
          <a:prstGeom prst="rect">
            <a:avLst/>
          </a:prstGeom>
          <a:noFill/>
        </p:spPr>
        <p:txBody>
          <a:bodyPr wrap="square">
            <a:spAutoFit/>
          </a:bodyPr>
          <a:lstStyle/>
          <a:p>
            <a:pPr algn="l">
              <a:defRPr sz="900" b="0" i="0">
                <a:solidFill>
                  <a:srgbClr val="2D233F"/>
                </a:solidFill>
                <a:latin typeface="Segoe UI"/>
              </a:defRPr>
            </a:pPr>
            <a:r>
              <a:t>@Kevin McKernan @Roland Massey Met with the Principal agent Nicole Rodiguez, shadowed by Christina. Good first discussion with this agency. Despite struggling on the fleet side, this agency has been gaining steam over the last couple of months, writing the most they have ever written in their history with CW. They appear to have not had a clear understanding to what we are looking for in fleet ...</a:t>
            </a:r>
          </a:p>
        </p:txBody>
      </p:sp>
      <p:sp>
        <p:nvSpPr>
          <p:cNvPr id="25" name="Rounded Rectangle 24"/>
          <p:cNvSpPr/>
          <p:nvPr/>
        </p:nvSpPr>
        <p:spPr>
          <a:xfrm>
            <a:off x="274320" y="3904488"/>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3904488"/>
            <a:ext cx="73152" cy="11338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38912" y="4014216"/>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4014216"/>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9" name="TextBox 28"/>
          <p:cNvSpPr txBox="1"/>
          <p:nvPr/>
        </p:nvSpPr>
        <p:spPr>
          <a:xfrm>
            <a:off x="1097280" y="4014216"/>
            <a:ext cx="1097280" cy="219456"/>
          </a:xfrm>
          <a:prstGeom prst="rect">
            <a:avLst/>
          </a:prstGeom>
          <a:noFill/>
        </p:spPr>
        <p:txBody>
          <a:bodyPr wrap="square">
            <a:spAutoFit/>
          </a:bodyPr>
          <a:lstStyle/>
          <a:p>
            <a:pPr algn="l">
              <a:defRPr sz="900" b="1" i="0">
                <a:solidFill>
                  <a:srgbClr val="6B5F83"/>
                </a:solidFill>
                <a:latin typeface="Segoe UI"/>
              </a:defRPr>
            </a:pPr>
            <a:r>
              <a:t>04/18/2025</a:t>
            </a:r>
          </a:p>
        </p:txBody>
      </p:sp>
      <p:sp>
        <p:nvSpPr>
          <p:cNvPr id="30" name="TextBox 29"/>
          <p:cNvSpPr txBox="1"/>
          <p:nvPr/>
        </p:nvSpPr>
        <p:spPr>
          <a:xfrm>
            <a:off x="438912" y="427024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1" name="TextBox 30"/>
          <p:cNvSpPr txBox="1"/>
          <p:nvPr/>
        </p:nvSpPr>
        <p:spPr>
          <a:xfrm>
            <a:off x="438912" y="4489704"/>
            <a:ext cx="11155680" cy="493776"/>
          </a:xfrm>
          <a:prstGeom prst="rect">
            <a:avLst/>
          </a:prstGeom>
          <a:noFill/>
        </p:spPr>
        <p:txBody>
          <a:bodyPr wrap="square">
            <a:spAutoFit/>
          </a:bodyPr>
          <a:lstStyle/>
          <a:p>
            <a:pPr algn="l">
              <a:defRPr sz="900" b="0" i="0">
                <a:solidFill>
                  <a:srgbClr val="2D233F"/>
                </a:solidFill>
                <a:latin typeface="Segoe UI"/>
              </a:defRPr>
            </a:pPr>
            <a:r>
              <a:t>Met with Adam Mandwee at MCIEF 2025 in Orlando. Purpose of discussion was to re-engage this partner as per request of my leadership. The previous issues JM had with CW pre-exists Adam's time with the agency so not inight was added their besides servicing being a huge painpoint for the agency. I was able to educate Adam on the enhancements we have made not only to the platfrom but also on the se...</a:t>
            </a:r>
          </a:p>
        </p:txBody>
      </p:sp>
      <p:sp>
        <p:nvSpPr>
          <p:cNvPr id="32" name="Rectangle 31"/>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34" name="TextBox 33"/>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Kevin McKernan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 1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11338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05/13/2025</a:t>
            </a:r>
          </a:p>
        </p:txBody>
      </p:sp>
      <p:sp>
        <p:nvSpPr>
          <p:cNvPr id="16" name="TextBox 15"/>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7" name="TextBox 16"/>
          <p:cNvSpPr txBox="1"/>
          <p:nvPr/>
        </p:nvSpPr>
        <p:spPr>
          <a:xfrm>
            <a:off x="438912" y="2002536"/>
            <a:ext cx="11155680" cy="493776"/>
          </a:xfrm>
          <a:prstGeom prst="rect">
            <a:avLst/>
          </a:prstGeom>
          <a:noFill/>
        </p:spPr>
        <p:txBody>
          <a:bodyPr wrap="square">
            <a:spAutoFit/>
          </a:bodyPr>
          <a:lstStyle/>
          <a:p>
            <a:pPr algn="l">
              <a:defRPr sz="900" b="0" i="0">
                <a:solidFill>
                  <a:srgbClr val="2D233F"/>
                </a:solidFill>
                <a:latin typeface="Segoe UI"/>
              </a:defRPr>
            </a:pPr>
            <a:r>
              <a:t>Meeting Notes: Heffernan Transportation Team Discussion Team Structure &amp; Current Situation Transportation Team Leads: Kenny &amp; Matt Palenta Team size: 5 members writing 5-30 units Current Market Position Main carriers: Sentry &amp; Great West (combined 100M in GWP) Limited options beyond these two carriers Dislike working with wholesalers Focus on: Dry Van, Flat Bed, Refer Geographic Focus Primary r...</a:t>
            </a:r>
          </a:p>
        </p:txBody>
      </p:sp>
      <p:sp>
        <p:nvSpPr>
          <p:cNvPr id="18" name="Rectangle 17"/>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20" name="TextBox 19"/>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Ron Douglas</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 2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113385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03/03/2026</a:t>
            </a:r>
          </a:p>
        </p:txBody>
      </p:sp>
      <p:sp>
        <p:nvSpPr>
          <p:cNvPr id="16" name="TextBox 15"/>
          <p:cNvSpPr txBox="1"/>
          <p:nvPr/>
        </p:nvSpPr>
        <p:spPr>
          <a:xfrm>
            <a:off x="2286000" y="1527048"/>
            <a:ext cx="4572000" cy="219456"/>
          </a:xfrm>
          <a:prstGeom prst="rect">
            <a:avLst/>
          </a:prstGeom>
          <a:noFill/>
        </p:spPr>
        <p:txBody>
          <a:bodyPr wrap="square">
            <a:spAutoFit/>
          </a:bodyPr>
          <a:lstStyle/>
          <a:p>
            <a:pPr algn="l">
              <a:defRPr sz="900" b="1" i="0">
                <a:solidFill>
                  <a:srgbClr val="5B21B6"/>
                </a:solidFill>
                <a:latin typeface="Segoe UI"/>
              </a:defRPr>
            </a:pPr>
            <a:r>
              <a:t>Call with Amy Flowers</a:t>
            </a:r>
          </a:p>
        </p:txBody>
      </p:sp>
      <p:sp>
        <p:nvSpPr>
          <p:cNvPr id="17" name="TextBox 16"/>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8" name="TextBox 17"/>
          <p:cNvSpPr txBox="1"/>
          <p:nvPr/>
        </p:nvSpPr>
        <p:spPr>
          <a:xfrm>
            <a:off x="438912" y="2002536"/>
            <a:ext cx="11155680" cy="493776"/>
          </a:xfrm>
          <a:prstGeom prst="rect">
            <a:avLst/>
          </a:prstGeom>
          <a:noFill/>
        </p:spPr>
        <p:txBody>
          <a:bodyPr wrap="square">
            <a:spAutoFit/>
          </a:bodyPr>
          <a:lstStyle/>
          <a:p>
            <a:pPr algn="l">
              <a:defRPr sz="900" b="0" i="0">
                <a:solidFill>
                  <a:srgbClr val="2D233F"/>
                </a:solidFill>
                <a:latin typeface="Segoe UI"/>
              </a:defRPr>
            </a:pPr>
            <a:r>
              <a:t>Spoke with Amy, she, her husband Zach and their son Matt run the agency, she stated that they are strong with NV and primarily go to Progressive and Geico for those, with CW being a distant third. she stated that this is the case because Progressive and Geico generally give them what they need and their renewals are usually better, which makes the process easier for them their states are TX, AL...</a:t>
            </a:r>
          </a:p>
        </p:txBody>
      </p:sp>
      <p:sp>
        <p:nvSpPr>
          <p:cNvPr id="19" name="Rounded Rectangle 18"/>
          <p:cNvSpPr/>
          <p:nvPr/>
        </p:nvSpPr>
        <p:spPr>
          <a:xfrm>
            <a:off x="274320" y="2660904"/>
            <a:ext cx="11521440" cy="987552"/>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2660904"/>
            <a:ext cx="73152" cy="9875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8912" y="2770632"/>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2770632"/>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23" name="TextBox 22"/>
          <p:cNvSpPr txBox="1"/>
          <p:nvPr/>
        </p:nvSpPr>
        <p:spPr>
          <a:xfrm>
            <a:off x="1097280" y="2770632"/>
            <a:ext cx="1097280" cy="219456"/>
          </a:xfrm>
          <a:prstGeom prst="rect">
            <a:avLst/>
          </a:prstGeom>
          <a:noFill/>
        </p:spPr>
        <p:txBody>
          <a:bodyPr wrap="square">
            <a:spAutoFit/>
          </a:bodyPr>
          <a:lstStyle/>
          <a:p>
            <a:pPr algn="l">
              <a:defRPr sz="900" b="1" i="0">
                <a:solidFill>
                  <a:srgbClr val="6B5F83"/>
                </a:solidFill>
                <a:latin typeface="Segoe UI"/>
              </a:defRPr>
            </a:pPr>
            <a:r>
              <a:t>02/26/2026</a:t>
            </a:r>
          </a:p>
        </p:txBody>
      </p:sp>
      <p:sp>
        <p:nvSpPr>
          <p:cNvPr id="24" name="TextBox 23"/>
          <p:cNvSpPr txBox="1"/>
          <p:nvPr/>
        </p:nvSpPr>
        <p:spPr>
          <a:xfrm>
            <a:off x="2286000" y="2770632"/>
            <a:ext cx="4572000" cy="219456"/>
          </a:xfrm>
          <a:prstGeom prst="rect">
            <a:avLst/>
          </a:prstGeom>
          <a:noFill/>
        </p:spPr>
        <p:txBody>
          <a:bodyPr wrap="square">
            <a:spAutoFit/>
          </a:bodyPr>
          <a:lstStyle/>
          <a:p>
            <a:pPr algn="l">
              <a:defRPr sz="900" b="1" i="0">
                <a:solidFill>
                  <a:srgbClr val="5B21B6"/>
                </a:solidFill>
                <a:latin typeface="Segoe UI"/>
              </a:defRPr>
            </a:pPr>
            <a:r>
              <a:t>Call with Carlos Barboza</a:t>
            </a:r>
          </a:p>
        </p:txBody>
      </p:sp>
      <p:sp>
        <p:nvSpPr>
          <p:cNvPr id="25" name="TextBox 24"/>
          <p:cNvSpPr txBox="1"/>
          <p:nvPr/>
        </p:nvSpPr>
        <p:spPr>
          <a:xfrm>
            <a:off x="438912" y="3026664"/>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6" name="TextBox 25"/>
          <p:cNvSpPr txBox="1"/>
          <p:nvPr/>
        </p:nvSpPr>
        <p:spPr>
          <a:xfrm>
            <a:off x="438912" y="3246120"/>
            <a:ext cx="11155680" cy="347472"/>
          </a:xfrm>
          <a:prstGeom prst="rect">
            <a:avLst/>
          </a:prstGeom>
          <a:noFill/>
        </p:spPr>
        <p:txBody>
          <a:bodyPr wrap="square">
            <a:spAutoFit/>
          </a:bodyPr>
          <a:lstStyle/>
          <a:p>
            <a:pPr algn="l">
              <a:defRPr sz="900" b="0" i="0">
                <a:solidFill>
                  <a:srgbClr val="2D233F"/>
                </a:solidFill>
                <a:latin typeface="Segoe UI"/>
              </a:defRPr>
            </a:pPr>
            <a:r>
              <a:t>spoke w carlos, discussed dsg expansion, does not do a lot of dump, mainly reefer and dry van, 8-10 units, advised will be in south FL soon, and will meet, emailed him the most recent collateral, pleased with current status with CW, he asked about MVRs and if they were required to purchase, advised no DSG GROWTH @</a:t>
            </a:r>
          </a:p>
        </p:txBody>
      </p:sp>
      <p:sp>
        <p:nvSpPr>
          <p:cNvPr id="27" name="Rectangle 26"/>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29" name="TextBox 28"/>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Unknown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(1/5) — 18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02/27/2026</a:t>
            </a:r>
          </a:p>
        </p:txBody>
      </p:sp>
      <p:sp>
        <p:nvSpPr>
          <p:cNvPr id="16" name="TextBox 15"/>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7" name="TextBox 16"/>
          <p:cNvSpPr txBox="1"/>
          <p:nvPr/>
        </p:nvSpPr>
        <p:spPr>
          <a:xfrm>
            <a:off x="438912" y="2002536"/>
            <a:ext cx="11155680" cy="274320"/>
          </a:xfrm>
          <a:prstGeom prst="rect">
            <a:avLst/>
          </a:prstGeom>
          <a:noFill/>
        </p:spPr>
        <p:txBody>
          <a:bodyPr wrap="square">
            <a:spAutoFit/>
          </a:bodyPr>
          <a:lstStyle/>
          <a:p>
            <a:pPr algn="l">
              <a:defRPr sz="900" b="0" i="0">
                <a:solidFill>
                  <a:srgbClr val="2D233F"/>
                </a:solidFill>
                <a:latin typeface="Segoe UI"/>
              </a:defRPr>
            </a:pPr>
            <a:r>
              <a:t>Sent an email regarding DSG and IL reopening. Will follow up with a phone call.</a:t>
            </a:r>
          </a:p>
        </p:txBody>
      </p:sp>
      <p:sp>
        <p:nvSpPr>
          <p:cNvPr id="18" name="Rounded Rectangle 17"/>
          <p:cNvSpPr/>
          <p:nvPr/>
        </p:nvSpPr>
        <p:spPr>
          <a:xfrm>
            <a:off x="274320" y="2441448"/>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441448"/>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8912" y="2551176"/>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2551176"/>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2" name="TextBox 21"/>
          <p:cNvSpPr txBox="1"/>
          <p:nvPr/>
        </p:nvSpPr>
        <p:spPr>
          <a:xfrm>
            <a:off x="1097280" y="2551176"/>
            <a:ext cx="1097280" cy="219456"/>
          </a:xfrm>
          <a:prstGeom prst="rect">
            <a:avLst/>
          </a:prstGeom>
          <a:noFill/>
        </p:spPr>
        <p:txBody>
          <a:bodyPr wrap="square">
            <a:spAutoFit/>
          </a:bodyPr>
          <a:lstStyle/>
          <a:p>
            <a:pPr algn="l">
              <a:defRPr sz="900" b="1" i="0">
                <a:solidFill>
                  <a:srgbClr val="6B5F83"/>
                </a:solidFill>
                <a:latin typeface="Segoe UI"/>
              </a:defRPr>
            </a:pPr>
            <a:r>
              <a:t>02/25/2026</a:t>
            </a:r>
          </a:p>
        </p:txBody>
      </p:sp>
      <p:sp>
        <p:nvSpPr>
          <p:cNvPr id="23" name="TextBox 22"/>
          <p:cNvSpPr txBox="1"/>
          <p:nvPr/>
        </p:nvSpPr>
        <p:spPr>
          <a:xfrm>
            <a:off x="438912" y="280720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4" name="TextBox 23"/>
          <p:cNvSpPr txBox="1"/>
          <p:nvPr/>
        </p:nvSpPr>
        <p:spPr>
          <a:xfrm>
            <a:off x="438912" y="3026664"/>
            <a:ext cx="11155680" cy="274320"/>
          </a:xfrm>
          <a:prstGeom prst="rect">
            <a:avLst/>
          </a:prstGeom>
          <a:noFill/>
        </p:spPr>
        <p:txBody>
          <a:bodyPr wrap="square">
            <a:spAutoFit/>
          </a:bodyPr>
          <a:lstStyle/>
          <a:p>
            <a:pPr algn="l">
              <a:defRPr sz="900" b="0" i="0">
                <a:solidFill>
                  <a:srgbClr val="2D233F"/>
                </a:solidFill>
                <a:latin typeface="Segoe UI"/>
              </a:defRPr>
            </a:pPr>
            <a:r>
              <a:t>email sent . Will follow up with phone call later this week.</a:t>
            </a:r>
          </a:p>
        </p:txBody>
      </p:sp>
      <p:sp>
        <p:nvSpPr>
          <p:cNvPr id="25" name="Rounded Rectangle 24"/>
          <p:cNvSpPr/>
          <p:nvPr/>
        </p:nvSpPr>
        <p:spPr>
          <a:xfrm>
            <a:off x="274320" y="3465576"/>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3465576"/>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38912" y="3575304"/>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3575304"/>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9" name="TextBox 28"/>
          <p:cNvSpPr txBox="1"/>
          <p:nvPr/>
        </p:nvSpPr>
        <p:spPr>
          <a:xfrm>
            <a:off x="1097280" y="3575304"/>
            <a:ext cx="1097280" cy="219456"/>
          </a:xfrm>
          <a:prstGeom prst="rect">
            <a:avLst/>
          </a:prstGeom>
          <a:noFill/>
        </p:spPr>
        <p:txBody>
          <a:bodyPr wrap="square">
            <a:spAutoFit/>
          </a:bodyPr>
          <a:lstStyle/>
          <a:p>
            <a:pPr algn="l">
              <a:defRPr sz="900" b="1" i="0">
                <a:solidFill>
                  <a:srgbClr val="6B5F83"/>
                </a:solidFill>
                <a:latin typeface="Segoe UI"/>
              </a:defRPr>
            </a:pPr>
            <a:r>
              <a:t>02/24/2026</a:t>
            </a:r>
          </a:p>
        </p:txBody>
      </p:sp>
      <p:sp>
        <p:nvSpPr>
          <p:cNvPr id="30" name="TextBox 29"/>
          <p:cNvSpPr txBox="1"/>
          <p:nvPr/>
        </p:nvSpPr>
        <p:spPr>
          <a:xfrm>
            <a:off x="438912" y="3831336"/>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1" name="TextBox 30"/>
          <p:cNvSpPr txBox="1"/>
          <p:nvPr/>
        </p:nvSpPr>
        <p:spPr>
          <a:xfrm>
            <a:off x="438912" y="4050792"/>
            <a:ext cx="11155680" cy="274320"/>
          </a:xfrm>
          <a:prstGeom prst="rect">
            <a:avLst/>
          </a:prstGeom>
          <a:noFill/>
        </p:spPr>
        <p:txBody>
          <a:bodyPr wrap="square">
            <a:spAutoFit/>
          </a:bodyPr>
          <a:lstStyle/>
          <a:p>
            <a:pPr algn="l">
              <a:defRPr sz="900" b="0" i="0">
                <a:solidFill>
                  <a:srgbClr val="2D233F"/>
                </a:solidFill>
                <a:latin typeface="Segoe UI"/>
              </a:defRPr>
            </a:pPr>
            <a:r>
              <a:t>Spoke with Jason Singh, the underwriter, who stated that they write in over 48 states, and have started submitting for quotes. Will follow up to discuss value of BOB with the GM later this week.</a:t>
            </a:r>
          </a:p>
        </p:txBody>
      </p:sp>
      <p:sp>
        <p:nvSpPr>
          <p:cNvPr id="32" name="Rounded Rectangle 31"/>
          <p:cNvSpPr/>
          <p:nvPr/>
        </p:nvSpPr>
        <p:spPr>
          <a:xfrm>
            <a:off x="274320" y="4489704"/>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489704"/>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38912" y="4599432"/>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4599432"/>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36" name="TextBox 35"/>
          <p:cNvSpPr txBox="1"/>
          <p:nvPr/>
        </p:nvSpPr>
        <p:spPr>
          <a:xfrm>
            <a:off x="1097280" y="4599432"/>
            <a:ext cx="1097280" cy="219456"/>
          </a:xfrm>
          <a:prstGeom prst="rect">
            <a:avLst/>
          </a:prstGeom>
          <a:noFill/>
        </p:spPr>
        <p:txBody>
          <a:bodyPr wrap="square">
            <a:spAutoFit/>
          </a:bodyPr>
          <a:lstStyle/>
          <a:p>
            <a:pPr algn="l">
              <a:defRPr sz="900" b="1" i="0">
                <a:solidFill>
                  <a:srgbClr val="6B5F83"/>
                </a:solidFill>
                <a:latin typeface="Segoe UI"/>
              </a:defRPr>
            </a:pPr>
            <a:r>
              <a:t>02/24/2026</a:t>
            </a:r>
          </a:p>
        </p:txBody>
      </p:sp>
      <p:sp>
        <p:nvSpPr>
          <p:cNvPr id="37" name="TextBox 36"/>
          <p:cNvSpPr txBox="1"/>
          <p:nvPr/>
        </p:nvSpPr>
        <p:spPr>
          <a:xfrm>
            <a:off x="438912" y="4855464"/>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8" name="TextBox 37"/>
          <p:cNvSpPr txBox="1"/>
          <p:nvPr/>
        </p:nvSpPr>
        <p:spPr>
          <a:xfrm>
            <a:off x="438912" y="5074920"/>
            <a:ext cx="11155680" cy="274320"/>
          </a:xfrm>
          <a:prstGeom prst="rect">
            <a:avLst/>
          </a:prstGeom>
          <a:noFill/>
        </p:spPr>
        <p:txBody>
          <a:bodyPr wrap="square">
            <a:spAutoFit/>
          </a:bodyPr>
          <a:lstStyle/>
          <a:p>
            <a:pPr algn="l">
              <a:defRPr sz="900" b="0" i="0">
                <a:solidFill>
                  <a:srgbClr val="2D233F"/>
                </a:solidFill>
                <a:latin typeface="Segoe UI"/>
              </a:defRPr>
            </a:pPr>
            <a:r>
              <a:t>Agent currently writes in 30 states and has a bob of approx 8 million. Sent details on DSG operations and states that we offer coverage, expecting submissions shortly.</a:t>
            </a:r>
          </a:p>
        </p:txBody>
      </p:sp>
      <p:sp>
        <p:nvSpPr>
          <p:cNvPr id="39" name="Rectangle 38"/>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1" name="TextBox 40"/>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Unknown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(2/5) — 18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02/20/2026</a:t>
            </a:r>
          </a:p>
        </p:txBody>
      </p:sp>
      <p:sp>
        <p:nvSpPr>
          <p:cNvPr id="16" name="TextBox 15"/>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7" name="TextBox 16"/>
          <p:cNvSpPr txBox="1"/>
          <p:nvPr/>
        </p:nvSpPr>
        <p:spPr>
          <a:xfrm>
            <a:off x="438912" y="2002536"/>
            <a:ext cx="11155680" cy="274320"/>
          </a:xfrm>
          <a:prstGeom prst="rect">
            <a:avLst/>
          </a:prstGeom>
          <a:noFill/>
        </p:spPr>
        <p:txBody>
          <a:bodyPr wrap="square">
            <a:spAutoFit/>
          </a:bodyPr>
          <a:lstStyle/>
          <a:p>
            <a:pPr algn="l">
              <a:defRPr sz="900" b="0" i="0">
                <a:solidFill>
                  <a:srgbClr val="2D233F"/>
                </a:solidFill>
                <a:latin typeface="Segoe UI"/>
              </a:defRPr>
            </a:pPr>
            <a:r>
              <a:t>Follow up meeting 2/24 to meet with Sarah, GM, to discuss current states they write in and overall book of business</a:t>
            </a:r>
          </a:p>
        </p:txBody>
      </p:sp>
      <p:sp>
        <p:nvSpPr>
          <p:cNvPr id="18" name="Rounded Rectangle 17"/>
          <p:cNvSpPr/>
          <p:nvPr/>
        </p:nvSpPr>
        <p:spPr>
          <a:xfrm>
            <a:off x="274320" y="2441448"/>
            <a:ext cx="11521440" cy="987552"/>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441448"/>
            <a:ext cx="73152" cy="9875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8912" y="2551176"/>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2551176"/>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2" name="TextBox 21"/>
          <p:cNvSpPr txBox="1"/>
          <p:nvPr/>
        </p:nvSpPr>
        <p:spPr>
          <a:xfrm>
            <a:off x="1097280" y="2551176"/>
            <a:ext cx="1097280" cy="219456"/>
          </a:xfrm>
          <a:prstGeom prst="rect">
            <a:avLst/>
          </a:prstGeom>
          <a:noFill/>
        </p:spPr>
        <p:txBody>
          <a:bodyPr wrap="square">
            <a:spAutoFit/>
          </a:bodyPr>
          <a:lstStyle/>
          <a:p>
            <a:pPr algn="l">
              <a:defRPr sz="900" b="1" i="0">
                <a:solidFill>
                  <a:srgbClr val="6B5F83"/>
                </a:solidFill>
                <a:latin typeface="Segoe UI"/>
              </a:defRPr>
            </a:pPr>
            <a:r>
              <a:t>02/20/2026</a:t>
            </a:r>
          </a:p>
        </p:txBody>
      </p:sp>
      <p:sp>
        <p:nvSpPr>
          <p:cNvPr id="23" name="TextBox 22"/>
          <p:cNvSpPr txBox="1"/>
          <p:nvPr/>
        </p:nvSpPr>
        <p:spPr>
          <a:xfrm>
            <a:off x="438912" y="280720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4" name="TextBox 23"/>
          <p:cNvSpPr txBox="1"/>
          <p:nvPr/>
        </p:nvSpPr>
        <p:spPr>
          <a:xfrm>
            <a:off x="438912" y="3026664"/>
            <a:ext cx="11155680" cy="347472"/>
          </a:xfrm>
          <a:prstGeom prst="rect">
            <a:avLst/>
          </a:prstGeom>
          <a:noFill/>
        </p:spPr>
        <p:txBody>
          <a:bodyPr wrap="square">
            <a:spAutoFit/>
          </a:bodyPr>
          <a:lstStyle/>
          <a:p>
            <a:pPr algn="l">
              <a:defRPr sz="900" b="0" i="0">
                <a:solidFill>
                  <a:srgbClr val="2D233F"/>
                </a:solidFill>
                <a:latin typeface="Segoe UI"/>
              </a:defRPr>
            </a:pPr>
            <a:r>
              <a:t>Spoke with Scott Bonder of Bonder Insurance, who was bought out by the Alera Group. He stated that he is super excited about IL opening back up , and has several clients to submit for DSG. His main focus is local and long haul, but writes in over 26 states with a bob value of approx $5 mil</a:t>
            </a:r>
          </a:p>
        </p:txBody>
      </p:sp>
      <p:sp>
        <p:nvSpPr>
          <p:cNvPr id="25" name="Rounded Rectangle 24"/>
          <p:cNvSpPr/>
          <p:nvPr/>
        </p:nvSpPr>
        <p:spPr>
          <a:xfrm>
            <a:off x="274320" y="3538728"/>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3538728"/>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38912" y="3648456"/>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3648456"/>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9" name="TextBox 28"/>
          <p:cNvSpPr txBox="1"/>
          <p:nvPr/>
        </p:nvSpPr>
        <p:spPr>
          <a:xfrm>
            <a:off x="1097280" y="3648456"/>
            <a:ext cx="1097280" cy="219456"/>
          </a:xfrm>
          <a:prstGeom prst="rect">
            <a:avLst/>
          </a:prstGeom>
          <a:noFill/>
        </p:spPr>
        <p:txBody>
          <a:bodyPr wrap="square">
            <a:spAutoFit/>
          </a:bodyPr>
          <a:lstStyle/>
          <a:p>
            <a:pPr algn="l">
              <a:defRPr sz="900" b="1" i="0">
                <a:solidFill>
                  <a:srgbClr val="6B5F83"/>
                </a:solidFill>
                <a:latin typeface="Segoe UI"/>
              </a:defRPr>
            </a:pPr>
            <a:r>
              <a:t>02/20/2026</a:t>
            </a:r>
          </a:p>
        </p:txBody>
      </p:sp>
      <p:sp>
        <p:nvSpPr>
          <p:cNvPr id="30" name="TextBox 29"/>
          <p:cNvSpPr txBox="1"/>
          <p:nvPr/>
        </p:nvSpPr>
        <p:spPr>
          <a:xfrm>
            <a:off x="438912" y="390448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1" name="TextBox 30"/>
          <p:cNvSpPr txBox="1"/>
          <p:nvPr/>
        </p:nvSpPr>
        <p:spPr>
          <a:xfrm>
            <a:off x="438912" y="4123944"/>
            <a:ext cx="11155680" cy="274320"/>
          </a:xfrm>
          <a:prstGeom prst="rect">
            <a:avLst/>
          </a:prstGeom>
          <a:noFill/>
        </p:spPr>
        <p:txBody>
          <a:bodyPr wrap="square">
            <a:spAutoFit/>
          </a:bodyPr>
          <a:lstStyle/>
          <a:p>
            <a:pPr algn="l">
              <a:defRPr sz="900" b="0" i="0">
                <a:solidFill>
                  <a:srgbClr val="2D233F"/>
                </a:solidFill>
                <a:latin typeface="Segoe UI"/>
              </a:defRPr>
            </a:pPr>
            <a:r>
              <a:t>Attempted to make contact via phone back in January. However, they responded to the email on DSG, and stated they will submit more soon. I have a follow up call next week to discuss the rest for their book.</a:t>
            </a:r>
          </a:p>
        </p:txBody>
      </p:sp>
      <p:sp>
        <p:nvSpPr>
          <p:cNvPr id="32" name="Rounded Rectangle 31"/>
          <p:cNvSpPr/>
          <p:nvPr/>
        </p:nvSpPr>
        <p:spPr>
          <a:xfrm>
            <a:off x="274320" y="4562856"/>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562856"/>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38912" y="4672584"/>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4672584"/>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36" name="TextBox 35"/>
          <p:cNvSpPr txBox="1"/>
          <p:nvPr/>
        </p:nvSpPr>
        <p:spPr>
          <a:xfrm>
            <a:off x="1097280" y="4672584"/>
            <a:ext cx="1097280" cy="219456"/>
          </a:xfrm>
          <a:prstGeom prst="rect">
            <a:avLst/>
          </a:prstGeom>
          <a:noFill/>
        </p:spPr>
        <p:txBody>
          <a:bodyPr wrap="square">
            <a:spAutoFit/>
          </a:bodyPr>
          <a:lstStyle/>
          <a:p>
            <a:pPr algn="l">
              <a:defRPr sz="900" b="1" i="0">
                <a:solidFill>
                  <a:srgbClr val="6B5F83"/>
                </a:solidFill>
                <a:latin typeface="Segoe UI"/>
              </a:defRPr>
            </a:pPr>
            <a:r>
              <a:t>02/18/2026</a:t>
            </a:r>
          </a:p>
        </p:txBody>
      </p:sp>
      <p:sp>
        <p:nvSpPr>
          <p:cNvPr id="37" name="TextBox 36"/>
          <p:cNvSpPr txBox="1"/>
          <p:nvPr/>
        </p:nvSpPr>
        <p:spPr>
          <a:xfrm>
            <a:off x="438912" y="4928616"/>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8" name="TextBox 37"/>
          <p:cNvSpPr txBox="1"/>
          <p:nvPr/>
        </p:nvSpPr>
        <p:spPr>
          <a:xfrm>
            <a:off x="438912" y="5148072"/>
            <a:ext cx="11155680" cy="274320"/>
          </a:xfrm>
          <a:prstGeom prst="rect">
            <a:avLst/>
          </a:prstGeom>
          <a:noFill/>
        </p:spPr>
        <p:txBody>
          <a:bodyPr wrap="square">
            <a:spAutoFit/>
          </a:bodyPr>
          <a:lstStyle/>
          <a:p>
            <a:pPr algn="l">
              <a:defRPr sz="900" b="0" i="0">
                <a:solidFill>
                  <a:srgbClr val="2D233F"/>
                </a:solidFill>
                <a:latin typeface="Segoe UI"/>
              </a:defRPr>
            </a:pPr>
            <a:r>
              <a:t>Follow up call made regarding expansion with DSG. Sending over a submission shortly.</a:t>
            </a:r>
          </a:p>
        </p:txBody>
      </p:sp>
      <p:sp>
        <p:nvSpPr>
          <p:cNvPr id="39" name="Rectangle 38"/>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1" name="TextBox 40"/>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Unknown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(3/5) — 18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02/18/2026</a:t>
            </a:r>
          </a:p>
        </p:txBody>
      </p:sp>
      <p:sp>
        <p:nvSpPr>
          <p:cNvPr id="16" name="TextBox 15"/>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7" name="TextBox 16"/>
          <p:cNvSpPr txBox="1"/>
          <p:nvPr/>
        </p:nvSpPr>
        <p:spPr>
          <a:xfrm>
            <a:off x="438912" y="2002536"/>
            <a:ext cx="11155680" cy="274320"/>
          </a:xfrm>
          <a:prstGeom prst="rect">
            <a:avLst/>
          </a:prstGeom>
          <a:noFill/>
        </p:spPr>
        <p:txBody>
          <a:bodyPr wrap="square">
            <a:spAutoFit/>
          </a:bodyPr>
          <a:lstStyle/>
          <a:p>
            <a:pPr algn="l">
              <a:defRPr sz="900" b="0" i="0">
                <a:solidFill>
                  <a:srgbClr val="2D233F"/>
                </a:solidFill>
                <a:latin typeface="Segoe UI"/>
              </a:defRPr>
            </a:pPr>
            <a:r>
              <a:t>this agency deals mostly with the Southeast region</a:t>
            </a:r>
          </a:p>
        </p:txBody>
      </p:sp>
      <p:sp>
        <p:nvSpPr>
          <p:cNvPr id="18" name="Rounded Rectangle 17"/>
          <p:cNvSpPr/>
          <p:nvPr/>
        </p:nvSpPr>
        <p:spPr>
          <a:xfrm>
            <a:off x="274320" y="2441448"/>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441448"/>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8912" y="2551176"/>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2551176"/>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2" name="TextBox 21"/>
          <p:cNvSpPr txBox="1"/>
          <p:nvPr/>
        </p:nvSpPr>
        <p:spPr>
          <a:xfrm>
            <a:off x="1097280" y="2551176"/>
            <a:ext cx="1097280" cy="219456"/>
          </a:xfrm>
          <a:prstGeom prst="rect">
            <a:avLst/>
          </a:prstGeom>
          <a:noFill/>
        </p:spPr>
        <p:txBody>
          <a:bodyPr wrap="square">
            <a:spAutoFit/>
          </a:bodyPr>
          <a:lstStyle/>
          <a:p>
            <a:pPr algn="l">
              <a:defRPr sz="900" b="1" i="0">
                <a:solidFill>
                  <a:srgbClr val="6B5F83"/>
                </a:solidFill>
                <a:latin typeface="Segoe UI"/>
              </a:defRPr>
            </a:pPr>
            <a:r>
              <a:t>02/18/2026</a:t>
            </a:r>
          </a:p>
        </p:txBody>
      </p:sp>
      <p:sp>
        <p:nvSpPr>
          <p:cNvPr id="23" name="TextBox 22"/>
          <p:cNvSpPr txBox="1"/>
          <p:nvPr/>
        </p:nvSpPr>
        <p:spPr>
          <a:xfrm>
            <a:off x="438912" y="280720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4" name="TextBox 23"/>
          <p:cNvSpPr txBox="1"/>
          <p:nvPr/>
        </p:nvSpPr>
        <p:spPr>
          <a:xfrm>
            <a:off x="438912" y="3026664"/>
            <a:ext cx="11155680" cy="274320"/>
          </a:xfrm>
          <a:prstGeom prst="rect">
            <a:avLst/>
          </a:prstGeom>
          <a:noFill/>
        </p:spPr>
        <p:txBody>
          <a:bodyPr wrap="square">
            <a:spAutoFit/>
          </a:bodyPr>
          <a:lstStyle/>
          <a:p>
            <a:pPr algn="l">
              <a:defRPr sz="900" b="0" i="0">
                <a:solidFill>
                  <a:srgbClr val="2D233F"/>
                </a:solidFill>
                <a:latin typeface="Segoe UI"/>
              </a:defRPr>
            </a:pPr>
            <a:r>
              <a:t>email sent to agent regarding expansion of DSG and Illinois reopening</a:t>
            </a:r>
          </a:p>
        </p:txBody>
      </p:sp>
      <p:sp>
        <p:nvSpPr>
          <p:cNvPr id="25" name="Rounded Rectangle 24"/>
          <p:cNvSpPr/>
          <p:nvPr/>
        </p:nvSpPr>
        <p:spPr>
          <a:xfrm>
            <a:off x="274320" y="3465576"/>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3465576"/>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38912" y="3575304"/>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3575304"/>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9" name="TextBox 28"/>
          <p:cNvSpPr txBox="1"/>
          <p:nvPr/>
        </p:nvSpPr>
        <p:spPr>
          <a:xfrm>
            <a:off x="1097280" y="3575304"/>
            <a:ext cx="1097280" cy="219456"/>
          </a:xfrm>
          <a:prstGeom prst="rect">
            <a:avLst/>
          </a:prstGeom>
          <a:noFill/>
        </p:spPr>
        <p:txBody>
          <a:bodyPr wrap="square">
            <a:spAutoFit/>
          </a:bodyPr>
          <a:lstStyle/>
          <a:p>
            <a:pPr algn="l">
              <a:defRPr sz="900" b="1" i="0">
                <a:solidFill>
                  <a:srgbClr val="6B5F83"/>
                </a:solidFill>
                <a:latin typeface="Segoe UI"/>
              </a:defRPr>
            </a:pPr>
            <a:r>
              <a:t>02/18/2026</a:t>
            </a:r>
          </a:p>
        </p:txBody>
      </p:sp>
      <p:sp>
        <p:nvSpPr>
          <p:cNvPr id="30" name="TextBox 29"/>
          <p:cNvSpPr txBox="1"/>
          <p:nvPr/>
        </p:nvSpPr>
        <p:spPr>
          <a:xfrm>
            <a:off x="438912" y="3831336"/>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1" name="TextBox 30"/>
          <p:cNvSpPr txBox="1"/>
          <p:nvPr/>
        </p:nvSpPr>
        <p:spPr>
          <a:xfrm>
            <a:off x="438912" y="4050792"/>
            <a:ext cx="11155680" cy="274320"/>
          </a:xfrm>
          <a:prstGeom prst="rect">
            <a:avLst/>
          </a:prstGeom>
          <a:noFill/>
        </p:spPr>
        <p:txBody>
          <a:bodyPr wrap="square">
            <a:spAutoFit/>
          </a:bodyPr>
          <a:lstStyle/>
          <a:p>
            <a:pPr algn="l">
              <a:defRPr sz="900" b="0" i="0">
                <a:solidFill>
                  <a:srgbClr val="2D233F"/>
                </a:solidFill>
                <a:latin typeface="Segoe UI"/>
              </a:defRPr>
            </a:pPr>
            <a:r>
              <a:t>Emailed agent about Illinois reopening and the expansion of DSG</a:t>
            </a:r>
          </a:p>
        </p:txBody>
      </p:sp>
      <p:sp>
        <p:nvSpPr>
          <p:cNvPr id="32" name="Rounded Rectangle 31"/>
          <p:cNvSpPr/>
          <p:nvPr/>
        </p:nvSpPr>
        <p:spPr>
          <a:xfrm>
            <a:off x="274320" y="4489704"/>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489704"/>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38912" y="4599432"/>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4599432"/>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36" name="TextBox 35"/>
          <p:cNvSpPr txBox="1"/>
          <p:nvPr/>
        </p:nvSpPr>
        <p:spPr>
          <a:xfrm>
            <a:off x="1097280" y="4599432"/>
            <a:ext cx="1097280" cy="219456"/>
          </a:xfrm>
          <a:prstGeom prst="rect">
            <a:avLst/>
          </a:prstGeom>
          <a:noFill/>
        </p:spPr>
        <p:txBody>
          <a:bodyPr wrap="square">
            <a:spAutoFit/>
          </a:bodyPr>
          <a:lstStyle/>
          <a:p>
            <a:pPr algn="l">
              <a:defRPr sz="900" b="1" i="0">
                <a:solidFill>
                  <a:srgbClr val="6B5F83"/>
                </a:solidFill>
                <a:latin typeface="Segoe UI"/>
              </a:defRPr>
            </a:pPr>
            <a:r>
              <a:t>02/18/2026</a:t>
            </a:r>
          </a:p>
        </p:txBody>
      </p:sp>
      <p:sp>
        <p:nvSpPr>
          <p:cNvPr id="37" name="TextBox 36"/>
          <p:cNvSpPr txBox="1"/>
          <p:nvPr/>
        </p:nvSpPr>
        <p:spPr>
          <a:xfrm>
            <a:off x="438912" y="4855464"/>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8" name="TextBox 37"/>
          <p:cNvSpPr txBox="1"/>
          <p:nvPr/>
        </p:nvSpPr>
        <p:spPr>
          <a:xfrm>
            <a:off x="438912" y="5074920"/>
            <a:ext cx="11155680" cy="274320"/>
          </a:xfrm>
          <a:prstGeom prst="rect">
            <a:avLst/>
          </a:prstGeom>
          <a:noFill/>
        </p:spPr>
        <p:txBody>
          <a:bodyPr wrap="square">
            <a:spAutoFit/>
          </a:bodyPr>
          <a:lstStyle/>
          <a:p>
            <a:pPr algn="l">
              <a:defRPr sz="900" b="0" i="0">
                <a:solidFill>
                  <a:srgbClr val="2D233F"/>
                </a:solidFill>
                <a:latin typeface="Segoe UI"/>
              </a:defRPr>
            </a:pPr>
            <a:r>
              <a:t>Emailed agency regarding expansion of DSG, and Illinois reopening</a:t>
            </a:r>
          </a:p>
        </p:txBody>
      </p:sp>
      <p:sp>
        <p:nvSpPr>
          <p:cNvPr id="39" name="Rectangle 38"/>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1" name="TextBox 40"/>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Unknown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(4/5) — 18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02/17/2026</a:t>
            </a:r>
          </a:p>
        </p:txBody>
      </p:sp>
      <p:sp>
        <p:nvSpPr>
          <p:cNvPr id="16" name="TextBox 15"/>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7" name="TextBox 16"/>
          <p:cNvSpPr txBox="1"/>
          <p:nvPr/>
        </p:nvSpPr>
        <p:spPr>
          <a:xfrm>
            <a:off x="438912" y="2002536"/>
            <a:ext cx="11155680" cy="274320"/>
          </a:xfrm>
          <a:prstGeom prst="rect">
            <a:avLst/>
          </a:prstGeom>
          <a:noFill/>
        </p:spPr>
        <p:txBody>
          <a:bodyPr wrap="square">
            <a:spAutoFit/>
          </a:bodyPr>
          <a:lstStyle/>
          <a:p>
            <a:pPr algn="l">
              <a:defRPr sz="900" b="0" i="0">
                <a:solidFill>
                  <a:srgbClr val="2D233F"/>
                </a:solidFill>
                <a:latin typeface="Segoe UI"/>
              </a:defRPr>
            </a:pPr>
            <a:r>
              <a:t>email sent regarding IL reopening and expanded DSG coverage, awaiting follow up.</a:t>
            </a:r>
          </a:p>
        </p:txBody>
      </p:sp>
      <p:sp>
        <p:nvSpPr>
          <p:cNvPr id="18" name="Rounded Rectangle 17"/>
          <p:cNvSpPr/>
          <p:nvPr/>
        </p:nvSpPr>
        <p:spPr>
          <a:xfrm>
            <a:off x="274320" y="2441448"/>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441448"/>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8912" y="2551176"/>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2551176"/>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2" name="TextBox 21"/>
          <p:cNvSpPr txBox="1"/>
          <p:nvPr/>
        </p:nvSpPr>
        <p:spPr>
          <a:xfrm>
            <a:off x="1097280" y="2551176"/>
            <a:ext cx="1097280" cy="219456"/>
          </a:xfrm>
          <a:prstGeom prst="rect">
            <a:avLst/>
          </a:prstGeom>
          <a:noFill/>
        </p:spPr>
        <p:txBody>
          <a:bodyPr wrap="square">
            <a:spAutoFit/>
          </a:bodyPr>
          <a:lstStyle/>
          <a:p>
            <a:pPr algn="l">
              <a:defRPr sz="900" b="1" i="0">
                <a:solidFill>
                  <a:srgbClr val="6B5F83"/>
                </a:solidFill>
                <a:latin typeface="Segoe UI"/>
              </a:defRPr>
            </a:pPr>
            <a:r>
              <a:t>02/17/2026</a:t>
            </a:r>
          </a:p>
        </p:txBody>
      </p:sp>
      <p:sp>
        <p:nvSpPr>
          <p:cNvPr id="23" name="TextBox 22"/>
          <p:cNvSpPr txBox="1"/>
          <p:nvPr/>
        </p:nvSpPr>
        <p:spPr>
          <a:xfrm>
            <a:off x="438912" y="280720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4" name="TextBox 23"/>
          <p:cNvSpPr txBox="1"/>
          <p:nvPr/>
        </p:nvSpPr>
        <p:spPr>
          <a:xfrm>
            <a:off x="438912" y="3026664"/>
            <a:ext cx="11155680" cy="274320"/>
          </a:xfrm>
          <a:prstGeom prst="rect">
            <a:avLst/>
          </a:prstGeom>
          <a:noFill/>
        </p:spPr>
        <p:txBody>
          <a:bodyPr wrap="square">
            <a:spAutoFit/>
          </a:bodyPr>
          <a:lstStyle/>
          <a:p>
            <a:pPr algn="l">
              <a:defRPr sz="900" b="0" i="0">
                <a:solidFill>
                  <a:srgbClr val="2D233F"/>
                </a:solidFill>
                <a:latin typeface="Segoe UI"/>
              </a:defRPr>
            </a:pPr>
            <a:r>
              <a:t>email sent advising of IL reopening and expansion of DSG. awaiting follow up</a:t>
            </a:r>
          </a:p>
        </p:txBody>
      </p:sp>
      <p:sp>
        <p:nvSpPr>
          <p:cNvPr id="25" name="Rounded Rectangle 24"/>
          <p:cNvSpPr/>
          <p:nvPr/>
        </p:nvSpPr>
        <p:spPr>
          <a:xfrm>
            <a:off x="274320" y="3465576"/>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3465576"/>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38912" y="3575304"/>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3575304"/>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9" name="TextBox 28"/>
          <p:cNvSpPr txBox="1"/>
          <p:nvPr/>
        </p:nvSpPr>
        <p:spPr>
          <a:xfrm>
            <a:off x="1097280" y="3575304"/>
            <a:ext cx="1097280" cy="219456"/>
          </a:xfrm>
          <a:prstGeom prst="rect">
            <a:avLst/>
          </a:prstGeom>
          <a:noFill/>
        </p:spPr>
        <p:txBody>
          <a:bodyPr wrap="square">
            <a:spAutoFit/>
          </a:bodyPr>
          <a:lstStyle/>
          <a:p>
            <a:pPr algn="l">
              <a:defRPr sz="900" b="1" i="0">
                <a:solidFill>
                  <a:srgbClr val="6B5F83"/>
                </a:solidFill>
                <a:latin typeface="Segoe UI"/>
              </a:defRPr>
            </a:pPr>
            <a:r>
              <a:t>02/17/2026</a:t>
            </a:r>
          </a:p>
        </p:txBody>
      </p:sp>
      <p:sp>
        <p:nvSpPr>
          <p:cNvPr id="30" name="TextBox 29"/>
          <p:cNvSpPr txBox="1"/>
          <p:nvPr/>
        </p:nvSpPr>
        <p:spPr>
          <a:xfrm>
            <a:off x="438912" y="3831336"/>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1" name="TextBox 30"/>
          <p:cNvSpPr txBox="1"/>
          <p:nvPr/>
        </p:nvSpPr>
        <p:spPr>
          <a:xfrm>
            <a:off x="438912" y="4050792"/>
            <a:ext cx="11155680" cy="274320"/>
          </a:xfrm>
          <a:prstGeom prst="rect">
            <a:avLst/>
          </a:prstGeom>
          <a:noFill/>
        </p:spPr>
        <p:txBody>
          <a:bodyPr wrap="square">
            <a:spAutoFit/>
          </a:bodyPr>
          <a:lstStyle/>
          <a:p>
            <a:pPr algn="l">
              <a:defRPr sz="900" b="0" i="0">
                <a:solidFill>
                  <a:srgbClr val="2D233F"/>
                </a:solidFill>
                <a:latin typeface="Segoe UI"/>
              </a:defRPr>
            </a:pPr>
            <a:r>
              <a:t>Sent email concerning IL reopening and expansion of DSG. Awaiting feedback.</a:t>
            </a:r>
          </a:p>
        </p:txBody>
      </p:sp>
      <p:sp>
        <p:nvSpPr>
          <p:cNvPr id="32" name="Rounded Rectangle 31"/>
          <p:cNvSpPr/>
          <p:nvPr/>
        </p:nvSpPr>
        <p:spPr>
          <a:xfrm>
            <a:off x="274320" y="4489704"/>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489704"/>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38912" y="4599432"/>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4599432"/>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36" name="TextBox 35"/>
          <p:cNvSpPr txBox="1"/>
          <p:nvPr/>
        </p:nvSpPr>
        <p:spPr>
          <a:xfrm>
            <a:off x="1097280" y="4599432"/>
            <a:ext cx="1097280" cy="219456"/>
          </a:xfrm>
          <a:prstGeom prst="rect">
            <a:avLst/>
          </a:prstGeom>
          <a:noFill/>
        </p:spPr>
        <p:txBody>
          <a:bodyPr wrap="square">
            <a:spAutoFit/>
          </a:bodyPr>
          <a:lstStyle/>
          <a:p>
            <a:pPr algn="l">
              <a:defRPr sz="900" b="1" i="0">
                <a:solidFill>
                  <a:srgbClr val="6B5F83"/>
                </a:solidFill>
                <a:latin typeface="Segoe UI"/>
              </a:defRPr>
            </a:pPr>
            <a:r>
              <a:t>02/13/2026</a:t>
            </a:r>
          </a:p>
        </p:txBody>
      </p:sp>
      <p:sp>
        <p:nvSpPr>
          <p:cNvPr id="37" name="TextBox 36"/>
          <p:cNvSpPr txBox="1"/>
          <p:nvPr/>
        </p:nvSpPr>
        <p:spPr>
          <a:xfrm>
            <a:off x="438912" y="4855464"/>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8" name="TextBox 37"/>
          <p:cNvSpPr txBox="1"/>
          <p:nvPr/>
        </p:nvSpPr>
        <p:spPr>
          <a:xfrm>
            <a:off x="438912" y="5074920"/>
            <a:ext cx="11155680" cy="274320"/>
          </a:xfrm>
          <a:prstGeom prst="rect">
            <a:avLst/>
          </a:prstGeom>
          <a:noFill/>
        </p:spPr>
        <p:txBody>
          <a:bodyPr wrap="square">
            <a:spAutoFit/>
          </a:bodyPr>
          <a:lstStyle/>
          <a:p>
            <a:pPr algn="l">
              <a:defRPr sz="900" b="0" i="0">
                <a:solidFill>
                  <a:srgbClr val="2D233F"/>
                </a:solidFill>
                <a:latin typeface="Segoe UI"/>
              </a:defRPr>
            </a:pPr>
            <a:r>
              <a:t>currently licensed in 10 states</a:t>
            </a:r>
          </a:p>
        </p:txBody>
      </p:sp>
      <p:sp>
        <p:nvSpPr>
          <p:cNvPr id="39" name="Rectangle 38"/>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1" name="TextBox 40"/>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Unknown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(5/5) — 18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02/12/2026</a:t>
            </a:r>
          </a:p>
        </p:txBody>
      </p:sp>
      <p:sp>
        <p:nvSpPr>
          <p:cNvPr id="16" name="TextBox 15"/>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7" name="TextBox 16"/>
          <p:cNvSpPr txBox="1"/>
          <p:nvPr/>
        </p:nvSpPr>
        <p:spPr>
          <a:xfrm>
            <a:off x="438912" y="2002536"/>
            <a:ext cx="11155680" cy="274320"/>
          </a:xfrm>
          <a:prstGeom prst="rect">
            <a:avLst/>
          </a:prstGeom>
          <a:noFill/>
        </p:spPr>
        <p:txBody>
          <a:bodyPr wrap="square">
            <a:spAutoFit/>
          </a:bodyPr>
          <a:lstStyle/>
          <a:p>
            <a:pPr algn="l">
              <a:defRPr sz="900" b="0" i="0">
                <a:solidFill>
                  <a:srgbClr val="2D233F"/>
                </a:solidFill>
                <a:latin typeface="Segoe UI"/>
              </a:defRPr>
            </a:pPr>
            <a:r>
              <a:t>Spoke with Agency owner, they are super excited about the expanded coverage for DSG and the reopening of IL. Their current book of business is approaching 10 mil with 100% commercial trucking.</a:t>
            </a:r>
          </a:p>
        </p:txBody>
      </p:sp>
      <p:sp>
        <p:nvSpPr>
          <p:cNvPr id="18" name="Rounded Rectangle 17"/>
          <p:cNvSpPr/>
          <p:nvPr/>
        </p:nvSpPr>
        <p:spPr>
          <a:xfrm>
            <a:off x="274320" y="2441448"/>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441448"/>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8912" y="2551176"/>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2551176"/>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2" name="TextBox 21"/>
          <p:cNvSpPr txBox="1"/>
          <p:nvPr/>
        </p:nvSpPr>
        <p:spPr>
          <a:xfrm>
            <a:off x="1097280" y="2551176"/>
            <a:ext cx="1097280" cy="219456"/>
          </a:xfrm>
          <a:prstGeom prst="rect">
            <a:avLst/>
          </a:prstGeom>
          <a:noFill/>
        </p:spPr>
        <p:txBody>
          <a:bodyPr wrap="square">
            <a:spAutoFit/>
          </a:bodyPr>
          <a:lstStyle/>
          <a:p>
            <a:pPr algn="l">
              <a:defRPr sz="900" b="1" i="0">
                <a:solidFill>
                  <a:srgbClr val="6B5F83"/>
                </a:solidFill>
                <a:latin typeface="Segoe UI"/>
              </a:defRPr>
            </a:pPr>
            <a:r>
              <a:t>02/09/2026</a:t>
            </a:r>
          </a:p>
        </p:txBody>
      </p:sp>
      <p:sp>
        <p:nvSpPr>
          <p:cNvPr id="23" name="TextBox 22"/>
          <p:cNvSpPr txBox="1"/>
          <p:nvPr/>
        </p:nvSpPr>
        <p:spPr>
          <a:xfrm>
            <a:off x="438912" y="280720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4" name="TextBox 23"/>
          <p:cNvSpPr txBox="1"/>
          <p:nvPr/>
        </p:nvSpPr>
        <p:spPr>
          <a:xfrm>
            <a:off x="438912" y="3026664"/>
            <a:ext cx="11155680" cy="274320"/>
          </a:xfrm>
          <a:prstGeom prst="rect">
            <a:avLst/>
          </a:prstGeom>
          <a:noFill/>
        </p:spPr>
        <p:txBody>
          <a:bodyPr wrap="square">
            <a:spAutoFit/>
          </a:bodyPr>
          <a:lstStyle/>
          <a:p>
            <a:pPr algn="l">
              <a:defRPr sz="900" b="0" i="0">
                <a:solidFill>
                  <a:srgbClr val="2D233F"/>
                </a:solidFill>
                <a:latin typeface="Segoe UI"/>
              </a:defRPr>
            </a:pPr>
            <a:r>
              <a:t>Spoke with agency owner, Daniel, and he is excited to know that we have expanded DSG to other states. Their current book of business is approx $5 mil, with 99% focus on commercial trucking.</a:t>
            </a:r>
          </a:p>
        </p:txBody>
      </p:sp>
      <p:sp>
        <p:nvSpPr>
          <p:cNvPr id="25" name="Rectangle 24"/>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27" name="TextBox 26"/>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Westy McLaughlin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(1/6) — 22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113385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02/24/2026</a:t>
            </a:r>
          </a:p>
        </p:txBody>
      </p:sp>
      <p:sp>
        <p:nvSpPr>
          <p:cNvPr id="16" name="TextBox 15"/>
          <p:cNvSpPr txBox="1"/>
          <p:nvPr/>
        </p:nvSpPr>
        <p:spPr>
          <a:xfrm>
            <a:off x="2286000" y="1527048"/>
            <a:ext cx="4572000" cy="219456"/>
          </a:xfrm>
          <a:prstGeom prst="rect">
            <a:avLst/>
          </a:prstGeom>
          <a:noFill/>
        </p:spPr>
        <p:txBody>
          <a:bodyPr wrap="square">
            <a:spAutoFit/>
          </a:bodyPr>
          <a:lstStyle/>
          <a:p>
            <a:pPr algn="l">
              <a:defRPr sz="900" b="1" i="0">
                <a:solidFill>
                  <a:srgbClr val="5B21B6"/>
                </a:solidFill>
                <a:latin typeface="Segoe UI"/>
              </a:defRPr>
            </a:pPr>
            <a:r>
              <a:t>Call with William Jennings</a:t>
            </a:r>
          </a:p>
        </p:txBody>
      </p:sp>
      <p:sp>
        <p:nvSpPr>
          <p:cNvPr id="17" name="TextBox 16"/>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8" name="TextBox 17"/>
          <p:cNvSpPr txBox="1"/>
          <p:nvPr/>
        </p:nvSpPr>
        <p:spPr>
          <a:xfrm>
            <a:off x="438912" y="2002536"/>
            <a:ext cx="11155680" cy="493776"/>
          </a:xfrm>
          <a:prstGeom prst="rect">
            <a:avLst/>
          </a:prstGeom>
          <a:noFill/>
        </p:spPr>
        <p:txBody>
          <a:bodyPr wrap="square">
            <a:spAutoFit/>
          </a:bodyPr>
          <a:lstStyle/>
          <a:p>
            <a:pPr algn="l">
              <a:defRPr sz="900" b="0" i="0">
                <a:solidFill>
                  <a:srgbClr val="2D233F"/>
                </a:solidFill>
                <a:latin typeface="Segoe UI"/>
              </a:defRPr>
            </a:pPr>
            <a:r>
              <a:t>Westmoreland and sons. They are going to check every loss control box we have. Policy limits loss which is $1m. Have 25 power units. throw a dart but he needs to pick markets on this thing. doesn't know us and CW is new to him. has this thing with hartford but they have been on it for a long time. gets nervous because of the class of business. has a good uw over there and have treate...</a:t>
            </a:r>
          </a:p>
        </p:txBody>
      </p:sp>
      <p:sp>
        <p:nvSpPr>
          <p:cNvPr id="19" name="Rounded Rectangle 18"/>
          <p:cNvSpPr/>
          <p:nvPr/>
        </p:nvSpPr>
        <p:spPr>
          <a:xfrm>
            <a:off x="274320" y="2660904"/>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2660904"/>
            <a:ext cx="73152"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8912" y="2770632"/>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2770632"/>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23" name="TextBox 22"/>
          <p:cNvSpPr txBox="1"/>
          <p:nvPr/>
        </p:nvSpPr>
        <p:spPr>
          <a:xfrm>
            <a:off x="1097280" y="2770632"/>
            <a:ext cx="1097280" cy="219456"/>
          </a:xfrm>
          <a:prstGeom prst="rect">
            <a:avLst/>
          </a:prstGeom>
          <a:noFill/>
        </p:spPr>
        <p:txBody>
          <a:bodyPr wrap="square">
            <a:spAutoFit/>
          </a:bodyPr>
          <a:lstStyle/>
          <a:p>
            <a:pPr algn="l">
              <a:defRPr sz="900" b="1" i="0">
                <a:solidFill>
                  <a:srgbClr val="6B5F83"/>
                </a:solidFill>
                <a:latin typeface="Segoe UI"/>
              </a:defRPr>
            </a:pPr>
            <a:r>
              <a:t>02/19/2026</a:t>
            </a:r>
          </a:p>
        </p:txBody>
      </p:sp>
      <p:sp>
        <p:nvSpPr>
          <p:cNvPr id="24" name="TextBox 23"/>
          <p:cNvSpPr txBox="1"/>
          <p:nvPr/>
        </p:nvSpPr>
        <p:spPr>
          <a:xfrm>
            <a:off x="2286000" y="2770632"/>
            <a:ext cx="4572000" cy="219456"/>
          </a:xfrm>
          <a:prstGeom prst="rect">
            <a:avLst/>
          </a:prstGeom>
          <a:noFill/>
        </p:spPr>
        <p:txBody>
          <a:bodyPr wrap="square">
            <a:spAutoFit/>
          </a:bodyPr>
          <a:lstStyle/>
          <a:p>
            <a:pPr algn="l">
              <a:defRPr sz="900" b="1" i="0">
                <a:solidFill>
                  <a:srgbClr val="5B21B6"/>
                </a:solidFill>
                <a:latin typeface="Segoe UI"/>
              </a:defRPr>
            </a:pPr>
            <a:r>
              <a:t>Call with Anthony Borgomainerio</a:t>
            </a:r>
          </a:p>
        </p:txBody>
      </p:sp>
      <p:sp>
        <p:nvSpPr>
          <p:cNvPr id="25" name="TextBox 24"/>
          <p:cNvSpPr txBox="1"/>
          <p:nvPr/>
        </p:nvSpPr>
        <p:spPr>
          <a:xfrm>
            <a:off x="438912" y="3026664"/>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6" name="TextBox 25"/>
          <p:cNvSpPr txBox="1"/>
          <p:nvPr/>
        </p:nvSpPr>
        <p:spPr>
          <a:xfrm>
            <a:off x="438912" y="3246120"/>
            <a:ext cx="11155680" cy="274320"/>
          </a:xfrm>
          <a:prstGeom prst="rect">
            <a:avLst/>
          </a:prstGeom>
          <a:noFill/>
        </p:spPr>
        <p:txBody>
          <a:bodyPr wrap="square">
            <a:spAutoFit/>
          </a:bodyPr>
          <a:lstStyle/>
          <a:p>
            <a:pPr algn="l">
              <a:defRPr sz="900" b="0" i="0">
                <a:solidFill>
                  <a:srgbClr val="2D233F"/>
                </a:solidFill>
                <a:latin typeface="Segoe UI"/>
              </a:defRPr>
            </a:pPr>
            <a:r>
              <a:t>SENDING ONE OVER FROM WASHINGTON, GETTING DETAILS. OWNER OF OPPERATION HAS A SON THAT IS TURNING 21 AND WILL HAVE 2 YEARS CDL EXPERIENCE. GOING TO REVIEW.</a:t>
            </a:r>
          </a:p>
        </p:txBody>
      </p:sp>
      <p:sp>
        <p:nvSpPr>
          <p:cNvPr id="27" name="Rounded Rectangle 26"/>
          <p:cNvSpPr/>
          <p:nvPr/>
        </p:nvSpPr>
        <p:spPr>
          <a:xfrm>
            <a:off x="274320" y="3685032"/>
            <a:ext cx="11521440" cy="987552"/>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4320" y="3685032"/>
            <a:ext cx="73152" cy="9875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38912" y="3794760"/>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 y="3794760"/>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31" name="TextBox 30"/>
          <p:cNvSpPr txBox="1"/>
          <p:nvPr/>
        </p:nvSpPr>
        <p:spPr>
          <a:xfrm>
            <a:off x="1097280" y="3794760"/>
            <a:ext cx="1097280" cy="219456"/>
          </a:xfrm>
          <a:prstGeom prst="rect">
            <a:avLst/>
          </a:prstGeom>
          <a:noFill/>
        </p:spPr>
        <p:txBody>
          <a:bodyPr wrap="square">
            <a:spAutoFit/>
          </a:bodyPr>
          <a:lstStyle/>
          <a:p>
            <a:pPr algn="l">
              <a:defRPr sz="900" b="1" i="0">
                <a:solidFill>
                  <a:srgbClr val="6B5F83"/>
                </a:solidFill>
                <a:latin typeface="Segoe UI"/>
              </a:defRPr>
            </a:pPr>
            <a:r>
              <a:t>02/18/2026</a:t>
            </a:r>
          </a:p>
        </p:txBody>
      </p:sp>
      <p:sp>
        <p:nvSpPr>
          <p:cNvPr id="32" name="TextBox 31"/>
          <p:cNvSpPr txBox="1"/>
          <p:nvPr/>
        </p:nvSpPr>
        <p:spPr>
          <a:xfrm>
            <a:off x="2286000" y="3794760"/>
            <a:ext cx="4572000" cy="219456"/>
          </a:xfrm>
          <a:prstGeom prst="rect">
            <a:avLst/>
          </a:prstGeom>
          <a:noFill/>
        </p:spPr>
        <p:txBody>
          <a:bodyPr wrap="square">
            <a:spAutoFit/>
          </a:bodyPr>
          <a:lstStyle/>
          <a:p>
            <a:pPr algn="l">
              <a:defRPr sz="900" b="1" i="0">
                <a:solidFill>
                  <a:srgbClr val="5B21B6"/>
                </a:solidFill>
                <a:latin typeface="Segoe UI"/>
              </a:defRPr>
            </a:pPr>
            <a:r>
              <a:t>Call with Joe Cantalin</a:t>
            </a:r>
          </a:p>
        </p:txBody>
      </p:sp>
      <p:sp>
        <p:nvSpPr>
          <p:cNvPr id="33" name="TextBox 32"/>
          <p:cNvSpPr txBox="1"/>
          <p:nvPr/>
        </p:nvSpPr>
        <p:spPr>
          <a:xfrm>
            <a:off x="438912" y="4050792"/>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4" name="TextBox 33"/>
          <p:cNvSpPr txBox="1"/>
          <p:nvPr/>
        </p:nvSpPr>
        <p:spPr>
          <a:xfrm>
            <a:off x="438912" y="4270248"/>
            <a:ext cx="11155680" cy="347472"/>
          </a:xfrm>
          <a:prstGeom prst="rect">
            <a:avLst/>
          </a:prstGeom>
          <a:noFill/>
        </p:spPr>
        <p:txBody>
          <a:bodyPr wrap="square">
            <a:spAutoFit/>
          </a:bodyPr>
          <a:lstStyle/>
          <a:p>
            <a:pPr algn="l">
              <a:defRPr sz="900" b="0" i="0">
                <a:solidFill>
                  <a:srgbClr val="2D233F"/>
                </a:solidFill>
                <a:latin typeface="Segoe UI"/>
              </a:defRPr>
            </a:pPr>
            <a:r>
              <a:t>Geico can only go up to 9 power units for DSG. Joe writes DSG in the 15-25 power unit space. Only other market in Missouri is Acuity. They clean up with DSG in the state and we seem to be the only other market for 10-25 power units that can write it.</a:t>
            </a:r>
          </a:p>
        </p:txBody>
      </p:sp>
      <p:sp>
        <p:nvSpPr>
          <p:cNvPr id="35" name="Rounded Rectangle 34"/>
          <p:cNvSpPr/>
          <p:nvPr/>
        </p:nvSpPr>
        <p:spPr>
          <a:xfrm>
            <a:off x="274320" y="4782312"/>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74320" y="4782312"/>
            <a:ext cx="73152" cy="113385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38912" y="4892040"/>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8912" y="4892040"/>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39" name="TextBox 38"/>
          <p:cNvSpPr txBox="1"/>
          <p:nvPr/>
        </p:nvSpPr>
        <p:spPr>
          <a:xfrm>
            <a:off x="1097280" y="4892040"/>
            <a:ext cx="1097280" cy="219456"/>
          </a:xfrm>
          <a:prstGeom prst="rect">
            <a:avLst/>
          </a:prstGeom>
          <a:noFill/>
        </p:spPr>
        <p:txBody>
          <a:bodyPr wrap="square">
            <a:spAutoFit/>
          </a:bodyPr>
          <a:lstStyle/>
          <a:p>
            <a:pPr algn="l">
              <a:defRPr sz="900" b="1" i="0">
                <a:solidFill>
                  <a:srgbClr val="6B5F83"/>
                </a:solidFill>
                <a:latin typeface="Segoe UI"/>
              </a:defRPr>
            </a:pPr>
            <a:r>
              <a:t>02/18/2026</a:t>
            </a:r>
          </a:p>
        </p:txBody>
      </p:sp>
      <p:sp>
        <p:nvSpPr>
          <p:cNvPr id="40" name="TextBox 39"/>
          <p:cNvSpPr txBox="1"/>
          <p:nvPr/>
        </p:nvSpPr>
        <p:spPr>
          <a:xfrm>
            <a:off x="2286000" y="4892040"/>
            <a:ext cx="4572000" cy="219456"/>
          </a:xfrm>
          <a:prstGeom prst="rect">
            <a:avLst/>
          </a:prstGeom>
          <a:noFill/>
        </p:spPr>
        <p:txBody>
          <a:bodyPr wrap="square">
            <a:spAutoFit/>
          </a:bodyPr>
          <a:lstStyle/>
          <a:p>
            <a:pPr algn="l">
              <a:defRPr sz="900" b="1" i="0">
                <a:solidFill>
                  <a:srgbClr val="5B21B6"/>
                </a:solidFill>
                <a:latin typeface="Segoe UI"/>
              </a:defRPr>
            </a:pPr>
            <a:r>
              <a:t>Call with Joe Cantalin</a:t>
            </a:r>
          </a:p>
        </p:txBody>
      </p:sp>
      <p:sp>
        <p:nvSpPr>
          <p:cNvPr id="41" name="TextBox 40"/>
          <p:cNvSpPr txBox="1"/>
          <p:nvPr/>
        </p:nvSpPr>
        <p:spPr>
          <a:xfrm>
            <a:off x="438912" y="5148072"/>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42" name="TextBox 41"/>
          <p:cNvSpPr txBox="1"/>
          <p:nvPr/>
        </p:nvSpPr>
        <p:spPr>
          <a:xfrm>
            <a:off x="438912" y="5367528"/>
            <a:ext cx="11155680" cy="493776"/>
          </a:xfrm>
          <a:prstGeom prst="rect">
            <a:avLst/>
          </a:prstGeom>
          <a:noFill/>
        </p:spPr>
        <p:txBody>
          <a:bodyPr wrap="square">
            <a:spAutoFit/>
          </a:bodyPr>
          <a:lstStyle/>
          <a:p>
            <a:pPr algn="l">
              <a:defRPr sz="900" b="0" i="0">
                <a:solidFill>
                  <a:srgbClr val="2D233F"/>
                </a:solidFill>
                <a:latin typeface="Segoe UI"/>
              </a:defRPr>
            </a:pPr>
            <a:r>
              <a:t>Spoke with Joe he is out of St. Louis, MO (not assuredpartners FL as shown in hubspot). 19 power unit DSG account out of MO. Going to send it over to me and see if it's a fit. He doesn't have access to cover whale, thinking we can put him in under gallagher for quoting. he let me know all assuredpartners offices under gallgher have their own office contract nationwide. something assu...</a:t>
            </a:r>
          </a:p>
        </p:txBody>
      </p:sp>
      <p:sp>
        <p:nvSpPr>
          <p:cNvPr id="43" name="Rectangle 42"/>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5" name="TextBox 44"/>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Westy McLaughlin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(2/6) — 22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02/18/2026</a:t>
            </a:r>
          </a:p>
        </p:txBody>
      </p:sp>
      <p:sp>
        <p:nvSpPr>
          <p:cNvPr id="16" name="TextBox 15"/>
          <p:cNvSpPr txBox="1"/>
          <p:nvPr/>
        </p:nvSpPr>
        <p:spPr>
          <a:xfrm>
            <a:off x="2286000" y="1527048"/>
            <a:ext cx="4572000" cy="219456"/>
          </a:xfrm>
          <a:prstGeom prst="rect">
            <a:avLst/>
          </a:prstGeom>
          <a:noFill/>
        </p:spPr>
        <p:txBody>
          <a:bodyPr wrap="square">
            <a:spAutoFit/>
          </a:bodyPr>
          <a:lstStyle/>
          <a:p>
            <a:pPr algn="l">
              <a:defRPr sz="900" b="1" i="0">
                <a:solidFill>
                  <a:srgbClr val="5B21B6"/>
                </a:solidFill>
                <a:latin typeface="Segoe UI"/>
              </a:defRPr>
            </a:pPr>
            <a:r>
              <a:t>Call with Mitch Mclendon</a:t>
            </a:r>
          </a:p>
        </p:txBody>
      </p:sp>
      <p:sp>
        <p:nvSpPr>
          <p:cNvPr id="17" name="TextBox 16"/>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8" name="TextBox 17"/>
          <p:cNvSpPr txBox="1"/>
          <p:nvPr/>
        </p:nvSpPr>
        <p:spPr>
          <a:xfrm>
            <a:off x="438912" y="2002536"/>
            <a:ext cx="11155680" cy="274320"/>
          </a:xfrm>
          <a:prstGeom prst="rect">
            <a:avLst/>
          </a:prstGeom>
          <a:noFill/>
        </p:spPr>
        <p:txBody>
          <a:bodyPr wrap="square">
            <a:spAutoFit/>
          </a:bodyPr>
          <a:lstStyle/>
          <a:p>
            <a:pPr algn="l">
              <a:defRPr sz="900" b="0" i="0">
                <a:solidFill>
                  <a:srgbClr val="2D233F"/>
                </a:solidFill>
                <a:latin typeface="Segoe UI"/>
              </a:defRPr>
            </a:pPr>
            <a:r>
              <a:t>https://app.coverwhale.com/transportation/260638385201/0 - going to see if he can bind this quote out of GA two power units. Pricing is on the higher side but he doesn't think he has other options.</a:t>
            </a:r>
          </a:p>
        </p:txBody>
      </p:sp>
      <p:sp>
        <p:nvSpPr>
          <p:cNvPr id="19" name="Rounded Rectangle 18"/>
          <p:cNvSpPr/>
          <p:nvPr/>
        </p:nvSpPr>
        <p:spPr>
          <a:xfrm>
            <a:off x="274320" y="2441448"/>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2441448"/>
            <a:ext cx="73152" cy="113385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8912" y="2551176"/>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2551176"/>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23" name="TextBox 22"/>
          <p:cNvSpPr txBox="1"/>
          <p:nvPr/>
        </p:nvSpPr>
        <p:spPr>
          <a:xfrm>
            <a:off x="1097280" y="2551176"/>
            <a:ext cx="1097280" cy="219456"/>
          </a:xfrm>
          <a:prstGeom prst="rect">
            <a:avLst/>
          </a:prstGeom>
          <a:noFill/>
        </p:spPr>
        <p:txBody>
          <a:bodyPr wrap="square">
            <a:spAutoFit/>
          </a:bodyPr>
          <a:lstStyle/>
          <a:p>
            <a:pPr algn="l">
              <a:defRPr sz="900" b="1" i="0">
                <a:solidFill>
                  <a:srgbClr val="6B5F83"/>
                </a:solidFill>
                <a:latin typeface="Segoe UI"/>
              </a:defRPr>
            </a:pPr>
            <a:r>
              <a:t>02/11/2026</a:t>
            </a:r>
          </a:p>
        </p:txBody>
      </p:sp>
      <p:sp>
        <p:nvSpPr>
          <p:cNvPr id="24" name="TextBox 23"/>
          <p:cNvSpPr txBox="1"/>
          <p:nvPr/>
        </p:nvSpPr>
        <p:spPr>
          <a:xfrm>
            <a:off x="2286000" y="2551176"/>
            <a:ext cx="4572000" cy="219456"/>
          </a:xfrm>
          <a:prstGeom prst="rect">
            <a:avLst/>
          </a:prstGeom>
          <a:noFill/>
        </p:spPr>
        <p:txBody>
          <a:bodyPr wrap="square">
            <a:spAutoFit/>
          </a:bodyPr>
          <a:lstStyle/>
          <a:p>
            <a:pPr algn="l">
              <a:defRPr sz="900" b="1" i="0">
                <a:solidFill>
                  <a:srgbClr val="5B21B6"/>
                </a:solidFill>
                <a:latin typeface="Segoe UI"/>
              </a:defRPr>
            </a:pPr>
            <a:r>
              <a:t>Call with Mitch Mclendon</a:t>
            </a:r>
          </a:p>
        </p:txBody>
      </p:sp>
      <p:sp>
        <p:nvSpPr>
          <p:cNvPr id="25" name="TextBox 24"/>
          <p:cNvSpPr txBox="1"/>
          <p:nvPr/>
        </p:nvSpPr>
        <p:spPr>
          <a:xfrm>
            <a:off x="438912" y="280720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6" name="TextBox 25"/>
          <p:cNvSpPr txBox="1"/>
          <p:nvPr/>
        </p:nvSpPr>
        <p:spPr>
          <a:xfrm>
            <a:off x="438912" y="3026664"/>
            <a:ext cx="11155680" cy="493776"/>
          </a:xfrm>
          <a:prstGeom prst="rect">
            <a:avLst/>
          </a:prstGeom>
          <a:noFill/>
        </p:spPr>
        <p:txBody>
          <a:bodyPr wrap="square">
            <a:spAutoFit/>
          </a:bodyPr>
          <a:lstStyle/>
          <a:p>
            <a:pPr algn="l">
              <a:defRPr sz="900" b="0" i="0">
                <a:solidFill>
                  <a:srgbClr val="2D233F"/>
                </a:solidFill>
                <a:latin typeface="Segoe UI"/>
              </a:defRPr>
            </a:pPr>
            <a:r>
              <a:t>2 power units $33k per for AL. Asked cory if we can get pricing to $30k: " Oof. Not usually a ton of room there. I think you let it simmer for a bit and then tell him that's the best we can do for a two truck account but that you have more room on larger power unit sized accounts. Might still win it if we aren't up against another quote. He might just be trying to shave price to add ...</a:t>
            </a:r>
          </a:p>
        </p:txBody>
      </p:sp>
      <p:sp>
        <p:nvSpPr>
          <p:cNvPr id="27" name="Rounded Rectangle 26"/>
          <p:cNvSpPr/>
          <p:nvPr/>
        </p:nvSpPr>
        <p:spPr>
          <a:xfrm>
            <a:off x="274320" y="3685032"/>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4320" y="3685032"/>
            <a:ext cx="73152"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38912" y="3794760"/>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 y="3794760"/>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31" name="TextBox 30"/>
          <p:cNvSpPr txBox="1"/>
          <p:nvPr/>
        </p:nvSpPr>
        <p:spPr>
          <a:xfrm>
            <a:off x="1097280" y="3794760"/>
            <a:ext cx="1097280" cy="219456"/>
          </a:xfrm>
          <a:prstGeom prst="rect">
            <a:avLst/>
          </a:prstGeom>
          <a:noFill/>
        </p:spPr>
        <p:txBody>
          <a:bodyPr wrap="square">
            <a:spAutoFit/>
          </a:bodyPr>
          <a:lstStyle/>
          <a:p>
            <a:pPr algn="l">
              <a:defRPr sz="900" b="1" i="0">
                <a:solidFill>
                  <a:srgbClr val="6B5F83"/>
                </a:solidFill>
                <a:latin typeface="Segoe UI"/>
              </a:defRPr>
            </a:pPr>
            <a:r>
              <a:t>02/10/2026</a:t>
            </a:r>
          </a:p>
        </p:txBody>
      </p:sp>
      <p:sp>
        <p:nvSpPr>
          <p:cNvPr id="32" name="TextBox 31"/>
          <p:cNvSpPr txBox="1"/>
          <p:nvPr/>
        </p:nvSpPr>
        <p:spPr>
          <a:xfrm>
            <a:off x="2286000" y="3794760"/>
            <a:ext cx="4572000" cy="219456"/>
          </a:xfrm>
          <a:prstGeom prst="rect">
            <a:avLst/>
          </a:prstGeom>
          <a:noFill/>
        </p:spPr>
        <p:txBody>
          <a:bodyPr wrap="square">
            <a:spAutoFit/>
          </a:bodyPr>
          <a:lstStyle/>
          <a:p>
            <a:pPr algn="l">
              <a:defRPr sz="900" b="1" i="0">
                <a:solidFill>
                  <a:srgbClr val="5B21B6"/>
                </a:solidFill>
                <a:latin typeface="Segoe UI"/>
              </a:defRPr>
            </a:pPr>
            <a:r>
              <a:t>Call with Mitch Mclendon</a:t>
            </a:r>
          </a:p>
        </p:txBody>
      </p:sp>
      <p:sp>
        <p:nvSpPr>
          <p:cNvPr id="33" name="TextBox 32"/>
          <p:cNvSpPr txBox="1"/>
          <p:nvPr/>
        </p:nvSpPr>
        <p:spPr>
          <a:xfrm>
            <a:off x="438912" y="4050792"/>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4" name="TextBox 33"/>
          <p:cNvSpPr txBox="1"/>
          <p:nvPr/>
        </p:nvSpPr>
        <p:spPr>
          <a:xfrm>
            <a:off x="438912" y="4270248"/>
            <a:ext cx="11155680" cy="274320"/>
          </a:xfrm>
          <a:prstGeom prst="rect">
            <a:avLst/>
          </a:prstGeom>
          <a:noFill/>
        </p:spPr>
        <p:txBody>
          <a:bodyPr wrap="square">
            <a:spAutoFit/>
          </a:bodyPr>
          <a:lstStyle/>
          <a:p>
            <a:pPr algn="l">
              <a:defRPr sz="900" b="0" i="0">
                <a:solidFill>
                  <a:srgbClr val="2D233F"/>
                </a:solidFill>
                <a:latin typeface="Segoe UI"/>
              </a:defRPr>
            </a:pPr>
            <a:r>
              <a:t>asked if we are up against another quote so I have a better chance of running a 2 power unit account up the ladder and maybe can get credits applied.</a:t>
            </a:r>
          </a:p>
        </p:txBody>
      </p:sp>
      <p:sp>
        <p:nvSpPr>
          <p:cNvPr id="35" name="Rounded Rectangle 34"/>
          <p:cNvSpPr/>
          <p:nvPr/>
        </p:nvSpPr>
        <p:spPr>
          <a:xfrm>
            <a:off x="274320" y="4709160"/>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74320" y="4709160"/>
            <a:ext cx="73152" cy="113385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38912" y="4818888"/>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8912" y="4818888"/>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39" name="TextBox 38"/>
          <p:cNvSpPr txBox="1"/>
          <p:nvPr/>
        </p:nvSpPr>
        <p:spPr>
          <a:xfrm>
            <a:off x="1097280" y="4818888"/>
            <a:ext cx="1097280" cy="219456"/>
          </a:xfrm>
          <a:prstGeom prst="rect">
            <a:avLst/>
          </a:prstGeom>
          <a:noFill/>
        </p:spPr>
        <p:txBody>
          <a:bodyPr wrap="square">
            <a:spAutoFit/>
          </a:bodyPr>
          <a:lstStyle/>
          <a:p>
            <a:pPr algn="l">
              <a:defRPr sz="900" b="1" i="0">
                <a:solidFill>
                  <a:srgbClr val="6B5F83"/>
                </a:solidFill>
                <a:latin typeface="Segoe UI"/>
              </a:defRPr>
            </a:pPr>
            <a:r>
              <a:t>02/10/2026</a:t>
            </a:r>
          </a:p>
        </p:txBody>
      </p:sp>
      <p:sp>
        <p:nvSpPr>
          <p:cNvPr id="40" name="TextBox 39"/>
          <p:cNvSpPr txBox="1"/>
          <p:nvPr/>
        </p:nvSpPr>
        <p:spPr>
          <a:xfrm>
            <a:off x="2286000" y="4818888"/>
            <a:ext cx="4572000" cy="219456"/>
          </a:xfrm>
          <a:prstGeom prst="rect">
            <a:avLst/>
          </a:prstGeom>
          <a:noFill/>
        </p:spPr>
        <p:txBody>
          <a:bodyPr wrap="square">
            <a:spAutoFit/>
          </a:bodyPr>
          <a:lstStyle/>
          <a:p>
            <a:pPr algn="l">
              <a:defRPr sz="900" b="1" i="0">
                <a:solidFill>
                  <a:srgbClr val="5B21B6"/>
                </a:solidFill>
                <a:latin typeface="Segoe UI"/>
              </a:defRPr>
            </a:pPr>
            <a:r>
              <a:t>Call with Mitch Mclendon</a:t>
            </a:r>
          </a:p>
        </p:txBody>
      </p:sp>
      <p:sp>
        <p:nvSpPr>
          <p:cNvPr id="41" name="TextBox 40"/>
          <p:cNvSpPr txBox="1"/>
          <p:nvPr/>
        </p:nvSpPr>
        <p:spPr>
          <a:xfrm>
            <a:off x="438912" y="507492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42" name="TextBox 41"/>
          <p:cNvSpPr txBox="1"/>
          <p:nvPr/>
        </p:nvSpPr>
        <p:spPr>
          <a:xfrm>
            <a:off x="438912" y="5294376"/>
            <a:ext cx="11155680" cy="493776"/>
          </a:xfrm>
          <a:prstGeom prst="rect">
            <a:avLst/>
          </a:prstGeom>
          <a:noFill/>
        </p:spPr>
        <p:txBody>
          <a:bodyPr wrap="square">
            <a:spAutoFit/>
          </a:bodyPr>
          <a:lstStyle/>
          <a:p>
            <a:pPr algn="l">
              <a:defRPr sz="900" b="0" i="0">
                <a:solidFill>
                  <a:srgbClr val="2D233F"/>
                </a:solidFill>
                <a:latin typeface="Segoe UI"/>
              </a:defRPr>
            </a:pPr>
            <a:r>
              <a:t>PUT IN THE MVR VIOLATION AND WAITING ON MVRS TO CONFIRM THAT ITS A NEW VENTURE - EFFECTIVE DATE FOR COVERAGE ASAP. HE WILL PROBABLY BE USING DASH CAMERAS - NEEDS TO HOOK THEM UP. CONNECT THEM AFTER BIND COMING BACK AS NON-ADMITTED QUOTE IN GA WANTS TO GET PRICING LOWER - ANYTHING UNDER $30K HE THINK HE CAN SELL. SEEING $750K ON THE LIMIT - NEEDS $1M ON THE LIMIT HE IS GOING TO EDIT T...</a:t>
            </a:r>
          </a:p>
        </p:txBody>
      </p:sp>
      <p:sp>
        <p:nvSpPr>
          <p:cNvPr id="43" name="Rectangle 42"/>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5" name="TextBox 44"/>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Westy McLaughlin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(3/6) — 22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02/10/2026</a:t>
            </a:r>
          </a:p>
        </p:txBody>
      </p:sp>
      <p:sp>
        <p:nvSpPr>
          <p:cNvPr id="16" name="TextBox 15"/>
          <p:cNvSpPr txBox="1"/>
          <p:nvPr/>
        </p:nvSpPr>
        <p:spPr>
          <a:xfrm>
            <a:off x="2286000" y="1527048"/>
            <a:ext cx="4572000" cy="219456"/>
          </a:xfrm>
          <a:prstGeom prst="rect">
            <a:avLst/>
          </a:prstGeom>
          <a:noFill/>
        </p:spPr>
        <p:txBody>
          <a:bodyPr wrap="square">
            <a:spAutoFit/>
          </a:bodyPr>
          <a:lstStyle/>
          <a:p>
            <a:pPr algn="l">
              <a:defRPr sz="900" b="1" i="0">
                <a:solidFill>
                  <a:srgbClr val="5B21B6"/>
                </a:solidFill>
                <a:latin typeface="Segoe UI"/>
              </a:defRPr>
            </a:pPr>
            <a:r>
              <a:t>Call with Mitch Mclendon</a:t>
            </a:r>
          </a:p>
        </p:txBody>
      </p:sp>
      <p:sp>
        <p:nvSpPr>
          <p:cNvPr id="17" name="TextBox 16"/>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8" name="TextBox 17"/>
          <p:cNvSpPr txBox="1"/>
          <p:nvPr/>
        </p:nvSpPr>
        <p:spPr>
          <a:xfrm>
            <a:off x="438912" y="2002536"/>
            <a:ext cx="11155680" cy="274320"/>
          </a:xfrm>
          <a:prstGeom prst="rect">
            <a:avLst/>
          </a:prstGeom>
          <a:noFill/>
        </p:spPr>
        <p:txBody>
          <a:bodyPr wrap="square">
            <a:spAutoFit/>
          </a:bodyPr>
          <a:lstStyle/>
          <a:p>
            <a:pPr algn="l">
              <a:defRPr sz="900" b="0" i="0">
                <a:solidFill>
                  <a:srgbClr val="2D233F"/>
                </a:solidFill>
                <a:latin typeface="Segoe UI"/>
              </a:defRPr>
            </a:pPr>
            <a:r>
              <a:t>$31K PER TRUCK IN GA FOR TWO TRUCKS. SUBMISSION # 260638385201</a:t>
            </a:r>
          </a:p>
        </p:txBody>
      </p:sp>
      <p:sp>
        <p:nvSpPr>
          <p:cNvPr id="19" name="Rounded Rectangle 18"/>
          <p:cNvSpPr/>
          <p:nvPr/>
        </p:nvSpPr>
        <p:spPr>
          <a:xfrm>
            <a:off x="274320" y="2441448"/>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2441448"/>
            <a:ext cx="73152"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8912" y="2551176"/>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2551176"/>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23" name="TextBox 22"/>
          <p:cNvSpPr txBox="1"/>
          <p:nvPr/>
        </p:nvSpPr>
        <p:spPr>
          <a:xfrm>
            <a:off x="1097280" y="2551176"/>
            <a:ext cx="1097280" cy="219456"/>
          </a:xfrm>
          <a:prstGeom prst="rect">
            <a:avLst/>
          </a:prstGeom>
          <a:noFill/>
        </p:spPr>
        <p:txBody>
          <a:bodyPr wrap="square">
            <a:spAutoFit/>
          </a:bodyPr>
          <a:lstStyle/>
          <a:p>
            <a:pPr algn="l">
              <a:defRPr sz="900" b="1" i="0">
                <a:solidFill>
                  <a:srgbClr val="6B5F83"/>
                </a:solidFill>
                <a:latin typeface="Segoe UI"/>
              </a:defRPr>
            </a:pPr>
            <a:r>
              <a:t>02/09/2026</a:t>
            </a:r>
          </a:p>
        </p:txBody>
      </p:sp>
      <p:sp>
        <p:nvSpPr>
          <p:cNvPr id="24" name="TextBox 23"/>
          <p:cNvSpPr txBox="1"/>
          <p:nvPr/>
        </p:nvSpPr>
        <p:spPr>
          <a:xfrm>
            <a:off x="2286000" y="2551176"/>
            <a:ext cx="4572000" cy="219456"/>
          </a:xfrm>
          <a:prstGeom prst="rect">
            <a:avLst/>
          </a:prstGeom>
          <a:noFill/>
        </p:spPr>
        <p:txBody>
          <a:bodyPr wrap="square">
            <a:spAutoFit/>
          </a:bodyPr>
          <a:lstStyle/>
          <a:p>
            <a:pPr algn="l">
              <a:defRPr sz="900" b="1" i="0">
                <a:solidFill>
                  <a:srgbClr val="5B21B6"/>
                </a:solidFill>
                <a:latin typeface="Segoe UI"/>
              </a:defRPr>
            </a:pPr>
            <a:r>
              <a:t>Call with Anthony Borgomainerio</a:t>
            </a:r>
          </a:p>
        </p:txBody>
      </p:sp>
      <p:sp>
        <p:nvSpPr>
          <p:cNvPr id="25" name="TextBox 24"/>
          <p:cNvSpPr txBox="1"/>
          <p:nvPr/>
        </p:nvSpPr>
        <p:spPr>
          <a:xfrm>
            <a:off x="438912" y="280720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6" name="TextBox 25"/>
          <p:cNvSpPr txBox="1"/>
          <p:nvPr/>
        </p:nvSpPr>
        <p:spPr>
          <a:xfrm>
            <a:off x="438912" y="3026664"/>
            <a:ext cx="11155680" cy="274320"/>
          </a:xfrm>
          <a:prstGeom prst="rect">
            <a:avLst/>
          </a:prstGeom>
          <a:noFill/>
        </p:spPr>
        <p:txBody>
          <a:bodyPr wrap="square">
            <a:spAutoFit/>
          </a:bodyPr>
          <a:lstStyle/>
          <a:p>
            <a:pPr algn="l">
              <a:defRPr sz="900" b="0" i="0">
                <a:solidFill>
                  <a:srgbClr val="2D233F"/>
                </a:solidFill>
                <a:latin typeface="Segoe UI"/>
              </a:defRPr>
            </a:pPr>
            <a:r>
              <a:t>has an account in AZ he is looking to get quoted. Need to get Jerrod Perkins set up with a login.</a:t>
            </a:r>
          </a:p>
        </p:txBody>
      </p:sp>
      <p:sp>
        <p:nvSpPr>
          <p:cNvPr id="27" name="Rounded Rectangle 26"/>
          <p:cNvSpPr/>
          <p:nvPr/>
        </p:nvSpPr>
        <p:spPr>
          <a:xfrm>
            <a:off x="274320" y="3465576"/>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4320" y="3465576"/>
            <a:ext cx="73152"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38912" y="3575304"/>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 y="3575304"/>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31" name="TextBox 30"/>
          <p:cNvSpPr txBox="1"/>
          <p:nvPr/>
        </p:nvSpPr>
        <p:spPr>
          <a:xfrm>
            <a:off x="1097280" y="3575304"/>
            <a:ext cx="1097280" cy="219456"/>
          </a:xfrm>
          <a:prstGeom prst="rect">
            <a:avLst/>
          </a:prstGeom>
          <a:noFill/>
        </p:spPr>
        <p:txBody>
          <a:bodyPr wrap="square">
            <a:spAutoFit/>
          </a:bodyPr>
          <a:lstStyle/>
          <a:p>
            <a:pPr algn="l">
              <a:defRPr sz="900" b="1" i="0">
                <a:solidFill>
                  <a:srgbClr val="6B5F83"/>
                </a:solidFill>
                <a:latin typeface="Segoe UI"/>
              </a:defRPr>
            </a:pPr>
            <a:r>
              <a:t>02/06/2026</a:t>
            </a:r>
          </a:p>
        </p:txBody>
      </p:sp>
      <p:sp>
        <p:nvSpPr>
          <p:cNvPr id="32" name="TextBox 31"/>
          <p:cNvSpPr txBox="1"/>
          <p:nvPr/>
        </p:nvSpPr>
        <p:spPr>
          <a:xfrm>
            <a:off x="2286000" y="3575304"/>
            <a:ext cx="4572000" cy="219456"/>
          </a:xfrm>
          <a:prstGeom prst="rect">
            <a:avLst/>
          </a:prstGeom>
          <a:noFill/>
        </p:spPr>
        <p:txBody>
          <a:bodyPr wrap="square">
            <a:spAutoFit/>
          </a:bodyPr>
          <a:lstStyle/>
          <a:p>
            <a:pPr algn="l">
              <a:defRPr sz="900" b="1" i="0">
                <a:solidFill>
                  <a:srgbClr val="5B21B6"/>
                </a:solidFill>
                <a:latin typeface="Segoe UI"/>
              </a:defRPr>
            </a:pPr>
            <a:r>
              <a:t>Call with Mitch Mclendon</a:t>
            </a:r>
          </a:p>
        </p:txBody>
      </p:sp>
      <p:sp>
        <p:nvSpPr>
          <p:cNvPr id="33" name="TextBox 32"/>
          <p:cNvSpPr txBox="1"/>
          <p:nvPr/>
        </p:nvSpPr>
        <p:spPr>
          <a:xfrm>
            <a:off x="438912" y="3831336"/>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4" name="TextBox 33"/>
          <p:cNvSpPr txBox="1"/>
          <p:nvPr/>
        </p:nvSpPr>
        <p:spPr>
          <a:xfrm>
            <a:off x="438912" y="4050792"/>
            <a:ext cx="11155680" cy="274320"/>
          </a:xfrm>
          <a:prstGeom prst="rect">
            <a:avLst/>
          </a:prstGeom>
          <a:noFill/>
        </p:spPr>
        <p:txBody>
          <a:bodyPr wrap="square">
            <a:spAutoFit/>
          </a:bodyPr>
          <a:lstStyle/>
          <a:p>
            <a:pPr algn="l">
              <a:defRPr sz="900" b="0" i="0">
                <a:solidFill>
                  <a:srgbClr val="2D233F"/>
                </a:solidFill>
                <a:latin typeface="Segoe UI"/>
              </a:defRPr>
            </a:pPr>
            <a:r>
              <a:t>HAS AN ACCOUNT IN TN 18 UNITS BUT MIGHT NOT BE WILLING TO USE DASHCAM/ELD NEED SOME INFO ON HOW THE ELD PLUG IN WORKS AND REPORTS TO US</a:t>
            </a:r>
          </a:p>
        </p:txBody>
      </p:sp>
      <p:sp>
        <p:nvSpPr>
          <p:cNvPr id="35" name="Rounded Rectangle 34"/>
          <p:cNvSpPr/>
          <p:nvPr/>
        </p:nvSpPr>
        <p:spPr>
          <a:xfrm>
            <a:off x="274320" y="4489704"/>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74320" y="4489704"/>
            <a:ext cx="73152"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38912" y="4599432"/>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8912" y="4599432"/>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39" name="TextBox 38"/>
          <p:cNvSpPr txBox="1"/>
          <p:nvPr/>
        </p:nvSpPr>
        <p:spPr>
          <a:xfrm>
            <a:off x="1097280" y="4599432"/>
            <a:ext cx="1097280" cy="219456"/>
          </a:xfrm>
          <a:prstGeom prst="rect">
            <a:avLst/>
          </a:prstGeom>
          <a:noFill/>
        </p:spPr>
        <p:txBody>
          <a:bodyPr wrap="square">
            <a:spAutoFit/>
          </a:bodyPr>
          <a:lstStyle/>
          <a:p>
            <a:pPr algn="l">
              <a:defRPr sz="900" b="1" i="0">
                <a:solidFill>
                  <a:srgbClr val="6B5F83"/>
                </a:solidFill>
                <a:latin typeface="Segoe UI"/>
              </a:defRPr>
            </a:pPr>
            <a:r>
              <a:t>02/06/2026</a:t>
            </a:r>
          </a:p>
        </p:txBody>
      </p:sp>
      <p:sp>
        <p:nvSpPr>
          <p:cNvPr id="40" name="TextBox 39"/>
          <p:cNvSpPr txBox="1"/>
          <p:nvPr/>
        </p:nvSpPr>
        <p:spPr>
          <a:xfrm>
            <a:off x="2286000" y="4599432"/>
            <a:ext cx="4572000" cy="219456"/>
          </a:xfrm>
          <a:prstGeom prst="rect">
            <a:avLst/>
          </a:prstGeom>
          <a:noFill/>
        </p:spPr>
        <p:txBody>
          <a:bodyPr wrap="square">
            <a:spAutoFit/>
          </a:bodyPr>
          <a:lstStyle/>
          <a:p>
            <a:pPr algn="l">
              <a:defRPr sz="900" b="1" i="0">
                <a:solidFill>
                  <a:srgbClr val="5B21B6"/>
                </a:solidFill>
                <a:latin typeface="Segoe UI"/>
              </a:defRPr>
            </a:pPr>
            <a:r>
              <a:t>Call with Jennifer Thompson</a:t>
            </a:r>
          </a:p>
        </p:txBody>
      </p:sp>
      <p:sp>
        <p:nvSpPr>
          <p:cNvPr id="41" name="TextBox 40"/>
          <p:cNvSpPr txBox="1"/>
          <p:nvPr/>
        </p:nvSpPr>
        <p:spPr>
          <a:xfrm>
            <a:off x="438912" y="4855464"/>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42" name="TextBox 41"/>
          <p:cNvSpPr txBox="1"/>
          <p:nvPr/>
        </p:nvSpPr>
        <p:spPr>
          <a:xfrm>
            <a:off x="438912" y="5074920"/>
            <a:ext cx="11155680" cy="274320"/>
          </a:xfrm>
          <a:prstGeom prst="rect">
            <a:avLst/>
          </a:prstGeom>
          <a:noFill/>
        </p:spPr>
        <p:txBody>
          <a:bodyPr wrap="square">
            <a:spAutoFit/>
          </a:bodyPr>
          <a:lstStyle/>
          <a:p>
            <a:pPr algn="l">
              <a:defRPr sz="900" b="0" i="0">
                <a:solidFill>
                  <a:srgbClr val="2D233F"/>
                </a:solidFill>
                <a:latin typeface="Segoe UI"/>
              </a:defRPr>
            </a:pPr>
          </a:p>
        </p:txBody>
      </p:sp>
      <p:sp>
        <p:nvSpPr>
          <p:cNvPr id="43" name="Rectangle 42"/>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5" name="TextBox 44"/>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Westy McLaughlin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(4/6) — 22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02/06/2026</a:t>
            </a:r>
          </a:p>
        </p:txBody>
      </p:sp>
      <p:sp>
        <p:nvSpPr>
          <p:cNvPr id="16" name="TextBox 15"/>
          <p:cNvSpPr txBox="1"/>
          <p:nvPr/>
        </p:nvSpPr>
        <p:spPr>
          <a:xfrm>
            <a:off x="2286000" y="1527048"/>
            <a:ext cx="4572000" cy="219456"/>
          </a:xfrm>
          <a:prstGeom prst="rect">
            <a:avLst/>
          </a:prstGeom>
          <a:noFill/>
        </p:spPr>
        <p:txBody>
          <a:bodyPr wrap="square">
            <a:spAutoFit/>
          </a:bodyPr>
          <a:lstStyle/>
          <a:p>
            <a:pPr algn="l">
              <a:defRPr sz="900" b="1" i="0">
                <a:solidFill>
                  <a:srgbClr val="5B21B6"/>
                </a:solidFill>
                <a:latin typeface="Segoe UI"/>
              </a:defRPr>
            </a:pPr>
            <a:r>
              <a:t>Call with Mitch McLendon</a:t>
            </a:r>
          </a:p>
        </p:txBody>
      </p:sp>
      <p:sp>
        <p:nvSpPr>
          <p:cNvPr id="17" name="TextBox 16"/>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8" name="TextBox 17"/>
          <p:cNvSpPr txBox="1"/>
          <p:nvPr/>
        </p:nvSpPr>
        <p:spPr>
          <a:xfrm>
            <a:off x="438912" y="2002536"/>
            <a:ext cx="11155680" cy="274320"/>
          </a:xfrm>
          <a:prstGeom prst="rect">
            <a:avLst/>
          </a:prstGeom>
          <a:noFill/>
        </p:spPr>
        <p:txBody>
          <a:bodyPr wrap="square">
            <a:spAutoFit/>
          </a:bodyPr>
          <a:lstStyle/>
          <a:p>
            <a:pPr algn="l">
              <a:defRPr sz="900" b="0" i="0">
                <a:solidFill>
                  <a:srgbClr val="2D233F"/>
                </a:solidFill>
                <a:latin typeface="Segoe UI"/>
              </a:defRPr>
            </a:pPr>
            <a:r>
              <a:t>new venture 2 unit account due asap marsh georgia team runs the show with DSG in west georgia getting mitch set up with a login</a:t>
            </a:r>
          </a:p>
        </p:txBody>
      </p:sp>
      <p:sp>
        <p:nvSpPr>
          <p:cNvPr id="19" name="Rounded Rectangle 18"/>
          <p:cNvSpPr/>
          <p:nvPr/>
        </p:nvSpPr>
        <p:spPr>
          <a:xfrm>
            <a:off x="274320" y="2441448"/>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2441448"/>
            <a:ext cx="73152"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8912" y="2551176"/>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2551176"/>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23" name="TextBox 22"/>
          <p:cNvSpPr txBox="1"/>
          <p:nvPr/>
        </p:nvSpPr>
        <p:spPr>
          <a:xfrm>
            <a:off x="1097280" y="2551176"/>
            <a:ext cx="1097280" cy="219456"/>
          </a:xfrm>
          <a:prstGeom prst="rect">
            <a:avLst/>
          </a:prstGeom>
          <a:noFill/>
        </p:spPr>
        <p:txBody>
          <a:bodyPr wrap="square">
            <a:spAutoFit/>
          </a:bodyPr>
          <a:lstStyle/>
          <a:p>
            <a:pPr algn="l">
              <a:defRPr sz="900" b="1" i="0">
                <a:solidFill>
                  <a:srgbClr val="6B5F83"/>
                </a:solidFill>
                <a:latin typeface="Segoe UI"/>
              </a:defRPr>
            </a:pPr>
            <a:r>
              <a:t>02/05/2026</a:t>
            </a:r>
          </a:p>
        </p:txBody>
      </p:sp>
      <p:sp>
        <p:nvSpPr>
          <p:cNvPr id="24" name="TextBox 23"/>
          <p:cNvSpPr txBox="1"/>
          <p:nvPr/>
        </p:nvSpPr>
        <p:spPr>
          <a:xfrm>
            <a:off x="2286000" y="2551176"/>
            <a:ext cx="4572000" cy="219456"/>
          </a:xfrm>
          <a:prstGeom prst="rect">
            <a:avLst/>
          </a:prstGeom>
          <a:noFill/>
        </p:spPr>
        <p:txBody>
          <a:bodyPr wrap="square">
            <a:spAutoFit/>
          </a:bodyPr>
          <a:lstStyle/>
          <a:p>
            <a:pPr algn="l">
              <a:defRPr sz="900" b="1" i="0">
                <a:solidFill>
                  <a:srgbClr val="5B21B6"/>
                </a:solidFill>
                <a:latin typeface="Segoe UI"/>
              </a:defRPr>
            </a:pPr>
            <a:r>
              <a:t>Call with Rhonda Wood</a:t>
            </a:r>
          </a:p>
        </p:txBody>
      </p:sp>
      <p:sp>
        <p:nvSpPr>
          <p:cNvPr id="25" name="TextBox 24"/>
          <p:cNvSpPr txBox="1"/>
          <p:nvPr/>
        </p:nvSpPr>
        <p:spPr>
          <a:xfrm>
            <a:off x="438912" y="280720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6" name="TextBox 25"/>
          <p:cNvSpPr txBox="1"/>
          <p:nvPr/>
        </p:nvSpPr>
        <p:spPr>
          <a:xfrm>
            <a:off x="438912" y="3026664"/>
            <a:ext cx="11155680" cy="274320"/>
          </a:xfrm>
          <a:prstGeom prst="rect">
            <a:avLst/>
          </a:prstGeom>
          <a:noFill/>
        </p:spPr>
        <p:txBody>
          <a:bodyPr wrap="square">
            <a:spAutoFit/>
          </a:bodyPr>
          <a:lstStyle/>
          <a:p>
            <a:pPr algn="l">
              <a:defRPr sz="900" b="0" i="0">
                <a:solidFill>
                  <a:srgbClr val="2D233F"/>
                </a:solidFill>
                <a:latin typeface="Segoe UI"/>
              </a:defRPr>
            </a:pPr>
          </a:p>
        </p:txBody>
      </p:sp>
      <p:sp>
        <p:nvSpPr>
          <p:cNvPr id="27" name="Rounded Rectangle 26"/>
          <p:cNvSpPr/>
          <p:nvPr/>
        </p:nvSpPr>
        <p:spPr>
          <a:xfrm>
            <a:off x="274320" y="3465576"/>
            <a:ext cx="11521440" cy="987552"/>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4320" y="3465576"/>
            <a:ext cx="73152" cy="9875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38912" y="3575304"/>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 y="3575304"/>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31" name="TextBox 30"/>
          <p:cNvSpPr txBox="1"/>
          <p:nvPr/>
        </p:nvSpPr>
        <p:spPr>
          <a:xfrm>
            <a:off x="1097280" y="3575304"/>
            <a:ext cx="1097280" cy="219456"/>
          </a:xfrm>
          <a:prstGeom prst="rect">
            <a:avLst/>
          </a:prstGeom>
          <a:noFill/>
        </p:spPr>
        <p:txBody>
          <a:bodyPr wrap="square">
            <a:spAutoFit/>
          </a:bodyPr>
          <a:lstStyle/>
          <a:p>
            <a:pPr algn="l">
              <a:defRPr sz="900" b="1" i="0">
                <a:solidFill>
                  <a:srgbClr val="6B5F83"/>
                </a:solidFill>
                <a:latin typeface="Segoe UI"/>
              </a:defRPr>
            </a:pPr>
            <a:r>
              <a:t>02/05/2026</a:t>
            </a:r>
          </a:p>
        </p:txBody>
      </p:sp>
      <p:sp>
        <p:nvSpPr>
          <p:cNvPr id="32" name="TextBox 31"/>
          <p:cNvSpPr txBox="1"/>
          <p:nvPr/>
        </p:nvSpPr>
        <p:spPr>
          <a:xfrm>
            <a:off x="2286000" y="3575304"/>
            <a:ext cx="4572000" cy="219456"/>
          </a:xfrm>
          <a:prstGeom prst="rect">
            <a:avLst/>
          </a:prstGeom>
          <a:noFill/>
        </p:spPr>
        <p:txBody>
          <a:bodyPr wrap="square">
            <a:spAutoFit/>
          </a:bodyPr>
          <a:lstStyle/>
          <a:p>
            <a:pPr algn="l">
              <a:defRPr sz="900" b="1" i="0">
                <a:solidFill>
                  <a:srgbClr val="5B21B6"/>
                </a:solidFill>
                <a:latin typeface="Segoe UI"/>
              </a:defRPr>
            </a:pPr>
            <a:r>
              <a:t>Call with William Jennings</a:t>
            </a:r>
          </a:p>
        </p:txBody>
      </p:sp>
      <p:sp>
        <p:nvSpPr>
          <p:cNvPr id="33" name="TextBox 32"/>
          <p:cNvSpPr txBox="1"/>
          <p:nvPr/>
        </p:nvSpPr>
        <p:spPr>
          <a:xfrm>
            <a:off x="438912" y="3831336"/>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4" name="TextBox 33"/>
          <p:cNvSpPr txBox="1"/>
          <p:nvPr/>
        </p:nvSpPr>
        <p:spPr>
          <a:xfrm>
            <a:off x="438912" y="4050792"/>
            <a:ext cx="11155680" cy="347472"/>
          </a:xfrm>
          <a:prstGeom prst="rect">
            <a:avLst/>
          </a:prstGeom>
          <a:noFill/>
        </p:spPr>
        <p:txBody>
          <a:bodyPr wrap="square">
            <a:spAutoFit/>
          </a:bodyPr>
          <a:lstStyle/>
          <a:p>
            <a:pPr algn="l">
              <a:defRPr sz="900" b="0" i="0">
                <a:solidFill>
                  <a:srgbClr val="2D233F"/>
                </a:solidFill>
                <a:latin typeface="Segoe UI"/>
              </a:defRPr>
            </a:pPr>
            <a:r>
              <a:t>WRITE DSG AND ALL TYPES OF TRANSPORTATION 20 UNIT IN GA DSG - SENDING IT OVER TO ME 4/1 AM'S WOULD ENTER THE DETAILS INTO THE APP 8648217 - HIS NPN MMA SOUTHEAST - CARROLLTON, GA NOT A FAN OF 800 PHONE NUMBERS. GAVE HIM MY CELL @Cory Arnette</a:t>
            </a:r>
          </a:p>
        </p:txBody>
      </p:sp>
      <p:sp>
        <p:nvSpPr>
          <p:cNvPr id="35" name="Rounded Rectangle 34"/>
          <p:cNvSpPr/>
          <p:nvPr/>
        </p:nvSpPr>
        <p:spPr>
          <a:xfrm>
            <a:off x="274320" y="4562856"/>
            <a:ext cx="11521440" cy="914400"/>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74320" y="4562856"/>
            <a:ext cx="73152"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38912" y="4672584"/>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8912" y="4672584"/>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39" name="TextBox 38"/>
          <p:cNvSpPr txBox="1"/>
          <p:nvPr/>
        </p:nvSpPr>
        <p:spPr>
          <a:xfrm>
            <a:off x="1097280" y="4672584"/>
            <a:ext cx="1097280" cy="219456"/>
          </a:xfrm>
          <a:prstGeom prst="rect">
            <a:avLst/>
          </a:prstGeom>
          <a:noFill/>
        </p:spPr>
        <p:txBody>
          <a:bodyPr wrap="square">
            <a:spAutoFit/>
          </a:bodyPr>
          <a:lstStyle/>
          <a:p>
            <a:pPr algn="l">
              <a:defRPr sz="900" b="1" i="0">
                <a:solidFill>
                  <a:srgbClr val="6B5F83"/>
                </a:solidFill>
                <a:latin typeface="Segoe UI"/>
              </a:defRPr>
            </a:pPr>
            <a:r>
              <a:t>02/05/2026</a:t>
            </a:r>
          </a:p>
        </p:txBody>
      </p:sp>
      <p:sp>
        <p:nvSpPr>
          <p:cNvPr id="40" name="TextBox 39"/>
          <p:cNvSpPr txBox="1"/>
          <p:nvPr/>
        </p:nvSpPr>
        <p:spPr>
          <a:xfrm>
            <a:off x="438912" y="4928616"/>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41" name="TextBox 40"/>
          <p:cNvSpPr txBox="1"/>
          <p:nvPr/>
        </p:nvSpPr>
        <p:spPr>
          <a:xfrm>
            <a:off x="438912" y="5148072"/>
            <a:ext cx="11155680" cy="274320"/>
          </a:xfrm>
          <a:prstGeom prst="rect">
            <a:avLst/>
          </a:prstGeom>
          <a:noFill/>
        </p:spPr>
        <p:txBody>
          <a:bodyPr wrap="square">
            <a:spAutoFit/>
          </a:bodyPr>
          <a:lstStyle/>
          <a:p>
            <a:pPr algn="l">
              <a:defRPr sz="900" b="0" i="0">
                <a:solidFill>
                  <a:srgbClr val="2D233F"/>
                </a:solidFill>
                <a:latin typeface="Segoe UI"/>
              </a:defRPr>
            </a:pPr>
            <a:r>
              <a:t>marsh Georgia</a:t>
            </a:r>
          </a:p>
        </p:txBody>
      </p:sp>
      <p:sp>
        <p:nvSpPr>
          <p:cNvPr id="42" name="Rectangle 41"/>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4" name="TextBox 43"/>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Westy McLaughlin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(5/6) — 22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11338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07/15/2025</a:t>
            </a:r>
          </a:p>
        </p:txBody>
      </p:sp>
      <p:sp>
        <p:nvSpPr>
          <p:cNvPr id="16" name="TextBox 15"/>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7" name="TextBox 16"/>
          <p:cNvSpPr txBox="1"/>
          <p:nvPr/>
        </p:nvSpPr>
        <p:spPr>
          <a:xfrm>
            <a:off x="438912" y="2002536"/>
            <a:ext cx="11155680" cy="493776"/>
          </a:xfrm>
          <a:prstGeom prst="rect">
            <a:avLst/>
          </a:prstGeom>
          <a:noFill/>
        </p:spPr>
        <p:txBody>
          <a:bodyPr wrap="square">
            <a:spAutoFit/>
          </a:bodyPr>
          <a:lstStyle/>
          <a:p>
            <a:pPr algn="l">
              <a:defRPr sz="900" b="0" i="0">
                <a:solidFill>
                  <a:srgbClr val="2D233F"/>
                </a:solidFill>
                <a:latin typeface="Segoe UI"/>
              </a:defRPr>
            </a:pPr>
            <a:r>
              <a:t>Disco notes: Agency Background : Started in trucking in 2015 through the Truckers Association (now called Rock Lake). Contact began as a UW assistant and is familiar with back-end operations. Licensed as an agent with Allstate prior to launching independently in 2020 (post-COVID layoff). Current Status : Operating solo – she is the only producer. Currently focused on commercial trucking , plann...</a:t>
            </a:r>
          </a:p>
        </p:txBody>
      </p:sp>
      <p:sp>
        <p:nvSpPr>
          <p:cNvPr id="18" name="Rounded Rectangle 17"/>
          <p:cNvSpPr/>
          <p:nvPr/>
        </p:nvSpPr>
        <p:spPr>
          <a:xfrm>
            <a:off x="274320" y="2660904"/>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660904"/>
            <a:ext cx="73152" cy="113385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8912" y="2770632"/>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2770632"/>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22" name="TextBox 21"/>
          <p:cNvSpPr txBox="1"/>
          <p:nvPr/>
        </p:nvSpPr>
        <p:spPr>
          <a:xfrm>
            <a:off x="1097280" y="2770632"/>
            <a:ext cx="1097280" cy="219456"/>
          </a:xfrm>
          <a:prstGeom prst="rect">
            <a:avLst/>
          </a:prstGeom>
          <a:noFill/>
        </p:spPr>
        <p:txBody>
          <a:bodyPr wrap="square">
            <a:spAutoFit/>
          </a:bodyPr>
          <a:lstStyle/>
          <a:p>
            <a:pPr algn="l">
              <a:defRPr sz="900" b="1" i="0">
                <a:solidFill>
                  <a:srgbClr val="6B5F83"/>
                </a:solidFill>
                <a:latin typeface="Segoe UI"/>
              </a:defRPr>
            </a:pPr>
            <a:r>
              <a:t>12/03/2024</a:t>
            </a:r>
          </a:p>
        </p:txBody>
      </p:sp>
      <p:sp>
        <p:nvSpPr>
          <p:cNvPr id="23" name="TextBox 22"/>
          <p:cNvSpPr txBox="1"/>
          <p:nvPr/>
        </p:nvSpPr>
        <p:spPr>
          <a:xfrm>
            <a:off x="2286000" y="2770632"/>
            <a:ext cx="4572000" cy="219456"/>
          </a:xfrm>
          <a:prstGeom prst="rect">
            <a:avLst/>
          </a:prstGeom>
          <a:noFill/>
        </p:spPr>
        <p:txBody>
          <a:bodyPr wrap="square">
            <a:spAutoFit/>
          </a:bodyPr>
          <a:lstStyle/>
          <a:p>
            <a:pPr algn="l">
              <a:defRPr sz="900" b="1" i="0">
                <a:solidFill>
                  <a:srgbClr val="5B21B6"/>
                </a:solidFill>
                <a:latin typeface="Segoe UI"/>
              </a:defRPr>
            </a:pPr>
            <a:r>
              <a:t>Call with +18032331259 Aircall new contact</a:t>
            </a:r>
          </a:p>
        </p:txBody>
      </p:sp>
      <p:sp>
        <p:nvSpPr>
          <p:cNvPr id="24" name="TextBox 23"/>
          <p:cNvSpPr txBox="1"/>
          <p:nvPr/>
        </p:nvSpPr>
        <p:spPr>
          <a:xfrm>
            <a:off x="438912" y="3026664"/>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5" name="TextBox 24"/>
          <p:cNvSpPr txBox="1"/>
          <p:nvPr/>
        </p:nvSpPr>
        <p:spPr>
          <a:xfrm>
            <a:off x="438912" y="3246120"/>
            <a:ext cx="11155680" cy="493776"/>
          </a:xfrm>
          <a:prstGeom prst="rect">
            <a:avLst/>
          </a:prstGeom>
          <a:noFill/>
        </p:spPr>
        <p:txBody>
          <a:bodyPr wrap="square">
            <a:spAutoFit/>
          </a:bodyPr>
          <a:lstStyle/>
          <a:p>
            <a:pPr algn="l">
              <a:defRPr sz="900" b="0" i="0">
                <a:solidFill>
                  <a:srgbClr val="2D233F"/>
                </a:solidFill>
                <a:latin typeface="Segoe UI"/>
              </a:defRPr>
            </a:pPr>
            <a:r>
              <a:t>Outbound answered call via Westy McLaughlin made by Westy McLaughlin - Call back +18032331259 </a:t>
            </a:r>
            <a:br/>
            <a:r>
              <a:t> Tags: Growth - Policyholder Renewal Call </a:t>
            </a:r>
            <a:br/>
            <a:r>
              <a:t> (Recording) </a:t>
            </a:r>
            <a:br/>
            <a:r>
              <a:t> Westy McLaughlin added a new comment:</a:t>
            </a:r>
            <a:br/>
            <a:r>
              <a:t> use us all the time. he has used us before with another agency. pet peeve was the customer service historically. turn around time for endorsements takes too long. quoting is simple. they want to write w us...</a:t>
            </a:r>
          </a:p>
        </p:txBody>
      </p:sp>
      <p:sp>
        <p:nvSpPr>
          <p:cNvPr id="26" name="Rounded Rectangle 25"/>
          <p:cNvSpPr/>
          <p:nvPr/>
        </p:nvSpPr>
        <p:spPr>
          <a:xfrm>
            <a:off x="274320" y="3904488"/>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3904488"/>
            <a:ext cx="73152" cy="113385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38912" y="4014216"/>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 y="4014216"/>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30" name="TextBox 29"/>
          <p:cNvSpPr txBox="1"/>
          <p:nvPr/>
        </p:nvSpPr>
        <p:spPr>
          <a:xfrm>
            <a:off x="1097280" y="4014216"/>
            <a:ext cx="1097280" cy="219456"/>
          </a:xfrm>
          <a:prstGeom prst="rect">
            <a:avLst/>
          </a:prstGeom>
          <a:noFill/>
        </p:spPr>
        <p:txBody>
          <a:bodyPr wrap="square">
            <a:spAutoFit/>
          </a:bodyPr>
          <a:lstStyle/>
          <a:p>
            <a:pPr algn="l">
              <a:defRPr sz="900" b="1" i="0">
                <a:solidFill>
                  <a:srgbClr val="6B5F83"/>
                </a:solidFill>
                <a:latin typeface="Segoe UI"/>
              </a:defRPr>
            </a:pPr>
            <a:r>
              <a:t>11/22/2024</a:t>
            </a:r>
          </a:p>
        </p:txBody>
      </p:sp>
      <p:sp>
        <p:nvSpPr>
          <p:cNvPr id="31" name="TextBox 30"/>
          <p:cNvSpPr txBox="1"/>
          <p:nvPr/>
        </p:nvSpPr>
        <p:spPr>
          <a:xfrm>
            <a:off x="2286000" y="4014216"/>
            <a:ext cx="4572000" cy="219456"/>
          </a:xfrm>
          <a:prstGeom prst="rect">
            <a:avLst/>
          </a:prstGeom>
          <a:noFill/>
        </p:spPr>
        <p:txBody>
          <a:bodyPr wrap="square">
            <a:spAutoFit/>
          </a:bodyPr>
          <a:lstStyle/>
          <a:p>
            <a:pPr algn="l">
              <a:defRPr sz="900" b="1" i="0">
                <a:solidFill>
                  <a:srgbClr val="5B21B6"/>
                </a:solidFill>
                <a:latin typeface="Segoe UI"/>
              </a:defRPr>
            </a:pPr>
            <a:r>
              <a:t>Call with Jaime Louisdhon</a:t>
            </a:r>
          </a:p>
        </p:txBody>
      </p:sp>
      <p:sp>
        <p:nvSpPr>
          <p:cNvPr id="32" name="TextBox 31"/>
          <p:cNvSpPr txBox="1"/>
          <p:nvPr/>
        </p:nvSpPr>
        <p:spPr>
          <a:xfrm>
            <a:off x="438912" y="4270248"/>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33" name="TextBox 32"/>
          <p:cNvSpPr txBox="1"/>
          <p:nvPr/>
        </p:nvSpPr>
        <p:spPr>
          <a:xfrm>
            <a:off x="438912" y="4489704"/>
            <a:ext cx="11155680" cy="493776"/>
          </a:xfrm>
          <a:prstGeom prst="rect">
            <a:avLst/>
          </a:prstGeom>
          <a:noFill/>
        </p:spPr>
        <p:txBody>
          <a:bodyPr wrap="square">
            <a:spAutoFit/>
          </a:bodyPr>
          <a:lstStyle/>
          <a:p>
            <a:pPr algn="l">
              <a:defRPr sz="900" b="0" i="0">
                <a:solidFill>
                  <a:srgbClr val="2D233F"/>
                </a:solidFill>
                <a:latin typeface="Segoe UI"/>
              </a:defRPr>
            </a:pPr>
            <a:r>
              <a:t>Outbound answered call via Westy McLaughlin made by Westy McLaughlin - Call back Jaime Louisdhon +19542894020 </a:t>
            </a:r>
            <a:br/>
            <a:r>
              <a:t> Tags: Agent (Partner) Training Needed </a:t>
            </a:r>
            <a:br/>
            <a:r>
              <a:t> (Recording) </a:t>
            </a:r>
            <a:br/>
            <a:r>
              <a:t> Westy McLaughlin added a new comment: she has been calling in to get her email changed where they send quotes - it is currently admin@goadvantageinsurance.com would like it to be office@firgostruckinginsurance.com. she doesn't writ...</a:t>
            </a:r>
          </a:p>
        </p:txBody>
      </p:sp>
      <p:sp>
        <p:nvSpPr>
          <p:cNvPr id="34" name="Rounded Rectangle 33"/>
          <p:cNvSpPr/>
          <p:nvPr/>
        </p:nvSpPr>
        <p:spPr>
          <a:xfrm>
            <a:off x="274320" y="5148072"/>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74320" y="5148072"/>
            <a:ext cx="73152" cy="113385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38912" y="5257800"/>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 y="5257800"/>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38" name="TextBox 37"/>
          <p:cNvSpPr txBox="1"/>
          <p:nvPr/>
        </p:nvSpPr>
        <p:spPr>
          <a:xfrm>
            <a:off x="1097280" y="5257800"/>
            <a:ext cx="1097280" cy="219456"/>
          </a:xfrm>
          <a:prstGeom prst="rect">
            <a:avLst/>
          </a:prstGeom>
          <a:noFill/>
        </p:spPr>
        <p:txBody>
          <a:bodyPr wrap="square">
            <a:spAutoFit/>
          </a:bodyPr>
          <a:lstStyle/>
          <a:p>
            <a:pPr algn="l">
              <a:defRPr sz="900" b="1" i="0">
                <a:solidFill>
                  <a:srgbClr val="6B5F83"/>
                </a:solidFill>
                <a:latin typeface="Segoe UI"/>
              </a:defRPr>
            </a:pPr>
            <a:r>
              <a:t>11/18/2024</a:t>
            </a:r>
          </a:p>
        </p:txBody>
      </p:sp>
      <p:sp>
        <p:nvSpPr>
          <p:cNvPr id="39" name="TextBox 38"/>
          <p:cNvSpPr txBox="1"/>
          <p:nvPr/>
        </p:nvSpPr>
        <p:spPr>
          <a:xfrm>
            <a:off x="2286000" y="5257800"/>
            <a:ext cx="4572000" cy="219456"/>
          </a:xfrm>
          <a:prstGeom prst="rect">
            <a:avLst/>
          </a:prstGeom>
          <a:noFill/>
        </p:spPr>
        <p:txBody>
          <a:bodyPr wrap="square">
            <a:spAutoFit/>
          </a:bodyPr>
          <a:lstStyle/>
          <a:p>
            <a:pPr algn="l">
              <a:defRPr sz="900" b="1" i="0">
                <a:solidFill>
                  <a:srgbClr val="5B21B6"/>
                </a:solidFill>
                <a:latin typeface="Segoe UI"/>
              </a:defRPr>
            </a:pPr>
            <a:r>
              <a:t>Call with Leeza Kanwal</a:t>
            </a:r>
          </a:p>
        </p:txBody>
      </p:sp>
      <p:sp>
        <p:nvSpPr>
          <p:cNvPr id="40" name="TextBox 39"/>
          <p:cNvSpPr txBox="1"/>
          <p:nvPr/>
        </p:nvSpPr>
        <p:spPr>
          <a:xfrm>
            <a:off x="438912" y="5513832"/>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41" name="TextBox 40"/>
          <p:cNvSpPr txBox="1"/>
          <p:nvPr/>
        </p:nvSpPr>
        <p:spPr>
          <a:xfrm>
            <a:off x="438912" y="5733288"/>
            <a:ext cx="11155680" cy="493776"/>
          </a:xfrm>
          <a:prstGeom prst="rect">
            <a:avLst/>
          </a:prstGeom>
          <a:noFill/>
        </p:spPr>
        <p:txBody>
          <a:bodyPr wrap="square">
            <a:spAutoFit/>
          </a:bodyPr>
          <a:lstStyle/>
          <a:p>
            <a:pPr algn="l">
              <a:defRPr sz="900" b="0" i="0">
                <a:solidFill>
                  <a:srgbClr val="2D233F"/>
                </a:solidFill>
                <a:latin typeface="Segoe UI"/>
              </a:defRPr>
            </a:pPr>
            <a:r>
              <a:t>Outbound answered call via Westy McLaughlin made by Westy McLaughlin - Call back Leeza Kanwal +18048892126 </a:t>
            </a:r>
            <a:br/>
            <a:r>
              <a:t> (Recording) </a:t>
            </a:r>
            <a:br/>
            <a:r>
              <a:t> Westy McLaughlin added a new comment:</a:t>
            </a:r>
            <a:br/>
            <a:r>
              <a:t> writing DSG - only issue is a lot of those trucks are 1999. she writes a lot of DSG. a lot of them are older trucks. DSG states: GA, MD, TX. Still standing by that our DP is 'horrendous.' </a:t>
            </a:r>
            <a:br/>
            <a:r>
              <a:t> Tags: Growth - Agent Renewal Call </a:t>
            </a:r>
            <a:br/>
            <a:r>
              <a:t> Call ID: ...</a:t>
            </a:r>
          </a:p>
        </p:txBody>
      </p:sp>
      <p:sp>
        <p:nvSpPr>
          <p:cNvPr id="42" name="Rectangle 41"/>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4" name="TextBox 43"/>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Westy McLaughlin</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DSG Growth Notes (6/6) — 22 activities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1417320"/>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417320"/>
            <a:ext cx="73152" cy="113385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 y="1527048"/>
            <a:ext cx="548640" cy="219456"/>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527048"/>
            <a:ext cx="548640" cy="219456"/>
          </a:xfrm>
          <a:prstGeom prst="rect">
            <a:avLst/>
          </a:prstGeom>
          <a:noFill/>
        </p:spPr>
        <p:txBody>
          <a:bodyPr wrap="square">
            <a:spAutoFit/>
          </a:bodyPr>
          <a:lstStyle/>
          <a:p>
            <a:pPr algn="ctr">
              <a:defRPr sz="800" b="1" i="0">
                <a:solidFill>
                  <a:srgbClr val="FFFFFF"/>
                </a:solidFill>
                <a:latin typeface="Segoe UI"/>
              </a:defRPr>
            </a:pPr>
            <a:r>
              <a:t>Call</a:t>
            </a:r>
          </a:p>
        </p:txBody>
      </p:sp>
      <p:sp>
        <p:nvSpPr>
          <p:cNvPr id="15" name="TextBox 14"/>
          <p:cNvSpPr txBox="1"/>
          <p:nvPr/>
        </p:nvSpPr>
        <p:spPr>
          <a:xfrm>
            <a:off x="1097280" y="1527048"/>
            <a:ext cx="1097280" cy="219456"/>
          </a:xfrm>
          <a:prstGeom prst="rect">
            <a:avLst/>
          </a:prstGeom>
          <a:noFill/>
        </p:spPr>
        <p:txBody>
          <a:bodyPr wrap="square">
            <a:spAutoFit/>
          </a:bodyPr>
          <a:lstStyle/>
          <a:p>
            <a:pPr algn="l">
              <a:defRPr sz="900" b="1" i="0">
                <a:solidFill>
                  <a:srgbClr val="6B5F83"/>
                </a:solidFill>
                <a:latin typeface="Segoe UI"/>
              </a:defRPr>
            </a:pPr>
            <a:r>
              <a:t>11/18/2024</a:t>
            </a:r>
          </a:p>
        </p:txBody>
      </p:sp>
      <p:sp>
        <p:nvSpPr>
          <p:cNvPr id="16" name="TextBox 15"/>
          <p:cNvSpPr txBox="1"/>
          <p:nvPr/>
        </p:nvSpPr>
        <p:spPr>
          <a:xfrm>
            <a:off x="2286000" y="1527048"/>
            <a:ext cx="4572000" cy="219456"/>
          </a:xfrm>
          <a:prstGeom prst="rect">
            <a:avLst/>
          </a:prstGeom>
          <a:noFill/>
        </p:spPr>
        <p:txBody>
          <a:bodyPr wrap="square">
            <a:spAutoFit/>
          </a:bodyPr>
          <a:lstStyle/>
          <a:p>
            <a:pPr algn="l">
              <a:defRPr sz="900" b="1" i="0">
                <a:solidFill>
                  <a:srgbClr val="5B21B6"/>
                </a:solidFill>
                <a:latin typeface="Segoe UI"/>
              </a:defRPr>
            </a:pPr>
            <a:r>
              <a:t>Call with Olga Adileh</a:t>
            </a:r>
          </a:p>
        </p:txBody>
      </p:sp>
      <p:sp>
        <p:nvSpPr>
          <p:cNvPr id="17" name="TextBox 16"/>
          <p:cNvSpPr txBox="1"/>
          <p:nvPr/>
        </p:nvSpPr>
        <p:spPr>
          <a:xfrm>
            <a:off x="438912" y="1783080"/>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18" name="TextBox 17"/>
          <p:cNvSpPr txBox="1"/>
          <p:nvPr/>
        </p:nvSpPr>
        <p:spPr>
          <a:xfrm>
            <a:off x="438912" y="2002536"/>
            <a:ext cx="11155680" cy="493776"/>
          </a:xfrm>
          <a:prstGeom prst="rect">
            <a:avLst/>
          </a:prstGeom>
          <a:noFill/>
        </p:spPr>
        <p:txBody>
          <a:bodyPr wrap="square">
            <a:spAutoFit/>
          </a:bodyPr>
          <a:lstStyle/>
          <a:p>
            <a:pPr algn="l">
              <a:defRPr sz="900" b="0" i="0">
                <a:solidFill>
                  <a:srgbClr val="2D233F"/>
                </a:solidFill>
                <a:latin typeface="Segoe UI"/>
              </a:defRPr>
            </a:pPr>
            <a:r>
              <a:t>Outbound answered call via Westy McLaughlin made by Westy McLaughlin - Call back Olga Adileh +12024152108 </a:t>
            </a:r>
            <a:br/>
            <a:r>
              <a:t> (Recording) </a:t>
            </a:r>
            <a:br/>
            <a:r>
              <a:t> Tags: Growth - Agent Renewal Call </a:t>
            </a:r>
            <a:br/>
            <a:r>
              <a:t> Westy McLaughlin added a new comment:</a:t>
            </a:r>
            <a:br/>
            <a:r>
              <a:t> needs help. 6 DUKAT - had an issue getting cameras delivered. they got delivered. they are getting a cancellation notice saying 12/23rd material changes in risk exposure.</a:t>
            </a:r>
            <a:br/>
            <a:r>
              <a:t>non-compliance for telematics...</a:t>
            </a:r>
          </a:p>
        </p:txBody>
      </p:sp>
      <p:sp>
        <p:nvSpPr>
          <p:cNvPr id="19" name="Rounded Rectangle 18"/>
          <p:cNvSpPr/>
          <p:nvPr/>
        </p:nvSpPr>
        <p:spPr>
          <a:xfrm>
            <a:off x="274320" y="2660904"/>
            <a:ext cx="11521440" cy="1133856"/>
          </a:xfrm>
          <a:prstGeom prst="roundRect">
            <a:avLst>
              <a:gd name="adj" fmla="val 6000"/>
            </a:avLst>
          </a:prstGeom>
          <a:solidFill>
            <a:srgbClr val="FFFFFF"/>
          </a:solidFill>
          <a:ln w="6350">
            <a:solidFill>
              <a:srgbClr val="EDE9FE"/>
            </a:solidFill>
          </a:ln>
          <a:effectLst>
            <a:outerShdw blurRad="50800" dist="19050" dir="5400000" algn="bl" rotWithShape="0">
              <a:srgbClr val="C4B5FD">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2660904"/>
            <a:ext cx="73152" cy="11338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8912" y="2770632"/>
            <a:ext cx="548640" cy="219456"/>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2770632"/>
            <a:ext cx="548640" cy="219456"/>
          </a:xfrm>
          <a:prstGeom prst="rect">
            <a:avLst/>
          </a:prstGeom>
          <a:noFill/>
        </p:spPr>
        <p:txBody>
          <a:bodyPr wrap="square">
            <a:spAutoFit/>
          </a:bodyPr>
          <a:lstStyle/>
          <a:p>
            <a:pPr algn="ctr">
              <a:defRPr sz="800" b="1" i="0">
                <a:solidFill>
                  <a:srgbClr val="FFFFFF"/>
                </a:solidFill>
                <a:latin typeface="Segoe UI"/>
              </a:defRPr>
            </a:pPr>
            <a:r>
              <a:t>Note</a:t>
            </a:r>
          </a:p>
        </p:txBody>
      </p:sp>
      <p:sp>
        <p:nvSpPr>
          <p:cNvPr id="23" name="TextBox 22"/>
          <p:cNvSpPr txBox="1"/>
          <p:nvPr/>
        </p:nvSpPr>
        <p:spPr>
          <a:xfrm>
            <a:off x="1097280" y="2770632"/>
            <a:ext cx="1097280" cy="219456"/>
          </a:xfrm>
          <a:prstGeom prst="rect">
            <a:avLst/>
          </a:prstGeom>
          <a:noFill/>
        </p:spPr>
        <p:txBody>
          <a:bodyPr wrap="square">
            <a:spAutoFit/>
          </a:bodyPr>
          <a:lstStyle/>
          <a:p>
            <a:pPr algn="l">
              <a:defRPr sz="900" b="1" i="0">
                <a:solidFill>
                  <a:srgbClr val="6B5F83"/>
                </a:solidFill>
                <a:latin typeface="Segoe UI"/>
              </a:defRPr>
            </a:pPr>
            <a:r>
              <a:t>09/25/2024</a:t>
            </a:r>
          </a:p>
        </p:txBody>
      </p:sp>
      <p:sp>
        <p:nvSpPr>
          <p:cNvPr id="24" name="TextBox 23"/>
          <p:cNvSpPr txBox="1"/>
          <p:nvPr/>
        </p:nvSpPr>
        <p:spPr>
          <a:xfrm>
            <a:off x="438912" y="3026664"/>
            <a:ext cx="11155680" cy="201168"/>
          </a:xfrm>
          <a:prstGeom prst="rect">
            <a:avLst/>
          </a:prstGeom>
          <a:noFill/>
        </p:spPr>
        <p:txBody>
          <a:bodyPr wrap="square">
            <a:spAutoFit/>
          </a:bodyPr>
          <a:lstStyle/>
          <a:p>
            <a:pPr algn="l">
              <a:defRPr sz="900" b="1" i="0">
                <a:solidFill>
                  <a:srgbClr val="10B981"/>
                </a:solidFill>
                <a:latin typeface="Segoe UI"/>
              </a:defRPr>
            </a:pPr>
            <a:r>
              <a:t>No linked contact/company</a:t>
            </a:r>
          </a:p>
        </p:txBody>
      </p:sp>
      <p:sp>
        <p:nvSpPr>
          <p:cNvPr id="25" name="TextBox 24"/>
          <p:cNvSpPr txBox="1"/>
          <p:nvPr/>
        </p:nvSpPr>
        <p:spPr>
          <a:xfrm>
            <a:off x="438912" y="3246120"/>
            <a:ext cx="11155680" cy="493776"/>
          </a:xfrm>
          <a:prstGeom prst="rect">
            <a:avLst/>
          </a:prstGeom>
          <a:noFill/>
        </p:spPr>
        <p:txBody>
          <a:bodyPr wrap="square">
            <a:spAutoFit/>
          </a:bodyPr>
          <a:lstStyle/>
          <a:p>
            <a:pPr algn="l">
              <a:defRPr sz="900" b="0" i="0">
                <a:solidFill>
                  <a:srgbClr val="2D233F"/>
                </a:solidFill>
                <a:latin typeface="Segoe UI"/>
              </a:defRPr>
            </a:pPr>
            <a:r>
              <a:t>Honesti is the only producer at her agency. But has some assistants that help her out. when it comes to trucking that is her baby. she knows how to use the platform very well. licensed in 28 states. she writes a lot of biz in TX. </a:t>
            </a:r>
            <a:br/>
            <a:r>
              <a:t> What is her main market? does a ton of DSG - general freight - reefer - produce - flatbed - hotshot. most of her DSG guys have been with her since she had her agency...</a:t>
            </a:r>
          </a:p>
        </p:txBody>
      </p:sp>
      <p:sp>
        <p:nvSpPr>
          <p:cNvPr id="26" name="Rectangle 25"/>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28" name="TextBox 27"/>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800" b="1" i="0">
                <a:solidFill>
                  <a:srgbClr val="FFFFFF"/>
                </a:solidFill>
                <a:latin typeface="Segoe UI Light"/>
              </a:defRPr>
            </a:pPr>
            <a:r>
              <a:t>DSG GROWTH FUNNEL</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500" b="0" i="0">
                <a:solidFill>
                  <a:srgbClr val="C4B5FD"/>
                </a:solidFill>
                <a:latin typeface="Segoe UI"/>
              </a:defRPr>
            </a:pPr>
            <a:r>
              <a:t>2026 Year-to-Date Pipeline</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554480"/>
            <a:ext cx="10515600" cy="685800"/>
          </a:xfrm>
          <a:prstGeom prst="roundRect">
            <a:avLst>
              <a:gd name="adj" fmla="val 8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9966960" cy="502920"/>
          </a:xfrm>
          <a:prstGeom prst="rect">
            <a:avLst/>
          </a:prstGeom>
          <a:noFill/>
        </p:spPr>
        <p:txBody>
          <a:bodyPr wrap="square">
            <a:spAutoFit/>
          </a:bodyPr>
          <a:lstStyle/>
          <a:p>
            <a:pPr algn="ctr">
              <a:defRPr sz="2000" b="1" i="0">
                <a:solidFill>
                  <a:srgbClr val="FFFFFF"/>
                </a:solidFill>
                <a:latin typeface="Segoe UI Light"/>
              </a:defRPr>
            </a:pPr>
            <a:r>
              <a:t>Submissions:  7,077</a:t>
            </a:r>
          </a:p>
        </p:txBody>
      </p:sp>
      <p:sp>
        <p:nvSpPr>
          <p:cNvPr id="13" name="Rounded Rectangle 12"/>
          <p:cNvSpPr/>
          <p:nvPr/>
        </p:nvSpPr>
        <p:spPr>
          <a:xfrm>
            <a:off x="3233748" y="2350008"/>
            <a:ext cx="5511143" cy="685800"/>
          </a:xfrm>
          <a:prstGeom prst="roundRect">
            <a:avLst>
              <a:gd name="adj" fmla="val 8000"/>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8068" y="2441448"/>
            <a:ext cx="4962503" cy="502920"/>
          </a:xfrm>
          <a:prstGeom prst="rect">
            <a:avLst/>
          </a:prstGeom>
          <a:noFill/>
        </p:spPr>
        <p:txBody>
          <a:bodyPr wrap="square">
            <a:spAutoFit/>
          </a:bodyPr>
          <a:lstStyle/>
          <a:p>
            <a:pPr algn="ctr">
              <a:defRPr sz="2000" b="1" i="0">
                <a:solidFill>
                  <a:srgbClr val="FFFFFF"/>
                </a:solidFill>
                <a:latin typeface="Segoe UI Light"/>
              </a:defRPr>
            </a:pPr>
            <a:r>
              <a:t>Quotes:  3,709</a:t>
            </a:r>
          </a:p>
        </p:txBody>
      </p:sp>
      <p:sp>
        <p:nvSpPr>
          <p:cNvPr id="15" name="Rounded Rectangle 14"/>
          <p:cNvSpPr/>
          <p:nvPr/>
        </p:nvSpPr>
        <p:spPr>
          <a:xfrm>
            <a:off x="4160520" y="3145536"/>
            <a:ext cx="3657600" cy="685800"/>
          </a:xfrm>
          <a:prstGeom prst="roundRect">
            <a:avLst>
              <a:gd name="adj" fmla="val 8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3236976"/>
            <a:ext cx="3108960" cy="502920"/>
          </a:xfrm>
          <a:prstGeom prst="rect">
            <a:avLst/>
          </a:prstGeom>
          <a:noFill/>
        </p:spPr>
        <p:txBody>
          <a:bodyPr wrap="square">
            <a:spAutoFit/>
          </a:bodyPr>
          <a:lstStyle/>
          <a:p>
            <a:pPr algn="ctr">
              <a:defRPr sz="2000" b="1" i="0">
                <a:solidFill>
                  <a:srgbClr val="FFFFFF"/>
                </a:solidFill>
                <a:latin typeface="Segoe UI Light"/>
              </a:defRPr>
            </a:pPr>
            <a:r>
              <a:t>Binds:  184</a:t>
            </a:r>
          </a:p>
        </p:txBody>
      </p:sp>
      <p:sp>
        <p:nvSpPr>
          <p:cNvPr id="17" name="Rounded Rectangle 16"/>
          <p:cNvSpPr/>
          <p:nvPr/>
        </p:nvSpPr>
        <p:spPr>
          <a:xfrm>
            <a:off x="4160520" y="3941064"/>
            <a:ext cx="3657600" cy="685800"/>
          </a:xfrm>
          <a:prstGeom prst="roundRect">
            <a:avLst>
              <a:gd name="adj" fmla="val 8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032504"/>
            <a:ext cx="3108960" cy="502920"/>
          </a:xfrm>
          <a:prstGeom prst="rect">
            <a:avLst/>
          </a:prstGeom>
          <a:noFill/>
        </p:spPr>
        <p:txBody>
          <a:bodyPr wrap="square">
            <a:spAutoFit/>
          </a:bodyPr>
          <a:lstStyle/>
          <a:p>
            <a:pPr algn="ctr">
              <a:defRPr sz="2000" b="1" i="0">
                <a:solidFill>
                  <a:srgbClr val="FFFFFF"/>
                </a:solidFill>
                <a:latin typeface="Segoe UI Light"/>
              </a:defRPr>
            </a:pPr>
            <a:r>
              <a:t>Bound Premium:  $5.2M</a:t>
            </a:r>
          </a:p>
        </p:txBody>
      </p:sp>
      <p:sp>
        <p:nvSpPr>
          <p:cNvPr id="19" name="Chevron 18"/>
          <p:cNvSpPr/>
          <p:nvPr/>
        </p:nvSpPr>
        <p:spPr>
          <a:xfrm rot="5400000">
            <a:off x="5806440" y="2249424"/>
            <a:ext cx="365760" cy="137160"/>
          </a:xfrm>
          <a:prstGeom prst="chevron">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rot="5400000">
            <a:off x="5806440" y="3044952"/>
            <a:ext cx="365760" cy="137160"/>
          </a:xfrm>
          <a:prstGeom prst="chevron">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rot="5400000">
            <a:off x="5806440" y="3840480"/>
            <a:ext cx="365760" cy="137160"/>
          </a:xfrm>
          <a:prstGeom prst="chevron">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418320" y="2258568"/>
            <a:ext cx="1828800" cy="256032"/>
          </a:xfrm>
          <a:prstGeom prst="roundRect">
            <a:avLst>
              <a:gd name="adj" fmla="val 10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0" y="2249424"/>
            <a:ext cx="1828800" cy="256032"/>
          </a:xfrm>
          <a:prstGeom prst="rect">
            <a:avLst/>
          </a:prstGeom>
          <a:noFill/>
        </p:spPr>
        <p:txBody>
          <a:bodyPr wrap="square">
            <a:spAutoFit/>
          </a:bodyPr>
          <a:lstStyle/>
          <a:p>
            <a:pPr algn="ctr">
              <a:defRPr sz="900" b="1" i="0">
                <a:solidFill>
                  <a:srgbClr val="7C3AED"/>
                </a:solidFill>
                <a:latin typeface="Segoe UI Semibold"/>
              </a:defRPr>
            </a:pPr>
            <a:r>
              <a:t>Quote Rate: 52.4%</a:t>
            </a:r>
          </a:p>
        </p:txBody>
      </p:sp>
      <p:sp>
        <p:nvSpPr>
          <p:cNvPr id="24" name="Rounded Rectangle 23"/>
          <p:cNvSpPr/>
          <p:nvPr/>
        </p:nvSpPr>
        <p:spPr>
          <a:xfrm>
            <a:off x="9418320" y="3054096"/>
            <a:ext cx="1828800" cy="256032"/>
          </a:xfrm>
          <a:prstGeom prst="roundRect">
            <a:avLst>
              <a:gd name="adj" fmla="val 10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0" y="3044952"/>
            <a:ext cx="1828800" cy="256032"/>
          </a:xfrm>
          <a:prstGeom prst="rect">
            <a:avLst/>
          </a:prstGeom>
          <a:noFill/>
        </p:spPr>
        <p:txBody>
          <a:bodyPr wrap="square">
            <a:spAutoFit/>
          </a:bodyPr>
          <a:lstStyle/>
          <a:p>
            <a:pPr algn="ctr">
              <a:defRPr sz="900" b="1" i="0">
                <a:solidFill>
                  <a:srgbClr val="7C3AED"/>
                </a:solidFill>
                <a:latin typeface="Segoe UI Semibold"/>
              </a:defRPr>
            </a:pPr>
            <a:r>
              <a:t>Bind Rate: 5.0%</a:t>
            </a:r>
          </a:p>
        </p:txBody>
      </p:sp>
      <p:sp>
        <p:nvSpPr>
          <p:cNvPr id="26" name="Rounded Rectangle 25"/>
          <p:cNvSpPr/>
          <p:nvPr/>
        </p:nvSpPr>
        <p:spPr>
          <a:xfrm>
            <a:off x="9418320" y="3849624"/>
            <a:ext cx="1828800" cy="256032"/>
          </a:xfrm>
          <a:prstGeom prst="roundRect">
            <a:avLst>
              <a:gd name="adj" fmla="val 10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0" y="3840480"/>
            <a:ext cx="1828800" cy="256032"/>
          </a:xfrm>
          <a:prstGeom prst="rect">
            <a:avLst/>
          </a:prstGeom>
          <a:noFill/>
        </p:spPr>
        <p:txBody>
          <a:bodyPr wrap="square">
            <a:spAutoFit/>
          </a:bodyPr>
          <a:lstStyle/>
          <a:p>
            <a:pPr algn="ctr">
              <a:defRPr sz="900" b="1" i="0">
                <a:solidFill>
                  <a:srgbClr val="7C3AED"/>
                </a:solidFill>
                <a:latin typeface="Segoe UI Semibold"/>
              </a:defRPr>
            </a:pPr>
            <a:r>
              <a:t>Avg Premium: $28,285</a:t>
            </a:r>
          </a:p>
        </p:txBody>
      </p:sp>
      <p:sp>
        <p:nvSpPr>
          <p:cNvPr id="28" name="TextBox 27"/>
          <p:cNvSpPr txBox="1"/>
          <p:nvPr/>
        </p:nvSpPr>
        <p:spPr>
          <a:xfrm>
            <a:off x="457200" y="4754880"/>
            <a:ext cx="4572000" cy="228600"/>
          </a:xfrm>
          <a:prstGeom prst="rect">
            <a:avLst/>
          </a:prstGeom>
          <a:noFill/>
        </p:spPr>
        <p:txBody>
          <a:bodyPr wrap="square">
            <a:spAutoFit/>
          </a:bodyPr>
          <a:lstStyle/>
          <a:p>
            <a:pPr algn="l">
              <a:defRPr sz="1100" b="1" i="0">
                <a:solidFill>
                  <a:srgbClr val="5B21B6"/>
                </a:solidFill>
                <a:latin typeface="Segoe UI Semibold"/>
              </a:defRPr>
            </a:pPr>
            <a:r>
              <a:t>MONTHLY BREAKDOWN</a:t>
            </a:r>
          </a:p>
        </p:txBody>
      </p:sp>
      <p:sp>
        <p:nvSpPr>
          <p:cNvPr id="29" name="Rectangle 28"/>
          <p:cNvSpPr/>
          <p:nvPr/>
        </p:nvSpPr>
        <p:spPr>
          <a:xfrm>
            <a:off x="457200" y="5001768"/>
            <a:ext cx="13716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57200" y="5029200"/>
            <a:ext cx="3566160" cy="114300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5212080"/>
            <a:ext cx="54864" cy="7772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084064"/>
            <a:ext cx="3200400" cy="274320"/>
          </a:xfrm>
          <a:prstGeom prst="rect">
            <a:avLst/>
          </a:prstGeom>
          <a:noFill/>
        </p:spPr>
        <p:txBody>
          <a:bodyPr wrap="square">
            <a:spAutoFit/>
          </a:bodyPr>
          <a:lstStyle/>
          <a:p>
            <a:pPr algn="l">
              <a:defRPr sz="1400" b="1" i="0">
                <a:solidFill>
                  <a:srgbClr val="1E073B"/>
                </a:solidFill>
                <a:latin typeface="Segoe UI Light"/>
              </a:defRPr>
            </a:pPr>
            <a:r>
              <a:t>January</a:t>
            </a:r>
          </a:p>
        </p:txBody>
      </p:sp>
      <p:sp>
        <p:nvSpPr>
          <p:cNvPr id="33" name="TextBox 32"/>
          <p:cNvSpPr txBox="1"/>
          <p:nvPr/>
        </p:nvSpPr>
        <p:spPr>
          <a:xfrm>
            <a:off x="640080" y="5376672"/>
            <a:ext cx="3200400" cy="228600"/>
          </a:xfrm>
          <a:prstGeom prst="rect">
            <a:avLst/>
          </a:prstGeom>
          <a:noFill/>
        </p:spPr>
        <p:txBody>
          <a:bodyPr wrap="square">
            <a:spAutoFit/>
          </a:bodyPr>
          <a:lstStyle/>
          <a:p>
            <a:pPr algn="l">
              <a:defRPr sz="1000" b="0" i="0">
                <a:solidFill>
                  <a:srgbClr val="6B5F83"/>
                </a:solidFill>
                <a:latin typeface="Segoe UI"/>
              </a:defRPr>
            </a:pPr>
            <a:r>
              <a:t>911 subs  |  471 quotes  |  13 binds</a:t>
            </a:r>
          </a:p>
        </p:txBody>
      </p:sp>
      <p:sp>
        <p:nvSpPr>
          <p:cNvPr id="34" name="TextBox 33"/>
          <p:cNvSpPr txBox="1"/>
          <p:nvPr/>
        </p:nvSpPr>
        <p:spPr>
          <a:xfrm>
            <a:off x="640080" y="5623560"/>
            <a:ext cx="3200400" cy="320040"/>
          </a:xfrm>
          <a:prstGeom prst="rect">
            <a:avLst/>
          </a:prstGeom>
          <a:noFill/>
        </p:spPr>
        <p:txBody>
          <a:bodyPr wrap="square">
            <a:spAutoFit/>
          </a:bodyPr>
          <a:lstStyle/>
          <a:p>
            <a:pPr algn="l">
              <a:defRPr sz="2000" b="1" i="0">
                <a:solidFill>
                  <a:srgbClr val="10B981"/>
                </a:solidFill>
                <a:latin typeface="Segoe UI"/>
              </a:defRPr>
            </a:pPr>
            <a:r>
              <a:t>$500,726</a:t>
            </a:r>
          </a:p>
        </p:txBody>
      </p:sp>
      <p:sp>
        <p:nvSpPr>
          <p:cNvPr id="35" name="TextBox 34"/>
          <p:cNvSpPr txBox="1"/>
          <p:nvPr/>
        </p:nvSpPr>
        <p:spPr>
          <a:xfrm>
            <a:off x="640080" y="5897880"/>
            <a:ext cx="3200400" cy="182880"/>
          </a:xfrm>
          <a:prstGeom prst="rect">
            <a:avLst/>
          </a:prstGeom>
          <a:noFill/>
        </p:spPr>
        <p:txBody>
          <a:bodyPr wrap="square">
            <a:spAutoFit/>
          </a:bodyPr>
          <a:lstStyle/>
          <a:p>
            <a:pPr algn="l">
              <a:defRPr sz="900" b="0" i="0">
                <a:solidFill>
                  <a:srgbClr val="7C3AED"/>
                </a:solidFill>
                <a:latin typeface="Segoe UI"/>
              </a:defRPr>
            </a:pPr>
            <a:r>
              <a:t>Bind rate: 1.4%</a:t>
            </a:r>
          </a:p>
        </p:txBody>
      </p:sp>
      <p:sp>
        <p:nvSpPr>
          <p:cNvPr id="36" name="Rounded Rectangle 35"/>
          <p:cNvSpPr/>
          <p:nvPr/>
        </p:nvSpPr>
        <p:spPr>
          <a:xfrm>
            <a:off x="4297680" y="5029200"/>
            <a:ext cx="3566160" cy="114300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97680" y="5212080"/>
            <a:ext cx="54864" cy="7772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80560" y="5084064"/>
            <a:ext cx="3200400" cy="274320"/>
          </a:xfrm>
          <a:prstGeom prst="rect">
            <a:avLst/>
          </a:prstGeom>
          <a:noFill/>
        </p:spPr>
        <p:txBody>
          <a:bodyPr wrap="square">
            <a:spAutoFit/>
          </a:bodyPr>
          <a:lstStyle/>
          <a:p>
            <a:pPr algn="l">
              <a:defRPr sz="1400" b="1" i="0">
                <a:solidFill>
                  <a:srgbClr val="1E073B"/>
                </a:solidFill>
                <a:latin typeface="Segoe UI Light"/>
              </a:defRPr>
            </a:pPr>
            <a:r>
              <a:t>February</a:t>
            </a:r>
          </a:p>
        </p:txBody>
      </p:sp>
      <p:sp>
        <p:nvSpPr>
          <p:cNvPr id="39" name="TextBox 38"/>
          <p:cNvSpPr txBox="1"/>
          <p:nvPr/>
        </p:nvSpPr>
        <p:spPr>
          <a:xfrm>
            <a:off x="4480560" y="5376672"/>
            <a:ext cx="3200400" cy="228600"/>
          </a:xfrm>
          <a:prstGeom prst="rect">
            <a:avLst/>
          </a:prstGeom>
          <a:noFill/>
        </p:spPr>
        <p:txBody>
          <a:bodyPr wrap="square">
            <a:spAutoFit/>
          </a:bodyPr>
          <a:lstStyle/>
          <a:p>
            <a:pPr algn="l">
              <a:defRPr sz="1000" b="0" i="0">
                <a:solidFill>
                  <a:srgbClr val="6B5F83"/>
                </a:solidFill>
                <a:latin typeface="Segoe UI"/>
              </a:defRPr>
            </a:pPr>
            <a:r>
              <a:t>1166 subs  |  589 quotes  |  25 binds</a:t>
            </a:r>
          </a:p>
        </p:txBody>
      </p:sp>
      <p:sp>
        <p:nvSpPr>
          <p:cNvPr id="40" name="TextBox 39"/>
          <p:cNvSpPr txBox="1"/>
          <p:nvPr/>
        </p:nvSpPr>
        <p:spPr>
          <a:xfrm>
            <a:off x="4480560" y="5623560"/>
            <a:ext cx="3200400" cy="320040"/>
          </a:xfrm>
          <a:prstGeom prst="rect">
            <a:avLst/>
          </a:prstGeom>
          <a:noFill/>
        </p:spPr>
        <p:txBody>
          <a:bodyPr wrap="square">
            <a:spAutoFit/>
          </a:bodyPr>
          <a:lstStyle/>
          <a:p>
            <a:pPr algn="l">
              <a:defRPr sz="2000" b="1" i="0">
                <a:solidFill>
                  <a:srgbClr val="10B981"/>
                </a:solidFill>
                <a:latin typeface="Segoe UI"/>
              </a:defRPr>
            </a:pPr>
            <a:r>
              <a:t>$1.1M</a:t>
            </a:r>
          </a:p>
        </p:txBody>
      </p:sp>
      <p:sp>
        <p:nvSpPr>
          <p:cNvPr id="41" name="TextBox 40"/>
          <p:cNvSpPr txBox="1"/>
          <p:nvPr/>
        </p:nvSpPr>
        <p:spPr>
          <a:xfrm>
            <a:off x="4480560" y="5897880"/>
            <a:ext cx="3200400" cy="182880"/>
          </a:xfrm>
          <a:prstGeom prst="rect">
            <a:avLst/>
          </a:prstGeom>
          <a:noFill/>
        </p:spPr>
        <p:txBody>
          <a:bodyPr wrap="square">
            <a:spAutoFit/>
          </a:bodyPr>
          <a:lstStyle/>
          <a:p>
            <a:pPr algn="l">
              <a:defRPr sz="900" b="0" i="0">
                <a:solidFill>
                  <a:srgbClr val="7C3AED"/>
                </a:solidFill>
                <a:latin typeface="Segoe UI"/>
              </a:defRPr>
            </a:pPr>
            <a:r>
              <a:t>Bind rate: 2.1%</a:t>
            </a:r>
          </a:p>
        </p:txBody>
      </p:sp>
      <p:sp>
        <p:nvSpPr>
          <p:cNvPr id="42" name="Rounded Rectangle 41"/>
          <p:cNvSpPr/>
          <p:nvPr/>
        </p:nvSpPr>
        <p:spPr>
          <a:xfrm>
            <a:off x="8138160" y="5029200"/>
            <a:ext cx="3566160" cy="114300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138160" y="5212080"/>
            <a:ext cx="54864" cy="7772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21040" y="5084064"/>
            <a:ext cx="3200400" cy="274320"/>
          </a:xfrm>
          <a:prstGeom prst="rect">
            <a:avLst/>
          </a:prstGeom>
          <a:noFill/>
        </p:spPr>
        <p:txBody>
          <a:bodyPr wrap="square">
            <a:spAutoFit/>
          </a:bodyPr>
          <a:lstStyle/>
          <a:p>
            <a:pPr algn="l">
              <a:defRPr sz="1400" b="1" i="0">
                <a:solidFill>
                  <a:srgbClr val="1E073B"/>
                </a:solidFill>
                <a:latin typeface="Segoe UI Light"/>
              </a:defRPr>
            </a:pPr>
            <a:r>
              <a:t>March</a:t>
            </a:r>
          </a:p>
        </p:txBody>
      </p:sp>
      <p:sp>
        <p:nvSpPr>
          <p:cNvPr id="45" name="TextBox 44"/>
          <p:cNvSpPr txBox="1"/>
          <p:nvPr/>
        </p:nvSpPr>
        <p:spPr>
          <a:xfrm>
            <a:off x="8321040" y="5376672"/>
            <a:ext cx="3200400" cy="228600"/>
          </a:xfrm>
          <a:prstGeom prst="rect">
            <a:avLst/>
          </a:prstGeom>
          <a:noFill/>
        </p:spPr>
        <p:txBody>
          <a:bodyPr wrap="square">
            <a:spAutoFit/>
          </a:bodyPr>
          <a:lstStyle/>
          <a:p>
            <a:pPr algn="l">
              <a:defRPr sz="1000" b="0" i="0">
                <a:solidFill>
                  <a:srgbClr val="6B5F83"/>
                </a:solidFill>
                <a:latin typeface="Segoe UI"/>
              </a:defRPr>
            </a:pPr>
            <a:r>
              <a:t>1607 subs  |  870 quotes  |  51 binds</a:t>
            </a:r>
          </a:p>
        </p:txBody>
      </p:sp>
      <p:sp>
        <p:nvSpPr>
          <p:cNvPr id="46" name="TextBox 45"/>
          <p:cNvSpPr txBox="1"/>
          <p:nvPr/>
        </p:nvSpPr>
        <p:spPr>
          <a:xfrm>
            <a:off x="8321040" y="5623560"/>
            <a:ext cx="3200400" cy="320040"/>
          </a:xfrm>
          <a:prstGeom prst="rect">
            <a:avLst/>
          </a:prstGeom>
          <a:noFill/>
        </p:spPr>
        <p:txBody>
          <a:bodyPr wrap="square">
            <a:spAutoFit/>
          </a:bodyPr>
          <a:lstStyle/>
          <a:p>
            <a:pPr algn="l">
              <a:defRPr sz="2000" b="1" i="0">
                <a:solidFill>
                  <a:srgbClr val="10B981"/>
                </a:solidFill>
                <a:latin typeface="Segoe UI"/>
              </a:defRPr>
            </a:pPr>
            <a:r>
              <a:t>$1.2M</a:t>
            </a:r>
          </a:p>
        </p:txBody>
      </p:sp>
      <p:sp>
        <p:nvSpPr>
          <p:cNvPr id="47" name="TextBox 46"/>
          <p:cNvSpPr txBox="1"/>
          <p:nvPr/>
        </p:nvSpPr>
        <p:spPr>
          <a:xfrm>
            <a:off x="8321040" y="5897880"/>
            <a:ext cx="3200400" cy="182880"/>
          </a:xfrm>
          <a:prstGeom prst="rect">
            <a:avLst/>
          </a:prstGeom>
          <a:noFill/>
        </p:spPr>
        <p:txBody>
          <a:bodyPr wrap="square">
            <a:spAutoFit/>
          </a:bodyPr>
          <a:lstStyle/>
          <a:p>
            <a:pPr algn="l">
              <a:defRPr sz="900" b="0" i="0">
                <a:solidFill>
                  <a:srgbClr val="7C3AED"/>
                </a:solidFill>
                <a:latin typeface="Segoe UI"/>
              </a:defRPr>
            </a:pPr>
            <a:r>
              <a:t>Bind rate: 3.2%</a:t>
            </a:r>
          </a:p>
        </p:txBody>
      </p:sp>
      <p:sp>
        <p:nvSpPr>
          <p:cNvPr id="48" name="Rectangle 47"/>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50" name="TextBox 49"/>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200" b="1" i="0">
                <a:solidFill>
                  <a:srgbClr val="FFFFFF"/>
                </a:solidFill>
                <a:latin typeface="Segoe UI Light"/>
              </a:defRPr>
            </a:pPr>
            <a:r>
              <a:t>OUTREACH-TO-BIND CROSS-REFERENCE</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500" b="0" i="0">
                <a:solidFill>
                  <a:srgbClr val="C4B5FD"/>
                </a:solidFill>
                <a:latin typeface="Segoe UI"/>
              </a:defRPr>
            </a:pPr>
            <a:r>
              <a:t>0 Agencies Touched</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5760" y="1463040"/>
            <a:ext cx="2651760" cy="11887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17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00200"/>
            <a:ext cx="2286000" cy="228600"/>
          </a:xfrm>
          <a:prstGeom prst="rect">
            <a:avLst/>
          </a:prstGeom>
          <a:noFill/>
        </p:spPr>
        <p:txBody>
          <a:bodyPr wrap="square">
            <a:spAutoFit/>
          </a:bodyPr>
          <a:lstStyle/>
          <a:p>
            <a:pPr algn="l">
              <a:defRPr sz="900" b="1" i="0">
                <a:solidFill>
                  <a:srgbClr val="9C92B5"/>
                </a:solidFill>
                <a:latin typeface="Segoe UI Semibold"/>
              </a:defRPr>
            </a:pPr>
            <a:r>
              <a:t>AGENCIES TOUCHED</a:t>
            </a:r>
          </a:p>
        </p:txBody>
      </p:sp>
      <p:sp>
        <p:nvSpPr>
          <p:cNvPr id="14" name="TextBox 13"/>
          <p:cNvSpPr txBox="1"/>
          <p:nvPr/>
        </p:nvSpPr>
        <p:spPr>
          <a:xfrm>
            <a:off x="548640" y="1874520"/>
            <a:ext cx="2286000" cy="457200"/>
          </a:xfrm>
          <a:prstGeom prst="rect">
            <a:avLst/>
          </a:prstGeom>
          <a:noFill/>
        </p:spPr>
        <p:txBody>
          <a:bodyPr wrap="square">
            <a:spAutoFit/>
          </a:bodyPr>
          <a:lstStyle/>
          <a:p>
            <a:pPr algn="l">
              <a:defRPr sz="2800" b="1" i="0">
                <a:solidFill>
                  <a:srgbClr val="7C3AED"/>
                </a:solidFill>
                <a:latin typeface="Segoe UI Light"/>
              </a:defRPr>
            </a:pPr>
            <a:r>
              <a:t>0</a:t>
            </a:r>
          </a:p>
        </p:txBody>
      </p:sp>
      <p:sp>
        <p:nvSpPr>
          <p:cNvPr id="15" name="TextBox 14"/>
          <p:cNvSpPr txBox="1"/>
          <p:nvPr/>
        </p:nvSpPr>
        <p:spPr>
          <a:xfrm>
            <a:off x="548640" y="2377440"/>
            <a:ext cx="2286000" cy="228600"/>
          </a:xfrm>
          <a:prstGeom prst="rect">
            <a:avLst/>
          </a:prstGeom>
          <a:noFill/>
        </p:spPr>
        <p:txBody>
          <a:bodyPr wrap="square">
            <a:spAutoFit/>
          </a:bodyPr>
          <a:lstStyle/>
          <a:p>
            <a:pPr algn="l">
              <a:defRPr sz="900" b="0" i="1">
                <a:solidFill>
                  <a:srgbClr val="A09CB0"/>
                </a:solidFill>
                <a:latin typeface="Segoe UI"/>
              </a:defRPr>
            </a:pPr>
            <a:r>
              <a:t>Via growth outreach</a:t>
            </a:r>
          </a:p>
        </p:txBody>
      </p:sp>
      <p:sp>
        <p:nvSpPr>
          <p:cNvPr id="16" name="Rounded Rectangle 15"/>
          <p:cNvSpPr/>
          <p:nvPr/>
        </p:nvSpPr>
        <p:spPr>
          <a:xfrm>
            <a:off x="3291840" y="1463040"/>
            <a:ext cx="2651760" cy="11887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91840" y="1463040"/>
            <a:ext cx="265176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1600200"/>
            <a:ext cx="2286000" cy="228600"/>
          </a:xfrm>
          <a:prstGeom prst="rect">
            <a:avLst/>
          </a:prstGeom>
          <a:noFill/>
        </p:spPr>
        <p:txBody>
          <a:bodyPr wrap="square">
            <a:spAutoFit/>
          </a:bodyPr>
          <a:lstStyle/>
          <a:p>
            <a:pPr algn="l">
              <a:defRPr sz="900" b="1" i="0">
                <a:solidFill>
                  <a:srgbClr val="9C92B5"/>
                </a:solidFill>
                <a:latin typeface="Segoe UI Semibold"/>
              </a:defRPr>
            </a:pPr>
            <a:r>
              <a:t>AGENCIES BOUND</a:t>
            </a:r>
          </a:p>
        </p:txBody>
      </p:sp>
      <p:sp>
        <p:nvSpPr>
          <p:cNvPr id="19" name="TextBox 18"/>
          <p:cNvSpPr txBox="1"/>
          <p:nvPr/>
        </p:nvSpPr>
        <p:spPr>
          <a:xfrm>
            <a:off x="3474720" y="1874520"/>
            <a:ext cx="2286000" cy="457200"/>
          </a:xfrm>
          <a:prstGeom prst="rect">
            <a:avLst/>
          </a:prstGeom>
          <a:noFill/>
        </p:spPr>
        <p:txBody>
          <a:bodyPr wrap="square">
            <a:spAutoFit/>
          </a:bodyPr>
          <a:lstStyle/>
          <a:p>
            <a:pPr algn="l">
              <a:defRPr sz="2800" b="1" i="0">
                <a:solidFill>
                  <a:srgbClr val="10B981"/>
                </a:solidFill>
                <a:latin typeface="Segoe UI Light"/>
              </a:defRPr>
            </a:pPr>
            <a:r>
              <a:t>0</a:t>
            </a:r>
          </a:p>
        </p:txBody>
      </p:sp>
      <p:sp>
        <p:nvSpPr>
          <p:cNvPr id="20" name="TextBox 19"/>
          <p:cNvSpPr txBox="1"/>
          <p:nvPr/>
        </p:nvSpPr>
        <p:spPr>
          <a:xfrm>
            <a:off x="3474720" y="2377440"/>
            <a:ext cx="2286000" cy="228600"/>
          </a:xfrm>
          <a:prstGeom prst="rect">
            <a:avLst/>
          </a:prstGeom>
          <a:noFill/>
        </p:spPr>
        <p:txBody>
          <a:bodyPr wrap="square">
            <a:spAutoFit/>
          </a:bodyPr>
          <a:lstStyle/>
          <a:p>
            <a:pPr algn="l">
              <a:defRPr sz="900" b="0" i="1">
                <a:solidFill>
                  <a:srgbClr val="A09CB0"/>
                </a:solidFill>
                <a:latin typeface="Segoe UI"/>
              </a:defRPr>
            </a:pPr>
            <a:r>
              <a:t>Matched to bound policies</a:t>
            </a:r>
          </a:p>
        </p:txBody>
      </p:sp>
      <p:sp>
        <p:nvSpPr>
          <p:cNvPr id="21" name="Rounded Rectangle 20"/>
          <p:cNvSpPr/>
          <p:nvPr/>
        </p:nvSpPr>
        <p:spPr>
          <a:xfrm>
            <a:off x="6217920" y="1463040"/>
            <a:ext cx="2651760" cy="11887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463040"/>
            <a:ext cx="265176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1600200"/>
            <a:ext cx="2286000" cy="228600"/>
          </a:xfrm>
          <a:prstGeom prst="rect">
            <a:avLst/>
          </a:prstGeom>
          <a:noFill/>
        </p:spPr>
        <p:txBody>
          <a:bodyPr wrap="square">
            <a:spAutoFit/>
          </a:bodyPr>
          <a:lstStyle/>
          <a:p>
            <a:pPr algn="l">
              <a:defRPr sz="900" b="1" i="0">
                <a:solidFill>
                  <a:srgbClr val="9C92B5"/>
                </a:solidFill>
                <a:latin typeface="Segoe UI Semibold"/>
              </a:defRPr>
            </a:pPr>
            <a:r>
              <a:t>CONVERSION RATE</a:t>
            </a:r>
          </a:p>
        </p:txBody>
      </p:sp>
      <p:sp>
        <p:nvSpPr>
          <p:cNvPr id="24" name="TextBox 23"/>
          <p:cNvSpPr txBox="1"/>
          <p:nvPr/>
        </p:nvSpPr>
        <p:spPr>
          <a:xfrm>
            <a:off x="6400800" y="1874520"/>
            <a:ext cx="2286000" cy="457200"/>
          </a:xfrm>
          <a:prstGeom prst="rect">
            <a:avLst/>
          </a:prstGeom>
          <a:noFill/>
        </p:spPr>
        <p:txBody>
          <a:bodyPr wrap="square">
            <a:spAutoFit/>
          </a:bodyPr>
          <a:lstStyle/>
          <a:p>
            <a:pPr algn="l">
              <a:defRPr sz="2800" b="1" i="0">
                <a:solidFill>
                  <a:srgbClr val="F59E0B"/>
                </a:solidFill>
                <a:latin typeface="Segoe UI Light"/>
              </a:defRPr>
            </a:pPr>
            <a:r>
              <a:t>0%</a:t>
            </a:r>
          </a:p>
        </p:txBody>
      </p:sp>
      <p:sp>
        <p:nvSpPr>
          <p:cNvPr id="25" name="TextBox 24"/>
          <p:cNvSpPr txBox="1"/>
          <p:nvPr/>
        </p:nvSpPr>
        <p:spPr>
          <a:xfrm>
            <a:off x="6400800" y="2377440"/>
            <a:ext cx="2286000" cy="228600"/>
          </a:xfrm>
          <a:prstGeom prst="rect">
            <a:avLst/>
          </a:prstGeom>
          <a:noFill/>
        </p:spPr>
        <p:txBody>
          <a:bodyPr wrap="square">
            <a:spAutoFit/>
          </a:bodyPr>
          <a:lstStyle/>
          <a:p>
            <a:pPr algn="l">
              <a:defRPr sz="900" b="0" i="1">
                <a:solidFill>
                  <a:srgbClr val="A09CB0"/>
                </a:solidFill>
                <a:latin typeface="Segoe UI"/>
              </a:defRPr>
            </a:pPr>
            <a:r>
              <a:t>Outreach → Bind</a:t>
            </a:r>
          </a:p>
        </p:txBody>
      </p:sp>
      <p:sp>
        <p:nvSpPr>
          <p:cNvPr id="26" name="Rounded Rectangle 25"/>
          <p:cNvSpPr/>
          <p:nvPr/>
        </p:nvSpPr>
        <p:spPr>
          <a:xfrm>
            <a:off x="9144000" y="1463040"/>
            <a:ext cx="2651760" cy="11887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44000" y="1463040"/>
            <a:ext cx="265176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1600200"/>
            <a:ext cx="2286000" cy="228600"/>
          </a:xfrm>
          <a:prstGeom prst="rect">
            <a:avLst/>
          </a:prstGeom>
          <a:noFill/>
        </p:spPr>
        <p:txBody>
          <a:bodyPr wrap="square">
            <a:spAutoFit/>
          </a:bodyPr>
          <a:lstStyle/>
          <a:p>
            <a:pPr algn="l">
              <a:defRPr sz="900" b="1" i="0">
                <a:solidFill>
                  <a:srgbClr val="9C92B5"/>
                </a:solidFill>
                <a:latin typeface="Segoe UI Semibold"/>
              </a:defRPr>
            </a:pPr>
            <a:r>
              <a:t>PIPELINE</a:t>
            </a:r>
          </a:p>
        </p:txBody>
      </p:sp>
      <p:sp>
        <p:nvSpPr>
          <p:cNvPr id="29" name="TextBox 28"/>
          <p:cNvSpPr txBox="1"/>
          <p:nvPr/>
        </p:nvSpPr>
        <p:spPr>
          <a:xfrm>
            <a:off x="9326880" y="1874520"/>
            <a:ext cx="2286000" cy="457200"/>
          </a:xfrm>
          <a:prstGeom prst="rect">
            <a:avLst/>
          </a:prstGeom>
          <a:noFill/>
        </p:spPr>
        <p:txBody>
          <a:bodyPr wrap="square">
            <a:spAutoFit/>
          </a:bodyPr>
          <a:lstStyle/>
          <a:p>
            <a:pPr algn="l">
              <a:defRPr sz="2800" b="1" i="0">
                <a:solidFill>
                  <a:srgbClr val="8B5CF6"/>
                </a:solidFill>
                <a:latin typeface="Segoe UI Light"/>
              </a:defRPr>
            </a:pPr>
            <a:r>
              <a:t>0</a:t>
            </a:r>
          </a:p>
        </p:txBody>
      </p:sp>
      <p:sp>
        <p:nvSpPr>
          <p:cNvPr id="30" name="TextBox 29"/>
          <p:cNvSpPr txBox="1"/>
          <p:nvPr/>
        </p:nvSpPr>
        <p:spPr>
          <a:xfrm>
            <a:off x="9326880" y="2377440"/>
            <a:ext cx="2286000" cy="228600"/>
          </a:xfrm>
          <a:prstGeom prst="rect">
            <a:avLst/>
          </a:prstGeom>
          <a:noFill/>
        </p:spPr>
        <p:txBody>
          <a:bodyPr wrap="square">
            <a:spAutoFit/>
          </a:bodyPr>
          <a:lstStyle/>
          <a:p>
            <a:pPr algn="l">
              <a:defRPr sz="900" b="0" i="1">
                <a:solidFill>
                  <a:srgbClr val="A09CB0"/>
                </a:solidFill>
                <a:latin typeface="Segoe UI"/>
              </a:defRPr>
            </a:pPr>
            <a:r>
              <a:t>Contacted, not yet bound</a:t>
            </a:r>
          </a:p>
        </p:txBody>
      </p:sp>
      <p:graphicFrame>
        <p:nvGraphicFramePr>
          <p:cNvPr id="31" name="Table 30"/>
          <p:cNvGraphicFramePr>
            <a:graphicFrameLocks noGrp="1"/>
          </p:cNvGraphicFramePr>
          <p:nvPr/>
        </p:nvGraphicFramePr>
        <p:xfrm>
          <a:off x="365760" y="2926080"/>
          <a:ext cx="10058400" cy="265176"/>
        </p:xfrm>
        <a:graphic>
          <a:graphicData uri="http://schemas.openxmlformats.org/drawingml/2006/table">
            <a:tbl>
              <a:tblPr firstRow="0" bandRow="0" bandCol="0" lastRow="0">
                <a:tableStyleId>{5C22544A-7EE6-4342-B048-85BDC9FD1C3A}</a:tableStyleId>
              </a:tblPr>
              <a:tblGrid>
                <a:gridCol w="2560320"/>
                <a:gridCol w="1554480"/>
                <a:gridCol w="868680"/>
                <a:gridCol w="2377440"/>
                <a:gridCol w="868680"/>
                <a:gridCol w="1005840"/>
                <a:gridCol w="822960"/>
              </a:tblGrid>
              <a:tr h="265176">
                <a:tc>
                  <a:txBody>
                    <a:bodyPr/>
                    <a:lstStyle/>
                    <a:p>
                      <a:pPr algn="l">
                        <a:defRPr sz="8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Contact</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Outreach</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Bound Insured</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Bind Date</a:t>
                      </a:r>
                    </a:p>
                  </a:txBody>
                  <a:tcPr anchor="ctr" marL="76200" marR="76200" marT="38100" marB="38100">
                    <a:solidFill>
                      <a:srgbClr val="5B21B6"/>
                    </a:solidFill>
                    <a:lnL w="0">
                      <a:noFill/>
                    </a:lnL>
                    <a:lnR w="0">
                      <a:noFill/>
                    </a:lnR>
                    <a:lnT w="0">
                      <a:noFill/>
                    </a:lnT>
                    <a:lnB w="0">
                      <a:noFill/>
                    </a:lnB>
                  </a:tcPr>
                </a:tc>
                <a:tc>
                  <a:txBody>
                    <a:bodyPr/>
                    <a:lstStyle/>
                    <a:p>
                      <a:pPr algn="r">
                        <a:defRPr sz="800" b="1">
                          <a:solidFill>
                            <a:srgbClr val="FFFFFF"/>
                          </a:solidFill>
                          <a:latin typeface="Segoe UI Semibold"/>
                        </a:defRPr>
                      </a:pPr>
                      <a:r>
                        <a:t>Premium</a:t>
                      </a:r>
                    </a:p>
                  </a:txBody>
                  <a:tcPr anchor="ctr" marL="76200" marR="76200" marT="38100" marB="38100">
                    <a:solidFill>
                      <a:srgbClr val="5B21B6"/>
                    </a:solidFill>
                    <a:lnL w="0">
                      <a:noFill/>
                    </a:lnL>
                    <a:lnR w="0">
                      <a:noFill/>
                    </a:lnR>
                    <a:lnT w="0">
                      <a:noFill/>
                    </a:lnT>
                    <a:lnB w="0">
                      <a:noFill/>
                    </a:lnB>
                  </a:tcPr>
                </a:tc>
                <a:tc>
                  <a:txBody>
                    <a:bodyPr/>
                    <a:lstStyle/>
                    <a:p>
                      <a:pPr algn="l">
                        <a:defRPr sz="800" b="1">
                          <a:solidFill>
                            <a:srgbClr val="FFFFFF"/>
                          </a:solidFill>
                          <a:latin typeface="Segoe UI Semibold"/>
                        </a:defRPr>
                      </a:pPr>
                      <a:r>
                        <a:t>Status</a:t>
                      </a:r>
                    </a:p>
                  </a:txBody>
                  <a:tcPr anchor="ctr" marL="76200" marR="76200" marT="38100" marB="38100">
                    <a:solidFill>
                      <a:srgbClr val="5B21B6"/>
                    </a:solidFill>
                    <a:lnL w="0">
                      <a:noFill/>
                    </a:lnL>
                    <a:lnR w="0">
                      <a:noFill/>
                    </a:lnR>
                    <a:lnT w="0">
                      <a:noFill/>
                    </a:lnT>
                    <a:lnB w="0">
                      <a:noFill/>
                    </a:lnB>
                  </a:tcPr>
                </a:tc>
              </a:tr>
            </a:tbl>
          </a:graphicData>
        </a:graphic>
      </p:graphicFrame>
      <p:sp>
        <p:nvSpPr>
          <p:cNvPr id="32" name="Rectangle 31"/>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34" name="TextBox 33"/>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200" b="1" i="0">
                <a:solidFill>
                  <a:srgbClr val="FFFFFF"/>
                </a:solidFill>
                <a:latin typeface="Segoe UI Light"/>
              </a:defRPr>
            </a:pPr>
            <a:r>
              <a:t>ACTIVITY &amp; SUBMISSIONS TIMELINE</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Outreach Cadence vs. Submission Volume</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457200" y="1554480"/>
          <a:ext cx="7315200" cy="4572000"/>
        </p:xfrm>
        <a:graphic>
          <a:graphicData uri="http://schemas.openxmlformats.org/drawingml/2006/chart">
            <c:chart xmlns:c="http://schemas.openxmlformats.org/drawingml/2006/chart" r:id="rId2"/>
          </a:graphicData>
        </a:graphic>
      </p:graphicFrame>
      <p:sp>
        <p:nvSpPr>
          <p:cNvPr id="12" name="Rounded Rectangle 11"/>
          <p:cNvSpPr/>
          <p:nvPr/>
        </p:nvSpPr>
        <p:spPr>
          <a:xfrm>
            <a:off x="8229600" y="1554480"/>
            <a:ext cx="3657600" cy="1371600"/>
          </a:xfrm>
          <a:prstGeom prst="roundRect">
            <a:avLst>
              <a:gd name="adj" fmla="val 8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1554480"/>
            <a:ext cx="54864" cy="1371600"/>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691640"/>
            <a:ext cx="3291840" cy="274320"/>
          </a:xfrm>
          <a:prstGeom prst="rect">
            <a:avLst/>
          </a:prstGeom>
          <a:noFill/>
        </p:spPr>
        <p:txBody>
          <a:bodyPr wrap="square">
            <a:spAutoFit/>
          </a:bodyPr>
          <a:lstStyle/>
          <a:p>
            <a:pPr algn="l">
              <a:defRPr sz="1400" b="1" i="0">
                <a:solidFill>
                  <a:srgbClr val="1E073B"/>
                </a:solidFill>
                <a:latin typeface="Segoe UI"/>
              </a:defRPr>
            </a:pPr>
            <a:r>
              <a:t>Peak Activity Week</a:t>
            </a:r>
          </a:p>
        </p:txBody>
      </p:sp>
      <p:sp>
        <p:nvSpPr>
          <p:cNvPr id="15" name="TextBox 14"/>
          <p:cNvSpPr txBox="1"/>
          <p:nvPr/>
        </p:nvSpPr>
        <p:spPr>
          <a:xfrm>
            <a:off x="8412480" y="2011680"/>
            <a:ext cx="3291840" cy="274320"/>
          </a:xfrm>
          <a:prstGeom prst="rect">
            <a:avLst/>
          </a:prstGeom>
          <a:noFill/>
        </p:spPr>
        <p:txBody>
          <a:bodyPr wrap="square">
            <a:spAutoFit/>
          </a:bodyPr>
          <a:lstStyle/>
          <a:p>
            <a:pPr algn="l">
              <a:defRPr sz="1100" b="0" i="0">
                <a:solidFill>
                  <a:srgbClr val="6B5F83"/>
                </a:solidFill>
                <a:latin typeface="Segoe UI"/>
              </a:defRPr>
            </a:pPr>
            <a:r>
              <a:t>Week of 02/16</a:t>
            </a:r>
          </a:p>
        </p:txBody>
      </p:sp>
      <p:sp>
        <p:nvSpPr>
          <p:cNvPr id="16" name="TextBox 15"/>
          <p:cNvSpPr txBox="1"/>
          <p:nvPr/>
        </p:nvSpPr>
        <p:spPr>
          <a:xfrm>
            <a:off x="8412480" y="2286000"/>
            <a:ext cx="3291840" cy="365760"/>
          </a:xfrm>
          <a:prstGeom prst="rect">
            <a:avLst/>
          </a:prstGeom>
          <a:noFill/>
        </p:spPr>
        <p:txBody>
          <a:bodyPr wrap="square">
            <a:spAutoFit/>
          </a:bodyPr>
          <a:lstStyle/>
          <a:p>
            <a:pPr algn="l">
              <a:defRPr sz="2400" b="1" i="0">
                <a:solidFill>
                  <a:srgbClr val="7C3AED"/>
                </a:solidFill>
                <a:latin typeface="Segoe UI Light"/>
              </a:defRPr>
            </a:pPr>
            <a:r>
              <a:t>18 notes/calls</a:t>
            </a:r>
          </a:p>
        </p:txBody>
      </p:sp>
      <p:sp>
        <p:nvSpPr>
          <p:cNvPr id="17" name="Rounded Rectangle 16"/>
          <p:cNvSpPr/>
          <p:nvPr/>
        </p:nvSpPr>
        <p:spPr>
          <a:xfrm>
            <a:off x="8229600" y="3200400"/>
            <a:ext cx="3657600" cy="109728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0" y="3383280"/>
            <a:ext cx="54864" cy="7315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0" y="3291840"/>
            <a:ext cx="3200400" cy="274320"/>
          </a:xfrm>
          <a:prstGeom prst="rect">
            <a:avLst/>
          </a:prstGeom>
          <a:noFill/>
        </p:spPr>
        <p:txBody>
          <a:bodyPr wrap="square">
            <a:spAutoFit/>
          </a:bodyPr>
          <a:lstStyle/>
          <a:p>
            <a:pPr algn="l">
              <a:defRPr sz="1200" b="1" i="0">
                <a:solidFill>
                  <a:srgbClr val="1E073B"/>
                </a:solidFill>
                <a:latin typeface="Segoe UI"/>
              </a:defRPr>
            </a:pPr>
            <a:r>
              <a:t>Jan Submissions</a:t>
            </a:r>
          </a:p>
        </p:txBody>
      </p:sp>
      <p:sp>
        <p:nvSpPr>
          <p:cNvPr id="20" name="TextBox 19"/>
          <p:cNvSpPr txBox="1"/>
          <p:nvPr/>
        </p:nvSpPr>
        <p:spPr>
          <a:xfrm>
            <a:off x="8412480" y="3657600"/>
            <a:ext cx="3200400" cy="365760"/>
          </a:xfrm>
          <a:prstGeom prst="rect">
            <a:avLst/>
          </a:prstGeom>
          <a:noFill/>
        </p:spPr>
        <p:txBody>
          <a:bodyPr wrap="square">
            <a:spAutoFit/>
          </a:bodyPr>
          <a:lstStyle/>
          <a:p>
            <a:pPr algn="l">
              <a:defRPr sz="2800" b="1" i="0">
                <a:solidFill>
                  <a:srgbClr val="10B981"/>
                </a:solidFill>
                <a:latin typeface="Segoe UI Light"/>
              </a:defRPr>
            </a:pPr>
            <a:r>
              <a:t>911</a:t>
            </a:r>
          </a:p>
        </p:txBody>
      </p:sp>
      <p:sp>
        <p:nvSpPr>
          <p:cNvPr id="21" name="TextBox 20"/>
          <p:cNvSpPr txBox="1"/>
          <p:nvPr/>
        </p:nvSpPr>
        <p:spPr>
          <a:xfrm>
            <a:off x="8412480" y="4023360"/>
            <a:ext cx="3200400" cy="182880"/>
          </a:xfrm>
          <a:prstGeom prst="rect">
            <a:avLst/>
          </a:prstGeom>
          <a:noFill/>
        </p:spPr>
        <p:txBody>
          <a:bodyPr wrap="square">
            <a:spAutoFit/>
          </a:bodyPr>
          <a:lstStyle/>
          <a:p>
            <a:pPr algn="l">
              <a:defRPr sz="900" b="0" i="0">
                <a:solidFill>
                  <a:srgbClr val="6B5F83"/>
                </a:solidFill>
                <a:latin typeface="Segoe UI"/>
              </a:defRPr>
            </a:pPr>
            <a:r>
              <a:t>471 quoted  |  13 bound</a:t>
            </a:r>
          </a:p>
        </p:txBody>
      </p:sp>
      <p:sp>
        <p:nvSpPr>
          <p:cNvPr id="22" name="Rounded Rectangle 21"/>
          <p:cNvSpPr/>
          <p:nvPr/>
        </p:nvSpPr>
        <p:spPr>
          <a:xfrm>
            <a:off x="8229600" y="4480560"/>
            <a:ext cx="3657600" cy="109728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4663440"/>
            <a:ext cx="54864" cy="7315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0" y="4572000"/>
            <a:ext cx="3200400" cy="274320"/>
          </a:xfrm>
          <a:prstGeom prst="rect">
            <a:avLst/>
          </a:prstGeom>
          <a:noFill/>
        </p:spPr>
        <p:txBody>
          <a:bodyPr wrap="square">
            <a:spAutoFit/>
          </a:bodyPr>
          <a:lstStyle/>
          <a:p>
            <a:pPr algn="l">
              <a:defRPr sz="1200" b="1" i="0">
                <a:solidFill>
                  <a:srgbClr val="1E073B"/>
                </a:solidFill>
                <a:latin typeface="Segoe UI"/>
              </a:defRPr>
            </a:pPr>
            <a:r>
              <a:t>Feb Submissions</a:t>
            </a:r>
          </a:p>
        </p:txBody>
      </p:sp>
      <p:sp>
        <p:nvSpPr>
          <p:cNvPr id="25" name="TextBox 24"/>
          <p:cNvSpPr txBox="1"/>
          <p:nvPr/>
        </p:nvSpPr>
        <p:spPr>
          <a:xfrm>
            <a:off x="8412480" y="4937760"/>
            <a:ext cx="3200400" cy="365760"/>
          </a:xfrm>
          <a:prstGeom prst="rect">
            <a:avLst/>
          </a:prstGeom>
          <a:noFill/>
        </p:spPr>
        <p:txBody>
          <a:bodyPr wrap="square">
            <a:spAutoFit/>
          </a:bodyPr>
          <a:lstStyle/>
          <a:p>
            <a:pPr algn="l">
              <a:defRPr sz="2800" b="1" i="0">
                <a:solidFill>
                  <a:srgbClr val="10B981"/>
                </a:solidFill>
                <a:latin typeface="Segoe UI Light"/>
              </a:defRPr>
            </a:pPr>
            <a:r>
              <a:t>1166</a:t>
            </a:r>
          </a:p>
        </p:txBody>
      </p:sp>
      <p:sp>
        <p:nvSpPr>
          <p:cNvPr id="26" name="TextBox 25"/>
          <p:cNvSpPr txBox="1"/>
          <p:nvPr/>
        </p:nvSpPr>
        <p:spPr>
          <a:xfrm>
            <a:off x="8412480" y="5303520"/>
            <a:ext cx="3200400" cy="182880"/>
          </a:xfrm>
          <a:prstGeom prst="rect">
            <a:avLst/>
          </a:prstGeom>
          <a:noFill/>
        </p:spPr>
        <p:txBody>
          <a:bodyPr wrap="square">
            <a:spAutoFit/>
          </a:bodyPr>
          <a:lstStyle/>
          <a:p>
            <a:pPr algn="l">
              <a:defRPr sz="900" b="0" i="0">
                <a:solidFill>
                  <a:srgbClr val="6B5F83"/>
                </a:solidFill>
                <a:latin typeface="Segoe UI"/>
              </a:defRPr>
            </a:pPr>
            <a:r>
              <a:t>589 quoted  |  25 bound</a:t>
            </a:r>
          </a:p>
        </p:txBody>
      </p:sp>
      <p:sp>
        <p:nvSpPr>
          <p:cNvPr id="27" name="Rounded Rectangle 26"/>
          <p:cNvSpPr/>
          <p:nvPr/>
        </p:nvSpPr>
        <p:spPr>
          <a:xfrm>
            <a:off x="8229600" y="5760720"/>
            <a:ext cx="3657600" cy="1097280"/>
          </a:xfrm>
          <a:prstGeom prst="roundRect">
            <a:avLst>
              <a:gd name="adj" fmla="val 6000"/>
            </a:avLst>
          </a:prstGeom>
          <a:solidFill>
            <a:srgbClr val="FFFFFF"/>
          </a:solidFill>
          <a:ln w="6350">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0" y="5943600"/>
            <a:ext cx="54864" cy="7315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0" y="5852160"/>
            <a:ext cx="3200400" cy="274320"/>
          </a:xfrm>
          <a:prstGeom prst="rect">
            <a:avLst/>
          </a:prstGeom>
          <a:noFill/>
        </p:spPr>
        <p:txBody>
          <a:bodyPr wrap="square">
            <a:spAutoFit/>
          </a:bodyPr>
          <a:lstStyle/>
          <a:p>
            <a:pPr algn="l">
              <a:defRPr sz="1200" b="1" i="0">
                <a:solidFill>
                  <a:srgbClr val="1E073B"/>
                </a:solidFill>
                <a:latin typeface="Segoe UI"/>
              </a:defRPr>
            </a:pPr>
            <a:r>
              <a:t>Mar Submissions</a:t>
            </a:r>
          </a:p>
        </p:txBody>
      </p:sp>
      <p:sp>
        <p:nvSpPr>
          <p:cNvPr id="30" name="TextBox 29"/>
          <p:cNvSpPr txBox="1"/>
          <p:nvPr/>
        </p:nvSpPr>
        <p:spPr>
          <a:xfrm>
            <a:off x="8412480" y="6217920"/>
            <a:ext cx="3200400" cy="365760"/>
          </a:xfrm>
          <a:prstGeom prst="rect">
            <a:avLst/>
          </a:prstGeom>
          <a:noFill/>
        </p:spPr>
        <p:txBody>
          <a:bodyPr wrap="square">
            <a:spAutoFit/>
          </a:bodyPr>
          <a:lstStyle/>
          <a:p>
            <a:pPr algn="l">
              <a:defRPr sz="2800" b="1" i="0">
                <a:solidFill>
                  <a:srgbClr val="10B981"/>
                </a:solidFill>
                <a:latin typeface="Segoe UI Light"/>
              </a:defRPr>
            </a:pPr>
            <a:r>
              <a:t>1607</a:t>
            </a:r>
          </a:p>
        </p:txBody>
      </p:sp>
      <p:sp>
        <p:nvSpPr>
          <p:cNvPr id="31" name="TextBox 30"/>
          <p:cNvSpPr txBox="1"/>
          <p:nvPr/>
        </p:nvSpPr>
        <p:spPr>
          <a:xfrm>
            <a:off x="8412480" y="6583680"/>
            <a:ext cx="3200400" cy="182880"/>
          </a:xfrm>
          <a:prstGeom prst="rect">
            <a:avLst/>
          </a:prstGeom>
          <a:noFill/>
        </p:spPr>
        <p:txBody>
          <a:bodyPr wrap="square">
            <a:spAutoFit/>
          </a:bodyPr>
          <a:lstStyle/>
          <a:p>
            <a:pPr algn="l">
              <a:defRPr sz="900" b="0" i="0">
                <a:solidFill>
                  <a:srgbClr val="6B5F83"/>
                </a:solidFill>
                <a:latin typeface="Segoe UI"/>
              </a:defRPr>
            </a:pPr>
            <a:r>
              <a:t>870 quoted  |  51 bound</a:t>
            </a:r>
          </a:p>
        </p:txBody>
      </p:sp>
      <p:sp>
        <p:nvSpPr>
          <p:cNvPr id="32" name="Rectangle 31"/>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34" name="TextBox 33"/>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200" b="1" i="0">
                <a:solidFill>
                  <a:srgbClr val="FFFFFF"/>
                </a:solidFill>
                <a:latin typeface="Segoe UI Light"/>
              </a:defRPr>
            </a:pPr>
            <a:r>
              <a:t>MARSH / MMA CONCENTRATION ANALYSIS</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Westy's Outreach Portfolio  |  22 Total Notes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5760" y="1463040"/>
            <a:ext cx="2651760" cy="11887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17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00200"/>
            <a:ext cx="2286000" cy="228600"/>
          </a:xfrm>
          <a:prstGeom prst="rect">
            <a:avLst/>
          </a:prstGeom>
          <a:noFill/>
        </p:spPr>
        <p:txBody>
          <a:bodyPr wrap="square">
            <a:spAutoFit/>
          </a:bodyPr>
          <a:lstStyle/>
          <a:p>
            <a:pPr algn="l">
              <a:defRPr sz="900" b="1" i="0">
                <a:solidFill>
                  <a:srgbClr val="9C92B5"/>
                </a:solidFill>
                <a:latin typeface="Segoe UI Semibold"/>
              </a:defRPr>
            </a:pPr>
            <a:r>
              <a:t>TOTAL OUTREACH</a:t>
            </a:r>
          </a:p>
        </p:txBody>
      </p:sp>
      <p:sp>
        <p:nvSpPr>
          <p:cNvPr id="14" name="TextBox 13"/>
          <p:cNvSpPr txBox="1"/>
          <p:nvPr/>
        </p:nvSpPr>
        <p:spPr>
          <a:xfrm>
            <a:off x="548640" y="1874520"/>
            <a:ext cx="2286000" cy="457200"/>
          </a:xfrm>
          <a:prstGeom prst="rect">
            <a:avLst/>
          </a:prstGeom>
          <a:noFill/>
        </p:spPr>
        <p:txBody>
          <a:bodyPr wrap="square">
            <a:spAutoFit/>
          </a:bodyPr>
          <a:lstStyle/>
          <a:p>
            <a:pPr algn="l">
              <a:defRPr sz="2800" b="1" i="0">
                <a:solidFill>
                  <a:srgbClr val="7C3AED"/>
                </a:solidFill>
                <a:latin typeface="Segoe UI Light"/>
              </a:defRPr>
            </a:pPr>
            <a:r>
              <a:t>22</a:t>
            </a:r>
          </a:p>
        </p:txBody>
      </p:sp>
      <p:sp>
        <p:nvSpPr>
          <p:cNvPr id="15" name="TextBox 14"/>
          <p:cNvSpPr txBox="1"/>
          <p:nvPr/>
        </p:nvSpPr>
        <p:spPr>
          <a:xfrm>
            <a:off x="548640" y="2377440"/>
            <a:ext cx="2286000" cy="228600"/>
          </a:xfrm>
          <a:prstGeom prst="rect">
            <a:avLst/>
          </a:prstGeom>
          <a:noFill/>
        </p:spPr>
        <p:txBody>
          <a:bodyPr wrap="square">
            <a:spAutoFit/>
          </a:bodyPr>
          <a:lstStyle/>
          <a:p>
            <a:pPr algn="l">
              <a:defRPr sz="900" b="0" i="1">
                <a:solidFill>
                  <a:srgbClr val="A09CB0"/>
                </a:solidFill>
                <a:latin typeface="Segoe UI"/>
              </a:defRPr>
            </a:pPr>
            <a:r>
              <a:t>Westy's notes/calls</a:t>
            </a:r>
          </a:p>
        </p:txBody>
      </p:sp>
      <p:sp>
        <p:nvSpPr>
          <p:cNvPr id="16" name="Rounded Rectangle 15"/>
          <p:cNvSpPr/>
          <p:nvPr/>
        </p:nvSpPr>
        <p:spPr>
          <a:xfrm>
            <a:off x="3291840" y="1463040"/>
            <a:ext cx="2651760" cy="11887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91840" y="1463040"/>
            <a:ext cx="2651760" cy="54864"/>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1600200"/>
            <a:ext cx="2286000" cy="228600"/>
          </a:xfrm>
          <a:prstGeom prst="rect">
            <a:avLst/>
          </a:prstGeom>
          <a:noFill/>
        </p:spPr>
        <p:txBody>
          <a:bodyPr wrap="square">
            <a:spAutoFit/>
          </a:bodyPr>
          <a:lstStyle/>
          <a:p>
            <a:pPr algn="l">
              <a:defRPr sz="900" b="1" i="0">
                <a:solidFill>
                  <a:srgbClr val="9C92B5"/>
                </a:solidFill>
                <a:latin typeface="Segoe UI Semibold"/>
              </a:defRPr>
            </a:pPr>
            <a:r>
              <a:t>MARSH-RELATED</a:t>
            </a:r>
          </a:p>
        </p:txBody>
      </p:sp>
      <p:sp>
        <p:nvSpPr>
          <p:cNvPr id="19" name="TextBox 18"/>
          <p:cNvSpPr txBox="1"/>
          <p:nvPr/>
        </p:nvSpPr>
        <p:spPr>
          <a:xfrm>
            <a:off x="3474720" y="1874520"/>
            <a:ext cx="2286000" cy="457200"/>
          </a:xfrm>
          <a:prstGeom prst="rect">
            <a:avLst/>
          </a:prstGeom>
          <a:noFill/>
        </p:spPr>
        <p:txBody>
          <a:bodyPr wrap="square">
            <a:spAutoFit/>
          </a:bodyPr>
          <a:lstStyle/>
          <a:p>
            <a:pPr algn="l">
              <a:defRPr sz="2800" b="1" i="0">
                <a:solidFill>
                  <a:srgbClr val="D946EF"/>
                </a:solidFill>
                <a:latin typeface="Segoe UI Light"/>
              </a:defRPr>
            </a:pPr>
            <a:r>
              <a:t>3</a:t>
            </a:r>
          </a:p>
        </p:txBody>
      </p:sp>
      <p:sp>
        <p:nvSpPr>
          <p:cNvPr id="20" name="TextBox 19"/>
          <p:cNvSpPr txBox="1"/>
          <p:nvPr/>
        </p:nvSpPr>
        <p:spPr>
          <a:xfrm>
            <a:off x="3474720" y="2377440"/>
            <a:ext cx="2286000" cy="228600"/>
          </a:xfrm>
          <a:prstGeom prst="rect">
            <a:avLst/>
          </a:prstGeom>
          <a:noFill/>
        </p:spPr>
        <p:txBody>
          <a:bodyPr wrap="square">
            <a:spAutoFit/>
          </a:bodyPr>
          <a:lstStyle/>
          <a:p>
            <a:pPr algn="l">
              <a:defRPr sz="900" b="0" i="1">
                <a:solidFill>
                  <a:srgbClr val="A09CB0"/>
                </a:solidFill>
                <a:latin typeface="Segoe UI"/>
              </a:defRPr>
            </a:pPr>
            <a:r>
              <a:t>14% of total</a:t>
            </a:r>
          </a:p>
        </p:txBody>
      </p:sp>
      <p:sp>
        <p:nvSpPr>
          <p:cNvPr id="21" name="Rounded Rectangle 20"/>
          <p:cNvSpPr/>
          <p:nvPr/>
        </p:nvSpPr>
        <p:spPr>
          <a:xfrm>
            <a:off x="6217920" y="1463040"/>
            <a:ext cx="2651760" cy="11887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463040"/>
            <a:ext cx="265176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1600200"/>
            <a:ext cx="2286000" cy="228600"/>
          </a:xfrm>
          <a:prstGeom prst="rect">
            <a:avLst/>
          </a:prstGeom>
          <a:noFill/>
        </p:spPr>
        <p:txBody>
          <a:bodyPr wrap="square">
            <a:spAutoFit/>
          </a:bodyPr>
          <a:lstStyle/>
          <a:p>
            <a:pPr algn="l">
              <a:defRPr sz="900" b="1" i="0">
                <a:solidFill>
                  <a:srgbClr val="9C92B5"/>
                </a:solidFill>
                <a:latin typeface="Segoe UI Semibold"/>
              </a:defRPr>
            </a:pPr>
            <a:r>
              <a:t>UNIQUE CONTACTS</a:t>
            </a:r>
          </a:p>
        </p:txBody>
      </p:sp>
      <p:sp>
        <p:nvSpPr>
          <p:cNvPr id="24" name="TextBox 23"/>
          <p:cNvSpPr txBox="1"/>
          <p:nvPr/>
        </p:nvSpPr>
        <p:spPr>
          <a:xfrm>
            <a:off x="6400800" y="1874520"/>
            <a:ext cx="2286000" cy="457200"/>
          </a:xfrm>
          <a:prstGeom prst="rect">
            <a:avLst/>
          </a:prstGeom>
          <a:noFill/>
        </p:spPr>
        <p:txBody>
          <a:bodyPr wrap="square">
            <a:spAutoFit/>
          </a:bodyPr>
          <a:lstStyle/>
          <a:p>
            <a:pPr algn="l">
              <a:defRPr sz="2800" b="1" i="0">
                <a:solidFill>
                  <a:srgbClr val="8B5CF6"/>
                </a:solidFill>
                <a:latin typeface="Segoe UI Light"/>
              </a:defRPr>
            </a:pPr>
            <a:r>
              <a:t>0</a:t>
            </a:r>
          </a:p>
        </p:txBody>
      </p:sp>
      <p:sp>
        <p:nvSpPr>
          <p:cNvPr id="25" name="TextBox 24"/>
          <p:cNvSpPr txBox="1"/>
          <p:nvPr/>
        </p:nvSpPr>
        <p:spPr>
          <a:xfrm>
            <a:off x="6400800" y="2377440"/>
            <a:ext cx="2286000" cy="228600"/>
          </a:xfrm>
          <a:prstGeom prst="rect">
            <a:avLst/>
          </a:prstGeom>
          <a:noFill/>
        </p:spPr>
        <p:txBody>
          <a:bodyPr wrap="square">
            <a:spAutoFit/>
          </a:bodyPr>
          <a:lstStyle/>
          <a:p>
            <a:pPr algn="l">
              <a:defRPr sz="900" b="0" i="1">
                <a:solidFill>
                  <a:srgbClr val="A09CB0"/>
                </a:solidFill>
                <a:latin typeface="Segoe UI"/>
              </a:defRPr>
            </a:pPr>
            <a:r>
              <a:t>At Marsh/MMA</a:t>
            </a:r>
          </a:p>
        </p:txBody>
      </p:sp>
      <p:sp>
        <p:nvSpPr>
          <p:cNvPr id="26" name="Rounded Rectangle 25"/>
          <p:cNvSpPr/>
          <p:nvPr/>
        </p:nvSpPr>
        <p:spPr>
          <a:xfrm>
            <a:off x="9144000" y="1463040"/>
            <a:ext cx="2651760" cy="1188720"/>
          </a:xfrm>
          <a:prstGeom prst="roundRect">
            <a:avLst>
              <a:gd name="adj" fmla="val 8000"/>
            </a:avLst>
          </a:prstGeom>
          <a:solidFill>
            <a:srgbClr val="FFFFFF"/>
          </a:solidFill>
          <a:ln w="6350">
            <a:solidFill>
              <a:srgbClr val="EDE9FE"/>
            </a:solidFill>
          </a:ln>
          <a:effectLst>
            <a:outerShdw blurRad="76200" dist="25400" dir="5400000" algn="bl" rotWithShape="0">
              <a:srgbClr val="C4B5FD">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44000" y="1463040"/>
            <a:ext cx="265176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1600200"/>
            <a:ext cx="2286000" cy="228600"/>
          </a:xfrm>
          <a:prstGeom prst="rect">
            <a:avLst/>
          </a:prstGeom>
          <a:noFill/>
        </p:spPr>
        <p:txBody>
          <a:bodyPr wrap="square">
            <a:spAutoFit/>
          </a:bodyPr>
          <a:lstStyle/>
          <a:p>
            <a:pPr algn="l">
              <a:defRPr sz="900" b="1" i="0">
                <a:solidFill>
                  <a:srgbClr val="9C92B5"/>
                </a:solidFill>
                <a:latin typeface="Segoe UI Semibold"/>
              </a:defRPr>
            </a:pPr>
            <a:r>
              <a:t>NON-MARSH</a:t>
            </a:r>
          </a:p>
        </p:txBody>
      </p:sp>
      <p:sp>
        <p:nvSpPr>
          <p:cNvPr id="29" name="TextBox 28"/>
          <p:cNvSpPr txBox="1"/>
          <p:nvPr/>
        </p:nvSpPr>
        <p:spPr>
          <a:xfrm>
            <a:off x="9326880" y="1874520"/>
            <a:ext cx="2286000" cy="457200"/>
          </a:xfrm>
          <a:prstGeom prst="rect">
            <a:avLst/>
          </a:prstGeom>
          <a:noFill/>
        </p:spPr>
        <p:txBody>
          <a:bodyPr wrap="square">
            <a:spAutoFit/>
          </a:bodyPr>
          <a:lstStyle/>
          <a:p>
            <a:pPr algn="l">
              <a:defRPr sz="2800" b="1" i="0">
                <a:solidFill>
                  <a:srgbClr val="10B981"/>
                </a:solidFill>
                <a:latin typeface="Segoe UI Light"/>
              </a:defRPr>
            </a:pPr>
            <a:r>
              <a:t>0</a:t>
            </a:r>
          </a:p>
        </p:txBody>
      </p:sp>
      <p:sp>
        <p:nvSpPr>
          <p:cNvPr id="30" name="TextBox 29"/>
          <p:cNvSpPr txBox="1"/>
          <p:nvPr/>
        </p:nvSpPr>
        <p:spPr>
          <a:xfrm>
            <a:off x="9326880" y="2377440"/>
            <a:ext cx="2286000" cy="228600"/>
          </a:xfrm>
          <a:prstGeom prst="rect">
            <a:avLst/>
          </a:prstGeom>
          <a:noFill/>
        </p:spPr>
        <p:txBody>
          <a:bodyPr wrap="square">
            <a:spAutoFit/>
          </a:bodyPr>
          <a:lstStyle/>
          <a:p>
            <a:pPr algn="l">
              <a:defRPr sz="900" b="0" i="1">
                <a:solidFill>
                  <a:srgbClr val="A09CB0"/>
                </a:solidFill>
                <a:latin typeface="Segoe UI"/>
              </a:defRPr>
            </a:pPr>
            <a:r>
              <a:t>Diversification targets</a:t>
            </a:r>
          </a:p>
        </p:txBody>
      </p:sp>
      <p:sp>
        <p:nvSpPr>
          <p:cNvPr id="31" name="Rounded Rectangle 30"/>
          <p:cNvSpPr/>
          <p:nvPr/>
        </p:nvSpPr>
        <p:spPr>
          <a:xfrm>
            <a:off x="365760" y="2926080"/>
            <a:ext cx="5486400" cy="1828800"/>
          </a:xfrm>
          <a:prstGeom prst="roundRect">
            <a:avLst>
              <a:gd name="adj" fmla="val 6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2926080"/>
            <a:ext cx="54864" cy="18288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0352" y="2999232"/>
            <a:ext cx="5029200" cy="256032"/>
          </a:xfrm>
          <a:prstGeom prst="rect">
            <a:avLst/>
          </a:prstGeom>
          <a:noFill/>
        </p:spPr>
        <p:txBody>
          <a:bodyPr wrap="square">
            <a:spAutoFit/>
          </a:bodyPr>
          <a:lstStyle/>
          <a:p>
            <a:pPr algn="l">
              <a:defRPr sz="1100" b="1" i="0">
                <a:solidFill>
                  <a:srgbClr val="2D233F"/>
                </a:solidFill>
                <a:latin typeface="Segoe UI"/>
              </a:defRPr>
            </a:pPr>
            <a:r>
              <a:t>Strength: Deep Marsh Relationship</a:t>
            </a:r>
          </a:p>
        </p:txBody>
      </p:sp>
      <p:sp>
        <p:nvSpPr>
          <p:cNvPr id="34" name="TextBox 33"/>
          <p:cNvSpPr txBox="1"/>
          <p:nvPr/>
        </p:nvSpPr>
        <p:spPr>
          <a:xfrm>
            <a:off x="548640" y="3273552"/>
            <a:ext cx="5166360" cy="1408176"/>
          </a:xfrm>
          <a:prstGeom prst="rect">
            <a:avLst/>
          </a:prstGeom>
          <a:noFill/>
        </p:spPr>
        <p:txBody>
          <a:bodyPr wrap="square">
            <a:spAutoFit/>
          </a:bodyPr>
          <a:lstStyle/>
          <a:p>
            <a:pPr algn="l" marL="137160" indent="-109728">
              <a:spcBef>
                <a:spcPts val="200"/>
              </a:spcBef>
              <a:spcAft>
                <a:spcPts val="0"/>
              </a:spcAft>
              <a:buChar char="•"/>
            </a:pPr>
            <a:r>
              <a:rPr sz="900">
                <a:solidFill>
                  <a:srgbClr val="6B5F83"/>
                </a:solidFill>
              </a:rPr>
              <a:t> Active relationship with multiple Marsh/MMA contacts</a:t>
            </a:r>
          </a:p>
          <a:p>
            <a:pPr algn="l" marL="137160" indent="-109728">
              <a:spcBef>
                <a:spcPts val="200"/>
              </a:spcBef>
              <a:spcAft>
                <a:spcPts val="0"/>
              </a:spcAft>
              <a:buChar char="•"/>
            </a:pPr>
            <a:r>
              <a:rPr sz="900">
                <a:solidFill>
                  <a:srgbClr val="6B5F83"/>
                </a:solidFill>
              </a:rPr>
              <a:t> 0 unique contacts engaged across Marsh offices</a:t>
            </a:r>
          </a:p>
          <a:p>
            <a:pPr algn="l" marL="137160" indent="-109728">
              <a:spcBef>
                <a:spcPts val="200"/>
              </a:spcBef>
              <a:spcAft>
                <a:spcPts val="0"/>
              </a:spcAft>
              <a:buChar char="•"/>
            </a:pPr>
            <a:r>
              <a:rPr sz="900">
                <a:solidFill>
                  <a:srgbClr val="6B5F83"/>
                </a:solidFill>
              </a:rPr>
              <a:t> GA is a hotspot: 'Marsh Georgia runs the show in west GA DSG'</a:t>
            </a:r>
          </a:p>
          <a:p>
            <a:pPr algn="l" marL="137160" indent="-109728">
              <a:spcBef>
                <a:spcPts val="200"/>
              </a:spcBef>
              <a:spcAft>
                <a:spcPts val="0"/>
              </a:spcAft>
              <a:buChar char="•"/>
            </a:pPr>
            <a:r>
              <a:rPr sz="900">
                <a:solidFill>
                  <a:srgbClr val="6B5F83"/>
                </a:solidFill>
              </a:rPr>
              <a:t> Multiple submissions flowing from Marsh pipeline</a:t>
            </a:r>
          </a:p>
          <a:p>
            <a:pPr algn="l" marL="137160" indent="-109728">
              <a:spcBef>
                <a:spcPts val="200"/>
              </a:spcBef>
              <a:spcAft>
                <a:spcPts val="0"/>
              </a:spcAft>
              <a:buChar char="•"/>
            </a:pPr>
            <a:r>
              <a:rPr sz="900">
                <a:solidFill>
                  <a:srgbClr val="6B5F83"/>
                </a:solidFill>
              </a:rPr>
              <a:t> MMA Southeast (Carrollton, GA) identified as key DSG office</a:t>
            </a:r>
          </a:p>
        </p:txBody>
      </p:sp>
      <p:sp>
        <p:nvSpPr>
          <p:cNvPr id="35" name="Rounded Rectangle 34"/>
          <p:cNvSpPr/>
          <p:nvPr/>
        </p:nvSpPr>
        <p:spPr>
          <a:xfrm>
            <a:off x="6217920" y="2926080"/>
            <a:ext cx="5486400" cy="1828800"/>
          </a:xfrm>
          <a:prstGeom prst="roundRect">
            <a:avLst>
              <a:gd name="adj" fmla="val 6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17920" y="2926080"/>
            <a:ext cx="54864" cy="182880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82512" y="2999232"/>
            <a:ext cx="5029200" cy="256032"/>
          </a:xfrm>
          <a:prstGeom prst="rect">
            <a:avLst/>
          </a:prstGeom>
          <a:noFill/>
        </p:spPr>
        <p:txBody>
          <a:bodyPr wrap="square">
            <a:spAutoFit/>
          </a:bodyPr>
          <a:lstStyle/>
          <a:p>
            <a:pPr algn="l">
              <a:defRPr sz="1100" b="1" i="0">
                <a:solidFill>
                  <a:srgbClr val="2D233F"/>
                </a:solidFill>
                <a:latin typeface="Segoe UI"/>
              </a:defRPr>
            </a:pPr>
            <a:r>
              <a:t>Risk: Concentration Dependency</a:t>
            </a:r>
          </a:p>
        </p:txBody>
      </p:sp>
      <p:sp>
        <p:nvSpPr>
          <p:cNvPr id="38" name="TextBox 37"/>
          <p:cNvSpPr txBox="1"/>
          <p:nvPr/>
        </p:nvSpPr>
        <p:spPr>
          <a:xfrm>
            <a:off x="6400800" y="3273552"/>
            <a:ext cx="5166360" cy="1408176"/>
          </a:xfrm>
          <a:prstGeom prst="rect">
            <a:avLst/>
          </a:prstGeom>
          <a:noFill/>
        </p:spPr>
        <p:txBody>
          <a:bodyPr wrap="square">
            <a:spAutoFit/>
          </a:bodyPr>
          <a:lstStyle/>
          <a:p>
            <a:pPr algn="l" marL="137160" indent="-109728">
              <a:spcBef>
                <a:spcPts val="200"/>
              </a:spcBef>
              <a:spcAft>
                <a:spcPts val="0"/>
              </a:spcAft>
              <a:buChar char="•"/>
            </a:pPr>
            <a:r>
              <a:rPr sz="900">
                <a:solidFill>
                  <a:srgbClr val="6B5F83"/>
                </a:solidFill>
              </a:rPr>
              <a:t> 14% of outreach concentrated in single broker network</a:t>
            </a:r>
          </a:p>
          <a:p>
            <a:pPr algn="l" marL="137160" indent="-109728">
              <a:spcBef>
                <a:spcPts val="200"/>
              </a:spcBef>
              <a:spcAft>
                <a:spcPts val="0"/>
              </a:spcAft>
              <a:buChar char="•"/>
            </a:pPr>
            <a:r>
              <a:rPr sz="900">
                <a:solidFill>
                  <a:srgbClr val="6B5F83"/>
                </a:solidFill>
              </a:rPr>
              <a:t> Revenue dependency on Marsh relationship decisions</a:t>
            </a:r>
          </a:p>
          <a:p>
            <a:pPr algn="l" marL="137160" indent="-109728">
              <a:spcBef>
                <a:spcPts val="200"/>
              </a:spcBef>
              <a:spcAft>
                <a:spcPts val="0"/>
              </a:spcAft>
              <a:buChar char="•"/>
            </a:pPr>
            <a:r>
              <a:rPr sz="900">
                <a:solidFill>
                  <a:srgbClr val="6B5F83"/>
                </a:solidFill>
              </a:rPr>
              <a:t> Only 0 non-Marsh agencies being worked</a:t>
            </a:r>
          </a:p>
          <a:p>
            <a:pPr algn="l" marL="137160" indent="-109728">
              <a:spcBef>
                <a:spcPts val="200"/>
              </a:spcBef>
              <a:spcAft>
                <a:spcPts val="0"/>
              </a:spcAft>
              <a:buChar char="•"/>
            </a:pPr>
            <a:r>
              <a:rPr sz="900">
                <a:solidFill>
                  <a:srgbClr val="6B5F83"/>
                </a:solidFill>
              </a:rPr>
              <a:t> Need broader diversification beyond Marsh/MMA</a:t>
            </a:r>
          </a:p>
          <a:p>
            <a:pPr algn="l" marL="137160" indent="-109728">
              <a:spcBef>
                <a:spcPts val="200"/>
              </a:spcBef>
              <a:spcAft>
                <a:spcPts val="0"/>
              </a:spcAft>
              <a:buChar char="•"/>
            </a:pPr>
            <a:r>
              <a:rPr sz="900">
                <a:solidFill>
                  <a:srgbClr val="6B5F83"/>
                </a:solidFill>
              </a:rPr>
              <a:t> Hub International and AssuredPartners represent expansion opportunities</a:t>
            </a:r>
          </a:p>
        </p:txBody>
      </p:sp>
      <p:sp>
        <p:nvSpPr>
          <p:cNvPr id="39" name="TextBox 38"/>
          <p:cNvSpPr txBox="1"/>
          <p:nvPr/>
        </p:nvSpPr>
        <p:spPr>
          <a:xfrm>
            <a:off x="457200" y="5029200"/>
            <a:ext cx="7315200" cy="274320"/>
          </a:xfrm>
          <a:prstGeom prst="rect">
            <a:avLst/>
          </a:prstGeom>
          <a:noFill/>
        </p:spPr>
        <p:txBody>
          <a:bodyPr wrap="square">
            <a:spAutoFit/>
          </a:bodyPr>
          <a:lstStyle/>
          <a:p>
            <a:pPr algn="l">
              <a:defRPr sz="1200" b="1" i="0">
                <a:solidFill>
                  <a:srgbClr val="5B21B6"/>
                </a:solidFill>
                <a:latin typeface="Segoe UI Semibold"/>
              </a:defRPr>
            </a:pPr>
            <a:r>
              <a:t>DIVERSIFICATION OPPORTUNITIES — Non-Marsh Agencies in Pipeline</a:t>
            </a:r>
          </a:p>
        </p:txBody>
      </p:sp>
      <p:sp>
        <p:nvSpPr>
          <p:cNvPr id="40" name="Rectangle 39"/>
          <p:cNvSpPr/>
          <p:nvPr/>
        </p:nvSpPr>
        <p:spPr>
          <a:xfrm>
            <a:off x="457200" y="5349240"/>
            <a:ext cx="1828800" cy="27432"/>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43" name="TextBox 42"/>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400" b="1" i="0">
                <a:solidFill>
                  <a:srgbClr val="FFFFFF"/>
                </a:solidFill>
                <a:latin typeface="Segoe UI Light"/>
              </a:defRPr>
            </a:pPr>
            <a:r>
              <a:t>ILLINOIS REOPENING PIPELINE</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IL Reopening Cited in 1+ Outreach Notes</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463040"/>
            <a:ext cx="11247120" cy="640080"/>
          </a:xfrm>
          <a:prstGeom prst="roundRect">
            <a:avLst>
              <a:gd name="adj" fmla="val 8000"/>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0515600" cy="548640"/>
          </a:xfrm>
          <a:prstGeom prst="rect">
            <a:avLst/>
          </a:prstGeom>
          <a:noFill/>
        </p:spPr>
        <p:txBody>
          <a:bodyPr wrap="square">
            <a:spAutoFit/>
          </a:bodyPr>
          <a:lstStyle/>
          <a:p>
            <a:pPr algn="l">
              <a:defRPr sz="1100" b="0" i="0">
                <a:solidFill>
                  <a:srgbClr val="1E073B"/>
                </a:solidFill>
                <a:latin typeface="Segoe UI"/>
              </a:defRPr>
            </a:pPr>
            <a:r>
              <a:t>IL reopening cited in 1+ notes as the #1 conversation starter for DSG growth.</a:t>
            </a:r>
          </a:p>
          <a:p>
            <a:pPr>
              <a:spcBef>
                <a:spcPts val="200"/>
              </a:spcBef>
              <a:defRPr sz="1000">
                <a:solidFill>
                  <a:srgbClr val="6B5F83"/>
                </a:solidFill>
                <a:latin typeface="Segoe UI"/>
              </a:defRPr>
            </a:pPr>
            <a:r>
              <a:t>Agents across multiple states are leveraging IL expansion to drive new submissions.</a:t>
            </a:r>
          </a:p>
        </p:txBody>
      </p:sp>
      <p:graphicFrame>
        <p:nvGraphicFramePr>
          <p:cNvPr id="13" name="Table 12"/>
          <p:cNvGraphicFramePr>
            <a:graphicFrameLocks noGrp="1"/>
          </p:cNvGraphicFramePr>
          <p:nvPr/>
        </p:nvGraphicFramePr>
        <p:xfrm>
          <a:off x="365760" y="2377440"/>
          <a:ext cx="11247120" cy="640080"/>
        </p:xfrm>
        <a:graphic>
          <a:graphicData uri="http://schemas.openxmlformats.org/drawingml/2006/table">
            <a:tbl>
              <a:tblPr firstRow="0" bandRow="0" bandCol="0" lastRow="0">
                <a:tableStyleId>{5C22544A-7EE6-4342-B048-85BDC9FD1C3A}</a:tableStyleId>
              </a:tblPr>
              <a:tblGrid>
                <a:gridCol w="2560320"/>
                <a:gridCol w="1463040"/>
                <a:gridCol w="1188720"/>
                <a:gridCol w="914400"/>
                <a:gridCol w="914400"/>
                <a:gridCol w="4206240"/>
              </a:tblGrid>
              <a:tr h="320040">
                <a:tc>
                  <a:txBody>
                    <a:bodyPr/>
                    <a:lstStyle/>
                    <a:p>
                      <a:pPr algn="l">
                        <a:defRPr sz="900" b="1">
                          <a:solidFill>
                            <a:srgbClr val="FFFFFF"/>
                          </a:solidFill>
                          <a:latin typeface="Segoe UI Semibold"/>
                        </a:defRPr>
                      </a:pPr>
                      <a:r>
                        <a:t>Agency</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Contact</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Owner</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Book Size</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States</a:t>
                      </a:r>
                    </a:p>
                  </a:txBody>
                  <a:tcPr anchor="ctr" marL="76200" marR="76200" marT="38100" marB="38100">
                    <a:solidFill>
                      <a:srgbClr val="5B21B6"/>
                    </a:solidFill>
                    <a:lnL w="0">
                      <a:noFill/>
                    </a:lnL>
                    <a:lnR w="0">
                      <a:noFill/>
                    </a:lnR>
                    <a:lnT w="0">
                      <a:noFill/>
                    </a:lnT>
                    <a:lnB w="0">
                      <a:noFill/>
                    </a:lnB>
                  </a:tcPr>
                </a:tc>
                <a:tc>
                  <a:txBody>
                    <a:bodyPr/>
                    <a:lstStyle/>
                    <a:p>
                      <a:pPr algn="l">
                        <a:defRPr sz="900" b="1">
                          <a:solidFill>
                            <a:srgbClr val="FFFFFF"/>
                          </a:solidFill>
                          <a:latin typeface="Segoe UI Semibold"/>
                        </a:defRPr>
                      </a:pPr>
                      <a:r>
                        <a:t>Key Quote</a:t>
                      </a:r>
                    </a:p>
                  </a:txBody>
                  <a:tcPr anchor="ctr" marL="76200" marR="76200" marT="38100" marB="38100">
                    <a:solidFill>
                      <a:srgbClr val="5B21B6"/>
                    </a:solidFill>
                    <a:lnL w="0">
                      <a:noFill/>
                    </a:lnL>
                    <a:lnR w="0">
                      <a:noFill/>
                    </a:lnR>
                    <a:lnT w="0">
                      <a:noFill/>
                    </a:lnT>
                    <a:lnB w="0">
                      <a:noFill/>
                    </a:lnB>
                  </a:tcPr>
                </a:tc>
              </a:tr>
              <a:tr h="320040">
                <a:tc>
                  <a:txBody>
                    <a:bodyPr/>
                    <a:lstStyle/>
                    <a:p>
                      <a:pPr algn="l">
                        <a:defRPr sz="800" b="1">
                          <a:solidFill>
                            <a:srgbClr val="1E073B"/>
                          </a:solidFill>
                          <a:latin typeface="Segoe UI"/>
                        </a:defRPr>
                      </a:pP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p>
                  </a:txBody>
                  <a:tcPr anchor="ctr" marL="76200" marR="76200" marT="38100" marB="38100">
                    <a:noFill/>
                    <a:lnL w="0">
                      <a:noFill/>
                    </a:lnL>
                    <a:lnR w="0">
                      <a:noFill/>
                    </a:lnR>
                    <a:lnT w="0">
                      <a:noFill/>
                    </a:lnT>
                    <a:lnB w="0">
                      <a:noFill/>
                    </a:lnB>
                  </a:tcPr>
                </a:tc>
                <a:tc>
                  <a:txBody>
                    <a:bodyPr/>
                    <a:lstStyle/>
                    <a:p>
                      <a:pPr algn="l">
                        <a:defRPr sz="800" b="0">
                          <a:solidFill>
                            <a:srgbClr val="6B5F83"/>
                          </a:solidFill>
                          <a:latin typeface="Segoe UI"/>
                        </a:defRPr>
                      </a:pPr>
                      <a:r>
                        <a:t>Unknown</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800" b="0">
                          <a:solidFill>
                            <a:srgbClr val="9C92B5"/>
                          </a:solidFill>
                          <a:latin typeface="Segoe UI"/>
                        </a:defRPr>
                      </a:pPr>
                      <a:r>
                        <a:t>—</a:t>
                      </a:r>
                    </a:p>
                  </a:txBody>
                  <a:tcPr anchor="ctr" marL="76200" marR="76200" marT="38100" marB="38100">
                    <a:noFill/>
                    <a:lnL w="0">
                      <a:noFill/>
                    </a:lnL>
                    <a:lnR w="0">
                      <a:noFill/>
                    </a:lnR>
                    <a:lnT w="0">
                      <a:noFill/>
                    </a:lnT>
                    <a:lnB w="0">
                      <a:noFill/>
                    </a:lnB>
                  </a:tcPr>
                </a:tc>
                <a:tc>
                  <a:txBody>
                    <a:bodyPr/>
                    <a:lstStyle/>
                    <a:p>
                      <a:pPr algn="l">
                        <a:defRPr sz="800" b="0">
                          <a:solidFill>
                            <a:srgbClr val="2D233F"/>
                          </a:solidFill>
                          <a:latin typeface="Segoe UI"/>
                        </a:defRPr>
                      </a:pPr>
                      <a:r>
                        <a:t>Sent an email regarding DSG and IL reopening</a:t>
                      </a:r>
                    </a:p>
                  </a:txBody>
                  <a:tcPr anchor="ctr" marL="76200" marR="76200" marT="38100" marB="38100">
                    <a:noFill/>
                    <a:lnL w="0">
                      <a:noFill/>
                    </a:lnL>
                    <a:lnR w="0">
                      <a:noFill/>
                    </a:lnR>
                    <a:lnT w="0">
                      <a:noFill/>
                    </a:lnT>
                    <a:lnB w="0">
                      <a:noFill/>
                    </a:lnB>
                  </a:tcPr>
                </a:tc>
              </a:tr>
            </a:tbl>
          </a:graphicData>
        </a:graphic>
      </p:graphicFrame>
      <p:sp>
        <p:nvSpPr>
          <p:cNvPr id="14" name="Rounded Rectangle 13"/>
          <p:cNvSpPr/>
          <p:nvPr/>
        </p:nvSpPr>
        <p:spPr>
          <a:xfrm>
            <a:off x="365760" y="3291840"/>
            <a:ext cx="5394960" cy="1188720"/>
          </a:xfrm>
          <a:prstGeom prst="roundRect">
            <a:avLst>
              <a:gd name="adj" fmla="val 6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329184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364992"/>
            <a:ext cx="4937760" cy="256032"/>
          </a:xfrm>
          <a:prstGeom prst="rect">
            <a:avLst/>
          </a:prstGeom>
          <a:noFill/>
        </p:spPr>
        <p:txBody>
          <a:bodyPr wrap="square">
            <a:spAutoFit/>
          </a:bodyPr>
          <a:lstStyle/>
          <a:p>
            <a:pPr algn="l">
              <a:defRPr sz="1100" b="1" i="0">
                <a:solidFill>
                  <a:srgbClr val="2D233F"/>
                </a:solidFill>
                <a:latin typeface="Segoe UI"/>
              </a:defRPr>
            </a:pPr>
            <a:r>
              <a:t>Why IL Matters for DSG Growth</a:t>
            </a:r>
          </a:p>
        </p:txBody>
      </p:sp>
      <p:sp>
        <p:nvSpPr>
          <p:cNvPr id="17" name="TextBox 16"/>
          <p:cNvSpPr txBox="1"/>
          <p:nvPr/>
        </p:nvSpPr>
        <p:spPr>
          <a:xfrm>
            <a:off x="548640" y="3639312"/>
            <a:ext cx="5074920" cy="768096"/>
          </a:xfrm>
          <a:prstGeom prst="rect">
            <a:avLst/>
          </a:prstGeom>
          <a:noFill/>
        </p:spPr>
        <p:txBody>
          <a:bodyPr wrap="square">
            <a:spAutoFit/>
          </a:bodyPr>
          <a:lstStyle/>
          <a:p>
            <a:pPr algn="l" marL="137160" indent="-109728">
              <a:spcBef>
                <a:spcPts val="200"/>
              </a:spcBef>
              <a:spcAft>
                <a:spcPts val="0"/>
              </a:spcAft>
              <a:buChar char="•"/>
            </a:pPr>
            <a:r>
              <a:rPr sz="900">
                <a:solidFill>
                  <a:srgbClr val="6B5F83"/>
                </a:solidFill>
              </a:rPr>
              <a:t> IL was closed to DSG for years — pent-up demand is real</a:t>
            </a:r>
          </a:p>
          <a:p>
            <a:pPr algn="l" marL="137160" indent="-109728">
              <a:spcBef>
                <a:spcPts val="200"/>
              </a:spcBef>
              <a:spcAft>
                <a:spcPts val="0"/>
              </a:spcAft>
              <a:buChar char="•"/>
            </a:pPr>
            <a:r>
              <a:rPr sz="900">
                <a:solidFill>
                  <a:srgbClr val="6B5F83"/>
                </a:solidFill>
              </a:rPr>
              <a:t> 0 agencies disclosed trucking books totaling millions</a:t>
            </a:r>
          </a:p>
          <a:p>
            <a:pPr algn="l" marL="137160" indent="-109728">
              <a:spcBef>
                <a:spcPts val="200"/>
              </a:spcBef>
              <a:spcAft>
                <a:spcPts val="0"/>
              </a:spcAft>
              <a:buChar char="•"/>
            </a:pPr>
            <a:r>
              <a:rPr sz="900">
                <a:solidFill>
                  <a:srgbClr val="6B5F83"/>
                </a:solidFill>
              </a:rPr>
              <a:t> Agents use IL reopening as a warm intro to new CW relationship</a:t>
            </a:r>
          </a:p>
          <a:p>
            <a:pPr algn="l" marL="137160" indent="-109728">
              <a:spcBef>
                <a:spcPts val="200"/>
              </a:spcBef>
              <a:spcAft>
                <a:spcPts val="0"/>
              </a:spcAft>
              <a:buChar char="•"/>
            </a:pPr>
            <a:r>
              <a:rPr sz="900">
                <a:solidFill>
                  <a:srgbClr val="6B5F83"/>
                </a:solidFill>
              </a:rPr>
              <a:t> IL serves as a gateway to broader DSG adoption across footprint</a:t>
            </a:r>
          </a:p>
        </p:txBody>
      </p:sp>
      <p:sp>
        <p:nvSpPr>
          <p:cNvPr id="18" name="Rounded Rectangle 17"/>
          <p:cNvSpPr/>
          <p:nvPr/>
        </p:nvSpPr>
        <p:spPr>
          <a:xfrm>
            <a:off x="6126480" y="3291840"/>
            <a:ext cx="5394960" cy="1188720"/>
          </a:xfrm>
          <a:prstGeom prst="roundRect">
            <a:avLst>
              <a:gd name="adj" fmla="val 6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329184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1072" y="3364992"/>
            <a:ext cx="4937760" cy="256032"/>
          </a:xfrm>
          <a:prstGeom prst="rect">
            <a:avLst/>
          </a:prstGeom>
          <a:noFill/>
        </p:spPr>
        <p:txBody>
          <a:bodyPr wrap="square">
            <a:spAutoFit/>
          </a:bodyPr>
          <a:lstStyle/>
          <a:p>
            <a:pPr algn="l">
              <a:defRPr sz="1100" b="1" i="0">
                <a:solidFill>
                  <a:srgbClr val="2D233F"/>
                </a:solidFill>
                <a:latin typeface="Segoe UI"/>
              </a:defRPr>
            </a:pPr>
            <a:r>
              <a:t>Recommended Next Steps</a:t>
            </a:r>
          </a:p>
        </p:txBody>
      </p:sp>
      <p:sp>
        <p:nvSpPr>
          <p:cNvPr id="21" name="TextBox 20"/>
          <p:cNvSpPr txBox="1"/>
          <p:nvPr/>
        </p:nvSpPr>
        <p:spPr>
          <a:xfrm>
            <a:off x="6309360" y="3639312"/>
            <a:ext cx="5074920" cy="768096"/>
          </a:xfrm>
          <a:prstGeom prst="rect">
            <a:avLst/>
          </a:prstGeom>
          <a:noFill/>
        </p:spPr>
        <p:txBody>
          <a:bodyPr wrap="square">
            <a:spAutoFit/>
          </a:bodyPr>
          <a:lstStyle/>
          <a:p>
            <a:pPr algn="l" marL="137160" indent="-109728">
              <a:spcBef>
                <a:spcPts val="200"/>
              </a:spcBef>
              <a:spcAft>
                <a:spcPts val="0"/>
              </a:spcAft>
              <a:buChar char="•"/>
            </a:pPr>
            <a:r>
              <a:rPr sz="900">
                <a:solidFill>
                  <a:srgbClr val="6B5F83"/>
                </a:solidFill>
              </a:rPr>
              <a:t> Prioritize IL submissions queue for fast turnaround</a:t>
            </a:r>
          </a:p>
          <a:p>
            <a:pPr algn="l" marL="137160" indent="-109728">
              <a:spcBef>
                <a:spcPts val="200"/>
              </a:spcBef>
              <a:spcAft>
                <a:spcPts val="0"/>
              </a:spcAft>
              <a:buChar char="•"/>
            </a:pPr>
            <a:r>
              <a:rPr sz="900">
                <a:solidFill>
                  <a:srgbClr val="6B5F83"/>
                </a:solidFill>
              </a:rPr>
              <a:t> Create IL-specific marketing collateral for agents</a:t>
            </a:r>
          </a:p>
          <a:p>
            <a:pPr algn="l" marL="137160" indent="-109728">
              <a:spcBef>
                <a:spcPts val="200"/>
              </a:spcBef>
              <a:spcAft>
                <a:spcPts val="0"/>
              </a:spcAft>
              <a:buChar char="•"/>
            </a:pPr>
            <a:r>
              <a:rPr sz="900">
                <a:solidFill>
                  <a:srgbClr val="6B5F83"/>
                </a:solidFill>
              </a:rPr>
              <a:t> Track IL reopening-sourced binds as separate KPI</a:t>
            </a:r>
          </a:p>
          <a:p>
            <a:pPr algn="l" marL="137160" indent="-109728">
              <a:spcBef>
                <a:spcPts val="200"/>
              </a:spcBef>
              <a:spcAft>
                <a:spcPts val="0"/>
              </a:spcAft>
              <a:buChar char="•"/>
            </a:pPr>
            <a:r>
              <a:rPr sz="900">
                <a:solidFill>
                  <a:srgbClr val="6B5F83"/>
                </a:solidFill>
              </a:rPr>
              <a:t> Use IL success to build case for NJ and other state launches</a:t>
            </a:r>
          </a:p>
        </p:txBody>
      </p:sp>
      <p:sp>
        <p:nvSpPr>
          <p:cNvPr id="22" name="Rectangle 21"/>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24" name="TextBox 23"/>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AF9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0" cy="1143000"/>
          </a:xfrm>
          <a:prstGeom prst="rect">
            <a:avLst/>
          </a:prstGeom>
          <a:solidFill>
            <a:srgbClr val="5B21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36576"/>
          </a:xfrm>
          <a:prstGeom prst="rect">
            <a:avLst/>
          </a:prstGeom>
          <a:solidFill>
            <a:srgbClr val="D94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79576"/>
            <a:ext cx="12191695" cy="18288"/>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8600"/>
            <a:ext cx="7315200" cy="640080"/>
          </a:xfrm>
          <a:prstGeom prst="rect">
            <a:avLst/>
          </a:prstGeom>
          <a:noFill/>
        </p:spPr>
        <p:txBody>
          <a:bodyPr wrap="square">
            <a:spAutoFit/>
          </a:bodyPr>
          <a:lstStyle/>
          <a:p>
            <a:pPr algn="l">
              <a:defRPr sz="2400" b="1" i="0">
                <a:solidFill>
                  <a:srgbClr val="FFFFFF"/>
                </a:solidFill>
                <a:latin typeface="Segoe UI Light"/>
              </a:defRPr>
            </a:pPr>
            <a:r>
              <a:t>NEXT STEPS / ACTION ITEMS</a:t>
            </a:r>
          </a:p>
        </p:txBody>
      </p:sp>
      <p:sp>
        <p:nvSpPr>
          <p:cNvPr id="7" name="TextBox 6"/>
          <p:cNvSpPr txBox="1"/>
          <p:nvPr/>
        </p:nvSpPr>
        <p:spPr>
          <a:xfrm>
            <a:off x="8229600" y="320040"/>
            <a:ext cx="3657600" cy="502920"/>
          </a:xfrm>
          <a:prstGeom prst="rect">
            <a:avLst/>
          </a:prstGeom>
          <a:noFill/>
        </p:spPr>
        <p:txBody>
          <a:bodyPr wrap="square">
            <a:spAutoFit/>
          </a:bodyPr>
          <a:lstStyle/>
          <a:p>
            <a:pPr algn="r">
              <a:defRPr sz="1200" b="0" i="0">
                <a:solidFill>
                  <a:srgbClr val="C4B5FD"/>
                </a:solidFill>
                <a:latin typeface="Segoe UI"/>
              </a:defRPr>
            </a:pPr>
            <a:r>
              <a:t>Priority Actions for DSG Growth</a:t>
            </a:r>
          </a:p>
        </p:txBody>
      </p:sp>
      <p:sp>
        <p:nvSpPr>
          <p:cNvPr id="8" name="Oval 7"/>
          <p:cNvSpPr/>
          <p:nvPr/>
        </p:nvSpPr>
        <p:spPr>
          <a:xfrm>
            <a:off x="10515600" y="-457200"/>
            <a:ext cx="2286000" cy="2286000"/>
          </a:xfrm>
          <a:prstGeom prst="ellipse">
            <a:avLst/>
          </a:prstGeom>
          <a:solidFill>
            <a:srgbClr val="8B5CF6">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0" y="274320"/>
            <a:ext cx="1371600" cy="1371600"/>
          </a:xfrm>
          <a:prstGeom prst="ellipse">
            <a:avLst/>
          </a:prstGeom>
          <a:solidFill>
            <a:srgbClr val="7C3AED">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5029200"/>
            <a:ext cx="1828800" cy="1828800"/>
          </a:xfrm>
          <a:prstGeom prst="ellipse">
            <a:avLst/>
          </a:prstGeom>
          <a:solidFill>
            <a:srgbClr val="A78BFA">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5760" y="1463040"/>
            <a:ext cx="5486400" cy="2331720"/>
          </a:xfrm>
          <a:prstGeom prst="roundRect">
            <a:avLst>
              <a:gd name="adj" fmla="val 6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54864" cy="23317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536192"/>
            <a:ext cx="5029200" cy="320040"/>
          </a:xfrm>
          <a:prstGeom prst="rect">
            <a:avLst/>
          </a:prstGeom>
          <a:noFill/>
        </p:spPr>
        <p:txBody>
          <a:bodyPr wrap="square">
            <a:spAutoFit/>
          </a:bodyPr>
          <a:lstStyle/>
          <a:p>
            <a:pPr algn="l">
              <a:defRPr sz="1300" b="1" i="0">
                <a:solidFill>
                  <a:srgbClr val="2D233F"/>
                </a:solidFill>
                <a:latin typeface="Segoe UI"/>
              </a:defRPr>
            </a:pPr>
            <a:r>
              <a:t>Resolve VA Classification Issue</a:t>
            </a:r>
          </a:p>
        </p:txBody>
      </p:sp>
      <p:sp>
        <p:nvSpPr>
          <p:cNvPr id="14" name="TextBox 13"/>
          <p:cNvSpPr txBox="1"/>
          <p:nvPr/>
        </p:nvSpPr>
        <p:spPr>
          <a:xfrm>
            <a:off x="548640" y="1874520"/>
            <a:ext cx="5166360" cy="1847088"/>
          </a:xfrm>
          <a:prstGeom prst="rect">
            <a:avLst/>
          </a:prstGeom>
          <a:noFill/>
        </p:spPr>
        <p:txBody>
          <a:bodyPr wrap="square">
            <a:spAutoFit/>
          </a:bodyPr>
          <a:lstStyle/>
          <a:p>
            <a:pPr algn="l" marL="137160" indent="-109728">
              <a:spcBef>
                <a:spcPts val="200"/>
              </a:spcBef>
              <a:spcAft>
                <a:spcPts val="0"/>
              </a:spcAft>
              <a:buChar char="•"/>
            </a:pPr>
            <a:r>
              <a:rPr sz="1000">
                <a:solidFill>
                  <a:srgbClr val="6B5F83"/>
                </a:solidFill>
              </a:rPr>
              <a:t> Exempt-for-hire classification making DSG risks ineligible</a:t>
            </a:r>
          </a:p>
          <a:p>
            <a:pPr algn="l" marL="137160" indent="-109728">
              <a:spcBef>
                <a:spcPts val="200"/>
              </a:spcBef>
              <a:spcAft>
                <a:spcPts val="0"/>
              </a:spcAft>
              <a:buChar char="•"/>
            </a:pPr>
            <a:r>
              <a:rPr sz="1000">
                <a:solidFill>
                  <a:srgbClr val="6B5F83"/>
                </a:solidFill>
              </a:rPr>
              <a:t> Largest DSG agency in VA already submitting but being blocked</a:t>
            </a:r>
          </a:p>
          <a:p>
            <a:pPr algn="l" marL="137160" indent="-109728">
              <a:spcBef>
                <a:spcPts val="200"/>
              </a:spcBef>
              <a:spcAft>
                <a:spcPts val="0"/>
              </a:spcAft>
              <a:buChar char="•"/>
            </a:pPr>
            <a:r>
              <a:rPr sz="1000">
                <a:solidFill>
                  <a:srgbClr val="6B5F83"/>
                </a:solidFill>
              </a:rPr>
              <a:t> Work with UW to create carve-out or reclassification path</a:t>
            </a:r>
          </a:p>
          <a:p>
            <a:pPr algn="l" marL="137160" indent="-109728">
              <a:spcBef>
                <a:spcPts val="200"/>
              </a:spcBef>
              <a:spcAft>
                <a:spcPts val="0"/>
              </a:spcAft>
              <a:buChar char="•"/>
            </a:pPr>
            <a:r>
              <a:rPr sz="1000">
                <a:solidFill>
                  <a:srgbClr val="6B5F83"/>
                </a:solidFill>
              </a:rPr>
              <a:t> Potential to unlock significant VA pipeline immediately</a:t>
            </a:r>
          </a:p>
        </p:txBody>
      </p:sp>
      <p:sp>
        <p:nvSpPr>
          <p:cNvPr id="15" name="Oval 14"/>
          <p:cNvSpPr/>
          <p:nvPr/>
        </p:nvSpPr>
        <p:spPr>
          <a:xfrm>
            <a:off x="5349240" y="1536192"/>
            <a:ext cx="320040" cy="320040"/>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9240" y="1536192"/>
            <a:ext cx="320040" cy="320040"/>
          </a:xfrm>
          <a:prstGeom prst="rect">
            <a:avLst/>
          </a:prstGeom>
          <a:noFill/>
        </p:spPr>
        <p:txBody>
          <a:bodyPr wrap="square">
            <a:spAutoFit/>
          </a:bodyPr>
          <a:lstStyle/>
          <a:p>
            <a:pPr algn="ctr">
              <a:defRPr sz="1400" b="1" i="0">
                <a:solidFill>
                  <a:srgbClr val="FFFFFF"/>
                </a:solidFill>
                <a:latin typeface="Segoe UI"/>
              </a:defRPr>
            </a:pPr>
            <a:r>
              <a:t>1</a:t>
            </a:r>
          </a:p>
        </p:txBody>
      </p:sp>
      <p:sp>
        <p:nvSpPr>
          <p:cNvPr id="17" name="Rounded Rectangle 16"/>
          <p:cNvSpPr/>
          <p:nvPr/>
        </p:nvSpPr>
        <p:spPr>
          <a:xfrm>
            <a:off x="6126480" y="1463040"/>
            <a:ext cx="5486400" cy="2331720"/>
          </a:xfrm>
          <a:prstGeom prst="roundRect">
            <a:avLst>
              <a:gd name="adj" fmla="val 6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463040"/>
            <a:ext cx="54864" cy="2331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91072" y="1536192"/>
            <a:ext cx="5029200" cy="320040"/>
          </a:xfrm>
          <a:prstGeom prst="rect">
            <a:avLst/>
          </a:prstGeom>
          <a:noFill/>
        </p:spPr>
        <p:txBody>
          <a:bodyPr wrap="square">
            <a:spAutoFit/>
          </a:bodyPr>
          <a:lstStyle/>
          <a:p>
            <a:pPr algn="l">
              <a:defRPr sz="1300" b="1" i="0">
                <a:solidFill>
                  <a:srgbClr val="2D233F"/>
                </a:solidFill>
                <a:latin typeface="Segoe UI"/>
              </a:defRPr>
            </a:pPr>
            <a:r>
              <a:t>Push for NJ Launch</a:t>
            </a:r>
          </a:p>
        </p:txBody>
      </p:sp>
      <p:sp>
        <p:nvSpPr>
          <p:cNvPr id="20" name="TextBox 19"/>
          <p:cNvSpPr txBox="1"/>
          <p:nvPr/>
        </p:nvSpPr>
        <p:spPr>
          <a:xfrm>
            <a:off x="6309360" y="1874520"/>
            <a:ext cx="5166360" cy="1847088"/>
          </a:xfrm>
          <a:prstGeom prst="rect">
            <a:avLst/>
          </a:prstGeom>
          <a:noFill/>
        </p:spPr>
        <p:txBody>
          <a:bodyPr wrap="square">
            <a:spAutoFit/>
          </a:bodyPr>
          <a:lstStyle/>
          <a:p>
            <a:pPr algn="l" marL="137160" indent="-109728">
              <a:spcBef>
                <a:spcPts val="200"/>
              </a:spcBef>
              <a:spcAft>
                <a:spcPts val="0"/>
              </a:spcAft>
              <a:buChar char="•"/>
            </a:pPr>
            <a:r>
              <a:rPr sz="1000">
                <a:solidFill>
                  <a:srgbClr val="6B5F83"/>
                </a:solidFill>
              </a:rPr>
              <a:t> NJ is the #1 gap cited by agents in tri-state area</a:t>
            </a:r>
          </a:p>
          <a:p>
            <a:pPr algn="l" marL="137160" indent="-109728">
              <a:spcBef>
                <a:spcPts val="200"/>
              </a:spcBef>
              <a:spcAft>
                <a:spcPts val="0"/>
              </a:spcAft>
              <a:buChar char="•"/>
            </a:pPr>
            <a:r>
              <a:rPr sz="1000">
                <a:solidFill>
                  <a:srgbClr val="6B5F83"/>
                </a:solidFill>
              </a:rPr>
              <a:t> Agents report more DSG leads in NJ than PA</a:t>
            </a:r>
          </a:p>
          <a:p>
            <a:pPr algn="l" marL="137160" indent="-109728">
              <a:spcBef>
                <a:spcPts val="200"/>
              </a:spcBef>
              <a:spcAft>
                <a:spcPts val="0"/>
              </a:spcAft>
              <a:buChar char="•"/>
            </a:pPr>
            <a:r>
              <a:rPr sz="1000">
                <a:solidFill>
                  <a:srgbClr val="6B5F83"/>
                </a:solidFill>
              </a:rPr>
              <a:t> Anthony DeBellis Agency: 'NJ would be a better outlet for DSG'</a:t>
            </a:r>
          </a:p>
          <a:p>
            <a:pPr algn="l" marL="137160" indent="-109728">
              <a:spcBef>
                <a:spcPts val="200"/>
              </a:spcBef>
              <a:spcAft>
                <a:spcPts val="0"/>
              </a:spcAft>
              <a:buChar char="•"/>
            </a:pPr>
            <a:r>
              <a:rPr sz="1000">
                <a:solidFill>
                  <a:srgbClr val="6B5F83"/>
                </a:solidFill>
              </a:rPr>
              <a:t> NJ launch would immediately generate submissions from existing partners</a:t>
            </a:r>
          </a:p>
        </p:txBody>
      </p:sp>
      <p:sp>
        <p:nvSpPr>
          <p:cNvPr id="21" name="Oval 20"/>
          <p:cNvSpPr/>
          <p:nvPr/>
        </p:nvSpPr>
        <p:spPr>
          <a:xfrm>
            <a:off x="11109960" y="1536192"/>
            <a:ext cx="320040" cy="320040"/>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109960" y="1536192"/>
            <a:ext cx="320040" cy="320040"/>
          </a:xfrm>
          <a:prstGeom prst="rect">
            <a:avLst/>
          </a:prstGeom>
          <a:noFill/>
        </p:spPr>
        <p:txBody>
          <a:bodyPr wrap="square">
            <a:spAutoFit/>
          </a:bodyPr>
          <a:lstStyle/>
          <a:p>
            <a:pPr algn="ctr">
              <a:defRPr sz="1400" b="1" i="0">
                <a:solidFill>
                  <a:srgbClr val="FFFFFF"/>
                </a:solidFill>
                <a:latin typeface="Segoe UI"/>
              </a:defRPr>
            </a:pPr>
            <a:r>
              <a:t>2</a:t>
            </a:r>
          </a:p>
        </p:txBody>
      </p:sp>
      <p:sp>
        <p:nvSpPr>
          <p:cNvPr id="23" name="Rounded Rectangle 22"/>
          <p:cNvSpPr/>
          <p:nvPr/>
        </p:nvSpPr>
        <p:spPr>
          <a:xfrm>
            <a:off x="365760" y="3886200"/>
            <a:ext cx="5486400" cy="2331720"/>
          </a:xfrm>
          <a:prstGeom prst="roundRect">
            <a:avLst>
              <a:gd name="adj" fmla="val 6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3886200"/>
            <a:ext cx="54864" cy="2331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3959352"/>
            <a:ext cx="5029200" cy="320040"/>
          </a:xfrm>
          <a:prstGeom prst="rect">
            <a:avLst/>
          </a:prstGeom>
          <a:noFill/>
        </p:spPr>
        <p:txBody>
          <a:bodyPr wrap="square">
            <a:spAutoFit/>
          </a:bodyPr>
          <a:lstStyle/>
          <a:p>
            <a:pPr algn="l">
              <a:defRPr sz="1300" b="1" i="0">
                <a:solidFill>
                  <a:srgbClr val="2D233F"/>
                </a:solidFill>
                <a:latin typeface="Segoe UI"/>
              </a:defRPr>
            </a:pPr>
            <a:r>
              <a:t>Create ELD/Dashcam Education One-Pager</a:t>
            </a:r>
          </a:p>
        </p:txBody>
      </p:sp>
      <p:sp>
        <p:nvSpPr>
          <p:cNvPr id="26" name="TextBox 25"/>
          <p:cNvSpPr txBox="1"/>
          <p:nvPr/>
        </p:nvSpPr>
        <p:spPr>
          <a:xfrm>
            <a:off x="548640" y="4297680"/>
            <a:ext cx="5166360" cy="1847088"/>
          </a:xfrm>
          <a:prstGeom prst="rect">
            <a:avLst/>
          </a:prstGeom>
          <a:noFill/>
        </p:spPr>
        <p:txBody>
          <a:bodyPr wrap="square">
            <a:spAutoFit/>
          </a:bodyPr>
          <a:lstStyle/>
          <a:p>
            <a:pPr algn="l" marL="137160" indent="-109728">
              <a:spcBef>
                <a:spcPts val="200"/>
              </a:spcBef>
              <a:spcAft>
                <a:spcPts val="0"/>
              </a:spcAft>
              <a:buChar char="•"/>
            </a:pPr>
            <a:r>
              <a:rPr sz="1000">
                <a:solidFill>
                  <a:srgbClr val="6B5F83"/>
                </a:solidFill>
              </a:rPr>
              <a:t> 18-unit TN account may not bind due to dashcam/ELD confusion</a:t>
            </a:r>
          </a:p>
          <a:p>
            <a:pPr algn="l" marL="137160" indent="-109728">
              <a:spcBef>
                <a:spcPts val="200"/>
              </a:spcBef>
              <a:spcAft>
                <a:spcPts val="0"/>
              </a:spcAft>
              <a:buChar char="•"/>
            </a:pPr>
            <a:r>
              <a:rPr sz="1000">
                <a:solidFill>
                  <a:srgbClr val="6B5F83"/>
                </a:solidFill>
              </a:rPr>
              <a:t> Agents need clear explanation of ELD plug-in and how it reports</a:t>
            </a:r>
          </a:p>
          <a:p>
            <a:pPr algn="l" marL="137160" indent="-109728">
              <a:spcBef>
                <a:spcPts val="200"/>
              </a:spcBef>
              <a:spcAft>
                <a:spcPts val="0"/>
              </a:spcAft>
              <a:buChar char="•"/>
            </a:pPr>
            <a:r>
              <a:rPr sz="1000">
                <a:solidFill>
                  <a:srgbClr val="6B5F83"/>
                </a:solidFill>
              </a:rPr>
              <a:t> Camera delivery/installation logistics causing friction</a:t>
            </a:r>
          </a:p>
          <a:p>
            <a:pPr algn="l" marL="137160" indent="-109728">
              <a:spcBef>
                <a:spcPts val="200"/>
              </a:spcBef>
              <a:spcAft>
                <a:spcPts val="0"/>
              </a:spcAft>
              <a:buChar char="•"/>
            </a:pPr>
            <a:r>
              <a:rPr sz="1000">
                <a:solidFill>
                  <a:srgbClr val="6B5F83"/>
                </a:solidFill>
              </a:rPr>
              <a:t> One-pager would reduce objections and speed up bind decisions</a:t>
            </a:r>
          </a:p>
        </p:txBody>
      </p:sp>
      <p:sp>
        <p:nvSpPr>
          <p:cNvPr id="27" name="Oval 26"/>
          <p:cNvSpPr/>
          <p:nvPr/>
        </p:nvSpPr>
        <p:spPr>
          <a:xfrm>
            <a:off x="5349240" y="3959352"/>
            <a:ext cx="320040" cy="32004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49240" y="3959352"/>
            <a:ext cx="320040" cy="320040"/>
          </a:xfrm>
          <a:prstGeom prst="rect">
            <a:avLst/>
          </a:prstGeom>
          <a:noFill/>
        </p:spPr>
        <p:txBody>
          <a:bodyPr wrap="square">
            <a:spAutoFit/>
          </a:bodyPr>
          <a:lstStyle/>
          <a:p>
            <a:pPr algn="ctr">
              <a:defRPr sz="1400" b="1" i="0">
                <a:solidFill>
                  <a:srgbClr val="FFFFFF"/>
                </a:solidFill>
                <a:latin typeface="Segoe UI"/>
              </a:defRPr>
            </a:pPr>
            <a:r>
              <a:t>3</a:t>
            </a:r>
          </a:p>
        </p:txBody>
      </p:sp>
      <p:sp>
        <p:nvSpPr>
          <p:cNvPr id="29" name="Rounded Rectangle 28"/>
          <p:cNvSpPr/>
          <p:nvPr/>
        </p:nvSpPr>
        <p:spPr>
          <a:xfrm>
            <a:off x="6126480" y="3886200"/>
            <a:ext cx="5486400" cy="2331720"/>
          </a:xfrm>
          <a:prstGeom prst="roundRect">
            <a:avLst>
              <a:gd name="adj" fmla="val 6000"/>
            </a:avLst>
          </a:prstGeom>
          <a:solidFill>
            <a:srgbClr val="FFFFFF"/>
          </a:solidFill>
          <a:ln w="9525">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0" y="3886200"/>
            <a:ext cx="54864" cy="2331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3959352"/>
            <a:ext cx="5029200" cy="320040"/>
          </a:xfrm>
          <a:prstGeom prst="rect">
            <a:avLst/>
          </a:prstGeom>
          <a:noFill/>
        </p:spPr>
        <p:txBody>
          <a:bodyPr wrap="square">
            <a:spAutoFit/>
          </a:bodyPr>
          <a:lstStyle/>
          <a:p>
            <a:pPr algn="l">
              <a:defRPr sz="1300" b="1" i="0">
                <a:solidFill>
                  <a:srgbClr val="2D233F"/>
                </a:solidFill>
                <a:latin typeface="Segoe UI"/>
              </a:defRPr>
            </a:pPr>
            <a:r>
              <a:t>Follow Up on Large Pipeline Accounts</a:t>
            </a:r>
          </a:p>
        </p:txBody>
      </p:sp>
      <p:sp>
        <p:nvSpPr>
          <p:cNvPr id="32" name="TextBox 31"/>
          <p:cNvSpPr txBox="1"/>
          <p:nvPr/>
        </p:nvSpPr>
        <p:spPr>
          <a:xfrm>
            <a:off x="6309360" y="4297680"/>
            <a:ext cx="5166360" cy="1847088"/>
          </a:xfrm>
          <a:prstGeom prst="rect">
            <a:avLst/>
          </a:prstGeom>
          <a:noFill/>
        </p:spPr>
        <p:txBody>
          <a:bodyPr wrap="square">
            <a:spAutoFit/>
          </a:bodyPr>
          <a:lstStyle/>
          <a:p>
            <a:pPr algn="l" marL="137160" indent="-109728">
              <a:spcBef>
                <a:spcPts val="200"/>
              </a:spcBef>
              <a:spcAft>
                <a:spcPts val="0"/>
              </a:spcAft>
              <a:buChar char="•"/>
            </a:pPr>
            <a:r>
              <a:rPr sz="1000">
                <a:solidFill>
                  <a:srgbClr val="6B5F83"/>
                </a:solidFill>
              </a:rPr>
              <a:t> 25 PU: Westmoreland &amp; Sons (Hartford incumbent at $25K/truck)</a:t>
            </a:r>
          </a:p>
          <a:p>
            <a:pPr algn="l" marL="137160" indent="-109728">
              <a:spcBef>
                <a:spcPts val="200"/>
              </a:spcBef>
              <a:spcAft>
                <a:spcPts val="0"/>
              </a:spcAft>
              <a:buChar char="•"/>
            </a:pPr>
            <a:r>
              <a:rPr sz="1000">
                <a:solidFill>
                  <a:srgbClr val="6B5F83"/>
                </a:solidFill>
              </a:rPr>
              <a:t> 20 PU: GA account via Marsh Southeast, eff 4/1</a:t>
            </a:r>
          </a:p>
          <a:p>
            <a:pPr algn="l" marL="137160" indent="-109728">
              <a:spcBef>
                <a:spcPts val="200"/>
              </a:spcBef>
              <a:spcAft>
                <a:spcPts val="0"/>
              </a:spcAft>
              <a:buChar char="•"/>
            </a:pPr>
            <a:r>
              <a:rPr sz="1000">
                <a:solidFill>
                  <a:srgbClr val="6B5F83"/>
                </a:solidFill>
              </a:rPr>
              <a:t> 19 PU: MO account via AssuredPartners/Gallagher</a:t>
            </a:r>
          </a:p>
          <a:p>
            <a:pPr algn="l" marL="137160" indent="-109728">
              <a:spcBef>
                <a:spcPts val="200"/>
              </a:spcBef>
              <a:spcAft>
                <a:spcPts val="0"/>
              </a:spcAft>
              <a:buChar char="•"/>
            </a:pPr>
            <a:r>
              <a:rPr sz="1000">
                <a:solidFill>
                  <a:srgbClr val="6B5F83"/>
                </a:solidFill>
              </a:rPr>
              <a:t> 18 PU: TN account (dashcam/ELD objection to resolve)</a:t>
            </a:r>
          </a:p>
        </p:txBody>
      </p:sp>
      <p:sp>
        <p:nvSpPr>
          <p:cNvPr id="33" name="Oval 32"/>
          <p:cNvSpPr/>
          <p:nvPr/>
        </p:nvSpPr>
        <p:spPr>
          <a:xfrm>
            <a:off x="11109960" y="3959352"/>
            <a:ext cx="320040" cy="32004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109960" y="3959352"/>
            <a:ext cx="320040" cy="320040"/>
          </a:xfrm>
          <a:prstGeom prst="rect">
            <a:avLst/>
          </a:prstGeom>
          <a:noFill/>
        </p:spPr>
        <p:txBody>
          <a:bodyPr wrap="square">
            <a:spAutoFit/>
          </a:bodyPr>
          <a:lstStyle/>
          <a:p>
            <a:pPr algn="ctr">
              <a:defRPr sz="1400" b="1" i="0">
                <a:solidFill>
                  <a:srgbClr val="FFFFFF"/>
                </a:solidFill>
                <a:latin typeface="Segoe UI"/>
              </a:defRPr>
            </a:pPr>
            <a:r>
              <a:t>4</a:t>
            </a:r>
          </a:p>
        </p:txBody>
      </p:sp>
      <p:sp>
        <p:nvSpPr>
          <p:cNvPr id="35" name="Rectangle 34"/>
          <p:cNvSpPr/>
          <p:nvPr/>
        </p:nvSpPr>
        <p:spPr>
          <a:xfrm>
            <a:off x="0" y="6537960"/>
            <a:ext cx="12191695" cy="32004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6565392"/>
            <a:ext cx="4572000" cy="274320"/>
          </a:xfrm>
          <a:prstGeom prst="rect">
            <a:avLst/>
          </a:prstGeom>
          <a:noFill/>
        </p:spPr>
        <p:txBody>
          <a:bodyPr wrap="square">
            <a:spAutoFit/>
          </a:bodyPr>
          <a:lstStyle/>
          <a:p>
            <a:pPr algn="l">
              <a:defRPr sz="800" b="0" i="0">
                <a:solidFill>
                  <a:srgbClr val="C4B5FD"/>
                </a:solidFill>
                <a:latin typeface="Segoe UI"/>
              </a:defRPr>
            </a:pPr>
            <a:r>
              <a:t>Source: Metabase Analytics  |  HubSpot CRM</a:t>
            </a:r>
          </a:p>
        </p:txBody>
      </p:sp>
      <p:sp>
        <p:nvSpPr>
          <p:cNvPr id="37" name="TextBox 36"/>
          <p:cNvSpPr txBox="1"/>
          <p:nvPr/>
        </p:nvSpPr>
        <p:spPr>
          <a:xfrm>
            <a:off x="7772400" y="6565392"/>
            <a:ext cx="4114800" cy="274320"/>
          </a:xfrm>
          <a:prstGeom prst="rect">
            <a:avLst/>
          </a:prstGeom>
          <a:noFill/>
        </p:spPr>
        <p:txBody>
          <a:bodyPr wrap="square">
            <a:spAutoFit/>
          </a:bodyPr>
          <a:lstStyle/>
          <a:p>
            <a:pPr algn="r">
              <a:defRPr sz="800" b="0" i="0">
                <a:solidFill>
                  <a:srgbClr val="A78BFA"/>
                </a:solidFill>
                <a:latin typeface="Segoe UI"/>
              </a:defRPr>
            </a:pPr>
            <a:r>
              <a:t>DSG Bound Business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