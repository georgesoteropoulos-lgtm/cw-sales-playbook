
<file path=[Content_Types].xml><?xml version="1.0" encoding="utf-8"?>
<Types xmlns="http://schemas.openxmlformats.org/package/2006/content-types">
  <Default ContentType="application/vnd.openxmlformats-officedocument.spreadsheetml.sheet" Extension="xlsx"/>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2.xml"/>
  <Override ContentType="application/vnd.openxmlformats-officedocument.drawingml.chart+xml" PartName="/ppt/charts/chart1.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y="6858000" cx="12191675"/>
  <p:notesSz cx="6858000" cy="9144000"/>
  <p:embeddedFontLst>
    <p:embeddedFont>
      <p:font typeface="Quattrocento Sans"/>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63" roundtripDataSignature="AMtx7mj7TQDRGMq+N3mPY1T29lyGxE5WR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82A8721-ECEF-4CED-8E2A-D61C263BF4EF}">
  <a:tblStyle styleId="{D82A8721-ECEF-4CED-8E2A-D61C263BF4EF}"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QuattrocentoSans-boldItalic.fntdata"/><Relationship Id="rId61" Type="http://schemas.openxmlformats.org/officeDocument/2006/relationships/font" Target="fonts/QuattrocentoSans-italic.fntdata"/><Relationship Id="rId20" Type="http://schemas.openxmlformats.org/officeDocument/2006/relationships/slide" Target="slides/slide14.xml"/><Relationship Id="rId63" Type="http://customschemas.google.com/relationships/presentationmetadata" Target="meta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QuattrocentoSans-bold.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font" Target="fonts/QuattrocentoSans-regular.fntdata"/><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GWP</c:v>
                </c:pt>
              </c:strCache>
            </c:strRef>
          </c:tx>
          <c:dPt>
            <c:idx val="0"/>
            <c:spPr>
              <a:solidFill>
                <a:srgbClr val="5B21B6"/>
              </a:solidFill>
            </c:spPr>
          </c:dPt>
          <c:dPt>
            <c:idx val="1"/>
            <c:spPr>
              <a:solidFill>
                <a:srgbClr val="7C3AED"/>
              </a:solidFill>
            </c:spPr>
          </c:dPt>
          <c:dPt>
            <c:idx val="2"/>
            <c:spPr>
              <a:solidFill>
                <a:srgbClr val="D946EF"/>
              </a:solidFill>
            </c:spPr>
          </c:dPt>
          <c:dPt>
            <c:idx val="3"/>
            <c:spPr>
              <a:solidFill>
                <a:srgbClr val="8B5CF6"/>
              </a:solidFill>
            </c:spPr>
          </c:dPt>
          <c:dPt>
            <c:idx val="4"/>
            <c:spPr>
              <a:solidFill>
                <a:srgbClr val="A78BFA"/>
              </a:solidFill>
            </c:spPr>
          </c:dPt>
          <c:dPt>
            <c:idx val="5"/>
            <c:spPr>
              <a:solidFill>
                <a:srgbClr val="C4B5FD"/>
              </a:solidFill>
            </c:spPr>
          </c:dPt>
          <c:dPt>
            <c:idx val="6"/>
            <c:spPr>
              <a:solidFill>
                <a:srgbClr val="C026D3"/>
              </a:solidFill>
            </c:spPr>
          </c:dPt>
          <c:dPt>
            <c:idx val="7"/>
            <c:spPr>
              <a:solidFill>
                <a:srgbClr val="F59E0B"/>
              </a:solidFill>
            </c:spPr>
          </c:dPt>
          <c:dPt>
            <c:idx val="8"/>
            <c:spPr>
              <a:solidFill>
                <a:srgbClr val="10B981"/>
              </a:solidFill>
            </c:spPr>
          </c:dPt>
          <c:dPt>
            <c:idx val="9"/>
            <c:spPr>
              <a:solidFill>
                <a:srgbClr val="A09CB0"/>
              </a:solidFill>
            </c:spPr>
          </c:dPt>
          <c:dPt>
            <c:idx val="10"/>
            <c:spPr>
              <a:solidFill>
                <a:srgbClr val="5B21B6"/>
              </a:solidFill>
            </c:spPr>
          </c:dPt>
          <c:dPt>
            <c:idx val="11"/>
            <c:spPr>
              <a:solidFill>
                <a:srgbClr val="7C3AED"/>
              </a:solidFill>
            </c:spPr>
          </c:dPt>
          <c:dPt>
            <c:idx val="12"/>
            <c:spPr>
              <a:solidFill>
                <a:srgbClr val="D946EF"/>
              </a:solidFill>
            </c:spPr>
          </c:dPt>
          <c:dPt>
            <c:idx val="13"/>
            <c:spPr>
              <a:solidFill>
                <a:srgbClr val="8B5CF6"/>
              </a:solidFill>
            </c:spPr>
          </c:dPt>
          <c:dPt>
            <c:idx val="14"/>
            <c:spPr>
              <a:solidFill>
                <a:srgbClr val="A78BFA"/>
              </a:solidFill>
            </c:spPr>
          </c:dPt>
          <c:dPt>
            <c:idx val="15"/>
            <c:spPr>
              <a:solidFill>
                <a:srgbClr val="C4B5FD"/>
              </a:solidFill>
            </c:spPr>
          </c:dPt>
          <c:dPt>
            <c:idx val="16"/>
            <c:spPr>
              <a:solidFill>
                <a:srgbClr val="C026D3"/>
              </a:solidFill>
            </c:spPr>
          </c:dPt>
          <c:dPt>
            <c:idx val="17"/>
            <c:spPr>
              <a:solidFill>
                <a:srgbClr val="F59E0B"/>
              </a:solidFill>
            </c:spPr>
          </c:dPt>
          <c:dPt>
            <c:idx val="18"/>
            <c:spPr>
              <a:solidFill>
                <a:srgbClr val="10B981"/>
              </a:solidFill>
            </c:spPr>
          </c:dPt>
          <c:dPt>
            <c:idx val="19"/>
            <c:spPr>
              <a:solidFill>
                <a:srgbClr val="A09CB0"/>
              </a:solidFill>
            </c:spPr>
          </c:dPt>
          <c:dPt>
            <c:idx val="20"/>
            <c:spPr>
              <a:solidFill>
                <a:srgbClr val="5B21B6"/>
              </a:solidFill>
            </c:spPr>
          </c:dPt>
          <c:dPt>
            <c:idx val="21"/>
            <c:spPr>
              <a:solidFill>
                <a:srgbClr val="7C3AED"/>
              </a:solidFill>
            </c:spPr>
          </c:dPt>
          <c:dPt>
            <c:idx val="22"/>
            <c:spPr>
              <a:solidFill>
                <a:srgbClr val="D946EF"/>
              </a:solidFill>
            </c:spPr>
          </c:dPt>
          <c:dPt>
            <c:idx val="23"/>
            <c:spPr>
              <a:solidFill>
                <a:srgbClr val="8B5CF6"/>
              </a:solidFill>
            </c:spPr>
          </c:dPt>
          <c:dPt>
            <c:idx val="24"/>
            <c:spPr>
              <a:solidFill>
                <a:srgbClr val="A78BFA"/>
              </a:solidFill>
            </c:spPr>
          </c:dPt>
          <c:dPt>
            <c:idx val="25"/>
            <c:spPr>
              <a:solidFill>
                <a:srgbClr val="C4B5FD"/>
              </a:solidFill>
            </c:spPr>
          </c:dPt>
          <c:cat>
            <c:strRef>
              <c:f>Sheet1!$A$2:$A$27</c:f>
              <c:strCache>
                <c:ptCount val="26"/>
                <c:pt idx="0">
                  <c:v>TX</c:v>
                </c:pt>
                <c:pt idx="1">
                  <c:v>CA</c:v>
                </c:pt>
                <c:pt idx="2">
                  <c:v>GA</c:v>
                </c:pt>
                <c:pt idx="3">
                  <c:v>PA</c:v>
                </c:pt>
                <c:pt idx="4">
                  <c:v>VA</c:v>
                </c:pt>
                <c:pt idx="5">
                  <c:v>CO</c:v>
                </c:pt>
                <c:pt idx="6">
                  <c:v>TN</c:v>
                </c:pt>
                <c:pt idx="7">
                  <c:v>MD</c:v>
                </c:pt>
                <c:pt idx="8">
                  <c:v>MO</c:v>
                </c:pt>
                <c:pt idx="9">
                  <c:v>OH</c:v>
                </c:pt>
                <c:pt idx="10">
                  <c:v>ID</c:v>
                </c:pt>
                <c:pt idx="11">
                  <c:v>MN</c:v>
                </c:pt>
                <c:pt idx="12">
                  <c:v>SC</c:v>
                </c:pt>
                <c:pt idx="13">
                  <c:v>MI</c:v>
                </c:pt>
                <c:pt idx="14">
                  <c:v>AZ</c:v>
                </c:pt>
                <c:pt idx="15">
                  <c:v>NH</c:v>
                </c:pt>
                <c:pt idx="16">
                  <c:v>OK</c:v>
                </c:pt>
                <c:pt idx="17">
                  <c:v>NC</c:v>
                </c:pt>
                <c:pt idx="18">
                  <c:v>NE</c:v>
                </c:pt>
                <c:pt idx="19">
                  <c:v>NJ</c:v>
                </c:pt>
                <c:pt idx="20">
                  <c:v>NV</c:v>
                </c:pt>
                <c:pt idx="21">
                  <c:v>LA</c:v>
                </c:pt>
                <c:pt idx="22">
                  <c:v>NM</c:v>
                </c:pt>
                <c:pt idx="23">
                  <c:v>ND</c:v>
                </c:pt>
                <c:pt idx="24">
                  <c:v>MS</c:v>
                </c:pt>
                <c:pt idx="25">
                  <c:v>UT</c:v>
                </c:pt>
              </c:strCache>
            </c:strRef>
          </c:cat>
          <c:val>
            <c:numRef>
              <c:f>Sheet1!$B$2:$B$27</c:f>
              <c:numCache>
                <c:formatCode>General</c:formatCode>
                <c:ptCount val="26"/>
                <c:pt idx="0">
                  <c:v>2621199.5699999994</c:v>
                </c:pt>
                <c:pt idx="1">
                  <c:v>1678891.4899999998</c:v>
                </c:pt>
                <c:pt idx="2">
                  <c:v>329545.47</c:v>
                </c:pt>
                <c:pt idx="3">
                  <c:v>182976.2</c:v>
                </c:pt>
                <c:pt idx="4">
                  <c:v>138776.32</c:v>
                </c:pt>
                <c:pt idx="5">
                  <c:v>32771.04</c:v>
                </c:pt>
                <c:pt idx="6">
                  <c:v>23922.37</c:v>
                </c:pt>
                <c:pt idx="7">
                  <c:v>21130.32</c:v>
                </c:pt>
                <c:pt idx="8">
                  <c:v>20897.61</c:v>
                </c:pt>
                <c:pt idx="9">
                  <c:v>18316.25</c:v>
                </c:pt>
                <c:pt idx="10">
                  <c:v>15763.5</c:v>
                </c:pt>
                <c:pt idx="11">
                  <c:v>15034.15</c:v>
                </c:pt>
                <c:pt idx="12">
                  <c:v>14880.0</c:v>
                </c:pt>
                <c:pt idx="13">
                  <c:v>14033.26</c:v>
                </c:pt>
                <c:pt idx="14">
                  <c:v>13648.57</c:v>
                </c:pt>
                <c:pt idx="15">
                  <c:v>12127.96</c:v>
                </c:pt>
                <c:pt idx="16">
                  <c:v>11870.48</c:v>
                </c:pt>
                <c:pt idx="17">
                  <c:v>11445.0</c:v>
                </c:pt>
                <c:pt idx="18">
                  <c:v>11350.0</c:v>
                </c:pt>
                <c:pt idx="19">
                  <c:v>8775.0</c:v>
                </c:pt>
                <c:pt idx="20">
                  <c:v>3718.5</c:v>
                </c:pt>
                <c:pt idx="21">
                  <c:v>1100.0</c:v>
                </c:pt>
                <c:pt idx="22">
                  <c:v>550.0</c:v>
                </c:pt>
                <c:pt idx="23">
                  <c:v>550.0</c:v>
                </c:pt>
                <c:pt idx="24">
                  <c:v>550.0</c:v>
                </c:pt>
                <c:pt idx="25">
                  <c:v>550.0</c:v>
                </c:pt>
              </c:numCache>
            </c:numRef>
          </c:val>
        </c:ser>
        <c:dLbls>
          <c:numFmt formatCode="0.0%" sourceLinked="0"/>
          <c:txPr>
            <a:bodyPr/>
            <a:lstStyle/>
            <a:p>
              <a:pPr>
                <a:defRPr sz="1000">
                  <a:latin typeface="Segoe UI"/>
                </a:defRPr>
              </a:pPr>
            </a:p>
          </c:txPr>
          <c:showLegendKey val="0"/>
          <c:showVal val="0"/>
          <c:showCatName val="1"/>
          <c:showSerName val="0"/>
          <c:showPercent val="1"/>
          <c:showBubbleSize val="0"/>
          <c:showLeaderLines val="1"/>
        </c:dLbls>
        <c:firstSliceAng val="0"/>
        <c:holeSize val="50"/>
      </c:doughnutChart>
    </c:plotArea>
    <c:legend>
      <c:legendPos val="b"/>
      <c:layout/>
      <c:overlay val="0"/>
      <c:txPr>
        <a:bodyPr/>
        <a:lstStyle/>
        <a:p>
          <a:pPr>
            <a:defRPr sz="1000">
              <a:latin typeface="Segoe UI"/>
            </a:defRPr>
          </a:pPr>
        </a:p>
      </c:txPr>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Notes/Calls</c:v>
                </c:pt>
              </c:strCache>
            </c:strRef>
          </c:tx>
          <c:spPr>
            <a:solidFill>
              <a:srgbClr val="7C3AED"/>
            </a:solidFill>
          </c:spPr>
          <c:dLbls>
            <c:txPr>
              <a:bodyPr/>
              <a:lstStyle/>
              <a:p>
                <a:pPr>
                  <a:defRPr sz="800" b="1">
                    <a:solidFill>
                      <a:srgbClr val="1E073B"/>
                    </a:solidFill>
                    <a:latin typeface="Segoe UI"/>
                  </a:defRPr>
                </a:pPr>
              </a:p>
            </c:txPr>
            <c:dLblPos val="outEnd"/>
            <c:showLegendKey val="0"/>
            <c:showVal val="0"/>
            <c:showCatName val="0"/>
            <c:showSerName val="0"/>
            <c:showPercent val="0"/>
            <c:showBubbleSize val="0"/>
            <c:showLeaderLines val="1"/>
          </c:dLbls>
          <c:cat>
            <c:strRef>
              <c:f>Sheet1!$A$2:$A$13</c:f>
              <c:strCache>
                <c:ptCount val="12"/>
                <c:pt idx="0">
                  <c:v>09/23</c:v>
                </c:pt>
                <c:pt idx="1">
                  <c:v>11/18</c:v>
                </c:pt>
                <c:pt idx="2">
                  <c:v>12/02</c:v>
                </c:pt>
                <c:pt idx="3">
                  <c:v>04/14</c:v>
                </c:pt>
                <c:pt idx="4">
                  <c:v>05/12</c:v>
                </c:pt>
                <c:pt idx="5">
                  <c:v>07/14</c:v>
                </c:pt>
                <c:pt idx="6">
                  <c:v>01/19</c:v>
                </c:pt>
                <c:pt idx="7">
                  <c:v>02/02</c:v>
                </c:pt>
                <c:pt idx="8">
                  <c:v>02/09</c:v>
                </c:pt>
                <c:pt idx="9">
                  <c:v>02/16</c:v>
                </c:pt>
                <c:pt idx="10">
                  <c:v>02/23</c:v>
                </c:pt>
                <c:pt idx="11">
                  <c:v>03/02</c:v>
                </c:pt>
              </c:strCache>
            </c:strRef>
          </c:cat>
          <c:val>
            <c:numRef>
              <c:f>Sheet1!$B$2:$B$13</c:f>
              <c:numCache>
                <c:formatCode>General</c:formatCode>
                <c:ptCount val="12"/>
                <c:pt idx="0">
                  <c:v>1</c:v>
                </c:pt>
                <c:pt idx="1">
                  <c:v>3</c:v>
                </c:pt>
                <c:pt idx="2">
                  <c:v>1</c:v>
                </c:pt>
                <c:pt idx="3">
                  <c:v>1</c:v>
                </c:pt>
                <c:pt idx="4">
                  <c:v>1</c:v>
                </c:pt>
                <c:pt idx="5">
                  <c:v>1</c:v>
                </c:pt>
                <c:pt idx="6">
                  <c:v>2</c:v>
                </c:pt>
                <c:pt idx="7">
                  <c:v>6</c:v>
                </c:pt>
                <c:pt idx="8">
                  <c:v>9</c:v>
                </c:pt>
                <c:pt idx="9">
                  <c:v>18</c:v>
                </c:pt>
                <c:pt idx="10">
                  <c:v>6</c:v>
                </c:pt>
                <c:pt idx="11">
                  <c:v>1</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a:latin typeface="Segoe UI"/>
              </a:defRPr>
            </a:pPr>
          </a:p>
        </c:txPr>
        <c:crossAx val="-2113994440"/>
        <c:crosses val="autoZero"/>
        <c:auto val="1"/>
        <c:lblAlgn val="ctr"/>
        <c:lblOffset val="100"/>
        <c:noMultiLvlLbl val="0"/>
      </c:catAx>
      <c:valAx>
        <c:axId val="-2113994440"/>
        <c:scaling/>
        <c:delete val="0"/>
        <c:axPos val="l"/>
        <c:majorGridlines>
          <c:spPr>
            <a:ln w="6350">
              <a:solidFill>
                <a:srgbClr val="EDE9FE"/>
              </a:solidFill>
            </a:ln>
          </c:spPr>
        </c:majorGridlines>
        <c:majorTickMark val="out"/>
        <c:minorTickMark val="none"/>
        <c:tickLblPos val="nextTo"/>
        <c:txPr>
          <a:bodyPr/>
          <a:lstStyle/>
          <a:p>
            <a:pPr>
              <a:defRPr sz="900">
                <a:latin typeface="Segoe UI"/>
              </a:defRPr>
            </a:pPr>
          </a:p>
        </c:txPr>
        <c:crossAx val="-2068027336"/>
        <c:crosses val="autoZero"/>
      </c:valAx>
    </c:plotArea>
    <c:legend>
      <c:legendPos val="b"/>
      <c:overlay val="0"/>
      <c:txPr>
        <a:bodyPr/>
        <a:lstStyle/>
        <a:p>
          <a:pPr>
            <a:defRPr sz="1000">
              <a:latin typeface="Segoe U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9" name="Shape 769"/>
        <p:cNvGrpSpPr/>
        <p:nvPr/>
      </p:nvGrpSpPr>
      <p:grpSpPr>
        <a:xfrm>
          <a:off x="0" y="0"/>
          <a:ext cx="0" cy="0"/>
          <a:chOff x="0" y="0"/>
          <a:chExt cx="0" cy="0"/>
        </a:xfrm>
      </p:grpSpPr>
      <p:sp>
        <p:nvSpPr>
          <p:cNvPr id="770" name="Google Shape;770;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5" name="Shape 1275"/>
        <p:cNvGrpSpPr/>
        <p:nvPr/>
      </p:nvGrpSpPr>
      <p:grpSpPr>
        <a:xfrm>
          <a:off x="0" y="0"/>
          <a:ext cx="0" cy="0"/>
          <a:chOff x="0" y="0"/>
          <a:chExt cx="0" cy="0"/>
        </a:xfrm>
      </p:grpSpPr>
      <p:sp>
        <p:nvSpPr>
          <p:cNvPr id="1276" name="Google Shape;1276;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3" name="Shape 1373"/>
        <p:cNvGrpSpPr/>
        <p:nvPr/>
      </p:nvGrpSpPr>
      <p:grpSpPr>
        <a:xfrm>
          <a:off x="0" y="0"/>
          <a:ext cx="0" cy="0"/>
          <a:chOff x="0" y="0"/>
          <a:chExt cx="0" cy="0"/>
        </a:xfrm>
      </p:grpSpPr>
      <p:sp>
        <p:nvSpPr>
          <p:cNvPr id="1374" name="Google Shape;1374;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1" name="Shape 1451"/>
        <p:cNvGrpSpPr/>
        <p:nvPr/>
      </p:nvGrpSpPr>
      <p:grpSpPr>
        <a:xfrm>
          <a:off x="0" y="0"/>
          <a:ext cx="0" cy="0"/>
          <a:chOff x="0" y="0"/>
          <a:chExt cx="0" cy="0"/>
        </a:xfrm>
      </p:grpSpPr>
      <p:sp>
        <p:nvSpPr>
          <p:cNvPr id="1452" name="Google Shape;1452;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3" name="Shape 1543"/>
        <p:cNvGrpSpPr/>
        <p:nvPr/>
      </p:nvGrpSpPr>
      <p:grpSpPr>
        <a:xfrm>
          <a:off x="0" y="0"/>
          <a:ext cx="0" cy="0"/>
          <a:chOff x="0" y="0"/>
          <a:chExt cx="0" cy="0"/>
        </a:xfrm>
      </p:grpSpPr>
      <p:sp>
        <p:nvSpPr>
          <p:cNvPr id="1544" name="Google Shape;1544;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7" name="Shape 1727"/>
        <p:cNvGrpSpPr/>
        <p:nvPr/>
      </p:nvGrpSpPr>
      <p:grpSpPr>
        <a:xfrm>
          <a:off x="0" y="0"/>
          <a:ext cx="0" cy="0"/>
          <a:chOff x="0" y="0"/>
          <a:chExt cx="0" cy="0"/>
        </a:xfrm>
      </p:grpSpPr>
      <p:sp>
        <p:nvSpPr>
          <p:cNvPr id="1728" name="Google Shape;1728;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9" name="Google Shape;1729;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9" name="Shape 1759"/>
        <p:cNvGrpSpPr/>
        <p:nvPr/>
      </p:nvGrpSpPr>
      <p:grpSpPr>
        <a:xfrm>
          <a:off x="0" y="0"/>
          <a:ext cx="0" cy="0"/>
          <a:chOff x="0" y="0"/>
          <a:chExt cx="0" cy="0"/>
        </a:xfrm>
      </p:grpSpPr>
      <p:sp>
        <p:nvSpPr>
          <p:cNvPr id="1760" name="Google Shape;1760;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3" name="Shape 1803"/>
        <p:cNvGrpSpPr/>
        <p:nvPr/>
      </p:nvGrpSpPr>
      <p:grpSpPr>
        <a:xfrm>
          <a:off x="0" y="0"/>
          <a:ext cx="0" cy="0"/>
          <a:chOff x="0" y="0"/>
          <a:chExt cx="0" cy="0"/>
        </a:xfrm>
      </p:grpSpPr>
      <p:sp>
        <p:nvSpPr>
          <p:cNvPr id="1804" name="Google Shape;1804;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7" name="Shape 1847"/>
        <p:cNvGrpSpPr/>
        <p:nvPr/>
      </p:nvGrpSpPr>
      <p:grpSpPr>
        <a:xfrm>
          <a:off x="0" y="0"/>
          <a:ext cx="0" cy="0"/>
          <a:chOff x="0" y="0"/>
          <a:chExt cx="0" cy="0"/>
        </a:xfrm>
      </p:grpSpPr>
      <p:sp>
        <p:nvSpPr>
          <p:cNvPr id="1848" name="Google Shape;1848;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1" name="Shape 1891"/>
        <p:cNvGrpSpPr/>
        <p:nvPr/>
      </p:nvGrpSpPr>
      <p:grpSpPr>
        <a:xfrm>
          <a:off x="0" y="0"/>
          <a:ext cx="0" cy="0"/>
          <a:chOff x="0" y="0"/>
          <a:chExt cx="0" cy="0"/>
        </a:xfrm>
      </p:grpSpPr>
      <p:sp>
        <p:nvSpPr>
          <p:cNvPr id="1892" name="Google Shape;1892;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5" name="Shape 1935"/>
        <p:cNvGrpSpPr/>
        <p:nvPr/>
      </p:nvGrpSpPr>
      <p:grpSpPr>
        <a:xfrm>
          <a:off x="0" y="0"/>
          <a:ext cx="0" cy="0"/>
          <a:chOff x="0" y="0"/>
          <a:chExt cx="0" cy="0"/>
        </a:xfrm>
      </p:grpSpPr>
      <p:sp>
        <p:nvSpPr>
          <p:cNvPr id="1936" name="Google Shape;1936;p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4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4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3" name="Shape 2013"/>
        <p:cNvGrpSpPr/>
        <p:nvPr/>
      </p:nvGrpSpPr>
      <p:grpSpPr>
        <a:xfrm>
          <a:off x="0" y="0"/>
          <a:ext cx="0" cy="0"/>
          <a:chOff x="0" y="0"/>
          <a:chExt cx="0" cy="0"/>
        </a:xfrm>
      </p:grpSpPr>
      <p:sp>
        <p:nvSpPr>
          <p:cNvPr id="2014" name="Google Shape;2014;p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5" name="Google Shape;2015;p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1" name="Shape 2061"/>
        <p:cNvGrpSpPr/>
        <p:nvPr/>
      </p:nvGrpSpPr>
      <p:grpSpPr>
        <a:xfrm>
          <a:off x="0" y="0"/>
          <a:ext cx="0" cy="0"/>
          <a:chOff x="0" y="0"/>
          <a:chExt cx="0" cy="0"/>
        </a:xfrm>
      </p:grpSpPr>
      <p:sp>
        <p:nvSpPr>
          <p:cNvPr id="2062" name="Google Shape;2062;p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4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9" name="Shape 2109"/>
        <p:cNvGrpSpPr/>
        <p:nvPr/>
      </p:nvGrpSpPr>
      <p:grpSpPr>
        <a:xfrm>
          <a:off x="0" y="0"/>
          <a:ext cx="0" cy="0"/>
          <a:chOff x="0" y="0"/>
          <a:chExt cx="0" cy="0"/>
        </a:xfrm>
      </p:grpSpPr>
      <p:sp>
        <p:nvSpPr>
          <p:cNvPr id="2110" name="Google Shape;2110;p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4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6" name="Shape 2156"/>
        <p:cNvGrpSpPr/>
        <p:nvPr/>
      </p:nvGrpSpPr>
      <p:grpSpPr>
        <a:xfrm>
          <a:off x="0" y="0"/>
          <a:ext cx="0" cy="0"/>
          <a:chOff x="0" y="0"/>
          <a:chExt cx="0" cy="0"/>
        </a:xfrm>
      </p:grpSpPr>
      <p:sp>
        <p:nvSpPr>
          <p:cNvPr id="2157" name="Google Shape;2157;p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4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p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4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4" name="Shape 2234"/>
        <p:cNvGrpSpPr/>
        <p:nvPr/>
      </p:nvGrpSpPr>
      <p:grpSpPr>
        <a:xfrm>
          <a:off x="0" y="0"/>
          <a:ext cx="0" cy="0"/>
          <a:chOff x="0" y="0"/>
          <a:chExt cx="0" cy="0"/>
        </a:xfrm>
      </p:grpSpPr>
      <p:sp>
        <p:nvSpPr>
          <p:cNvPr id="2235" name="Google Shape;2235;p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4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1" name="Shape 2271"/>
        <p:cNvGrpSpPr/>
        <p:nvPr/>
      </p:nvGrpSpPr>
      <p:grpSpPr>
        <a:xfrm>
          <a:off x="0" y="0"/>
          <a:ext cx="0" cy="0"/>
          <a:chOff x="0" y="0"/>
          <a:chExt cx="0" cy="0"/>
        </a:xfrm>
      </p:grpSpPr>
      <p:sp>
        <p:nvSpPr>
          <p:cNvPr id="2272" name="Google Shape;2272;p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4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4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4" name="Shape 2354"/>
        <p:cNvGrpSpPr/>
        <p:nvPr/>
      </p:nvGrpSpPr>
      <p:grpSpPr>
        <a:xfrm>
          <a:off x="0" y="0"/>
          <a:ext cx="0" cy="0"/>
          <a:chOff x="0" y="0"/>
          <a:chExt cx="0" cy="0"/>
        </a:xfrm>
      </p:grpSpPr>
      <p:sp>
        <p:nvSpPr>
          <p:cNvPr id="2355" name="Google Shape;2355;p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1" name="Shape 2381"/>
        <p:cNvGrpSpPr/>
        <p:nvPr/>
      </p:nvGrpSpPr>
      <p:grpSpPr>
        <a:xfrm>
          <a:off x="0" y="0"/>
          <a:ext cx="0" cy="0"/>
          <a:chOff x="0" y="0"/>
          <a:chExt cx="0" cy="0"/>
        </a:xfrm>
      </p:grpSpPr>
      <p:sp>
        <p:nvSpPr>
          <p:cNvPr id="2382" name="Google Shape;2382;p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5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1" name="Shape 2421"/>
        <p:cNvGrpSpPr/>
        <p:nvPr/>
      </p:nvGrpSpPr>
      <p:grpSpPr>
        <a:xfrm>
          <a:off x="0" y="0"/>
          <a:ext cx="0" cy="0"/>
          <a:chOff x="0" y="0"/>
          <a:chExt cx="0" cy="0"/>
        </a:xfrm>
      </p:grpSpPr>
      <p:sp>
        <p:nvSpPr>
          <p:cNvPr id="2422" name="Google Shape;2422;p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5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5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5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6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6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6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6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6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6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6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6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6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62"/>
          <p:cNvSpPr/>
          <p:nvPr>
            <p:ph idx="2" type="pic"/>
          </p:nvPr>
        </p:nvSpPr>
        <p:spPr>
          <a:xfrm>
            <a:off x="1792288" y="612775"/>
            <a:ext cx="5486400" cy="4114800"/>
          </a:xfrm>
          <a:prstGeom prst="rect">
            <a:avLst/>
          </a:prstGeom>
          <a:noFill/>
          <a:ln>
            <a:noFill/>
          </a:ln>
        </p:spPr>
      </p:sp>
      <p:sp>
        <p:nvSpPr>
          <p:cNvPr id="64" name="Google Shape;64;p6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6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6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6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6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6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6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6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6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6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6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6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6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6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5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chart" Target="../charts/char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83" name="Shape 83"/>
        <p:cNvGrpSpPr/>
        <p:nvPr/>
      </p:nvGrpSpPr>
      <p:grpSpPr>
        <a:xfrm>
          <a:off x="0" y="0"/>
          <a:ext cx="0" cy="0"/>
          <a:chOff x="0" y="0"/>
          <a:chExt cx="0" cy="0"/>
        </a:xfrm>
      </p:grpSpPr>
      <p:sp>
        <p:nvSpPr>
          <p:cNvPr id="84" name="Google Shape;84;p1"/>
          <p:cNvSpPr/>
          <p:nvPr/>
        </p:nvSpPr>
        <p:spPr>
          <a:xfrm>
            <a:off x="7772400" y="-1828800"/>
            <a:ext cx="6400800" cy="6400800"/>
          </a:xfrm>
          <a:prstGeom prst="ellipse">
            <a:avLst/>
          </a:prstGeom>
          <a:solidFill>
            <a:srgbClr val="5B21B6">
              <a:alpha val="20000"/>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
          <p:cNvSpPr/>
          <p:nvPr/>
        </p:nvSpPr>
        <p:spPr>
          <a:xfrm>
            <a:off x="9144000" y="457200"/>
            <a:ext cx="4572000" cy="4572000"/>
          </a:xfrm>
          <a:prstGeom prst="ellipse">
            <a:avLst/>
          </a:prstGeom>
          <a:solidFill>
            <a:srgbClr val="7C3AED">
              <a:alpha val="1215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8686800" y="3200400"/>
            <a:ext cx="2743200" cy="2743200"/>
          </a:xfrm>
          <a:prstGeom prst="ellipse">
            <a:avLst/>
          </a:prstGeom>
          <a:solidFill>
            <a:srgbClr val="D946EF">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 name="Google Shape;89;p1"/>
          <p:cNvSpPr/>
          <p:nvPr/>
        </p:nvSpPr>
        <p:spPr>
          <a:xfrm>
            <a:off x="731520" y="1371600"/>
            <a:ext cx="54864" cy="320040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1097280" y="1371600"/>
            <a:ext cx="73152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FFFFFF"/>
                </a:solidFill>
                <a:latin typeface="Quattrocento Sans"/>
                <a:ea typeface="Quattrocento Sans"/>
                <a:cs typeface="Quattrocento Sans"/>
                <a:sym typeface="Quattrocento Sans"/>
              </a:rPr>
              <a:t>DSG BOUND BUSINESS</a:t>
            </a:r>
            <a:endParaRPr/>
          </a:p>
        </p:txBody>
      </p:sp>
      <p:sp>
        <p:nvSpPr>
          <p:cNvPr id="91" name="Google Shape;91;p1"/>
          <p:cNvSpPr txBox="1"/>
          <p:nvPr/>
        </p:nvSpPr>
        <p:spPr>
          <a:xfrm>
            <a:off x="1097280" y="2011680"/>
            <a:ext cx="73152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D946EF"/>
                </a:solidFill>
                <a:latin typeface="Quattrocento Sans"/>
                <a:ea typeface="Quattrocento Sans"/>
                <a:cs typeface="Quattrocento Sans"/>
                <a:sym typeface="Quattrocento Sans"/>
              </a:rPr>
              <a:t>REPORT</a:t>
            </a:r>
            <a:endParaRPr/>
          </a:p>
        </p:txBody>
      </p:sp>
      <p:sp>
        <p:nvSpPr>
          <p:cNvPr id="92" name="Google Shape;92;p1"/>
          <p:cNvSpPr/>
          <p:nvPr/>
        </p:nvSpPr>
        <p:spPr>
          <a:xfrm>
            <a:off x="1097280" y="2834640"/>
            <a:ext cx="2286000" cy="27432"/>
          </a:xfrm>
          <a:prstGeom prst="rect">
            <a:avLst/>
          </a:prstGeom>
          <a:solidFill>
            <a:srgbClr val="A78B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1097280" y="3108960"/>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C4B5FD"/>
                </a:solidFill>
                <a:latin typeface="Quattrocento Sans"/>
                <a:ea typeface="Quattrocento Sans"/>
                <a:cs typeface="Quattrocento Sans"/>
                <a:sym typeface="Quattrocento Sans"/>
              </a:rPr>
              <a:t>2026 Year-to-Date</a:t>
            </a:r>
            <a:endParaRPr/>
          </a:p>
        </p:txBody>
      </p:sp>
      <p:sp>
        <p:nvSpPr>
          <p:cNvPr id="94" name="Google Shape;94;p1"/>
          <p:cNvSpPr txBox="1"/>
          <p:nvPr/>
        </p:nvSpPr>
        <p:spPr>
          <a:xfrm>
            <a:off x="1097280" y="3749039"/>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A09CB0"/>
                </a:solidFill>
                <a:latin typeface="Quattrocento Sans"/>
                <a:ea typeface="Quattrocento Sans"/>
                <a:cs typeface="Quattrocento Sans"/>
                <a:sym typeface="Quattrocento Sans"/>
              </a:rPr>
              <a:t>Dump Truck / Sand &amp; Gravel Operations</a:t>
            </a:r>
            <a:endParaRPr/>
          </a:p>
        </p:txBody>
      </p:sp>
      <p:sp>
        <p:nvSpPr>
          <p:cNvPr id="95" name="Google Shape;95;p1"/>
          <p:cNvSpPr/>
          <p:nvPr/>
        </p:nvSpPr>
        <p:spPr>
          <a:xfrm>
            <a:off x="0" y="6035040"/>
            <a:ext cx="12191695" cy="8229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p:nvPr/>
        </p:nvSpPr>
        <p:spPr>
          <a:xfrm>
            <a:off x="0" y="6035040"/>
            <a:ext cx="12191695" cy="822960"/>
          </a:xfrm>
          <a:prstGeom prst="rect">
            <a:avLst/>
          </a:prstGeom>
          <a:solidFill>
            <a:srgbClr val="5B21B6">
              <a:alpha val="40000"/>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 name="Google Shape;97;p1"/>
          <p:cNvSpPr txBox="1"/>
          <p:nvPr/>
        </p:nvSpPr>
        <p:spPr>
          <a:xfrm>
            <a:off x="731520" y="6172200"/>
            <a:ext cx="4572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98" name="Google Shape;98;p1"/>
          <p:cNvSpPr txBox="1"/>
          <p:nvPr/>
        </p:nvSpPr>
        <p:spPr>
          <a:xfrm>
            <a:off x="7315200" y="6172200"/>
            <a:ext cx="4114800" cy="4572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Generated: May 28,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2" name="Shape 102"/>
        <p:cNvGrpSpPr/>
        <p:nvPr/>
      </p:nvGrpSpPr>
      <p:grpSpPr>
        <a:xfrm>
          <a:off x="0" y="0"/>
          <a:ext cx="0" cy="0"/>
          <a:chOff x="0" y="0"/>
          <a:chExt cx="0" cy="0"/>
        </a:xfrm>
      </p:grpSpPr>
      <p:sp>
        <p:nvSpPr>
          <p:cNvPr id="103" name="Google Shape;103;p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 name="Google Shape;104;p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EXECUTIVE SUMMARY</a:t>
            </a:r>
            <a:endParaRPr/>
          </a:p>
        </p:txBody>
      </p:sp>
      <p:sp>
        <p:nvSpPr>
          <p:cNvPr id="108" name="Google Shape;108;p2"/>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184 Accounts  |  $5.2M GWP</a:t>
            </a:r>
            <a:endParaRPr/>
          </a:p>
        </p:txBody>
      </p:sp>
      <p:sp>
        <p:nvSpPr>
          <p:cNvPr id="109" name="Google Shape;109;p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2"/>
          <p:cNvSpPr/>
          <p:nvPr/>
        </p:nvSpPr>
        <p:spPr>
          <a:xfrm>
            <a:off x="45720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2"/>
          <p:cNvSpPr/>
          <p:nvPr/>
        </p:nvSpPr>
        <p:spPr>
          <a:xfrm>
            <a:off x="457200" y="1645920"/>
            <a:ext cx="260604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2"/>
          <p:cNvSpPr txBox="1"/>
          <p:nvPr/>
        </p:nvSpPr>
        <p:spPr>
          <a:xfrm>
            <a:off x="68580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TOTAL ACCOUNTS</a:t>
            </a:r>
            <a:endParaRPr/>
          </a:p>
        </p:txBody>
      </p:sp>
      <p:sp>
        <p:nvSpPr>
          <p:cNvPr id="115" name="Google Shape;115;p2"/>
          <p:cNvSpPr txBox="1"/>
          <p:nvPr/>
        </p:nvSpPr>
        <p:spPr>
          <a:xfrm>
            <a:off x="68580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7C3AED"/>
                </a:solidFill>
                <a:latin typeface="Quattrocento Sans"/>
                <a:ea typeface="Quattrocento Sans"/>
                <a:cs typeface="Quattrocento Sans"/>
                <a:sym typeface="Quattrocento Sans"/>
              </a:rPr>
              <a:t>184</a:t>
            </a:r>
            <a:endParaRPr/>
          </a:p>
        </p:txBody>
      </p:sp>
      <p:sp>
        <p:nvSpPr>
          <p:cNvPr id="116" name="Google Shape;116;p2"/>
          <p:cNvSpPr txBox="1"/>
          <p:nvPr/>
        </p:nvSpPr>
        <p:spPr>
          <a:xfrm>
            <a:off x="68580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2026 Bound Policies</a:t>
            </a:r>
            <a:endParaRPr/>
          </a:p>
        </p:txBody>
      </p:sp>
      <p:sp>
        <p:nvSpPr>
          <p:cNvPr id="117" name="Google Shape;117;p2"/>
          <p:cNvSpPr/>
          <p:nvPr/>
        </p:nvSpPr>
        <p:spPr>
          <a:xfrm>
            <a:off x="333756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p:nvPr/>
        </p:nvSpPr>
        <p:spPr>
          <a:xfrm>
            <a:off x="3337560" y="1645920"/>
            <a:ext cx="260604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p2"/>
          <p:cNvSpPr txBox="1"/>
          <p:nvPr/>
        </p:nvSpPr>
        <p:spPr>
          <a:xfrm>
            <a:off x="356616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GROSS WRITTEN PREMIUM</a:t>
            </a:r>
            <a:endParaRPr/>
          </a:p>
        </p:txBody>
      </p:sp>
      <p:sp>
        <p:nvSpPr>
          <p:cNvPr id="120" name="Google Shape;120;p2"/>
          <p:cNvSpPr txBox="1"/>
          <p:nvPr/>
        </p:nvSpPr>
        <p:spPr>
          <a:xfrm>
            <a:off x="356616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10B981"/>
                </a:solidFill>
                <a:latin typeface="Quattrocento Sans"/>
                <a:ea typeface="Quattrocento Sans"/>
                <a:cs typeface="Quattrocento Sans"/>
                <a:sym typeface="Quattrocento Sans"/>
              </a:rPr>
              <a:t>$5.2M</a:t>
            </a:r>
            <a:endParaRPr/>
          </a:p>
        </p:txBody>
      </p:sp>
      <p:sp>
        <p:nvSpPr>
          <p:cNvPr id="121" name="Google Shape;121;p2"/>
          <p:cNvSpPr txBox="1"/>
          <p:nvPr/>
        </p:nvSpPr>
        <p:spPr>
          <a:xfrm>
            <a:off x="356616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Year-to-Date</a:t>
            </a:r>
            <a:endParaRPr/>
          </a:p>
        </p:txBody>
      </p:sp>
      <p:sp>
        <p:nvSpPr>
          <p:cNvPr id="122" name="Google Shape;122;p2"/>
          <p:cNvSpPr/>
          <p:nvPr/>
        </p:nvSpPr>
        <p:spPr>
          <a:xfrm>
            <a:off x="621792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 name="Google Shape;123;p2"/>
          <p:cNvSpPr/>
          <p:nvPr/>
        </p:nvSpPr>
        <p:spPr>
          <a:xfrm>
            <a:off x="6217920" y="1645920"/>
            <a:ext cx="2606040" cy="54864"/>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 name="Google Shape;124;p2"/>
          <p:cNvSpPr txBox="1"/>
          <p:nvPr/>
        </p:nvSpPr>
        <p:spPr>
          <a:xfrm>
            <a:off x="644652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NET WRITTEN PREMIUM</a:t>
            </a:r>
            <a:endParaRPr/>
          </a:p>
        </p:txBody>
      </p:sp>
      <p:sp>
        <p:nvSpPr>
          <p:cNvPr id="125" name="Google Shape;125;p2"/>
          <p:cNvSpPr txBox="1"/>
          <p:nvPr/>
        </p:nvSpPr>
        <p:spPr>
          <a:xfrm>
            <a:off x="644652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5B21B6"/>
                </a:solidFill>
                <a:latin typeface="Quattrocento Sans"/>
                <a:ea typeface="Quattrocento Sans"/>
                <a:cs typeface="Quattrocento Sans"/>
                <a:sym typeface="Quattrocento Sans"/>
              </a:rPr>
              <a:t>$4.6M</a:t>
            </a:r>
            <a:endParaRPr/>
          </a:p>
        </p:txBody>
      </p:sp>
      <p:sp>
        <p:nvSpPr>
          <p:cNvPr id="126" name="Google Shape;126;p2"/>
          <p:cNvSpPr txBox="1"/>
          <p:nvPr/>
        </p:nvSpPr>
        <p:spPr>
          <a:xfrm>
            <a:off x="644652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After Ceding</a:t>
            </a:r>
            <a:endParaRPr/>
          </a:p>
        </p:txBody>
      </p:sp>
      <p:sp>
        <p:nvSpPr>
          <p:cNvPr id="127" name="Google Shape;127;p2"/>
          <p:cNvSpPr/>
          <p:nvPr/>
        </p:nvSpPr>
        <p:spPr>
          <a:xfrm>
            <a:off x="909828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2"/>
          <p:cNvSpPr/>
          <p:nvPr/>
        </p:nvSpPr>
        <p:spPr>
          <a:xfrm>
            <a:off x="9098280" y="1645920"/>
            <a:ext cx="260604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2"/>
          <p:cNvSpPr txBox="1"/>
          <p:nvPr/>
        </p:nvSpPr>
        <p:spPr>
          <a:xfrm>
            <a:off x="932688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AVG PREMIUM / ACCT</a:t>
            </a:r>
            <a:endParaRPr/>
          </a:p>
        </p:txBody>
      </p:sp>
      <p:sp>
        <p:nvSpPr>
          <p:cNvPr id="130" name="Google Shape;130;p2"/>
          <p:cNvSpPr txBox="1"/>
          <p:nvPr/>
        </p:nvSpPr>
        <p:spPr>
          <a:xfrm>
            <a:off x="932688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8B5CF6"/>
                </a:solidFill>
                <a:latin typeface="Quattrocento Sans"/>
                <a:ea typeface="Quattrocento Sans"/>
                <a:cs typeface="Quattrocento Sans"/>
                <a:sym typeface="Quattrocento Sans"/>
              </a:rPr>
              <a:t>$28,284</a:t>
            </a:r>
            <a:endParaRPr/>
          </a:p>
        </p:txBody>
      </p:sp>
      <p:sp>
        <p:nvSpPr>
          <p:cNvPr id="131" name="Google Shape;131;p2"/>
          <p:cNvSpPr txBox="1"/>
          <p:nvPr/>
        </p:nvSpPr>
        <p:spPr>
          <a:xfrm>
            <a:off x="932688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Per Policy</a:t>
            </a:r>
            <a:endParaRPr/>
          </a:p>
        </p:txBody>
      </p:sp>
      <p:sp>
        <p:nvSpPr>
          <p:cNvPr id="132" name="Google Shape;132;p2"/>
          <p:cNvSpPr txBox="1"/>
          <p:nvPr/>
        </p:nvSpPr>
        <p:spPr>
          <a:xfrm>
            <a:off x="731520" y="3749039"/>
            <a:ext cx="45720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B21B6"/>
                </a:solidFill>
                <a:latin typeface="Quattrocento Sans"/>
                <a:ea typeface="Quattrocento Sans"/>
                <a:cs typeface="Quattrocento Sans"/>
                <a:sym typeface="Quattrocento Sans"/>
              </a:rPr>
              <a:t>MONTHLY BREAKDOWN</a:t>
            </a:r>
            <a:endParaRPr/>
          </a:p>
        </p:txBody>
      </p:sp>
      <p:sp>
        <p:nvSpPr>
          <p:cNvPr id="133" name="Google Shape;133;p2"/>
          <p:cNvSpPr/>
          <p:nvPr/>
        </p:nvSpPr>
        <p:spPr>
          <a:xfrm>
            <a:off x="731520" y="4160520"/>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 name="Google Shape;134;p2"/>
          <p:cNvSpPr/>
          <p:nvPr/>
        </p:nvSpPr>
        <p:spPr>
          <a:xfrm>
            <a:off x="457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2"/>
          <p:cNvSpPr/>
          <p:nvPr/>
        </p:nvSpPr>
        <p:spPr>
          <a:xfrm>
            <a:off x="457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2"/>
          <p:cNvSpPr txBox="1"/>
          <p:nvPr/>
        </p:nvSpPr>
        <p:spPr>
          <a:xfrm>
            <a:off x="640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January 2026</a:t>
            </a:r>
            <a:endParaRPr/>
          </a:p>
        </p:txBody>
      </p:sp>
      <p:sp>
        <p:nvSpPr>
          <p:cNvPr id="137" name="Google Shape;137;p2"/>
          <p:cNvSpPr txBox="1"/>
          <p:nvPr/>
        </p:nvSpPr>
        <p:spPr>
          <a:xfrm>
            <a:off x="640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13 Accounts</a:t>
            </a:r>
            <a:endParaRPr/>
          </a:p>
        </p:txBody>
      </p:sp>
      <p:sp>
        <p:nvSpPr>
          <p:cNvPr id="138" name="Google Shape;138;p2"/>
          <p:cNvSpPr txBox="1"/>
          <p:nvPr/>
        </p:nvSpPr>
        <p:spPr>
          <a:xfrm>
            <a:off x="640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$500,726</a:t>
            </a:r>
            <a:endParaRPr/>
          </a:p>
        </p:txBody>
      </p:sp>
      <p:sp>
        <p:nvSpPr>
          <p:cNvPr id="139" name="Google Shape;139;p2"/>
          <p:cNvSpPr txBox="1"/>
          <p:nvPr/>
        </p:nvSpPr>
        <p:spPr>
          <a:xfrm>
            <a:off x="640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$443,453</a:t>
            </a:r>
            <a:endParaRPr/>
          </a:p>
        </p:txBody>
      </p:sp>
      <p:sp>
        <p:nvSpPr>
          <p:cNvPr id="140" name="Google Shape;140;p2"/>
          <p:cNvSpPr/>
          <p:nvPr/>
        </p:nvSpPr>
        <p:spPr>
          <a:xfrm>
            <a:off x="640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2"/>
          <p:cNvSpPr txBox="1"/>
          <p:nvPr/>
        </p:nvSpPr>
        <p:spPr>
          <a:xfrm>
            <a:off x="640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13</a:t>
            </a:r>
            <a:endParaRPr/>
          </a:p>
        </p:txBody>
      </p:sp>
      <p:sp>
        <p:nvSpPr>
          <p:cNvPr id="142" name="Google Shape;142;p2"/>
          <p:cNvSpPr/>
          <p:nvPr/>
        </p:nvSpPr>
        <p:spPr>
          <a:xfrm>
            <a:off x="1400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2"/>
          <p:cNvSpPr txBox="1"/>
          <p:nvPr/>
        </p:nvSpPr>
        <p:spPr>
          <a:xfrm>
            <a:off x="1400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0</a:t>
            </a:r>
            <a:endParaRPr/>
          </a:p>
        </p:txBody>
      </p:sp>
      <p:sp>
        <p:nvSpPr>
          <p:cNvPr id="144" name="Google Shape;144;p2"/>
          <p:cNvSpPr/>
          <p:nvPr/>
        </p:nvSpPr>
        <p:spPr>
          <a:xfrm>
            <a:off x="2743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2"/>
          <p:cNvSpPr/>
          <p:nvPr/>
        </p:nvSpPr>
        <p:spPr>
          <a:xfrm>
            <a:off x="2743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2"/>
          <p:cNvSpPr txBox="1"/>
          <p:nvPr/>
        </p:nvSpPr>
        <p:spPr>
          <a:xfrm>
            <a:off x="2926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February 2026</a:t>
            </a:r>
            <a:endParaRPr/>
          </a:p>
        </p:txBody>
      </p:sp>
      <p:sp>
        <p:nvSpPr>
          <p:cNvPr id="147" name="Google Shape;147;p2"/>
          <p:cNvSpPr txBox="1"/>
          <p:nvPr/>
        </p:nvSpPr>
        <p:spPr>
          <a:xfrm>
            <a:off x="2926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25 Accounts</a:t>
            </a:r>
            <a:endParaRPr/>
          </a:p>
        </p:txBody>
      </p:sp>
      <p:sp>
        <p:nvSpPr>
          <p:cNvPr id="148" name="Google Shape;148;p2"/>
          <p:cNvSpPr txBox="1"/>
          <p:nvPr/>
        </p:nvSpPr>
        <p:spPr>
          <a:xfrm>
            <a:off x="2926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$1.1M</a:t>
            </a:r>
            <a:endParaRPr/>
          </a:p>
        </p:txBody>
      </p:sp>
      <p:sp>
        <p:nvSpPr>
          <p:cNvPr id="149" name="Google Shape;149;p2"/>
          <p:cNvSpPr txBox="1"/>
          <p:nvPr/>
        </p:nvSpPr>
        <p:spPr>
          <a:xfrm>
            <a:off x="2926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$943,262</a:t>
            </a:r>
            <a:endParaRPr/>
          </a:p>
        </p:txBody>
      </p:sp>
      <p:sp>
        <p:nvSpPr>
          <p:cNvPr id="150" name="Google Shape;150;p2"/>
          <p:cNvSpPr/>
          <p:nvPr/>
        </p:nvSpPr>
        <p:spPr>
          <a:xfrm>
            <a:off x="2926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2"/>
          <p:cNvSpPr txBox="1"/>
          <p:nvPr/>
        </p:nvSpPr>
        <p:spPr>
          <a:xfrm>
            <a:off x="2926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22</a:t>
            </a:r>
            <a:endParaRPr/>
          </a:p>
        </p:txBody>
      </p:sp>
      <p:sp>
        <p:nvSpPr>
          <p:cNvPr id="152" name="Google Shape;152;p2"/>
          <p:cNvSpPr/>
          <p:nvPr/>
        </p:nvSpPr>
        <p:spPr>
          <a:xfrm>
            <a:off x="3686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2"/>
          <p:cNvSpPr txBox="1"/>
          <p:nvPr/>
        </p:nvSpPr>
        <p:spPr>
          <a:xfrm>
            <a:off x="3686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3</a:t>
            </a:r>
            <a:endParaRPr/>
          </a:p>
        </p:txBody>
      </p:sp>
      <p:sp>
        <p:nvSpPr>
          <p:cNvPr id="154" name="Google Shape;154;p2"/>
          <p:cNvSpPr/>
          <p:nvPr/>
        </p:nvSpPr>
        <p:spPr>
          <a:xfrm>
            <a:off x="5029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2"/>
          <p:cNvSpPr/>
          <p:nvPr/>
        </p:nvSpPr>
        <p:spPr>
          <a:xfrm>
            <a:off x="5029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2"/>
          <p:cNvSpPr txBox="1"/>
          <p:nvPr/>
        </p:nvSpPr>
        <p:spPr>
          <a:xfrm>
            <a:off x="5212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March 2026</a:t>
            </a:r>
            <a:endParaRPr/>
          </a:p>
        </p:txBody>
      </p:sp>
      <p:sp>
        <p:nvSpPr>
          <p:cNvPr id="157" name="Google Shape;157;p2"/>
          <p:cNvSpPr txBox="1"/>
          <p:nvPr/>
        </p:nvSpPr>
        <p:spPr>
          <a:xfrm>
            <a:off x="5212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51 Accounts</a:t>
            </a:r>
            <a:endParaRPr/>
          </a:p>
        </p:txBody>
      </p:sp>
      <p:sp>
        <p:nvSpPr>
          <p:cNvPr id="158" name="Google Shape;158;p2"/>
          <p:cNvSpPr txBox="1"/>
          <p:nvPr/>
        </p:nvSpPr>
        <p:spPr>
          <a:xfrm>
            <a:off x="5212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$1.2M</a:t>
            </a:r>
            <a:endParaRPr/>
          </a:p>
        </p:txBody>
      </p:sp>
      <p:sp>
        <p:nvSpPr>
          <p:cNvPr id="159" name="Google Shape;159;p2"/>
          <p:cNvSpPr txBox="1"/>
          <p:nvPr/>
        </p:nvSpPr>
        <p:spPr>
          <a:xfrm>
            <a:off x="5212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$1.0M</a:t>
            </a:r>
            <a:endParaRPr/>
          </a:p>
        </p:txBody>
      </p:sp>
      <p:sp>
        <p:nvSpPr>
          <p:cNvPr id="160" name="Google Shape;160;p2"/>
          <p:cNvSpPr/>
          <p:nvPr/>
        </p:nvSpPr>
        <p:spPr>
          <a:xfrm>
            <a:off x="5212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2"/>
          <p:cNvSpPr txBox="1"/>
          <p:nvPr/>
        </p:nvSpPr>
        <p:spPr>
          <a:xfrm>
            <a:off x="5212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49</a:t>
            </a:r>
            <a:endParaRPr/>
          </a:p>
        </p:txBody>
      </p:sp>
      <p:sp>
        <p:nvSpPr>
          <p:cNvPr id="162" name="Google Shape;162;p2"/>
          <p:cNvSpPr/>
          <p:nvPr/>
        </p:nvSpPr>
        <p:spPr>
          <a:xfrm>
            <a:off x="5972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2"/>
          <p:cNvSpPr txBox="1"/>
          <p:nvPr/>
        </p:nvSpPr>
        <p:spPr>
          <a:xfrm>
            <a:off x="5972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2</a:t>
            </a:r>
            <a:endParaRPr/>
          </a:p>
        </p:txBody>
      </p:sp>
      <p:sp>
        <p:nvSpPr>
          <p:cNvPr id="164" name="Google Shape;164;p2"/>
          <p:cNvSpPr/>
          <p:nvPr/>
        </p:nvSpPr>
        <p:spPr>
          <a:xfrm>
            <a:off x="7315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2"/>
          <p:cNvSpPr/>
          <p:nvPr/>
        </p:nvSpPr>
        <p:spPr>
          <a:xfrm>
            <a:off x="7315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2"/>
          <p:cNvSpPr txBox="1"/>
          <p:nvPr/>
        </p:nvSpPr>
        <p:spPr>
          <a:xfrm>
            <a:off x="7498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April 2026</a:t>
            </a:r>
            <a:endParaRPr/>
          </a:p>
        </p:txBody>
      </p:sp>
      <p:sp>
        <p:nvSpPr>
          <p:cNvPr id="167" name="Google Shape;167;p2"/>
          <p:cNvSpPr txBox="1"/>
          <p:nvPr/>
        </p:nvSpPr>
        <p:spPr>
          <a:xfrm>
            <a:off x="7498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47 Accounts</a:t>
            </a:r>
            <a:endParaRPr/>
          </a:p>
        </p:txBody>
      </p:sp>
      <p:sp>
        <p:nvSpPr>
          <p:cNvPr id="168" name="Google Shape;168;p2"/>
          <p:cNvSpPr txBox="1"/>
          <p:nvPr/>
        </p:nvSpPr>
        <p:spPr>
          <a:xfrm>
            <a:off x="7498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$1.1M</a:t>
            </a:r>
            <a:endParaRPr/>
          </a:p>
        </p:txBody>
      </p:sp>
      <p:sp>
        <p:nvSpPr>
          <p:cNvPr id="169" name="Google Shape;169;p2"/>
          <p:cNvSpPr txBox="1"/>
          <p:nvPr/>
        </p:nvSpPr>
        <p:spPr>
          <a:xfrm>
            <a:off x="7498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$969,603</a:t>
            </a:r>
            <a:endParaRPr/>
          </a:p>
        </p:txBody>
      </p:sp>
      <p:sp>
        <p:nvSpPr>
          <p:cNvPr id="170" name="Google Shape;170;p2"/>
          <p:cNvSpPr/>
          <p:nvPr/>
        </p:nvSpPr>
        <p:spPr>
          <a:xfrm>
            <a:off x="7498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2"/>
          <p:cNvSpPr txBox="1"/>
          <p:nvPr/>
        </p:nvSpPr>
        <p:spPr>
          <a:xfrm>
            <a:off x="7498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44</a:t>
            </a:r>
            <a:endParaRPr/>
          </a:p>
        </p:txBody>
      </p:sp>
      <p:sp>
        <p:nvSpPr>
          <p:cNvPr id="172" name="Google Shape;172;p2"/>
          <p:cNvSpPr/>
          <p:nvPr/>
        </p:nvSpPr>
        <p:spPr>
          <a:xfrm>
            <a:off x="8258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2"/>
          <p:cNvSpPr txBox="1"/>
          <p:nvPr/>
        </p:nvSpPr>
        <p:spPr>
          <a:xfrm>
            <a:off x="8258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3</a:t>
            </a:r>
            <a:endParaRPr/>
          </a:p>
        </p:txBody>
      </p:sp>
      <p:sp>
        <p:nvSpPr>
          <p:cNvPr id="174" name="Google Shape;174;p2"/>
          <p:cNvSpPr/>
          <p:nvPr/>
        </p:nvSpPr>
        <p:spPr>
          <a:xfrm>
            <a:off x="9601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2"/>
          <p:cNvSpPr/>
          <p:nvPr/>
        </p:nvSpPr>
        <p:spPr>
          <a:xfrm>
            <a:off x="9601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2"/>
          <p:cNvSpPr txBox="1"/>
          <p:nvPr/>
        </p:nvSpPr>
        <p:spPr>
          <a:xfrm>
            <a:off x="9784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May 2026</a:t>
            </a:r>
            <a:endParaRPr/>
          </a:p>
        </p:txBody>
      </p:sp>
      <p:sp>
        <p:nvSpPr>
          <p:cNvPr id="177" name="Google Shape;177;p2"/>
          <p:cNvSpPr txBox="1"/>
          <p:nvPr/>
        </p:nvSpPr>
        <p:spPr>
          <a:xfrm>
            <a:off x="9784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48 Accounts</a:t>
            </a:r>
            <a:endParaRPr/>
          </a:p>
        </p:txBody>
      </p:sp>
      <p:sp>
        <p:nvSpPr>
          <p:cNvPr id="178" name="Google Shape;178;p2"/>
          <p:cNvSpPr txBox="1"/>
          <p:nvPr/>
        </p:nvSpPr>
        <p:spPr>
          <a:xfrm>
            <a:off x="9784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$1.4M</a:t>
            </a:r>
            <a:endParaRPr/>
          </a:p>
        </p:txBody>
      </p:sp>
      <p:sp>
        <p:nvSpPr>
          <p:cNvPr id="179" name="Google Shape;179;p2"/>
          <p:cNvSpPr txBox="1"/>
          <p:nvPr/>
        </p:nvSpPr>
        <p:spPr>
          <a:xfrm>
            <a:off x="9784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$1.2M</a:t>
            </a:r>
            <a:endParaRPr/>
          </a:p>
        </p:txBody>
      </p:sp>
      <p:sp>
        <p:nvSpPr>
          <p:cNvPr id="180" name="Google Shape;180;p2"/>
          <p:cNvSpPr/>
          <p:nvPr/>
        </p:nvSpPr>
        <p:spPr>
          <a:xfrm>
            <a:off x="9784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2"/>
          <p:cNvSpPr txBox="1"/>
          <p:nvPr/>
        </p:nvSpPr>
        <p:spPr>
          <a:xfrm>
            <a:off x="9784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47</a:t>
            </a:r>
            <a:endParaRPr/>
          </a:p>
        </p:txBody>
      </p:sp>
      <p:sp>
        <p:nvSpPr>
          <p:cNvPr id="182" name="Google Shape;182;p2"/>
          <p:cNvSpPr/>
          <p:nvPr/>
        </p:nvSpPr>
        <p:spPr>
          <a:xfrm>
            <a:off x="10544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2"/>
          <p:cNvSpPr txBox="1"/>
          <p:nvPr/>
        </p:nvSpPr>
        <p:spPr>
          <a:xfrm>
            <a:off x="10544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1</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7" name="Shape 187"/>
        <p:cNvGrpSpPr/>
        <p:nvPr/>
      </p:nvGrpSpPr>
      <p:grpSpPr>
        <a:xfrm>
          <a:off x="0" y="0"/>
          <a:ext cx="0" cy="0"/>
          <a:chOff x="0" y="0"/>
          <a:chExt cx="0" cy="0"/>
        </a:xfrm>
      </p:grpSpPr>
      <p:sp>
        <p:nvSpPr>
          <p:cNvPr id="188" name="Google Shape;188;p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JANUARY 2026 DETAIL</a:t>
            </a:r>
            <a:endParaRPr/>
          </a:p>
        </p:txBody>
      </p:sp>
      <p:sp>
        <p:nvSpPr>
          <p:cNvPr id="193" name="Google Shape;193;p3"/>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13 Accounts  |  GWP: $500,726</a:t>
            </a:r>
            <a:endParaRPr/>
          </a:p>
        </p:txBody>
      </p:sp>
      <p:sp>
        <p:nvSpPr>
          <p:cNvPr id="194" name="Google Shape;194;p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97" name="Google Shape;197;p3"/>
          <p:cNvGraphicFramePr/>
          <p:nvPr/>
        </p:nvGraphicFramePr>
        <p:xfrm>
          <a:off x="274320" y="1463040"/>
          <a:ext cx="3000000" cy="3000000"/>
        </p:xfrm>
        <a:graphic>
          <a:graphicData uri="http://schemas.openxmlformats.org/drawingml/2006/table">
            <a:tbl>
              <a:tblPr>
                <a:noFill/>
                <a:tableStyleId>{D82A8721-ECEF-4CED-8E2A-D61C263BF4EF}</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JMS &amp; SONS TRANSPORTATION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$123,491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AVS HAULING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$19,612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MCH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Abir Walters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$13,193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HUGO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Usg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Jeannie Walker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$152,121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KULMINDER S GILL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Fredrick B. Roberson Insurance Serv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Arturo Gonzalez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Taylor Sloan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$46,132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ANTELOPE INVESTMENT ENTERPRI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Noel Cajinas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Kenneth Cajina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$20,907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SABATA'S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Insurance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Puente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$28,405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KB TRANSPORTATION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Andres Piedrahita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DIRT PRO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Elizabeth'S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Elizabeth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$17,422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ETHEREDGE AUTOTRANSPORT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Best Insurance dba Trucker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Frances Neely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$14,880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JC AND SONS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$10,072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GERALD DON GREEN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$53,392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LIONET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American Fleet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Feaster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1" name="Shape 201"/>
        <p:cNvGrpSpPr/>
        <p:nvPr/>
      </p:nvGrpSpPr>
      <p:grpSpPr>
        <a:xfrm>
          <a:off x="0" y="0"/>
          <a:ext cx="0" cy="0"/>
          <a:chOff x="0" y="0"/>
          <a:chExt cx="0" cy="0"/>
        </a:xfrm>
      </p:grpSpPr>
      <p:sp>
        <p:nvSpPr>
          <p:cNvPr id="202" name="Google Shape;202;p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p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FEBRUARY 2026 DETAIL</a:t>
            </a:r>
            <a:endParaRPr/>
          </a:p>
        </p:txBody>
      </p:sp>
      <p:sp>
        <p:nvSpPr>
          <p:cNvPr id="207" name="Google Shape;207;p4"/>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25 Accounts  |  GWP: $1.1M</a:t>
            </a:r>
            <a:endParaRPr/>
          </a:p>
        </p:txBody>
      </p:sp>
      <p:sp>
        <p:nvSpPr>
          <p:cNvPr id="208" name="Google Shape;208;p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11" name="Google Shape;211;p4"/>
          <p:cNvGraphicFramePr/>
          <p:nvPr/>
        </p:nvGraphicFramePr>
        <p:xfrm>
          <a:off x="274320" y="1463040"/>
          <a:ext cx="3000000" cy="3000000"/>
        </p:xfrm>
        <a:graphic>
          <a:graphicData uri="http://schemas.openxmlformats.org/drawingml/2006/table">
            <a:tbl>
              <a:tblPr>
                <a:noFill/>
                <a:tableStyleId>{D82A8721-ECEF-4CED-8E2A-D61C263BF4EF}</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QUINONES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LOGISTICS PLUS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Western Truck Insurance Services,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$22,640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GUILLEN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$136,077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ROGO ENTERPRISE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Exclusive Financial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Venizelos Papadopulo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$40,825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BIG AND TOUGH 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Waypoint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$26,262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Paramount Exclusive Insurance Servi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Jessenia Duran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$169,896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Paramount Exclusive Insurance Servi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$205,197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JUSTIN DEWAYNE DUPREE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Combined Insurance &amp; Tax of Florida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$11,370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JOSE DIMAS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$18,530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 FLORES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Christian Charles Insurance Service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Lydia Ramos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ZEUS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Insurance4Truckers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$20,583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 AND M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Appalachian Underwriters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$20,444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JOHNSON TRUCKING ENTERPRISE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Resolute Insurance Group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$22,421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BIG BOSS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R-T Specialty,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$8,225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G&amp;Z TRANSPORTATION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$20,094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VIRMAE MARIE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Insurance4Truckers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$26,892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GLM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INSURANCE/DBA PREVENT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$16,359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5" name="Shape 215"/>
        <p:cNvGrpSpPr/>
        <p:nvPr/>
      </p:nvGrpSpPr>
      <p:grpSpPr>
        <a:xfrm>
          <a:off x="0" y="0"/>
          <a:ext cx="0" cy="0"/>
          <a:chOff x="0" y="0"/>
          <a:chExt cx="0" cy="0"/>
        </a:xfrm>
      </p:grpSpPr>
      <p:sp>
        <p:nvSpPr>
          <p:cNvPr id="216" name="Google Shape;216;p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 name="Google Shape;217;p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 name="Google Shape;220;p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MARCH 2026 DETAIL</a:t>
            </a:r>
            <a:endParaRPr/>
          </a:p>
        </p:txBody>
      </p:sp>
      <p:sp>
        <p:nvSpPr>
          <p:cNvPr id="221" name="Google Shape;221;p5"/>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51 Accounts  |  GWP: $1.2M</a:t>
            </a:r>
            <a:endParaRPr/>
          </a:p>
        </p:txBody>
      </p:sp>
      <p:sp>
        <p:nvSpPr>
          <p:cNvPr id="222" name="Google Shape;222;p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25" name="Google Shape;225;p5"/>
          <p:cNvGraphicFramePr/>
          <p:nvPr/>
        </p:nvGraphicFramePr>
        <p:xfrm>
          <a:off x="274320" y="1463040"/>
          <a:ext cx="3000000" cy="3000000"/>
        </p:xfrm>
        <a:graphic>
          <a:graphicData uri="http://schemas.openxmlformats.org/drawingml/2006/table">
            <a:tbl>
              <a:tblPr>
                <a:noFill/>
                <a:tableStyleId>{D82A8721-ECEF-4CED-8E2A-D61C263BF4EF}</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GREGORY SNOPEL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$10,523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GOLDEN FLEXIT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$12,625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ERICK RAMOS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PAVETEX MATERIALS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$10,604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PAUL VALENCIA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CRC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Stephanie Castro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$18,933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7 V 7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$11,786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4hawk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Me Insurance Agency of NJ,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Jesus Peralta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SCORPIO FREIGHT LINES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Alex Rue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Alexander Rue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$19,077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RS GILL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MST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Manmdeep Thiara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JFAAMA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Insurance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Puente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$14,583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$26,061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RUBIKON GROUP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Nicole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$19,601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RIOS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VL 17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Edgar Barzaga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PRIME LOGISTIC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$14,033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APOLLO ENERGY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$24,528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ACD 4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Andres Piedrahita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$46,272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MISAEL BALDERAS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Garzor Insurance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Diana Munoz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Portia Lewis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$23,662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9" name="Shape 229"/>
        <p:cNvGrpSpPr/>
        <p:nvPr/>
      </p:nvGrpSpPr>
      <p:grpSpPr>
        <a:xfrm>
          <a:off x="0" y="0"/>
          <a:ext cx="0" cy="0"/>
          <a:chOff x="0" y="0"/>
          <a:chExt cx="0" cy="0"/>
        </a:xfrm>
      </p:grpSpPr>
      <p:sp>
        <p:nvSpPr>
          <p:cNvPr id="230" name="Google Shape;230;p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 name="Google Shape;231;p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 name="Google Shape;232;p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 name="Google Shape;234;p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APRIL 2026 DETAIL</a:t>
            </a:r>
            <a:endParaRPr/>
          </a:p>
        </p:txBody>
      </p:sp>
      <p:sp>
        <p:nvSpPr>
          <p:cNvPr id="235" name="Google Shape;235;p6"/>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47 Accounts  |  GWP: $1.1M</a:t>
            </a:r>
            <a:endParaRPr/>
          </a:p>
        </p:txBody>
      </p:sp>
      <p:sp>
        <p:nvSpPr>
          <p:cNvPr id="236" name="Google Shape;236;p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 name="Google Shape;237;p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39" name="Google Shape;239;p6"/>
          <p:cNvGraphicFramePr/>
          <p:nvPr/>
        </p:nvGraphicFramePr>
        <p:xfrm>
          <a:off x="274320" y="1463040"/>
          <a:ext cx="3000000" cy="3000000"/>
        </p:xfrm>
        <a:graphic>
          <a:graphicData uri="http://schemas.openxmlformats.org/drawingml/2006/table">
            <a:tbl>
              <a:tblPr>
                <a:noFill/>
                <a:tableStyleId>{D82A8721-ECEF-4CED-8E2A-D61C263BF4EF}</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24 LOGISTICS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Mohsen Ins.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Zane Mohsen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$87,610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FAVIO VALDEZ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Armor Texas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HEDY PENA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$14,564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LEO ACOSTA TRUCKING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H2O Commercial Insurance Agency Cor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Jenny Joya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$20,481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WATER IS GOD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Shamrock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Shamrock Holak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ALFREDO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INSURANCE/DBA PREVENT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SOUTHWEST CARRIER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 Secure Insurance Services,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Michelle Malkhasyan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$47,797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CLYO TRUCKING COMPANY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Direct Insurance Agency Of Texas LL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Ben Mosley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$25,747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BLHN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Appalachian Underwriters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$21,943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CALIFORNIA DUMPSTER RENTALS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Shirazi agency Inc. DBA Sina Insura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Sina Hossein Shirazi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$20,266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Christian Tejeda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SSB Insurance Services LLC DBA Free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Emiliano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HANDS TRUCKING AND HAULING 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Valley Insurance Service Inc. dba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Jeffrey Holly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$12,556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 M LONG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Erwin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Cade Erwin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$58,633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UN TRANS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$15,683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LUMBRERAS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Horizons Insurance And Financial Se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Diego Giraldo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$14,980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GARCHA TRANS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Mehtab Singh Kahlon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$22,157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CIRCLE CITY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Tailor'D Insurance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Todd Chafee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Erika Cabrera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Boyd Transportation and Cons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Waypoint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Amy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43" name="Shape 243"/>
        <p:cNvGrpSpPr/>
        <p:nvPr/>
      </p:nvGrpSpPr>
      <p:grpSpPr>
        <a:xfrm>
          <a:off x="0" y="0"/>
          <a:ext cx="0" cy="0"/>
          <a:chOff x="0" y="0"/>
          <a:chExt cx="0" cy="0"/>
        </a:xfrm>
      </p:grpSpPr>
      <p:sp>
        <p:nvSpPr>
          <p:cNvPr id="244" name="Google Shape;244;p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5" name="Google Shape;245;p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6" name="Google Shape;246;p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2026-05 DETAIL</a:t>
            </a:r>
            <a:endParaRPr/>
          </a:p>
        </p:txBody>
      </p:sp>
      <p:sp>
        <p:nvSpPr>
          <p:cNvPr id="249" name="Google Shape;249;p7"/>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48 Accounts  |  GWP: $1.4M</a:t>
            </a:r>
            <a:endParaRPr/>
          </a:p>
        </p:txBody>
      </p:sp>
      <p:sp>
        <p:nvSpPr>
          <p:cNvPr id="250" name="Google Shape;250;p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53" name="Google Shape;253;p7"/>
          <p:cNvGraphicFramePr/>
          <p:nvPr/>
        </p:nvGraphicFramePr>
        <p:xfrm>
          <a:off x="274320" y="1463040"/>
          <a:ext cx="3000000" cy="3000000"/>
        </p:xfrm>
        <a:graphic>
          <a:graphicData uri="http://schemas.openxmlformats.org/drawingml/2006/table">
            <a:tbl>
              <a:tblPr>
                <a:noFill/>
                <a:tableStyleId>{D82A8721-ECEF-4CED-8E2A-D61C263BF4EF}</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MK AND ZOE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 A F C H LOGISTICS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Barajas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$18,914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HARPER FREIGHT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CORNEJO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$12,186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Sabor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Me Insurance Agency of NJ,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Jesus Peralta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MC FABRICATION &amp; EXCAVATION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Walker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Michael Erbes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WINKFIELD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VER-GLEN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 Professionals Of Georgia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Christina Battle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Portia Lewis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$49,796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3D MARTI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Dream Assurance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Kevin Patrick Morris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$37,494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Castillo III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$17,448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CLEVELAND LOGISTICS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$52,417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JUAN MOLINA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Legacy Truck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Jimmy Martinez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$18,638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WISE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Omar Elmanzalawy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$18,087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SILVAS TRUCKING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$23,499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LOGISTICS MILES &amp; MILES TRUC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$24,686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BRUNSON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Best Insurance dba Trucker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Daniel Raykes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$23,748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BROTHERS HAULING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Western Truck Insurance Services,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$20,730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57" name="Shape 257"/>
        <p:cNvGrpSpPr/>
        <p:nvPr/>
      </p:nvGrpSpPr>
      <p:grpSpPr>
        <a:xfrm>
          <a:off x="0" y="0"/>
          <a:ext cx="0" cy="0"/>
          <a:chOff x="0" y="0"/>
          <a:chExt cx="0" cy="0"/>
        </a:xfrm>
      </p:grpSpPr>
      <p:sp>
        <p:nvSpPr>
          <p:cNvPr id="258" name="Google Shape;258;p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TOP PRODUCING AGENCIES</a:t>
            </a:r>
            <a:endParaRPr/>
          </a:p>
        </p:txBody>
      </p:sp>
      <p:sp>
        <p:nvSpPr>
          <p:cNvPr id="263" name="Google Shape;263;p8"/>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Ranked by Gross Written Premium</a:t>
            </a:r>
            <a:endParaRPr/>
          </a:p>
        </p:txBody>
      </p:sp>
      <p:sp>
        <p:nvSpPr>
          <p:cNvPr id="264" name="Google Shape;264;p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6" name="Google Shape;266;p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67" name="Google Shape;267;p8"/>
          <p:cNvGraphicFramePr/>
          <p:nvPr/>
        </p:nvGraphicFramePr>
        <p:xfrm>
          <a:off x="365760" y="1463040"/>
          <a:ext cx="3000000" cy="3000000"/>
        </p:xfrm>
        <a:graphic>
          <a:graphicData uri="http://schemas.openxmlformats.org/drawingml/2006/table">
            <a:tbl>
              <a:tblPr>
                <a:noFill/>
                <a:tableStyleId>{D82A8721-ECEF-4CED-8E2A-D61C263BF4EF}</a:tableStyleId>
              </a:tblPr>
              <a:tblGrid>
                <a:gridCol w="365750"/>
                <a:gridCol w="3200400"/>
                <a:gridCol w="2286000"/>
                <a:gridCol w="731525"/>
                <a:gridCol w="1645925"/>
                <a:gridCol w="1097275"/>
              </a:tblGrid>
              <a:tr h="310900">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Agent(s)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Accts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Share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10900">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$702,093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1" lang="en-US" sz="1000" u="none" cap="none" strike="noStrike">
                          <a:solidFill>
                            <a:srgbClr val="A09CB0"/>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Paramount Exclusive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Yulia Shostak, Jessenia Duran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$375,093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1" lang="en-US" sz="1000" u="none" cap="none" strike="noStrike">
                          <a:solidFill>
                            <a:srgbClr val="CD7F32"/>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Juan Piedrahita, 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$343,293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Francis Regala, Mehtab Singh Kah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$274,630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$259,568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Cecile Awad, Abir Walters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$181,140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$178,715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Fino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Oscar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$173,700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Nicole Rodriguez, David Rodrigue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$158,293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Usg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Jeannie Walker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$152,121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$139,342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Christian Charles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$109,097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$107,975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Ins Professionals Of Georgia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Christina Battle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$91,546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Mohsen Ins.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Zane Mohsen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$87,610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71" name="Shape 271"/>
        <p:cNvGrpSpPr/>
        <p:nvPr/>
      </p:nvGrpSpPr>
      <p:grpSpPr>
        <a:xfrm>
          <a:off x="0" y="0"/>
          <a:ext cx="0" cy="0"/>
          <a:chOff x="0" y="0"/>
          <a:chExt cx="0" cy="0"/>
        </a:xfrm>
      </p:grpSpPr>
      <p:sp>
        <p:nvSpPr>
          <p:cNvPr id="272" name="Google Shape;272;p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6" name="Google Shape;276;p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DISTRIBUTION BY STATE</a:t>
            </a:r>
            <a:endParaRPr/>
          </a:p>
        </p:txBody>
      </p:sp>
      <p:sp>
        <p:nvSpPr>
          <p:cNvPr id="277" name="Google Shape;277;p9"/>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Geographic Concentration</a:t>
            </a:r>
            <a:endParaRPr/>
          </a:p>
        </p:txBody>
      </p:sp>
      <p:sp>
        <p:nvSpPr>
          <p:cNvPr id="278" name="Google Shape;278;p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0" name="Google Shape;280;p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81" name="Google Shape;281;p9"/>
          <p:cNvGraphicFramePr/>
          <p:nvPr/>
        </p:nvGraphicFramePr>
        <p:xfrm>
          <a:off x="274320" y="1463040"/>
          <a:ext cx="5943600" cy="5029200"/>
        </p:xfrm>
        <a:graphic>
          <a:graphicData uri="http://schemas.openxmlformats.org/drawingml/2006/chart">
            <c:chart r:id="rId3"/>
          </a:graphicData>
        </a:graphic>
      </p:graphicFrame>
      <p:graphicFrame>
        <p:nvGraphicFramePr>
          <p:cNvPr id="282" name="Google Shape;282;p9"/>
          <p:cNvGraphicFramePr/>
          <p:nvPr/>
        </p:nvGraphicFramePr>
        <p:xfrm>
          <a:off x="6675120" y="1463040"/>
          <a:ext cx="3000000" cy="3000000"/>
        </p:xfrm>
        <a:graphic>
          <a:graphicData uri="http://schemas.openxmlformats.org/drawingml/2006/table">
            <a:tbl>
              <a:tblPr>
                <a:noFill/>
                <a:tableStyleId>{D82A8721-ECEF-4CED-8E2A-D61C263BF4EF}</a:tableStyleId>
              </a:tblPr>
              <a:tblGrid>
                <a:gridCol w="822950"/>
                <a:gridCol w="731525"/>
                <a:gridCol w="1828800"/>
                <a:gridCol w="1097275"/>
              </a:tblGrid>
              <a:tr h="384050">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Accts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Share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$2,621,200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$1,678,891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$329,545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6.3%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$182,976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TN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$23,922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$21,130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$20,898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$15,034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$14,880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$14,033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$11,870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$11,350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$8,775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$3,718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86" name="Shape 286"/>
        <p:cNvGrpSpPr/>
        <p:nvPr/>
      </p:nvGrpSpPr>
      <p:grpSpPr>
        <a:xfrm>
          <a:off x="0" y="0"/>
          <a:ext cx="0" cy="0"/>
          <a:chOff x="0" y="0"/>
          <a:chExt cx="0" cy="0"/>
        </a:xfrm>
      </p:grpSpPr>
      <p:sp>
        <p:nvSpPr>
          <p:cNvPr id="287" name="Google Shape;287;p1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8" name="Google Shape;288;p1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1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0" name="Google Shape;290;p1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1" name="Google Shape;291;p1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MARKETING CAMPAIGN IMPACT</a:t>
            </a:r>
            <a:endParaRPr/>
          </a:p>
        </p:txBody>
      </p:sp>
      <p:sp>
        <p:nvSpPr>
          <p:cNvPr id="292" name="Google Shape;292;p1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Feb Newsletter + Growth DSG + DSG Expansion</a:t>
            </a:r>
            <a:endParaRPr/>
          </a:p>
        </p:txBody>
      </p:sp>
      <p:sp>
        <p:nvSpPr>
          <p:cNvPr id="293" name="Google Shape;293;p1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1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10"/>
          <p:cNvSpPr/>
          <p:nvPr/>
        </p:nvSpPr>
        <p:spPr>
          <a:xfrm>
            <a:off x="2743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7" name="Google Shape;297;p10"/>
          <p:cNvSpPr/>
          <p:nvPr/>
        </p:nvSpPr>
        <p:spPr>
          <a:xfrm>
            <a:off x="274320" y="1463040"/>
            <a:ext cx="36576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8" name="Google Shape;298;p10"/>
          <p:cNvSpPr txBox="1"/>
          <p:nvPr/>
        </p:nvSpPr>
        <p:spPr>
          <a:xfrm>
            <a:off x="4114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7C3AED"/>
                </a:solidFill>
                <a:latin typeface="Quattrocento Sans"/>
                <a:ea typeface="Quattrocento Sans"/>
                <a:cs typeface="Quattrocento Sans"/>
                <a:sym typeface="Quattrocento Sans"/>
              </a:rPr>
              <a:t>Agent Newsletter: Feb 2026</a:t>
            </a:r>
            <a:endParaRPr/>
          </a:p>
        </p:txBody>
      </p:sp>
      <p:sp>
        <p:nvSpPr>
          <p:cNvPr id="299" name="Google Shape;299;p10"/>
          <p:cNvSpPr txBox="1"/>
          <p:nvPr/>
        </p:nvSpPr>
        <p:spPr>
          <a:xfrm>
            <a:off x="4114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~2,399 recipients</a:t>
            </a:r>
            <a:endParaRPr/>
          </a:p>
        </p:txBody>
      </p:sp>
      <p:sp>
        <p:nvSpPr>
          <p:cNvPr id="300" name="Google Shape;300;p10"/>
          <p:cNvSpPr txBox="1"/>
          <p:nvPr/>
        </p:nvSpPr>
        <p:spPr>
          <a:xfrm>
            <a:off x="4114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4 confirmed  |  7 likely  |  ~69% reached</a:t>
            </a:r>
            <a:endParaRPr/>
          </a:p>
        </p:txBody>
      </p:sp>
      <p:sp>
        <p:nvSpPr>
          <p:cNvPr id="301" name="Google Shape;301;p10"/>
          <p:cNvSpPr/>
          <p:nvPr/>
        </p:nvSpPr>
        <p:spPr>
          <a:xfrm>
            <a:off x="41605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10"/>
          <p:cNvSpPr/>
          <p:nvPr/>
        </p:nvSpPr>
        <p:spPr>
          <a:xfrm>
            <a:off x="4160520" y="1463040"/>
            <a:ext cx="365760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0"/>
          <p:cNvSpPr txBox="1"/>
          <p:nvPr/>
        </p:nvSpPr>
        <p:spPr>
          <a:xfrm>
            <a:off x="42976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D946EF"/>
                </a:solidFill>
                <a:latin typeface="Quattrocento Sans"/>
                <a:ea typeface="Quattrocento Sans"/>
                <a:cs typeface="Quattrocento Sans"/>
                <a:sym typeface="Quattrocento Sans"/>
              </a:rPr>
              <a:t>Growth DSG Campaign</a:t>
            </a:r>
            <a:endParaRPr/>
          </a:p>
        </p:txBody>
      </p:sp>
      <p:sp>
        <p:nvSpPr>
          <p:cNvPr id="304" name="Google Shape;304;p10"/>
          <p:cNvSpPr txBox="1"/>
          <p:nvPr/>
        </p:nvSpPr>
        <p:spPr>
          <a:xfrm>
            <a:off x="42976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7,297 sent  |  2,052 opened (28.8%)</a:t>
            </a:r>
            <a:endParaRPr/>
          </a:p>
        </p:txBody>
      </p:sp>
      <p:sp>
        <p:nvSpPr>
          <p:cNvPr id="305" name="Google Shape;305;p10"/>
          <p:cNvSpPr txBox="1"/>
          <p:nvPr/>
        </p:nvSpPr>
        <p:spPr>
          <a:xfrm>
            <a:off x="42976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1,200 influenced  |  5 bound agents direct</a:t>
            </a:r>
            <a:endParaRPr/>
          </a:p>
        </p:txBody>
      </p:sp>
      <p:sp>
        <p:nvSpPr>
          <p:cNvPr id="306" name="Google Shape;306;p10"/>
          <p:cNvSpPr/>
          <p:nvPr/>
        </p:nvSpPr>
        <p:spPr>
          <a:xfrm>
            <a:off x="80467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0"/>
          <p:cNvSpPr/>
          <p:nvPr/>
        </p:nvSpPr>
        <p:spPr>
          <a:xfrm>
            <a:off x="8046720" y="1463040"/>
            <a:ext cx="365760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1838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DSG Expansion Announcement</a:t>
            </a:r>
            <a:endParaRPr/>
          </a:p>
        </p:txBody>
      </p:sp>
      <p:sp>
        <p:nvSpPr>
          <p:cNvPr id="309" name="Google Shape;309;p10"/>
          <p:cNvSpPr txBox="1"/>
          <p:nvPr/>
        </p:nvSpPr>
        <p:spPr>
          <a:xfrm>
            <a:off x="81838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DSG expansion email to agents</a:t>
            </a:r>
            <a:endParaRPr/>
          </a:p>
        </p:txBody>
      </p:sp>
      <p:sp>
        <p:nvSpPr>
          <p:cNvPr id="310" name="Google Shape;310;p10"/>
          <p:cNvSpPr txBox="1"/>
          <p:nvPr/>
        </p:nvSpPr>
        <p:spPr>
          <a:xfrm>
            <a:off x="81838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Part of broader DSG launch outreach</a:t>
            </a:r>
            <a:endParaRPr/>
          </a:p>
        </p:txBody>
      </p:sp>
      <p:sp>
        <p:nvSpPr>
          <p:cNvPr id="311" name="Google Shape;311;p10"/>
          <p:cNvSpPr/>
          <p:nvPr/>
        </p:nvSpPr>
        <p:spPr>
          <a:xfrm>
            <a:off x="27432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p:nvPr/>
        </p:nvSpPr>
        <p:spPr>
          <a:xfrm>
            <a:off x="274320" y="2697480"/>
            <a:ext cx="54864" cy="384048"/>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0"/>
          <p:cNvSpPr txBox="1"/>
          <p:nvPr/>
        </p:nvSpPr>
        <p:spPr>
          <a:xfrm>
            <a:off x="41148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0B981"/>
                </a:solidFill>
                <a:latin typeface="Quattrocento Sans"/>
                <a:ea typeface="Quattrocento Sans"/>
                <a:cs typeface="Quattrocento Sans"/>
                <a:sym typeface="Quattrocento Sans"/>
              </a:rPr>
              <a:t>5 / 16</a:t>
            </a:r>
            <a:endParaRPr/>
          </a:p>
        </p:txBody>
      </p:sp>
      <p:sp>
        <p:nvSpPr>
          <p:cNvPr id="314" name="Google Shape;314;p10"/>
          <p:cNvSpPr txBox="1"/>
          <p:nvPr/>
        </p:nvSpPr>
        <p:spPr>
          <a:xfrm>
            <a:off x="114300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Direct DSG Influenced</a:t>
            </a:r>
            <a:endParaRPr/>
          </a:p>
        </p:txBody>
      </p:sp>
      <p:sp>
        <p:nvSpPr>
          <p:cNvPr id="315" name="Google Shape;315;p10"/>
          <p:cNvSpPr/>
          <p:nvPr/>
        </p:nvSpPr>
        <p:spPr>
          <a:xfrm>
            <a:off x="320040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10"/>
          <p:cNvSpPr/>
          <p:nvPr/>
        </p:nvSpPr>
        <p:spPr>
          <a:xfrm>
            <a:off x="3200400" y="2697480"/>
            <a:ext cx="54864" cy="38404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10"/>
          <p:cNvSpPr txBox="1"/>
          <p:nvPr/>
        </p:nvSpPr>
        <p:spPr>
          <a:xfrm>
            <a:off x="333756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7C3AED"/>
                </a:solidFill>
                <a:latin typeface="Quattrocento Sans"/>
                <a:ea typeface="Quattrocento Sans"/>
                <a:cs typeface="Quattrocento Sans"/>
                <a:sym typeface="Quattrocento Sans"/>
              </a:rPr>
              <a:t>7 / 16</a:t>
            </a:r>
            <a:endParaRPr/>
          </a:p>
        </p:txBody>
      </p:sp>
      <p:sp>
        <p:nvSpPr>
          <p:cNvPr id="318" name="Google Shape;318;p10"/>
          <p:cNvSpPr txBox="1"/>
          <p:nvPr/>
        </p:nvSpPr>
        <p:spPr>
          <a:xfrm>
            <a:off x="406908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DSG Agency Touch</a:t>
            </a:r>
            <a:endParaRPr/>
          </a:p>
        </p:txBody>
      </p:sp>
      <p:sp>
        <p:nvSpPr>
          <p:cNvPr id="319" name="Google Shape;319;p10"/>
          <p:cNvSpPr/>
          <p:nvPr/>
        </p:nvSpPr>
        <p:spPr>
          <a:xfrm>
            <a:off x="612648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0"/>
          <p:cNvSpPr/>
          <p:nvPr/>
        </p:nvSpPr>
        <p:spPr>
          <a:xfrm>
            <a:off x="6126480" y="2697480"/>
            <a:ext cx="54864" cy="38404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1" name="Google Shape;321;p10"/>
          <p:cNvSpPr txBox="1"/>
          <p:nvPr/>
        </p:nvSpPr>
        <p:spPr>
          <a:xfrm>
            <a:off x="626364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11 / 16</a:t>
            </a:r>
            <a:endParaRPr/>
          </a:p>
        </p:txBody>
      </p:sp>
      <p:sp>
        <p:nvSpPr>
          <p:cNvPr id="322" name="Google Shape;322;p10"/>
          <p:cNvSpPr txBox="1"/>
          <p:nvPr/>
        </p:nvSpPr>
        <p:spPr>
          <a:xfrm>
            <a:off x="699516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Newsletter Reach (Est.)</a:t>
            </a:r>
            <a:endParaRPr/>
          </a:p>
        </p:txBody>
      </p:sp>
      <p:sp>
        <p:nvSpPr>
          <p:cNvPr id="323" name="Google Shape;323;p10"/>
          <p:cNvSpPr/>
          <p:nvPr/>
        </p:nvSpPr>
        <p:spPr>
          <a:xfrm>
            <a:off x="905256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10"/>
          <p:cNvSpPr/>
          <p:nvPr/>
        </p:nvSpPr>
        <p:spPr>
          <a:xfrm>
            <a:off x="9052560" y="2697480"/>
            <a:ext cx="54864" cy="384048"/>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0"/>
          <p:cNvSpPr txBox="1"/>
          <p:nvPr/>
        </p:nvSpPr>
        <p:spPr>
          <a:xfrm>
            <a:off x="918972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8B5CF6"/>
                </a:solidFill>
                <a:latin typeface="Quattrocento Sans"/>
                <a:ea typeface="Quattrocento Sans"/>
                <a:cs typeface="Quattrocento Sans"/>
                <a:sym typeface="Quattrocento Sans"/>
              </a:rPr>
              <a:t>13 / 16</a:t>
            </a:r>
            <a:endParaRPr/>
          </a:p>
        </p:txBody>
      </p:sp>
      <p:sp>
        <p:nvSpPr>
          <p:cNvPr id="326" name="Google Shape;326;p10"/>
          <p:cNvSpPr txBox="1"/>
          <p:nvPr/>
        </p:nvSpPr>
        <p:spPr>
          <a:xfrm>
            <a:off x="992124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Currently Marketable</a:t>
            </a:r>
            <a:endParaRPr/>
          </a:p>
        </p:txBody>
      </p:sp>
      <p:graphicFrame>
        <p:nvGraphicFramePr>
          <p:cNvPr id="327" name="Google Shape;327;p10"/>
          <p:cNvGraphicFramePr/>
          <p:nvPr/>
        </p:nvGraphicFramePr>
        <p:xfrm>
          <a:off x="274320" y="3246120"/>
          <a:ext cx="3000000" cy="3000000"/>
        </p:xfrm>
        <a:graphic>
          <a:graphicData uri="http://schemas.openxmlformats.org/drawingml/2006/table">
            <a:tbl>
              <a:tblPr>
                <a:noFill/>
                <a:tableStyleId>{D82A8721-ECEF-4CED-8E2A-D61C263BF4EF}</a:tableStyleId>
              </a:tblPr>
              <a:tblGrid>
                <a:gridCol w="1645925"/>
                <a:gridCol w="1645925"/>
                <a:gridCol w="640075"/>
                <a:gridCol w="1005850"/>
                <a:gridCol w="1005850"/>
                <a:gridCol w="2743200"/>
              </a:tblGrid>
              <a:tr h="1920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DSG Infl.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Newsletter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DSG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Campaign Detail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julia@safeline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Venizelos Papadopoulos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Matt &amp; Amy Flowers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Opted out / not marketable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Combined Ins. &amp; Tax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Direct match in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Resolute Ins. Grp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Tyler Hussey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Unlikely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Colleague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Fernando direct (same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Hard bounce / not marketable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Rosa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Unlikely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Direct match in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328" name="Google Shape;328;p1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330" name="Google Shape;330;p1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334" name="Shape 334"/>
        <p:cNvGrpSpPr/>
        <p:nvPr/>
      </p:nvGrpSpPr>
      <p:grpSpPr>
        <a:xfrm>
          <a:off x="0" y="0"/>
          <a:ext cx="0" cy="0"/>
          <a:chOff x="0" y="0"/>
          <a:chExt cx="0" cy="0"/>
        </a:xfrm>
      </p:grpSpPr>
      <p:sp>
        <p:nvSpPr>
          <p:cNvPr id="335" name="Google Shape;335;p1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6" name="Google Shape;336;p1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1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1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1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BDA / BDM CALL ACTIVITY</a:t>
            </a:r>
            <a:endParaRPr/>
          </a:p>
        </p:txBody>
      </p:sp>
      <p:sp>
        <p:nvSpPr>
          <p:cNvPr id="340" name="Google Shape;340;p1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Pre-Bind vs Post-Bind Analysis  |  Feb 2026</a:t>
            </a:r>
            <a:endParaRPr/>
          </a:p>
        </p:txBody>
      </p:sp>
      <p:sp>
        <p:nvSpPr>
          <p:cNvPr id="341" name="Google Shape;341;p1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1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1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4" name="Google Shape;344;p11"/>
          <p:cNvSpPr txBox="1"/>
          <p:nvPr/>
        </p:nvSpPr>
        <p:spPr>
          <a:xfrm>
            <a:off x="457200" y="1371600"/>
            <a:ext cx="109728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6B5F83"/>
                </a:solidFill>
                <a:latin typeface="Quattrocento Sans"/>
                <a:ea typeface="Quattrocento Sans"/>
                <a:cs typeface="Quattrocento Sans"/>
                <a:sym typeface="Quattrocento Sans"/>
              </a:rPr>
              <a:t>HubSpot calls cross-referenced with Metabase bind dates to classify pre-bind outreach vs post-bind follow-up.</a:t>
            </a:r>
            <a:endParaRPr/>
          </a:p>
        </p:txBody>
      </p:sp>
      <p:sp>
        <p:nvSpPr>
          <p:cNvPr id="345" name="Google Shape;345;p11"/>
          <p:cNvSpPr/>
          <p:nvPr/>
        </p:nvSpPr>
        <p:spPr>
          <a:xfrm>
            <a:off x="27432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11"/>
          <p:cNvSpPr/>
          <p:nvPr/>
        </p:nvSpPr>
        <p:spPr>
          <a:xfrm>
            <a:off x="274320" y="1783080"/>
            <a:ext cx="54864" cy="5029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11"/>
          <p:cNvSpPr txBox="1"/>
          <p:nvPr/>
        </p:nvSpPr>
        <p:spPr>
          <a:xfrm>
            <a:off x="41148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0B981"/>
                </a:solidFill>
                <a:latin typeface="Quattrocento Sans"/>
                <a:ea typeface="Quattrocento Sans"/>
                <a:cs typeface="Quattrocento Sans"/>
                <a:sym typeface="Quattrocento Sans"/>
              </a:rPr>
              <a:t>8 / 16</a:t>
            </a:r>
            <a:endParaRPr/>
          </a:p>
        </p:txBody>
      </p:sp>
      <p:sp>
        <p:nvSpPr>
          <p:cNvPr id="348" name="Google Shape;348;p11"/>
          <p:cNvSpPr txBox="1"/>
          <p:nvPr/>
        </p:nvSpPr>
        <p:spPr>
          <a:xfrm>
            <a:off x="114300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Pre-Bind</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Outbound Call</a:t>
            </a:r>
            <a:endParaRPr/>
          </a:p>
        </p:txBody>
      </p:sp>
      <p:sp>
        <p:nvSpPr>
          <p:cNvPr id="349" name="Google Shape;349;p11"/>
          <p:cNvSpPr/>
          <p:nvPr/>
        </p:nvSpPr>
        <p:spPr>
          <a:xfrm>
            <a:off x="320040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11"/>
          <p:cNvSpPr/>
          <p:nvPr/>
        </p:nvSpPr>
        <p:spPr>
          <a:xfrm>
            <a:off x="3200400" y="1783080"/>
            <a:ext cx="54864" cy="5029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11"/>
          <p:cNvSpPr txBox="1"/>
          <p:nvPr/>
        </p:nvSpPr>
        <p:spPr>
          <a:xfrm>
            <a:off x="333756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7C3AED"/>
                </a:solidFill>
                <a:latin typeface="Quattrocento Sans"/>
                <a:ea typeface="Quattrocento Sans"/>
                <a:cs typeface="Quattrocento Sans"/>
                <a:sym typeface="Quattrocento Sans"/>
              </a:rPr>
              <a:t>5 / 16</a:t>
            </a:r>
            <a:endParaRPr/>
          </a:p>
        </p:txBody>
      </p:sp>
      <p:sp>
        <p:nvSpPr>
          <p:cNvPr id="352" name="Google Shape;352;p11"/>
          <p:cNvSpPr txBox="1"/>
          <p:nvPr/>
        </p:nvSpPr>
        <p:spPr>
          <a:xfrm>
            <a:off x="406908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Post-Bind</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Follow-Up Call</a:t>
            </a:r>
            <a:endParaRPr/>
          </a:p>
        </p:txBody>
      </p:sp>
      <p:sp>
        <p:nvSpPr>
          <p:cNvPr id="353" name="Google Shape;353;p11"/>
          <p:cNvSpPr/>
          <p:nvPr/>
        </p:nvSpPr>
        <p:spPr>
          <a:xfrm>
            <a:off x="612648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4" name="Google Shape;354;p11"/>
          <p:cNvSpPr/>
          <p:nvPr/>
        </p:nvSpPr>
        <p:spPr>
          <a:xfrm>
            <a:off x="6126480" y="1783080"/>
            <a:ext cx="54864" cy="5029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11"/>
          <p:cNvSpPr txBox="1"/>
          <p:nvPr/>
        </p:nvSpPr>
        <p:spPr>
          <a:xfrm>
            <a:off x="626364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0 / 16</a:t>
            </a:r>
            <a:endParaRPr/>
          </a:p>
        </p:txBody>
      </p:sp>
      <p:sp>
        <p:nvSpPr>
          <p:cNvPr id="356" name="Google Shape;356;p11"/>
          <p:cNvSpPr txBox="1"/>
          <p:nvPr/>
        </p:nvSpPr>
        <p:spPr>
          <a:xfrm>
            <a:off x="699516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Called by</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Assigned BDM</a:t>
            </a:r>
            <a:endParaRPr/>
          </a:p>
        </p:txBody>
      </p:sp>
      <p:sp>
        <p:nvSpPr>
          <p:cNvPr id="357" name="Google Shape;357;p11"/>
          <p:cNvSpPr/>
          <p:nvPr/>
        </p:nvSpPr>
        <p:spPr>
          <a:xfrm>
            <a:off x="905256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8" name="Google Shape;358;p11"/>
          <p:cNvSpPr/>
          <p:nvPr/>
        </p:nvSpPr>
        <p:spPr>
          <a:xfrm>
            <a:off x="9052560" y="1783080"/>
            <a:ext cx="54864" cy="5029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9" name="Google Shape;359;p11"/>
          <p:cNvSpPr txBox="1"/>
          <p:nvPr/>
        </p:nvSpPr>
        <p:spPr>
          <a:xfrm>
            <a:off x="918972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8B5CF6"/>
                </a:solidFill>
                <a:latin typeface="Quattrocento Sans"/>
                <a:ea typeface="Quattrocento Sans"/>
                <a:cs typeface="Quattrocento Sans"/>
                <a:sym typeface="Quattrocento Sans"/>
              </a:rPr>
              <a:t>10 / 16</a:t>
            </a:r>
            <a:endParaRPr/>
          </a:p>
        </p:txBody>
      </p:sp>
      <p:sp>
        <p:nvSpPr>
          <p:cNvPr id="360" name="Google Shape;360;p11"/>
          <p:cNvSpPr txBox="1"/>
          <p:nvPr/>
        </p:nvSpPr>
        <p:spPr>
          <a:xfrm>
            <a:off x="992124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Any Call</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Activity (Jan–Mar)</a:t>
            </a:r>
            <a:endParaRPr/>
          </a:p>
        </p:txBody>
      </p:sp>
      <p:graphicFrame>
        <p:nvGraphicFramePr>
          <p:cNvPr id="361" name="Google Shape;361;p11"/>
          <p:cNvGraphicFramePr/>
          <p:nvPr/>
        </p:nvGraphicFramePr>
        <p:xfrm>
          <a:off x="182880" y="2468880"/>
          <a:ext cx="3000000" cy="3000000"/>
        </p:xfrm>
        <a:graphic>
          <a:graphicData uri="http://schemas.openxmlformats.org/drawingml/2006/table">
            <a:tbl>
              <a:tblPr>
                <a:noFill/>
                <a:tableStyleId>{D82A8721-ECEF-4CED-8E2A-D61C263BF4EF}</a:tableStyleId>
              </a:tblPr>
              <a:tblGrid>
                <a:gridCol w="1645925"/>
                <a:gridCol w="1463050"/>
                <a:gridCol w="731525"/>
                <a:gridCol w="731525"/>
                <a:gridCol w="731525"/>
                <a:gridCol w="1645925"/>
                <a:gridCol w="2743200"/>
              </a:tblGrid>
              <a:tr h="21487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Post-Bind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Key 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Notable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 BDA + 1 BDM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Jan 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 (endorsement)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Venizelos Papadopoulos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Acct mgmt (old 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Combined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Pre-bind outreach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 calls same day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Resolute Ins. Grp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 persistent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Pre-bind nurturing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90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Rosa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53-min call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362" name="Google Shape;362;p11"/>
          <p:cNvSpPr/>
          <p:nvPr/>
        </p:nvSpPr>
        <p:spPr>
          <a:xfrm>
            <a:off x="274320" y="6126480"/>
            <a:ext cx="11430000" cy="347472"/>
          </a:xfrm>
          <a:prstGeom prst="roundRect">
            <a:avLst>
              <a:gd fmla="val 6000" name="adj"/>
            </a:avLst>
          </a:prstGeom>
          <a:solidFill>
            <a:srgbClr val="EDE9FE"/>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3" name="Google Shape;363;p11"/>
          <p:cNvSpPr txBox="1"/>
          <p:nvPr/>
        </p:nvSpPr>
        <p:spPr>
          <a:xfrm>
            <a:off x="457200" y="6144768"/>
            <a:ext cx="10972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Dominic Purkett: 4 agencies pre-bind  |  Derrick Leroy: 7 pre-bind calls (2 agencies)  |  Antonio Reyes: 4 pre-bind (2 agencies)  |  * = endorsement/renewal</a:t>
            </a:r>
            <a:endParaRPr/>
          </a:p>
        </p:txBody>
      </p:sp>
      <p:sp>
        <p:nvSpPr>
          <p:cNvPr id="364" name="Google Shape;364;p1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5" name="Google Shape;365;p1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366" name="Google Shape;366;p1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370" name="Shape 370"/>
        <p:cNvGrpSpPr/>
        <p:nvPr/>
      </p:nvGrpSpPr>
      <p:grpSpPr>
        <a:xfrm>
          <a:off x="0" y="0"/>
          <a:ext cx="0" cy="0"/>
          <a:chOff x="0" y="0"/>
          <a:chExt cx="0" cy="0"/>
        </a:xfrm>
      </p:grpSpPr>
      <p:sp>
        <p:nvSpPr>
          <p:cNvPr id="371" name="Google Shape;371;p1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2" name="Google Shape;372;p1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3" name="Google Shape;373;p1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1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5" name="Google Shape;375;p1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KEY INSIGHTS &amp; ANALYSIS</a:t>
            </a:r>
            <a:endParaRPr/>
          </a:p>
        </p:txBody>
      </p:sp>
      <p:sp>
        <p:nvSpPr>
          <p:cNvPr id="376" name="Google Shape;376;p12"/>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Data-Driven Findings from DSG Bound Business 2026</a:t>
            </a:r>
            <a:endParaRPr/>
          </a:p>
        </p:txBody>
      </p:sp>
      <p:sp>
        <p:nvSpPr>
          <p:cNvPr id="377" name="Google Shape;377;p1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p1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1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0" name="Google Shape;380;p12"/>
          <p:cNvSpPr txBox="1"/>
          <p:nvPr/>
        </p:nvSpPr>
        <p:spPr>
          <a:xfrm>
            <a:off x="457200" y="137160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5B21B6"/>
                </a:solidFill>
                <a:latin typeface="Quattrocento Sans"/>
                <a:ea typeface="Quattrocento Sans"/>
                <a:cs typeface="Quattrocento Sans"/>
                <a:sym typeface="Quattrocento Sans"/>
              </a:rPr>
              <a:t>PERFORMANCE</a:t>
            </a:r>
            <a:endParaRPr/>
          </a:p>
        </p:txBody>
      </p:sp>
      <p:sp>
        <p:nvSpPr>
          <p:cNvPr id="381" name="Google Shape;381;p12"/>
          <p:cNvSpPr/>
          <p:nvPr/>
        </p:nvSpPr>
        <p:spPr>
          <a:xfrm>
            <a:off x="457200" y="1691640"/>
            <a:ext cx="5303520" cy="2743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2" name="Google Shape;382;p12"/>
          <p:cNvSpPr/>
          <p:nvPr/>
        </p:nvSpPr>
        <p:spPr>
          <a:xfrm>
            <a:off x="548640" y="189280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12"/>
          <p:cNvSpPr txBox="1"/>
          <p:nvPr/>
        </p:nvSpPr>
        <p:spPr>
          <a:xfrm>
            <a:off x="777240" y="182880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February surge: 25 accounts ($1.1M) vs January 13 accounts ($500,726) - 211% MoM growth</a:t>
            </a:r>
            <a:endParaRPr/>
          </a:p>
        </p:txBody>
      </p:sp>
      <p:sp>
        <p:nvSpPr>
          <p:cNvPr id="384" name="Google Shape;384;p12"/>
          <p:cNvSpPr/>
          <p:nvPr/>
        </p:nvSpPr>
        <p:spPr>
          <a:xfrm>
            <a:off x="548640" y="230428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5" name="Google Shape;385;p12"/>
          <p:cNvSpPr txBox="1"/>
          <p:nvPr/>
        </p:nvSpPr>
        <p:spPr>
          <a:xfrm>
            <a:off x="777240" y="224028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Average bound premium of $28,284 per account across 184 total policies</a:t>
            </a:r>
            <a:endParaRPr/>
          </a:p>
        </p:txBody>
      </p:sp>
      <p:sp>
        <p:nvSpPr>
          <p:cNvPr id="386" name="Google Shape;386;p12"/>
          <p:cNvSpPr/>
          <p:nvPr/>
        </p:nvSpPr>
        <p:spPr>
          <a:xfrm>
            <a:off x="548640" y="271576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12"/>
          <p:cNvSpPr txBox="1"/>
          <p:nvPr/>
        </p:nvSpPr>
        <p:spPr>
          <a:xfrm>
            <a:off x="777240" y="265176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Top BDM: Unassigned driving $3.4M (65% of total) across 124 accounts</a:t>
            </a:r>
            <a:endParaRPr/>
          </a:p>
        </p:txBody>
      </p:sp>
      <p:sp>
        <p:nvSpPr>
          <p:cNvPr id="388" name="Google Shape;388;p12"/>
          <p:cNvSpPr/>
          <p:nvPr/>
        </p:nvSpPr>
        <p:spPr>
          <a:xfrm>
            <a:off x="548640" y="312724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9" name="Google Shape;389;p12"/>
          <p:cNvSpPr txBox="1"/>
          <p:nvPr/>
        </p:nvSpPr>
        <p:spPr>
          <a:xfrm>
            <a:off x="777240" y="306324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Top BDA: Unassigned supporting $4.7M (90% of total) across 166 accounts</a:t>
            </a:r>
            <a:endParaRPr/>
          </a:p>
        </p:txBody>
      </p:sp>
      <p:sp>
        <p:nvSpPr>
          <p:cNvPr id="390" name="Google Shape;390;p12"/>
          <p:cNvSpPr/>
          <p:nvPr/>
        </p:nvSpPr>
        <p:spPr>
          <a:xfrm>
            <a:off x="548640" y="353872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12"/>
          <p:cNvSpPr txBox="1"/>
          <p:nvPr/>
        </p:nvSpPr>
        <p:spPr>
          <a:xfrm>
            <a:off x="777240" y="347472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Total program GWP: $5.2M bound premium (New Business + Renewal only)</a:t>
            </a:r>
            <a:endParaRPr/>
          </a:p>
        </p:txBody>
      </p:sp>
      <p:sp>
        <p:nvSpPr>
          <p:cNvPr id="392" name="Google Shape;392;p12"/>
          <p:cNvSpPr txBox="1"/>
          <p:nvPr/>
        </p:nvSpPr>
        <p:spPr>
          <a:xfrm>
            <a:off x="6217920" y="137160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D946EF"/>
                </a:solidFill>
                <a:latin typeface="Quattrocento Sans"/>
                <a:ea typeface="Quattrocento Sans"/>
                <a:cs typeface="Quattrocento Sans"/>
                <a:sym typeface="Quattrocento Sans"/>
              </a:rPr>
              <a:t>MARKETING &amp; OUTREACH</a:t>
            </a:r>
            <a:endParaRPr/>
          </a:p>
        </p:txBody>
      </p:sp>
      <p:sp>
        <p:nvSpPr>
          <p:cNvPr id="393" name="Google Shape;393;p12"/>
          <p:cNvSpPr/>
          <p:nvPr/>
        </p:nvSpPr>
        <p:spPr>
          <a:xfrm>
            <a:off x="6217920" y="1691640"/>
            <a:ext cx="530352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4" name="Google Shape;394;p12"/>
          <p:cNvSpPr/>
          <p:nvPr/>
        </p:nvSpPr>
        <p:spPr>
          <a:xfrm>
            <a:off x="6309360" y="189280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12"/>
          <p:cNvSpPr txBox="1"/>
          <p:nvPr/>
        </p:nvSpPr>
        <p:spPr>
          <a:xfrm>
            <a:off x="6537960" y="182880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Growth DSG campaign reached 1,150 influenced contacts; 5 of 16 (31%) Feb bound agents were directly influenced</a:t>
            </a:r>
            <a:endParaRPr/>
          </a:p>
        </p:txBody>
      </p:sp>
      <p:sp>
        <p:nvSpPr>
          <p:cNvPr id="396" name="Google Shape;396;p12"/>
          <p:cNvSpPr/>
          <p:nvPr/>
        </p:nvSpPr>
        <p:spPr>
          <a:xfrm>
            <a:off x="6309360" y="230428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12"/>
          <p:cNvSpPr txBox="1"/>
          <p:nvPr/>
        </p:nvSpPr>
        <p:spPr>
          <a:xfrm>
            <a:off x="6537960" y="224028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BDA outreach confirmed: 3 bound agents received outbound calls from their assigned BDA before binding</a:t>
            </a:r>
            <a:endParaRPr/>
          </a:p>
        </p:txBody>
      </p:sp>
      <p:sp>
        <p:nvSpPr>
          <p:cNvPr id="398" name="Google Shape;398;p12"/>
          <p:cNvSpPr/>
          <p:nvPr/>
        </p:nvSpPr>
        <p:spPr>
          <a:xfrm>
            <a:off x="6309360" y="271576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9" name="Google Shape;399;p12"/>
          <p:cNvSpPr txBox="1"/>
          <p:nvPr/>
        </p:nvSpPr>
        <p:spPr>
          <a:xfrm>
            <a:off x="6537960" y="265176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Dominic Purkett (BDA) had direct outbound contact with Betty Reyes, Rosa Gomez; 53-min call with Rosa on Feb 6</a:t>
            </a:r>
            <a:endParaRPr/>
          </a:p>
        </p:txBody>
      </p:sp>
      <p:sp>
        <p:nvSpPr>
          <p:cNvPr id="400" name="Google Shape;400;p12"/>
          <p:cNvSpPr/>
          <p:nvPr/>
        </p:nvSpPr>
        <p:spPr>
          <a:xfrm>
            <a:off x="6309360" y="312724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1" name="Google Shape;401;p12"/>
          <p:cNvSpPr txBox="1"/>
          <p:nvPr/>
        </p:nvSpPr>
        <p:spPr>
          <a:xfrm>
            <a:off x="6537960" y="306324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Antonio Reyes (BDA) reached Jeff Ornelas (3 calls) and Lynda Inderjeet (1 call) before they bound</a:t>
            </a:r>
            <a:endParaRPr/>
          </a:p>
        </p:txBody>
      </p:sp>
      <p:sp>
        <p:nvSpPr>
          <p:cNvPr id="402" name="Google Shape;402;p12"/>
          <p:cNvSpPr/>
          <p:nvPr/>
        </p:nvSpPr>
        <p:spPr>
          <a:xfrm>
            <a:off x="6309360" y="353872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12"/>
          <p:cNvSpPr txBox="1"/>
          <p:nvPr/>
        </p:nvSpPr>
        <p:spPr>
          <a:xfrm>
            <a:off x="6537960" y="347472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Feb Newsletter estimated to reach ~69% of bound agents; combined with DSG campaign, 44% had agency-level DSG touch</a:t>
            </a:r>
            <a:endParaRPr/>
          </a:p>
        </p:txBody>
      </p:sp>
      <p:sp>
        <p:nvSpPr>
          <p:cNvPr id="404" name="Google Shape;404;p12"/>
          <p:cNvSpPr txBox="1"/>
          <p:nvPr/>
        </p:nvSpPr>
        <p:spPr>
          <a:xfrm>
            <a:off x="457200" y="4023360"/>
            <a:ext cx="109728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STRATEGIC TAKEAWAYS</a:t>
            </a:r>
            <a:endParaRPr/>
          </a:p>
        </p:txBody>
      </p:sp>
      <p:sp>
        <p:nvSpPr>
          <p:cNvPr id="405" name="Google Shape;405;p12"/>
          <p:cNvSpPr/>
          <p:nvPr/>
        </p:nvSpPr>
        <p:spPr>
          <a:xfrm>
            <a:off x="457200" y="4343400"/>
            <a:ext cx="11247120" cy="2743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6" name="Google Shape;406;p12"/>
          <p:cNvSpPr/>
          <p:nvPr/>
        </p:nvSpPr>
        <p:spPr>
          <a:xfrm>
            <a:off x="457200" y="448056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12"/>
          <p:cNvSpPr/>
          <p:nvPr/>
        </p:nvSpPr>
        <p:spPr>
          <a:xfrm>
            <a:off x="457200" y="448056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12"/>
          <p:cNvSpPr txBox="1"/>
          <p:nvPr/>
        </p:nvSpPr>
        <p:spPr>
          <a:xfrm>
            <a:off x="640080" y="449884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Multi-Touch Attribution</a:t>
            </a:r>
            <a:endParaRPr/>
          </a:p>
        </p:txBody>
      </p:sp>
      <p:sp>
        <p:nvSpPr>
          <p:cNvPr id="409" name="Google Shape;409;p12"/>
          <p:cNvSpPr txBox="1"/>
          <p:nvPr/>
        </p:nvSpPr>
        <p:spPr>
          <a:xfrm>
            <a:off x="640080" y="468172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Bound agents were reached through a combination of DSG campaign emails, BDA outbound calls, and newsletter outreach. No single channel drove binds alone - the multi-touch approach is working.</a:t>
            </a:r>
            <a:endParaRPr/>
          </a:p>
        </p:txBody>
      </p:sp>
      <p:sp>
        <p:nvSpPr>
          <p:cNvPr id="410" name="Google Shape;410;p12"/>
          <p:cNvSpPr/>
          <p:nvPr/>
        </p:nvSpPr>
        <p:spPr>
          <a:xfrm>
            <a:off x="457200" y="498348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12"/>
          <p:cNvSpPr/>
          <p:nvPr/>
        </p:nvSpPr>
        <p:spPr>
          <a:xfrm>
            <a:off x="457200" y="498348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12"/>
          <p:cNvSpPr txBox="1"/>
          <p:nvPr/>
        </p:nvSpPr>
        <p:spPr>
          <a:xfrm>
            <a:off x="640080" y="500176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BDA Outreach Drives Results</a:t>
            </a:r>
            <a:endParaRPr/>
          </a:p>
        </p:txBody>
      </p:sp>
      <p:sp>
        <p:nvSpPr>
          <p:cNvPr id="413" name="Google Shape;413;p12"/>
          <p:cNvSpPr txBox="1"/>
          <p:nvPr/>
        </p:nvSpPr>
        <p:spPr>
          <a:xfrm>
            <a:off x="640080" y="518464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3 of 5 DSG-influenced agents also received outbound BDA calls. The combination of email + personal outreach appears to be the strongest conversion driver.</a:t>
            </a:r>
            <a:endParaRPr/>
          </a:p>
        </p:txBody>
      </p:sp>
      <p:sp>
        <p:nvSpPr>
          <p:cNvPr id="414" name="Google Shape;414;p12"/>
          <p:cNvSpPr/>
          <p:nvPr/>
        </p:nvSpPr>
        <p:spPr>
          <a:xfrm>
            <a:off x="457200" y="548640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12"/>
          <p:cNvSpPr/>
          <p:nvPr/>
        </p:nvSpPr>
        <p:spPr>
          <a:xfrm>
            <a:off x="457200" y="548640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6" name="Google Shape;416;p12"/>
          <p:cNvSpPr txBox="1"/>
          <p:nvPr/>
        </p:nvSpPr>
        <p:spPr>
          <a:xfrm>
            <a:off x="640080" y="550468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February Momentum</a:t>
            </a:r>
            <a:endParaRPr/>
          </a:p>
        </p:txBody>
      </p:sp>
      <p:sp>
        <p:nvSpPr>
          <p:cNvPr id="417" name="Google Shape;417;p12"/>
          <p:cNvSpPr txBox="1"/>
          <p:nvPr/>
        </p:nvSpPr>
        <p:spPr>
          <a:xfrm>
            <a:off x="640080" y="568756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Feb bound premium ($1.1M) significantly exceeded January ($500,726), suggesting the DSG program is gaining traction. The pipeline should continue to strengthen with sustained marketing and BDA engagement.</a:t>
            </a:r>
            <a:endParaRPr/>
          </a:p>
        </p:txBody>
      </p:sp>
      <p:sp>
        <p:nvSpPr>
          <p:cNvPr id="418" name="Google Shape;418;p12"/>
          <p:cNvSpPr/>
          <p:nvPr/>
        </p:nvSpPr>
        <p:spPr>
          <a:xfrm>
            <a:off x="457200" y="598932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9" name="Google Shape;419;p12"/>
          <p:cNvSpPr/>
          <p:nvPr/>
        </p:nvSpPr>
        <p:spPr>
          <a:xfrm>
            <a:off x="457200" y="598932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0" name="Google Shape;420;p12"/>
          <p:cNvSpPr txBox="1"/>
          <p:nvPr/>
        </p:nvSpPr>
        <p:spPr>
          <a:xfrm>
            <a:off x="640080" y="600760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Unassigned Agencies</a:t>
            </a:r>
            <a:endParaRPr/>
          </a:p>
        </p:txBody>
      </p:sp>
      <p:sp>
        <p:nvSpPr>
          <p:cNvPr id="421" name="Google Shape;421;p12"/>
          <p:cNvSpPr txBox="1"/>
          <p:nvPr/>
        </p:nvSpPr>
        <p:spPr>
          <a:xfrm>
            <a:off x="640080" y="619048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Several high-performing agencies lack BDM/BDA assignments. Assigning relationship managers could unlock additional growth from these already-producing agencies.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425" name="Shape 425"/>
        <p:cNvGrpSpPr/>
        <p:nvPr/>
      </p:nvGrpSpPr>
      <p:grpSpPr>
        <a:xfrm>
          <a:off x="0" y="0"/>
          <a:ext cx="0" cy="0"/>
          <a:chOff x="0" y="0"/>
          <a:chExt cx="0" cy="0"/>
        </a:xfrm>
      </p:grpSpPr>
      <p:sp>
        <p:nvSpPr>
          <p:cNvPr id="426" name="Google Shape;426;p13"/>
          <p:cNvSpPr/>
          <p:nvPr/>
        </p:nvSpPr>
        <p:spPr>
          <a:xfrm>
            <a:off x="8229600" y="-914400"/>
            <a:ext cx="5486400" cy="54864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13"/>
          <p:cNvSpPr/>
          <p:nvPr/>
        </p:nvSpPr>
        <p:spPr>
          <a:xfrm>
            <a:off x="10058400" y="914400"/>
            <a:ext cx="3200400" cy="3200400"/>
          </a:xfrm>
          <a:prstGeom prst="ellipse">
            <a:avLst/>
          </a:prstGeom>
          <a:solidFill>
            <a:srgbClr val="7C3AED">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8" name="Google Shape;428;p13"/>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9" name="Google Shape;429;p13"/>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0" name="Google Shape;430;p13"/>
          <p:cNvSpPr txBox="1"/>
          <p:nvPr/>
        </p:nvSpPr>
        <p:spPr>
          <a:xfrm>
            <a:off x="457200" y="228600"/>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DSG BOUND BUSINESS  |  EXECUTIVE BATTLECARD</a:t>
            </a:r>
            <a:endParaRPr/>
          </a:p>
        </p:txBody>
      </p:sp>
      <p:sp>
        <p:nvSpPr>
          <p:cNvPr id="431" name="Google Shape;431;p13"/>
          <p:cNvSpPr txBox="1"/>
          <p:nvPr/>
        </p:nvSpPr>
        <p:spPr>
          <a:xfrm>
            <a:off x="457200" y="640080"/>
            <a:ext cx="7315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A78BFA"/>
                </a:solidFill>
                <a:latin typeface="Quattrocento Sans"/>
                <a:ea typeface="Quattrocento Sans"/>
                <a:cs typeface="Quattrocento Sans"/>
                <a:sym typeface="Quattrocento Sans"/>
              </a:rPr>
              <a:t>2026 Year-to-Date  |  184 Policies  |  $5.2M GWP</a:t>
            </a:r>
            <a:endParaRPr/>
          </a:p>
        </p:txBody>
      </p:sp>
      <p:sp>
        <p:nvSpPr>
          <p:cNvPr id="432" name="Google Shape;432;p13"/>
          <p:cNvSpPr/>
          <p:nvPr/>
        </p:nvSpPr>
        <p:spPr>
          <a:xfrm>
            <a:off x="457200" y="960120"/>
            <a:ext cx="22860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3" name="Google Shape;433;p13"/>
          <p:cNvSpPr/>
          <p:nvPr/>
        </p:nvSpPr>
        <p:spPr>
          <a:xfrm>
            <a:off x="36576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4" name="Google Shape;434;p13"/>
          <p:cNvSpPr/>
          <p:nvPr/>
        </p:nvSpPr>
        <p:spPr>
          <a:xfrm>
            <a:off x="365760" y="1143000"/>
            <a:ext cx="269748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13"/>
          <p:cNvSpPr txBox="1"/>
          <p:nvPr/>
        </p:nvSpPr>
        <p:spPr>
          <a:xfrm>
            <a:off x="50292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ACCOUNTS</a:t>
            </a:r>
            <a:endParaRPr/>
          </a:p>
        </p:txBody>
      </p:sp>
      <p:sp>
        <p:nvSpPr>
          <p:cNvPr id="436" name="Google Shape;436;p13"/>
          <p:cNvSpPr txBox="1"/>
          <p:nvPr/>
        </p:nvSpPr>
        <p:spPr>
          <a:xfrm>
            <a:off x="50292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184</a:t>
            </a:r>
            <a:endParaRPr/>
          </a:p>
        </p:txBody>
      </p:sp>
      <p:sp>
        <p:nvSpPr>
          <p:cNvPr id="437" name="Google Shape;437;p13"/>
          <p:cNvSpPr txBox="1"/>
          <p:nvPr/>
        </p:nvSpPr>
        <p:spPr>
          <a:xfrm>
            <a:off x="50292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2026 YTD</a:t>
            </a:r>
            <a:endParaRPr/>
          </a:p>
        </p:txBody>
      </p:sp>
      <p:sp>
        <p:nvSpPr>
          <p:cNvPr id="438" name="Google Shape;438;p13"/>
          <p:cNvSpPr/>
          <p:nvPr/>
        </p:nvSpPr>
        <p:spPr>
          <a:xfrm>
            <a:off x="329184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13"/>
          <p:cNvSpPr/>
          <p:nvPr/>
        </p:nvSpPr>
        <p:spPr>
          <a:xfrm>
            <a:off x="3291840" y="1143000"/>
            <a:ext cx="269748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0" name="Google Shape;440;p13"/>
          <p:cNvSpPr txBox="1"/>
          <p:nvPr/>
        </p:nvSpPr>
        <p:spPr>
          <a:xfrm>
            <a:off x="342900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GROSS WRITTEN PREMIUM</a:t>
            </a:r>
            <a:endParaRPr/>
          </a:p>
        </p:txBody>
      </p:sp>
      <p:sp>
        <p:nvSpPr>
          <p:cNvPr id="441" name="Google Shape;441;p13"/>
          <p:cNvSpPr txBox="1"/>
          <p:nvPr/>
        </p:nvSpPr>
        <p:spPr>
          <a:xfrm>
            <a:off x="342900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$5.2M</a:t>
            </a:r>
            <a:endParaRPr/>
          </a:p>
        </p:txBody>
      </p:sp>
      <p:sp>
        <p:nvSpPr>
          <p:cNvPr id="442" name="Google Shape;442;p13"/>
          <p:cNvSpPr txBox="1"/>
          <p:nvPr/>
        </p:nvSpPr>
        <p:spPr>
          <a:xfrm>
            <a:off x="342900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Year-to-Date</a:t>
            </a:r>
            <a:endParaRPr/>
          </a:p>
        </p:txBody>
      </p:sp>
      <p:sp>
        <p:nvSpPr>
          <p:cNvPr id="443" name="Google Shape;443;p13"/>
          <p:cNvSpPr/>
          <p:nvPr/>
        </p:nvSpPr>
        <p:spPr>
          <a:xfrm>
            <a:off x="621792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13"/>
          <p:cNvSpPr/>
          <p:nvPr/>
        </p:nvSpPr>
        <p:spPr>
          <a:xfrm>
            <a:off x="6217920" y="1143000"/>
            <a:ext cx="2697480" cy="54864"/>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5" name="Google Shape;445;p13"/>
          <p:cNvSpPr txBox="1"/>
          <p:nvPr/>
        </p:nvSpPr>
        <p:spPr>
          <a:xfrm>
            <a:off x="635508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NET WRITTEN PREMIUM</a:t>
            </a:r>
            <a:endParaRPr/>
          </a:p>
        </p:txBody>
      </p:sp>
      <p:sp>
        <p:nvSpPr>
          <p:cNvPr id="446" name="Google Shape;446;p13"/>
          <p:cNvSpPr txBox="1"/>
          <p:nvPr/>
        </p:nvSpPr>
        <p:spPr>
          <a:xfrm>
            <a:off x="635508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5B21B6"/>
                </a:solidFill>
                <a:latin typeface="Quattrocento Sans"/>
                <a:ea typeface="Quattrocento Sans"/>
                <a:cs typeface="Quattrocento Sans"/>
                <a:sym typeface="Quattrocento Sans"/>
              </a:rPr>
              <a:t>$4.6M</a:t>
            </a:r>
            <a:endParaRPr/>
          </a:p>
        </p:txBody>
      </p:sp>
      <p:sp>
        <p:nvSpPr>
          <p:cNvPr id="447" name="Google Shape;447;p13"/>
          <p:cNvSpPr txBox="1"/>
          <p:nvPr/>
        </p:nvSpPr>
        <p:spPr>
          <a:xfrm>
            <a:off x="635508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After Ceding</a:t>
            </a:r>
            <a:endParaRPr/>
          </a:p>
        </p:txBody>
      </p:sp>
      <p:sp>
        <p:nvSpPr>
          <p:cNvPr id="448" name="Google Shape;448;p13"/>
          <p:cNvSpPr/>
          <p:nvPr/>
        </p:nvSpPr>
        <p:spPr>
          <a:xfrm>
            <a:off x="914400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9" name="Google Shape;449;p13"/>
          <p:cNvSpPr/>
          <p:nvPr/>
        </p:nvSpPr>
        <p:spPr>
          <a:xfrm>
            <a:off x="9144000" y="1143000"/>
            <a:ext cx="269748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13"/>
          <p:cNvSpPr txBox="1"/>
          <p:nvPr/>
        </p:nvSpPr>
        <p:spPr>
          <a:xfrm>
            <a:off x="928116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AVG PREMIUM / ACCT</a:t>
            </a:r>
            <a:endParaRPr/>
          </a:p>
        </p:txBody>
      </p:sp>
      <p:sp>
        <p:nvSpPr>
          <p:cNvPr id="451" name="Google Shape;451;p13"/>
          <p:cNvSpPr txBox="1"/>
          <p:nvPr/>
        </p:nvSpPr>
        <p:spPr>
          <a:xfrm>
            <a:off x="928116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$28,284</a:t>
            </a:r>
            <a:endParaRPr/>
          </a:p>
        </p:txBody>
      </p:sp>
      <p:sp>
        <p:nvSpPr>
          <p:cNvPr id="452" name="Google Shape;452;p13"/>
          <p:cNvSpPr txBox="1"/>
          <p:nvPr/>
        </p:nvSpPr>
        <p:spPr>
          <a:xfrm>
            <a:off x="928116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Per Policy</a:t>
            </a:r>
            <a:endParaRPr/>
          </a:p>
        </p:txBody>
      </p:sp>
      <p:sp>
        <p:nvSpPr>
          <p:cNvPr id="453" name="Google Shape;453;p13"/>
          <p:cNvSpPr/>
          <p:nvPr/>
        </p:nvSpPr>
        <p:spPr>
          <a:xfrm>
            <a:off x="365760" y="2331720"/>
            <a:ext cx="5577840" cy="19659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4" name="Google Shape;454;p13"/>
          <p:cNvSpPr txBox="1"/>
          <p:nvPr/>
        </p:nvSpPr>
        <p:spPr>
          <a:xfrm>
            <a:off x="548640" y="2395728"/>
            <a:ext cx="36576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BREAKDOWN</a:t>
            </a:r>
            <a:endParaRPr/>
          </a:p>
        </p:txBody>
      </p:sp>
      <p:sp>
        <p:nvSpPr>
          <p:cNvPr id="455" name="Google Shape;455;p13"/>
          <p:cNvSpPr/>
          <p:nvPr/>
        </p:nvSpPr>
        <p:spPr>
          <a:xfrm>
            <a:off x="548640" y="2670048"/>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13"/>
          <p:cNvSpPr txBox="1"/>
          <p:nvPr/>
        </p:nvSpPr>
        <p:spPr>
          <a:xfrm>
            <a:off x="640080" y="2788920"/>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JAN</a:t>
            </a:r>
            <a:endParaRPr/>
          </a:p>
        </p:txBody>
      </p:sp>
      <p:sp>
        <p:nvSpPr>
          <p:cNvPr id="457" name="Google Shape;457;p13"/>
          <p:cNvSpPr/>
          <p:nvPr/>
        </p:nvSpPr>
        <p:spPr>
          <a:xfrm>
            <a:off x="1188720" y="2816352"/>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8" name="Google Shape;458;p13"/>
          <p:cNvSpPr/>
          <p:nvPr/>
        </p:nvSpPr>
        <p:spPr>
          <a:xfrm>
            <a:off x="1188720" y="2816352"/>
            <a:ext cx="1481853" cy="201168"/>
          </a:xfrm>
          <a:prstGeom prst="roundRect">
            <a:avLst>
              <a:gd fmla="val 5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13"/>
          <p:cNvSpPr txBox="1"/>
          <p:nvPr/>
        </p:nvSpPr>
        <p:spPr>
          <a:xfrm>
            <a:off x="1280160" y="278892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$500,726</a:t>
            </a:r>
            <a:endParaRPr/>
          </a:p>
        </p:txBody>
      </p:sp>
      <p:sp>
        <p:nvSpPr>
          <p:cNvPr id="460" name="Google Shape;460;p13"/>
          <p:cNvSpPr txBox="1"/>
          <p:nvPr/>
        </p:nvSpPr>
        <p:spPr>
          <a:xfrm>
            <a:off x="3200400" y="278892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13 accounts</a:t>
            </a:r>
            <a:endParaRPr/>
          </a:p>
        </p:txBody>
      </p:sp>
      <p:sp>
        <p:nvSpPr>
          <p:cNvPr id="461" name="Google Shape;461;p13"/>
          <p:cNvSpPr txBox="1"/>
          <p:nvPr/>
        </p:nvSpPr>
        <p:spPr>
          <a:xfrm>
            <a:off x="640080" y="3154679"/>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FEB</a:t>
            </a:r>
            <a:endParaRPr/>
          </a:p>
        </p:txBody>
      </p:sp>
      <p:sp>
        <p:nvSpPr>
          <p:cNvPr id="462" name="Google Shape;462;p13"/>
          <p:cNvSpPr/>
          <p:nvPr/>
        </p:nvSpPr>
        <p:spPr>
          <a:xfrm>
            <a:off x="1188720" y="3182111"/>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13"/>
          <p:cNvSpPr/>
          <p:nvPr/>
        </p:nvSpPr>
        <p:spPr>
          <a:xfrm>
            <a:off x="1188720" y="3182111"/>
            <a:ext cx="3133069" cy="201168"/>
          </a:xfrm>
          <a:prstGeom prst="roundRect">
            <a:avLst>
              <a:gd fmla="val 5000" name="adj"/>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4" name="Google Shape;464;p13"/>
          <p:cNvSpPr txBox="1"/>
          <p:nvPr/>
        </p:nvSpPr>
        <p:spPr>
          <a:xfrm>
            <a:off x="1280160" y="315467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$1.1M</a:t>
            </a:r>
            <a:endParaRPr/>
          </a:p>
        </p:txBody>
      </p:sp>
      <p:sp>
        <p:nvSpPr>
          <p:cNvPr id="465" name="Google Shape;465;p13"/>
          <p:cNvSpPr txBox="1"/>
          <p:nvPr/>
        </p:nvSpPr>
        <p:spPr>
          <a:xfrm>
            <a:off x="3200400" y="315467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25 accounts</a:t>
            </a:r>
            <a:endParaRPr/>
          </a:p>
        </p:txBody>
      </p:sp>
      <p:sp>
        <p:nvSpPr>
          <p:cNvPr id="466" name="Google Shape;466;p13"/>
          <p:cNvSpPr txBox="1"/>
          <p:nvPr/>
        </p:nvSpPr>
        <p:spPr>
          <a:xfrm>
            <a:off x="640080" y="3520439"/>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MAR</a:t>
            </a:r>
            <a:endParaRPr/>
          </a:p>
        </p:txBody>
      </p:sp>
      <p:sp>
        <p:nvSpPr>
          <p:cNvPr id="467" name="Google Shape;467;p13"/>
          <p:cNvSpPr/>
          <p:nvPr/>
        </p:nvSpPr>
        <p:spPr>
          <a:xfrm>
            <a:off x="1188720" y="3547871"/>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8" name="Google Shape;468;p13"/>
          <p:cNvSpPr/>
          <p:nvPr/>
        </p:nvSpPr>
        <p:spPr>
          <a:xfrm>
            <a:off x="1188720" y="3547871"/>
            <a:ext cx="3464373" cy="201168"/>
          </a:xfrm>
          <a:prstGeom prst="roundRect">
            <a:avLst>
              <a:gd fmla="val 5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13"/>
          <p:cNvSpPr txBox="1"/>
          <p:nvPr/>
        </p:nvSpPr>
        <p:spPr>
          <a:xfrm>
            <a:off x="1280160" y="352043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$1.2M</a:t>
            </a:r>
            <a:endParaRPr/>
          </a:p>
        </p:txBody>
      </p:sp>
      <p:sp>
        <p:nvSpPr>
          <p:cNvPr id="470" name="Google Shape;470;p13"/>
          <p:cNvSpPr txBox="1"/>
          <p:nvPr/>
        </p:nvSpPr>
        <p:spPr>
          <a:xfrm>
            <a:off x="3200400" y="352043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51 accounts</a:t>
            </a:r>
            <a:endParaRPr/>
          </a:p>
        </p:txBody>
      </p:sp>
      <p:sp>
        <p:nvSpPr>
          <p:cNvPr id="471" name="Google Shape;471;p13"/>
          <p:cNvSpPr txBox="1"/>
          <p:nvPr/>
        </p:nvSpPr>
        <p:spPr>
          <a:xfrm>
            <a:off x="640080" y="3886200"/>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APR</a:t>
            </a:r>
            <a:endParaRPr/>
          </a:p>
        </p:txBody>
      </p:sp>
      <p:sp>
        <p:nvSpPr>
          <p:cNvPr id="472" name="Google Shape;472;p13"/>
          <p:cNvSpPr/>
          <p:nvPr/>
        </p:nvSpPr>
        <p:spPr>
          <a:xfrm>
            <a:off x="1188720" y="3913632"/>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13"/>
          <p:cNvSpPr/>
          <p:nvPr/>
        </p:nvSpPr>
        <p:spPr>
          <a:xfrm>
            <a:off x="1188720" y="3913632"/>
            <a:ext cx="3207786" cy="201168"/>
          </a:xfrm>
          <a:prstGeom prst="roundRect">
            <a:avLst>
              <a:gd fmla="val 5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4" name="Google Shape;474;p13"/>
          <p:cNvSpPr txBox="1"/>
          <p:nvPr/>
        </p:nvSpPr>
        <p:spPr>
          <a:xfrm>
            <a:off x="1280160" y="388620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$1.1M</a:t>
            </a:r>
            <a:endParaRPr/>
          </a:p>
        </p:txBody>
      </p:sp>
      <p:sp>
        <p:nvSpPr>
          <p:cNvPr id="475" name="Google Shape;475;p13"/>
          <p:cNvSpPr txBox="1"/>
          <p:nvPr/>
        </p:nvSpPr>
        <p:spPr>
          <a:xfrm>
            <a:off x="3200400" y="388620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47 accounts</a:t>
            </a:r>
            <a:endParaRPr/>
          </a:p>
        </p:txBody>
      </p:sp>
      <p:sp>
        <p:nvSpPr>
          <p:cNvPr id="476" name="Google Shape;476;p13"/>
          <p:cNvSpPr/>
          <p:nvPr/>
        </p:nvSpPr>
        <p:spPr>
          <a:xfrm>
            <a:off x="640080" y="4343400"/>
            <a:ext cx="2286000" cy="27432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7" name="Google Shape;477;p13"/>
          <p:cNvSpPr txBox="1"/>
          <p:nvPr/>
        </p:nvSpPr>
        <p:spPr>
          <a:xfrm>
            <a:off x="640080" y="4325112"/>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+111% MoM Growth  |  Feb vs Jan</a:t>
            </a:r>
            <a:endParaRPr/>
          </a:p>
        </p:txBody>
      </p:sp>
      <p:sp>
        <p:nvSpPr>
          <p:cNvPr id="478" name="Google Shape;478;p13"/>
          <p:cNvSpPr/>
          <p:nvPr/>
        </p:nvSpPr>
        <p:spPr>
          <a:xfrm>
            <a:off x="6126480" y="2331720"/>
            <a:ext cx="5669280" cy="19659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13"/>
          <p:cNvSpPr txBox="1"/>
          <p:nvPr/>
        </p:nvSpPr>
        <p:spPr>
          <a:xfrm>
            <a:off x="6309360" y="2395728"/>
            <a:ext cx="36576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PERFORMERS</a:t>
            </a:r>
            <a:endParaRPr/>
          </a:p>
        </p:txBody>
      </p:sp>
      <p:sp>
        <p:nvSpPr>
          <p:cNvPr id="480" name="Google Shape;480;p13"/>
          <p:cNvSpPr/>
          <p:nvPr/>
        </p:nvSpPr>
        <p:spPr>
          <a:xfrm>
            <a:off x="6309360" y="2670048"/>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1" name="Google Shape;481;p13"/>
          <p:cNvSpPr txBox="1"/>
          <p:nvPr/>
        </p:nvSpPr>
        <p:spPr>
          <a:xfrm>
            <a:off x="6309360" y="2761488"/>
            <a:ext cx="13716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BDM</a:t>
            </a:r>
            <a:endParaRPr/>
          </a:p>
        </p:txBody>
      </p:sp>
      <p:sp>
        <p:nvSpPr>
          <p:cNvPr id="482" name="Google Shape;482;p13"/>
          <p:cNvSpPr txBox="1"/>
          <p:nvPr/>
        </p:nvSpPr>
        <p:spPr>
          <a:xfrm>
            <a:off x="6309360" y="2944368"/>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Derek Janssen</a:t>
            </a:r>
            <a:endParaRPr/>
          </a:p>
        </p:txBody>
      </p:sp>
      <p:sp>
        <p:nvSpPr>
          <p:cNvPr id="483" name="Google Shape;483;p13"/>
          <p:cNvSpPr txBox="1"/>
          <p:nvPr/>
        </p:nvSpPr>
        <p:spPr>
          <a:xfrm>
            <a:off x="8595360" y="2944368"/>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$549,225</a:t>
            </a:r>
            <a:endParaRPr/>
          </a:p>
        </p:txBody>
      </p:sp>
      <p:sp>
        <p:nvSpPr>
          <p:cNvPr id="484" name="Google Shape;484;p13"/>
          <p:cNvSpPr txBox="1"/>
          <p:nvPr/>
        </p:nvSpPr>
        <p:spPr>
          <a:xfrm>
            <a:off x="9875520" y="2944368"/>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44%</a:t>
            </a:r>
            <a:endParaRPr/>
          </a:p>
        </p:txBody>
      </p:sp>
      <p:sp>
        <p:nvSpPr>
          <p:cNvPr id="485" name="Google Shape;485;p13"/>
          <p:cNvSpPr txBox="1"/>
          <p:nvPr/>
        </p:nvSpPr>
        <p:spPr>
          <a:xfrm>
            <a:off x="6309360" y="3182112"/>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Unassigned</a:t>
            </a:r>
            <a:endParaRPr/>
          </a:p>
        </p:txBody>
      </p:sp>
      <p:sp>
        <p:nvSpPr>
          <p:cNvPr id="486" name="Google Shape;486;p13"/>
          <p:cNvSpPr txBox="1"/>
          <p:nvPr/>
        </p:nvSpPr>
        <p:spPr>
          <a:xfrm>
            <a:off x="8595360" y="3182112"/>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A09CB0"/>
                </a:solidFill>
                <a:latin typeface="Quattrocento Sans"/>
                <a:ea typeface="Quattrocento Sans"/>
                <a:cs typeface="Quattrocento Sans"/>
                <a:sym typeface="Quattrocento Sans"/>
              </a:rPr>
              <a:t>$328,837</a:t>
            </a:r>
            <a:endParaRPr/>
          </a:p>
        </p:txBody>
      </p:sp>
      <p:sp>
        <p:nvSpPr>
          <p:cNvPr id="487" name="Google Shape;487;p13"/>
          <p:cNvSpPr txBox="1"/>
          <p:nvPr/>
        </p:nvSpPr>
        <p:spPr>
          <a:xfrm>
            <a:off x="9875520" y="3182112"/>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26%</a:t>
            </a:r>
            <a:endParaRPr/>
          </a:p>
        </p:txBody>
      </p:sp>
      <p:sp>
        <p:nvSpPr>
          <p:cNvPr id="488" name="Google Shape;488;p13"/>
          <p:cNvSpPr txBox="1"/>
          <p:nvPr/>
        </p:nvSpPr>
        <p:spPr>
          <a:xfrm>
            <a:off x="6309360" y="3419856"/>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James Reid</a:t>
            </a:r>
            <a:endParaRPr/>
          </a:p>
        </p:txBody>
      </p:sp>
      <p:sp>
        <p:nvSpPr>
          <p:cNvPr id="489" name="Google Shape;489;p13"/>
          <p:cNvSpPr txBox="1"/>
          <p:nvPr/>
        </p:nvSpPr>
        <p:spPr>
          <a:xfrm>
            <a:off x="8595360" y="3419856"/>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8B5CF6"/>
                </a:solidFill>
                <a:latin typeface="Quattrocento Sans"/>
                <a:ea typeface="Quattrocento Sans"/>
                <a:cs typeface="Quattrocento Sans"/>
                <a:sym typeface="Quattrocento Sans"/>
              </a:rPr>
              <a:t>$199,319</a:t>
            </a:r>
            <a:endParaRPr/>
          </a:p>
        </p:txBody>
      </p:sp>
      <p:sp>
        <p:nvSpPr>
          <p:cNvPr id="490" name="Google Shape;490;p13"/>
          <p:cNvSpPr txBox="1"/>
          <p:nvPr/>
        </p:nvSpPr>
        <p:spPr>
          <a:xfrm>
            <a:off x="9875520" y="3419856"/>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16%</a:t>
            </a:r>
            <a:endParaRPr/>
          </a:p>
        </p:txBody>
      </p:sp>
      <p:sp>
        <p:nvSpPr>
          <p:cNvPr id="491" name="Google Shape;491;p13"/>
          <p:cNvSpPr txBox="1"/>
          <p:nvPr/>
        </p:nvSpPr>
        <p:spPr>
          <a:xfrm>
            <a:off x="6309360" y="3675887"/>
            <a:ext cx="13716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BDA</a:t>
            </a:r>
            <a:endParaRPr/>
          </a:p>
        </p:txBody>
      </p:sp>
      <p:sp>
        <p:nvSpPr>
          <p:cNvPr id="492" name="Google Shape;492;p13"/>
          <p:cNvSpPr txBox="1"/>
          <p:nvPr/>
        </p:nvSpPr>
        <p:spPr>
          <a:xfrm>
            <a:off x="6309360" y="3858768"/>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Dominic Purkett</a:t>
            </a:r>
            <a:endParaRPr/>
          </a:p>
        </p:txBody>
      </p:sp>
      <p:sp>
        <p:nvSpPr>
          <p:cNvPr id="493" name="Google Shape;493;p13"/>
          <p:cNvSpPr txBox="1"/>
          <p:nvPr/>
        </p:nvSpPr>
        <p:spPr>
          <a:xfrm>
            <a:off x="8595360" y="3858768"/>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$625,793</a:t>
            </a:r>
            <a:endParaRPr/>
          </a:p>
        </p:txBody>
      </p:sp>
      <p:sp>
        <p:nvSpPr>
          <p:cNvPr id="494" name="Google Shape;494;p13"/>
          <p:cNvSpPr txBox="1"/>
          <p:nvPr/>
        </p:nvSpPr>
        <p:spPr>
          <a:xfrm>
            <a:off x="9875520" y="3858768"/>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50%</a:t>
            </a:r>
            <a:endParaRPr/>
          </a:p>
        </p:txBody>
      </p:sp>
      <p:sp>
        <p:nvSpPr>
          <p:cNvPr id="495" name="Google Shape;495;p13"/>
          <p:cNvSpPr txBox="1"/>
          <p:nvPr/>
        </p:nvSpPr>
        <p:spPr>
          <a:xfrm>
            <a:off x="6309360" y="4096511"/>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Unassigned</a:t>
            </a:r>
            <a:endParaRPr/>
          </a:p>
        </p:txBody>
      </p:sp>
      <p:sp>
        <p:nvSpPr>
          <p:cNvPr id="496" name="Google Shape;496;p13"/>
          <p:cNvSpPr txBox="1"/>
          <p:nvPr/>
        </p:nvSpPr>
        <p:spPr>
          <a:xfrm>
            <a:off x="8595360" y="4096511"/>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A09CB0"/>
                </a:solidFill>
                <a:latin typeface="Quattrocento Sans"/>
                <a:ea typeface="Quattrocento Sans"/>
                <a:cs typeface="Quattrocento Sans"/>
                <a:sym typeface="Quattrocento Sans"/>
              </a:rPr>
              <a:t>$327,482</a:t>
            </a:r>
            <a:endParaRPr/>
          </a:p>
        </p:txBody>
      </p:sp>
      <p:sp>
        <p:nvSpPr>
          <p:cNvPr id="497" name="Google Shape;497;p13"/>
          <p:cNvSpPr txBox="1"/>
          <p:nvPr/>
        </p:nvSpPr>
        <p:spPr>
          <a:xfrm>
            <a:off x="9875520" y="4096511"/>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26%</a:t>
            </a:r>
            <a:endParaRPr/>
          </a:p>
        </p:txBody>
      </p:sp>
      <p:sp>
        <p:nvSpPr>
          <p:cNvPr id="498" name="Google Shape;498;p13"/>
          <p:cNvSpPr/>
          <p:nvPr/>
        </p:nvSpPr>
        <p:spPr>
          <a:xfrm>
            <a:off x="365760" y="4526280"/>
            <a:ext cx="11430000" cy="16916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13"/>
          <p:cNvSpPr txBox="1"/>
          <p:nvPr/>
        </p:nvSpPr>
        <p:spPr>
          <a:xfrm>
            <a:off x="548640" y="4590288"/>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MARKETING &amp; OUTREACH IMPACT</a:t>
            </a:r>
            <a:endParaRPr/>
          </a:p>
        </p:txBody>
      </p:sp>
      <p:sp>
        <p:nvSpPr>
          <p:cNvPr id="500" name="Google Shape;500;p13"/>
          <p:cNvSpPr/>
          <p:nvPr/>
        </p:nvSpPr>
        <p:spPr>
          <a:xfrm>
            <a:off x="548640" y="486460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1" name="Google Shape;501;p13"/>
          <p:cNvSpPr/>
          <p:nvPr/>
        </p:nvSpPr>
        <p:spPr>
          <a:xfrm>
            <a:off x="548640" y="4983480"/>
            <a:ext cx="54864" cy="100584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13"/>
          <p:cNvSpPr txBox="1"/>
          <p:nvPr/>
        </p:nvSpPr>
        <p:spPr>
          <a:xfrm>
            <a:off x="68580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Growth DSG</a:t>
            </a:r>
            <a:endParaRPr/>
          </a:p>
        </p:txBody>
      </p:sp>
      <p:sp>
        <p:nvSpPr>
          <p:cNvPr id="503" name="Google Shape;503;p13"/>
          <p:cNvSpPr txBox="1"/>
          <p:nvPr/>
        </p:nvSpPr>
        <p:spPr>
          <a:xfrm>
            <a:off x="68580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7,297 sent</a:t>
            </a:r>
            <a:endParaRPr/>
          </a:p>
        </p:txBody>
      </p:sp>
      <p:sp>
        <p:nvSpPr>
          <p:cNvPr id="504" name="Google Shape;504;p13"/>
          <p:cNvSpPr txBox="1"/>
          <p:nvPr/>
        </p:nvSpPr>
        <p:spPr>
          <a:xfrm>
            <a:off x="68580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2,052 opened</a:t>
            </a:r>
            <a:endParaRPr/>
          </a:p>
        </p:txBody>
      </p:sp>
      <p:sp>
        <p:nvSpPr>
          <p:cNvPr id="505" name="Google Shape;505;p13"/>
          <p:cNvSpPr txBox="1"/>
          <p:nvPr/>
        </p:nvSpPr>
        <p:spPr>
          <a:xfrm>
            <a:off x="68580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1,200 influenced</a:t>
            </a:r>
            <a:endParaRPr/>
          </a:p>
        </p:txBody>
      </p:sp>
      <p:sp>
        <p:nvSpPr>
          <p:cNvPr id="506" name="Google Shape;506;p13"/>
          <p:cNvSpPr/>
          <p:nvPr/>
        </p:nvSpPr>
        <p:spPr>
          <a:xfrm>
            <a:off x="3383280" y="4983480"/>
            <a:ext cx="54864" cy="100584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13"/>
          <p:cNvSpPr txBox="1"/>
          <p:nvPr/>
        </p:nvSpPr>
        <p:spPr>
          <a:xfrm>
            <a:off x="352044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DSG Expansion</a:t>
            </a:r>
            <a:endParaRPr/>
          </a:p>
        </p:txBody>
      </p:sp>
      <p:sp>
        <p:nvSpPr>
          <p:cNvPr id="508" name="Google Shape;508;p13"/>
          <p:cNvSpPr txBox="1"/>
          <p:nvPr/>
        </p:nvSpPr>
        <p:spPr>
          <a:xfrm>
            <a:off x="352044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Agent outreach</a:t>
            </a:r>
            <a:endParaRPr/>
          </a:p>
        </p:txBody>
      </p:sp>
      <p:sp>
        <p:nvSpPr>
          <p:cNvPr id="509" name="Google Shape;509;p13"/>
          <p:cNvSpPr txBox="1"/>
          <p:nvPr/>
        </p:nvSpPr>
        <p:spPr>
          <a:xfrm>
            <a:off x="352044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DSG launch</a:t>
            </a:r>
            <a:endParaRPr/>
          </a:p>
        </p:txBody>
      </p:sp>
      <p:sp>
        <p:nvSpPr>
          <p:cNvPr id="510" name="Google Shape;510;p13"/>
          <p:cNvSpPr txBox="1"/>
          <p:nvPr/>
        </p:nvSpPr>
        <p:spPr>
          <a:xfrm>
            <a:off x="352044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Broader campaign</a:t>
            </a:r>
            <a:endParaRPr/>
          </a:p>
        </p:txBody>
      </p:sp>
      <p:sp>
        <p:nvSpPr>
          <p:cNvPr id="511" name="Google Shape;511;p13"/>
          <p:cNvSpPr/>
          <p:nvPr/>
        </p:nvSpPr>
        <p:spPr>
          <a:xfrm>
            <a:off x="6217920" y="4983480"/>
            <a:ext cx="54864" cy="10058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2" name="Google Shape;512;p13"/>
          <p:cNvSpPr txBox="1"/>
          <p:nvPr/>
        </p:nvSpPr>
        <p:spPr>
          <a:xfrm>
            <a:off x="635508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 Newsletter</a:t>
            </a:r>
            <a:endParaRPr/>
          </a:p>
        </p:txBody>
      </p:sp>
      <p:sp>
        <p:nvSpPr>
          <p:cNvPr id="513" name="Google Shape;513;p13"/>
          <p:cNvSpPr txBox="1"/>
          <p:nvPr/>
        </p:nvSpPr>
        <p:spPr>
          <a:xfrm>
            <a:off x="635508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~2,399 sent</a:t>
            </a:r>
            <a:endParaRPr/>
          </a:p>
        </p:txBody>
      </p:sp>
      <p:sp>
        <p:nvSpPr>
          <p:cNvPr id="514" name="Google Shape;514;p13"/>
          <p:cNvSpPr txBox="1"/>
          <p:nvPr/>
        </p:nvSpPr>
        <p:spPr>
          <a:xfrm>
            <a:off x="635508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~69% reach</a:t>
            </a:r>
            <a:endParaRPr/>
          </a:p>
        </p:txBody>
      </p:sp>
      <p:sp>
        <p:nvSpPr>
          <p:cNvPr id="515" name="Google Shape;515;p13"/>
          <p:cNvSpPr txBox="1"/>
          <p:nvPr/>
        </p:nvSpPr>
        <p:spPr>
          <a:xfrm>
            <a:off x="635508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 confirmed opens</a:t>
            </a:r>
            <a:endParaRPr/>
          </a:p>
        </p:txBody>
      </p:sp>
      <p:sp>
        <p:nvSpPr>
          <p:cNvPr id="516" name="Google Shape;516;p13"/>
          <p:cNvSpPr/>
          <p:nvPr/>
        </p:nvSpPr>
        <p:spPr>
          <a:xfrm>
            <a:off x="9052560" y="4983480"/>
            <a:ext cx="54864" cy="100584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13"/>
          <p:cNvSpPr txBox="1"/>
          <p:nvPr/>
        </p:nvSpPr>
        <p:spPr>
          <a:xfrm>
            <a:off x="918972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BDA Calls</a:t>
            </a:r>
            <a:endParaRPr/>
          </a:p>
        </p:txBody>
      </p:sp>
      <p:sp>
        <p:nvSpPr>
          <p:cNvPr id="518" name="Google Shape;518;p13"/>
          <p:cNvSpPr txBox="1"/>
          <p:nvPr/>
        </p:nvSpPr>
        <p:spPr>
          <a:xfrm>
            <a:off x="918972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 agents called</a:t>
            </a:r>
            <a:endParaRPr/>
          </a:p>
        </p:txBody>
      </p:sp>
      <p:sp>
        <p:nvSpPr>
          <p:cNvPr id="519" name="Google Shape;519;p13"/>
          <p:cNvSpPr txBox="1"/>
          <p:nvPr/>
        </p:nvSpPr>
        <p:spPr>
          <a:xfrm>
            <a:off x="918972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3 by assigned BDA</a:t>
            </a:r>
            <a:endParaRPr/>
          </a:p>
        </p:txBody>
      </p:sp>
      <p:sp>
        <p:nvSpPr>
          <p:cNvPr id="520" name="Google Shape;520;p13"/>
          <p:cNvSpPr txBox="1"/>
          <p:nvPr/>
        </p:nvSpPr>
        <p:spPr>
          <a:xfrm>
            <a:off x="918972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Multi-touch confirmed</a:t>
            </a:r>
            <a:endParaRPr/>
          </a:p>
        </p:txBody>
      </p:sp>
      <p:sp>
        <p:nvSpPr>
          <p:cNvPr id="521" name="Google Shape;521;p13"/>
          <p:cNvSpPr/>
          <p:nvPr/>
        </p:nvSpPr>
        <p:spPr>
          <a:xfrm>
            <a:off x="0" y="6473952"/>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13"/>
          <p:cNvSpPr txBox="1"/>
          <p:nvPr/>
        </p:nvSpPr>
        <p:spPr>
          <a:xfrm>
            <a:off x="457200" y="6565392"/>
            <a:ext cx="5486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(Card 18630) + HubSpot CRM</a:t>
            </a:r>
            <a:endParaRPr/>
          </a:p>
        </p:txBody>
      </p:sp>
      <p:sp>
        <p:nvSpPr>
          <p:cNvPr id="523" name="Google Shape;523;p1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Cover Whale  |  Feb 2026</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527" name="Shape 527"/>
        <p:cNvGrpSpPr/>
        <p:nvPr/>
      </p:nvGrpSpPr>
      <p:grpSpPr>
        <a:xfrm>
          <a:off x="0" y="0"/>
          <a:ext cx="0" cy="0"/>
          <a:chOff x="0" y="0"/>
          <a:chExt cx="0" cy="0"/>
        </a:xfrm>
      </p:grpSpPr>
      <p:sp>
        <p:nvSpPr>
          <p:cNvPr id="528" name="Google Shape;528;p1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1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0" name="Google Shape;530;p1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1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2" name="Google Shape;532;p1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SUBMISSIONS OVERVIEW</a:t>
            </a:r>
            <a:endParaRPr/>
          </a:p>
        </p:txBody>
      </p:sp>
      <p:sp>
        <p:nvSpPr>
          <p:cNvPr id="533" name="Google Shape;533;p14"/>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DSG Pipeline  |  2026 YTD  |  7,077 Submissions</a:t>
            </a:r>
            <a:endParaRPr/>
          </a:p>
        </p:txBody>
      </p:sp>
      <p:sp>
        <p:nvSpPr>
          <p:cNvPr id="534" name="Google Shape;534;p1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1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6" name="Google Shape;536;p1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7" name="Google Shape;537;p14"/>
          <p:cNvSpPr/>
          <p:nvPr/>
        </p:nvSpPr>
        <p:spPr>
          <a:xfrm>
            <a:off x="274320"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8" name="Google Shape;538;p14"/>
          <p:cNvSpPr/>
          <p:nvPr/>
        </p:nvSpPr>
        <p:spPr>
          <a:xfrm>
            <a:off x="274320" y="1417320"/>
            <a:ext cx="214884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9" name="Google Shape;539;p14"/>
          <p:cNvSpPr txBox="1"/>
          <p:nvPr/>
        </p:nvSpPr>
        <p:spPr>
          <a:xfrm>
            <a:off x="411480"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SUBMISSIONS</a:t>
            </a:r>
            <a:endParaRPr/>
          </a:p>
        </p:txBody>
      </p:sp>
      <p:sp>
        <p:nvSpPr>
          <p:cNvPr id="540" name="Google Shape;540;p14"/>
          <p:cNvSpPr txBox="1"/>
          <p:nvPr/>
        </p:nvSpPr>
        <p:spPr>
          <a:xfrm>
            <a:off x="411480"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7,077</a:t>
            </a:r>
            <a:endParaRPr/>
          </a:p>
        </p:txBody>
      </p:sp>
      <p:sp>
        <p:nvSpPr>
          <p:cNvPr id="541" name="Google Shape;541;p14"/>
          <p:cNvSpPr txBox="1"/>
          <p:nvPr/>
        </p:nvSpPr>
        <p:spPr>
          <a:xfrm>
            <a:off x="411480"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Completed Submissions</a:t>
            </a:r>
            <a:endParaRPr/>
          </a:p>
        </p:txBody>
      </p:sp>
      <p:sp>
        <p:nvSpPr>
          <p:cNvPr id="542" name="Google Shape;542;p14"/>
          <p:cNvSpPr/>
          <p:nvPr/>
        </p:nvSpPr>
        <p:spPr>
          <a:xfrm>
            <a:off x="260603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14"/>
          <p:cNvSpPr/>
          <p:nvPr/>
        </p:nvSpPr>
        <p:spPr>
          <a:xfrm>
            <a:off x="2606039" y="1417320"/>
            <a:ext cx="214884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4" name="Google Shape;544;p14"/>
          <p:cNvSpPr txBox="1"/>
          <p:nvPr/>
        </p:nvSpPr>
        <p:spPr>
          <a:xfrm>
            <a:off x="274319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UNIQUE DOTs</a:t>
            </a:r>
            <a:endParaRPr/>
          </a:p>
        </p:txBody>
      </p:sp>
      <p:sp>
        <p:nvSpPr>
          <p:cNvPr id="545" name="Google Shape;545;p14"/>
          <p:cNvSpPr txBox="1"/>
          <p:nvPr/>
        </p:nvSpPr>
        <p:spPr>
          <a:xfrm>
            <a:off x="274319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4,581</a:t>
            </a:r>
            <a:endParaRPr/>
          </a:p>
        </p:txBody>
      </p:sp>
      <p:sp>
        <p:nvSpPr>
          <p:cNvPr id="546" name="Google Shape;546;p14"/>
          <p:cNvSpPr txBox="1"/>
          <p:nvPr/>
        </p:nvSpPr>
        <p:spPr>
          <a:xfrm>
            <a:off x="274319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Submitted Unique DOTs</a:t>
            </a:r>
            <a:endParaRPr/>
          </a:p>
        </p:txBody>
      </p:sp>
      <p:sp>
        <p:nvSpPr>
          <p:cNvPr id="547" name="Google Shape;547;p14"/>
          <p:cNvSpPr/>
          <p:nvPr/>
        </p:nvSpPr>
        <p:spPr>
          <a:xfrm>
            <a:off x="493775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14"/>
          <p:cNvSpPr/>
          <p:nvPr/>
        </p:nvSpPr>
        <p:spPr>
          <a:xfrm>
            <a:off x="4937759" y="1417320"/>
            <a:ext cx="214884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9" name="Google Shape;549;p14"/>
          <p:cNvSpPr txBox="1"/>
          <p:nvPr/>
        </p:nvSpPr>
        <p:spPr>
          <a:xfrm>
            <a:off x="507491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QUOTES</a:t>
            </a:r>
            <a:endParaRPr/>
          </a:p>
        </p:txBody>
      </p:sp>
      <p:sp>
        <p:nvSpPr>
          <p:cNvPr id="550" name="Google Shape;550;p14"/>
          <p:cNvSpPr txBox="1"/>
          <p:nvPr/>
        </p:nvSpPr>
        <p:spPr>
          <a:xfrm>
            <a:off x="507491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3,709</a:t>
            </a:r>
            <a:endParaRPr/>
          </a:p>
        </p:txBody>
      </p:sp>
      <p:sp>
        <p:nvSpPr>
          <p:cNvPr id="551" name="Google Shape;551;p14"/>
          <p:cNvSpPr txBox="1"/>
          <p:nvPr/>
        </p:nvSpPr>
        <p:spPr>
          <a:xfrm>
            <a:off x="507491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Completed Quotes</a:t>
            </a:r>
            <a:endParaRPr/>
          </a:p>
        </p:txBody>
      </p:sp>
      <p:sp>
        <p:nvSpPr>
          <p:cNvPr id="552" name="Google Shape;552;p14"/>
          <p:cNvSpPr/>
          <p:nvPr/>
        </p:nvSpPr>
        <p:spPr>
          <a:xfrm>
            <a:off x="726947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3" name="Google Shape;553;p14"/>
          <p:cNvSpPr/>
          <p:nvPr/>
        </p:nvSpPr>
        <p:spPr>
          <a:xfrm>
            <a:off x="7269479" y="1417320"/>
            <a:ext cx="214884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4" name="Google Shape;554;p14"/>
          <p:cNvSpPr txBox="1"/>
          <p:nvPr/>
        </p:nvSpPr>
        <p:spPr>
          <a:xfrm>
            <a:off x="740663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BINDS</a:t>
            </a:r>
            <a:endParaRPr/>
          </a:p>
        </p:txBody>
      </p:sp>
      <p:sp>
        <p:nvSpPr>
          <p:cNvPr id="555" name="Google Shape;555;p14"/>
          <p:cNvSpPr txBox="1"/>
          <p:nvPr/>
        </p:nvSpPr>
        <p:spPr>
          <a:xfrm>
            <a:off x="740663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184</a:t>
            </a:r>
            <a:endParaRPr/>
          </a:p>
        </p:txBody>
      </p:sp>
      <p:sp>
        <p:nvSpPr>
          <p:cNvPr id="556" name="Google Shape;556;p14"/>
          <p:cNvSpPr txBox="1"/>
          <p:nvPr/>
        </p:nvSpPr>
        <p:spPr>
          <a:xfrm>
            <a:off x="740663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Bound Policies</a:t>
            </a:r>
            <a:endParaRPr/>
          </a:p>
        </p:txBody>
      </p:sp>
      <p:sp>
        <p:nvSpPr>
          <p:cNvPr id="557" name="Google Shape;557;p14"/>
          <p:cNvSpPr/>
          <p:nvPr/>
        </p:nvSpPr>
        <p:spPr>
          <a:xfrm>
            <a:off x="9601200"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8" name="Google Shape;558;p14"/>
          <p:cNvSpPr/>
          <p:nvPr/>
        </p:nvSpPr>
        <p:spPr>
          <a:xfrm>
            <a:off x="9601200" y="1417320"/>
            <a:ext cx="214884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14"/>
          <p:cNvSpPr txBox="1"/>
          <p:nvPr/>
        </p:nvSpPr>
        <p:spPr>
          <a:xfrm>
            <a:off x="9738360"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PREMIUM</a:t>
            </a:r>
            <a:endParaRPr/>
          </a:p>
        </p:txBody>
      </p:sp>
      <p:sp>
        <p:nvSpPr>
          <p:cNvPr id="560" name="Google Shape;560;p14"/>
          <p:cNvSpPr txBox="1"/>
          <p:nvPr/>
        </p:nvSpPr>
        <p:spPr>
          <a:xfrm>
            <a:off x="9738360"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59E0B"/>
                </a:solidFill>
                <a:latin typeface="Quattrocento Sans"/>
                <a:ea typeface="Quattrocento Sans"/>
                <a:cs typeface="Quattrocento Sans"/>
                <a:sym typeface="Quattrocento Sans"/>
              </a:rPr>
              <a:t>$5.2M</a:t>
            </a:r>
            <a:endParaRPr/>
          </a:p>
        </p:txBody>
      </p:sp>
      <p:sp>
        <p:nvSpPr>
          <p:cNvPr id="561" name="Google Shape;561;p14"/>
          <p:cNvSpPr txBox="1"/>
          <p:nvPr/>
        </p:nvSpPr>
        <p:spPr>
          <a:xfrm>
            <a:off x="9738360"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Hit Rate: 5.0%</a:t>
            </a:r>
            <a:endParaRPr/>
          </a:p>
        </p:txBody>
      </p:sp>
      <p:sp>
        <p:nvSpPr>
          <p:cNvPr id="562" name="Google Shape;562;p14"/>
          <p:cNvSpPr txBox="1"/>
          <p:nvPr/>
        </p:nvSpPr>
        <p:spPr>
          <a:xfrm>
            <a:off x="457200" y="283464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PIPELINE</a:t>
            </a:r>
            <a:endParaRPr/>
          </a:p>
        </p:txBody>
      </p:sp>
      <p:sp>
        <p:nvSpPr>
          <p:cNvPr id="563" name="Google Shape;563;p14"/>
          <p:cNvSpPr/>
          <p:nvPr/>
        </p:nvSpPr>
        <p:spPr>
          <a:xfrm>
            <a:off x="457200" y="3108960"/>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4" name="Google Shape;564;p14"/>
          <p:cNvSpPr/>
          <p:nvPr/>
        </p:nvSpPr>
        <p:spPr>
          <a:xfrm>
            <a:off x="274320" y="324612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14"/>
          <p:cNvSpPr txBox="1"/>
          <p:nvPr/>
        </p:nvSpPr>
        <p:spPr>
          <a:xfrm>
            <a:off x="411480" y="329184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January</a:t>
            </a:r>
            <a:endParaRPr/>
          </a:p>
        </p:txBody>
      </p:sp>
      <p:sp>
        <p:nvSpPr>
          <p:cNvPr id="566" name="Google Shape;566;p14"/>
          <p:cNvSpPr txBox="1"/>
          <p:nvPr/>
        </p:nvSpPr>
        <p:spPr>
          <a:xfrm>
            <a:off x="411480" y="361188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911   |   Quotes: 471   |   Binds: 13   |   BP: $500,726   |   Hit Rate: 2.8%   |   Declined: 407</a:t>
            </a:r>
            <a:endParaRPr/>
          </a:p>
        </p:txBody>
      </p:sp>
      <p:sp>
        <p:nvSpPr>
          <p:cNvPr id="567" name="Google Shape;567;p14"/>
          <p:cNvSpPr/>
          <p:nvPr/>
        </p:nvSpPr>
        <p:spPr>
          <a:xfrm>
            <a:off x="274320" y="406908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8" name="Google Shape;568;p14"/>
          <p:cNvSpPr txBox="1"/>
          <p:nvPr/>
        </p:nvSpPr>
        <p:spPr>
          <a:xfrm>
            <a:off x="411480" y="411480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February</a:t>
            </a:r>
            <a:endParaRPr/>
          </a:p>
        </p:txBody>
      </p:sp>
      <p:sp>
        <p:nvSpPr>
          <p:cNvPr id="569" name="Google Shape;569;p14"/>
          <p:cNvSpPr txBox="1"/>
          <p:nvPr/>
        </p:nvSpPr>
        <p:spPr>
          <a:xfrm>
            <a:off x="411480" y="443484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1,166   |   Quotes: 589   |   Binds: 25   |   BP: $1.1M   |   Hit Rate: 4.2%   |   Declined: 514</a:t>
            </a:r>
            <a:endParaRPr/>
          </a:p>
        </p:txBody>
      </p:sp>
      <p:sp>
        <p:nvSpPr>
          <p:cNvPr id="570" name="Google Shape;570;p14"/>
          <p:cNvSpPr/>
          <p:nvPr/>
        </p:nvSpPr>
        <p:spPr>
          <a:xfrm>
            <a:off x="274320" y="489204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14"/>
          <p:cNvSpPr txBox="1"/>
          <p:nvPr/>
        </p:nvSpPr>
        <p:spPr>
          <a:xfrm>
            <a:off x="411480" y="493776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March</a:t>
            </a:r>
            <a:endParaRPr/>
          </a:p>
        </p:txBody>
      </p:sp>
      <p:sp>
        <p:nvSpPr>
          <p:cNvPr id="572" name="Google Shape;572;p14"/>
          <p:cNvSpPr txBox="1"/>
          <p:nvPr/>
        </p:nvSpPr>
        <p:spPr>
          <a:xfrm>
            <a:off x="411480" y="525780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1,607   |   Quotes: 870   |   Binds: 51   |   BP: $1.2M   |   Hit Rate: 5.9%   |   Declined: 690</a:t>
            </a:r>
            <a:endParaRPr/>
          </a:p>
        </p:txBody>
      </p:sp>
      <p:sp>
        <p:nvSpPr>
          <p:cNvPr id="573" name="Google Shape;573;p14"/>
          <p:cNvSpPr/>
          <p:nvPr/>
        </p:nvSpPr>
        <p:spPr>
          <a:xfrm>
            <a:off x="274320" y="571500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4" name="Google Shape;574;p14"/>
          <p:cNvSpPr txBox="1"/>
          <p:nvPr/>
        </p:nvSpPr>
        <p:spPr>
          <a:xfrm>
            <a:off x="411480" y="576072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April</a:t>
            </a:r>
            <a:endParaRPr/>
          </a:p>
        </p:txBody>
      </p:sp>
      <p:sp>
        <p:nvSpPr>
          <p:cNvPr id="575" name="Google Shape;575;p14"/>
          <p:cNvSpPr txBox="1"/>
          <p:nvPr/>
        </p:nvSpPr>
        <p:spPr>
          <a:xfrm>
            <a:off x="411480" y="608076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1,665   |   Quotes: 789   |   Binds: 47   |   BP: $1.1M   |   Hit Rate: 6.0%   |   Declined: 685</a:t>
            </a:r>
            <a:endParaRPr/>
          </a:p>
        </p:txBody>
      </p:sp>
      <p:sp>
        <p:nvSpPr>
          <p:cNvPr id="576" name="Google Shape;576;p14"/>
          <p:cNvSpPr txBox="1"/>
          <p:nvPr/>
        </p:nvSpPr>
        <p:spPr>
          <a:xfrm>
            <a:off x="5669280" y="283464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STATES BY SUBMISSIONS</a:t>
            </a:r>
            <a:endParaRPr/>
          </a:p>
        </p:txBody>
      </p:sp>
      <p:sp>
        <p:nvSpPr>
          <p:cNvPr id="577" name="Google Shape;577;p14"/>
          <p:cNvSpPr/>
          <p:nvPr/>
        </p:nvSpPr>
        <p:spPr>
          <a:xfrm>
            <a:off x="5669280" y="3108960"/>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578" name="Google Shape;578;p14"/>
          <p:cNvGraphicFramePr/>
          <p:nvPr/>
        </p:nvGraphicFramePr>
        <p:xfrm>
          <a:off x="5577840" y="3246120"/>
          <a:ext cx="3000000" cy="3000000"/>
        </p:xfrm>
        <a:graphic>
          <a:graphicData uri="http://schemas.openxmlformats.org/drawingml/2006/table">
            <a:tbl>
              <a:tblPr>
                <a:noFill/>
                <a:tableStyleId>{D82A8721-ECEF-4CED-8E2A-D61C263BF4EF}</a:tableStyleId>
              </a:tblPr>
              <a:tblGrid>
                <a:gridCol w="594350"/>
                <a:gridCol w="822950"/>
                <a:gridCol w="822950"/>
                <a:gridCol w="640075"/>
                <a:gridCol w="1371600"/>
                <a:gridCol w="822950"/>
              </a:tblGrid>
              <a:tr h="2743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Quotes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Bound Prem.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Hit 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3,683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2,344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$2,621,200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1,233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734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$1,678,891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6.5%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366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245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$329,545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5.8%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$8,775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50.0%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84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$182,976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13.2%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$3,718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40.0%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15.4%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579" name="Google Shape;579;p1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0" name="Google Shape;580;p14"/>
          <p:cNvSpPr txBox="1"/>
          <p:nvPr/>
        </p:nvSpPr>
        <p:spPr>
          <a:xfrm>
            <a:off x="457200" y="6565392"/>
            <a:ext cx="5486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EDE9FE"/>
                </a:solidFill>
                <a:latin typeface="Quattrocento Sans"/>
                <a:ea typeface="Quattrocento Sans"/>
                <a:cs typeface="Quattrocento Sans"/>
                <a:sym typeface="Quattrocento Sans"/>
              </a:rPr>
              <a:t>Source: Metabase Analytics  |  228 state-month combinations</a:t>
            </a:r>
            <a:endParaRPr/>
          </a:p>
        </p:txBody>
      </p:sp>
      <p:sp>
        <p:nvSpPr>
          <p:cNvPr id="581" name="Google Shape;581;p1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585" name="Shape 585"/>
        <p:cNvGrpSpPr/>
        <p:nvPr/>
      </p:nvGrpSpPr>
      <p:grpSpPr>
        <a:xfrm>
          <a:off x="0" y="0"/>
          <a:ext cx="0" cy="0"/>
          <a:chOff x="0" y="0"/>
          <a:chExt cx="0" cy="0"/>
        </a:xfrm>
      </p:grpSpPr>
      <p:sp>
        <p:nvSpPr>
          <p:cNvPr id="586" name="Google Shape;586;p1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7" name="Google Shape;587;p1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8" name="Google Shape;588;p1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1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0" name="Google Shape;590;p1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OUTBOUND CALL ACTIVITY</a:t>
            </a:r>
            <a:endParaRPr/>
          </a:p>
        </p:txBody>
      </p:sp>
      <p:sp>
        <p:nvSpPr>
          <p:cNvPr id="591" name="Google Shape;591;p15"/>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1150 Influenced Contacts  |  February 2026</a:t>
            </a:r>
            <a:endParaRPr/>
          </a:p>
        </p:txBody>
      </p:sp>
      <p:sp>
        <p:nvSpPr>
          <p:cNvPr id="592" name="Google Shape;592;p1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3" name="Google Shape;593;p1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4" name="Google Shape;594;p1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15"/>
          <p:cNvSpPr/>
          <p:nvPr/>
        </p:nvSpPr>
        <p:spPr>
          <a:xfrm>
            <a:off x="27432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6" name="Google Shape;596;p15"/>
          <p:cNvSpPr/>
          <p:nvPr/>
        </p:nvSpPr>
        <p:spPr>
          <a:xfrm>
            <a:off x="274320" y="1417320"/>
            <a:ext cx="27432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7" name="Google Shape;597;p15"/>
          <p:cNvSpPr txBox="1"/>
          <p:nvPr/>
        </p:nvSpPr>
        <p:spPr>
          <a:xfrm>
            <a:off x="41148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CONTACTS ANALYZED</a:t>
            </a:r>
            <a:endParaRPr/>
          </a:p>
        </p:txBody>
      </p:sp>
      <p:sp>
        <p:nvSpPr>
          <p:cNvPr id="598" name="Google Shape;598;p15"/>
          <p:cNvSpPr txBox="1"/>
          <p:nvPr/>
        </p:nvSpPr>
        <p:spPr>
          <a:xfrm>
            <a:off x="41148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1150</a:t>
            </a:r>
            <a:endParaRPr/>
          </a:p>
        </p:txBody>
      </p:sp>
      <p:sp>
        <p:nvSpPr>
          <p:cNvPr id="599" name="Google Shape;599;p15"/>
          <p:cNvSpPr txBox="1"/>
          <p:nvPr/>
        </p:nvSpPr>
        <p:spPr>
          <a:xfrm>
            <a:off x="41148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From Growth DSG Campaign</a:t>
            </a:r>
            <a:endParaRPr/>
          </a:p>
        </p:txBody>
      </p:sp>
      <p:sp>
        <p:nvSpPr>
          <p:cNvPr id="600" name="Google Shape;600;p15"/>
          <p:cNvSpPr/>
          <p:nvPr/>
        </p:nvSpPr>
        <p:spPr>
          <a:xfrm>
            <a:off x="320040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1" name="Google Shape;601;p15"/>
          <p:cNvSpPr/>
          <p:nvPr/>
        </p:nvSpPr>
        <p:spPr>
          <a:xfrm>
            <a:off x="3200400" y="1417320"/>
            <a:ext cx="274320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2" name="Google Shape;602;p15"/>
          <p:cNvSpPr txBox="1"/>
          <p:nvPr/>
        </p:nvSpPr>
        <p:spPr>
          <a:xfrm>
            <a:off x="333756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OUTBOUND CALLS</a:t>
            </a:r>
            <a:endParaRPr/>
          </a:p>
        </p:txBody>
      </p:sp>
      <p:sp>
        <p:nvSpPr>
          <p:cNvPr id="603" name="Google Shape;603;p15"/>
          <p:cNvSpPr txBox="1"/>
          <p:nvPr/>
        </p:nvSpPr>
        <p:spPr>
          <a:xfrm>
            <a:off x="333756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132</a:t>
            </a:r>
            <a:endParaRPr/>
          </a:p>
        </p:txBody>
      </p:sp>
      <p:sp>
        <p:nvSpPr>
          <p:cNvPr id="604" name="Google Shape;604;p15"/>
          <p:cNvSpPr txBox="1"/>
          <p:nvPr/>
        </p:nvSpPr>
        <p:spPr>
          <a:xfrm>
            <a:off x="333756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By 13 CW team members</a:t>
            </a:r>
            <a:endParaRPr/>
          </a:p>
        </p:txBody>
      </p:sp>
      <p:sp>
        <p:nvSpPr>
          <p:cNvPr id="605" name="Google Shape;605;p15"/>
          <p:cNvSpPr/>
          <p:nvPr/>
        </p:nvSpPr>
        <p:spPr>
          <a:xfrm>
            <a:off x="612648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6" name="Google Shape;606;p15"/>
          <p:cNvSpPr/>
          <p:nvPr/>
        </p:nvSpPr>
        <p:spPr>
          <a:xfrm>
            <a:off x="6126480" y="1417320"/>
            <a:ext cx="274320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15"/>
          <p:cNvSpPr txBox="1"/>
          <p:nvPr/>
        </p:nvSpPr>
        <p:spPr>
          <a:xfrm>
            <a:off x="626364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CONTACTS REACHED</a:t>
            </a:r>
            <a:endParaRPr/>
          </a:p>
        </p:txBody>
      </p:sp>
      <p:sp>
        <p:nvSpPr>
          <p:cNvPr id="608" name="Google Shape;608;p15"/>
          <p:cNvSpPr txBox="1"/>
          <p:nvPr/>
        </p:nvSpPr>
        <p:spPr>
          <a:xfrm>
            <a:off x="626364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67</a:t>
            </a:r>
            <a:endParaRPr/>
          </a:p>
        </p:txBody>
      </p:sp>
      <p:sp>
        <p:nvSpPr>
          <p:cNvPr id="609" name="Google Shape;609;p15"/>
          <p:cNvSpPr txBox="1"/>
          <p:nvPr/>
        </p:nvSpPr>
        <p:spPr>
          <a:xfrm>
            <a:off x="626364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5% of influenced pool</a:t>
            </a:r>
            <a:endParaRPr/>
          </a:p>
        </p:txBody>
      </p:sp>
      <p:sp>
        <p:nvSpPr>
          <p:cNvPr id="610" name="Google Shape;610;p15"/>
          <p:cNvSpPr/>
          <p:nvPr/>
        </p:nvSpPr>
        <p:spPr>
          <a:xfrm>
            <a:off x="905256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1" name="Google Shape;611;p15"/>
          <p:cNvSpPr/>
          <p:nvPr/>
        </p:nvSpPr>
        <p:spPr>
          <a:xfrm>
            <a:off x="9052560" y="1417320"/>
            <a:ext cx="274320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2" name="Google Shape;612;p15"/>
          <p:cNvSpPr txBox="1"/>
          <p:nvPr/>
        </p:nvSpPr>
        <p:spPr>
          <a:xfrm>
            <a:off x="918972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NOT YET CALLED</a:t>
            </a:r>
            <a:endParaRPr/>
          </a:p>
        </p:txBody>
      </p:sp>
      <p:sp>
        <p:nvSpPr>
          <p:cNvPr id="613" name="Google Shape;613;p15"/>
          <p:cNvSpPr txBox="1"/>
          <p:nvPr/>
        </p:nvSpPr>
        <p:spPr>
          <a:xfrm>
            <a:off x="918972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1083</a:t>
            </a:r>
            <a:endParaRPr/>
          </a:p>
        </p:txBody>
      </p:sp>
      <p:sp>
        <p:nvSpPr>
          <p:cNvPr id="614" name="Google Shape;614;p15"/>
          <p:cNvSpPr txBox="1"/>
          <p:nvPr/>
        </p:nvSpPr>
        <p:spPr>
          <a:xfrm>
            <a:off x="918972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94% available for outreach</a:t>
            </a:r>
            <a:endParaRPr/>
          </a:p>
        </p:txBody>
      </p:sp>
      <p:sp>
        <p:nvSpPr>
          <p:cNvPr id="615" name="Google Shape;615;p15"/>
          <p:cNvSpPr txBox="1"/>
          <p:nvPr/>
        </p:nvSpPr>
        <p:spPr>
          <a:xfrm>
            <a:off x="457200" y="274320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OUTBOUND CALLERS</a:t>
            </a:r>
            <a:endParaRPr/>
          </a:p>
        </p:txBody>
      </p:sp>
      <p:sp>
        <p:nvSpPr>
          <p:cNvPr id="616" name="Google Shape;616;p15"/>
          <p:cNvSpPr/>
          <p:nvPr/>
        </p:nvSpPr>
        <p:spPr>
          <a:xfrm>
            <a:off x="457200" y="301752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617" name="Google Shape;617;p15"/>
          <p:cNvGraphicFramePr/>
          <p:nvPr/>
        </p:nvGraphicFramePr>
        <p:xfrm>
          <a:off x="274320" y="3154680"/>
          <a:ext cx="3000000" cy="3000000"/>
        </p:xfrm>
        <a:graphic>
          <a:graphicData uri="http://schemas.openxmlformats.org/drawingml/2006/table">
            <a:tbl>
              <a:tblPr>
                <a:noFill/>
                <a:tableStyleId>{D82A8721-ECEF-4CED-8E2A-D61C263BF4EF}</a:tableStyleId>
              </a:tblPr>
              <a:tblGrid>
                <a:gridCol w="1828800"/>
                <a:gridCol w="1097275"/>
                <a:gridCol w="1097275"/>
                <a:gridCol w="109727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Outbound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Calls/Contact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Dominic Purkett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Latoya Madlock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Westy McLaughlin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Antonio Reyes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Christina Moldenhauer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Natalie Hardy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Mercedes B</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Nicole 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618" name="Google Shape;618;p15"/>
          <p:cNvSpPr txBox="1"/>
          <p:nvPr/>
        </p:nvSpPr>
        <p:spPr>
          <a:xfrm>
            <a:off x="6217920" y="274320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CONTACTS RECEIVING OUTBOUND CALLS</a:t>
            </a:r>
            <a:endParaRPr/>
          </a:p>
        </p:txBody>
      </p:sp>
      <p:sp>
        <p:nvSpPr>
          <p:cNvPr id="619" name="Google Shape;619;p15"/>
          <p:cNvSpPr/>
          <p:nvPr/>
        </p:nvSpPr>
        <p:spPr>
          <a:xfrm>
            <a:off x="6217920" y="301752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620" name="Google Shape;620;p15"/>
          <p:cNvGraphicFramePr/>
          <p:nvPr/>
        </p:nvGraphicFramePr>
        <p:xfrm>
          <a:off x="6035040" y="3154680"/>
          <a:ext cx="3000000" cy="3000000"/>
        </p:xfrm>
        <a:graphic>
          <a:graphicData uri="http://schemas.openxmlformats.org/drawingml/2006/table">
            <a:tbl>
              <a:tblPr>
                <a:noFill/>
                <a:tableStyleId>{D82A8721-ECEF-4CED-8E2A-D61C263BF4EF}</a:tableStyleId>
              </a:tblPr>
              <a:tblGrid>
                <a:gridCol w="2743200"/>
                <a:gridCol w="1280150"/>
                <a:gridCol w="1280150"/>
              </a:tblGrid>
              <a:tr h="274325">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Outbound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No Name Given Ankush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Shubham Sharma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Frank Isaacson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Raul Fernandez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Luiza Ter-Abramyan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William Jennings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Jennifer Thompson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Roger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Rhett Jessop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Andrew Littlefair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Chase Alcorn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Katrina Melnic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621" name="Google Shape;621;p15"/>
          <p:cNvSpPr txBox="1"/>
          <p:nvPr/>
        </p:nvSpPr>
        <p:spPr>
          <a:xfrm>
            <a:off x="457200" y="6492240"/>
            <a:ext cx="109728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132 outbound calls to 67 contacts  |  Dominic Purkett: 53 calls to 20 contacts  |  Latoya Madlock: 22 calls to 16 contacts  |  1083 contacts not yet called</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625" name="Shape 625"/>
        <p:cNvGrpSpPr/>
        <p:nvPr/>
      </p:nvGrpSpPr>
      <p:grpSpPr>
        <a:xfrm>
          <a:off x="0" y="0"/>
          <a:ext cx="0" cy="0"/>
          <a:chOff x="0" y="0"/>
          <a:chExt cx="0" cy="0"/>
        </a:xfrm>
      </p:grpSpPr>
      <p:sp>
        <p:nvSpPr>
          <p:cNvPr id="626" name="Google Shape;626;p1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1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1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9" name="Google Shape;629;p1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1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CAMPAIGN EFFECTIVENESS</a:t>
            </a:r>
            <a:endParaRPr/>
          </a:p>
        </p:txBody>
      </p:sp>
      <p:sp>
        <p:nvSpPr>
          <p:cNvPr id="631" name="Google Shape;631;p1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Growth DSG (32-State Expansion) + Newsletter + Outreach</a:t>
            </a:r>
            <a:endParaRPr/>
          </a:p>
        </p:txBody>
      </p:sp>
      <p:sp>
        <p:nvSpPr>
          <p:cNvPr id="632" name="Google Shape;632;p1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3" name="Google Shape;633;p1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4" name="Google Shape;634;p1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5" name="Google Shape;635;p16"/>
          <p:cNvSpPr/>
          <p:nvPr/>
        </p:nvSpPr>
        <p:spPr>
          <a:xfrm>
            <a:off x="2743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6" name="Google Shape;636;p16"/>
          <p:cNvSpPr/>
          <p:nvPr/>
        </p:nvSpPr>
        <p:spPr>
          <a:xfrm>
            <a:off x="274320" y="137160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16"/>
          <p:cNvSpPr txBox="1"/>
          <p:nvPr/>
        </p:nvSpPr>
        <p:spPr>
          <a:xfrm>
            <a:off x="475488" y="148132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the Process Work?</a:t>
            </a:r>
            <a:endParaRPr/>
          </a:p>
        </p:txBody>
      </p:sp>
      <p:sp>
        <p:nvSpPr>
          <p:cNvPr id="638" name="Google Shape;638;p16"/>
          <p:cNvSpPr/>
          <p:nvPr/>
        </p:nvSpPr>
        <p:spPr>
          <a:xfrm>
            <a:off x="4754880" y="1463040"/>
            <a:ext cx="1005840" cy="274320"/>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9" name="Google Shape;639;p16"/>
          <p:cNvSpPr txBox="1"/>
          <p:nvPr/>
        </p:nvSpPr>
        <p:spPr>
          <a:xfrm>
            <a:off x="4754880" y="1463040"/>
            <a:ext cx="10058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a:t>
            </a:r>
            <a:endParaRPr/>
          </a:p>
        </p:txBody>
      </p:sp>
      <p:sp>
        <p:nvSpPr>
          <p:cNvPr id="640" name="Google Shape;640;p16"/>
          <p:cNvSpPr/>
          <p:nvPr/>
        </p:nvSpPr>
        <p:spPr>
          <a:xfrm>
            <a:off x="475488" y="181051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1" name="Google Shape;641;p16"/>
          <p:cNvSpPr txBox="1"/>
          <p:nvPr/>
        </p:nvSpPr>
        <p:spPr>
          <a:xfrm>
            <a:off x="475488" y="190195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2" name="Google Shape;642;p16"/>
          <p:cNvSpPr txBox="1"/>
          <p:nvPr/>
        </p:nvSpPr>
        <p:spPr>
          <a:xfrm>
            <a:off x="640080" y="190195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Campaign drove awareness across 32-state DSG expansion (22 new states)</a:t>
            </a:r>
            <a:endParaRPr/>
          </a:p>
        </p:txBody>
      </p:sp>
      <p:sp>
        <p:nvSpPr>
          <p:cNvPr id="643" name="Google Shape;643;p16"/>
          <p:cNvSpPr txBox="1"/>
          <p:nvPr/>
        </p:nvSpPr>
        <p:spPr>
          <a:xfrm>
            <a:off x="475488" y="228600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4" name="Google Shape;644;p16"/>
          <p:cNvSpPr txBox="1"/>
          <p:nvPr/>
        </p:nvSpPr>
        <p:spPr>
          <a:xfrm>
            <a:off x="640080" y="228600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7,297 sent → 2,052 opened (28.8%) → 1,200 influenced → 5 of 16 bound</a:t>
            </a:r>
            <a:endParaRPr/>
          </a:p>
        </p:txBody>
      </p:sp>
      <p:sp>
        <p:nvSpPr>
          <p:cNvPr id="645" name="Google Shape;645;p16"/>
          <p:cNvSpPr txBox="1"/>
          <p:nvPr/>
        </p:nvSpPr>
        <p:spPr>
          <a:xfrm>
            <a:off x="475488" y="267004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6" name="Google Shape;646;p16"/>
          <p:cNvSpPr txBox="1"/>
          <p:nvPr/>
        </p:nvSpPr>
        <p:spPr>
          <a:xfrm>
            <a:off x="640080" y="267004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+74% MoM premium growth (Jan $501K → Feb $873K)</a:t>
            </a:r>
            <a:endParaRPr/>
          </a:p>
        </p:txBody>
      </p:sp>
      <p:sp>
        <p:nvSpPr>
          <p:cNvPr id="647" name="Google Shape;647;p16"/>
          <p:cNvSpPr txBox="1"/>
          <p:nvPr/>
        </p:nvSpPr>
        <p:spPr>
          <a:xfrm>
            <a:off x="475488" y="305409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8" name="Google Shape;648;p16"/>
          <p:cNvSpPr txBox="1"/>
          <p:nvPr/>
        </p:nvSpPr>
        <p:spPr>
          <a:xfrm>
            <a:off x="640080" y="305409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Pipeline converted: 2,552 subs → 1,352 quotes → 36 binds → $1.4M</a:t>
            </a:r>
            <a:endParaRPr/>
          </a:p>
        </p:txBody>
      </p:sp>
      <p:sp>
        <p:nvSpPr>
          <p:cNvPr id="649" name="Google Shape;649;p16"/>
          <p:cNvSpPr/>
          <p:nvPr/>
        </p:nvSpPr>
        <p:spPr>
          <a:xfrm>
            <a:off x="62179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16"/>
          <p:cNvSpPr/>
          <p:nvPr/>
        </p:nvSpPr>
        <p:spPr>
          <a:xfrm>
            <a:off x="6217920" y="1371600"/>
            <a:ext cx="73152" cy="22402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1" name="Google Shape;651;p16"/>
          <p:cNvSpPr txBox="1"/>
          <p:nvPr/>
        </p:nvSpPr>
        <p:spPr>
          <a:xfrm>
            <a:off x="6419088" y="148132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the Sales Reps Execute?</a:t>
            </a:r>
            <a:endParaRPr/>
          </a:p>
        </p:txBody>
      </p:sp>
      <p:sp>
        <p:nvSpPr>
          <p:cNvPr id="652" name="Google Shape;652;p16"/>
          <p:cNvSpPr/>
          <p:nvPr/>
        </p:nvSpPr>
        <p:spPr>
          <a:xfrm>
            <a:off x="10332720" y="1463040"/>
            <a:ext cx="1371600" cy="274320"/>
          </a:xfrm>
          <a:prstGeom prst="roundRect">
            <a:avLst>
              <a:gd fmla="val 10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3" name="Google Shape;653;p16"/>
          <p:cNvSpPr txBox="1"/>
          <p:nvPr/>
        </p:nvSpPr>
        <p:spPr>
          <a:xfrm>
            <a:off x="10332720" y="1463040"/>
            <a:ext cx="13716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PARTIALLY</a:t>
            </a:r>
            <a:endParaRPr/>
          </a:p>
        </p:txBody>
      </p:sp>
      <p:sp>
        <p:nvSpPr>
          <p:cNvPr id="654" name="Google Shape;654;p16"/>
          <p:cNvSpPr/>
          <p:nvPr/>
        </p:nvSpPr>
        <p:spPr>
          <a:xfrm>
            <a:off x="6419088" y="181051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5" name="Google Shape;655;p16"/>
          <p:cNvSpPr txBox="1"/>
          <p:nvPr/>
        </p:nvSpPr>
        <p:spPr>
          <a:xfrm>
            <a:off x="6419088" y="190195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56" name="Google Shape;656;p16"/>
          <p:cNvSpPr txBox="1"/>
          <p:nvPr/>
        </p:nvSpPr>
        <p:spPr>
          <a:xfrm>
            <a:off x="6583680" y="190195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Only 5 of 22 bound agencies have an assigned BDM — 0 received BDM pre-bind call</a:t>
            </a:r>
            <a:endParaRPr/>
          </a:p>
        </p:txBody>
      </p:sp>
      <p:sp>
        <p:nvSpPr>
          <p:cNvPr id="657" name="Google Shape;657;p16"/>
          <p:cNvSpPr txBox="1"/>
          <p:nvPr/>
        </p:nvSpPr>
        <p:spPr>
          <a:xfrm>
            <a:off x="6419088" y="228600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58" name="Google Shape;658;p16"/>
          <p:cNvSpPr txBox="1"/>
          <p:nvPr/>
        </p:nvSpPr>
        <p:spPr>
          <a:xfrm>
            <a:off x="6583680" y="228600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BDMs called non-assigned accounts: Derek Janssen (Telekinesis), Derrick Leroy (Waypoint, Resolute)</a:t>
            </a:r>
            <a:endParaRPr/>
          </a:p>
        </p:txBody>
      </p:sp>
      <p:sp>
        <p:nvSpPr>
          <p:cNvPr id="659" name="Google Shape;659;p16"/>
          <p:cNvSpPr txBox="1"/>
          <p:nvPr/>
        </p:nvSpPr>
        <p:spPr>
          <a:xfrm>
            <a:off x="6419088" y="267004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60" name="Google Shape;660;p16"/>
          <p:cNvSpPr txBox="1"/>
          <p:nvPr/>
        </p:nvSpPr>
        <p:spPr>
          <a:xfrm>
            <a:off x="6583680" y="267004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BDA outreach: Dominic Purkett made 53 outbound calls, 4 pre-bind agency touches</a:t>
            </a:r>
            <a:endParaRPr/>
          </a:p>
        </p:txBody>
      </p:sp>
      <p:sp>
        <p:nvSpPr>
          <p:cNvPr id="661" name="Google Shape;661;p16"/>
          <p:cNvSpPr txBox="1"/>
          <p:nvPr/>
        </p:nvSpPr>
        <p:spPr>
          <a:xfrm>
            <a:off x="6419088" y="305409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62" name="Google Shape;662;p16"/>
          <p:cNvSpPr txBox="1"/>
          <p:nvPr/>
        </p:nvSpPr>
        <p:spPr>
          <a:xfrm>
            <a:off x="6583680" y="305409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Post-bind follow-up: only 1 agency (Monarca) received post-bind BDA call</a:t>
            </a:r>
            <a:endParaRPr/>
          </a:p>
        </p:txBody>
      </p:sp>
      <p:sp>
        <p:nvSpPr>
          <p:cNvPr id="663" name="Google Shape;663;p16"/>
          <p:cNvSpPr/>
          <p:nvPr/>
        </p:nvSpPr>
        <p:spPr>
          <a:xfrm>
            <a:off x="274320" y="379476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4" name="Google Shape;664;p16"/>
          <p:cNvSpPr/>
          <p:nvPr/>
        </p:nvSpPr>
        <p:spPr>
          <a:xfrm>
            <a:off x="274320" y="379476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5" name="Google Shape;665;p16"/>
          <p:cNvSpPr txBox="1"/>
          <p:nvPr/>
        </p:nvSpPr>
        <p:spPr>
          <a:xfrm>
            <a:off x="475488" y="390448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We Have the Right Distribution?</a:t>
            </a:r>
            <a:endParaRPr/>
          </a:p>
        </p:txBody>
      </p:sp>
      <p:sp>
        <p:nvSpPr>
          <p:cNvPr id="666" name="Google Shape;666;p16"/>
          <p:cNvSpPr/>
          <p:nvPr/>
        </p:nvSpPr>
        <p:spPr>
          <a:xfrm>
            <a:off x="4754880" y="3886200"/>
            <a:ext cx="1005840" cy="274320"/>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16"/>
          <p:cNvSpPr txBox="1"/>
          <p:nvPr/>
        </p:nvSpPr>
        <p:spPr>
          <a:xfrm>
            <a:off x="4754880" y="3886200"/>
            <a:ext cx="10058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a:t>
            </a:r>
            <a:endParaRPr/>
          </a:p>
        </p:txBody>
      </p:sp>
      <p:sp>
        <p:nvSpPr>
          <p:cNvPr id="668" name="Google Shape;668;p16"/>
          <p:cNvSpPr/>
          <p:nvPr/>
        </p:nvSpPr>
        <p:spPr>
          <a:xfrm>
            <a:off x="475488" y="423367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9" name="Google Shape;669;p16"/>
          <p:cNvSpPr txBox="1"/>
          <p:nvPr/>
        </p:nvSpPr>
        <p:spPr>
          <a:xfrm>
            <a:off x="475488" y="432511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0" name="Google Shape;670;p16"/>
          <p:cNvSpPr txBox="1"/>
          <p:nvPr/>
        </p:nvSpPr>
        <p:spPr>
          <a:xfrm>
            <a:off x="640080" y="432511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13 of 22 bound agents were currently marketable (59%)</a:t>
            </a:r>
            <a:endParaRPr/>
          </a:p>
        </p:txBody>
      </p:sp>
      <p:sp>
        <p:nvSpPr>
          <p:cNvPr id="671" name="Google Shape;671;p16"/>
          <p:cNvSpPr txBox="1"/>
          <p:nvPr/>
        </p:nvSpPr>
        <p:spPr>
          <a:xfrm>
            <a:off x="475488" y="470916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2" name="Google Shape;672;p16"/>
          <p:cNvSpPr txBox="1"/>
          <p:nvPr/>
        </p:nvSpPr>
        <p:spPr>
          <a:xfrm>
            <a:off x="640080" y="470916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47 growth outreach touches across 5 reps targeting 20 new-expansion states</a:t>
            </a:r>
            <a:endParaRPr/>
          </a:p>
        </p:txBody>
      </p:sp>
      <p:sp>
        <p:nvSpPr>
          <p:cNvPr id="673" name="Google Shape;673;p16"/>
          <p:cNvSpPr txBox="1"/>
          <p:nvPr/>
        </p:nvSpPr>
        <p:spPr>
          <a:xfrm>
            <a:off x="475488" y="509320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4" name="Google Shape;674;p16"/>
          <p:cNvSpPr txBox="1"/>
          <p:nvPr/>
        </p:nvSpPr>
        <p:spPr>
          <a:xfrm>
            <a:off x="640080" y="509320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Strong Marsh/MMA national partner engagement driving volume through key verticals</a:t>
            </a:r>
            <a:endParaRPr/>
          </a:p>
        </p:txBody>
      </p:sp>
      <p:sp>
        <p:nvSpPr>
          <p:cNvPr id="675" name="Google Shape;675;p16"/>
          <p:cNvSpPr txBox="1"/>
          <p:nvPr/>
        </p:nvSpPr>
        <p:spPr>
          <a:xfrm>
            <a:off x="475488" y="547725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6" name="Google Shape;676;p16"/>
          <p:cNvSpPr txBox="1"/>
          <p:nvPr/>
        </p:nvSpPr>
        <p:spPr>
          <a:xfrm>
            <a:off x="640080" y="547725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GA, MO, IL, TX, PA generating active pipeline from new-state footprint</a:t>
            </a:r>
            <a:endParaRPr/>
          </a:p>
        </p:txBody>
      </p:sp>
      <p:sp>
        <p:nvSpPr>
          <p:cNvPr id="677" name="Google Shape;677;p16"/>
          <p:cNvSpPr/>
          <p:nvPr/>
        </p:nvSpPr>
        <p:spPr>
          <a:xfrm>
            <a:off x="6217920" y="379476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16"/>
          <p:cNvSpPr/>
          <p:nvPr/>
        </p:nvSpPr>
        <p:spPr>
          <a:xfrm>
            <a:off x="6217920" y="3794760"/>
            <a:ext cx="73152" cy="22402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9" name="Google Shape;679;p16"/>
          <p:cNvSpPr txBox="1"/>
          <p:nvPr/>
        </p:nvSpPr>
        <p:spPr>
          <a:xfrm>
            <a:off x="6419088" y="390448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We Miss on Distribution or Opportunity?</a:t>
            </a:r>
            <a:endParaRPr/>
          </a:p>
        </p:txBody>
      </p:sp>
      <p:sp>
        <p:nvSpPr>
          <p:cNvPr id="680" name="Google Shape;680;p16"/>
          <p:cNvSpPr/>
          <p:nvPr/>
        </p:nvSpPr>
        <p:spPr>
          <a:xfrm>
            <a:off x="10332720" y="3886200"/>
            <a:ext cx="1371600" cy="274320"/>
          </a:xfrm>
          <a:prstGeom prst="roundRect">
            <a:avLst>
              <a:gd fmla="val 10000" name="adj"/>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1" name="Google Shape;681;p16"/>
          <p:cNvSpPr txBox="1"/>
          <p:nvPr/>
        </p:nvSpPr>
        <p:spPr>
          <a:xfrm>
            <a:off x="10332720" y="3886200"/>
            <a:ext cx="13716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 — GAPS</a:t>
            </a:r>
            <a:endParaRPr/>
          </a:p>
        </p:txBody>
      </p:sp>
      <p:sp>
        <p:nvSpPr>
          <p:cNvPr id="682" name="Google Shape;682;p16"/>
          <p:cNvSpPr/>
          <p:nvPr/>
        </p:nvSpPr>
        <p:spPr>
          <a:xfrm>
            <a:off x="6419088" y="423367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3" name="Google Shape;683;p16"/>
          <p:cNvSpPr txBox="1"/>
          <p:nvPr/>
        </p:nvSpPr>
        <p:spPr>
          <a:xfrm>
            <a:off x="6419088" y="432511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4" name="Google Shape;684;p16"/>
          <p:cNvSpPr txBox="1"/>
          <p:nvPr/>
        </p:nvSpPr>
        <p:spPr>
          <a:xfrm>
            <a:off x="6583680" y="432511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NJ is #1 gap — tri-state agents say more DSG leads there than PA</a:t>
            </a:r>
            <a:endParaRPr/>
          </a:p>
        </p:txBody>
      </p:sp>
      <p:sp>
        <p:nvSpPr>
          <p:cNvPr id="685" name="Google Shape;685;p16"/>
          <p:cNvSpPr txBox="1"/>
          <p:nvPr/>
        </p:nvSpPr>
        <p:spPr>
          <a:xfrm>
            <a:off x="6419088" y="470916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6" name="Google Shape;686;p16"/>
          <p:cNvSpPr txBox="1"/>
          <p:nvPr/>
        </p:nvSpPr>
        <p:spPr>
          <a:xfrm>
            <a:off x="6583680" y="470916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VA classification issue blocking largest DSG agency from submitting</a:t>
            </a:r>
            <a:endParaRPr/>
          </a:p>
        </p:txBody>
      </p:sp>
      <p:sp>
        <p:nvSpPr>
          <p:cNvPr id="687" name="Google Shape;687;p16"/>
          <p:cNvSpPr txBox="1"/>
          <p:nvPr/>
        </p:nvSpPr>
        <p:spPr>
          <a:xfrm>
            <a:off x="6419088" y="509320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8" name="Google Shape;688;p16"/>
          <p:cNvSpPr txBox="1"/>
          <p:nvPr/>
        </p:nvSpPr>
        <p:spPr>
          <a:xfrm>
            <a:off x="6583680" y="509320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18-unit TN account may not bind due to dashcam/ELD objection</a:t>
            </a:r>
            <a:endParaRPr/>
          </a:p>
        </p:txBody>
      </p:sp>
      <p:sp>
        <p:nvSpPr>
          <p:cNvPr id="689" name="Google Shape;689;p16"/>
          <p:cNvSpPr txBox="1"/>
          <p:nvPr/>
        </p:nvSpPr>
        <p:spPr>
          <a:xfrm>
            <a:off x="6419088" y="547725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90" name="Google Shape;690;p16"/>
          <p:cNvSpPr txBox="1"/>
          <p:nvPr/>
        </p:nvSpPr>
        <p:spPr>
          <a:xfrm>
            <a:off x="6583680" y="547725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Large pipeline accounts (25 PU, 20 PU, 19 PU) not yet converted</a:t>
            </a:r>
            <a:endParaRPr/>
          </a:p>
        </p:txBody>
      </p:sp>
      <p:sp>
        <p:nvSpPr>
          <p:cNvPr id="691" name="Google Shape;691;p1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2" name="Google Shape;692;p1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693" name="Google Shape;693;p1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697" name="Shape 697"/>
        <p:cNvGrpSpPr/>
        <p:nvPr/>
      </p:nvGrpSpPr>
      <p:grpSpPr>
        <a:xfrm>
          <a:off x="0" y="0"/>
          <a:ext cx="0" cy="0"/>
          <a:chOff x="0" y="0"/>
          <a:chExt cx="0" cy="0"/>
        </a:xfrm>
      </p:grpSpPr>
      <p:sp>
        <p:nvSpPr>
          <p:cNvPr id="698" name="Google Shape;698;p1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9" name="Google Shape;699;p1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0" name="Google Shape;700;p1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1" name="Google Shape;701;p1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2" name="Google Shape;702;p1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ASSIGNED REP EXECUTION</a:t>
            </a:r>
            <a:endParaRPr/>
          </a:p>
        </p:txBody>
      </p:sp>
      <p:sp>
        <p:nvSpPr>
          <p:cNvPr id="703" name="Google Shape;703;p1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Did BDMs &amp; BDAs Call Their Own Bound Accounts?</a:t>
            </a:r>
            <a:endParaRPr/>
          </a:p>
        </p:txBody>
      </p:sp>
      <p:sp>
        <p:nvSpPr>
          <p:cNvPr id="704" name="Google Shape;704;p1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5" name="Google Shape;705;p1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6" name="Google Shape;706;p1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7" name="Google Shape;707;p17"/>
          <p:cNvSpPr/>
          <p:nvPr/>
        </p:nvSpPr>
        <p:spPr>
          <a:xfrm>
            <a:off x="27432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8" name="Google Shape;708;p17"/>
          <p:cNvSpPr/>
          <p:nvPr/>
        </p:nvSpPr>
        <p:spPr>
          <a:xfrm>
            <a:off x="274320" y="1371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9" name="Google Shape;709;p17"/>
          <p:cNvSpPr txBox="1"/>
          <p:nvPr/>
        </p:nvSpPr>
        <p:spPr>
          <a:xfrm>
            <a:off x="41148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EF4444"/>
                </a:solidFill>
                <a:latin typeface="Quattrocento Sans"/>
                <a:ea typeface="Quattrocento Sans"/>
                <a:cs typeface="Quattrocento Sans"/>
                <a:sym typeface="Quattrocento Sans"/>
              </a:rPr>
              <a:t>1 / 16</a:t>
            </a:r>
            <a:endParaRPr/>
          </a:p>
        </p:txBody>
      </p:sp>
      <p:sp>
        <p:nvSpPr>
          <p:cNvPr id="710" name="Google Shape;710;p17"/>
          <p:cNvSpPr txBox="1"/>
          <p:nvPr/>
        </p:nvSpPr>
        <p:spPr>
          <a:xfrm>
            <a:off x="114300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Assigned BDM</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Pre-Bind</a:t>
            </a:r>
            <a:endParaRPr/>
          </a:p>
        </p:txBody>
      </p:sp>
      <p:sp>
        <p:nvSpPr>
          <p:cNvPr id="711" name="Google Shape;711;p17"/>
          <p:cNvSpPr/>
          <p:nvPr/>
        </p:nvSpPr>
        <p:spPr>
          <a:xfrm>
            <a:off x="320040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2" name="Google Shape;712;p17"/>
          <p:cNvSpPr/>
          <p:nvPr/>
        </p:nvSpPr>
        <p:spPr>
          <a:xfrm>
            <a:off x="3200400" y="1371600"/>
            <a:ext cx="54864" cy="5029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3" name="Google Shape;713;p17"/>
          <p:cNvSpPr txBox="1"/>
          <p:nvPr/>
        </p:nvSpPr>
        <p:spPr>
          <a:xfrm>
            <a:off x="333756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F59E0B"/>
                </a:solidFill>
                <a:latin typeface="Quattrocento Sans"/>
                <a:ea typeface="Quattrocento Sans"/>
                <a:cs typeface="Quattrocento Sans"/>
                <a:sym typeface="Quattrocento Sans"/>
              </a:rPr>
              <a:t>3 / 16</a:t>
            </a:r>
            <a:endParaRPr/>
          </a:p>
        </p:txBody>
      </p:sp>
      <p:sp>
        <p:nvSpPr>
          <p:cNvPr id="714" name="Google Shape;714;p17"/>
          <p:cNvSpPr txBox="1"/>
          <p:nvPr/>
        </p:nvSpPr>
        <p:spPr>
          <a:xfrm>
            <a:off x="406908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Assigned BDA</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Pre-Bind</a:t>
            </a:r>
            <a:endParaRPr/>
          </a:p>
        </p:txBody>
      </p:sp>
      <p:sp>
        <p:nvSpPr>
          <p:cNvPr id="715" name="Google Shape;715;p17"/>
          <p:cNvSpPr/>
          <p:nvPr/>
        </p:nvSpPr>
        <p:spPr>
          <a:xfrm>
            <a:off x="612648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6" name="Google Shape;716;p17"/>
          <p:cNvSpPr/>
          <p:nvPr/>
        </p:nvSpPr>
        <p:spPr>
          <a:xfrm>
            <a:off x="6126480" y="1371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7" name="Google Shape;717;p17"/>
          <p:cNvSpPr txBox="1"/>
          <p:nvPr/>
        </p:nvSpPr>
        <p:spPr>
          <a:xfrm>
            <a:off x="626364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EF4444"/>
                </a:solidFill>
                <a:latin typeface="Quattrocento Sans"/>
                <a:ea typeface="Quattrocento Sans"/>
                <a:cs typeface="Quattrocento Sans"/>
                <a:sym typeface="Quattrocento Sans"/>
              </a:rPr>
              <a:t>0 / 16</a:t>
            </a:r>
            <a:endParaRPr/>
          </a:p>
        </p:txBody>
      </p:sp>
      <p:sp>
        <p:nvSpPr>
          <p:cNvPr id="718" name="Google Shape;718;p17"/>
          <p:cNvSpPr txBox="1"/>
          <p:nvPr/>
        </p:nvSpPr>
        <p:spPr>
          <a:xfrm>
            <a:off x="699516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Any Assigned Rep</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Post-Bind</a:t>
            </a:r>
            <a:endParaRPr/>
          </a:p>
        </p:txBody>
      </p:sp>
      <p:sp>
        <p:nvSpPr>
          <p:cNvPr id="719" name="Google Shape;719;p17"/>
          <p:cNvSpPr/>
          <p:nvPr/>
        </p:nvSpPr>
        <p:spPr>
          <a:xfrm>
            <a:off x="905256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0" name="Google Shape;720;p17"/>
          <p:cNvSpPr/>
          <p:nvPr/>
        </p:nvSpPr>
        <p:spPr>
          <a:xfrm>
            <a:off x="9052560" y="1371600"/>
            <a:ext cx="54864" cy="5029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1" name="Google Shape;721;p17"/>
          <p:cNvSpPr txBox="1"/>
          <p:nvPr/>
        </p:nvSpPr>
        <p:spPr>
          <a:xfrm>
            <a:off x="918972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8 / 16</a:t>
            </a:r>
            <a:endParaRPr/>
          </a:p>
        </p:txBody>
      </p:sp>
      <p:sp>
        <p:nvSpPr>
          <p:cNvPr id="722" name="Google Shape;722;p17"/>
          <p:cNvSpPr txBox="1"/>
          <p:nvPr/>
        </p:nvSpPr>
        <p:spPr>
          <a:xfrm>
            <a:off x="992124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No Calls</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At All</a:t>
            </a:r>
            <a:endParaRPr/>
          </a:p>
        </p:txBody>
      </p:sp>
      <p:graphicFrame>
        <p:nvGraphicFramePr>
          <p:cNvPr id="723" name="Google Shape;723;p17"/>
          <p:cNvGraphicFramePr/>
          <p:nvPr/>
        </p:nvGraphicFramePr>
        <p:xfrm>
          <a:off x="137160" y="2057400"/>
          <a:ext cx="3000000" cy="3000000"/>
        </p:xfrm>
        <a:graphic>
          <a:graphicData uri="http://schemas.openxmlformats.org/drawingml/2006/table">
            <a:tbl>
              <a:tblPr>
                <a:noFill/>
                <a:tableStyleId>{D82A8721-ECEF-4CED-8E2A-D61C263BF4EF}</a:tableStyleId>
              </a:tblPr>
              <a:tblGrid>
                <a:gridCol w="1234450"/>
                <a:gridCol w="1234450"/>
                <a:gridCol w="502925"/>
                <a:gridCol w="502925"/>
                <a:gridCol w="1325875"/>
                <a:gridCol w="1325875"/>
                <a:gridCol w="594350"/>
                <a:gridCol w="594350"/>
                <a:gridCol w="1417325"/>
              </a:tblGrid>
              <a:tr h="205750">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BDM</a:t>
                      </a:r>
                      <a:br>
                        <a:rPr b="1" lang="en-US" sz="700" u="none" cap="none" strike="noStrike">
                          <a:solidFill>
                            <a:srgbClr val="FFFFFF"/>
                          </a:solidFill>
                          <a:latin typeface="Quattrocento Sans"/>
                          <a:ea typeface="Quattrocento Sans"/>
                          <a:cs typeface="Quattrocento Sans"/>
                          <a:sym typeface="Quattrocento Sans"/>
                        </a:rPr>
                      </a:b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BDA</a:t>
                      </a:r>
                      <a:br>
                        <a:rPr b="1" lang="en-US" sz="700" u="none" cap="none" strike="noStrike">
                          <a:solidFill>
                            <a:srgbClr val="FFFFFF"/>
                          </a:solidFill>
                          <a:latin typeface="Quattrocento Sans"/>
                          <a:ea typeface="Quattrocento Sans"/>
                          <a:cs typeface="Quattrocento Sans"/>
                          <a:sym typeface="Quattrocento Sans"/>
                        </a:rPr>
                      </a:b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Other 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Guillen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$136K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Rogo Enterprise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$41K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Quinones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C. Hayes, L.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Logistics Plus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George 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Big &amp; Tough 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Derrick, Latoya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Justin D. Dupree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Combined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Zeus Transport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Big Boss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$8K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 Pace Transport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$12K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H&amp;M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Johnson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Resolute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$22K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$205K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G&amp;Z Transportation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Virmae Marie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$27K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GLM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Jose Dimas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724" name="Google Shape;724;p17"/>
          <p:cNvSpPr txBox="1"/>
          <p:nvPr/>
        </p:nvSpPr>
        <p:spPr>
          <a:xfrm>
            <a:off x="274320" y="5623560"/>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BY BDM (Pre-Bind Calls on Assigned Accounts)</a:t>
            </a:r>
            <a:endParaRPr/>
          </a:p>
        </p:txBody>
      </p:sp>
      <p:sp>
        <p:nvSpPr>
          <p:cNvPr id="725" name="Google Shape;725;p17"/>
          <p:cNvSpPr/>
          <p:nvPr/>
        </p:nvSpPr>
        <p:spPr>
          <a:xfrm>
            <a:off x="27432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6" name="Google Shape;726;p17"/>
          <p:cNvSpPr/>
          <p:nvPr/>
        </p:nvSpPr>
        <p:spPr>
          <a:xfrm>
            <a:off x="27432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7" name="Google Shape;727;p17"/>
          <p:cNvSpPr txBox="1"/>
          <p:nvPr/>
        </p:nvSpPr>
        <p:spPr>
          <a:xfrm>
            <a:off x="38404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Ron Douglas</a:t>
            </a:r>
            <a:endParaRPr/>
          </a:p>
        </p:txBody>
      </p:sp>
      <p:sp>
        <p:nvSpPr>
          <p:cNvPr id="728" name="Google Shape;728;p17"/>
          <p:cNvSpPr txBox="1"/>
          <p:nvPr/>
        </p:nvSpPr>
        <p:spPr>
          <a:xfrm>
            <a:off x="38404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4 accts  |  0 called</a:t>
            </a:r>
            <a:endParaRPr/>
          </a:p>
        </p:txBody>
      </p:sp>
      <p:sp>
        <p:nvSpPr>
          <p:cNvPr id="729" name="Google Shape;729;p17"/>
          <p:cNvSpPr txBox="1"/>
          <p:nvPr/>
        </p:nvSpPr>
        <p:spPr>
          <a:xfrm>
            <a:off x="38404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$90K</a:t>
            </a:r>
            <a:endParaRPr/>
          </a:p>
        </p:txBody>
      </p:sp>
      <p:sp>
        <p:nvSpPr>
          <p:cNvPr id="730" name="Google Shape;730;p17"/>
          <p:cNvSpPr/>
          <p:nvPr/>
        </p:nvSpPr>
        <p:spPr>
          <a:xfrm>
            <a:off x="169164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17"/>
          <p:cNvSpPr/>
          <p:nvPr/>
        </p:nvSpPr>
        <p:spPr>
          <a:xfrm>
            <a:off x="1691640" y="5833872"/>
            <a:ext cx="45720" cy="45720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2" name="Google Shape;732;p17"/>
          <p:cNvSpPr txBox="1"/>
          <p:nvPr/>
        </p:nvSpPr>
        <p:spPr>
          <a:xfrm>
            <a:off x="180136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Derek Janssen</a:t>
            </a:r>
            <a:endParaRPr/>
          </a:p>
        </p:txBody>
      </p:sp>
      <p:sp>
        <p:nvSpPr>
          <p:cNvPr id="733" name="Google Shape;733;p17"/>
          <p:cNvSpPr txBox="1"/>
          <p:nvPr/>
        </p:nvSpPr>
        <p:spPr>
          <a:xfrm>
            <a:off x="180136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F59E0B"/>
                </a:solidFill>
                <a:latin typeface="Quattrocento Sans"/>
                <a:ea typeface="Quattrocento Sans"/>
                <a:cs typeface="Quattrocento Sans"/>
                <a:sym typeface="Quattrocento Sans"/>
              </a:rPr>
              <a:t>3 accts  |  1 called</a:t>
            </a:r>
            <a:endParaRPr/>
          </a:p>
        </p:txBody>
      </p:sp>
      <p:sp>
        <p:nvSpPr>
          <p:cNvPr id="734" name="Google Shape;734;p17"/>
          <p:cNvSpPr txBox="1"/>
          <p:nvPr/>
        </p:nvSpPr>
        <p:spPr>
          <a:xfrm>
            <a:off x="180136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$361K</a:t>
            </a:r>
            <a:endParaRPr/>
          </a:p>
        </p:txBody>
      </p:sp>
      <p:sp>
        <p:nvSpPr>
          <p:cNvPr id="735" name="Google Shape;735;p17"/>
          <p:cNvSpPr/>
          <p:nvPr/>
        </p:nvSpPr>
        <p:spPr>
          <a:xfrm>
            <a:off x="310896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6" name="Google Shape;736;p17"/>
          <p:cNvSpPr/>
          <p:nvPr/>
        </p:nvSpPr>
        <p:spPr>
          <a:xfrm>
            <a:off x="310896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7" name="Google Shape;737;p17"/>
          <p:cNvSpPr txBox="1"/>
          <p:nvPr/>
        </p:nvSpPr>
        <p:spPr>
          <a:xfrm>
            <a:off x="321868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James Reid</a:t>
            </a:r>
            <a:endParaRPr/>
          </a:p>
        </p:txBody>
      </p:sp>
      <p:sp>
        <p:nvSpPr>
          <p:cNvPr id="738" name="Google Shape;738;p17"/>
          <p:cNvSpPr txBox="1"/>
          <p:nvPr/>
        </p:nvSpPr>
        <p:spPr>
          <a:xfrm>
            <a:off x="321868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3 accts  |  0 called</a:t>
            </a:r>
            <a:endParaRPr/>
          </a:p>
        </p:txBody>
      </p:sp>
      <p:sp>
        <p:nvSpPr>
          <p:cNvPr id="739" name="Google Shape;739;p17"/>
          <p:cNvSpPr txBox="1"/>
          <p:nvPr/>
        </p:nvSpPr>
        <p:spPr>
          <a:xfrm>
            <a:off x="321868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$47K</a:t>
            </a:r>
            <a:endParaRPr/>
          </a:p>
        </p:txBody>
      </p:sp>
      <p:sp>
        <p:nvSpPr>
          <p:cNvPr id="740" name="Google Shape;740;p17"/>
          <p:cNvSpPr/>
          <p:nvPr/>
        </p:nvSpPr>
        <p:spPr>
          <a:xfrm>
            <a:off x="452628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1" name="Google Shape;741;p17"/>
          <p:cNvSpPr/>
          <p:nvPr/>
        </p:nvSpPr>
        <p:spPr>
          <a:xfrm>
            <a:off x="452628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2" name="Google Shape;742;p17"/>
          <p:cNvSpPr txBox="1"/>
          <p:nvPr/>
        </p:nvSpPr>
        <p:spPr>
          <a:xfrm>
            <a:off x="463600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C. Hayes</a:t>
            </a:r>
            <a:endParaRPr/>
          </a:p>
        </p:txBody>
      </p:sp>
      <p:sp>
        <p:nvSpPr>
          <p:cNvPr id="743" name="Google Shape;743;p17"/>
          <p:cNvSpPr txBox="1"/>
          <p:nvPr/>
        </p:nvSpPr>
        <p:spPr>
          <a:xfrm>
            <a:off x="463600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1 acct  |  0 called</a:t>
            </a:r>
            <a:endParaRPr/>
          </a:p>
        </p:txBody>
      </p:sp>
      <p:sp>
        <p:nvSpPr>
          <p:cNvPr id="744" name="Google Shape;744;p17"/>
          <p:cNvSpPr txBox="1"/>
          <p:nvPr/>
        </p:nvSpPr>
        <p:spPr>
          <a:xfrm>
            <a:off x="463600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$41K</a:t>
            </a:r>
            <a:endParaRPr/>
          </a:p>
        </p:txBody>
      </p:sp>
      <p:sp>
        <p:nvSpPr>
          <p:cNvPr id="745" name="Google Shape;745;p17"/>
          <p:cNvSpPr txBox="1"/>
          <p:nvPr/>
        </p:nvSpPr>
        <p:spPr>
          <a:xfrm>
            <a:off x="6217920" y="5623560"/>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BY BDA (Pre-Bind Calls on Assigned Accounts)</a:t>
            </a:r>
            <a:endParaRPr/>
          </a:p>
        </p:txBody>
      </p:sp>
      <p:sp>
        <p:nvSpPr>
          <p:cNvPr id="746" name="Google Shape;746;p17"/>
          <p:cNvSpPr/>
          <p:nvPr/>
        </p:nvSpPr>
        <p:spPr>
          <a:xfrm>
            <a:off x="621792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7" name="Google Shape;747;p17"/>
          <p:cNvSpPr/>
          <p:nvPr/>
        </p:nvSpPr>
        <p:spPr>
          <a:xfrm>
            <a:off x="6217920" y="5833872"/>
            <a:ext cx="45720"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8" name="Google Shape;748;p17"/>
          <p:cNvSpPr txBox="1"/>
          <p:nvPr/>
        </p:nvSpPr>
        <p:spPr>
          <a:xfrm>
            <a:off x="632764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Dominic Purkett</a:t>
            </a:r>
            <a:endParaRPr/>
          </a:p>
        </p:txBody>
      </p:sp>
      <p:sp>
        <p:nvSpPr>
          <p:cNvPr id="749" name="Google Shape;749;p17"/>
          <p:cNvSpPr txBox="1"/>
          <p:nvPr/>
        </p:nvSpPr>
        <p:spPr>
          <a:xfrm>
            <a:off x="632764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10B981"/>
                </a:solidFill>
                <a:latin typeface="Quattrocento Sans"/>
                <a:ea typeface="Quattrocento Sans"/>
                <a:cs typeface="Quattrocento Sans"/>
                <a:sym typeface="Quattrocento Sans"/>
              </a:rPr>
              <a:t>4 accts  |  2 called</a:t>
            </a:r>
            <a:endParaRPr/>
          </a:p>
        </p:txBody>
      </p:sp>
      <p:sp>
        <p:nvSpPr>
          <p:cNvPr id="750" name="Google Shape;750;p17"/>
          <p:cNvSpPr txBox="1"/>
          <p:nvPr/>
        </p:nvSpPr>
        <p:spPr>
          <a:xfrm>
            <a:off x="632764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$376K</a:t>
            </a:r>
            <a:endParaRPr/>
          </a:p>
        </p:txBody>
      </p:sp>
      <p:sp>
        <p:nvSpPr>
          <p:cNvPr id="751" name="Google Shape;751;p17"/>
          <p:cNvSpPr/>
          <p:nvPr/>
        </p:nvSpPr>
        <p:spPr>
          <a:xfrm>
            <a:off x="763524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2" name="Google Shape;752;p17"/>
          <p:cNvSpPr/>
          <p:nvPr/>
        </p:nvSpPr>
        <p:spPr>
          <a:xfrm>
            <a:off x="763524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3" name="Google Shape;753;p17"/>
          <p:cNvSpPr txBox="1"/>
          <p:nvPr/>
        </p:nvSpPr>
        <p:spPr>
          <a:xfrm>
            <a:off x="774496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Antonio Reyes</a:t>
            </a:r>
            <a:endParaRPr/>
          </a:p>
        </p:txBody>
      </p:sp>
      <p:sp>
        <p:nvSpPr>
          <p:cNvPr id="754" name="Google Shape;754;p17"/>
          <p:cNvSpPr txBox="1"/>
          <p:nvPr/>
        </p:nvSpPr>
        <p:spPr>
          <a:xfrm>
            <a:off x="774496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2 accts  |  0 called</a:t>
            </a:r>
            <a:endParaRPr/>
          </a:p>
        </p:txBody>
      </p:sp>
      <p:sp>
        <p:nvSpPr>
          <p:cNvPr id="755" name="Google Shape;755;p17"/>
          <p:cNvSpPr txBox="1"/>
          <p:nvPr/>
        </p:nvSpPr>
        <p:spPr>
          <a:xfrm>
            <a:off x="774496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$39K</a:t>
            </a:r>
            <a:endParaRPr/>
          </a:p>
        </p:txBody>
      </p:sp>
      <p:sp>
        <p:nvSpPr>
          <p:cNvPr id="756" name="Google Shape;756;p17"/>
          <p:cNvSpPr/>
          <p:nvPr/>
        </p:nvSpPr>
        <p:spPr>
          <a:xfrm>
            <a:off x="905256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7" name="Google Shape;757;p17"/>
          <p:cNvSpPr/>
          <p:nvPr/>
        </p:nvSpPr>
        <p:spPr>
          <a:xfrm>
            <a:off x="905256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8" name="Google Shape;758;p17"/>
          <p:cNvSpPr txBox="1"/>
          <p:nvPr/>
        </p:nvSpPr>
        <p:spPr>
          <a:xfrm>
            <a:off x="916228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Latoya Madlock</a:t>
            </a:r>
            <a:endParaRPr/>
          </a:p>
        </p:txBody>
      </p:sp>
      <p:sp>
        <p:nvSpPr>
          <p:cNvPr id="759" name="Google Shape;759;p17"/>
          <p:cNvSpPr txBox="1"/>
          <p:nvPr/>
        </p:nvSpPr>
        <p:spPr>
          <a:xfrm>
            <a:off x="916228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2 accts  |  0 called</a:t>
            </a:r>
            <a:endParaRPr/>
          </a:p>
        </p:txBody>
      </p:sp>
      <p:sp>
        <p:nvSpPr>
          <p:cNvPr id="760" name="Google Shape;760;p17"/>
          <p:cNvSpPr txBox="1"/>
          <p:nvPr/>
        </p:nvSpPr>
        <p:spPr>
          <a:xfrm>
            <a:off x="916228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$31K</a:t>
            </a:r>
            <a:endParaRPr/>
          </a:p>
        </p:txBody>
      </p:sp>
      <p:sp>
        <p:nvSpPr>
          <p:cNvPr id="761" name="Google Shape;761;p17"/>
          <p:cNvSpPr/>
          <p:nvPr/>
        </p:nvSpPr>
        <p:spPr>
          <a:xfrm>
            <a:off x="1046988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2" name="Google Shape;762;p17"/>
          <p:cNvSpPr/>
          <p:nvPr/>
        </p:nvSpPr>
        <p:spPr>
          <a:xfrm>
            <a:off x="10469880" y="5833872"/>
            <a:ext cx="45720"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3" name="Google Shape;763;p17"/>
          <p:cNvSpPr txBox="1"/>
          <p:nvPr/>
        </p:nvSpPr>
        <p:spPr>
          <a:xfrm>
            <a:off x="1057960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Cameron Brader</a:t>
            </a:r>
            <a:endParaRPr/>
          </a:p>
        </p:txBody>
      </p:sp>
      <p:sp>
        <p:nvSpPr>
          <p:cNvPr id="764" name="Google Shape;764;p17"/>
          <p:cNvSpPr txBox="1"/>
          <p:nvPr/>
        </p:nvSpPr>
        <p:spPr>
          <a:xfrm>
            <a:off x="1057960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10B981"/>
                </a:solidFill>
                <a:latin typeface="Quattrocento Sans"/>
                <a:ea typeface="Quattrocento Sans"/>
                <a:cs typeface="Quattrocento Sans"/>
                <a:sym typeface="Quattrocento Sans"/>
              </a:rPr>
              <a:t>1 acct  |  1 called</a:t>
            </a:r>
            <a:endParaRPr/>
          </a:p>
        </p:txBody>
      </p:sp>
      <p:sp>
        <p:nvSpPr>
          <p:cNvPr id="765" name="Google Shape;765;p17"/>
          <p:cNvSpPr txBox="1"/>
          <p:nvPr/>
        </p:nvSpPr>
        <p:spPr>
          <a:xfrm>
            <a:off x="1057960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$11K</a:t>
            </a:r>
            <a:endParaRPr/>
          </a:p>
        </p:txBody>
      </p:sp>
      <p:sp>
        <p:nvSpPr>
          <p:cNvPr id="766" name="Google Shape;766;p1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7" name="Google Shape;767;p1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768" name="Google Shape;768;p1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772" name="Shape 772"/>
        <p:cNvGrpSpPr/>
        <p:nvPr/>
      </p:nvGrpSpPr>
      <p:grpSpPr>
        <a:xfrm>
          <a:off x="0" y="0"/>
          <a:ext cx="0" cy="0"/>
          <a:chOff x="0" y="0"/>
          <a:chExt cx="0" cy="0"/>
        </a:xfrm>
      </p:grpSpPr>
      <p:sp>
        <p:nvSpPr>
          <p:cNvPr id="773" name="Google Shape;773;p1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4" name="Google Shape;774;p1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5" name="Google Shape;775;p1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6" name="Google Shape;776;p1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7" name="Google Shape;777;p1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SUBMISSION PIPELINE CALL COVERAGE</a:t>
            </a:r>
            <a:endParaRPr/>
          </a:p>
        </p:txBody>
      </p:sp>
      <p:sp>
        <p:nvSpPr>
          <p:cNvPr id="778" name="Google Shape;778;p1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All 1,532 Feb DSG Submissions  |  260 Agencies</a:t>
            </a:r>
            <a:endParaRPr/>
          </a:p>
        </p:txBody>
      </p:sp>
      <p:sp>
        <p:nvSpPr>
          <p:cNvPr id="779" name="Google Shape;779;p1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0" name="Google Shape;780;p1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1" name="Google Shape;781;p1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2" name="Google Shape;782;p18"/>
          <p:cNvSpPr txBox="1"/>
          <p:nvPr/>
        </p:nvSpPr>
        <p:spPr>
          <a:xfrm>
            <a:off x="365760" y="1298448"/>
            <a:ext cx="11430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6B5F83"/>
                </a:solidFill>
                <a:latin typeface="Quattrocento Sans"/>
                <a:ea typeface="Quattrocento Sans"/>
                <a:cs typeface="Quattrocento Sans"/>
                <a:sym typeface="Quattrocento Sans"/>
              </a:rPr>
              <a:t>HubSpot outbound calls (Jan–Mar 2026) cross-referenced with assigned BDM/BDA for every agency that submitted DSG business in February.</a:t>
            </a:r>
            <a:endParaRPr/>
          </a:p>
        </p:txBody>
      </p:sp>
      <p:sp>
        <p:nvSpPr>
          <p:cNvPr id="783" name="Google Shape;783;p18"/>
          <p:cNvSpPr/>
          <p:nvPr/>
        </p:nvSpPr>
        <p:spPr>
          <a:xfrm>
            <a:off x="18288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4" name="Google Shape;784;p18"/>
          <p:cNvSpPr/>
          <p:nvPr/>
        </p:nvSpPr>
        <p:spPr>
          <a:xfrm>
            <a:off x="182880" y="1572768"/>
            <a:ext cx="224028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5" name="Google Shape;785;p18"/>
          <p:cNvSpPr txBox="1"/>
          <p:nvPr/>
        </p:nvSpPr>
        <p:spPr>
          <a:xfrm>
            <a:off x="29260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7C3AED"/>
                </a:solidFill>
                <a:latin typeface="Quattrocento Sans"/>
                <a:ea typeface="Quattrocento Sans"/>
                <a:cs typeface="Quattrocento Sans"/>
                <a:sym typeface="Quattrocento Sans"/>
              </a:rPr>
              <a:t>1,439</a:t>
            </a:r>
            <a:endParaRPr/>
          </a:p>
        </p:txBody>
      </p:sp>
      <p:sp>
        <p:nvSpPr>
          <p:cNvPr id="786" name="Google Shape;786;p18"/>
          <p:cNvSpPr txBox="1"/>
          <p:nvPr/>
        </p:nvSpPr>
        <p:spPr>
          <a:xfrm>
            <a:off x="109728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Feb DSG</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Submissions</a:t>
            </a:r>
            <a:endParaRPr/>
          </a:p>
        </p:txBody>
      </p:sp>
      <p:sp>
        <p:nvSpPr>
          <p:cNvPr id="787" name="Google Shape;787;p18"/>
          <p:cNvSpPr txBox="1"/>
          <p:nvPr/>
        </p:nvSpPr>
        <p:spPr>
          <a:xfrm>
            <a:off x="29260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246 unique agencies</a:t>
            </a:r>
            <a:endParaRPr/>
          </a:p>
        </p:txBody>
      </p:sp>
      <p:sp>
        <p:nvSpPr>
          <p:cNvPr id="788" name="Google Shape;788;p18"/>
          <p:cNvSpPr/>
          <p:nvPr/>
        </p:nvSpPr>
        <p:spPr>
          <a:xfrm>
            <a:off x="256032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9" name="Google Shape;789;p18"/>
          <p:cNvSpPr/>
          <p:nvPr/>
        </p:nvSpPr>
        <p:spPr>
          <a:xfrm>
            <a:off x="2560320" y="1572768"/>
            <a:ext cx="224028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0" name="Google Shape;790;p18"/>
          <p:cNvSpPr txBox="1"/>
          <p:nvPr/>
        </p:nvSpPr>
        <p:spPr>
          <a:xfrm>
            <a:off x="267004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EF4444"/>
                </a:solidFill>
                <a:latin typeface="Quattrocento Sans"/>
                <a:ea typeface="Quattrocento Sans"/>
                <a:cs typeface="Quattrocento Sans"/>
                <a:sym typeface="Quattrocento Sans"/>
              </a:rPr>
              <a:t>75%</a:t>
            </a:r>
            <a:endParaRPr/>
          </a:p>
        </p:txBody>
      </p:sp>
      <p:sp>
        <p:nvSpPr>
          <p:cNvPr id="791" name="Google Shape;791;p18"/>
          <p:cNvSpPr txBox="1"/>
          <p:nvPr/>
        </p:nvSpPr>
        <p:spPr>
          <a:xfrm>
            <a:off x="347472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Agencies w/</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No Calls At All</a:t>
            </a:r>
            <a:endParaRPr/>
          </a:p>
        </p:txBody>
      </p:sp>
      <p:sp>
        <p:nvSpPr>
          <p:cNvPr id="792" name="Google Shape;792;p18"/>
          <p:cNvSpPr txBox="1"/>
          <p:nvPr/>
        </p:nvSpPr>
        <p:spPr>
          <a:xfrm>
            <a:off x="267004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186 of 246 agencies</a:t>
            </a:r>
            <a:endParaRPr/>
          </a:p>
        </p:txBody>
      </p:sp>
      <p:sp>
        <p:nvSpPr>
          <p:cNvPr id="793" name="Google Shape;793;p18"/>
          <p:cNvSpPr/>
          <p:nvPr/>
        </p:nvSpPr>
        <p:spPr>
          <a:xfrm>
            <a:off x="493776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4" name="Google Shape;794;p18"/>
          <p:cNvSpPr/>
          <p:nvPr/>
        </p:nvSpPr>
        <p:spPr>
          <a:xfrm>
            <a:off x="4937760" y="1572768"/>
            <a:ext cx="224028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5" name="Google Shape;795;p18"/>
          <p:cNvSpPr txBox="1"/>
          <p:nvPr/>
        </p:nvSpPr>
        <p:spPr>
          <a:xfrm>
            <a:off x="504748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EF4444"/>
                </a:solidFill>
                <a:latin typeface="Quattrocento Sans"/>
                <a:ea typeface="Quattrocento Sans"/>
                <a:cs typeface="Quattrocento Sans"/>
                <a:sym typeface="Quattrocento Sans"/>
              </a:rPr>
              <a:t>84%</a:t>
            </a:r>
            <a:endParaRPr/>
          </a:p>
        </p:txBody>
      </p:sp>
      <p:sp>
        <p:nvSpPr>
          <p:cNvPr id="796" name="Google Shape;796;p18"/>
          <p:cNvSpPr txBox="1"/>
          <p:nvPr/>
        </p:nvSpPr>
        <p:spPr>
          <a:xfrm>
            <a:off x="585216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Submissions at</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Uncalled Agencies</a:t>
            </a:r>
            <a:endParaRPr/>
          </a:p>
        </p:txBody>
      </p:sp>
      <p:sp>
        <p:nvSpPr>
          <p:cNvPr id="797" name="Google Shape;797;p18"/>
          <p:cNvSpPr txBox="1"/>
          <p:nvPr/>
        </p:nvSpPr>
        <p:spPr>
          <a:xfrm>
            <a:off x="504748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1,212 of 1,439 subs</a:t>
            </a:r>
            <a:endParaRPr/>
          </a:p>
        </p:txBody>
      </p:sp>
      <p:sp>
        <p:nvSpPr>
          <p:cNvPr id="798" name="Google Shape;798;p18"/>
          <p:cNvSpPr/>
          <p:nvPr/>
        </p:nvSpPr>
        <p:spPr>
          <a:xfrm>
            <a:off x="731520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9" name="Google Shape;799;p18"/>
          <p:cNvSpPr/>
          <p:nvPr/>
        </p:nvSpPr>
        <p:spPr>
          <a:xfrm>
            <a:off x="7315200" y="1572768"/>
            <a:ext cx="224028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0" name="Google Shape;800;p18"/>
          <p:cNvSpPr txBox="1"/>
          <p:nvPr/>
        </p:nvSpPr>
        <p:spPr>
          <a:xfrm>
            <a:off x="742492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59E0B"/>
                </a:solidFill>
                <a:latin typeface="Quattrocento Sans"/>
                <a:ea typeface="Quattrocento Sans"/>
                <a:cs typeface="Quattrocento Sans"/>
                <a:sym typeface="Quattrocento Sans"/>
              </a:rPr>
              <a:t>10%</a:t>
            </a:r>
            <a:endParaRPr/>
          </a:p>
        </p:txBody>
      </p:sp>
      <p:sp>
        <p:nvSpPr>
          <p:cNvPr id="801" name="Google Shape;801;p18"/>
          <p:cNvSpPr txBox="1"/>
          <p:nvPr/>
        </p:nvSpPr>
        <p:spPr>
          <a:xfrm>
            <a:off x="822960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Assigned Rep</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Actually Called</a:t>
            </a:r>
            <a:endParaRPr/>
          </a:p>
        </p:txBody>
      </p:sp>
      <p:sp>
        <p:nvSpPr>
          <p:cNvPr id="802" name="Google Shape;802;p18"/>
          <p:cNvSpPr txBox="1"/>
          <p:nvPr/>
        </p:nvSpPr>
        <p:spPr>
          <a:xfrm>
            <a:off x="742492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27 of 246 agencies</a:t>
            </a:r>
            <a:endParaRPr/>
          </a:p>
        </p:txBody>
      </p:sp>
      <p:sp>
        <p:nvSpPr>
          <p:cNvPr id="803" name="Google Shape;803;p18"/>
          <p:cNvSpPr/>
          <p:nvPr/>
        </p:nvSpPr>
        <p:spPr>
          <a:xfrm>
            <a:off x="969264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4" name="Google Shape;804;p18"/>
          <p:cNvSpPr/>
          <p:nvPr/>
        </p:nvSpPr>
        <p:spPr>
          <a:xfrm>
            <a:off x="9692640" y="1572768"/>
            <a:ext cx="224028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5" name="Google Shape;805;p18"/>
          <p:cNvSpPr txBox="1"/>
          <p:nvPr/>
        </p:nvSpPr>
        <p:spPr>
          <a:xfrm>
            <a:off x="980236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59E0B"/>
                </a:solidFill>
                <a:latin typeface="Quattrocento Sans"/>
                <a:ea typeface="Quattrocento Sans"/>
                <a:cs typeface="Quattrocento Sans"/>
                <a:sym typeface="Quattrocento Sans"/>
              </a:rPr>
              <a:t>6%</a:t>
            </a:r>
            <a:endParaRPr/>
          </a:p>
        </p:txBody>
      </p:sp>
      <p:sp>
        <p:nvSpPr>
          <p:cNvPr id="806" name="Google Shape;806;p18"/>
          <p:cNvSpPr txBox="1"/>
          <p:nvPr/>
        </p:nvSpPr>
        <p:spPr>
          <a:xfrm>
            <a:off x="1060704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Subs Where Rep</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Called Agency</a:t>
            </a:r>
            <a:endParaRPr/>
          </a:p>
        </p:txBody>
      </p:sp>
      <p:sp>
        <p:nvSpPr>
          <p:cNvPr id="807" name="Google Shape;807;p18"/>
          <p:cNvSpPr txBox="1"/>
          <p:nvPr/>
        </p:nvSpPr>
        <p:spPr>
          <a:xfrm>
            <a:off x="980236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89 of 1,439 subs</a:t>
            </a:r>
            <a:endParaRPr/>
          </a:p>
        </p:txBody>
      </p:sp>
      <p:sp>
        <p:nvSpPr>
          <p:cNvPr id="808" name="Google Shape;808;p18"/>
          <p:cNvSpPr txBox="1"/>
          <p:nvPr/>
        </p:nvSpPr>
        <p:spPr>
          <a:xfrm>
            <a:off x="274320" y="2487168"/>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5B21B6"/>
                </a:solidFill>
                <a:latin typeface="Quattrocento Sans"/>
                <a:ea typeface="Quattrocento Sans"/>
                <a:cs typeface="Quattrocento Sans"/>
                <a:sym typeface="Quattrocento Sans"/>
              </a:rPr>
              <a:t>BDM EXECUTION ON ASSIGNED AGENCIES</a:t>
            </a:r>
            <a:endParaRPr/>
          </a:p>
        </p:txBody>
      </p:sp>
      <p:sp>
        <p:nvSpPr>
          <p:cNvPr id="809" name="Google Shape;809;p18"/>
          <p:cNvSpPr/>
          <p:nvPr/>
        </p:nvSpPr>
        <p:spPr>
          <a:xfrm>
            <a:off x="274320" y="2697480"/>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10" name="Google Shape;810;p18"/>
          <p:cNvGraphicFramePr/>
          <p:nvPr/>
        </p:nvGraphicFramePr>
        <p:xfrm>
          <a:off x="274320" y="2788920"/>
          <a:ext cx="3000000" cy="3000000"/>
        </p:xfrm>
        <a:graphic>
          <a:graphicData uri="http://schemas.openxmlformats.org/drawingml/2006/table">
            <a:tbl>
              <a:tblPr>
                <a:noFill/>
                <a:tableStyleId>{D82A8721-ECEF-4CED-8E2A-D61C263BF4EF}</a:tableStyleId>
              </a:tblPr>
              <a:tblGrid>
                <a:gridCol w="1554475"/>
                <a:gridCol w="822950"/>
                <a:gridCol w="731525"/>
                <a:gridCol w="640075"/>
                <a:gridCol w="731525"/>
              </a:tblGrid>
              <a:tr h="2011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Christina Moldenhauer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Kevin McKernan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D946E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987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11" name="Google Shape;811;p18"/>
          <p:cNvSpPr txBox="1"/>
          <p:nvPr/>
        </p:nvSpPr>
        <p:spPr>
          <a:xfrm>
            <a:off x="6217920" y="2487168"/>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5B21B6"/>
                </a:solidFill>
                <a:latin typeface="Quattrocento Sans"/>
                <a:ea typeface="Quattrocento Sans"/>
                <a:cs typeface="Quattrocento Sans"/>
                <a:sym typeface="Quattrocento Sans"/>
              </a:rPr>
              <a:t>BDA EXECUTION ON ASSIGNED AGENCIES</a:t>
            </a:r>
            <a:endParaRPr/>
          </a:p>
        </p:txBody>
      </p:sp>
      <p:sp>
        <p:nvSpPr>
          <p:cNvPr id="812" name="Google Shape;812;p18"/>
          <p:cNvSpPr/>
          <p:nvPr/>
        </p:nvSpPr>
        <p:spPr>
          <a:xfrm>
            <a:off x="6217920" y="2697480"/>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13" name="Google Shape;813;p18"/>
          <p:cNvGraphicFramePr/>
          <p:nvPr/>
        </p:nvGraphicFramePr>
        <p:xfrm>
          <a:off x="6217920" y="2788920"/>
          <a:ext cx="3000000" cy="3000000"/>
        </p:xfrm>
        <a:graphic>
          <a:graphicData uri="http://schemas.openxmlformats.org/drawingml/2006/table">
            <a:tbl>
              <a:tblPr>
                <a:noFill/>
                <a:tableStyleId>{D82A8721-ECEF-4CED-8E2A-D61C263BF4EF}</a:tableStyleId>
              </a:tblPr>
              <a:tblGrid>
                <a:gridCol w="1554475"/>
                <a:gridCol w="822950"/>
                <a:gridCol w="731525"/>
                <a:gridCol w="640075"/>
                <a:gridCol w="731525"/>
              </a:tblGrid>
              <a:tr h="2011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63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262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Westy McLaughlin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D946E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14" name="Google Shape;814;p18"/>
          <p:cNvSpPr/>
          <p:nvPr/>
        </p:nvSpPr>
        <p:spPr>
          <a:xfrm>
            <a:off x="274320" y="4754880"/>
            <a:ext cx="5669280" cy="15544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5" name="Google Shape;815;p18"/>
          <p:cNvSpPr/>
          <p:nvPr/>
        </p:nvSpPr>
        <p:spPr>
          <a:xfrm>
            <a:off x="274320" y="4754880"/>
            <a:ext cx="64008" cy="15544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6" name="Google Shape;816;p18"/>
          <p:cNvSpPr txBox="1"/>
          <p:nvPr/>
        </p:nvSpPr>
        <p:spPr>
          <a:xfrm>
            <a:off x="457200" y="4828032"/>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PROBLEM 1: ZERO-COVERAGE AGENCIES</a:t>
            </a:r>
            <a:endParaRPr/>
          </a:p>
        </p:txBody>
      </p:sp>
      <p:sp>
        <p:nvSpPr>
          <p:cNvPr id="817" name="Google Shape;817;p18"/>
          <p:cNvSpPr txBox="1"/>
          <p:nvPr/>
        </p:nvSpPr>
        <p:spPr>
          <a:xfrm>
            <a:off x="457200" y="5047488"/>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42% of agencies (110/260) have no assigned BDM or BDA</a:t>
            </a:r>
            <a:endParaRPr/>
          </a:p>
        </p:txBody>
      </p:sp>
      <p:sp>
        <p:nvSpPr>
          <p:cNvPr id="818" name="Google Shape;818;p18"/>
          <p:cNvSpPr txBox="1"/>
          <p:nvPr/>
        </p:nvSpPr>
        <p:spPr>
          <a:xfrm>
            <a:off x="457200" y="5193792"/>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829 submissions (54%) sit at agencies with zero rep coverage</a:t>
            </a:r>
            <a:endParaRPr/>
          </a:p>
        </p:txBody>
      </p:sp>
      <p:sp>
        <p:nvSpPr>
          <p:cNvPr id="819" name="Google Shape;819;p18"/>
          <p:cNvSpPr txBox="1"/>
          <p:nvPr/>
        </p:nvSpPr>
        <p:spPr>
          <a:xfrm>
            <a:off x="457200" y="5340096"/>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  Cover Badger alone: 384 subs (25% of all Feb volume) — fully unassigned</a:t>
            </a:r>
            <a:endParaRPr/>
          </a:p>
        </p:txBody>
      </p:sp>
      <p:sp>
        <p:nvSpPr>
          <p:cNvPr id="820" name="Google Shape;820;p18"/>
          <p:cNvSpPr txBox="1"/>
          <p:nvPr/>
        </p:nvSpPr>
        <p:spPr>
          <a:xfrm>
            <a:off x="457200" y="548640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10B981"/>
                </a:solidFill>
                <a:latin typeface="Quattrocento Sans"/>
                <a:ea typeface="Quattrocento Sans"/>
                <a:cs typeface="Quattrocento Sans"/>
                <a:sym typeface="Quattrocento Sans"/>
              </a:rPr>
              <a:t>•  150 agencies have partial coverage (BDM or BDA only) — acceptable</a:t>
            </a:r>
            <a:endParaRPr/>
          </a:p>
        </p:txBody>
      </p:sp>
      <p:sp>
        <p:nvSpPr>
          <p:cNvPr id="821" name="Google Shape;821;p18"/>
          <p:cNvSpPr txBox="1"/>
          <p:nvPr/>
        </p:nvSpPr>
        <p:spPr>
          <a:xfrm>
            <a:off x="457200" y="566928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6B5F83"/>
                </a:solidFill>
                <a:latin typeface="Quattrocento Sans"/>
                <a:ea typeface="Quattrocento Sans"/>
                <a:cs typeface="Quattrocento Sans"/>
                <a:sym typeface="Quattrocento Sans"/>
              </a:rPr>
              <a:t>•  Note: Having only a BDM or only a BDA counts as covered</a:t>
            </a:r>
            <a:endParaRPr/>
          </a:p>
        </p:txBody>
      </p:sp>
      <p:sp>
        <p:nvSpPr>
          <p:cNvPr id="822" name="Google Shape;822;p18"/>
          <p:cNvSpPr/>
          <p:nvPr/>
        </p:nvSpPr>
        <p:spPr>
          <a:xfrm>
            <a:off x="6217920" y="4754880"/>
            <a:ext cx="5669280" cy="15544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3" name="Google Shape;823;p18"/>
          <p:cNvSpPr/>
          <p:nvPr/>
        </p:nvSpPr>
        <p:spPr>
          <a:xfrm>
            <a:off x="6217920" y="4754880"/>
            <a:ext cx="64008" cy="15544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4" name="Google Shape;824;p18"/>
          <p:cNvSpPr txBox="1"/>
          <p:nvPr/>
        </p:nvSpPr>
        <p:spPr>
          <a:xfrm>
            <a:off x="6400800" y="4828032"/>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PROBLEM 2: EXECUTION GAP</a:t>
            </a:r>
            <a:endParaRPr/>
          </a:p>
        </p:txBody>
      </p:sp>
      <p:sp>
        <p:nvSpPr>
          <p:cNvPr id="825" name="Google Shape;825;p18"/>
          <p:cNvSpPr txBox="1"/>
          <p:nvPr/>
        </p:nvSpPr>
        <p:spPr>
          <a:xfrm>
            <a:off x="6400800" y="5047488"/>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Even when assigned, BDMs call only 10–25% of agencies</a:t>
            </a:r>
            <a:endParaRPr/>
          </a:p>
        </p:txBody>
      </p:sp>
      <p:sp>
        <p:nvSpPr>
          <p:cNvPr id="826" name="Google Shape;826;p18"/>
          <p:cNvSpPr txBox="1"/>
          <p:nvPr/>
        </p:nvSpPr>
        <p:spPr>
          <a:xfrm>
            <a:off x="6400800" y="5193792"/>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Even when assigned, BDAs call only 10–24% of agencies</a:t>
            </a:r>
            <a:endParaRPr/>
          </a:p>
        </p:txBody>
      </p:sp>
      <p:sp>
        <p:nvSpPr>
          <p:cNvPr id="827" name="Google Shape;827;p18"/>
          <p:cNvSpPr txBox="1"/>
          <p:nvPr/>
        </p:nvSpPr>
        <p:spPr>
          <a:xfrm>
            <a:off x="6400800" y="5340096"/>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James Reid: 17 agencies, 0 called (111 subs untouched)</a:t>
            </a:r>
            <a:endParaRPr/>
          </a:p>
        </p:txBody>
      </p:sp>
      <p:sp>
        <p:nvSpPr>
          <p:cNvPr id="828" name="Google Shape;828;p18"/>
          <p:cNvSpPr txBox="1"/>
          <p:nvPr/>
        </p:nvSpPr>
        <p:spPr>
          <a:xfrm>
            <a:off x="6400800" y="548640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Antonio Reyes: 10 agencies, 1 called (48 subs, 10%)</a:t>
            </a:r>
            <a:endParaRPr/>
          </a:p>
        </p:txBody>
      </p:sp>
      <p:sp>
        <p:nvSpPr>
          <p:cNvPr id="829" name="Google Shape;829;p18"/>
          <p:cNvSpPr txBox="1"/>
          <p:nvPr/>
        </p:nvSpPr>
        <p:spPr>
          <a:xfrm>
            <a:off x="6400800" y="566928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  Best: Derrick Leroy 75% (4 agencies) &amp; Cameron Brader 24% (29 agencies)</a:t>
            </a:r>
            <a:endParaRPr/>
          </a:p>
        </p:txBody>
      </p:sp>
      <p:sp>
        <p:nvSpPr>
          <p:cNvPr id="830" name="Google Shape;830;p1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1" name="Google Shape;831;p1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32" name="Google Shape;832;p1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836" name="Shape 836"/>
        <p:cNvGrpSpPr/>
        <p:nvPr/>
      </p:nvGrpSpPr>
      <p:grpSpPr>
        <a:xfrm>
          <a:off x="0" y="0"/>
          <a:ext cx="0" cy="0"/>
          <a:chOff x="0" y="0"/>
          <a:chExt cx="0" cy="0"/>
        </a:xfrm>
      </p:grpSpPr>
      <p:sp>
        <p:nvSpPr>
          <p:cNvPr id="837" name="Google Shape;837;p1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8" name="Google Shape;838;p1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9" name="Google Shape;839;p1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0" name="Google Shape;840;p1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1" name="Google Shape;841;p1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AGENCY GAPS &amp; SUCCESS STORIES</a:t>
            </a:r>
            <a:endParaRPr/>
          </a:p>
        </p:txBody>
      </p:sp>
      <p:sp>
        <p:nvSpPr>
          <p:cNvPr id="842" name="Google Shape;842;p1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Where Assigned Reps Missed vs Delivered  |  Feb DSG Submissions</a:t>
            </a:r>
            <a:endParaRPr/>
          </a:p>
        </p:txBody>
      </p:sp>
      <p:sp>
        <p:nvSpPr>
          <p:cNvPr id="843" name="Google Shape;843;p1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4" name="Google Shape;844;p1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5" name="Google Shape;845;p1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6" name="Google Shape;846;p19"/>
          <p:cNvSpPr txBox="1"/>
          <p:nvPr/>
        </p:nvSpPr>
        <p:spPr>
          <a:xfrm>
            <a:off x="274320" y="1298448"/>
            <a:ext cx="7315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EF4444"/>
                </a:solidFill>
                <a:latin typeface="Quattrocento Sans"/>
                <a:ea typeface="Quattrocento Sans"/>
                <a:cs typeface="Quattrocento Sans"/>
                <a:sym typeface="Quattrocento Sans"/>
              </a:rPr>
              <a:t>TOP 15 AGENCIES — ASSIGNED REP NEVER CALLED (by submission volume)</a:t>
            </a:r>
            <a:endParaRPr/>
          </a:p>
        </p:txBody>
      </p:sp>
      <p:sp>
        <p:nvSpPr>
          <p:cNvPr id="847" name="Google Shape;847;p19"/>
          <p:cNvSpPr/>
          <p:nvPr/>
        </p:nvSpPr>
        <p:spPr>
          <a:xfrm>
            <a:off x="274320" y="1508760"/>
            <a:ext cx="1828800" cy="2286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48" name="Google Shape;848;p19"/>
          <p:cNvGraphicFramePr/>
          <p:nvPr/>
        </p:nvGraphicFramePr>
        <p:xfrm>
          <a:off x="182880" y="1600200"/>
          <a:ext cx="3000000" cy="3000000"/>
        </p:xfrm>
        <a:graphic>
          <a:graphicData uri="http://schemas.openxmlformats.org/drawingml/2006/table">
            <a:tbl>
              <a:tblPr>
                <a:noFill/>
                <a:tableStyleId>{D82A8721-ECEF-4CED-8E2A-D61C263BF4EF}</a:tableStyleId>
              </a:tblPr>
              <a:tblGrid>
                <a:gridCol w="1920250"/>
                <a:gridCol w="548650"/>
                <a:gridCol w="1371600"/>
                <a:gridCol w="1371600"/>
                <a:gridCol w="2560325"/>
                <a:gridCol w="1645925"/>
              </a:tblGrid>
              <a:tr h="1828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Status Breakdown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Who 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247, Declined: 112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Fino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35, Declined: 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51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26, Declined: 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Storrs Insurance Group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22, Declined: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United Advantage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19, Declined: 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Justin Robert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24, Submitted: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15, Quoted: 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R-T Specialty,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21, Quoted: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12, Declined: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7C3AED"/>
                          </a:solidFill>
                          <a:latin typeface="Quattrocento Sans"/>
                          <a:ea typeface="Quattrocento Sans"/>
                          <a:cs typeface="Quattrocento Sans"/>
                          <a:sym typeface="Quattrocento Sans"/>
                        </a:rPr>
                        <a:t>C.Hayes, L.Madlock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American Fleet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12, Quoted: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Reliance Partners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14, Quoted: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Rodriguez Ins.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11, Quoted: 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Horizons Ins. &amp;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15, Declined: 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USA Specialty / Preventty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7, Declined: 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All Lines / Valley Truck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8, Quoted: 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49" name="Google Shape;849;p19"/>
          <p:cNvSpPr txBox="1"/>
          <p:nvPr/>
        </p:nvSpPr>
        <p:spPr>
          <a:xfrm>
            <a:off x="274320" y="4572000"/>
            <a:ext cx="7315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SUCCESS STORIES — AGENCIES WHERE ASSIGNED REP CALLED (top by volume)</a:t>
            </a:r>
            <a:endParaRPr/>
          </a:p>
        </p:txBody>
      </p:sp>
      <p:sp>
        <p:nvSpPr>
          <p:cNvPr id="850" name="Google Shape;850;p19"/>
          <p:cNvSpPr/>
          <p:nvPr/>
        </p:nvSpPr>
        <p:spPr>
          <a:xfrm>
            <a:off x="274320" y="4782312"/>
            <a:ext cx="1828800" cy="2286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51" name="Google Shape;851;p19"/>
          <p:cNvGraphicFramePr/>
          <p:nvPr/>
        </p:nvGraphicFramePr>
        <p:xfrm>
          <a:off x="182880" y="4864608"/>
          <a:ext cx="3000000" cy="3000000"/>
        </p:xfrm>
        <a:graphic>
          <a:graphicData uri="http://schemas.openxmlformats.org/drawingml/2006/table">
            <a:tbl>
              <a:tblPr>
                <a:noFill/>
                <a:tableStyleId>{D82A8721-ECEF-4CED-8E2A-D61C263BF4EF}</a:tableStyleId>
              </a:tblPr>
              <a:tblGrid>
                <a:gridCol w="2103125"/>
                <a:gridCol w="548650"/>
                <a:gridCol w="2743200"/>
                <a:gridCol w="2743200"/>
              </a:tblGrid>
              <a:tr h="17372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Rep Who 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Status Breakdown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VL 17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Derrick Leroy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7, Declined: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Danaco Group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Latoya Madlock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5, Declined: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Valion Security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Ron Douglas (BDM, 4x)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3, NTU: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PCF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Derek Janssen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3, Declined: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925 Partners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Ron Douglas + Cameron B</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 Quoted: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Cascade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Derek J + Dominic 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 Quoted: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Shamrock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Derrick L + Latoya 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Sub: 1, Dec: 1, Quot: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Dominic Purkett (BDA, 2x)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Bound: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52" name="Google Shape;852;p19"/>
          <p:cNvSpPr/>
          <p:nvPr/>
        </p:nvSpPr>
        <p:spPr>
          <a:xfrm>
            <a:off x="274320" y="6291072"/>
            <a:ext cx="11430000" cy="182880"/>
          </a:xfrm>
          <a:prstGeom prst="roundRect">
            <a:avLst>
              <a:gd fmla="val 6000" name="adj"/>
            </a:avLst>
          </a:prstGeom>
          <a:solidFill>
            <a:srgbClr val="EDE9FE"/>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3" name="Google Shape;853;p19"/>
          <p:cNvSpPr txBox="1"/>
          <p:nvPr/>
        </p:nvSpPr>
        <p:spPr>
          <a:xfrm>
            <a:off x="457200" y="6281928"/>
            <a:ext cx="10972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Only 27 of 246 agencies (10%) received a call from their assigned BDM or BDA  |  Top 15 missed agencies above represent 843 submissions (59% of all Feb volume)</a:t>
            </a:r>
            <a:endParaRPr/>
          </a:p>
        </p:txBody>
      </p:sp>
      <p:sp>
        <p:nvSpPr>
          <p:cNvPr id="854" name="Google Shape;854;p1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5" name="Google Shape;855;p1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56" name="Google Shape;856;p1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860" name="Shape 860"/>
        <p:cNvGrpSpPr/>
        <p:nvPr/>
      </p:nvGrpSpPr>
      <p:grpSpPr>
        <a:xfrm>
          <a:off x="0" y="0"/>
          <a:ext cx="0" cy="0"/>
          <a:chOff x="0" y="0"/>
          <a:chExt cx="0" cy="0"/>
        </a:xfrm>
      </p:grpSpPr>
      <p:sp>
        <p:nvSpPr>
          <p:cNvPr id="861" name="Google Shape;861;p2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2" name="Google Shape;862;p2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3" name="Google Shape;863;p2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4" name="Google Shape;864;p2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5" name="Google Shape;865;p2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STATE EXPANSION</a:t>
            </a:r>
            <a:endParaRPr/>
          </a:p>
        </p:txBody>
      </p:sp>
      <p:sp>
        <p:nvSpPr>
          <p:cNvPr id="866" name="Google Shape;866;p2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10 → 32 States  |  2026 YTD</a:t>
            </a:r>
            <a:endParaRPr/>
          </a:p>
        </p:txBody>
      </p:sp>
      <p:sp>
        <p:nvSpPr>
          <p:cNvPr id="867" name="Google Shape;867;p2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8" name="Google Shape;868;p2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9" name="Google Shape;869;p2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0" name="Google Shape;870;p20"/>
          <p:cNvSpPr/>
          <p:nvPr/>
        </p:nvSpPr>
        <p:spPr>
          <a:xfrm>
            <a:off x="44942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1" name="Google Shape;871;p20"/>
          <p:cNvSpPr/>
          <p:nvPr/>
        </p:nvSpPr>
        <p:spPr>
          <a:xfrm>
            <a:off x="449427" y="137160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2" name="Google Shape;872;p20"/>
          <p:cNvSpPr txBox="1"/>
          <p:nvPr/>
        </p:nvSpPr>
        <p:spPr>
          <a:xfrm>
            <a:off x="58658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YTD SUBMISSIONS</a:t>
            </a:r>
            <a:endParaRPr/>
          </a:p>
        </p:txBody>
      </p:sp>
      <p:sp>
        <p:nvSpPr>
          <p:cNvPr id="873" name="Google Shape;873;p20"/>
          <p:cNvSpPr txBox="1"/>
          <p:nvPr/>
        </p:nvSpPr>
        <p:spPr>
          <a:xfrm>
            <a:off x="58658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7C3AED"/>
                </a:solidFill>
                <a:latin typeface="Quattrocento Sans"/>
                <a:ea typeface="Quattrocento Sans"/>
                <a:cs typeface="Quattrocento Sans"/>
                <a:sym typeface="Quattrocento Sans"/>
              </a:rPr>
              <a:t>2,000</a:t>
            </a:r>
            <a:endParaRPr/>
          </a:p>
        </p:txBody>
      </p:sp>
      <p:sp>
        <p:nvSpPr>
          <p:cNvPr id="874" name="Google Shape;874;p20"/>
          <p:cNvSpPr txBox="1"/>
          <p:nvPr/>
        </p:nvSpPr>
        <p:spPr>
          <a:xfrm>
            <a:off x="58658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across 42 states</a:t>
            </a:r>
            <a:endParaRPr/>
          </a:p>
        </p:txBody>
      </p:sp>
      <p:sp>
        <p:nvSpPr>
          <p:cNvPr id="875" name="Google Shape;875;p20"/>
          <p:cNvSpPr/>
          <p:nvPr/>
        </p:nvSpPr>
        <p:spPr>
          <a:xfrm>
            <a:off x="332978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6" name="Google Shape;876;p20"/>
          <p:cNvSpPr/>
          <p:nvPr/>
        </p:nvSpPr>
        <p:spPr>
          <a:xfrm>
            <a:off x="3329787" y="137160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7" name="Google Shape;877;p20"/>
          <p:cNvSpPr txBox="1"/>
          <p:nvPr/>
        </p:nvSpPr>
        <p:spPr>
          <a:xfrm>
            <a:off x="346694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EXPANSION SUBS</a:t>
            </a:r>
            <a:endParaRPr/>
          </a:p>
        </p:txBody>
      </p:sp>
      <p:sp>
        <p:nvSpPr>
          <p:cNvPr id="878" name="Google Shape;878;p20"/>
          <p:cNvSpPr txBox="1"/>
          <p:nvPr/>
        </p:nvSpPr>
        <p:spPr>
          <a:xfrm>
            <a:off x="346694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8B5CF6"/>
                </a:solidFill>
                <a:latin typeface="Quattrocento Sans"/>
                <a:ea typeface="Quattrocento Sans"/>
                <a:cs typeface="Quattrocento Sans"/>
                <a:sym typeface="Quattrocento Sans"/>
              </a:rPr>
              <a:t>185</a:t>
            </a:r>
            <a:endParaRPr/>
          </a:p>
        </p:txBody>
      </p:sp>
      <p:sp>
        <p:nvSpPr>
          <p:cNvPr id="879" name="Google Shape;879;p20"/>
          <p:cNvSpPr txBox="1"/>
          <p:nvPr/>
        </p:nvSpPr>
        <p:spPr>
          <a:xfrm>
            <a:off x="346694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 of 22 states active</a:t>
            </a:r>
            <a:endParaRPr/>
          </a:p>
        </p:txBody>
      </p:sp>
      <p:sp>
        <p:nvSpPr>
          <p:cNvPr id="880" name="Google Shape;880;p20"/>
          <p:cNvSpPr/>
          <p:nvPr/>
        </p:nvSpPr>
        <p:spPr>
          <a:xfrm>
            <a:off x="621014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1" name="Google Shape;881;p20"/>
          <p:cNvSpPr/>
          <p:nvPr/>
        </p:nvSpPr>
        <p:spPr>
          <a:xfrm>
            <a:off x="6210147" y="137160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2" name="Google Shape;882;p20"/>
          <p:cNvSpPr txBox="1"/>
          <p:nvPr/>
        </p:nvSpPr>
        <p:spPr>
          <a:xfrm>
            <a:off x="634730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YTD BOUND PREM</a:t>
            </a:r>
            <a:endParaRPr/>
          </a:p>
        </p:txBody>
      </p:sp>
      <p:sp>
        <p:nvSpPr>
          <p:cNvPr id="883" name="Google Shape;883;p20"/>
          <p:cNvSpPr txBox="1"/>
          <p:nvPr/>
        </p:nvSpPr>
        <p:spPr>
          <a:xfrm>
            <a:off x="634730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10B981"/>
                </a:solidFill>
                <a:latin typeface="Quattrocento Sans"/>
                <a:ea typeface="Quattrocento Sans"/>
                <a:cs typeface="Quattrocento Sans"/>
                <a:sym typeface="Quattrocento Sans"/>
              </a:rPr>
              <a:t>$5.2M</a:t>
            </a:r>
            <a:endParaRPr/>
          </a:p>
        </p:txBody>
      </p:sp>
      <p:sp>
        <p:nvSpPr>
          <p:cNvPr id="884" name="Google Shape;884;p20"/>
          <p:cNvSpPr txBox="1"/>
          <p:nvPr/>
        </p:nvSpPr>
        <p:spPr>
          <a:xfrm>
            <a:off x="634730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184 policies bound</a:t>
            </a:r>
            <a:endParaRPr/>
          </a:p>
        </p:txBody>
      </p:sp>
      <p:sp>
        <p:nvSpPr>
          <p:cNvPr id="885" name="Google Shape;885;p20"/>
          <p:cNvSpPr/>
          <p:nvPr/>
        </p:nvSpPr>
        <p:spPr>
          <a:xfrm>
            <a:off x="909050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6" name="Google Shape;886;p20"/>
          <p:cNvSpPr/>
          <p:nvPr/>
        </p:nvSpPr>
        <p:spPr>
          <a:xfrm>
            <a:off x="9090507" y="137160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7" name="Google Shape;887;p20"/>
          <p:cNvSpPr txBox="1"/>
          <p:nvPr/>
        </p:nvSpPr>
        <p:spPr>
          <a:xfrm>
            <a:off x="922766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QUOTE RATE</a:t>
            </a:r>
            <a:endParaRPr/>
          </a:p>
        </p:txBody>
      </p:sp>
      <p:sp>
        <p:nvSpPr>
          <p:cNvPr id="888" name="Google Shape;888;p20"/>
          <p:cNvSpPr txBox="1"/>
          <p:nvPr/>
        </p:nvSpPr>
        <p:spPr>
          <a:xfrm>
            <a:off x="922766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10B981"/>
                </a:solidFill>
                <a:latin typeface="Quattrocento Sans"/>
                <a:ea typeface="Quattrocento Sans"/>
                <a:cs typeface="Quattrocento Sans"/>
                <a:sym typeface="Quattrocento Sans"/>
              </a:rPr>
              <a:t>185.4%</a:t>
            </a:r>
            <a:endParaRPr/>
          </a:p>
        </p:txBody>
      </p:sp>
      <p:sp>
        <p:nvSpPr>
          <p:cNvPr id="889" name="Google Shape;889;p20"/>
          <p:cNvSpPr txBox="1"/>
          <p:nvPr/>
        </p:nvSpPr>
        <p:spPr>
          <a:xfrm>
            <a:off x="922766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vs 45.3% program avg</a:t>
            </a:r>
            <a:endParaRPr/>
          </a:p>
        </p:txBody>
      </p:sp>
      <p:sp>
        <p:nvSpPr>
          <p:cNvPr id="890" name="Google Shape;890;p20"/>
          <p:cNvSpPr txBox="1"/>
          <p:nvPr/>
        </p:nvSpPr>
        <p:spPr>
          <a:xfrm>
            <a:off x="457200" y="2697480"/>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D233F"/>
                </a:solidFill>
                <a:latin typeface="Quattrocento Sans"/>
                <a:ea typeface="Quattrocento Sans"/>
                <a:cs typeface="Quattrocento Sans"/>
                <a:sym typeface="Quattrocento Sans"/>
              </a:rPr>
              <a:t>Original 10 States — YTD Subs</a:t>
            </a:r>
            <a:endParaRPr/>
          </a:p>
        </p:txBody>
      </p:sp>
      <p:graphicFrame>
        <p:nvGraphicFramePr>
          <p:cNvPr id="891" name="Google Shape;891;p20"/>
          <p:cNvGraphicFramePr/>
          <p:nvPr/>
        </p:nvGraphicFramePr>
        <p:xfrm>
          <a:off x="457200" y="3063240"/>
          <a:ext cx="3000000" cy="3000000"/>
        </p:xfrm>
        <a:graphic>
          <a:graphicData uri="http://schemas.openxmlformats.org/drawingml/2006/table">
            <a:tbl>
              <a:tblPr>
                <a:noFill/>
                <a:tableStyleId>{D82A8721-ECEF-4CED-8E2A-D61C263BF4EF}</a:tableStyleId>
              </a:tblPr>
              <a:tblGrid>
                <a:gridCol w="1060700"/>
                <a:gridCol w="1060700"/>
                <a:gridCol w="1060700"/>
                <a:gridCol w="1060700"/>
                <a:gridCol w="1060700"/>
              </a:tblGrid>
              <a:tr h="249375">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596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335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146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MO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400">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IL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92" name="Google Shape;892;p20"/>
          <p:cNvSpPr txBox="1"/>
          <p:nvPr/>
        </p:nvSpPr>
        <p:spPr>
          <a:xfrm>
            <a:off x="6217920" y="269748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D233F"/>
                </a:solidFill>
                <a:latin typeface="Quattrocento Sans"/>
                <a:ea typeface="Quattrocento Sans"/>
                <a:cs typeface="Quattrocento Sans"/>
                <a:sym typeface="Quattrocento Sans"/>
              </a:rPr>
              <a:t>Expansion States — YTD Subs (20/22 Active)</a:t>
            </a:r>
            <a:endParaRPr/>
          </a:p>
        </p:txBody>
      </p:sp>
      <p:graphicFrame>
        <p:nvGraphicFramePr>
          <p:cNvPr id="893" name="Google Shape;893;p20"/>
          <p:cNvGraphicFramePr/>
          <p:nvPr/>
        </p:nvGraphicFramePr>
        <p:xfrm>
          <a:off x="6217920" y="3063240"/>
          <a:ext cx="3000000" cy="3000000"/>
        </p:xfrm>
        <a:graphic>
          <a:graphicData uri="http://schemas.openxmlformats.org/drawingml/2006/table">
            <a:tbl>
              <a:tblPr>
                <a:noFill/>
                <a:tableStyleId>{D82A8721-ECEF-4CED-8E2A-D61C263BF4EF}</a:tableStyleId>
              </a:tblPr>
              <a:tblGrid>
                <a:gridCol w="1133850"/>
                <a:gridCol w="1133850"/>
                <a:gridCol w="1133850"/>
                <a:gridCol w="1133850"/>
                <a:gridCol w="1133850"/>
              </a:tblGrid>
              <a:tr h="195950">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DE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94" name="Google Shape;894;p20"/>
          <p:cNvSpPr/>
          <p:nvPr/>
        </p:nvSpPr>
        <p:spPr>
          <a:xfrm>
            <a:off x="457200" y="5943600"/>
            <a:ext cx="114300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5" name="Google Shape;895;p20"/>
          <p:cNvSpPr/>
          <p:nvPr/>
        </p:nvSpPr>
        <p:spPr>
          <a:xfrm>
            <a:off x="457200" y="5943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6" name="Google Shape;896;p20"/>
          <p:cNvSpPr txBox="1"/>
          <p:nvPr/>
        </p:nvSpPr>
        <p:spPr>
          <a:xfrm>
            <a:off x="685800" y="5971032"/>
            <a:ext cx="10972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(7):  IA, ME, NE, OR, RI, SD, WV   |   EXPANSION BINDS: 16 policies (AZ, CO, ID, MN, MS, ND, NE, NH, OK, UT, VA), $252,992</a:t>
            </a:r>
            <a:endParaRPr/>
          </a:p>
        </p:txBody>
      </p:sp>
      <p:sp>
        <p:nvSpPr>
          <p:cNvPr id="897" name="Google Shape;897;p2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8" name="Google Shape;898;p2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99" name="Google Shape;899;p2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903" name="Shape 903"/>
        <p:cNvGrpSpPr/>
        <p:nvPr/>
      </p:nvGrpSpPr>
      <p:grpSpPr>
        <a:xfrm>
          <a:off x="0" y="0"/>
          <a:ext cx="0" cy="0"/>
          <a:chOff x="0" y="0"/>
          <a:chExt cx="0" cy="0"/>
        </a:xfrm>
      </p:grpSpPr>
      <p:sp>
        <p:nvSpPr>
          <p:cNvPr id="904" name="Google Shape;904;p2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5" name="Google Shape;905;p2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6" name="Google Shape;906;p2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7" name="Google Shape;907;p2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8" name="Google Shape;908;p2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EXPANSION STATE PERFORMANCE</a:t>
            </a:r>
            <a:endParaRPr/>
          </a:p>
        </p:txBody>
      </p:sp>
      <p:sp>
        <p:nvSpPr>
          <p:cNvPr id="909" name="Google Shape;909;p2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22 New States  |  2026 YTD Detail</a:t>
            </a:r>
            <a:endParaRPr/>
          </a:p>
        </p:txBody>
      </p:sp>
      <p:sp>
        <p:nvSpPr>
          <p:cNvPr id="910" name="Google Shape;910;p2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1" name="Google Shape;911;p2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2" name="Google Shape;912;p2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3" name="Google Shape;913;p21"/>
          <p:cNvSpPr/>
          <p:nvPr/>
        </p:nvSpPr>
        <p:spPr>
          <a:xfrm>
            <a:off x="44942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4" name="Google Shape;914;p21"/>
          <p:cNvSpPr/>
          <p:nvPr/>
        </p:nvSpPr>
        <p:spPr>
          <a:xfrm>
            <a:off x="449427" y="96012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5" name="Google Shape;915;p21"/>
          <p:cNvSpPr txBox="1"/>
          <p:nvPr/>
        </p:nvSpPr>
        <p:spPr>
          <a:xfrm>
            <a:off x="54086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7C3AED"/>
                </a:solidFill>
                <a:latin typeface="Quattrocento Sans"/>
                <a:ea typeface="Quattrocento Sans"/>
                <a:cs typeface="Quattrocento Sans"/>
                <a:sym typeface="Quattrocento Sans"/>
              </a:rPr>
              <a:t>185</a:t>
            </a:r>
            <a:endParaRPr/>
          </a:p>
        </p:txBody>
      </p:sp>
      <p:sp>
        <p:nvSpPr>
          <p:cNvPr id="916" name="Google Shape;916;p21"/>
          <p:cNvSpPr txBox="1"/>
          <p:nvPr/>
        </p:nvSpPr>
        <p:spPr>
          <a:xfrm>
            <a:off x="54086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Expansion Subs</a:t>
            </a:r>
            <a:endParaRPr/>
          </a:p>
        </p:txBody>
      </p:sp>
      <p:sp>
        <p:nvSpPr>
          <p:cNvPr id="917" name="Google Shape;917;p21"/>
          <p:cNvSpPr txBox="1"/>
          <p:nvPr/>
        </p:nvSpPr>
        <p:spPr>
          <a:xfrm>
            <a:off x="54086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20/22 states active</a:t>
            </a:r>
            <a:endParaRPr/>
          </a:p>
        </p:txBody>
      </p:sp>
      <p:sp>
        <p:nvSpPr>
          <p:cNvPr id="918" name="Google Shape;918;p21"/>
          <p:cNvSpPr/>
          <p:nvPr/>
        </p:nvSpPr>
        <p:spPr>
          <a:xfrm>
            <a:off x="332978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9" name="Google Shape;919;p21"/>
          <p:cNvSpPr/>
          <p:nvPr/>
        </p:nvSpPr>
        <p:spPr>
          <a:xfrm>
            <a:off x="3329787" y="96012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0" name="Google Shape;920;p21"/>
          <p:cNvSpPr txBox="1"/>
          <p:nvPr/>
        </p:nvSpPr>
        <p:spPr>
          <a:xfrm>
            <a:off x="342122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10B981"/>
                </a:solidFill>
                <a:latin typeface="Quattrocento Sans"/>
                <a:ea typeface="Quattrocento Sans"/>
                <a:cs typeface="Quattrocento Sans"/>
                <a:sym typeface="Quattrocento Sans"/>
              </a:rPr>
              <a:t>16</a:t>
            </a:r>
            <a:endParaRPr/>
          </a:p>
        </p:txBody>
      </p:sp>
      <p:sp>
        <p:nvSpPr>
          <p:cNvPr id="921" name="Google Shape;921;p21"/>
          <p:cNvSpPr txBox="1"/>
          <p:nvPr/>
        </p:nvSpPr>
        <p:spPr>
          <a:xfrm>
            <a:off x="342122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Expansion Binds</a:t>
            </a:r>
            <a:endParaRPr/>
          </a:p>
        </p:txBody>
      </p:sp>
      <p:sp>
        <p:nvSpPr>
          <p:cNvPr id="922" name="Google Shape;922;p21"/>
          <p:cNvSpPr txBox="1"/>
          <p:nvPr/>
        </p:nvSpPr>
        <p:spPr>
          <a:xfrm>
            <a:off x="342122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$252,992</a:t>
            </a:r>
            <a:endParaRPr/>
          </a:p>
        </p:txBody>
      </p:sp>
      <p:sp>
        <p:nvSpPr>
          <p:cNvPr id="923" name="Google Shape;923;p21"/>
          <p:cNvSpPr/>
          <p:nvPr/>
        </p:nvSpPr>
        <p:spPr>
          <a:xfrm>
            <a:off x="621014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4" name="Google Shape;924;p21"/>
          <p:cNvSpPr/>
          <p:nvPr/>
        </p:nvSpPr>
        <p:spPr>
          <a:xfrm>
            <a:off x="6210147" y="960120"/>
            <a:ext cx="2651760" cy="54864"/>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5" name="Google Shape;925;p21"/>
          <p:cNvSpPr txBox="1"/>
          <p:nvPr/>
        </p:nvSpPr>
        <p:spPr>
          <a:xfrm>
            <a:off x="630158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EF4444"/>
                </a:solidFill>
                <a:latin typeface="Quattrocento Sans"/>
                <a:ea typeface="Quattrocento Sans"/>
                <a:cs typeface="Quattrocento Sans"/>
                <a:sym typeface="Quattrocento Sans"/>
              </a:rPr>
              <a:t>7</a:t>
            </a:r>
            <a:endParaRPr/>
          </a:p>
        </p:txBody>
      </p:sp>
      <p:sp>
        <p:nvSpPr>
          <p:cNvPr id="926" name="Google Shape;926;p21"/>
          <p:cNvSpPr txBox="1"/>
          <p:nvPr/>
        </p:nvSpPr>
        <p:spPr>
          <a:xfrm>
            <a:off x="630158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Dormant States</a:t>
            </a:r>
            <a:endParaRPr/>
          </a:p>
        </p:txBody>
      </p:sp>
      <p:sp>
        <p:nvSpPr>
          <p:cNvPr id="927" name="Google Shape;927;p21"/>
          <p:cNvSpPr txBox="1"/>
          <p:nvPr/>
        </p:nvSpPr>
        <p:spPr>
          <a:xfrm>
            <a:off x="630158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0-1 submissions YTD</a:t>
            </a:r>
            <a:endParaRPr/>
          </a:p>
        </p:txBody>
      </p:sp>
      <p:sp>
        <p:nvSpPr>
          <p:cNvPr id="928" name="Google Shape;928;p21"/>
          <p:cNvSpPr/>
          <p:nvPr/>
        </p:nvSpPr>
        <p:spPr>
          <a:xfrm>
            <a:off x="909050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9" name="Google Shape;929;p21"/>
          <p:cNvSpPr/>
          <p:nvPr/>
        </p:nvSpPr>
        <p:spPr>
          <a:xfrm>
            <a:off x="9090507" y="96012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0" name="Google Shape;930;p21"/>
          <p:cNvSpPr txBox="1"/>
          <p:nvPr/>
        </p:nvSpPr>
        <p:spPr>
          <a:xfrm>
            <a:off x="918194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8B5CF6"/>
                </a:solidFill>
                <a:latin typeface="Quattrocento Sans"/>
                <a:ea typeface="Quattrocento Sans"/>
                <a:cs typeface="Quattrocento Sans"/>
                <a:sym typeface="Quattrocento Sans"/>
              </a:rPr>
              <a:t>20</a:t>
            </a:r>
            <a:endParaRPr/>
          </a:p>
        </p:txBody>
      </p:sp>
      <p:sp>
        <p:nvSpPr>
          <p:cNvPr id="931" name="Google Shape;931;p21"/>
          <p:cNvSpPr txBox="1"/>
          <p:nvPr/>
        </p:nvSpPr>
        <p:spPr>
          <a:xfrm>
            <a:off x="918194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States Active</a:t>
            </a:r>
            <a:endParaRPr/>
          </a:p>
        </p:txBody>
      </p:sp>
      <p:sp>
        <p:nvSpPr>
          <p:cNvPr id="932" name="Google Shape;932;p21"/>
          <p:cNvSpPr txBox="1"/>
          <p:nvPr/>
        </p:nvSpPr>
        <p:spPr>
          <a:xfrm>
            <a:off x="918194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of 22 expansion states</a:t>
            </a:r>
            <a:endParaRPr/>
          </a:p>
        </p:txBody>
      </p:sp>
      <p:sp>
        <p:nvSpPr>
          <p:cNvPr id="933" name="Google Shape;933;p21"/>
          <p:cNvSpPr txBox="1"/>
          <p:nvPr/>
        </p:nvSpPr>
        <p:spPr>
          <a:xfrm>
            <a:off x="274320" y="2240280"/>
            <a:ext cx="91440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1E073B"/>
                </a:solidFill>
                <a:latin typeface="Quattrocento Sans"/>
                <a:ea typeface="Quattrocento Sans"/>
                <a:cs typeface="Quattrocento Sans"/>
                <a:sym typeface="Quattrocento Sans"/>
              </a:rPr>
              <a:t>EXPANSION STATES — YTD SUBMISSIONS (20/22 Active)</a:t>
            </a:r>
            <a:endParaRPr/>
          </a:p>
        </p:txBody>
      </p:sp>
      <p:sp>
        <p:nvSpPr>
          <p:cNvPr id="934" name="Google Shape;934;p21"/>
          <p:cNvSpPr/>
          <p:nvPr/>
        </p:nvSpPr>
        <p:spPr>
          <a:xfrm>
            <a:off x="274320" y="2569464"/>
            <a:ext cx="1828800" cy="2743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935" name="Google Shape;935;p21"/>
          <p:cNvGraphicFramePr/>
          <p:nvPr/>
        </p:nvGraphicFramePr>
        <p:xfrm>
          <a:off x="274320" y="2651760"/>
          <a:ext cx="3000000" cy="3000000"/>
        </p:xfrm>
        <a:graphic>
          <a:graphicData uri="http://schemas.openxmlformats.org/drawingml/2006/table">
            <a:tbl>
              <a:tblPr>
                <a:noFill/>
                <a:tableStyleId>{D82A8721-ECEF-4CED-8E2A-D61C263BF4EF}</a:tableStyleId>
              </a:tblPr>
              <a:tblGrid>
                <a:gridCol w="1188725"/>
                <a:gridCol w="1463050"/>
                <a:gridCol w="1463050"/>
                <a:gridCol w="1463050"/>
                <a:gridCol w="1463050"/>
                <a:gridCol w="2286000"/>
                <a:gridCol w="2286000"/>
              </a:tblGrid>
              <a:tr h="156750">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 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$11,870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$15,034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DE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$11,350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OR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6B5F83"/>
                          </a:solidFill>
                          <a:latin typeface="Quattrocento Sans"/>
                          <a:ea typeface="Quattrocento Sans"/>
                          <a:cs typeface="Quattrocento Sans"/>
                          <a:sym typeface="Quattrocento Sans"/>
                        </a:rPr>
                        <a:t>Emerging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WV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936" name="Google Shape;936;p21"/>
          <p:cNvSpPr/>
          <p:nvPr/>
        </p:nvSpPr>
        <p:spPr>
          <a:xfrm>
            <a:off x="274320" y="6035040"/>
            <a:ext cx="11612880" cy="365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7" name="Google Shape;937;p21"/>
          <p:cNvSpPr/>
          <p:nvPr/>
        </p:nvSpPr>
        <p:spPr>
          <a:xfrm>
            <a:off x="274320" y="6035040"/>
            <a:ext cx="54864" cy="36576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8" name="Google Shape;938;p21"/>
          <p:cNvSpPr txBox="1"/>
          <p:nvPr/>
        </p:nvSpPr>
        <p:spPr>
          <a:xfrm>
            <a:off x="457200" y="6080760"/>
            <a:ext cx="1124712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(2):  ME, SD   |   BINDS: 16 in AZ, CO, ID, MN, MS, ND, NE, NH, OK, UT, VA ($252,992)</a:t>
            </a:r>
            <a:endParaRPr/>
          </a:p>
        </p:txBody>
      </p:sp>
      <p:sp>
        <p:nvSpPr>
          <p:cNvPr id="939" name="Google Shape;939;p2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0" name="Google Shape;940;p2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941" name="Google Shape;941;p2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945" name="Shape 945"/>
        <p:cNvGrpSpPr/>
        <p:nvPr/>
      </p:nvGrpSpPr>
      <p:grpSpPr>
        <a:xfrm>
          <a:off x="0" y="0"/>
          <a:ext cx="0" cy="0"/>
          <a:chOff x="0" y="0"/>
          <a:chExt cx="0" cy="0"/>
        </a:xfrm>
      </p:grpSpPr>
      <p:sp>
        <p:nvSpPr>
          <p:cNvPr id="946" name="Google Shape;946;p2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7" name="Google Shape;947;p2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8" name="Google Shape;948;p2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9" name="Google Shape;949;p2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0" name="Google Shape;950;p2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DORMANT STATE ACTIVATION</a:t>
            </a:r>
            <a:endParaRPr/>
          </a:p>
        </p:txBody>
      </p:sp>
      <p:sp>
        <p:nvSpPr>
          <p:cNvPr id="951" name="Google Shape;951;p2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10 Expansion States with 0-1 Submissions</a:t>
            </a:r>
            <a:endParaRPr/>
          </a:p>
        </p:txBody>
      </p:sp>
      <p:sp>
        <p:nvSpPr>
          <p:cNvPr id="952" name="Google Shape;952;p2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3" name="Google Shape;953;p2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4" name="Google Shape;954;p2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5" name="Google Shape;955;p22"/>
          <p:cNvSpPr/>
          <p:nvPr/>
        </p:nvSpPr>
        <p:spPr>
          <a:xfrm>
            <a:off x="27432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6" name="Google Shape;956;p22"/>
          <p:cNvSpPr/>
          <p:nvPr/>
        </p:nvSpPr>
        <p:spPr>
          <a:xfrm>
            <a:off x="274320" y="1371600"/>
            <a:ext cx="274320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7" name="Google Shape;957;p22"/>
          <p:cNvSpPr txBox="1"/>
          <p:nvPr/>
        </p:nvSpPr>
        <p:spPr>
          <a:xfrm>
            <a:off x="38404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EF4444"/>
                </a:solidFill>
                <a:latin typeface="Quattrocento Sans"/>
                <a:ea typeface="Quattrocento Sans"/>
                <a:cs typeface="Quattrocento Sans"/>
                <a:sym typeface="Quattrocento Sans"/>
              </a:rPr>
              <a:t>10</a:t>
            </a:r>
            <a:endParaRPr/>
          </a:p>
        </p:txBody>
      </p:sp>
      <p:sp>
        <p:nvSpPr>
          <p:cNvPr id="958" name="Google Shape;958;p22"/>
          <p:cNvSpPr txBox="1"/>
          <p:nvPr/>
        </p:nvSpPr>
        <p:spPr>
          <a:xfrm>
            <a:off x="105156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States</a:t>
            </a:r>
            <a:endParaRPr/>
          </a:p>
        </p:txBody>
      </p:sp>
      <p:sp>
        <p:nvSpPr>
          <p:cNvPr id="959" name="Google Shape;959;p22"/>
          <p:cNvSpPr txBox="1"/>
          <p:nvPr/>
        </p:nvSpPr>
        <p:spPr>
          <a:xfrm>
            <a:off x="105156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Of 22 expansion states</a:t>
            </a:r>
            <a:endParaRPr/>
          </a:p>
        </p:txBody>
      </p:sp>
      <p:sp>
        <p:nvSpPr>
          <p:cNvPr id="960" name="Google Shape;960;p22"/>
          <p:cNvSpPr/>
          <p:nvPr/>
        </p:nvSpPr>
        <p:spPr>
          <a:xfrm>
            <a:off x="320040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1" name="Google Shape;961;p22"/>
          <p:cNvSpPr/>
          <p:nvPr/>
        </p:nvSpPr>
        <p:spPr>
          <a:xfrm>
            <a:off x="3200400" y="1371600"/>
            <a:ext cx="274320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2" name="Google Shape;962;p22"/>
          <p:cNvSpPr txBox="1"/>
          <p:nvPr/>
        </p:nvSpPr>
        <p:spPr>
          <a:xfrm>
            <a:off x="331012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59E0B"/>
                </a:solidFill>
                <a:latin typeface="Quattrocento Sans"/>
                <a:ea typeface="Quattrocento Sans"/>
                <a:cs typeface="Quattrocento Sans"/>
                <a:sym typeface="Quattrocento Sans"/>
              </a:rPr>
              <a:t>11</a:t>
            </a:r>
            <a:endParaRPr/>
          </a:p>
        </p:txBody>
      </p:sp>
      <p:sp>
        <p:nvSpPr>
          <p:cNvPr id="963" name="Google Shape;963;p22"/>
          <p:cNvSpPr txBox="1"/>
          <p:nvPr/>
        </p:nvSpPr>
        <p:spPr>
          <a:xfrm>
            <a:off x="397764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Total Submissions</a:t>
            </a:r>
            <a:endParaRPr/>
          </a:p>
        </p:txBody>
      </p:sp>
      <p:sp>
        <p:nvSpPr>
          <p:cNvPr id="964" name="Google Shape;964;p22"/>
          <p:cNvSpPr txBox="1"/>
          <p:nvPr/>
        </p:nvSpPr>
        <p:spPr>
          <a:xfrm>
            <a:off x="397764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Across all 10 dormant states</a:t>
            </a:r>
            <a:endParaRPr/>
          </a:p>
        </p:txBody>
      </p:sp>
      <p:sp>
        <p:nvSpPr>
          <p:cNvPr id="965" name="Google Shape;965;p22"/>
          <p:cNvSpPr/>
          <p:nvPr/>
        </p:nvSpPr>
        <p:spPr>
          <a:xfrm>
            <a:off x="612648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6" name="Google Shape;966;p22"/>
          <p:cNvSpPr/>
          <p:nvPr/>
        </p:nvSpPr>
        <p:spPr>
          <a:xfrm>
            <a:off x="6126480" y="1371600"/>
            <a:ext cx="27432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7" name="Google Shape;967;p22"/>
          <p:cNvSpPr txBox="1"/>
          <p:nvPr/>
        </p:nvSpPr>
        <p:spPr>
          <a:xfrm>
            <a:off x="623620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3</a:t>
            </a:r>
            <a:endParaRPr/>
          </a:p>
        </p:txBody>
      </p:sp>
      <p:sp>
        <p:nvSpPr>
          <p:cNvPr id="968" name="Google Shape;968;p22"/>
          <p:cNvSpPr txBox="1"/>
          <p:nvPr/>
        </p:nvSpPr>
        <p:spPr>
          <a:xfrm>
            <a:off x="690372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Bound Agency Overlap</a:t>
            </a:r>
            <a:endParaRPr/>
          </a:p>
        </p:txBody>
      </p:sp>
      <p:sp>
        <p:nvSpPr>
          <p:cNvPr id="969" name="Google Shape;969;p22"/>
          <p:cNvSpPr txBox="1"/>
          <p:nvPr/>
        </p:nvSpPr>
        <p:spPr>
          <a:xfrm>
            <a:off x="690372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Agencies bound elsewhere + dormant subs</a:t>
            </a:r>
            <a:endParaRPr/>
          </a:p>
        </p:txBody>
      </p:sp>
      <p:sp>
        <p:nvSpPr>
          <p:cNvPr id="970" name="Google Shape;970;p22"/>
          <p:cNvSpPr/>
          <p:nvPr/>
        </p:nvSpPr>
        <p:spPr>
          <a:xfrm>
            <a:off x="905256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1" name="Google Shape;971;p22"/>
          <p:cNvSpPr/>
          <p:nvPr/>
        </p:nvSpPr>
        <p:spPr>
          <a:xfrm>
            <a:off x="9052560" y="1371600"/>
            <a:ext cx="274320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2" name="Google Shape;972;p22"/>
          <p:cNvSpPr txBox="1"/>
          <p:nvPr/>
        </p:nvSpPr>
        <p:spPr>
          <a:xfrm>
            <a:off x="916228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EF4444"/>
                </a:solidFill>
                <a:latin typeface="Quattrocento Sans"/>
                <a:ea typeface="Quattrocento Sans"/>
                <a:cs typeface="Quattrocento Sans"/>
                <a:sym typeface="Quattrocento Sans"/>
              </a:rPr>
              <a:t>4</a:t>
            </a:r>
            <a:endParaRPr/>
          </a:p>
        </p:txBody>
      </p:sp>
      <p:sp>
        <p:nvSpPr>
          <p:cNvPr id="973" name="Google Shape;973;p22"/>
          <p:cNvSpPr txBox="1"/>
          <p:nvPr/>
        </p:nvSpPr>
        <p:spPr>
          <a:xfrm>
            <a:off x="982980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Zero Activity States</a:t>
            </a:r>
            <a:endParaRPr/>
          </a:p>
        </p:txBody>
      </p:sp>
      <p:sp>
        <p:nvSpPr>
          <p:cNvPr id="974" name="Google Shape;974;p22"/>
          <p:cNvSpPr txBox="1"/>
          <p:nvPr/>
        </p:nvSpPr>
        <p:spPr>
          <a:xfrm>
            <a:off x="982980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IA, ME, RI, SD — no subs at all</a:t>
            </a:r>
            <a:endParaRPr/>
          </a:p>
        </p:txBody>
      </p:sp>
      <p:sp>
        <p:nvSpPr>
          <p:cNvPr id="975" name="Google Shape;975;p22"/>
          <p:cNvSpPr txBox="1"/>
          <p:nvPr/>
        </p:nvSpPr>
        <p:spPr>
          <a:xfrm>
            <a:off x="274320" y="2331720"/>
            <a:ext cx="50292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STATE-BY-STATE BREAKDOWN</a:t>
            </a:r>
            <a:endParaRPr/>
          </a:p>
        </p:txBody>
      </p:sp>
      <p:sp>
        <p:nvSpPr>
          <p:cNvPr id="976" name="Google Shape;976;p22"/>
          <p:cNvSpPr/>
          <p:nvPr/>
        </p:nvSpPr>
        <p:spPr>
          <a:xfrm>
            <a:off x="274320" y="257860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977" name="Google Shape;977;p22"/>
          <p:cNvGraphicFramePr/>
          <p:nvPr/>
        </p:nvGraphicFramePr>
        <p:xfrm>
          <a:off x="274320" y="2670048"/>
          <a:ext cx="3000000" cy="3000000"/>
        </p:xfrm>
        <a:graphic>
          <a:graphicData uri="http://schemas.openxmlformats.org/drawingml/2006/table">
            <a:tbl>
              <a:tblPr>
                <a:noFill/>
                <a:tableStyleId>{D82A8721-ECEF-4CED-8E2A-D61C263BF4EF}</a:tableStyleId>
              </a:tblPr>
              <a:tblGrid>
                <a:gridCol w="457200"/>
                <a:gridCol w="457200"/>
                <a:gridCol w="640075"/>
                <a:gridCol w="822950"/>
                <a:gridCol w="3291850"/>
              </a:tblGrid>
              <a:tr h="219450">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Overlap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$50K quoted (LIVE)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2 quoted — Bond Ins, CSLR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Both declined — Ins Team of America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MT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 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McClure Agency — incomplete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Han Inc — incomplete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ME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75">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SD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978" name="Google Shape;978;p22"/>
          <p:cNvSpPr txBox="1"/>
          <p:nvPr/>
        </p:nvSpPr>
        <p:spPr>
          <a:xfrm>
            <a:off x="6217920" y="233172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BOUND AGENCY OVERLAP</a:t>
            </a:r>
            <a:endParaRPr/>
          </a:p>
        </p:txBody>
      </p:sp>
      <p:sp>
        <p:nvSpPr>
          <p:cNvPr id="979" name="Google Shape;979;p22"/>
          <p:cNvSpPr/>
          <p:nvPr/>
        </p:nvSpPr>
        <p:spPr>
          <a:xfrm>
            <a:off x="6217920" y="257860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0" name="Google Shape;980;p22"/>
          <p:cNvSpPr/>
          <p:nvPr/>
        </p:nvSpPr>
        <p:spPr>
          <a:xfrm>
            <a:off x="6217920" y="2697480"/>
            <a:ext cx="566928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1" name="Google Shape;981;p22"/>
          <p:cNvSpPr/>
          <p:nvPr/>
        </p:nvSpPr>
        <p:spPr>
          <a:xfrm>
            <a:off x="6217920" y="2697480"/>
            <a:ext cx="64008"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2" name="Google Shape;982;p22"/>
          <p:cNvSpPr txBox="1"/>
          <p:nvPr/>
        </p:nvSpPr>
        <p:spPr>
          <a:xfrm>
            <a:off x="6400800" y="274320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USA Specialty Insurance</a:t>
            </a:r>
            <a:endParaRPr/>
          </a:p>
        </p:txBody>
      </p:sp>
      <p:sp>
        <p:nvSpPr>
          <p:cNvPr id="983" name="Google Shape;983;p22"/>
          <p:cNvSpPr/>
          <p:nvPr/>
        </p:nvSpPr>
        <p:spPr>
          <a:xfrm>
            <a:off x="9875520" y="2752344"/>
            <a:ext cx="822960" cy="182880"/>
          </a:xfrm>
          <a:prstGeom prst="roundRect">
            <a:avLst>
              <a:gd fmla="val 3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4" name="Google Shape;984;p22"/>
          <p:cNvSpPr txBox="1"/>
          <p:nvPr/>
        </p:nvSpPr>
        <p:spPr>
          <a:xfrm>
            <a:off x="9921240" y="2752344"/>
            <a:ext cx="7772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u="none" cap="none" strike="noStrike">
                <a:solidFill>
                  <a:srgbClr val="FFFFFF"/>
                </a:solidFill>
                <a:latin typeface="Quattrocento Sans"/>
                <a:ea typeface="Quattrocento Sans"/>
                <a:cs typeface="Quattrocento Sans"/>
                <a:sym typeface="Quattrocento Sans"/>
              </a:rPr>
              <a:t>LIVE QUOTE</a:t>
            </a:r>
            <a:endParaRPr/>
          </a:p>
        </p:txBody>
      </p:sp>
      <p:sp>
        <p:nvSpPr>
          <p:cNvPr id="985" name="Google Shape;985;p22"/>
          <p:cNvSpPr txBox="1"/>
          <p:nvPr/>
        </p:nvSpPr>
        <p:spPr>
          <a:xfrm>
            <a:off x="6400800" y="2971800"/>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2 policies in TX ($16K GWP)  |  UT submission: $50,329 quoted — Rigo Transportation</a:t>
            </a:r>
            <a:endParaRPr/>
          </a:p>
        </p:txBody>
      </p:sp>
      <p:sp>
        <p:nvSpPr>
          <p:cNvPr id="986" name="Google Shape;986;p22"/>
          <p:cNvSpPr txBox="1"/>
          <p:nvPr/>
        </p:nvSpPr>
        <p:spPr>
          <a:xfrm>
            <a:off x="6400800" y="3172968"/>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Eff date: 03/04/2026  |  Multi-state agency (CA, GA, NJ, TN, TX, UT)</a:t>
            </a:r>
            <a:endParaRPr/>
          </a:p>
        </p:txBody>
      </p:sp>
      <p:sp>
        <p:nvSpPr>
          <p:cNvPr id="987" name="Google Shape;987;p22"/>
          <p:cNvSpPr txBox="1"/>
          <p:nvPr/>
        </p:nvSpPr>
        <p:spPr>
          <a:xfrm>
            <a:off x="6400800" y="3374136"/>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ACTION: Follow up immediately — highest-value dormant state opportunity</a:t>
            </a:r>
            <a:endParaRPr/>
          </a:p>
        </p:txBody>
      </p:sp>
      <p:sp>
        <p:nvSpPr>
          <p:cNvPr id="988" name="Google Shape;988;p22"/>
          <p:cNvSpPr/>
          <p:nvPr/>
        </p:nvSpPr>
        <p:spPr>
          <a:xfrm>
            <a:off x="6217920" y="3703320"/>
            <a:ext cx="5669280" cy="6400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9" name="Google Shape;989;p22"/>
          <p:cNvSpPr/>
          <p:nvPr/>
        </p:nvSpPr>
        <p:spPr>
          <a:xfrm>
            <a:off x="6217920" y="3703320"/>
            <a:ext cx="64008" cy="6400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0" name="Google Shape;990;p22"/>
          <p:cNvSpPr txBox="1"/>
          <p:nvPr/>
        </p:nvSpPr>
        <p:spPr>
          <a:xfrm>
            <a:off x="6400800" y="374904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United Advantage Insurance</a:t>
            </a:r>
            <a:endParaRPr/>
          </a:p>
        </p:txBody>
      </p:sp>
      <p:sp>
        <p:nvSpPr>
          <p:cNvPr id="991" name="Google Shape;991;p22"/>
          <p:cNvSpPr txBox="1"/>
          <p:nvPr/>
        </p:nvSpPr>
        <p:spPr>
          <a:xfrm>
            <a:off x="6400800" y="395935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7 policies in CA, TX ($45K GWP)  |  MT sub declined ($6.5K, Nightwind Trucking)</a:t>
            </a:r>
            <a:endParaRPr/>
          </a:p>
        </p:txBody>
      </p:sp>
      <p:sp>
        <p:nvSpPr>
          <p:cNvPr id="992" name="Google Shape;992;p22"/>
          <p:cNvSpPr txBox="1"/>
          <p:nvPr/>
        </p:nvSpPr>
        <p:spPr>
          <a:xfrm>
            <a:off x="6400800" y="414223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Most active submitter: 41 subs across 10 states — strong multi-state presence</a:t>
            </a:r>
            <a:endParaRPr/>
          </a:p>
        </p:txBody>
      </p:sp>
      <p:sp>
        <p:nvSpPr>
          <p:cNvPr id="993" name="Google Shape;993;p22"/>
          <p:cNvSpPr/>
          <p:nvPr/>
        </p:nvSpPr>
        <p:spPr>
          <a:xfrm>
            <a:off x="6217920" y="4434840"/>
            <a:ext cx="5669280" cy="6400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4" name="Google Shape;994;p22"/>
          <p:cNvSpPr/>
          <p:nvPr/>
        </p:nvSpPr>
        <p:spPr>
          <a:xfrm>
            <a:off x="6217920" y="4434840"/>
            <a:ext cx="64008" cy="6400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5" name="Google Shape;995;p22"/>
          <p:cNvSpPr txBox="1"/>
          <p:nvPr/>
        </p:nvSpPr>
        <p:spPr>
          <a:xfrm>
            <a:off x="6400800" y="448056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Resolute Insurance Group</a:t>
            </a:r>
            <a:endParaRPr/>
          </a:p>
        </p:txBody>
      </p:sp>
      <p:sp>
        <p:nvSpPr>
          <p:cNvPr id="996" name="Google Shape;996;p22"/>
          <p:cNvSpPr txBox="1"/>
          <p:nvPr/>
        </p:nvSpPr>
        <p:spPr>
          <a:xfrm>
            <a:off x="6400800" y="469087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3 policies in CO ($22K GWP)  |  UT sub declined ($5.1K, JEM Trucking)</a:t>
            </a:r>
            <a:endParaRPr/>
          </a:p>
        </p:txBody>
      </p:sp>
      <p:sp>
        <p:nvSpPr>
          <p:cNvPr id="997" name="Google Shape;997;p22"/>
          <p:cNvSpPr txBox="1"/>
          <p:nvPr/>
        </p:nvSpPr>
        <p:spPr>
          <a:xfrm>
            <a:off x="6400800" y="487375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Submits in 6 states (CO, LA, MO, NC, OK, UT) — re-engage for UT pipeline</a:t>
            </a:r>
            <a:endParaRPr/>
          </a:p>
        </p:txBody>
      </p:sp>
      <p:sp>
        <p:nvSpPr>
          <p:cNvPr id="998" name="Google Shape;998;p22"/>
          <p:cNvSpPr/>
          <p:nvPr/>
        </p:nvSpPr>
        <p:spPr>
          <a:xfrm>
            <a:off x="274320" y="5257800"/>
            <a:ext cx="1161288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9" name="Google Shape;999;p22"/>
          <p:cNvSpPr/>
          <p:nvPr/>
        </p:nvSpPr>
        <p:spPr>
          <a:xfrm>
            <a:off x="274320" y="5257800"/>
            <a:ext cx="11612880" cy="54864"/>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0" name="Google Shape;1000;p22"/>
          <p:cNvSpPr txBox="1"/>
          <p:nvPr/>
        </p:nvSpPr>
        <p:spPr>
          <a:xfrm>
            <a:off x="457200" y="5349240"/>
            <a:ext cx="112471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E073B"/>
                </a:solidFill>
                <a:latin typeface="Quattrocento Sans"/>
                <a:ea typeface="Quattrocento Sans"/>
                <a:cs typeface="Quattrocento Sans"/>
                <a:sym typeface="Quattrocento Sans"/>
              </a:rPr>
              <a:t>KEY TAKEAWAYS &amp; ACTIVATION STRATEGY</a:t>
            </a:r>
            <a:endParaRPr/>
          </a:p>
        </p:txBody>
      </p:sp>
      <p:sp>
        <p:nvSpPr>
          <p:cNvPr id="1001" name="Google Shape;1001;p22"/>
          <p:cNvSpPr txBox="1"/>
          <p:nvPr/>
        </p:nvSpPr>
        <p:spPr>
          <a:xfrm>
            <a:off x="457200" y="559612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Only 3 of 27 bound agencies have ever submitted in a dormant state — organic crossover is minimal</a:t>
            </a:r>
            <a:endParaRPr/>
          </a:p>
        </p:txBody>
      </p:sp>
      <p:sp>
        <p:nvSpPr>
          <p:cNvPr id="1002" name="Google Shape;1002;p22"/>
          <p:cNvSpPr txBox="1"/>
          <p:nvPr/>
        </p:nvSpPr>
        <p:spPr>
          <a:xfrm>
            <a:off x="457200" y="577900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USA Specialty has a live $50K quoted deal in UT (eff 03/04) — immediate follow-up required</a:t>
            </a:r>
            <a:endParaRPr/>
          </a:p>
        </p:txBody>
      </p:sp>
      <p:sp>
        <p:nvSpPr>
          <p:cNvPr id="1003" name="Google Shape;1003;p22"/>
          <p:cNvSpPr txBox="1"/>
          <p:nvPr/>
        </p:nvSpPr>
        <p:spPr>
          <a:xfrm>
            <a:off x="457200" y="596188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MN shows most promise: 3 subs from 3 agencies, 2 currently quoted — worth targeted outreach</a:t>
            </a:r>
            <a:endParaRPr/>
          </a:p>
        </p:txBody>
      </p:sp>
      <p:sp>
        <p:nvSpPr>
          <p:cNvPr id="1004" name="Google Shape;1004;p22"/>
          <p:cNvSpPr txBox="1"/>
          <p:nvPr/>
        </p:nvSpPr>
        <p:spPr>
          <a:xfrm>
            <a:off x="457200" y="614476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IA, ME, RI, SD have zero activity — activation requires net-new agency recruitment in those geographies</a:t>
            </a:r>
            <a:endParaRPr/>
          </a:p>
        </p:txBody>
      </p:sp>
      <p:sp>
        <p:nvSpPr>
          <p:cNvPr id="1005" name="Google Shape;1005;p2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6" name="Google Shape;1006;p2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007" name="Google Shape;1007;p2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11" name="Shape 1011"/>
        <p:cNvGrpSpPr/>
        <p:nvPr/>
      </p:nvGrpSpPr>
      <p:grpSpPr>
        <a:xfrm>
          <a:off x="0" y="0"/>
          <a:ext cx="0" cy="0"/>
          <a:chOff x="0" y="0"/>
          <a:chExt cx="0" cy="0"/>
        </a:xfrm>
      </p:grpSpPr>
      <p:sp>
        <p:nvSpPr>
          <p:cNvPr id="1012" name="Google Shape;1012;p2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3" name="Google Shape;1013;p2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4" name="Google Shape;1014;p2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5" name="Google Shape;1015;p2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6" name="Google Shape;1016;p2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MARCH 2026 OVERVIEW</a:t>
            </a:r>
            <a:endParaRPr/>
          </a:p>
        </p:txBody>
      </p:sp>
      <p:sp>
        <p:nvSpPr>
          <p:cNvPr id="1017" name="Google Shape;1017;p2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Submissions &amp; Binds  |  Month-to-Date</a:t>
            </a:r>
            <a:endParaRPr/>
          </a:p>
        </p:txBody>
      </p:sp>
      <p:sp>
        <p:nvSpPr>
          <p:cNvPr id="1018" name="Google Shape;1018;p2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9" name="Google Shape;1019;p2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0" name="Google Shape;1020;p2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1" name="Google Shape;1021;p23"/>
          <p:cNvSpPr/>
          <p:nvPr/>
        </p:nvSpPr>
        <p:spPr>
          <a:xfrm>
            <a:off x="320040"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2" name="Google Shape;1022;p23"/>
          <p:cNvSpPr/>
          <p:nvPr/>
        </p:nvSpPr>
        <p:spPr>
          <a:xfrm>
            <a:off x="320040" y="1371600"/>
            <a:ext cx="214884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3" name="Google Shape;1023;p23"/>
          <p:cNvSpPr txBox="1"/>
          <p:nvPr/>
        </p:nvSpPr>
        <p:spPr>
          <a:xfrm>
            <a:off x="457200"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SUBMISSIONS</a:t>
            </a:r>
            <a:endParaRPr/>
          </a:p>
        </p:txBody>
      </p:sp>
      <p:sp>
        <p:nvSpPr>
          <p:cNvPr id="1024" name="Google Shape;1024;p23"/>
          <p:cNvSpPr txBox="1"/>
          <p:nvPr/>
        </p:nvSpPr>
        <p:spPr>
          <a:xfrm>
            <a:off x="457200"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1,607</a:t>
            </a:r>
            <a:endParaRPr/>
          </a:p>
        </p:txBody>
      </p:sp>
      <p:sp>
        <p:nvSpPr>
          <p:cNvPr id="1025" name="Google Shape;1025;p23"/>
          <p:cNvSpPr txBox="1"/>
          <p:nvPr/>
        </p:nvSpPr>
        <p:spPr>
          <a:xfrm>
            <a:off x="457200"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441 vs Feb</a:t>
            </a:r>
            <a:endParaRPr/>
          </a:p>
        </p:txBody>
      </p:sp>
      <p:sp>
        <p:nvSpPr>
          <p:cNvPr id="1026" name="Google Shape;1026;p23"/>
          <p:cNvSpPr/>
          <p:nvPr/>
        </p:nvSpPr>
        <p:spPr>
          <a:xfrm>
            <a:off x="2633472"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7" name="Google Shape;1027;p23"/>
          <p:cNvSpPr/>
          <p:nvPr/>
        </p:nvSpPr>
        <p:spPr>
          <a:xfrm>
            <a:off x="2633472" y="1371600"/>
            <a:ext cx="214884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8" name="Google Shape;1028;p23"/>
          <p:cNvSpPr txBox="1"/>
          <p:nvPr/>
        </p:nvSpPr>
        <p:spPr>
          <a:xfrm>
            <a:off x="2770632"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QUOTES</a:t>
            </a:r>
            <a:endParaRPr/>
          </a:p>
        </p:txBody>
      </p:sp>
      <p:sp>
        <p:nvSpPr>
          <p:cNvPr id="1029" name="Google Shape;1029;p23"/>
          <p:cNvSpPr txBox="1"/>
          <p:nvPr/>
        </p:nvSpPr>
        <p:spPr>
          <a:xfrm>
            <a:off x="2770632"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870</a:t>
            </a:r>
            <a:endParaRPr/>
          </a:p>
        </p:txBody>
      </p:sp>
      <p:sp>
        <p:nvSpPr>
          <p:cNvPr id="1030" name="Google Shape;1030;p23"/>
          <p:cNvSpPr txBox="1"/>
          <p:nvPr/>
        </p:nvSpPr>
        <p:spPr>
          <a:xfrm>
            <a:off x="2770632" y="2084832"/>
            <a:ext cx="1874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Quote rate: 54.1%</a:t>
            </a:r>
            <a:endParaRPr/>
          </a:p>
        </p:txBody>
      </p:sp>
      <p:sp>
        <p:nvSpPr>
          <p:cNvPr id="1031" name="Google Shape;1031;p23"/>
          <p:cNvSpPr txBox="1"/>
          <p:nvPr/>
        </p:nvSpPr>
        <p:spPr>
          <a:xfrm>
            <a:off x="2770632" y="222199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281 vs Feb</a:t>
            </a:r>
            <a:endParaRPr/>
          </a:p>
        </p:txBody>
      </p:sp>
      <p:sp>
        <p:nvSpPr>
          <p:cNvPr id="1032" name="Google Shape;1032;p23"/>
          <p:cNvSpPr/>
          <p:nvPr/>
        </p:nvSpPr>
        <p:spPr>
          <a:xfrm>
            <a:off x="4946904"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3" name="Google Shape;1033;p23"/>
          <p:cNvSpPr/>
          <p:nvPr/>
        </p:nvSpPr>
        <p:spPr>
          <a:xfrm>
            <a:off x="4946904" y="1371600"/>
            <a:ext cx="214884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4" name="Google Shape;1034;p23"/>
          <p:cNvSpPr txBox="1"/>
          <p:nvPr/>
        </p:nvSpPr>
        <p:spPr>
          <a:xfrm>
            <a:off x="5084064"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BINDS</a:t>
            </a:r>
            <a:endParaRPr/>
          </a:p>
        </p:txBody>
      </p:sp>
      <p:sp>
        <p:nvSpPr>
          <p:cNvPr id="1035" name="Google Shape;1035;p23"/>
          <p:cNvSpPr txBox="1"/>
          <p:nvPr/>
        </p:nvSpPr>
        <p:spPr>
          <a:xfrm>
            <a:off x="5084064"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51</a:t>
            </a:r>
            <a:endParaRPr/>
          </a:p>
        </p:txBody>
      </p:sp>
      <p:sp>
        <p:nvSpPr>
          <p:cNvPr id="1036" name="Google Shape;1036;p23"/>
          <p:cNvSpPr txBox="1"/>
          <p:nvPr/>
        </p:nvSpPr>
        <p:spPr>
          <a:xfrm>
            <a:off x="5084064"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26 vs Feb (25)</a:t>
            </a:r>
            <a:endParaRPr/>
          </a:p>
        </p:txBody>
      </p:sp>
      <p:sp>
        <p:nvSpPr>
          <p:cNvPr id="1037" name="Google Shape;1037;p23"/>
          <p:cNvSpPr/>
          <p:nvPr/>
        </p:nvSpPr>
        <p:spPr>
          <a:xfrm>
            <a:off x="7260336"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8" name="Google Shape;1038;p23"/>
          <p:cNvSpPr/>
          <p:nvPr/>
        </p:nvSpPr>
        <p:spPr>
          <a:xfrm>
            <a:off x="7260336" y="1371600"/>
            <a:ext cx="2148840" cy="5486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9" name="Google Shape;1039;p23"/>
          <p:cNvSpPr txBox="1"/>
          <p:nvPr/>
        </p:nvSpPr>
        <p:spPr>
          <a:xfrm>
            <a:off x="7397496"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PREMIUM</a:t>
            </a:r>
            <a:endParaRPr/>
          </a:p>
        </p:txBody>
      </p:sp>
      <p:sp>
        <p:nvSpPr>
          <p:cNvPr id="1040" name="Google Shape;1040;p23"/>
          <p:cNvSpPr txBox="1"/>
          <p:nvPr/>
        </p:nvSpPr>
        <p:spPr>
          <a:xfrm>
            <a:off x="7397496"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59E0B"/>
                </a:solidFill>
                <a:latin typeface="Quattrocento Sans"/>
                <a:ea typeface="Quattrocento Sans"/>
                <a:cs typeface="Quattrocento Sans"/>
                <a:sym typeface="Quattrocento Sans"/>
              </a:rPr>
              <a:t>$1.2M</a:t>
            </a:r>
            <a:endParaRPr/>
          </a:p>
        </p:txBody>
      </p:sp>
      <p:sp>
        <p:nvSpPr>
          <p:cNvPr id="1041" name="Google Shape;1041;p23"/>
          <p:cNvSpPr txBox="1"/>
          <p:nvPr/>
        </p:nvSpPr>
        <p:spPr>
          <a:xfrm>
            <a:off x="7397496"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$111,950 vs Feb</a:t>
            </a:r>
            <a:endParaRPr/>
          </a:p>
        </p:txBody>
      </p:sp>
      <p:sp>
        <p:nvSpPr>
          <p:cNvPr id="1042" name="Google Shape;1042;p23"/>
          <p:cNvSpPr/>
          <p:nvPr/>
        </p:nvSpPr>
        <p:spPr>
          <a:xfrm>
            <a:off x="9573768"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3" name="Google Shape;1043;p23"/>
          <p:cNvSpPr/>
          <p:nvPr/>
        </p:nvSpPr>
        <p:spPr>
          <a:xfrm>
            <a:off x="9573768" y="1371600"/>
            <a:ext cx="214884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4" name="Google Shape;1044;p23"/>
          <p:cNvSpPr txBox="1"/>
          <p:nvPr/>
        </p:nvSpPr>
        <p:spPr>
          <a:xfrm>
            <a:off x="9710928"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AVG PREMIUM</a:t>
            </a:r>
            <a:endParaRPr/>
          </a:p>
        </p:txBody>
      </p:sp>
      <p:sp>
        <p:nvSpPr>
          <p:cNvPr id="1045" name="Google Shape;1045;p23"/>
          <p:cNvSpPr txBox="1"/>
          <p:nvPr/>
        </p:nvSpPr>
        <p:spPr>
          <a:xfrm>
            <a:off x="9710928"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$22,954</a:t>
            </a:r>
            <a:endParaRPr/>
          </a:p>
        </p:txBody>
      </p:sp>
      <p:sp>
        <p:nvSpPr>
          <p:cNvPr id="1046" name="Google Shape;1046;p23"/>
          <p:cNvSpPr txBox="1"/>
          <p:nvPr/>
        </p:nvSpPr>
        <p:spPr>
          <a:xfrm>
            <a:off x="9710928" y="2084832"/>
            <a:ext cx="1874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Bind rate: 5.9%</a:t>
            </a:r>
            <a:endParaRPr/>
          </a:p>
        </p:txBody>
      </p:sp>
      <p:sp>
        <p:nvSpPr>
          <p:cNvPr id="1047" name="Google Shape;1047;p23"/>
          <p:cNvSpPr txBox="1"/>
          <p:nvPr/>
        </p:nvSpPr>
        <p:spPr>
          <a:xfrm>
            <a:off x="365760" y="2606040"/>
            <a:ext cx="4572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5B21B6"/>
                </a:solidFill>
                <a:latin typeface="Quattrocento Sans"/>
                <a:ea typeface="Quattrocento Sans"/>
                <a:cs typeface="Quattrocento Sans"/>
                <a:sym typeface="Quattrocento Sans"/>
              </a:rPr>
              <a:t>MARCH BINDS</a:t>
            </a:r>
            <a:endParaRPr/>
          </a:p>
        </p:txBody>
      </p:sp>
      <p:sp>
        <p:nvSpPr>
          <p:cNvPr id="1048" name="Google Shape;1048;p23"/>
          <p:cNvSpPr/>
          <p:nvPr/>
        </p:nvSpPr>
        <p:spPr>
          <a:xfrm>
            <a:off x="365760" y="285292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49" name="Google Shape;1049;p23"/>
          <p:cNvGraphicFramePr/>
          <p:nvPr/>
        </p:nvGraphicFramePr>
        <p:xfrm>
          <a:off x="274320" y="2971800"/>
          <a:ext cx="3000000" cy="3000000"/>
        </p:xfrm>
        <a:graphic>
          <a:graphicData uri="http://schemas.openxmlformats.org/drawingml/2006/table">
            <a:tbl>
              <a:tblPr>
                <a:noFill/>
                <a:tableStyleId>{D82A8721-ECEF-4CED-8E2A-D61C263BF4EF}</a:tableStyleId>
              </a:tblPr>
              <a:tblGrid>
                <a:gridCol w="457200"/>
                <a:gridCol w="2560325"/>
                <a:gridCol w="411475"/>
                <a:gridCol w="1828800"/>
                <a:gridCol w="1371600"/>
              </a:tblGrid>
              <a:tr h="24690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Eff</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CHARLIE SMITH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First Connect Insuranc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$175,211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GUEORQUI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$84,141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T&amp;A ELITE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$82,935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ACD 4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$46,272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A&amp;A  SAWING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$40,381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SACHA TRANSPORTATION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$27,288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$26,979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RS GILL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MST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$26,061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EZEEMABI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$25,002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Apollo Energy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$24,528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SIIRTLI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CRC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$23,922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050" name="Google Shape;1050;p23"/>
          <p:cNvSpPr txBox="1"/>
          <p:nvPr/>
        </p:nvSpPr>
        <p:spPr>
          <a:xfrm>
            <a:off x="7955279" y="2606040"/>
            <a:ext cx="36576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STATES — SUBMISSIONS</a:t>
            </a:r>
            <a:endParaRPr/>
          </a:p>
        </p:txBody>
      </p:sp>
      <p:sp>
        <p:nvSpPr>
          <p:cNvPr id="1051" name="Google Shape;1051;p23"/>
          <p:cNvSpPr/>
          <p:nvPr/>
        </p:nvSpPr>
        <p:spPr>
          <a:xfrm>
            <a:off x="7955279" y="285292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52" name="Google Shape;1052;p23"/>
          <p:cNvGraphicFramePr/>
          <p:nvPr/>
        </p:nvGraphicFramePr>
        <p:xfrm>
          <a:off x="7863839" y="2971800"/>
          <a:ext cx="3000000" cy="3000000"/>
        </p:xfrm>
        <a:graphic>
          <a:graphicData uri="http://schemas.openxmlformats.org/drawingml/2006/table">
            <a:tbl>
              <a:tblPr>
                <a:noFill/>
                <a:tableStyleId>{D82A8721-ECEF-4CED-8E2A-D61C263BF4EF}</a:tableStyleId>
              </a:tblPr>
              <a:tblGrid>
                <a:gridCol w="548650"/>
                <a:gridCol w="1097275"/>
                <a:gridCol w="1097275"/>
              </a:tblGrid>
              <a:tr h="21945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Quotes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542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68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MD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053" name="Google Shape;1053;p23"/>
          <p:cNvSpPr txBox="1"/>
          <p:nvPr/>
        </p:nvSpPr>
        <p:spPr>
          <a:xfrm>
            <a:off x="7955279" y="4937760"/>
            <a:ext cx="36576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BY YEARS IN BUSINESS</a:t>
            </a:r>
            <a:endParaRPr/>
          </a:p>
        </p:txBody>
      </p:sp>
      <p:sp>
        <p:nvSpPr>
          <p:cNvPr id="1054" name="Google Shape;1054;p23"/>
          <p:cNvSpPr/>
          <p:nvPr/>
        </p:nvSpPr>
        <p:spPr>
          <a:xfrm>
            <a:off x="7955279" y="518464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55" name="Google Shape;1055;p23"/>
          <p:cNvGraphicFramePr/>
          <p:nvPr/>
        </p:nvGraphicFramePr>
        <p:xfrm>
          <a:off x="7863839" y="5257800"/>
          <a:ext cx="3000000" cy="3000000"/>
        </p:xfrm>
        <a:graphic>
          <a:graphicData uri="http://schemas.openxmlformats.org/drawingml/2006/table">
            <a:tbl>
              <a:tblPr>
                <a:noFill/>
                <a:tableStyleId>{D82A8721-ECEF-4CED-8E2A-D61C263BF4EF}</a:tableStyleId>
              </a:tblPr>
              <a:tblGrid>
                <a:gridCol w="1371600"/>
                <a:gridCol w="731525"/>
                <a:gridCol w="1371600"/>
              </a:tblGrid>
              <a:tr h="2560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Category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56025">
                <a:tc>
                  <a:txBody>
                    <a:bodyPr/>
                    <a:lstStyle/>
                    <a:p>
                      <a:pPr indent="0" lvl="0" marL="0" marR="0" rtl="0" algn="l">
                        <a:spcBef>
                          <a:spcPts val="0"/>
                        </a:spcBef>
                        <a:spcAft>
                          <a:spcPts val="0"/>
                        </a:spcAft>
                        <a:buNone/>
                      </a:pPr>
                      <a:r>
                        <a:rPr b="1" lang="en-US" sz="900" u="none" cap="none" strike="noStrike">
                          <a:solidFill>
                            <a:srgbClr val="D946EF"/>
                          </a:solidFill>
                          <a:latin typeface="Quattrocento Sans"/>
                          <a:ea typeface="Quattrocento Sans"/>
                          <a:cs typeface="Quattrocento Sans"/>
                          <a:sym typeface="Quattrocento Sans"/>
                        </a:rPr>
                        <a:t>New Venture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$832,939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56025">
                <a:tc>
                  <a:txBody>
                    <a:bodyPr/>
                    <a:lstStyle/>
                    <a:p>
                      <a:pPr indent="0" lvl="0" marL="0" marR="0" rtl="0" algn="l">
                        <a:spcBef>
                          <a:spcPts val="0"/>
                        </a:spcBef>
                        <a:spcAft>
                          <a:spcPts val="0"/>
                        </a:spcAft>
                        <a:buNone/>
                      </a:pPr>
                      <a:r>
                        <a:rPr b="1" lang="en-US" sz="900" u="none" cap="none" strike="noStrike">
                          <a:solidFill>
                            <a:srgbClr val="8B5CF6"/>
                          </a:solidFill>
                          <a:latin typeface="Quattrocento Sans"/>
                          <a:ea typeface="Quattrocento Sans"/>
                          <a:cs typeface="Quattrocento Sans"/>
                          <a:sym typeface="Quattrocento Sans"/>
                        </a:rPr>
                        <a:t>1 Year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$90,112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56025">
                <a:tc>
                  <a:txBody>
                    <a:bodyPr/>
                    <a:lstStyle/>
                    <a:p>
                      <a:pPr indent="0" lvl="0" marL="0" marR="0" rtl="0" algn="l">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2+ Years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$247,579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1056" name="Google Shape;1056;p2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7" name="Google Shape;1057;p2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058" name="Google Shape;1058;p2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62" name="Shape 1062"/>
        <p:cNvGrpSpPr/>
        <p:nvPr/>
      </p:nvGrpSpPr>
      <p:grpSpPr>
        <a:xfrm>
          <a:off x="0" y="0"/>
          <a:ext cx="0" cy="0"/>
          <a:chOff x="0" y="0"/>
          <a:chExt cx="0" cy="0"/>
        </a:xfrm>
      </p:grpSpPr>
      <p:sp>
        <p:nvSpPr>
          <p:cNvPr id="1063" name="Google Shape;1063;p2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4" name="Google Shape;1064;p2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5" name="Google Shape;1065;p2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6" name="Google Shape;1066;p2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7" name="Google Shape;1067;p2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Q1 BATTLE CARD</a:t>
            </a:r>
            <a:endParaRPr/>
          </a:p>
        </p:txBody>
      </p:sp>
      <p:sp>
        <p:nvSpPr>
          <p:cNvPr id="1068" name="Google Shape;1068;p2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January  vs  February  vs  March 2026</a:t>
            </a:r>
            <a:endParaRPr/>
          </a:p>
        </p:txBody>
      </p:sp>
      <p:sp>
        <p:nvSpPr>
          <p:cNvPr id="1069" name="Google Shape;1069;p2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0" name="Google Shape;1070;p2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1" name="Google Shape;1071;p2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2" name="Google Shape;1072;p24"/>
          <p:cNvSpPr/>
          <p:nvPr/>
        </p:nvSpPr>
        <p:spPr>
          <a:xfrm>
            <a:off x="32004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3" name="Google Shape;1073;p24"/>
          <p:cNvSpPr/>
          <p:nvPr/>
        </p:nvSpPr>
        <p:spPr>
          <a:xfrm>
            <a:off x="320040" y="1371600"/>
            <a:ext cx="36576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4" name="Google Shape;1074;p24"/>
          <p:cNvSpPr txBox="1"/>
          <p:nvPr/>
        </p:nvSpPr>
        <p:spPr>
          <a:xfrm>
            <a:off x="45720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8B5CF6"/>
                </a:solidFill>
                <a:latin typeface="Quattrocento Sans"/>
                <a:ea typeface="Quattrocento Sans"/>
                <a:cs typeface="Quattrocento Sans"/>
                <a:sym typeface="Quattrocento Sans"/>
              </a:rPr>
              <a:t>JANUARY</a:t>
            </a:r>
            <a:endParaRPr/>
          </a:p>
        </p:txBody>
      </p:sp>
      <p:sp>
        <p:nvSpPr>
          <p:cNvPr id="1075" name="Google Shape;1075;p24"/>
          <p:cNvSpPr txBox="1"/>
          <p:nvPr/>
        </p:nvSpPr>
        <p:spPr>
          <a:xfrm>
            <a:off x="45720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$500,726</a:t>
            </a:r>
            <a:endParaRPr/>
          </a:p>
        </p:txBody>
      </p:sp>
      <p:sp>
        <p:nvSpPr>
          <p:cNvPr id="1076" name="Google Shape;1076;p24"/>
          <p:cNvSpPr txBox="1"/>
          <p:nvPr/>
        </p:nvSpPr>
        <p:spPr>
          <a:xfrm>
            <a:off x="45720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13 binds  |  Avg $38,517</a:t>
            </a:r>
            <a:endParaRPr/>
          </a:p>
        </p:txBody>
      </p:sp>
      <p:sp>
        <p:nvSpPr>
          <p:cNvPr id="1077" name="Google Shape;1077;p24"/>
          <p:cNvSpPr/>
          <p:nvPr/>
        </p:nvSpPr>
        <p:spPr>
          <a:xfrm>
            <a:off x="45720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8" name="Google Shape;1078;p24"/>
          <p:cNvSpPr txBox="1"/>
          <p:nvPr/>
        </p:nvSpPr>
        <p:spPr>
          <a:xfrm>
            <a:off x="50292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079" name="Google Shape;1079;p24"/>
          <p:cNvSpPr txBox="1"/>
          <p:nvPr/>
        </p:nvSpPr>
        <p:spPr>
          <a:xfrm>
            <a:off x="233172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911</a:t>
            </a:r>
            <a:endParaRPr/>
          </a:p>
        </p:txBody>
      </p:sp>
      <p:sp>
        <p:nvSpPr>
          <p:cNvPr id="1080" name="Google Shape;1080;p24"/>
          <p:cNvSpPr txBox="1"/>
          <p:nvPr/>
        </p:nvSpPr>
        <p:spPr>
          <a:xfrm>
            <a:off x="50292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081" name="Google Shape;1081;p24"/>
          <p:cNvSpPr txBox="1"/>
          <p:nvPr/>
        </p:nvSpPr>
        <p:spPr>
          <a:xfrm>
            <a:off x="233172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471</a:t>
            </a:r>
            <a:endParaRPr/>
          </a:p>
        </p:txBody>
      </p:sp>
      <p:sp>
        <p:nvSpPr>
          <p:cNvPr id="1082" name="Google Shape;1082;p24"/>
          <p:cNvSpPr txBox="1"/>
          <p:nvPr/>
        </p:nvSpPr>
        <p:spPr>
          <a:xfrm>
            <a:off x="50292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083" name="Google Shape;1083;p24"/>
          <p:cNvSpPr txBox="1"/>
          <p:nvPr/>
        </p:nvSpPr>
        <p:spPr>
          <a:xfrm>
            <a:off x="233172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51.7%</a:t>
            </a:r>
            <a:endParaRPr/>
          </a:p>
        </p:txBody>
      </p:sp>
      <p:sp>
        <p:nvSpPr>
          <p:cNvPr id="1084" name="Google Shape;1084;p24"/>
          <p:cNvSpPr txBox="1"/>
          <p:nvPr/>
        </p:nvSpPr>
        <p:spPr>
          <a:xfrm>
            <a:off x="50292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085" name="Google Shape;1085;p24"/>
          <p:cNvSpPr txBox="1"/>
          <p:nvPr/>
        </p:nvSpPr>
        <p:spPr>
          <a:xfrm>
            <a:off x="233172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2.8%</a:t>
            </a:r>
            <a:endParaRPr/>
          </a:p>
        </p:txBody>
      </p:sp>
      <p:sp>
        <p:nvSpPr>
          <p:cNvPr id="1086" name="Google Shape;1086;p24"/>
          <p:cNvSpPr txBox="1"/>
          <p:nvPr/>
        </p:nvSpPr>
        <p:spPr>
          <a:xfrm>
            <a:off x="50292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087" name="Google Shape;1087;p24"/>
          <p:cNvSpPr txBox="1"/>
          <p:nvPr/>
        </p:nvSpPr>
        <p:spPr>
          <a:xfrm>
            <a:off x="233172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13</a:t>
            </a:r>
            <a:endParaRPr/>
          </a:p>
        </p:txBody>
      </p:sp>
      <p:sp>
        <p:nvSpPr>
          <p:cNvPr id="1088" name="Google Shape;1088;p24"/>
          <p:cNvSpPr txBox="1"/>
          <p:nvPr/>
        </p:nvSpPr>
        <p:spPr>
          <a:xfrm>
            <a:off x="50292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089" name="Google Shape;1089;p24"/>
          <p:cNvSpPr txBox="1"/>
          <p:nvPr/>
        </p:nvSpPr>
        <p:spPr>
          <a:xfrm>
            <a:off x="233172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0</a:t>
            </a:r>
            <a:endParaRPr/>
          </a:p>
        </p:txBody>
      </p:sp>
      <p:sp>
        <p:nvSpPr>
          <p:cNvPr id="1090" name="Google Shape;1090;p24"/>
          <p:cNvSpPr/>
          <p:nvPr/>
        </p:nvSpPr>
        <p:spPr>
          <a:xfrm>
            <a:off x="45720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1" name="Google Shape;1091;p24"/>
          <p:cNvSpPr txBox="1"/>
          <p:nvPr/>
        </p:nvSpPr>
        <p:spPr>
          <a:xfrm>
            <a:off x="45720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092" name="Google Shape;1092;p24"/>
          <p:cNvSpPr txBox="1"/>
          <p:nvPr/>
        </p:nvSpPr>
        <p:spPr>
          <a:xfrm>
            <a:off x="50292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093" name="Google Shape;1093;p24"/>
          <p:cNvSpPr txBox="1"/>
          <p:nvPr/>
        </p:nvSpPr>
        <p:spPr>
          <a:xfrm>
            <a:off x="105156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4 binds</a:t>
            </a:r>
            <a:endParaRPr/>
          </a:p>
        </p:txBody>
      </p:sp>
      <p:sp>
        <p:nvSpPr>
          <p:cNvPr id="1094" name="Google Shape;1094;p24"/>
          <p:cNvSpPr txBox="1"/>
          <p:nvPr/>
        </p:nvSpPr>
        <p:spPr>
          <a:xfrm>
            <a:off x="214884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$243,990</a:t>
            </a:r>
            <a:endParaRPr/>
          </a:p>
        </p:txBody>
      </p:sp>
      <p:sp>
        <p:nvSpPr>
          <p:cNvPr id="1095" name="Google Shape;1095;p24"/>
          <p:cNvSpPr txBox="1"/>
          <p:nvPr/>
        </p:nvSpPr>
        <p:spPr>
          <a:xfrm>
            <a:off x="50292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096" name="Google Shape;1096;p24"/>
          <p:cNvSpPr txBox="1"/>
          <p:nvPr/>
        </p:nvSpPr>
        <p:spPr>
          <a:xfrm>
            <a:off x="105156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5 binds</a:t>
            </a:r>
            <a:endParaRPr/>
          </a:p>
        </p:txBody>
      </p:sp>
      <p:sp>
        <p:nvSpPr>
          <p:cNvPr id="1097" name="Google Shape;1097;p24"/>
          <p:cNvSpPr txBox="1"/>
          <p:nvPr/>
        </p:nvSpPr>
        <p:spPr>
          <a:xfrm>
            <a:off x="214884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$221,144</a:t>
            </a:r>
            <a:endParaRPr/>
          </a:p>
        </p:txBody>
      </p:sp>
      <p:sp>
        <p:nvSpPr>
          <p:cNvPr id="1098" name="Google Shape;1098;p24"/>
          <p:cNvSpPr txBox="1"/>
          <p:nvPr/>
        </p:nvSpPr>
        <p:spPr>
          <a:xfrm>
            <a:off x="50292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PA</a:t>
            </a:r>
            <a:endParaRPr/>
          </a:p>
        </p:txBody>
      </p:sp>
      <p:sp>
        <p:nvSpPr>
          <p:cNvPr id="1099" name="Google Shape;1099;p24"/>
          <p:cNvSpPr txBox="1"/>
          <p:nvPr/>
        </p:nvSpPr>
        <p:spPr>
          <a:xfrm>
            <a:off x="105156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00" name="Google Shape;1100;p24"/>
          <p:cNvSpPr txBox="1"/>
          <p:nvPr/>
        </p:nvSpPr>
        <p:spPr>
          <a:xfrm>
            <a:off x="214884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$19,612</a:t>
            </a:r>
            <a:endParaRPr/>
          </a:p>
        </p:txBody>
      </p:sp>
      <p:sp>
        <p:nvSpPr>
          <p:cNvPr id="1101" name="Google Shape;1101;p24"/>
          <p:cNvSpPr txBox="1"/>
          <p:nvPr/>
        </p:nvSpPr>
        <p:spPr>
          <a:xfrm>
            <a:off x="50292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SC</a:t>
            </a:r>
            <a:endParaRPr/>
          </a:p>
        </p:txBody>
      </p:sp>
      <p:sp>
        <p:nvSpPr>
          <p:cNvPr id="1102" name="Google Shape;1102;p24"/>
          <p:cNvSpPr txBox="1"/>
          <p:nvPr/>
        </p:nvSpPr>
        <p:spPr>
          <a:xfrm>
            <a:off x="105156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03" name="Google Shape;1103;p24"/>
          <p:cNvSpPr txBox="1"/>
          <p:nvPr/>
        </p:nvSpPr>
        <p:spPr>
          <a:xfrm>
            <a:off x="214884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$14,880</a:t>
            </a:r>
            <a:endParaRPr/>
          </a:p>
        </p:txBody>
      </p:sp>
      <p:sp>
        <p:nvSpPr>
          <p:cNvPr id="1104" name="Google Shape;1104;p24"/>
          <p:cNvSpPr/>
          <p:nvPr/>
        </p:nvSpPr>
        <p:spPr>
          <a:xfrm>
            <a:off x="416052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5" name="Google Shape;1105;p24"/>
          <p:cNvSpPr/>
          <p:nvPr/>
        </p:nvSpPr>
        <p:spPr>
          <a:xfrm>
            <a:off x="4160520" y="1371600"/>
            <a:ext cx="36576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6" name="Google Shape;1106;p24"/>
          <p:cNvSpPr txBox="1"/>
          <p:nvPr/>
        </p:nvSpPr>
        <p:spPr>
          <a:xfrm>
            <a:off x="429768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7C3AED"/>
                </a:solidFill>
                <a:latin typeface="Quattrocento Sans"/>
                <a:ea typeface="Quattrocento Sans"/>
                <a:cs typeface="Quattrocento Sans"/>
                <a:sym typeface="Quattrocento Sans"/>
              </a:rPr>
              <a:t>FEBRUARY</a:t>
            </a:r>
            <a:endParaRPr/>
          </a:p>
        </p:txBody>
      </p:sp>
      <p:sp>
        <p:nvSpPr>
          <p:cNvPr id="1107" name="Google Shape;1107;p24"/>
          <p:cNvSpPr txBox="1"/>
          <p:nvPr/>
        </p:nvSpPr>
        <p:spPr>
          <a:xfrm>
            <a:off x="429768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$1.1M</a:t>
            </a:r>
            <a:endParaRPr/>
          </a:p>
        </p:txBody>
      </p:sp>
      <p:sp>
        <p:nvSpPr>
          <p:cNvPr id="1108" name="Google Shape;1108;p24"/>
          <p:cNvSpPr txBox="1"/>
          <p:nvPr/>
        </p:nvSpPr>
        <p:spPr>
          <a:xfrm>
            <a:off x="429768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25 binds  |  Avg $42,347</a:t>
            </a:r>
            <a:endParaRPr/>
          </a:p>
        </p:txBody>
      </p:sp>
      <p:sp>
        <p:nvSpPr>
          <p:cNvPr id="1109" name="Google Shape;1109;p24"/>
          <p:cNvSpPr/>
          <p:nvPr/>
        </p:nvSpPr>
        <p:spPr>
          <a:xfrm>
            <a:off x="429768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0" name="Google Shape;1110;p24"/>
          <p:cNvSpPr txBox="1"/>
          <p:nvPr/>
        </p:nvSpPr>
        <p:spPr>
          <a:xfrm>
            <a:off x="434340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111" name="Google Shape;1111;p24"/>
          <p:cNvSpPr txBox="1"/>
          <p:nvPr/>
        </p:nvSpPr>
        <p:spPr>
          <a:xfrm>
            <a:off x="617220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1,166</a:t>
            </a:r>
            <a:endParaRPr/>
          </a:p>
        </p:txBody>
      </p:sp>
      <p:sp>
        <p:nvSpPr>
          <p:cNvPr id="1112" name="Google Shape;1112;p24"/>
          <p:cNvSpPr txBox="1"/>
          <p:nvPr/>
        </p:nvSpPr>
        <p:spPr>
          <a:xfrm>
            <a:off x="434340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113" name="Google Shape;1113;p24"/>
          <p:cNvSpPr txBox="1"/>
          <p:nvPr/>
        </p:nvSpPr>
        <p:spPr>
          <a:xfrm>
            <a:off x="617220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589</a:t>
            </a:r>
            <a:endParaRPr/>
          </a:p>
        </p:txBody>
      </p:sp>
      <p:sp>
        <p:nvSpPr>
          <p:cNvPr id="1114" name="Google Shape;1114;p24"/>
          <p:cNvSpPr txBox="1"/>
          <p:nvPr/>
        </p:nvSpPr>
        <p:spPr>
          <a:xfrm>
            <a:off x="434340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115" name="Google Shape;1115;p24"/>
          <p:cNvSpPr txBox="1"/>
          <p:nvPr/>
        </p:nvSpPr>
        <p:spPr>
          <a:xfrm>
            <a:off x="617220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50.5%</a:t>
            </a:r>
            <a:endParaRPr/>
          </a:p>
        </p:txBody>
      </p:sp>
      <p:sp>
        <p:nvSpPr>
          <p:cNvPr id="1116" name="Google Shape;1116;p24"/>
          <p:cNvSpPr txBox="1"/>
          <p:nvPr/>
        </p:nvSpPr>
        <p:spPr>
          <a:xfrm>
            <a:off x="434340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117" name="Google Shape;1117;p24"/>
          <p:cNvSpPr txBox="1"/>
          <p:nvPr/>
        </p:nvSpPr>
        <p:spPr>
          <a:xfrm>
            <a:off x="617220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4.2%</a:t>
            </a:r>
            <a:endParaRPr/>
          </a:p>
        </p:txBody>
      </p:sp>
      <p:sp>
        <p:nvSpPr>
          <p:cNvPr id="1118" name="Google Shape;1118;p24"/>
          <p:cNvSpPr txBox="1"/>
          <p:nvPr/>
        </p:nvSpPr>
        <p:spPr>
          <a:xfrm>
            <a:off x="434340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119" name="Google Shape;1119;p24"/>
          <p:cNvSpPr txBox="1"/>
          <p:nvPr/>
        </p:nvSpPr>
        <p:spPr>
          <a:xfrm>
            <a:off x="617220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22</a:t>
            </a:r>
            <a:endParaRPr/>
          </a:p>
        </p:txBody>
      </p:sp>
      <p:sp>
        <p:nvSpPr>
          <p:cNvPr id="1120" name="Google Shape;1120;p24"/>
          <p:cNvSpPr txBox="1"/>
          <p:nvPr/>
        </p:nvSpPr>
        <p:spPr>
          <a:xfrm>
            <a:off x="434340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121" name="Google Shape;1121;p24"/>
          <p:cNvSpPr txBox="1"/>
          <p:nvPr/>
        </p:nvSpPr>
        <p:spPr>
          <a:xfrm>
            <a:off x="617220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3</a:t>
            </a:r>
            <a:endParaRPr/>
          </a:p>
        </p:txBody>
      </p:sp>
      <p:sp>
        <p:nvSpPr>
          <p:cNvPr id="1122" name="Google Shape;1122;p24"/>
          <p:cNvSpPr/>
          <p:nvPr/>
        </p:nvSpPr>
        <p:spPr>
          <a:xfrm>
            <a:off x="429768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3" name="Google Shape;1123;p24"/>
          <p:cNvSpPr txBox="1"/>
          <p:nvPr/>
        </p:nvSpPr>
        <p:spPr>
          <a:xfrm>
            <a:off x="429768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124" name="Google Shape;1124;p24"/>
          <p:cNvSpPr txBox="1"/>
          <p:nvPr/>
        </p:nvSpPr>
        <p:spPr>
          <a:xfrm>
            <a:off x="434340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125" name="Google Shape;1125;p24"/>
          <p:cNvSpPr txBox="1"/>
          <p:nvPr/>
        </p:nvSpPr>
        <p:spPr>
          <a:xfrm>
            <a:off x="489204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9 binds</a:t>
            </a:r>
            <a:endParaRPr/>
          </a:p>
        </p:txBody>
      </p:sp>
      <p:sp>
        <p:nvSpPr>
          <p:cNvPr id="1126" name="Google Shape;1126;p24"/>
          <p:cNvSpPr txBox="1"/>
          <p:nvPr/>
        </p:nvSpPr>
        <p:spPr>
          <a:xfrm>
            <a:off x="598932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$709,322</a:t>
            </a:r>
            <a:endParaRPr/>
          </a:p>
        </p:txBody>
      </p:sp>
      <p:sp>
        <p:nvSpPr>
          <p:cNvPr id="1127" name="Google Shape;1127;p24"/>
          <p:cNvSpPr txBox="1"/>
          <p:nvPr/>
        </p:nvSpPr>
        <p:spPr>
          <a:xfrm>
            <a:off x="434340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128" name="Google Shape;1128;p24"/>
          <p:cNvSpPr txBox="1"/>
          <p:nvPr/>
        </p:nvSpPr>
        <p:spPr>
          <a:xfrm>
            <a:off x="489204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11 binds</a:t>
            </a:r>
            <a:endParaRPr/>
          </a:p>
        </p:txBody>
      </p:sp>
      <p:sp>
        <p:nvSpPr>
          <p:cNvPr id="1129" name="Google Shape;1129;p24"/>
          <p:cNvSpPr txBox="1"/>
          <p:nvPr/>
        </p:nvSpPr>
        <p:spPr>
          <a:xfrm>
            <a:off x="598932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$217,687</a:t>
            </a:r>
            <a:endParaRPr/>
          </a:p>
        </p:txBody>
      </p:sp>
      <p:sp>
        <p:nvSpPr>
          <p:cNvPr id="1130" name="Google Shape;1130;p24"/>
          <p:cNvSpPr txBox="1"/>
          <p:nvPr/>
        </p:nvSpPr>
        <p:spPr>
          <a:xfrm>
            <a:off x="434340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PA</a:t>
            </a:r>
            <a:endParaRPr/>
          </a:p>
        </p:txBody>
      </p:sp>
      <p:sp>
        <p:nvSpPr>
          <p:cNvPr id="1131" name="Google Shape;1131;p24"/>
          <p:cNvSpPr txBox="1"/>
          <p:nvPr/>
        </p:nvSpPr>
        <p:spPr>
          <a:xfrm>
            <a:off x="489204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 binds</a:t>
            </a:r>
            <a:endParaRPr/>
          </a:p>
        </p:txBody>
      </p:sp>
      <p:sp>
        <p:nvSpPr>
          <p:cNvPr id="1132" name="Google Shape;1132;p24"/>
          <p:cNvSpPr txBox="1"/>
          <p:nvPr/>
        </p:nvSpPr>
        <p:spPr>
          <a:xfrm>
            <a:off x="598932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$89,154</a:t>
            </a:r>
            <a:endParaRPr/>
          </a:p>
        </p:txBody>
      </p:sp>
      <p:sp>
        <p:nvSpPr>
          <p:cNvPr id="1133" name="Google Shape;1133;p24"/>
          <p:cNvSpPr txBox="1"/>
          <p:nvPr/>
        </p:nvSpPr>
        <p:spPr>
          <a:xfrm>
            <a:off x="434340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CO</a:t>
            </a:r>
            <a:endParaRPr/>
          </a:p>
        </p:txBody>
      </p:sp>
      <p:sp>
        <p:nvSpPr>
          <p:cNvPr id="1134" name="Google Shape;1134;p24"/>
          <p:cNvSpPr txBox="1"/>
          <p:nvPr/>
        </p:nvSpPr>
        <p:spPr>
          <a:xfrm>
            <a:off x="489204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35" name="Google Shape;1135;p24"/>
          <p:cNvSpPr txBox="1"/>
          <p:nvPr/>
        </p:nvSpPr>
        <p:spPr>
          <a:xfrm>
            <a:off x="598932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$22,421</a:t>
            </a:r>
            <a:endParaRPr/>
          </a:p>
        </p:txBody>
      </p:sp>
      <p:sp>
        <p:nvSpPr>
          <p:cNvPr id="1136" name="Google Shape;1136;p24"/>
          <p:cNvSpPr/>
          <p:nvPr/>
        </p:nvSpPr>
        <p:spPr>
          <a:xfrm>
            <a:off x="800100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7" name="Google Shape;1137;p24"/>
          <p:cNvSpPr/>
          <p:nvPr/>
        </p:nvSpPr>
        <p:spPr>
          <a:xfrm>
            <a:off x="8001000" y="1371600"/>
            <a:ext cx="365760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8" name="Google Shape;1138;p24"/>
          <p:cNvSpPr txBox="1"/>
          <p:nvPr/>
        </p:nvSpPr>
        <p:spPr>
          <a:xfrm>
            <a:off x="813816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MARCH</a:t>
            </a:r>
            <a:endParaRPr/>
          </a:p>
        </p:txBody>
      </p:sp>
      <p:sp>
        <p:nvSpPr>
          <p:cNvPr id="1139" name="Google Shape;1139;p24"/>
          <p:cNvSpPr txBox="1"/>
          <p:nvPr/>
        </p:nvSpPr>
        <p:spPr>
          <a:xfrm>
            <a:off x="813816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$1.2M</a:t>
            </a:r>
            <a:endParaRPr/>
          </a:p>
        </p:txBody>
      </p:sp>
      <p:sp>
        <p:nvSpPr>
          <p:cNvPr id="1140" name="Google Shape;1140;p24"/>
          <p:cNvSpPr txBox="1"/>
          <p:nvPr/>
        </p:nvSpPr>
        <p:spPr>
          <a:xfrm>
            <a:off x="813816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51 binds  |  Avg $22,954</a:t>
            </a:r>
            <a:endParaRPr/>
          </a:p>
        </p:txBody>
      </p:sp>
      <p:sp>
        <p:nvSpPr>
          <p:cNvPr id="1141" name="Google Shape;1141;p24"/>
          <p:cNvSpPr/>
          <p:nvPr/>
        </p:nvSpPr>
        <p:spPr>
          <a:xfrm>
            <a:off x="813816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2" name="Google Shape;1142;p24"/>
          <p:cNvSpPr txBox="1"/>
          <p:nvPr/>
        </p:nvSpPr>
        <p:spPr>
          <a:xfrm>
            <a:off x="818388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143" name="Google Shape;1143;p24"/>
          <p:cNvSpPr txBox="1"/>
          <p:nvPr/>
        </p:nvSpPr>
        <p:spPr>
          <a:xfrm>
            <a:off x="1001268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1,607</a:t>
            </a:r>
            <a:endParaRPr/>
          </a:p>
        </p:txBody>
      </p:sp>
      <p:sp>
        <p:nvSpPr>
          <p:cNvPr id="1144" name="Google Shape;1144;p24"/>
          <p:cNvSpPr txBox="1"/>
          <p:nvPr/>
        </p:nvSpPr>
        <p:spPr>
          <a:xfrm>
            <a:off x="818388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145" name="Google Shape;1145;p24"/>
          <p:cNvSpPr txBox="1"/>
          <p:nvPr/>
        </p:nvSpPr>
        <p:spPr>
          <a:xfrm>
            <a:off x="1001268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870</a:t>
            </a:r>
            <a:endParaRPr/>
          </a:p>
        </p:txBody>
      </p:sp>
      <p:sp>
        <p:nvSpPr>
          <p:cNvPr id="1146" name="Google Shape;1146;p24"/>
          <p:cNvSpPr txBox="1"/>
          <p:nvPr/>
        </p:nvSpPr>
        <p:spPr>
          <a:xfrm>
            <a:off x="818388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147" name="Google Shape;1147;p24"/>
          <p:cNvSpPr txBox="1"/>
          <p:nvPr/>
        </p:nvSpPr>
        <p:spPr>
          <a:xfrm>
            <a:off x="1001268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54.1%</a:t>
            </a:r>
            <a:endParaRPr/>
          </a:p>
        </p:txBody>
      </p:sp>
      <p:sp>
        <p:nvSpPr>
          <p:cNvPr id="1148" name="Google Shape;1148;p24"/>
          <p:cNvSpPr txBox="1"/>
          <p:nvPr/>
        </p:nvSpPr>
        <p:spPr>
          <a:xfrm>
            <a:off x="818388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149" name="Google Shape;1149;p24"/>
          <p:cNvSpPr txBox="1"/>
          <p:nvPr/>
        </p:nvSpPr>
        <p:spPr>
          <a:xfrm>
            <a:off x="1001268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5.9%</a:t>
            </a:r>
            <a:endParaRPr/>
          </a:p>
        </p:txBody>
      </p:sp>
      <p:sp>
        <p:nvSpPr>
          <p:cNvPr id="1150" name="Google Shape;1150;p24"/>
          <p:cNvSpPr txBox="1"/>
          <p:nvPr/>
        </p:nvSpPr>
        <p:spPr>
          <a:xfrm>
            <a:off x="818388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151" name="Google Shape;1151;p24"/>
          <p:cNvSpPr txBox="1"/>
          <p:nvPr/>
        </p:nvSpPr>
        <p:spPr>
          <a:xfrm>
            <a:off x="1001268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49</a:t>
            </a:r>
            <a:endParaRPr/>
          </a:p>
        </p:txBody>
      </p:sp>
      <p:sp>
        <p:nvSpPr>
          <p:cNvPr id="1152" name="Google Shape;1152;p24"/>
          <p:cNvSpPr txBox="1"/>
          <p:nvPr/>
        </p:nvSpPr>
        <p:spPr>
          <a:xfrm>
            <a:off x="818388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153" name="Google Shape;1153;p24"/>
          <p:cNvSpPr txBox="1"/>
          <p:nvPr/>
        </p:nvSpPr>
        <p:spPr>
          <a:xfrm>
            <a:off x="1001268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2</a:t>
            </a:r>
            <a:endParaRPr/>
          </a:p>
        </p:txBody>
      </p:sp>
      <p:sp>
        <p:nvSpPr>
          <p:cNvPr id="1154" name="Google Shape;1154;p24"/>
          <p:cNvSpPr/>
          <p:nvPr/>
        </p:nvSpPr>
        <p:spPr>
          <a:xfrm>
            <a:off x="813816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5" name="Google Shape;1155;p24"/>
          <p:cNvSpPr txBox="1"/>
          <p:nvPr/>
        </p:nvSpPr>
        <p:spPr>
          <a:xfrm>
            <a:off x="813816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156" name="Google Shape;1156;p24"/>
          <p:cNvSpPr txBox="1"/>
          <p:nvPr/>
        </p:nvSpPr>
        <p:spPr>
          <a:xfrm>
            <a:off x="818388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157" name="Google Shape;1157;p24"/>
          <p:cNvSpPr txBox="1"/>
          <p:nvPr/>
        </p:nvSpPr>
        <p:spPr>
          <a:xfrm>
            <a:off x="873252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25 binds</a:t>
            </a:r>
            <a:endParaRPr/>
          </a:p>
        </p:txBody>
      </p:sp>
      <p:sp>
        <p:nvSpPr>
          <p:cNvPr id="1158" name="Google Shape;1158;p24"/>
          <p:cNvSpPr txBox="1"/>
          <p:nvPr/>
        </p:nvSpPr>
        <p:spPr>
          <a:xfrm>
            <a:off x="982980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$577,911</a:t>
            </a:r>
            <a:endParaRPr/>
          </a:p>
        </p:txBody>
      </p:sp>
      <p:sp>
        <p:nvSpPr>
          <p:cNvPr id="1159" name="Google Shape;1159;p24"/>
          <p:cNvSpPr txBox="1"/>
          <p:nvPr/>
        </p:nvSpPr>
        <p:spPr>
          <a:xfrm>
            <a:off x="818388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GA</a:t>
            </a:r>
            <a:endParaRPr/>
          </a:p>
        </p:txBody>
      </p:sp>
      <p:sp>
        <p:nvSpPr>
          <p:cNvPr id="1160" name="Google Shape;1160;p24"/>
          <p:cNvSpPr txBox="1"/>
          <p:nvPr/>
        </p:nvSpPr>
        <p:spPr>
          <a:xfrm>
            <a:off x="873252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4 binds</a:t>
            </a:r>
            <a:endParaRPr/>
          </a:p>
        </p:txBody>
      </p:sp>
      <p:sp>
        <p:nvSpPr>
          <p:cNvPr id="1161" name="Google Shape;1161;p24"/>
          <p:cNvSpPr txBox="1"/>
          <p:nvPr/>
        </p:nvSpPr>
        <p:spPr>
          <a:xfrm>
            <a:off x="982980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$238,871</a:t>
            </a:r>
            <a:endParaRPr/>
          </a:p>
        </p:txBody>
      </p:sp>
      <p:sp>
        <p:nvSpPr>
          <p:cNvPr id="1162" name="Google Shape;1162;p24"/>
          <p:cNvSpPr txBox="1"/>
          <p:nvPr/>
        </p:nvSpPr>
        <p:spPr>
          <a:xfrm>
            <a:off x="818388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163" name="Google Shape;1163;p24"/>
          <p:cNvSpPr txBox="1"/>
          <p:nvPr/>
        </p:nvSpPr>
        <p:spPr>
          <a:xfrm>
            <a:off x="873252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13 binds</a:t>
            </a:r>
            <a:endParaRPr/>
          </a:p>
        </p:txBody>
      </p:sp>
      <p:sp>
        <p:nvSpPr>
          <p:cNvPr id="1164" name="Google Shape;1164;p24"/>
          <p:cNvSpPr txBox="1"/>
          <p:nvPr/>
        </p:nvSpPr>
        <p:spPr>
          <a:xfrm>
            <a:off x="982980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$231,579</a:t>
            </a:r>
            <a:endParaRPr/>
          </a:p>
        </p:txBody>
      </p:sp>
      <p:sp>
        <p:nvSpPr>
          <p:cNvPr id="1165" name="Google Shape;1165;p24"/>
          <p:cNvSpPr txBox="1"/>
          <p:nvPr/>
        </p:nvSpPr>
        <p:spPr>
          <a:xfrm>
            <a:off x="818388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VA</a:t>
            </a:r>
            <a:endParaRPr/>
          </a:p>
        </p:txBody>
      </p:sp>
      <p:sp>
        <p:nvSpPr>
          <p:cNvPr id="1166" name="Google Shape;1166;p24"/>
          <p:cNvSpPr txBox="1"/>
          <p:nvPr/>
        </p:nvSpPr>
        <p:spPr>
          <a:xfrm>
            <a:off x="873252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 binds</a:t>
            </a:r>
            <a:endParaRPr/>
          </a:p>
        </p:txBody>
      </p:sp>
      <p:sp>
        <p:nvSpPr>
          <p:cNvPr id="1167" name="Google Shape;1167;p24"/>
          <p:cNvSpPr txBox="1"/>
          <p:nvPr/>
        </p:nvSpPr>
        <p:spPr>
          <a:xfrm>
            <a:off x="982980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$30,784</a:t>
            </a:r>
            <a:endParaRPr/>
          </a:p>
        </p:txBody>
      </p:sp>
      <p:sp>
        <p:nvSpPr>
          <p:cNvPr id="1168" name="Google Shape;1168;p24"/>
          <p:cNvSpPr/>
          <p:nvPr/>
        </p:nvSpPr>
        <p:spPr>
          <a:xfrm>
            <a:off x="320040" y="6400800"/>
            <a:ext cx="11521440"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9" name="Google Shape;1169;p2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0" name="Google Shape;1170;p2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171" name="Google Shape;1171;p2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175" name="Shape 1175"/>
        <p:cNvGrpSpPr/>
        <p:nvPr/>
      </p:nvGrpSpPr>
      <p:grpSpPr>
        <a:xfrm>
          <a:off x="0" y="0"/>
          <a:ext cx="0" cy="0"/>
          <a:chOff x="0" y="0"/>
          <a:chExt cx="0" cy="0"/>
        </a:xfrm>
      </p:grpSpPr>
      <p:sp>
        <p:nvSpPr>
          <p:cNvPr id="1176" name="Google Shape;1176;p2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7" name="Google Shape;1177;p2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8" name="Google Shape;1178;p2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9" name="Google Shape;1179;p2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0" name="Google Shape;1180;p2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YEARS IN BUSINESS</a:t>
            </a:r>
            <a:endParaRPr/>
          </a:p>
        </p:txBody>
      </p:sp>
      <p:sp>
        <p:nvSpPr>
          <p:cNvPr id="1181" name="Google Shape;1181;p2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New Ventures vs Established  |  2026 YTD</a:t>
            </a:r>
            <a:endParaRPr/>
          </a:p>
        </p:txBody>
      </p:sp>
      <p:sp>
        <p:nvSpPr>
          <p:cNvPr id="1182" name="Google Shape;1182;p2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3" name="Google Shape;1183;p2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4" name="Google Shape;1184;p2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5" name="Google Shape;1185;p25"/>
          <p:cNvSpPr/>
          <p:nvPr/>
        </p:nvSpPr>
        <p:spPr>
          <a:xfrm>
            <a:off x="32004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6" name="Google Shape;1186;p25"/>
          <p:cNvSpPr/>
          <p:nvPr/>
        </p:nvSpPr>
        <p:spPr>
          <a:xfrm>
            <a:off x="320040" y="1371600"/>
            <a:ext cx="365760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7" name="Google Shape;1187;p25"/>
          <p:cNvSpPr txBox="1"/>
          <p:nvPr/>
        </p:nvSpPr>
        <p:spPr>
          <a:xfrm>
            <a:off x="50292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D946EF"/>
                </a:solidFill>
                <a:latin typeface="Quattrocento Sans"/>
                <a:ea typeface="Quattrocento Sans"/>
                <a:cs typeface="Quattrocento Sans"/>
                <a:sym typeface="Quattrocento Sans"/>
              </a:rPr>
              <a:t>NEW VENTURE</a:t>
            </a:r>
            <a:endParaRPr/>
          </a:p>
        </p:txBody>
      </p:sp>
      <p:sp>
        <p:nvSpPr>
          <p:cNvPr id="1188" name="Google Shape;1188;p25"/>
          <p:cNvSpPr txBox="1"/>
          <p:nvPr/>
        </p:nvSpPr>
        <p:spPr>
          <a:xfrm>
            <a:off x="50292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0 Years in Business</a:t>
            </a:r>
            <a:endParaRPr/>
          </a:p>
        </p:txBody>
      </p:sp>
      <p:sp>
        <p:nvSpPr>
          <p:cNvPr id="1189" name="Google Shape;1189;p25"/>
          <p:cNvSpPr txBox="1"/>
          <p:nvPr/>
        </p:nvSpPr>
        <p:spPr>
          <a:xfrm>
            <a:off x="50292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$3.3M</a:t>
            </a:r>
            <a:endParaRPr/>
          </a:p>
        </p:txBody>
      </p:sp>
      <p:sp>
        <p:nvSpPr>
          <p:cNvPr id="1190" name="Google Shape;1190;p25"/>
          <p:cNvSpPr txBox="1"/>
          <p:nvPr/>
        </p:nvSpPr>
        <p:spPr>
          <a:xfrm>
            <a:off x="50292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120 binds  (65% of total)  |  63% of GWP</a:t>
            </a:r>
            <a:endParaRPr/>
          </a:p>
        </p:txBody>
      </p:sp>
      <p:sp>
        <p:nvSpPr>
          <p:cNvPr id="1191" name="Google Shape;1191;p25"/>
          <p:cNvSpPr/>
          <p:nvPr/>
        </p:nvSpPr>
        <p:spPr>
          <a:xfrm>
            <a:off x="45720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2" name="Google Shape;1192;p25"/>
          <p:cNvSpPr txBox="1"/>
          <p:nvPr/>
        </p:nvSpPr>
        <p:spPr>
          <a:xfrm>
            <a:off x="50292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193" name="Google Shape;1193;p25"/>
          <p:cNvSpPr txBox="1"/>
          <p:nvPr/>
        </p:nvSpPr>
        <p:spPr>
          <a:xfrm>
            <a:off x="233172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$27,139</a:t>
            </a:r>
            <a:endParaRPr/>
          </a:p>
        </p:txBody>
      </p:sp>
      <p:sp>
        <p:nvSpPr>
          <p:cNvPr id="1194" name="Google Shape;1194;p25"/>
          <p:cNvSpPr txBox="1"/>
          <p:nvPr/>
        </p:nvSpPr>
        <p:spPr>
          <a:xfrm>
            <a:off x="50292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195" name="Google Shape;1195;p25"/>
          <p:cNvSpPr txBox="1"/>
          <p:nvPr/>
        </p:nvSpPr>
        <p:spPr>
          <a:xfrm>
            <a:off x="233172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120</a:t>
            </a:r>
            <a:endParaRPr/>
          </a:p>
        </p:txBody>
      </p:sp>
      <p:sp>
        <p:nvSpPr>
          <p:cNvPr id="1196" name="Google Shape;1196;p25"/>
          <p:cNvSpPr txBox="1"/>
          <p:nvPr/>
        </p:nvSpPr>
        <p:spPr>
          <a:xfrm>
            <a:off x="50292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197" name="Google Shape;1197;p25"/>
          <p:cNvSpPr txBox="1"/>
          <p:nvPr/>
        </p:nvSpPr>
        <p:spPr>
          <a:xfrm>
            <a:off x="233172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65.2%</a:t>
            </a:r>
            <a:endParaRPr/>
          </a:p>
        </p:txBody>
      </p:sp>
      <p:sp>
        <p:nvSpPr>
          <p:cNvPr id="1198" name="Google Shape;1198;p25"/>
          <p:cNvSpPr txBox="1"/>
          <p:nvPr/>
        </p:nvSpPr>
        <p:spPr>
          <a:xfrm>
            <a:off x="50292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199" name="Google Shape;1199;p25"/>
          <p:cNvSpPr txBox="1"/>
          <p:nvPr/>
        </p:nvSpPr>
        <p:spPr>
          <a:xfrm>
            <a:off x="233172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62.6%</a:t>
            </a:r>
            <a:endParaRPr/>
          </a:p>
        </p:txBody>
      </p:sp>
      <p:sp>
        <p:nvSpPr>
          <p:cNvPr id="1200" name="Google Shape;1200;p25"/>
          <p:cNvSpPr/>
          <p:nvPr/>
        </p:nvSpPr>
        <p:spPr>
          <a:xfrm>
            <a:off x="45720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1" name="Google Shape;1201;p25"/>
          <p:cNvSpPr txBox="1"/>
          <p:nvPr/>
        </p:nvSpPr>
        <p:spPr>
          <a:xfrm>
            <a:off x="45720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02" name="Google Shape;1202;p25"/>
          <p:cNvSpPr txBox="1"/>
          <p:nvPr/>
        </p:nvSpPr>
        <p:spPr>
          <a:xfrm>
            <a:off x="50292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03" name="Google Shape;1203;p25"/>
          <p:cNvSpPr txBox="1"/>
          <p:nvPr/>
        </p:nvSpPr>
        <p:spPr>
          <a:xfrm>
            <a:off x="233172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1,621</a:t>
            </a:r>
            <a:endParaRPr/>
          </a:p>
        </p:txBody>
      </p:sp>
      <p:sp>
        <p:nvSpPr>
          <p:cNvPr id="1204" name="Google Shape;1204;p25"/>
          <p:cNvSpPr txBox="1"/>
          <p:nvPr/>
        </p:nvSpPr>
        <p:spPr>
          <a:xfrm>
            <a:off x="50292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05" name="Google Shape;1205;p25"/>
          <p:cNvSpPr txBox="1"/>
          <p:nvPr/>
        </p:nvSpPr>
        <p:spPr>
          <a:xfrm>
            <a:off x="233172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771</a:t>
            </a:r>
            <a:endParaRPr/>
          </a:p>
        </p:txBody>
      </p:sp>
      <p:sp>
        <p:nvSpPr>
          <p:cNvPr id="1206" name="Google Shape;1206;p25"/>
          <p:cNvSpPr txBox="1"/>
          <p:nvPr/>
        </p:nvSpPr>
        <p:spPr>
          <a:xfrm>
            <a:off x="50292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07" name="Google Shape;1207;p25"/>
          <p:cNvSpPr txBox="1"/>
          <p:nvPr/>
        </p:nvSpPr>
        <p:spPr>
          <a:xfrm>
            <a:off x="233172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34</a:t>
            </a:r>
            <a:endParaRPr/>
          </a:p>
        </p:txBody>
      </p:sp>
      <p:sp>
        <p:nvSpPr>
          <p:cNvPr id="1208" name="Google Shape;1208;p25"/>
          <p:cNvSpPr txBox="1"/>
          <p:nvPr/>
        </p:nvSpPr>
        <p:spPr>
          <a:xfrm>
            <a:off x="50292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09" name="Google Shape;1209;p25"/>
          <p:cNvSpPr txBox="1"/>
          <p:nvPr/>
        </p:nvSpPr>
        <p:spPr>
          <a:xfrm>
            <a:off x="233172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47.6%</a:t>
            </a:r>
            <a:endParaRPr/>
          </a:p>
        </p:txBody>
      </p:sp>
      <p:sp>
        <p:nvSpPr>
          <p:cNvPr id="1210" name="Google Shape;1210;p25"/>
          <p:cNvSpPr txBox="1"/>
          <p:nvPr/>
        </p:nvSpPr>
        <p:spPr>
          <a:xfrm>
            <a:off x="50292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11" name="Google Shape;1211;p25"/>
          <p:cNvSpPr txBox="1"/>
          <p:nvPr/>
        </p:nvSpPr>
        <p:spPr>
          <a:xfrm>
            <a:off x="233172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2.1%</a:t>
            </a:r>
            <a:endParaRPr/>
          </a:p>
        </p:txBody>
      </p:sp>
      <p:sp>
        <p:nvSpPr>
          <p:cNvPr id="1212" name="Google Shape;1212;p25"/>
          <p:cNvSpPr txBox="1"/>
          <p:nvPr/>
        </p:nvSpPr>
        <p:spPr>
          <a:xfrm>
            <a:off x="45720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13" name="Google Shape;1213;p25"/>
          <p:cNvSpPr txBox="1"/>
          <p:nvPr/>
        </p:nvSpPr>
        <p:spPr>
          <a:xfrm>
            <a:off x="45720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Jan: 5 / $119,381  |  Feb: 13 / $433,452  |  Mar: 36 / $832,939</a:t>
            </a:r>
            <a:endParaRPr/>
          </a:p>
        </p:txBody>
      </p:sp>
      <p:sp>
        <p:nvSpPr>
          <p:cNvPr id="1214" name="Google Shape;1214;p25"/>
          <p:cNvSpPr/>
          <p:nvPr/>
        </p:nvSpPr>
        <p:spPr>
          <a:xfrm>
            <a:off x="411480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5" name="Google Shape;1215;p25"/>
          <p:cNvSpPr/>
          <p:nvPr/>
        </p:nvSpPr>
        <p:spPr>
          <a:xfrm>
            <a:off x="4114800" y="1371600"/>
            <a:ext cx="36576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6" name="Google Shape;1216;p25"/>
          <p:cNvSpPr txBox="1"/>
          <p:nvPr/>
        </p:nvSpPr>
        <p:spPr>
          <a:xfrm>
            <a:off x="429768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8B5CF6"/>
                </a:solidFill>
                <a:latin typeface="Quattrocento Sans"/>
                <a:ea typeface="Quattrocento Sans"/>
                <a:cs typeface="Quattrocento Sans"/>
                <a:sym typeface="Quattrocento Sans"/>
              </a:rPr>
              <a:t>1 YEAR</a:t>
            </a:r>
            <a:endParaRPr/>
          </a:p>
        </p:txBody>
      </p:sp>
      <p:sp>
        <p:nvSpPr>
          <p:cNvPr id="1217" name="Google Shape;1217;p25"/>
          <p:cNvSpPr txBox="1"/>
          <p:nvPr/>
        </p:nvSpPr>
        <p:spPr>
          <a:xfrm>
            <a:off x="429768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1 Year in Business</a:t>
            </a:r>
            <a:endParaRPr/>
          </a:p>
        </p:txBody>
      </p:sp>
      <p:sp>
        <p:nvSpPr>
          <p:cNvPr id="1218" name="Google Shape;1218;p25"/>
          <p:cNvSpPr txBox="1"/>
          <p:nvPr/>
        </p:nvSpPr>
        <p:spPr>
          <a:xfrm>
            <a:off x="429768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$262,342</a:t>
            </a:r>
            <a:endParaRPr/>
          </a:p>
        </p:txBody>
      </p:sp>
      <p:sp>
        <p:nvSpPr>
          <p:cNvPr id="1219" name="Google Shape;1219;p25"/>
          <p:cNvSpPr txBox="1"/>
          <p:nvPr/>
        </p:nvSpPr>
        <p:spPr>
          <a:xfrm>
            <a:off x="429768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 binds  (7% of total)  |  5% of GWP</a:t>
            </a:r>
            <a:endParaRPr/>
          </a:p>
        </p:txBody>
      </p:sp>
      <p:sp>
        <p:nvSpPr>
          <p:cNvPr id="1220" name="Google Shape;1220;p25"/>
          <p:cNvSpPr/>
          <p:nvPr/>
        </p:nvSpPr>
        <p:spPr>
          <a:xfrm>
            <a:off x="425196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1" name="Google Shape;1221;p25"/>
          <p:cNvSpPr txBox="1"/>
          <p:nvPr/>
        </p:nvSpPr>
        <p:spPr>
          <a:xfrm>
            <a:off x="429768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222" name="Google Shape;1222;p25"/>
          <p:cNvSpPr txBox="1"/>
          <p:nvPr/>
        </p:nvSpPr>
        <p:spPr>
          <a:xfrm>
            <a:off x="612648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$21,862</a:t>
            </a:r>
            <a:endParaRPr/>
          </a:p>
        </p:txBody>
      </p:sp>
      <p:sp>
        <p:nvSpPr>
          <p:cNvPr id="1223" name="Google Shape;1223;p25"/>
          <p:cNvSpPr txBox="1"/>
          <p:nvPr/>
        </p:nvSpPr>
        <p:spPr>
          <a:xfrm>
            <a:off x="429768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224" name="Google Shape;1224;p25"/>
          <p:cNvSpPr txBox="1"/>
          <p:nvPr/>
        </p:nvSpPr>
        <p:spPr>
          <a:xfrm>
            <a:off x="612648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12</a:t>
            </a:r>
            <a:endParaRPr/>
          </a:p>
        </p:txBody>
      </p:sp>
      <p:sp>
        <p:nvSpPr>
          <p:cNvPr id="1225" name="Google Shape;1225;p25"/>
          <p:cNvSpPr txBox="1"/>
          <p:nvPr/>
        </p:nvSpPr>
        <p:spPr>
          <a:xfrm>
            <a:off x="429768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226" name="Google Shape;1226;p25"/>
          <p:cNvSpPr txBox="1"/>
          <p:nvPr/>
        </p:nvSpPr>
        <p:spPr>
          <a:xfrm>
            <a:off x="612648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6.5%</a:t>
            </a:r>
            <a:endParaRPr/>
          </a:p>
        </p:txBody>
      </p:sp>
      <p:sp>
        <p:nvSpPr>
          <p:cNvPr id="1227" name="Google Shape;1227;p25"/>
          <p:cNvSpPr txBox="1"/>
          <p:nvPr/>
        </p:nvSpPr>
        <p:spPr>
          <a:xfrm>
            <a:off x="429768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228" name="Google Shape;1228;p25"/>
          <p:cNvSpPr txBox="1"/>
          <p:nvPr/>
        </p:nvSpPr>
        <p:spPr>
          <a:xfrm>
            <a:off x="612648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5.0%</a:t>
            </a:r>
            <a:endParaRPr/>
          </a:p>
        </p:txBody>
      </p:sp>
      <p:sp>
        <p:nvSpPr>
          <p:cNvPr id="1229" name="Google Shape;1229;p25"/>
          <p:cNvSpPr/>
          <p:nvPr/>
        </p:nvSpPr>
        <p:spPr>
          <a:xfrm>
            <a:off x="425196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0" name="Google Shape;1230;p25"/>
          <p:cNvSpPr txBox="1"/>
          <p:nvPr/>
        </p:nvSpPr>
        <p:spPr>
          <a:xfrm>
            <a:off x="425196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31" name="Google Shape;1231;p25"/>
          <p:cNvSpPr txBox="1"/>
          <p:nvPr/>
        </p:nvSpPr>
        <p:spPr>
          <a:xfrm>
            <a:off x="429768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32" name="Google Shape;1232;p25"/>
          <p:cNvSpPr txBox="1"/>
          <p:nvPr/>
        </p:nvSpPr>
        <p:spPr>
          <a:xfrm>
            <a:off x="612648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107</a:t>
            </a:r>
            <a:endParaRPr/>
          </a:p>
        </p:txBody>
      </p:sp>
      <p:sp>
        <p:nvSpPr>
          <p:cNvPr id="1233" name="Google Shape;1233;p25"/>
          <p:cNvSpPr txBox="1"/>
          <p:nvPr/>
        </p:nvSpPr>
        <p:spPr>
          <a:xfrm>
            <a:off x="429768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34" name="Google Shape;1234;p25"/>
          <p:cNvSpPr txBox="1"/>
          <p:nvPr/>
        </p:nvSpPr>
        <p:spPr>
          <a:xfrm>
            <a:off x="612648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46</a:t>
            </a:r>
            <a:endParaRPr/>
          </a:p>
        </p:txBody>
      </p:sp>
      <p:sp>
        <p:nvSpPr>
          <p:cNvPr id="1235" name="Google Shape;1235;p25"/>
          <p:cNvSpPr txBox="1"/>
          <p:nvPr/>
        </p:nvSpPr>
        <p:spPr>
          <a:xfrm>
            <a:off x="429768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36" name="Google Shape;1236;p25"/>
          <p:cNvSpPr txBox="1"/>
          <p:nvPr/>
        </p:nvSpPr>
        <p:spPr>
          <a:xfrm>
            <a:off x="612648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a:t>
            </a:r>
            <a:endParaRPr/>
          </a:p>
        </p:txBody>
      </p:sp>
      <p:sp>
        <p:nvSpPr>
          <p:cNvPr id="1237" name="Google Shape;1237;p25"/>
          <p:cNvSpPr txBox="1"/>
          <p:nvPr/>
        </p:nvSpPr>
        <p:spPr>
          <a:xfrm>
            <a:off x="429768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38" name="Google Shape;1238;p25"/>
          <p:cNvSpPr txBox="1"/>
          <p:nvPr/>
        </p:nvSpPr>
        <p:spPr>
          <a:xfrm>
            <a:off x="612648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43.0%</a:t>
            </a:r>
            <a:endParaRPr/>
          </a:p>
        </p:txBody>
      </p:sp>
      <p:sp>
        <p:nvSpPr>
          <p:cNvPr id="1239" name="Google Shape;1239;p25"/>
          <p:cNvSpPr txBox="1"/>
          <p:nvPr/>
        </p:nvSpPr>
        <p:spPr>
          <a:xfrm>
            <a:off x="429768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40" name="Google Shape;1240;p25"/>
          <p:cNvSpPr txBox="1"/>
          <p:nvPr/>
        </p:nvSpPr>
        <p:spPr>
          <a:xfrm>
            <a:off x="612648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1.9%</a:t>
            </a:r>
            <a:endParaRPr/>
          </a:p>
        </p:txBody>
      </p:sp>
      <p:sp>
        <p:nvSpPr>
          <p:cNvPr id="1241" name="Google Shape;1241;p25"/>
          <p:cNvSpPr txBox="1"/>
          <p:nvPr/>
        </p:nvSpPr>
        <p:spPr>
          <a:xfrm>
            <a:off x="425196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42" name="Google Shape;1242;p25"/>
          <p:cNvSpPr txBox="1"/>
          <p:nvPr/>
        </p:nvSpPr>
        <p:spPr>
          <a:xfrm>
            <a:off x="425196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Feb: 2 / $37,241  |  Mar: 4 / $90,112</a:t>
            </a:r>
            <a:endParaRPr/>
          </a:p>
        </p:txBody>
      </p:sp>
      <p:sp>
        <p:nvSpPr>
          <p:cNvPr id="1243" name="Google Shape;1243;p25"/>
          <p:cNvSpPr/>
          <p:nvPr/>
        </p:nvSpPr>
        <p:spPr>
          <a:xfrm>
            <a:off x="790956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4" name="Google Shape;1244;p25"/>
          <p:cNvSpPr/>
          <p:nvPr/>
        </p:nvSpPr>
        <p:spPr>
          <a:xfrm>
            <a:off x="7909560" y="1371600"/>
            <a:ext cx="36576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5" name="Google Shape;1245;p25"/>
          <p:cNvSpPr txBox="1"/>
          <p:nvPr/>
        </p:nvSpPr>
        <p:spPr>
          <a:xfrm>
            <a:off x="809244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7C3AED"/>
                </a:solidFill>
                <a:latin typeface="Quattrocento Sans"/>
                <a:ea typeface="Quattrocento Sans"/>
                <a:cs typeface="Quattrocento Sans"/>
                <a:sym typeface="Quattrocento Sans"/>
              </a:rPr>
              <a:t>2+ YEARS</a:t>
            </a:r>
            <a:endParaRPr/>
          </a:p>
        </p:txBody>
      </p:sp>
      <p:sp>
        <p:nvSpPr>
          <p:cNvPr id="1246" name="Google Shape;1246;p25"/>
          <p:cNvSpPr txBox="1"/>
          <p:nvPr/>
        </p:nvSpPr>
        <p:spPr>
          <a:xfrm>
            <a:off x="809244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Established Business</a:t>
            </a:r>
            <a:endParaRPr/>
          </a:p>
        </p:txBody>
      </p:sp>
      <p:sp>
        <p:nvSpPr>
          <p:cNvPr id="1247" name="Google Shape;1247;p25"/>
          <p:cNvSpPr txBox="1"/>
          <p:nvPr/>
        </p:nvSpPr>
        <p:spPr>
          <a:xfrm>
            <a:off x="809244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$1.7M</a:t>
            </a:r>
            <a:endParaRPr/>
          </a:p>
        </p:txBody>
      </p:sp>
      <p:sp>
        <p:nvSpPr>
          <p:cNvPr id="1248" name="Google Shape;1248;p25"/>
          <p:cNvSpPr txBox="1"/>
          <p:nvPr/>
        </p:nvSpPr>
        <p:spPr>
          <a:xfrm>
            <a:off x="809244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52 binds  (28% of total)  |  32% of GWP</a:t>
            </a:r>
            <a:endParaRPr/>
          </a:p>
        </p:txBody>
      </p:sp>
      <p:sp>
        <p:nvSpPr>
          <p:cNvPr id="1249" name="Google Shape;1249;p25"/>
          <p:cNvSpPr/>
          <p:nvPr/>
        </p:nvSpPr>
        <p:spPr>
          <a:xfrm>
            <a:off x="804672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0" name="Google Shape;1250;p25"/>
          <p:cNvSpPr txBox="1"/>
          <p:nvPr/>
        </p:nvSpPr>
        <p:spPr>
          <a:xfrm>
            <a:off x="809244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251" name="Google Shape;1251;p25"/>
          <p:cNvSpPr txBox="1"/>
          <p:nvPr/>
        </p:nvSpPr>
        <p:spPr>
          <a:xfrm>
            <a:off x="992124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$32,411</a:t>
            </a:r>
            <a:endParaRPr/>
          </a:p>
        </p:txBody>
      </p:sp>
      <p:sp>
        <p:nvSpPr>
          <p:cNvPr id="1252" name="Google Shape;1252;p25"/>
          <p:cNvSpPr txBox="1"/>
          <p:nvPr/>
        </p:nvSpPr>
        <p:spPr>
          <a:xfrm>
            <a:off x="809244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253" name="Google Shape;1253;p25"/>
          <p:cNvSpPr txBox="1"/>
          <p:nvPr/>
        </p:nvSpPr>
        <p:spPr>
          <a:xfrm>
            <a:off x="992124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52</a:t>
            </a:r>
            <a:endParaRPr/>
          </a:p>
        </p:txBody>
      </p:sp>
      <p:sp>
        <p:nvSpPr>
          <p:cNvPr id="1254" name="Google Shape;1254;p25"/>
          <p:cNvSpPr txBox="1"/>
          <p:nvPr/>
        </p:nvSpPr>
        <p:spPr>
          <a:xfrm>
            <a:off x="809244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255" name="Google Shape;1255;p25"/>
          <p:cNvSpPr txBox="1"/>
          <p:nvPr/>
        </p:nvSpPr>
        <p:spPr>
          <a:xfrm>
            <a:off x="992124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28.3%</a:t>
            </a:r>
            <a:endParaRPr/>
          </a:p>
        </p:txBody>
      </p:sp>
      <p:sp>
        <p:nvSpPr>
          <p:cNvPr id="1256" name="Google Shape;1256;p25"/>
          <p:cNvSpPr txBox="1"/>
          <p:nvPr/>
        </p:nvSpPr>
        <p:spPr>
          <a:xfrm>
            <a:off x="809244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257" name="Google Shape;1257;p25"/>
          <p:cNvSpPr txBox="1"/>
          <p:nvPr/>
        </p:nvSpPr>
        <p:spPr>
          <a:xfrm>
            <a:off x="992124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32.4%</a:t>
            </a:r>
            <a:endParaRPr/>
          </a:p>
        </p:txBody>
      </p:sp>
      <p:sp>
        <p:nvSpPr>
          <p:cNvPr id="1258" name="Google Shape;1258;p25"/>
          <p:cNvSpPr/>
          <p:nvPr/>
        </p:nvSpPr>
        <p:spPr>
          <a:xfrm>
            <a:off x="804672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9" name="Google Shape;1259;p25"/>
          <p:cNvSpPr txBox="1"/>
          <p:nvPr/>
        </p:nvSpPr>
        <p:spPr>
          <a:xfrm>
            <a:off x="804672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60" name="Google Shape;1260;p25"/>
          <p:cNvSpPr txBox="1"/>
          <p:nvPr/>
        </p:nvSpPr>
        <p:spPr>
          <a:xfrm>
            <a:off x="809244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61" name="Google Shape;1261;p25"/>
          <p:cNvSpPr txBox="1"/>
          <p:nvPr/>
        </p:nvSpPr>
        <p:spPr>
          <a:xfrm>
            <a:off x="992124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272</a:t>
            </a:r>
            <a:endParaRPr/>
          </a:p>
        </p:txBody>
      </p:sp>
      <p:sp>
        <p:nvSpPr>
          <p:cNvPr id="1262" name="Google Shape;1262;p25"/>
          <p:cNvSpPr txBox="1"/>
          <p:nvPr/>
        </p:nvSpPr>
        <p:spPr>
          <a:xfrm>
            <a:off x="809244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63" name="Google Shape;1263;p25"/>
          <p:cNvSpPr txBox="1"/>
          <p:nvPr/>
        </p:nvSpPr>
        <p:spPr>
          <a:xfrm>
            <a:off x="992124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108</a:t>
            </a:r>
            <a:endParaRPr/>
          </a:p>
        </p:txBody>
      </p:sp>
      <p:sp>
        <p:nvSpPr>
          <p:cNvPr id="1264" name="Google Shape;1264;p25"/>
          <p:cNvSpPr txBox="1"/>
          <p:nvPr/>
        </p:nvSpPr>
        <p:spPr>
          <a:xfrm>
            <a:off x="809244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65" name="Google Shape;1265;p25"/>
          <p:cNvSpPr txBox="1"/>
          <p:nvPr/>
        </p:nvSpPr>
        <p:spPr>
          <a:xfrm>
            <a:off x="992124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11</a:t>
            </a:r>
            <a:endParaRPr/>
          </a:p>
        </p:txBody>
      </p:sp>
      <p:sp>
        <p:nvSpPr>
          <p:cNvPr id="1266" name="Google Shape;1266;p25"/>
          <p:cNvSpPr txBox="1"/>
          <p:nvPr/>
        </p:nvSpPr>
        <p:spPr>
          <a:xfrm>
            <a:off x="809244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67" name="Google Shape;1267;p25"/>
          <p:cNvSpPr txBox="1"/>
          <p:nvPr/>
        </p:nvSpPr>
        <p:spPr>
          <a:xfrm>
            <a:off x="992124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39.7%</a:t>
            </a:r>
            <a:endParaRPr/>
          </a:p>
        </p:txBody>
      </p:sp>
      <p:sp>
        <p:nvSpPr>
          <p:cNvPr id="1268" name="Google Shape;1268;p25"/>
          <p:cNvSpPr txBox="1"/>
          <p:nvPr/>
        </p:nvSpPr>
        <p:spPr>
          <a:xfrm>
            <a:off x="809244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69" name="Google Shape;1269;p25"/>
          <p:cNvSpPr txBox="1"/>
          <p:nvPr/>
        </p:nvSpPr>
        <p:spPr>
          <a:xfrm>
            <a:off x="992124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4.0%</a:t>
            </a:r>
            <a:endParaRPr/>
          </a:p>
        </p:txBody>
      </p:sp>
      <p:sp>
        <p:nvSpPr>
          <p:cNvPr id="1270" name="Google Shape;1270;p25"/>
          <p:cNvSpPr txBox="1"/>
          <p:nvPr/>
        </p:nvSpPr>
        <p:spPr>
          <a:xfrm>
            <a:off x="804672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71" name="Google Shape;1271;p25"/>
          <p:cNvSpPr txBox="1"/>
          <p:nvPr/>
        </p:nvSpPr>
        <p:spPr>
          <a:xfrm>
            <a:off x="804672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Jan: 8 / $381,345  |  Feb: 10 / $587,987  |  Mar: 11 / $247,579</a:t>
            </a:r>
            <a:endParaRPr/>
          </a:p>
        </p:txBody>
      </p:sp>
      <p:sp>
        <p:nvSpPr>
          <p:cNvPr id="1272" name="Google Shape;1272;p2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3" name="Google Shape;1273;p2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274" name="Google Shape;1274;p2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278" name="Shape 1278"/>
        <p:cNvGrpSpPr/>
        <p:nvPr/>
      </p:nvGrpSpPr>
      <p:grpSpPr>
        <a:xfrm>
          <a:off x="0" y="0"/>
          <a:ext cx="0" cy="0"/>
          <a:chOff x="0" y="0"/>
          <a:chExt cx="0" cy="0"/>
        </a:xfrm>
      </p:grpSpPr>
      <p:sp>
        <p:nvSpPr>
          <p:cNvPr id="1279" name="Google Shape;1279;p2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0" name="Google Shape;1280;p2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1" name="Google Shape;1281;p2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2" name="Google Shape;1282;p2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3" name="Google Shape;1283;p2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FEBRUARY CAMPAIGN RECAP</a:t>
            </a:r>
            <a:endParaRPr/>
          </a:p>
        </p:txBody>
      </p:sp>
      <p:sp>
        <p:nvSpPr>
          <p:cNvPr id="1284" name="Google Shape;1284;p2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What We Did  |  Growth DSG + Newsletter + 32-State Expansion</a:t>
            </a:r>
            <a:endParaRPr/>
          </a:p>
        </p:txBody>
      </p:sp>
      <p:sp>
        <p:nvSpPr>
          <p:cNvPr id="1285" name="Google Shape;1285;p2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6" name="Google Shape;1286;p2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7" name="Google Shape;1287;p2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8" name="Google Shape;1288;p26"/>
          <p:cNvSpPr/>
          <p:nvPr/>
        </p:nvSpPr>
        <p:spPr>
          <a:xfrm>
            <a:off x="2743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9" name="Google Shape;1289;p26"/>
          <p:cNvSpPr/>
          <p:nvPr/>
        </p:nvSpPr>
        <p:spPr>
          <a:xfrm>
            <a:off x="274320" y="1371600"/>
            <a:ext cx="3703320" cy="32004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0" name="Google Shape;1290;p26"/>
          <p:cNvSpPr txBox="1"/>
          <p:nvPr/>
        </p:nvSpPr>
        <p:spPr>
          <a:xfrm>
            <a:off x="4114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GROWTH DSG CAMPAIGN</a:t>
            </a:r>
            <a:endParaRPr/>
          </a:p>
        </p:txBody>
      </p:sp>
      <p:sp>
        <p:nvSpPr>
          <p:cNvPr id="1291" name="Google Shape;1291;p26"/>
          <p:cNvSpPr txBox="1"/>
          <p:nvPr/>
        </p:nvSpPr>
        <p:spPr>
          <a:xfrm>
            <a:off x="4114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7,297</a:t>
            </a:r>
            <a:endParaRPr/>
          </a:p>
        </p:txBody>
      </p:sp>
      <p:sp>
        <p:nvSpPr>
          <p:cNvPr id="1292" name="Google Shape;1292;p26"/>
          <p:cNvSpPr txBox="1"/>
          <p:nvPr/>
        </p:nvSpPr>
        <p:spPr>
          <a:xfrm>
            <a:off x="15544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emails sent</a:t>
            </a:r>
            <a:endParaRPr/>
          </a:p>
        </p:txBody>
      </p:sp>
      <p:sp>
        <p:nvSpPr>
          <p:cNvPr id="1293" name="Google Shape;1293;p26"/>
          <p:cNvSpPr txBox="1"/>
          <p:nvPr/>
        </p:nvSpPr>
        <p:spPr>
          <a:xfrm>
            <a:off x="4114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2,052 opened (28.8%)</a:t>
            </a:r>
            <a:endParaRPr/>
          </a:p>
        </p:txBody>
      </p:sp>
      <p:sp>
        <p:nvSpPr>
          <p:cNvPr id="1294" name="Google Shape;1294;p26"/>
          <p:cNvSpPr txBox="1"/>
          <p:nvPr/>
        </p:nvSpPr>
        <p:spPr>
          <a:xfrm>
            <a:off x="4114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1,200 contacts influenced</a:t>
            </a:r>
            <a:endParaRPr/>
          </a:p>
        </p:txBody>
      </p:sp>
      <p:sp>
        <p:nvSpPr>
          <p:cNvPr id="1295" name="Google Shape;1295;p26"/>
          <p:cNvSpPr txBox="1"/>
          <p:nvPr/>
        </p:nvSpPr>
        <p:spPr>
          <a:xfrm>
            <a:off x="4114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5 of 16 Feb bound agents directly tied to campaign</a:t>
            </a:r>
            <a:endParaRPr/>
          </a:p>
        </p:txBody>
      </p:sp>
      <p:sp>
        <p:nvSpPr>
          <p:cNvPr id="1296" name="Google Shape;1296;p26"/>
          <p:cNvSpPr/>
          <p:nvPr/>
        </p:nvSpPr>
        <p:spPr>
          <a:xfrm>
            <a:off x="41605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7" name="Google Shape;1297;p26"/>
          <p:cNvSpPr/>
          <p:nvPr/>
        </p:nvSpPr>
        <p:spPr>
          <a:xfrm>
            <a:off x="4160520" y="1371600"/>
            <a:ext cx="3703320" cy="320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8" name="Google Shape;1298;p26"/>
          <p:cNvSpPr txBox="1"/>
          <p:nvPr/>
        </p:nvSpPr>
        <p:spPr>
          <a:xfrm>
            <a:off x="42976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AGENT NEWSLETTER</a:t>
            </a:r>
            <a:endParaRPr/>
          </a:p>
        </p:txBody>
      </p:sp>
      <p:sp>
        <p:nvSpPr>
          <p:cNvPr id="1299" name="Google Shape;1299;p26"/>
          <p:cNvSpPr txBox="1"/>
          <p:nvPr/>
        </p:nvSpPr>
        <p:spPr>
          <a:xfrm>
            <a:off x="42976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~2,399</a:t>
            </a:r>
            <a:endParaRPr/>
          </a:p>
        </p:txBody>
      </p:sp>
      <p:sp>
        <p:nvSpPr>
          <p:cNvPr id="1300" name="Google Shape;1300;p26"/>
          <p:cNvSpPr txBox="1"/>
          <p:nvPr/>
        </p:nvSpPr>
        <p:spPr>
          <a:xfrm>
            <a:off x="54406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recipients</a:t>
            </a:r>
            <a:endParaRPr/>
          </a:p>
        </p:txBody>
      </p:sp>
      <p:sp>
        <p:nvSpPr>
          <p:cNvPr id="1301" name="Google Shape;1301;p26"/>
          <p:cNvSpPr txBox="1"/>
          <p:nvPr/>
        </p:nvSpPr>
        <p:spPr>
          <a:xfrm>
            <a:off x="42976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4 confirmed  |  7 likely opens</a:t>
            </a:r>
            <a:endParaRPr/>
          </a:p>
        </p:txBody>
      </p:sp>
      <p:sp>
        <p:nvSpPr>
          <p:cNvPr id="1302" name="Google Shape;1302;p26"/>
          <p:cNvSpPr txBox="1"/>
          <p:nvPr/>
        </p:nvSpPr>
        <p:spPr>
          <a:xfrm>
            <a:off x="42976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~69% estimated reach</a:t>
            </a:r>
            <a:endParaRPr/>
          </a:p>
        </p:txBody>
      </p:sp>
      <p:sp>
        <p:nvSpPr>
          <p:cNvPr id="1303" name="Google Shape;1303;p26"/>
          <p:cNvSpPr txBox="1"/>
          <p:nvPr/>
        </p:nvSpPr>
        <p:spPr>
          <a:xfrm>
            <a:off x="42976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13 of 16 bound agents currently marketable</a:t>
            </a:r>
            <a:endParaRPr/>
          </a:p>
        </p:txBody>
      </p:sp>
      <p:sp>
        <p:nvSpPr>
          <p:cNvPr id="1304" name="Google Shape;1304;p26"/>
          <p:cNvSpPr/>
          <p:nvPr/>
        </p:nvSpPr>
        <p:spPr>
          <a:xfrm>
            <a:off x="80467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5" name="Google Shape;1305;p26"/>
          <p:cNvSpPr/>
          <p:nvPr/>
        </p:nvSpPr>
        <p:spPr>
          <a:xfrm>
            <a:off x="8046720" y="1371600"/>
            <a:ext cx="3703320" cy="32004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6" name="Google Shape;1306;p26"/>
          <p:cNvSpPr txBox="1"/>
          <p:nvPr/>
        </p:nvSpPr>
        <p:spPr>
          <a:xfrm>
            <a:off x="81838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DSG EXPANSION LAUNCH</a:t>
            </a:r>
            <a:endParaRPr/>
          </a:p>
        </p:txBody>
      </p:sp>
      <p:sp>
        <p:nvSpPr>
          <p:cNvPr id="1307" name="Google Shape;1307;p26"/>
          <p:cNvSpPr txBox="1"/>
          <p:nvPr/>
        </p:nvSpPr>
        <p:spPr>
          <a:xfrm>
            <a:off x="81838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10 → 32</a:t>
            </a:r>
            <a:endParaRPr/>
          </a:p>
        </p:txBody>
      </p:sp>
      <p:sp>
        <p:nvSpPr>
          <p:cNvPr id="1308" name="Google Shape;1308;p26"/>
          <p:cNvSpPr txBox="1"/>
          <p:nvPr/>
        </p:nvSpPr>
        <p:spPr>
          <a:xfrm>
            <a:off x="93268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states</a:t>
            </a:r>
            <a:endParaRPr/>
          </a:p>
        </p:txBody>
      </p:sp>
      <p:sp>
        <p:nvSpPr>
          <p:cNvPr id="1309" name="Google Shape;1309;p26"/>
          <p:cNvSpPr txBox="1"/>
          <p:nvPr/>
        </p:nvSpPr>
        <p:spPr>
          <a:xfrm>
            <a:off x="81838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Announced Feb 5, 2026</a:t>
            </a:r>
            <a:endParaRPr/>
          </a:p>
        </p:txBody>
      </p:sp>
      <p:sp>
        <p:nvSpPr>
          <p:cNvPr id="1310" name="Google Shape;1310;p26"/>
          <p:cNvSpPr txBox="1"/>
          <p:nvPr/>
        </p:nvSpPr>
        <p:spPr>
          <a:xfrm>
            <a:off x="81838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22 new states opened</a:t>
            </a:r>
            <a:endParaRPr/>
          </a:p>
        </p:txBody>
      </p:sp>
      <p:sp>
        <p:nvSpPr>
          <p:cNvPr id="1311" name="Google Shape;1311;p26"/>
          <p:cNvSpPr txBox="1"/>
          <p:nvPr/>
        </p:nvSpPr>
        <p:spPr>
          <a:xfrm>
            <a:off x="81838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87 expansion-state subs in first month</a:t>
            </a:r>
            <a:endParaRPr/>
          </a:p>
        </p:txBody>
      </p:sp>
      <p:sp>
        <p:nvSpPr>
          <p:cNvPr id="1312" name="Google Shape;1312;p26"/>
          <p:cNvSpPr txBox="1"/>
          <p:nvPr/>
        </p:nvSpPr>
        <p:spPr>
          <a:xfrm>
            <a:off x="274320" y="3063240"/>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CAMPAIGN → PIPELINE RESULTS</a:t>
            </a:r>
            <a:endParaRPr/>
          </a:p>
        </p:txBody>
      </p:sp>
      <p:sp>
        <p:nvSpPr>
          <p:cNvPr id="1313" name="Google Shape;1313;p26"/>
          <p:cNvSpPr/>
          <p:nvPr/>
        </p:nvSpPr>
        <p:spPr>
          <a:xfrm>
            <a:off x="274320" y="3337560"/>
            <a:ext cx="18288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4" name="Google Shape;1314;p26"/>
          <p:cNvSpPr/>
          <p:nvPr/>
        </p:nvSpPr>
        <p:spPr>
          <a:xfrm>
            <a:off x="3657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5" name="Google Shape;1315;p26"/>
          <p:cNvSpPr/>
          <p:nvPr/>
        </p:nvSpPr>
        <p:spPr>
          <a:xfrm>
            <a:off x="365760" y="3493008"/>
            <a:ext cx="201168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6" name="Google Shape;1316;p26"/>
          <p:cNvSpPr txBox="1"/>
          <p:nvPr/>
        </p:nvSpPr>
        <p:spPr>
          <a:xfrm>
            <a:off x="4572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7C3AED"/>
                </a:solidFill>
                <a:latin typeface="Quattrocento Sans"/>
                <a:ea typeface="Quattrocento Sans"/>
                <a:cs typeface="Quattrocento Sans"/>
                <a:sym typeface="Quattrocento Sans"/>
              </a:rPr>
              <a:t>2,552</a:t>
            </a:r>
            <a:endParaRPr/>
          </a:p>
        </p:txBody>
      </p:sp>
      <p:sp>
        <p:nvSpPr>
          <p:cNvPr id="1317" name="Google Shape;1317;p26"/>
          <p:cNvSpPr txBox="1"/>
          <p:nvPr/>
        </p:nvSpPr>
        <p:spPr>
          <a:xfrm>
            <a:off x="4572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Submissions</a:t>
            </a:r>
            <a:endParaRPr/>
          </a:p>
        </p:txBody>
      </p:sp>
      <p:sp>
        <p:nvSpPr>
          <p:cNvPr id="1318" name="Google Shape;1318;p26"/>
          <p:cNvSpPr txBox="1"/>
          <p:nvPr/>
        </p:nvSpPr>
        <p:spPr>
          <a:xfrm>
            <a:off x="26517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19" name="Google Shape;1319;p26"/>
          <p:cNvSpPr/>
          <p:nvPr/>
        </p:nvSpPr>
        <p:spPr>
          <a:xfrm>
            <a:off x="31089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0" name="Google Shape;1320;p26"/>
          <p:cNvSpPr/>
          <p:nvPr/>
        </p:nvSpPr>
        <p:spPr>
          <a:xfrm>
            <a:off x="3108960" y="3493008"/>
            <a:ext cx="201168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1" name="Google Shape;1321;p26"/>
          <p:cNvSpPr txBox="1"/>
          <p:nvPr/>
        </p:nvSpPr>
        <p:spPr>
          <a:xfrm>
            <a:off x="32004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8B5CF6"/>
                </a:solidFill>
                <a:latin typeface="Quattrocento Sans"/>
                <a:ea typeface="Quattrocento Sans"/>
                <a:cs typeface="Quattrocento Sans"/>
                <a:sym typeface="Quattrocento Sans"/>
              </a:rPr>
              <a:t>1,352</a:t>
            </a:r>
            <a:endParaRPr/>
          </a:p>
        </p:txBody>
      </p:sp>
      <p:sp>
        <p:nvSpPr>
          <p:cNvPr id="1322" name="Google Shape;1322;p26"/>
          <p:cNvSpPr txBox="1"/>
          <p:nvPr/>
        </p:nvSpPr>
        <p:spPr>
          <a:xfrm>
            <a:off x="32004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Quoted (53%)</a:t>
            </a:r>
            <a:endParaRPr/>
          </a:p>
        </p:txBody>
      </p:sp>
      <p:sp>
        <p:nvSpPr>
          <p:cNvPr id="1323" name="Google Shape;1323;p26"/>
          <p:cNvSpPr txBox="1"/>
          <p:nvPr/>
        </p:nvSpPr>
        <p:spPr>
          <a:xfrm>
            <a:off x="53949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24" name="Google Shape;1324;p26"/>
          <p:cNvSpPr/>
          <p:nvPr/>
        </p:nvSpPr>
        <p:spPr>
          <a:xfrm>
            <a:off x="58521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5" name="Google Shape;1325;p26"/>
          <p:cNvSpPr/>
          <p:nvPr/>
        </p:nvSpPr>
        <p:spPr>
          <a:xfrm>
            <a:off x="5852160" y="3493008"/>
            <a:ext cx="201168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6" name="Google Shape;1326;p26"/>
          <p:cNvSpPr txBox="1"/>
          <p:nvPr/>
        </p:nvSpPr>
        <p:spPr>
          <a:xfrm>
            <a:off x="59436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36</a:t>
            </a:r>
            <a:endParaRPr/>
          </a:p>
        </p:txBody>
      </p:sp>
      <p:sp>
        <p:nvSpPr>
          <p:cNvPr id="1327" name="Google Shape;1327;p26"/>
          <p:cNvSpPr txBox="1"/>
          <p:nvPr/>
        </p:nvSpPr>
        <p:spPr>
          <a:xfrm>
            <a:off x="59436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Bound</a:t>
            </a:r>
            <a:endParaRPr/>
          </a:p>
        </p:txBody>
      </p:sp>
      <p:sp>
        <p:nvSpPr>
          <p:cNvPr id="1328" name="Google Shape;1328;p26"/>
          <p:cNvSpPr txBox="1"/>
          <p:nvPr/>
        </p:nvSpPr>
        <p:spPr>
          <a:xfrm>
            <a:off x="81381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29" name="Google Shape;1329;p26"/>
          <p:cNvSpPr/>
          <p:nvPr/>
        </p:nvSpPr>
        <p:spPr>
          <a:xfrm>
            <a:off x="85953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0" name="Google Shape;1330;p26"/>
          <p:cNvSpPr/>
          <p:nvPr/>
        </p:nvSpPr>
        <p:spPr>
          <a:xfrm>
            <a:off x="8595360" y="3493008"/>
            <a:ext cx="201168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1" name="Google Shape;1331;p26"/>
          <p:cNvSpPr txBox="1"/>
          <p:nvPr/>
        </p:nvSpPr>
        <p:spPr>
          <a:xfrm>
            <a:off x="86868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$1.4M</a:t>
            </a:r>
            <a:endParaRPr/>
          </a:p>
        </p:txBody>
      </p:sp>
      <p:sp>
        <p:nvSpPr>
          <p:cNvPr id="1332" name="Google Shape;1332;p26"/>
          <p:cNvSpPr txBox="1"/>
          <p:nvPr/>
        </p:nvSpPr>
        <p:spPr>
          <a:xfrm>
            <a:off x="86868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GWP</a:t>
            </a:r>
            <a:endParaRPr/>
          </a:p>
        </p:txBody>
      </p:sp>
      <p:sp>
        <p:nvSpPr>
          <p:cNvPr id="1333" name="Google Shape;1333;p26"/>
          <p:cNvSpPr txBox="1"/>
          <p:nvPr/>
        </p:nvSpPr>
        <p:spPr>
          <a:xfrm>
            <a:off x="274320" y="4434840"/>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TEAM OUTREACH ACTIVITY</a:t>
            </a:r>
            <a:endParaRPr/>
          </a:p>
        </p:txBody>
      </p:sp>
      <p:sp>
        <p:nvSpPr>
          <p:cNvPr id="1334" name="Google Shape;1334;p26"/>
          <p:cNvSpPr/>
          <p:nvPr/>
        </p:nvSpPr>
        <p:spPr>
          <a:xfrm>
            <a:off x="274320" y="4709160"/>
            <a:ext cx="18288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5" name="Google Shape;1335;p26"/>
          <p:cNvSpPr/>
          <p:nvPr/>
        </p:nvSpPr>
        <p:spPr>
          <a:xfrm>
            <a:off x="274320"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6" name="Google Shape;1336;p26"/>
          <p:cNvSpPr/>
          <p:nvPr/>
        </p:nvSpPr>
        <p:spPr>
          <a:xfrm>
            <a:off x="274320" y="4846320"/>
            <a:ext cx="54864" cy="105156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7" name="Google Shape;1337;p26"/>
          <p:cNvSpPr txBox="1"/>
          <p:nvPr/>
        </p:nvSpPr>
        <p:spPr>
          <a:xfrm>
            <a:off x="438912"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Dominic Purkett</a:t>
            </a:r>
            <a:endParaRPr/>
          </a:p>
        </p:txBody>
      </p:sp>
      <p:sp>
        <p:nvSpPr>
          <p:cNvPr id="1338" name="Google Shape;1338;p26"/>
          <p:cNvSpPr txBox="1"/>
          <p:nvPr/>
        </p:nvSpPr>
        <p:spPr>
          <a:xfrm>
            <a:off x="438912"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53 outbound  |  20 agencies</a:t>
            </a:r>
            <a:endParaRPr/>
          </a:p>
        </p:txBody>
      </p:sp>
      <p:sp>
        <p:nvSpPr>
          <p:cNvPr id="1339" name="Google Shape;1339;p26"/>
          <p:cNvSpPr txBox="1"/>
          <p:nvPr/>
        </p:nvSpPr>
        <p:spPr>
          <a:xfrm>
            <a:off x="438912"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 pre-bind wins</a:t>
            </a:r>
            <a:endParaRPr/>
          </a:p>
        </p:txBody>
      </p:sp>
      <p:sp>
        <p:nvSpPr>
          <p:cNvPr id="1340" name="Google Shape;1340;p26"/>
          <p:cNvSpPr/>
          <p:nvPr/>
        </p:nvSpPr>
        <p:spPr>
          <a:xfrm>
            <a:off x="438912"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1" name="Google Shape;1341;p26"/>
          <p:cNvSpPr/>
          <p:nvPr/>
        </p:nvSpPr>
        <p:spPr>
          <a:xfrm>
            <a:off x="438912" y="5650992"/>
            <a:ext cx="1828800" cy="137160"/>
          </a:xfrm>
          <a:prstGeom prst="roundRect">
            <a:avLst>
              <a:gd fmla="val 3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2" name="Google Shape;1342;p26"/>
          <p:cNvSpPr/>
          <p:nvPr/>
        </p:nvSpPr>
        <p:spPr>
          <a:xfrm>
            <a:off x="260603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3" name="Google Shape;1343;p26"/>
          <p:cNvSpPr/>
          <p:nvPr/>
        </p:nvSpPr>
        <p:spPr>
          <a:xfrm>
            <a:off x="2606039" y="4846320"/>
            <a:ext cx="54864" cy="105156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4" name="Google Shape;1344;p26"/>
          <p:cNvSpPr txBox="1"/>
          <p:nvPr/>
        </p:nvSpPr>
        <p:spPr>
          <a:xfrm>
            <a:off x="277063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Latoya Madlock</a:t>
            </a:r>
            <a:endParaRPr/>
          </a:p>
        </p:txBody>
      </p:sp>
      <p:sp>
        <p:nvSpPr>
          <p:cNvPr id="1345" name="Google Shape;1345;p26"/>
          <p:cNvSpPr txBox="1"/>
          <p:nvPr/>
        </p:nvSpPr>
        <p:spPr>
          <a:xfrm>
            <a:off x="277063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22 outbound  |  16 agencies</a:t>
            </a:r>
            <a:endParaRPr/>
          </a:p>
        </p:txBody>
      </p:sp>
      <p:sp>
        <p:nvSpPr>
          <p:cNvPr id="1346" name="Google Shape;1346;p26"/>
          <p:cNvSpPr txBox="1"/>
          <p:nvPr/>
        </p:nvSpPr>
        <p:spPr>
          <a:xfrm>
            <a:off x="277063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18 growth notes</a:t>
            </a:r>
            <a:endParaRPr/>
          </a:p>
        </p:txBody>
      </p:sp>
      <p:sp>
        <p:nvSpPr>
          <p:cNvPr id="1347" name="Google Shape;1347;p26"/>
          <p:cNvSpPr/>
          <p:nvPr/>
        </p:nvSpPr>
        <p:spPr>
          <a:xfrm>
            <a:off x="277063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8" name="Google Shape;1348;p26"/>
          <p:cNvSpPr/>
          <p:nvPr/>
        </p:nvSpPr>
        <p:spPr>
          <a:xfrm>
            <a:off x="2770631" y="5650992"/>
            <a:ext cx="759124" cy="137160"/>
          </a:xfrm>
          <a:prstGeom prst="roundRect">
            <a:avLst>
              <a:gd fmla="val 3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9" name="Google Shape;1349;p26"/>
          <p:cNvSpPr/>
          <p:nvPr/>
        </p:nvSpPr>
        <p:spPr>
          <a:xfrm>
            <a:off x="493775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0" name="Google Shape;1350;p26"/>
          <p:cNvSpPr/>
          <p:nvPr/>
        </p:nvSpPr>
        <p:spPr>
          <a:xfrm>
            <a:off x="4937759" y="4846320"/>
            <a:ext cx="54864" cy="105156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1" name="Google Shape;1351;p26"/>
          <p:cNvSpPr txBox="1"/>
          <p:nvPr/>
        </p:nvSpPr>
        <p:spPr>
          <a:xfrm>
            <a:off x="510235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Westy McLaughlin</a:t>
            </a:r>
            <a:endParaRPr/>
          </a:p>
        </p:txBody>
      </p:sp>
      <p:sp>
        <p:nvSpPr>
          <p:cNvPr id="1352" name="Google Shape;1352;p26"/>
          <p:cNvSpPr txBox="1"/>
          <p:nvPr/>
        </p:nvSpPr>
        <p:spPr>
          <a:xfrm>
            <a:off x="510235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20 outbound  |  9 agencies</a:t>
            </a:r>
            <a:endParaRPr/>
          </a:p>
        </p:txBody>
      </p:sp>
      <p:sp>
        <p:nvSpPr>
          <p:cNvPr id="1353" name="Google Shape;1353;p26"/>
          <p:cNvSpPr txBox="1"/>
          <p:nvPr/>
        </p:nvSpPr>
        <p:spPr>
          <a:xfrm>
            <a:off x="510235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22 growth notes</a:t>
            </a:r>
            <a:endParaRPr/>
          </a:p>
        </p:txBody>
      </p:sp>
      <p:sp>
        <p:nvSpPr>
          <p:cNvPr id="1354" name="Google Shape;1354;p26"/>
          <p:cNvSpPr/>
          <p:nvPr/>
        </p:nvSpPr>
        <p:spPr>
          <a:xfrm>
            <a:off x="510235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5" name="Google Shape;1355;p26"/>
          <p:cNvSpPr/>
          <p:nvPr/>
        </p:nvSpPr>
        <p:spPr>
          <a:xfrm>
            <a:off x="5102351" y="5650992"/>
            <a:ext cx="690113" cy="137160"/>
          </a:xfrm>
          <a:prstGeom prst="roundRect">
            <a:avLst>
              <a:gd fmla="val 3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6" name="Google Shape;1356;p26"/>
          <p:cNvSpPr/>
          <p:nvPr/>
        </p:nvSpPr>
        <p:spPr>
          <a:xfrm>
            <a:off x="726947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7" name="Google Shape;1357;p26"/>
          <p:cNvSpPr/>
          <p:nvPr/>
        </p:nvSpPr>
        <p:spPr>
          <a:xfrm>
            <a:off x="7269479" y="4846320"/>
            <a:ext cx="54864" cy="105156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8" name="Google Shape;1358;p26"/>
          <p:cNvSpPr txBox="1"/>
          <p:nvPr/>
        </p:nvSpPr>
        <p:spPr>
          <a:xfrm>
            <a:off x="743407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Cameron Brader</a:t>
            </a:r>
            <a:endParaRPr/>
          </a:p>
        </p:txBody>
      </p:sp>
      <p:sp>
        <p:nvSpPr>
          <p:cNvPr id="1359" name="Google Shape;1359;p26"/>
          <p:cNvSpPr txBox="1"/>
          <p:nvPr/>
        </p:nvSpPr>
        <p:spPr>
          <a:xfrm>
            <a:off x="743407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14 outbound  |  9 agencies</a:t>
            </a:r>
            <a:endParaRPr/>
          </a:p>
        </p:txBody>
      </p:sp>
      <p:sp>
        <p:nvSpPr>
          <p:cNvPr id="1360" name="Google Shape;1360;p26"/>
          <p:cNvSpPr txBox="1"/>
          <p:nvPr/>
        </p:nvSpPr>
        <p:spPr>
          <a:xfrm>
            <a:off x="743407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 agencies called</a:t>
            </a:r>
            <a:endParaRPr/>
          </a:p>
        </p:txBody>
      </p:sp>
      <p:sp>
        <p:nvSpPr>
          <p:cNvPr id="1361" name="Google Shape;1361;p26"/>
          <p:cNvSpPr/>
          <p:nvPr/>
        </p:nvSpPr>
        <p:spPr>
          <a:xfrm>
            <a:off x="743407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2" name="Google Shape;1362;p26"/>
          <p:cNvSpPr/>
          <p:nvPr/>
        </p:nvSpPr>
        <p:spPr>
          <a:xfrm>
            <a:off x="7434071" y="5650992"/>
            <a:ext cx="483079" cy="137160"/>
          </a:xfrm>
          <a:prstGeom prst="roundRect">
            <a:avLst>
              <a:gd fmla="val 3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3" name="Google Shape;1363;p26"/>
          <p:cNvSpPr/>
          <p:nvPr/>
        </p:nvSpPr>
        <p:spPr>
          <a:xfrm>
            <a:off x="9601200"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4" name="Google Shape;1364;p26"/>
          <p:cNvSpPr/>
          <p:nvPr/>
        </p:nvSpPr>
        <p:spPr>
          <a:xfrm>
            <a:off x="9601200" y="4846320"/>
            <a:ext cx="54864" cy="105156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5" name="Google Shape;1365;p26"/>
          <p:cNvSpPr txBox="1"/>
          <p:nvPr/>
        </p:nvSpPr>
        <p:spPr>
          <a:xfrm>
            <a:off x="9765792"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Antonio Reyes</a:t>
            </a:r>
            <a:endParaRPr/>
          </a:p>
        </p:txBody>
      </p:sp>
      <p:sp>
        <p:nvSpPr>
          <p:cNvPr id="1366" name="Google Shape;1366;p26"/>
          <p:cNvSpPr txBox="1"/>
          <p:nvPr/>
        </p:nvSpPr>
        <p:spPr>
          <a:xfrm>
            <a:off x="9765792"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6 outbound  |  4 agencies</a:t>
            </a:r>
            <a:endParaRPr/>
          </a:p>
        </p:txBody>
      </p:sp>
      <p:sp>
        <p:nvSpPr>
          <p:cNvPr id="1367" name="Google Shape;1367;p26"/>
          <p:cNvSpPr txBox="1"/>
          <p:nvPr/>
        </p:nvSpPr>
        <p:spPr>
          <a:xfrm>
            <a:off x="9765792"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3 pre-bind calls</a:t>
            </a:r>
            <a:endParaRPr/>
          </a:p>
        </p:txBody>
      </p:sp>
      <p:sp>
        <p:nvSpPr>
          <p:cNvPr id="1368" name="Google Shape;1368;p26"/>
          <p:cNvSpPr/>
          <p:nvPr/>
        </p:nvSpPr>
        <p:spPr>
          <a:xfrm>
            <a:off x="9765792"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9" name="Google Shape;1369;p26"/>
          <p:cNvSpPr/>
          <p:nvPr/>
        </p:nvSpPr>
        <p:spPr>
          <a:xfrm>
            <a:off x="9765792" y="5650992"/>
            <a:ext cx="207033" cy="137160"/>
          </a:xfrm>
          <a:prstGeom prst="roundRect">
            <a:avLst>
              <a:gd fmla="val 3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0" name="Google Shape;1370;p2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1" name="Google Shape;1371;p2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372" name="Google Shape;1372;p2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376" name="Shape 1376"/>
        <p:cNvGrpSpPr/>
        <p:nvPr/>
      </p:nvGrpSpPr>
      <p:grpSpPr>
        <a:xfrm>
          <a:off x="0" y="0"/>
          <a:ext cx="0" cy="0"/>
          <a:chOff x="0" y="0"/>
          <a:chExt cx="0" cy="0"/>
        </a:xfrm>
      </p:grpSpPr>
      <p:sp>
        <p:nvSpPr>
          <p:cNvPr id="1377" name="Google Shape;1377;p2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8" name="Google Shape;1378;p2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9" name="Google Shape;1379;p2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0" name="Google Shape;1380;p2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1" name="Google Shape;1381;p2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EXPANSION WINS &amp; TEAM PERFORMANCE</a:t>
            </a:r>
            <a:endParaRPr/>
          </a:p>
        </p:txBody>
      </p:sp>
      <p:sp>
        <p:nvSpPr>
          <p:cNvPr id="1382" name="Google Shape;1382;p2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February 2026 Results  |  YTD: 36 Binds, $1.4M GWP</a:t>
            </a:r>
            <a:endParaRPr/>
          </a:p>
        </p:txBody>
      </p:sp>
      <p:sp>
        <p:nvSpPr>
          <p:cNvPr id="1383" name="Google Shape;1383;p2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4" name="Google Shape;1384;p2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5" name="Google Shape;1385;p2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6" name="Google Shape;1386;p27"/>
          <p:cNvSpPr/>
          <p:nvPr/>
        </p:nvSpPr>
        <p:spPr>
          <a:xfrm>
            <a:off x="274320"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7" name="Google Shape;1387;p27"/>
          <p:cNvSpPr/>
          <p:nvPr/>
        </p:nvSpPr>
        <p:spPr>
          <a:xfrm>
            <a:off x="274320" y="1371600"/>
            <a:ext cx="219456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8" name="Google Shape;1388;p27"/>
          <p:cNvSpPr txBox="1"/>
          <p:nvPr/>
        </p:nvSpPr>
        <p:spPr>
          <a:xfrm>
            <a:off x="365760"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7C3AED"/>
                </a:solidFill>
                <a:latin typeface="Quattrocento Sans"/>
                <a:ea typeface="Quattrocento Sans"/>
                <a:cs typeface="Quattrocento Sans"/>
                <a:sym typeface="Quattrocento Sans"/>
              </a:rPr>
              <a:t>$500,726</a:t>
            </a:r>
            <a:endParaRPr/>
          </a:p>
        </p:txBody>
      </p:sp>
      <p:sp>
        <p:nvSpPr>
          <p:cNvPr id="1389" name="Google Shape;1389;p27"/>
          <p:cNvSpPr txBox="1"/>
          <p:nvPr/>
        </p:nvSpPr>
        <p:spPr>
          <a:xfrm>
            <a:off x="365760"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January Premium</a:t>
            </a:r>
            <a:endParaRPr/>
          </a:p>
        </p:txBody>
      </p:sp>
      <p:sp>
        <p:nvSpPr>
          <p:cNvPr id="1390" name="Google Shape;1390;p27"/>
          <p:cNvSpPr txBox="1"/>
          <p:nvPr/>
        </p:nvSpPr>
        <p:spPr>
          <a:xfrm>
            <a:off x="365760"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13 binds</a:t>
            </a:r>
            <a:endParaRPr/>
          </a:p>
        </p:txBody>
      </p:sp>
      <p:sp>
        <p:nvSpPr>
          <p:cNvPr id="1391" name="Google Shape;1391;p27"/>
          <p:cNvSpPr/>
          <p:nvPr/>
        </p:nvSpPr>
        <p:spPr>
          <a:xfrm>
            <a:off x="260603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2" name="Google Shape;1392;p27"/>
          <p:cNvSpPr/>
          <p:nvPr/>
        </p:nvSpPr>
        <p:spPr>
          <a:xfrm>
            <a:off x="2606039" y="1371600"/>
            <a:ext cx="219456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3" name="Google Shape;1393;p27"/>
          <p:cNvSpPr txBox="1"/>
          <p:nvPr/>
        </p:nvSpPr>
        <p:spPr>
          <a:xfrm>
            <a:off x="269747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0B981"/>
                </a:solidFill>
                <a:latin typeface="Quattrocento Sans"/>
                <a:ea typeface="Quattrocento Sans"/>
                <a:cs typeface="Quattrocento Sans"/>
                <a:sym typeface="Quattrocento Sans"/>
              </a:rPr>
              <a:t>$873,413</a:t>
            </a:r>
            <a:endParaRPr/>
          </a:p>
        </p:txBody>
      </p:sp>
      <p:sp>
        <p:nvSpPr>
          <p:cNvPr id="1394" name="Google Shape;1394;p27"/>
          <p:cNvSpPr txBox="1"/>
          <p:nvPr/>
        </p:nvSpPr>
        <p:spPr>
          <a:xfrm>
            <a:off x="269747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February Premium</a:t>
            </a:r>
            <a:endParaRPr/>
          </a:p>
        </p:txBody>
      </p:sp>
      <p:sp>
        <p:nvSpPr>
          <p:cNvPr id="1395" name="Google Shape;1395;p27"/>
          <p:cNvSpPr txBox="1"/>
          <p:nvPr/>
        </p:nvSpPr>
        <p:spPr>
          <a:xfrm>
            <a:off x="269747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22 binds  |  +74% MoM</a:t>
            </a:r>
            <a:endParaRPr/>
          </a:p>
        </p:txBody>
      </p:sp>
      <p:sp>
        <p:nvSpPr>
          <p:cNvPr id="1396" name="Google Shape;1396;p27"/>
          <p:cNvSpPr/>
          <p:nvPr/>
        </p:nvSpPr>
        <p:spPr>
          <a:xfrm>
            <a:off x="493775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7" name="Google Shape;1397;p27"/>
          <p:cNvSpPr/>
          <p:nvPr/>
        </p:nvSpPr>
        <p:spPr>
          <a:xfrm>
            <a:off x="4937759" y="1371600"/>
            <a:ext cx="2194560" cy="4572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8" name="Google Shape;1398;p27"/>
          <p:cNvSpPr txBox="1"/>
          <p:nvPr/>
        </p:nvSpPr>
        <p:spPr>
          <a:xfrm>
            <a:off x="502919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E073B"/>
                </a:solidFill>
                <a:latin typeface="Quattrocento Sans"/>
                <a:ea typeface="Quattrocento Sans"/>
                <a:cs typeface="Quattrocento Sans"/>
                <a:sym typeface="Quattrocento Sans"/>
              </a:rPr>
              <a:t>$1.4M</a:t>
            </a:r>
            <a:endParaRPr/>
          </a:p>
        </p:txBody>
      </p:sp>
      <p:sp>
        <p:nvSpPr>
          <p:cNvPr id="1399" name="Google Shape;1399;p27"/>
          <p:cNvSpPr txBox="1"/>
          <p:nvPr/>
        </p:nvSpPr>
        <p:spPr>
          <a:xfrm>
            <a:off x="502919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YTD GWP</a:t>
            </a:r>
            <a:endParaRPr/>
          </a:p>
        </p:txBody>
      </p:sp>
      <p:sp>
        <p:nvSpPr>
          <p:cNvPr id="1400" name="Google Shape;1400;p27"/>
          <p:cNvSpPr txBox="1"/>
          <p:nvPr/>
        </p:nvSpPr>
        <p:spPr>
          <a:xfrm>
            <a:off x="502919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36 total binds</a:t>
            </a:r>
            <a:endParaRPr/>
          </a:p>
        </p:txBody>
      </p:sp>
      <p:sp>
        <p:nvSpPr>
          <p:cNvPr id="1401" name="Google Shape;1401;p27"/>
          <p:cNvSpPr/>
          <p:nvPr/>
        </p:nvSpPr>
        <p:spPr>
          <a:xfrm>
            <a:off x="726947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2" name="Google Shape;1402;p27"/>
          <p:cNvSpPr/>
          <p:nvPr/>
        </p:nvSpPr>
        <p:spPr>
          <a:xfrm>
            <a:off x="7269479" y="1371600"/>
            <a:ext cx="219456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3" name="Google Shape;1403;p27"/>
          <p:cNvSpPr txBox="1"/>
          <p:nvPr/>
        </p:nvSpPr>
        <p:spPr>
          <a:xfrm>
            <a:off x="736091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0B981"/>
                </a:solidFill>
                <a:latin typeface="Quattrocento Sans"/>
                <a:ea typeface="Quattrocento Sans"/>
                <a:cs typeface="Quattrocento Sans"/>
                <a:sym typeface="Quattrocento Sans"/>
              </a:rPr>
              <a:t>54.2%</a:t>
            </a:r>
            <a:endParaRPr/>
          </a:p>
        </p:txBody>
      </p:sp>
      <p:sp>
        <p:nvSpPr>
          <p:cNvPr id="1404" name="Google Shape;1404;p27"/>
          <p:cNvSpPr txBox="1"/>
          <p:nvPr/>
        </p:nvSpPr>
        <p:spPr>
          <a:xfrm>
            <a:off x="736091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 Quote Rate</a:t>
            </a:r>
            <a:endParaRPr/>
          </a:p>
        </p:txBody>
      </p:sp>
      <p:sp>
        <p:nvSpPr>
          <p:cNvPr id="1405" name="Google Shape;1405;p27"/>
          <p:cNvSpPr txBox="1"/>
          <p:nvPr/>
        </p:nvSpPr>
        <p:spPr>
          <a:xfrm>
            <a:off x="736091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vs 45.3% program avg</a:t>
            </a:r>
            <a:endParaRPr/>
          </a:p>
        </p:txBody>
      </p:sp>
      <p:sp>
        <p:nvSpPr>
          <p:cNvPr id="1406" name="Google Shape;1406;p27"/>
          <p:cNvSpPr/>
          <p:nvPr/>
        </p:nvSpPr>
        <p:spPr>
          <a:xfrm>
            <a:off x="9601200"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7" name="Google Shape;1407;p27"/>
          <p:cNvSpPr/>
          <p:nvPr/>
        </p:nvSpPr>
        <p:spPr>
          <a:xfrm>
            <a:off x="9601200" y="1371600"/>
            <a:ext cx="219456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8" name="Google Shape;1408;p27"/>
          <p:cNvSpPr txBox="1"/>
          <p:nvPr/>
        </p:nvSpPr>
        <p:spPr>
          <a:xfrm>
            <a:off x="9692640"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7C3AED"/>
                </a:solidFill>
                <a:latin typeface="Quattrocento Sans"/>
                <a:ea typeface="Quattrocento Sans"/>
                <a:cs typeface="Quattrocento Sans"/>
                <a:sym typeface="Quattrocento Sans"/>
              </a:rPr>
              <a:t>13 / 22</a:t>
            </a:r>
            <a:endParaRPr/>
          </a:p>
        </p:txBody>
      </p:sp>
      <p:sp>
        <p:nvSpPr>
          <p:cNvPr id="1409" name="Google Shape;1409;p27"/>
          <p:cNvSpPr txBox="1"/>
          <p:nvPr/>
        </p:nvSpPr>
        <p:spPr>
          <a:xfrm>
            <a:off x="9692640"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Expansion States Active</a:t>
            </a:r>
            <a:endParaRPr/>
          </a:p>
        </p:txBody>
      </p:sp>
      <p:sp>
        <p:nvSpPr>
          <p:cNvPr id="1410" name="Google Shape;1410;p27"/>
          <p:cNvSpPr txBox="1"/>
          <p:nvPr/>
        </p:nvSpPr>
        <p:spPr>
          <a:xfrm>
            <a:off x="9692640"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87 subs  |  3 binds ($35K)</a:t>
            </a:r>
            <a:endParaRPr/>
          </a:p>
        </p:txBody>
      </p:sp>
      <p:sp>
        <p:nvSpPr>
          <p:cNvPr id="1411" name="Google Shape;1411;p27"/>
          <p:cNvSpPr txBox="1"/>
          <p:nvPr/>
        </p:nvSpPr>
        <p:spPr>
          <a:xfrm>
            <a:off x="274320" y="242316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WINS — FEBRUARY 2026</a:t>
            </a:r>
            <a:endParaRPr/>
          </a:p>
        </p:txBody>
      </p:sp>
      <p:sp>
        <p:nvSpPr>
          <p:cNvPr id="1412" name="Google Shape;1412;p27"/>
          <p:cNvSpPr/>
          <p:nvPr/>
        </p:nvSpPr>
        <p:spPr>
          <a:xfrm>
            <a:off x="274320" y="267004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413" name="Google Shape;1413;p27"/>
          <p:cNvGraphicFramePr/>
          <p:nvPr/>
        </p:nvGraphicFramePr>
        <p:xfrm>
          <a:off x="274320" y="2761488"/>
          <a:ext cx="3000000" cy="3000000"/>
        </p:xfrm>
        <a:graphic>
          <a:graphicData uri="http://schemas.openxmlformats.org/drawingml/2006/table">
            <a:tbl>
              <a:tblPr>
                <a:noFill/>
                <a:tableStyleId>{D82A8721-ECEF-4CED-8E2A-D61C263BF4EF}</a:tableStyleId>
              </a:tblPr>
              <a:tblGrid>
                <a:gridCol w="1463050"/>
                <a:gridCol w="1371600"/>
                <a:gridCol w="457200"/>
                <a:gridCol w="640075"/>
                <a:gridCol w="1371600"/>
              </a:tblGrid>
              <a:tr h="21945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$205K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Guillen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$136K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Boo's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$109K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A&amp;M Trucking Repair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USG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$83K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Cover Badger (6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$83K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Justin Robert (2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$53K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Insuremart (3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Insuremart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$48K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Ins4Truckers (6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$47K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414" name="Google Shape;1414;p27"/>
          <p:cNvSpPr txBox="1"/>
          <p:nvPr/>
        </p:nvSpPr>
        <p:spPr>
          <a:xfrm>
            <a:off x="6217920" y="242316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MARKETING ATTRIBUTION</a:t>
            </a:r>
            <a:endParaRPr/>
          </a:p>
        </p:txBody>
      </p:sp>
      <p:sp>
        <p:nvSpPr>
          <p:cNvPr id="1415" name="Google Shape;1415;p27"/>
          <p:cNvSpPr/>
          <p:nvPr/>
        </p:nvSpPr>
        <p:spPr>
          <a:xfrm>
            <a:off x="6217920" y="267004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6" name="Google Shape;1416;p27"/>
          <p:cNvSpPr/>
          <p:nvPr/>
        </p:nvSpPr>
        <p:spPr>
          <a:xfrm>
            <a:off x="6217920" y="2816352"/>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7" name="Google Shape;1417;p27"/>
          <p:cNvSpPr/>
          <p:nvPr/>
        </p:nvSpPr>
        <p:spPr>
          <a:xfrm>
            <a:off x="6217920" y="2816352"/>
            <a:ext cx="54864" cy="34747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8" name="Google Shape;1418;p27"/>
          <p:cNvSpPr txBox="1"/>
          <p:nvPr/>
        </p:nvSpPr>
        <p:spPr>
          <a:xfrm>
            <a:off x="6400800" y="2862072"/>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5 / 16</a:t>
            </a:r>
            <a:endParaRPr/>
          </a:p>
        </p:txBody>
      </p:sp>
      <p:sp>
        <p:nvSpPr>
          <p:cNvPr id="1419" name="Google Shape;1419;p27"/>
          <p:cNvSpPr txBox="1"/>
          <p:nvPr/>
        </p:nvSpPr>
        <p:spPr>
          <a:xfrm>
            <a:off x="7406640" y="2880360"/>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agents directly influenced by Growth DSG campaign</a:t>
            </a:r>
            <a:endParaRPr/>
          </a:p>
        </p:txBody>
      </p:sp>
      <p:sp>
        <p:nvSpPr>
          <p:cNvPr id="1420" name="Google Shape;1420;p27"/>
          <p:cNvSpPr/>
          <p:nvPr/>
        </p:nvSpPr>
        <p:spPr>
          <a:xfrm>
            <a:off x="6217920" y="3200400"/>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1" name="Google Shape;1421;p27"/>
          <p:cNvSpPr/>
          <p:nvPr/>
        </p:nvSpPr>
        <p:spPr>
          <a:xfrm>
            <a:off x="6217920" y="3200400"/>
            <a:ext cx="54864" cy="34747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2" name="Google Shape;1422;p27"/>
          <p:cNvSpPr txBox="1"/>
          <p:nvPr/>
        </p:nvSpPr>
        <p:spPr>
          <a:xfrm>
            <a:off x="6400800" y="3246120"/>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7C3AED"/>
                </a:solidFill>
                <a:latin typeface="Quattrocento Sans"/>
                <a:ea typeface="Quattrocento Sans"/>
                <a:cs typeface="Quattrocento Sans"/>
                <a:sym typeface="Quattrocento Sans"/>
              </a:rPr>
              <a:t>13 / 16</a:t>
            </a:r>
            <a:endParaRPr/>
          </a:p>
        </p:txBody>
      </p:sp>
      <p:sp>
        <p:nvSpPr>
          <p:cNvPr id="1423" name="Google Shape;1423;p27"/>
          <p:cNvSpPr txBox="1"/>
          <p:nvPr/>
        </p:nvSpPr>
        <p:spPr>
          <a:xfrm>
            <a:off x="7406640" y="3264408"/>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bound agents were currently marketable (81%)</a:t>
            </a:r>
            <a:endParaRPr/>
          </a:p>
        </p:txBody>
      </p:sp>
      <p:sp>
        <p:nvSpPr>
          <p:cNvPr id="1424" name="Google Shape;1424;p27"/>
          <p:cNvSpPr/>
          <p:nvPr/>
        </p:nvSpPr>
        <p:spPr>
          <a:xfrm>
            <a:off x="6217920" y="3584448"/>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5" name="Google Shape;1425;p27"/>
          <p:cNvSpPr/>
          <p:nvPr/>
        </p:nvSpPr>
        <p:spPr>
          <a:xfrm>
            <a:off x="6217920" y="3584448"/>
            <a:ext cx="54864" cy="34747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6" name="Google Shape;1426;p27"/>
          <p:cNvSpPr txBox="1"/>
          <p:nvPr/>
        </p:nvSpPr>
        <p:spPr>
          <a:xfrm>
            <a:off x="6400800" y="3630168"/>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28.8%</a:t>
            </a:r>
            <a:endParaRPr/>
          </a:p>
        </p:txBody>
      </p:sp>
      <p:sp>
        <p:nvSpPr>
          <p:cNvPr id="1427" name="Google Shape;1427;p27"/>
          <p:cNvSpPr txBox="1"/>
          <p:nvPr/>
        </p:nvSpPr>
        <p:spPr>
          <a:xfrm>
            <a:off x="7406640" y="3648456"/>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campaign open rate — strong for B2B insurance</a:t>
            </a:r>
            <a:endParaRPr/>
          </a:p>
        </p:txBody>
      </p:sp>
      <p:sp>
        <p:nvSpPr>
          <p:cNvPr id="1428" name="Google Shape;1428;p27"/>
          <p:cNvSpPr/>
          <p:nvPr/>
        </p:nvSpPr>
        <p:spPr>
          <a:xfrm>
            <a:off x="6217920" y="3968496"/>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9" name="Google Shape;1429;p27"/>
          <p:cNvSpPr/>
          <p:nvPr/>
        </p:nvSpPr>
        <p:spPr>
          <a:xfrm>
            <a:off x="6217920" y="3968496"/>
            <a:ext cx="54864" cy="347472"/>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0" name="Google Shape;1430;p27"/>
          <p:cNvSpPr txBox="1"/>
          <p:nvPr/>
        </p:nvSpPr>
        <p:spPr>
          <a:xfrm>
            <a:off x="6400800" y="4014216"/>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8B5CF6"/>
                </a:solidFill>
                <a:latin typeface="Quattrocento Sans"/>
                <a:ea typeface="Quattrocento Sans"/>
                <a:cs typeface="Quattrocento Sans"/>
                <a:sym typeface="Quattrocento Sans"/>
              </a:rPr>
              <a:t>1,200</a:t>
            </a:r>
            <a:endParaRPr/>
          </a:p>
        </p:txBody>
      </p:sp>
      <p:sp>
        <p:nvSpPr>
          <p:cNvPr id="1431" name="Google Shape;1431;p27"/>
          <p:cNvSpPr txBox="1"/>
          <p:nvPr/>
        </p:nvSpPr>
        <p:spPr>
          <a:xfrm>
            <a:off x="7406640" y="4032504"/>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total contacts influenced across campaign</a:t>
            </a:r>
            <a:endParaRPr/>
          </a:p>
        </p:txBody>
      </p:sp>
      <p:sp>
        <p:nvSpPr>
          <p:cNvPr id="1432" name="Google Shape;1432;p27"/>
          <p:cNvSpPr txBox="1"/>
          <p:nvPr/>
        </p:nvSpPr>
        <p:spPr>
          <a:xfrm>
            <a:off x="6217920" y="443484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TEAM STANDOUTS</a:t>
            </a:r>
            <a:endParaRPr/>
          </a:p>
        </p:txBody>
      </p:sp>
      <p:sp>
        <p:nvSpPr>
          <p:cNvPr id="1433" name="Google Shape;1433;p27"/>
          <p:cNvSpPr/>
          <p:nvPr/>
        </p:nvSpPr>
        <p:spPr>
          <a:xfrm>
            <a:off x="6217920" y="468172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4" name="Google Shape;1434;p27"/>
          <p:cNvSpPr/>
          <p:nvPr/>
        </p:nvSpPr>
        <p:spPr>
          <a:xfrm>
            <a:off x="6217920" y="477316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5" name="Google Shape;1435;p27"/>
          <p:cNvSpPr/>
          <p:nvPr/>
        </p:nvSpPr>
        <p:spPr>
          <a:xfrm>
            <a:off x="6217920" y="4773168"/>
            <a:ext cx="54864"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6" name="Google Shape;1436;p27"/>
          <p:cNvSpPr txBox="1"/>
          <p:nvPr/>
        </p:nvSpPr>
        <p:spPr>
          <a:xfrm>
            <a:off x="6400800" y="480974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Dominic Purkett (BDA)</a:t>
            </a:r>
            <a:endParaRPr/>
          </a:p>
        </p:txBody>
      </p:sp>
      <p:sp>
        <p:nvSpPr>
          <p:cNvPr id="1437" name="Google Shape;1437;p27"/>
          <p:cNvSpPr txBox="1"/>
          <p:nvPr/>
        </p:nvSpPr>
        <p:spPr>
          <a:xfrm>
            <a:off x="6400800" y="499262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53 outbound calls, 20 agencies. 4 pre-bind agencies. 53-min call with Rosa Gomez (Monarca) led to bind.</a:t>
            </a:r>
            <a:endParaRPr/>
          </a:p>
        </p:txBody>
      </p:sp>
      <p:sp>
        <p:nvSpPr>
          <p:cNvPr id="1438" name="Google Shape;1438;p27"/>
          <p:cNvSpPr/>
          <p:nvPr/>
        </p:nvSpPr>
        <p:spPr>
          <a:xfrm>
            <a:off x="6217920" y="527608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9" name="Google Shape;1439;p27"/>
          <p:cNvSpPr/>
          <p:nvPr/>
        </p:nvSpPr>
        <p:spPr>
          <a:xfrm>
            <a:off x="6217920" y="5276088"/>
            <a:ext cx="54864"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0" name="Google Shape;1440;p27"/>
          <p:cNvSpPr txBox="1"/>
          <p:nvPr/>
        </p:nvSpPr>
        <p:spPr>
          <a:xfrm>
            <a:off x="6400800" y="531266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Derrick Leroy (BDM)</a:t>
            </a:r>
            <a:endParaRPr/>
          </a:p>
        </p:txBody>
      </p:sp>
      <p:sp>
        <p:nvSpPr>
          <p:cNvPr id="1441" name="Google Shape;1441;p27"/>
          <p:cNvSpPr txBox="1"/>
          <p:nvPr/>
        </p:nvSpPr>
        <p:spPr>
          <a:xfrm>
            <a:off x="6400800" y="549554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Only BDM to make pre-bind calls. 8 outbound calls, 3 agencies. 75% call rate on assigned.</a:t>
            </a:r>
            <a:endParaRPr/>
          </a:p>
        </p:txBody>
      </p:sp>
      <p:sp>
        <p:nvSpPr>
          <p:cNvPr id="1442" name="Google Shape;1442;p27"/>
          <p:cNvSpPr/>
          <p:nvPr/>
        </p:nvSpPr>
        <p:spPr>
          <a:xfrm>
            <a:off x="6217920" y="577900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3" name="Google Shape;1443;p27"/>
          <p:cNvSpPr/>
          <p:nvPr/>
        </p:nvSpPr>
        <p:spPr>
          <a:xfrm>
            <a:off x="6217920" y="5779008"/>
            <a:ext cx="54864" cy="45720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4" name="Google Shape;1444;p27"/>
          <p:cNvSpPr txBox="1"/>
          <p:nvPr/>
        </p:nvSpPr>
        <p:spPr>
          <a:xfrm>
            <a:off x="6400800" y="581558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Cameron Brader (BDA)</a:t>
            </a:r>
            <a:endParaRPr/>
          </a:p>
        </p:txBody>
      </p:sp>
      <p:sp>
        <p:nvSpPr>
          <p:cNvPr id="1445" name="Google Shape;1445;p27"/>
          <p:cNvSpPr txBox="1"/>
          <p:nvPr/>
        </p:nvSpPr>
        <p:spPr>
          <a:xfrm>
            <a:off x="6400800" y="599846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14 outbound calls, 9 agencies. 24% call rate on assigned. Consistent coverage.</a:t>
            </a:r>
            <a:endParaRPr/>
          </a:p>
        </p:txBody>
      </p:sp>
      <p:sp>
        <p:nvSpPr>
          <p:cNvPr id="1446" name="Google Shape;1446;p27"/>
          <p:cNvSpPr/>
          <p:nvPr/>
        </p:nvSpPr>
        <p:spPr>
          <a:xfrm>
            <a:off x="274320" y="5989320"/>
            <a:ext cx="5669280" cy="411480"/>
          </a:xfrm>
          <a:prstGeom prst="roundRect">
            <a:avLst>
              <a:gd fmla="val 5000" name="adj"/>
            </a:avLst>
          </a:prstGeom>
          <a:solidFill>
            <a:srgbClr val="FFFFFF"/>
          </a:solidFill>
          <a:ln cap="flat" cmpd="sng" w="12700">
            <a:solidFill>
              <a:srgbClr val="10B981"/>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7" name="Google Shape;1447;p27"/>
          <p:cNvSpPr txBox="1"/>
          <p:nvPr/>
        </p:nvSpPr>
        <p:spPr>
          <a:xfrm>
            <a:off x="457200" y="6025896"/>
            <a:ext cx="530352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Feb premium of $873K represents a 74% increase over January — strongest DSG month in 2026.</a:t>
            </a:r>
            <a:endParaRPr/>
          </a:p>
        </p:txBody>
      </p:sp>
      <p:sp>
        <p:nvSpPr>
          <p:cNvPr id="1448" name="Google Shape;1448;p2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9" name="Google Shape;1449;p2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450" name="Google Shape;1450;p2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454" name="Shape 1454"/>
        <p:cNvGrpSpPr/>
        <p:nvPr/>
      </p:nvGrpSpPr>
      <p:grpSpPr>
        <a:xfrm>
          <a:off x="0" y="0"/>
          <a:ext cx="0" cy="0"/>
          <a:chOff x="0" y="0"/>
          <a:chExt cx="0" cy="0"/>
        </a:xfrm>
      </p:grpSpPr>
      <p:sp>
        <p:nvSpPr>
          <p:cNvPr id="1455" name="Google Shape;1455;p2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6" name="Google Shape;1456;p2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7" name="Google Shape;1457;p2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8" name="Google Shape;1458;p2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9" name="Google Shape;1459;p2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LESSONS LEARNED &amp; OPPORTUNITIES</a:t>
            </a:r>
            <a:endParaRPr/>
          </a:p>
        </p:txBody>
      </p:sp>
      <p:sp>
        <p:nvSpPr>
          <p:cNvPr id="1460" name="Google Shape;1460;p2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Key Takeaways from the February DSG Campaign</a:t>
            </a:r>
            <a:endParaRPr/>
          </a:p>
        </p:txBody>
      </p:sp>
      <p:sp>
        <p:nvSpPr>
          <p:cNvPr id="1461" name="Google Shape;1461;p2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2" name="Google Shape;1462;p2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3" name="Google Shape;1463;p2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4" name="Google Shape;1464;p28"/>
          <p:cNvSpPr/>
          <p:nvPr/>
        </p:nvSpPr>
        <p:spPr>
          <a:xfrm>
            <a:off x="2743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5" name="Google Shape;1465;p28"/>
          <p:cNvSpPr/>
          <p:nvPr/>
        </p:nvSpPr>
        <p:spPr>
          <a:xfrm>
            <a:off x="274320" y="137160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6" name="Google Shape;1466;p28"/>
          <p:cNvSpPr/>
          <p:nvPr/>
        </p:nvSpPr>
        <p:spPr>
          <a:xfrm>
            <a:off x="475488" y="1481328"/>
            <a:ext cx="1463040" cy="256032"/>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7" name="Google Shape;1467;p28"/>
          <p:cNvSpPr txBox="1"/>
          <p:nvPr/>
        </p:nvSpPr>
        <p:spPr>
          <a:xfrm>
            <a:off x="475488" y="1481328"/>
            <a:ext cx="14630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WHAT WORKED</a:t>
            </a:r>
            <a:endParaRPr/>
          </a:p>
        </p:txBody>
      </p:sp>
      <p:sp>
        <p:nvSpPr>
          <p:cNvPr id="1468" name="Google Shape;1468;p28"/>
          <p:cNvSpPr txBox="1"/>
          <p:nvPr/>
        </p:nvSpPr>
        <p:spPr>
          <a:xfrm>
            <a:off x="475488" y="1847088"/>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Growth DSG campaign drove measurable awareness — 28.8% open rate, 5 bound agents directly influenced</a:t>
            </a:r>
            <a:endParaRPr/>
          </a:p>
        </p:txBody>
      </p:sp>
      <p:sp>
        <p:nvSpPr>
          <p:cNvPr id="1469" name="Google Shape;1469;p28"/>
          <p:cNvSpPr txBox="1"/>
          <p:nvPr/>
        </p:nvSpPr>
        <p:spPr>
          <a:xfrm>
            <a:off x="475488" y="2185416"/>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32-state expansion generated immediate traction — 13 states active, 87 subs in first month</a:t>
            </a:r>
            <a:endParaRPr/>
          </a:p>
        </p:txBody>
      </p:sp>
      <p:sp>
        <p:nvSpPr>
          <p:cNvPr id="1470" name="Google Shape;1470;p28"/>
          <p:cNvSpPr txBox="1"/>
          <p:nvPr/>
        </p:nvSpPr>
        <p:spPr>
          <a:xfrm>
            <a:off x="475488" y="2523744"/>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Feb premium +74% MoM ($501K → $873K) — campaign coincided with spring construction season uptick</a:t>
            </a:r>
            <a:endParaRPr/>
          </a:p>
        </p:txBody>
      </p:sp>
      <p:sp>
        <p:nvSpPr>
          <p:cNvPr id="1471" name="Google Shape;1471;p28"/>
          <p:cNvSpPr txBox="1"/>
          <p:nvPr/>
        </p:nvSpPr>
        <p:spPr>
          <a:xfrm>
            <a:off x="475488" y="2862072"/>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Quote rate of 54.2% exceeds 45.3% program average — quality of submissions improving</a:t>
            </a:r>
            <a:endParaRPr/>
          </a:p>
        </p:txBody>
      </p:sp>
      <p:sp>
        <p:nvSpPr>
          <p:cNvPr id="1472" name="Google Shape;1472;p28"/>
          <p:cNvSpPr txBox="1"/>
          <p:nvPr/>
        </p:nvSpPr>
        <p:spPr>
          <a:xfrm>
            <a:off x="475488" y="3200400"/>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Dominic Purkett proved outbound model works — 53 calls, 4 pre-bind agencies, including 53-min call → bind</a:t>
            </a:r>
            <a:endParaRPr/>
          </a:p>
        </p:txBody>
      </p:sp>
      <p:sp>
        <p:nvSpPr>
          <p:cNvPr id="1473" name="Google Shape;1473;p28"/>
          <p:cNvSpPr/>
          <p:nvPr/>
        </p:nvSpPr>
        <p:spPr>
          <a:xfrm>
            <a:off x="62179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4" name="Google Shape;1474;p28"/>
          <p:cNvSpPr/>
          <p:nvPr/>
        </p:nvSpPr>
        <p:spPr>
          <a:xfrm>
            <a:off x="6217920" y="1371600"/>
            <a:ext cx="73152" cy="22402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5" name="Google Shape;1475;p28"/>
          <p:cNvSpPr/>
          <p:nvPr/>
        </p:nvSpPr>
        <p:spPr>
          <a:xfrm>
            <a:off x="6419088" y="1481328"/>
            <a:ext cx="2011680" cy="256032"/>
          </a:xfrm>
          <a:prstGeom prst="roundRect">
            <a:avLst>
              <a:gd fmla="val 10000" name="adj"/>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6" name="Google Shape;1476;p28"/>
          <p:cNvSpPr txBox="1"/>
          <p:nvPr/>
        </p:nvSpPr>
        <p:spPr>
          <a:xfrm>
            <a:off x="6419088" y="1481328"/>
            <a:ext cx="201168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WHAT DIDN'T WORK</a:t>
            </a:r>
            <a:endParaRPr/>
          </a:p>
        </p:txBody>
      </p:sp>
      <p:sp>
        <p:nvSpPr>
          <p:cNvPr id="1477" name="Google Shape;1477;p28"/>
          <p:cNvSpPr txBox="1"/>
          <p:nvPr/>
        </p:nvSpPr>
        <p:spPr>
          <a:xfrm>
            <a:off x="6419088" y="1847088"/>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BDM execution gap: 0 of 16 bound agents called by their assigned BDM pre-bind</a:t>
            </a:r>
            <a:endParaRPr/>
          </a:p>
        </p:txBody>
      </p:sp>
      <p:sp>
        <p:nvSpPr>
          <p:cNvPr id="1478" name="Google Shape;1478;p28"/>
          <p:cNvSpPr txBox="1"/>
          <p:nvPr/>
        </p:nvSpPr>
        <p:spPr>
          <a:xfrm>
            <a:off x="6419088" y="2185416"/>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BDA coverage inconsistent: only 3 of 16 called by assigned BDA before bind</a:t>
            </a:r>
            <a:endParaRPr/>
          </a:p>
        </p:txBody>
      </p:sp>
      <p:sp>
        <p:nvSpPr>
          <p:cNvPr id="1479" name="Google Shape;1479;p28"/>
          <p:cNvSpPr txBox="1"/>
          <p:nvPr/>
        </p:nvSpPr>
        <p:spPr>
          <a:xfrm>
            <a:off x="6419088" y="2523744"/>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42% of submitting agencies (110/260) have no BDM or BDA assigned at all</a:t>
            </a:r>
            <a:endParaRPr/>
          </a:p>
        </p:txBody>
      </p:sp>
      <p:sp>
        <p:nvSpPr>
          <p:cNvPr id="1480" name="Google Shape;1480;p28"/>
          <p:cNvSpPr txBox="1"/>
          <p:nvPr/>
        </p:nvSpPr>
        <p:spPr>
          <a:xfrm>
            <a:off x="6419088" y="2862072"/>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10 of 22 expansion states still dormant — IA, ME, RI, SD have zero submissions</a:t>
            </a:r>
            <a:endParaRPr/>
          </a:p>
        </p:txBody>
      </p:sp>
      <p:sp>
        <p:nvSpPr>
          <p:cNvPr id="1481" name="Google Shape;1481;p28"/>
          <p:cNvSpPr txBox="1"/>
          <p:nvPr/>
        </p:nvSpPr>
        <p:spPr>
          <a:xfrm>
            <a:off x="6419088" y="3200400"/>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NJ expansion and VA classification resolution would unlock significant new pipeline</a:t>
            </a:r>
            <a:endParaRPr/>
          </a:p>
        </p:txBody>
      </p:sp>
      <p:sp>
        <p:nvSpPr>
          <p:cNvPr id="1482" name="Google Shape;1482;p28"/>
          <p:cNvSpPr/>
          <p:nvPr/>
        </p:nvSpPr>
        <p:spPr>
          <a:xfrm>
            <a:off x="274320" y="3794760"/>
            <a:ext cx="5669280" cy="23774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3" name="Google Shape;1483;p28"/>
          <p:cNvSpPr/>
          <p:nvPr/>
        </p:nvSpPr>
        <p:spPr>
          <a:xfrm>
            <a:off x="274320" y="3794760"/>
            <a:ext cx="73152" cy="23774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4" name="Google Shape;1484;p28"/>
          <p:cNvSpPr/>
          <p:nvPr/>
        </p:nvSpPr>
        <p:spPr>
          <a:xfrm>
            <a:off x="475488" y="3904488"/>
            <a:ext cx="2286000" cy="256032"/>
          </a:xfrm>
          <a:prstGeom prst="roundRect">
            <a:avLst>
              <a:gd fmla="val 10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5" name="Google Shape;1485;p28"/>
          <p:cNvSpPr txBox="1"/>
          <p:nvPr/>
        </p:nvSpPr>
        <p:spPr>
          <a:xfrm>
            <a:off x="475488" y="3904488"/>
            <a:ext cx="22860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BIGGEST OPPORTUNITIES</a:t>
            </a:r>
            <a:endParaRPr/>
          </a:p>
        </p:txBody>
      </p:sp>
      <p:sp>
        <p:nvSpPr>
          <p:cNvPr id="1486" name="Google Shape;1486;p28"/>
          <p:cNvSpPr txBox="1"/>
          <p:nvPr/>
        </p:nvSpPr>
        <p:spPr>
          <a:xfrm>
            <a:off x="475488" y="42702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USA Specialty: $50K UT deal live NOW (eff 03/04) — first dormant-state conversion opportunity</a:t>
            </a:r>
            <a:endParaRPr/>
          </a:p>
        </p:txBody>
      </p:sp>
      <p:sp>
        <p:nvSpPr>
          <p:cNvPr id="1487" name="Google Shape;1487;p28"/>
          <p:cNvSpPr txBox="1"/>
          <p:nvPr/>
        </p:nvSpPr>
        <p:spPr>
          <a:xfrm>
            <a:off x="475488" y="459028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MN pipeline: 3 submissions, 2 quoted — most promising dormant state for activation</a:t>
            </a:r>
            <a:endParaRPr/>
          </a:p>
        </p:txBody>
      </p:sp>
      <p:sp>
        <p:nvSpPr>
          <p:cNvPr id="1488" name="Google Shape;1488;p28"/>
          <p:cNvSpPr txBox="1"/>
          <p:nvPr/>
        </p:nvSpPr>
        <p:spPr>
          <a:xfrm>
            <a:off x="475488" y="491032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NJ is #1 state gap — tri-state agents say more DSG leads in NJ than PA</a:t>
            </a:r>
            <a:endParaRPr/>
          </a:p>
        </p:txBody>
      </p:sp>
      <p:sp>
        <p:nvSpPr>
          <p:cNvPr id="1489" name="Google Shape;1489;p28"/>
          <p:cNvSpPr txBox="1"/>
          <p:nvPr/>
        </p:nvSpPr>
        <p:spPr>
          <a:xfrm>
            <a:off x="475488" y="5230367"/>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Spring construction season = peak submission window — momentum from Feb should accelerate</a:t>
            </a:r>
            <a:endParaRPr/>
          </a:p>
        </p:txBody>
      </p:sp>
      <p:sp>
        <p:nvSpPr>
          <p:cNvPr id="1490" name="Google Shape;1490;p28"/>
          <p:cNvSpPr txBox="1"/>
          <p:nvPr/>
        </p:nvSpPr>
        <p:spPr>
          <a:xfrm>
            <a:off x="475488" y="555040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110 agencies with no BDM/BDA = assignment opportunity to increase coverage-to-bind conversion</a:t>
            </a:r>
            <a:endParaRPr/>
          </a:p>
        </p:txBody>
      </p:sp>
      <p:sp>
        <p:nvSpPr>
          <p:cNvPr id="1491" name="Google Shape;1491;p28"/>
          <p:cNvSpPr txBox="1"/>
          <p:nvPr/>
        </p:nvSpPr>
        <p:spPr>
          <a:xfrm>
            <a:off x="475488" y="58704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VA classification fix could unlock largest DSG agency — currently blocked from submitting</a:t>
            </a:r>
            <a:endParaRPr/>
          </a:p>
        </p:txBody>
      </p:sp>
      <p:sp>
        <p:nvSpPr>
          <p:cNvPr id="1492" name="Google Shape;1492;p28"/>
          <p:cNvSpPr/>
          <p:nvPr/>
        </p:nvSpPr>
        <p:spPr>
          <a:xfrm>
            <a:off x="6217920" y="3794760"/>
            <a:ext cx="5669280" cy="23774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3" name="Google Shape;1493;p28"/>
          <p:cNvSpPr/>
          <p:nvPr/>
        </p:nvSpPr>
        <p:spPr>
          <a:xfrm>
            <a:off x="6217920" y="3794760"/>
            <a:ext cx="73152" cy="237744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4" name="Google Shape;1494;p28"/>
          <p:cNvSpPr/>
          <p:nvPr/>
        </p:nvSpPr>
        <p:spPr>
          <a:xfrm>
            <a:off x="6419088" y="3904488"/>
            <a:ext cx="2468880" cy="256032"/>
          </a:xfrm>
          <a:prstGeom prst="roundRect">
            <a:avLst>
              <a:gd fmla="val 10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5" name="Google Shape;1495;p28"/>
          <p:cNvSpPr txBox="1"/>
          <p:nvPr/>
        </p:nvSpPr>
        <p:spPr>
          <a:xfrm>
            <a:off x="6419088" y="3904488"/>
            <a:ext cx="246888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RECOMMENDED NEXT STEPS</a:t>
            </a:r>
            <a:endParaRPr/>
          </a:p>
        </p:txBody>
      </p:sp>
      <p:sp>
        <p:nvSpPr>
          <p:cNvPr id="1496" name="Google Shape;1496;p28"/>
          <p:cNvSpPr txBox="1"/>
          <p:nvPr/>
        </p:nvSpPr>
        <p:spPr>
          <a:xfrm>
            <a:off x="6419088" y="42702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Replicate Dominic's outbound model — assign top 50 agencies to BDAs with call targets</a:t>
            </a:r>
            <a:endParaRPr/>
          </a:p>
        </p:txBody>
      </p:sp>
      <p:sp>
        <p:nvSpPr>
          <p:cNvPr id="1497" name="Google Shape;1497;p28"/>
          <p:cNvSpPr txBox="1"/>
          <p:nvPr/>
        </p:nvSpPr>
        <p:spPr>
          <a:xfrm>
            <a:off x="6419088" y="459028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Close USA Specialty UT deal ($50K) — follow up immediately, prove expansion model works</a:t>
            </a:r>
            <a:endParaRPr/>
          </a:p>
        </p:txBody>
      </p:sp>
      <p:sp>
        <p:nvSpPr>
          <p:cNvPr id="1498" name="Google Shape;1498;p28"/>
          <p:cNvSpPr txBox="1"/>
          <p:nvPr/>
        </p:nvSpPr>
        <p:spPr>
          <a:xfrm>
            <a:off x="6419088" y="491032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Fix BDM assignment gap: 110 agencies need a rep. Prioritize agencies with active pipeline</a:t>
            </a:r>
            <a:endParaRPr/>
          </a:p>
        </p:txBody>
      </p:sp>
      <p:sp>
        <p:nvSpPr>
          <p:cNvPr id="1499" name="Google Shape;1499;p28"/>
          <p:cNvSpPr txBox="1"/>
          <p:nvPr/>
        </p:nvSpPr>
        <p:spPr>
          <a:xfrm>
            <a:off x="6419088" y="5230367"/>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Launch targeted outreach in MN, WI, NE — early-stage activity needs nurturing</a:t>
            </a:r>
            <a:endParaRPr/>
          </a:p>
        </p:txBody>
      </p:sp>
      <p:sp>
        <p:nvSpPr>
          <p:cNvPr id="1500" name="Google Shape;1500;p28"/>
          <p:cNvSpPr txBox="1"/>
          <p:nvPr/>
        </p:nvSpPr>
        <p:spPr>
          <a:xfrm>
            <a:off x="6419088" y="555040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Resolve VA classification issue — unblocking could add significant submission volume</a:t>
            </a:r>
            <a:endParaRPr/>
          </a:p>
        </p:txBody>
      </p:sp>
      <p:sp>
        <p:nvSpPr>
          <p:cNvPr id="1501" name="Google Shape;1501;p28"/>
          <p:cNvSpPr txBox="1"/>
          <p:nvPr/>
        </p:nvSpPr>
        <p:spPr>
          <a:xfrm>
            <a:off x="6419088" y="58704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Run March campaign building on 32-state expansion + spring construction season timing</a:t>
            </a:r>
            <a:endParaRPr/>
          </a:p>
        </p:txBody>
      </p:sp>
      <p:sp>
        <p:nvSpPr>
          <p:cNvPr id="1502" name="Google Shape;1502;p2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3" name="Google Shape;1503;p2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504" name="Google Shape;1504;p2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FF"/>
        </a:solidFill>
      </p:bgPr>
    </p:bg>
    <p:spTree>
      <p:nvGrpSpPr>
        <p:cNvPr id="1508" name="Shape 1508"/>
        <p:cNvGrpSpPr/>
        <p:nvPr/>
      </p:nvGrpSpPr>
      <p:grpSpPr>
        <a:xfrm>
          <a:off x="0" y="0"/>
          <a:ext cx="0" cy="0"/>
          <a:chOff x="0" y="0"/>
          <a:chExt cx="0" cy="0"/>
        </a:xfrm>
      </p:grpSpPr>
      <p:sp>
        <p:nvSpPr>
          <p:cNvPr id="1509" name="Google Shape;1509;p29"/>
          <p:cNvSpPr/>
          <p:nvPr/>
        </p:nvSpPr>
        <p:spPr>
          <a:xfrm>
            <a:off x="0" y="0"/>
            <a:ext cx="12191695" cy="7772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0" name="Google Shape;1510;p29"/>
          <p:cNvSpPr txBox="1"/>
          <p:nvPr/>
        </p:nvSpPr>
        <p:spPr>
          <a:xfrm>
            <a:off x="457200" y="109728"/>
            <a:ext cx="8229600" cy="5943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Calibri"/>
                <a:ea typeface="Calibri"/>
                <a:cs typeface="Calibri"/>
                <a:sym typeface="Calibri"/>
              </a:rPr>
              <a:t>DSG Growth Outreach — Key Takeaways</a:t>
            </a:r>
            <a:endParaRPr/>
          </a:p>
          <a:p>
            <a:pPr indent="0" lvl="0" marL="0" marR="0" rtl="0" algn="l">
              <a:spcBef>
                <a:spcPts val="200"/>
              </a:spcBef>
              <a:spcAft>
                <a:spcPts val="0"/>
              </a:spcAft>
              <a:buNone/>
            </a:pPr>
            <a:r>
              <a:rPr b="0" i="0" lang="en-US" sz="1100" u="none" cap="none" strike="noStrike">
                <a:solidFill>
                  <a:srgbClr val="A78BFA"/>
                </a:solidFill>
                <a:latin typeface="Calibri"/>
                <a:ea typeface="Calibri"/>
                <a:cs typeface="Calibri"/>
                <a:sym typeface="Calibri"/>
              </a:rPr>
              <a:t>What We've Learned from 47 BDM/BDA Notes &amp; Calls</a:t>
            </a:r>
            <a:endParaRPr/>
          </a:p>
        </p:txBody>
      </p:sp>
      <p:sp>
        <p:nvSpPr>
          <p:cNvPr id="1511" name="Google Shape;1511;p29"/>
          <p:cNvSpPr/>
          <p:nvPr/>
        </p:nvSpPr>
        <p:spPr>
          <a:xfrm>
            <a:off x="274320" y="960120"/>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2" name="Google Shape;1512;p29"/>
          <p:cNvSpPr/>
          <p:nvPr/>
        </p:nvSpPr>
        <p:spPr>
          <a:xfrm>
            <a:off x="274320" y="960120"/>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3" name="Google Shape;1513;p29"/>
          <p:cNvSpPr txBox="1"/>
          <p:nvPr/>
        </p:nvSpPr>
        <p:spPr>
          <a:xfrm>
            <a:off x="411480" y="1014984"/>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We Own the 10-25 Power Unit DSG Space</a:t>
            </a:r>
            <a:endParaRPr/>
          </a:p>
        </p:txBody>
      </p:sp>
      <p:sp>
        <p:nvSpPr>
          <p:cNvPr id="1514" name="Google Shape;1514;p29"/>
          <p:cNvSpPr txBox="1"/>
          <p:nvPr/>
        </p:nvSpPr>
        <p:spPr>
          <a:xfrm>
            <a:off x="438912" y="1216152"/>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Geico caps at 9 PU for DSG; Acuity is often the only other option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In MO we are the only market for 10-25 PU DSG fleets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consistently say they have no other place to put this business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Sweet spot: 15-25 PU accounts where competition is thinnest</a:t>
            </a:r>
            <a:endParaRPr/>
          </a:p>
        </p:txBody>
      </p:sp>
      <p:sp>
        <p:nvSpPr>
          <p:cNvPr id="1515" name="Google Shape;1515;p29"/>
          <p:cNvSpPr/>
          <p:nvPr/>
        </p:nvSpPr>
        <p:spPr>
          <a:xfrm>
            <a:off x="274320" y="2093976"/>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6" name="Google Shape;1516;p29"/>
          <p:cNvSpPr/>
          <p:nvPr/>
        </p:nvSpPr>
        <p:spPr>
          <a:xfrm>
            <a:off x="274320" y="2093976"/>
            <a:ext cx="45720" cy="106070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7" name="Google Shape;1517;p29"/>
          <p:cNvSpPr txBox="1"/>
          <p:nvPr/>
        </p:nvSpPr>
        <p:spPr>
          <a:xfrm>
            <a:off x="411480" y="2148840"/>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Illinois Reopening Is a Major Catalyst</a:t>
            </a:r>
            <a:endParaRPr/>
          </a:p>
        </p:txBody>
      </p:sp>
      <p:sp>
        <p:nvSpPr>
          <p:cNvPr id="1518" name="Google Shape;1518;p29"/>
          <p:cNvSpPr txBox="1"/>
          <p:nvPr/>
        </p:nvSpPr>
        <p:spPr>
          <a:xfrm>
            <a:off x="438912" y="2350008"/>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IL reopening cited in 10+ outreach notes as the #1 conversation starter</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Alera Group (Bonder Ins.) has 'several clients to submit' because of IL</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Agency w/ $10M book, 100% trucking, 'super excited' about IL + DSG expansion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Opening new states immediately converts to inbound submissions</a:t>
            </a:r>
            <a:endParaRPr/>
          </a:p>
        </p:txBody>
      </p:sp>
      <p:sp>
        <p:nvSpPr>
          <p:cNvPr id="1519" name="Google Shape;1519;p29"/>
          <p:cNvSpPr/>
          <p:nvPr/>
        </p:nvSpPr>
        <p:spPr>
          <a:xfrm>
            <a:off x="274320" y="3227832"/>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0" name="Google Shape;1520;p29"/>
          <p:cNvSpPr/>
          <p:nvPr/>
        </p:nvSpPr>
        <p:spPr>
          <a:xfrm>
            <a:off x="274320" y="3227832"/>
            <a:ext cx="45720" cy="1060704"/>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1" name="Google Shape;1521;p29"/>
          <p:cNvSpPr txBox="1"/>
          <p:nvPr/>
        </p:nvSpPr>
        <p:spPr>
          <a:xfrm>
            <a:off x="411480" y="3282696"/>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Classification Issue Blocking VA Volume</a:t>
            </a:r>
            <a:endParaRPr/>
          </a:p>
        </p:txBody>
      </p:sp>
      <p:sp>
        <p:nvSpPr>
          <p:cNvPr id="1522" name="Google Shape;1522;p29"/>
          <p:cNvSpPr txBox="1"/>
          <p:nvPr/>
        </p:nvSpPr>
        <p:spPr>
          <a:xfrm>
            <a:off x="438912" y="3483864"/>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Largest DSG agency in VA started submitting immediately when VA opened</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Insureds told to select 'exempt for hire' for DSG-only authority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This makes risks ineligible under current classification rules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Reported to UW — needs resolution to unlock significant VA pipeline</a:t>
            </a:r>
            <a:endParaRPr/>
          </a:p>
        </p:txBody>
      </p:sp>
      <p:sp>
        <p:nvSpPr>
          <p:cNvPr id="1523" name="Google Shape;1523;p29"/>
          <p:cNvSpPr/>
          <p:nvPr/>
        </p:nvSpPr>
        <p:spPr>
          <a:xfrm>
            <a:off x="274320" y="4361688"/>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4" name="Google Shape;1524;p29"/>
          <p:cNvSpPr/>
          <p:nvPr/>
        </p:nvSpPr>
        <p:spPr>
          <a:xfrm>
            <a:off x="274320" y="4361688"/>
            <a:ext cx="45720" cy="106070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5" name="Google Shape;1525;p29"/>
          <p:cNvSpPr txBox="1"/>
          <p:nvPr/>
        </p:nvSpPr>
        <p:spPr>
          <a:xfrm>
            <a:off x="411480" y="4416552"/>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Pricing Feedback: $30K/Truck Is the Line</a:t>
            </a:r>
            <a:endParaRPr/>
          </a:p>
        </p:txBody>
      </p:sp>
      <p:sp>
        <p:nvSpPr>
          <p:cNvPr id="1526" name="Google Shape;1526;p29"/>
          <p:cNvSpPr txBox="1"/>
          <p:nvPr/>
        </p:nvSpPr>
        <p:spPr>
          <a:xfrm>
            <a:off x="438912" y="4617720"/>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say sub-$30K per truck is what they need to close small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Current GA quoting at $31-33K/truck for 2-unit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UW guidance: more room on larger fleets, hold firm on small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Hartford incumbent at $25K — need to be within ~$5K to flip accounts</a:t>
            </a:r>
            <a:endParaRPr/>
          </a:p>
        </p:txBody>
      </p:sp>
      <p:sp>
        <p:nvSpPr>
          <p:cNvPr id="1527" name="Google Shape;1527;p29"/>
          <p:cNvSpPr/>
          <p:nvPr/>
        </p:nvSpPr>
        <p:spPr>
          <a:xfrm>
            <a:off x="4617720" y="960120"/>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8" name="Google Shape;1528;p29"/>
          <p:cNvSpPr/>
          <p:nvPr/>
        </p:nvSpPr>
        <p:spPr>
          <a:xfrm>
            <a:off x="4617720" y="960120"/>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9" name="Google Shape;1529;p29"/>
          <p:cNvSpPr txBox="1"/>
          <p:nvPr/>
        </p:nvSpPr>
        <p:spPr>
          <a:xfrm>
            <a:off x="4754880" y="1014984"/>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Agents Are Actively Selling DSG for Us</a:t>
            </a:r>
            <a:endParaRPr/>
          </a:p>
        </p:txBody>
      </p:sp>
      <p:sp>
        <p:nvSpPr>
          <p:cNvPr id="1530" name="Google Shape;1530;p29"/>
          <p:cNvSpPr txBox="1"/>
          <p:nvPr/>
        </p:nvSpPr>
        <p:spPr>
          <a:xfrm>
            <a:off x="4782312" y="1216152"/>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Karen &amp; King LLC made a LinkedIn post promoting CW DSG availability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Agencies combing Progressive &amp; Geico renewals to place with us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Multiple agents with $5-15M books shifting DSG business our way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Word-of-mouth and organic advocacy building among appointed agents</a:t>
            </a:r>
            <a:endParaRPr/>
          </a:p>
        </p:txBody>
      </p:sp>
      <p:sp>
        <p:nvSpPr>
          <p:cNvPr id="1531" name="Google Shape;1531;p29"/>
          <p:cNvSpPr/>
          <p:nvPr/>
        </p:nvSpPr>
        <p:spPr>
          <a:xfrm>
            <a:off x="4617720" y="2093976"/>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2" name="Google Shape;1532;p29"/>
          <p:cNvSpPr/>
          <p:nvPr/>
        </p:nvSpPr>
        <p:spPr>
          <a:xfrm>
            <a:off x="4617720" y="2093976"/>
            <a:ext cx="45720" cy="106070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3" name="Google Shape;1533;p29"/>
          <p:cNvSpPr txBox="1"/>
          <p:nvPr/>
        </p:nvSpPr>
        <p:spPr>
          <a:xfrm>
            <a:off x="4754880" y="2148840"/>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Geographic Hotspots &amp; Gaps</a:t>
            </a:r>
            <a:endParaRPr/>
          </a:p>
        </p:txBody>
      </p:sp>
      <p:sp>
        <p:nvSpPr>
          <p:cNvPr id="1534" name="Google Shape;1534;p29"/>
          <p:cNvSpPr txBox="1"/>
          <p:nvPr/>
        </p:nvSpPr>
        <p:spPr>
          <a:xfrm>
            <a:off x="4782312" y="2350008"/>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GA is the hottest market — Marsh Georgia 'runs the show' in west GA</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MO, VA, IL, TX, PA all generating active pipeline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NJ is the #1 gap — tri-state agents say NJ has more DSG leads than PA</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licensed in 26-48 states are ready to submit across footprint</a:t>
            </a:r>
            <a:endParaRPr/>
          </a:p>
        </p:txBody>
      </p:sp>
      <p:sp>
        <p:nvSpPr>
          <p:cNvPr id="1535" name="Google Shape;1535;p29"/>
          <p:cNvSpPr/>
          <p:nvPr/>
        </p:nvSpPr>
        <p:spPr>
          <a:xfrm>
            <a:off x="4617720" y="3227832"/>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6" name="Google Shape;1536;p29"/>
          <p:cNvSpPr/>
          <p:nvPr/>
        </p:nvSpPr>
        <p:spPr>
          <a:xfrm>
            <a:off x="4617720" y="3227832"/>
            <a:ext cx="45720" cy="106070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7" name="Google Shape;1537;p29"/>
          <p:cNvSpPr txBox="1"/>
          <p:nvPr/>
        </p:nvSpPr>
        <p:spPr>
          <a:xfrm>
            <a:off x="4754880" y="3282696"/>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Dashcam/ELD Resistance Is a Hurdle</a:t>
            </a:r>
            <a:endParaRPr/>
          </a:p>
        </p:txBody>
      </p:sp>
      <p:sp>
        <p:nvSpPr>
          <p:cNvPr id="1538" name="Google Shape;1538;p29"/>
          <p:cNvSpPr txBox="1"/>
          <p:nvPr/>
        </p:nvSpPr>
        <p:spPr>
          <a:xfrm>
            <a:off x="4782312" y="3483864"/>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18-unit TN account may not bind due to dashcam/ELD requirement</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need better education on how the ELD plug-in works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Camera delivery/installation logistics still causing friction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Requirement is a differentiator but also a deal-breaker for some</a:t>
            </a:r>
            <a:endParaRPr/>
          </a:p>
        </p:txBody>
      </p:sp>
      <p:sp>
        <p:nvSpPr>
          <p:cNvPr id="1539" name="Google Shape;1539;p29"/>
          <p:cNvSpPr/>
          <p:nvPr/>
        </p:nvSpPr>
        <p:spPr>
          <a:xfrm>
            <a:off x="4617720" y="4361688"/>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0" name="Google Shape;1540;p29"/>
          <p:cNvSpPr/>
          <p:nvPr/>
        </p:nvSpPr>
        <p:spPr>
          <a:xfrm>
            <a:off x="4617720" y="4361688"/>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1" name="Google Shape;1541;p29"/>
          <p:cNvSpPr txBox="1"/>
          <p:nvPr/>
        </p:nvSpPr>
        <p:spPr>
          <a:xfrm>
            <a:off x="4754880" y="4416552"/>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Pipeline Is Large and Building Fast</a:t>
            </a:r>
            <a:endParaRPr/>
          </a:p>
        </p:txBody>
      </p:sp>
      <p:sp>
        <p:nvSpPr>
          <p:cNvPr id="1542" name="Google Shape;1542;p29"/>
          <p:cNvSpPr txBox="1"/>
          <p:nvPr/>
        </p:nvSpPr>
        <p:spPr>
          <a:xfrm>
            <a:off x="4782312" y="4617720"/>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25 PU (Westmoreland), 20 PU (GA), 19 PU (MO), 18 PU (TN) in pipeline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Agencies with $5M-$15M+ trucking books now actively engaged on DSG</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AssuredPartners/Gallagher offices exploring quoting access nationwide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5 reps running dedicated DSG growth outreach with steady weekly cadence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1546" name="Shape 1546"/>
        <p:cNvGrpSpPr/>
        <p:nvPr/>
      </p:nvGrpSpPr>
      <p:grpSpPr>
        <a:xfrm>
          <a:off x="0" y="0"/>
          <a:ext cx="0" cy="0"/>
          <a:chOff x="0" y="0"/>
          <a:chExt cx="0" cy="0"/>
        </a:xfrm>
      </p:grpSpPr>
      <p:sp>
        <p:nvSpPr>
          <p:cNvPr id="1547" name="Google Shape;1547;p30"/>
          <p:cNvSpPr/>
          <p:nvPr/>
        </p:nvSpPr>
        <p:spPr>
          <a:xfrm>
            <a:off x="8229600" y="-914400"/>
            <a:ext cx="5486400" cy="54864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8" name="Google Shape;1548;p30"/>
          <p:cNvSpPr/>
          <p:nvPr/>
        </p:nvSpPr>
        <p:spPr>
          <a:xfrm>
            <a:off x="10058400" y="914400"/>
            <a:ext cx="3200400" cy="3200400"/>
          </a:xfrm>
          <a:prstGeom prst="ellipse">
            <a:avLst/>
          </a:prstGeom>
          <a:solidFill>
            <a:srgbClr val="7C3AED">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9" name="Google Shape;1549;p30"/>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0" name="Google Shape;1550;p30"/>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1" name="Google Shape;1551;p30"/>
          <p:cNvSpPr txBox="1"/>
          <p:nvPr/>
        </p:nvSpPr>
        <p:spPr>
          <a:xfrm>
            <a:off x="914400" y="1371600"/>
            <a:ext cx="10058400" cy="7315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FFFFFF"/>
                </a:solidFill>
                <a:latin typeface="Quattrocento Sans"/>
                <a:ea typeface="Quattrocento Sans"/>
                <a:cs typeface="Quattrocento Sans"/>
                <a:sym typeface="Quattrocento Sans"/>
              </a:rPr>
              <a:t>DSG GROWTH OUTREACH ACTIVITY</a:t>
            </a:r>
            <a:endParaRPr/>
          </a:p>
        </p:txBody>
      </p:sp>
      <p:sp>
        <p:nvSpPr>
          <p:cNvPr id="1552" name="Google Shape;1552;p30"/>
          <p:cNvSpPr txBox="1"/>
          <p:nvPr/>
        </p:nvSpPr>
        <p:spPr>
          <a:xfrm>
            <a:off x="914400" y="2194560"/>
            <a:ext cx="100584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rgbClr val="C4B5FD"/>
                </a:solidFill>
                <a:latin typeface="Quattrocento Sans"/>
                <a:ea typeface="Quattrocento Sans"/>
                <a:cs typeface="Quattrocento Sans"/>
                <a:sym typeface="Quattrocento Sans"/>
              </a:rPr>
              <a:t>Notes &amp; Calls Tagged 'DSG GROWTH' in HubSpot</a:t>
            </a:r>
            <a:endParaRPr/>
          </a:p>
        </p:txBody>
      </p:sp>
      <p:sp>
        <p:nvSpPr>
          <p:cNvPr id="1553" name="Google Shape;1553;p30"/>
          <p:cNvSpPr txBox="1"/>
          <p:nvPr/>
        </p:nvSpPr>
        <p:spPr>
          <a:xfrm>
            <a:off x="914400" y="2651760"/>
            <a:ext cx="100584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200" u="none" cap="none" strike="noStrike">
                <a:solidFill>
                  <a:srgbClr val="A78BFA"/>
                </a:solidFill>
                <a:latin typeface="Quattrocento Sans"/>
                <a:ea typeface="Quattrocento Sans"/>
                <a:cs typeface="Quattrocento Sans"/>
                <a:sym typeface="Quattrocento Sans"/>
              </a:rPr>
              <a:t>As of May 28, 2026</a:t>
            </a:r>
            <a:endParaRPr/>
          </a:p>
        </p:txBody>
      </p:sp>
      <p:sp>
        <p:nvSpPr>
          <p:cNvPr id="1554" name="Google Shape;1554;p30"/>
          <p:cNvSpPr/>
          <p:nvPr/>
        </p:nvSpPr>
        <p:spPr>
          <a:xfrm>
            <a:off x="111236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5" name="Google Shape;1555;p30"/>
          <p:cNvSpPr/>
          <p:nvPr/>
        </p:nvSpPr>
        <p:spPr>
          <a:xfrm>
            <a:off x="1112367" y="3657600"/>
            <a:ext cx="22860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6" name="Google Shape;1556;p30"/>
          <p:cNvSpPr txBox="1"/>
          <p:nvPr/>
        </p:nvSpPr>
        <p:spPr>
          <a:xfrm>
            <a:off x="111236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50</a:t>
            </a:r>
            <a:endParaRPr/>
          </a:p>
        </p:txBody>
      </p:sp>
      <p:sp>
        <p:nvSpPr>
          <p:cNvPr id="1557" name="Google Shape;1557;p30"/>
          <p:cNvSpPr txBox="1"/>
          <p:nvPr/>
        </p:nvSpPr>
        <p:spPr>
          <a:xfrm>
            <a:off x="111236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Total Activities</a:t>
            </a:r>
            <a:endParaRPr/>
          </a:p>
        </p:txBody>
      </p:sp>
      <p:sp>
        <p:nvSpPr>
          <p:cNvPr id="1558" name="Google Shape;1558;p30"/>
          <p:cNvSpPr/>
          <p:nvPr/>
        </p:nvSpPr>
        <p:spPr>
          <a:xfrm>
            <a:off x="367268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9" name="Google Shape;1559;p30"/>
          <p:cNvSpPr/>
          <p:nvPr/>
        </p:nvSpPr>
        <p:spPr>
          <a:xfrm>
            <a:off x="3672687" y="3657600"/>
            <a:ext cx="22860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0" name="Google Shape;1560;p30"/>
          <p:cNvSpPr txBox="1"/>
          <p:nvPr/>
        </p:nvSpPr>
        <p:spPr>
          <a:xfrm>
            <a:off x="367268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29</a:t>
            </a:r>
            <a:endParaRPr/>
          </a:p>
        </p:txBody>
      </p:sp>
      <p:sp>
        <p:nvSpPr>
          <p:cNvPr id="1561" name="Google Shape;1561;p30"/>
          <p:cNvSpPr txBox="1"/>
          <p:nvPr/>
        </p:nvSpPr>
        <p:spPr>
          <a:xfrm>
            <a:off x="367268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Notes</a:t>
            </a:r>
            <a:endParaRPr/>
          </a:p>
        </p:txBody>
      </p:sp>
      <p:sp>
        <p:nvSpPr>
          <p:cNvPr id="1562" name="Google Shape;1562;p30"/>
          <p:cNvSpPr/>
          <p:nvPr/>
        </p:nvSpPr>
        <p:spPr>
          <a:xfrm>
            <a:off x="623300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3" name="Google Shape;1563;p30"/>
          <p:cNvSpPr/>
          <p:nvPr/>
        </p:nvSpPr>
        <p:spPr>
          <a:xfrm>
            <a:off x="6233007" y="3657600"/>
            <a:ext cx="228600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4" name="Google Shape;1564;p30"/>
          <p:cNvSpPr txBox="1"/>
          <p:nvPr/>
        </p:nvSpPr>
        <p:spPr>
          <a:xfrm>
            <a:off x="623300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21</a:t>
            </a:r>
            <a:endParaRPr/>
          </a:p>
        </p:txBody>
      </p:sp>
      <p:sp>
        <p:nvSpPr>
          <p:cNvPr id="1565" name="Google Shape;1565;p30"/>
          <p:cNvSpPr txBox="1"/>
          <p:nvPr/>
        </p:nvSpPr>
        <p:spPr>
          <a:xfrm>
            <a:off x="623300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Calls</a:t>
            </a:r>
            <a:endParaRPr/>
          </a:p>
        </p:txBody>
      </p:sp>
      <p:sp>
        <p:nvSpPr>
          <p:cNvPr id="1566" name="Google Shape;1566;p30"/>
          <p:cNvSpPr/>
          <p:nvPr/>
        </p:nvSpPr>
        <p:spPr>
          <a:xfrm>
            <a:off x="879332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7" name="Google Shape;1567;p30"/>
          <p:cNvSpPr/>
          <p:nvPr/>
        </p:nvSpPr>
        <p:spPr>
          <a:xfrm>
            <a:off x="8793327" y="3657600"/>
            <a:ext cx="228600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8" name="Google Shape;1568;p30"/>
          <p:cNvSpPr txBox="1"/>
          <p:nvPr/>
        </p:nvSpPr>
        <p:spPr>
          <a:xfrm>
            <a:off x="879332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6</a:t>
            </a:r>
            <a:endParaRPr/>
          </a:p>
        </p:txBody>
      </p:sp>
      <p:sp>
        <p:nvSpPr>
          <p:cNvPr id="1569" name="Google Shape;1569;p30"/>
          <p:cNvSpPr txBox="1"/>
          <p:nvPr/>
        </p:nvSpPr>
        <p:spPr>
          <a:xfrm>
            <a:off x="879332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Reps Active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573" name="Shape 1573"/>
        <p:cNvGrpSpPr/>
        <p:nvPr/>
      </p:nvGrpSpPr>
      <p:grpSpPr>
        <a:xfrm>
          <a:off x="0" y="0"/>
          <a:ext cx="0" cy="0"/>
          <a:chOff x="0" y="0"/>
          <a:chExt cx="0" cy="0"/>
        </a:xfrm>
      </p:grpSpPr>
      <p:sp>
        <p:nvSpPr>
          <p:cNvPr id="1574" name="Google Shape;1574;p3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5" name="Google Shape;1575;p3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6" name="Google Shape;1576;p3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7" name="Google Shape;1577;p3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8" name="Google Shape;1578;p3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DSG GROWTH FUNNEL</a:t>
            </a:r>
            <a:endParaRPr/>
          </a:p>
        </p:txBody>
      </p:sp>
      <p:sp>
        <p:nvSpPr>
          <p:cNvPr id="1579" name="Google Shape;1579;p3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2026 Year-to-Date Pipeline</a:t>
            </a:r>
            <a:endParaRPr/>
          </a:p>
        </p:txBody>
      </p:sp>
      <p:sp>
        <p:nvSpPr>
          <p:cNvPr id="1580" name="Google Shape;1580;p3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1" name="Google Shape;1581;p3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2" name="Google Shape;1582;p3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3" name="Google Shape;1583;p31"/>
          <p:cNvSpPr/>
          <p:nvPr/>
        </p:nvSpPr>
        <p:spPr>
          <a:xfrm>
            <a:off x="731520" y="1554480"/>
            <a:ext cx="10515600" cy="685800"/>
          </a:xfrm>
          <a:prstGeom prst="roundRect">
            <a:avLst>
              <a:gd fmla="val 8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4" name="Google Shape;1584;p31"/>
          <p:cNvSpPr txBox="1"/>
          <p:nvPr/>
        </p:nvSpPr>
        <p:spPr>
          <a:xfrm>
            <a:off x="1005840" y="1645920"/>
            <a:ext cx="9966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Submissions:  7,077</a:t>
            </a:r>
            <a:endParaRPr/>
          </a:p>
        </p:txBody>
      </p:sp>
      <p:sp>
        <p:nvSpPr>
          <p:cNvPr id="1585" name="Google Shape;1585;p31"/>
          <p:cNvSpPr/>
          <p:nvPr/>
        </p:nvSpPr>
        <p:spPr>
          <a:xfrm>
            <a:off x="3233748" y="2350008"/>
            <a:ext cx="5511143" cy="685800"/>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6" name="Google Shape;1586;p31"/>
          <p:cNvSpPr txBox="1"/>
          <p:nvPr/>
        </p:nvSpPr>
        <p:spPr>
          <a:xfrm>
            <a:off x="3508068" y="2441448"/>
            <a:ext cx="4962503"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Quotes:  3,709</a:t>
            </a:r>
            <a:endParaRPr/>
          </a:p>
        </p:txBody>
      </p:sp>
      <p:sp>
        <p:nvSpPr>
          <p:cNvPr id="1587" name="Google Shape;1587;p31"/>
          <p:cNvSpPr/>
          <p:nvPr/>
        </p:nvSpPr>
        <p:spPr>
          <a:xfrm>
            <a:off x="4160520" y="3145536"/>
            <a:ext cx="3657600" cy="685800"/>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8" name="Google Shape;1588;p31"/>
          <p:cNvSpPr txBox="1"/>
          <p:nvPr/>
        </p:nvSpPr>
        <p:spPr>
          <a:xfrm>
            <a:off x="4434840" y="3236976"/>
            <a:ext cx="3108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Binds:  184</a:t>
            </a:r>
            <a:endParaRPr/>
          </a:p>
        </p:txBody>
      </p:sp>
      <p:sp>
        <p:nvSpPr>
          <p:cNvPr id="1589" name="Google Shape;1589;p31"/>
          <p:cNvSpPr/>
          <p:nvPr/>
        </p:nvSpPr>
        <p:spPr>
          <a:xfrm>
            <a:off x="4160520" y="3941064"/>
            <a:ext cx="3657600" cy="685800"/>
          </a:xfrm>
          <a:prstGeom prst="roundRect">
            <a:avLst>
              <a:gd fmla="val 8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0" name="Google Shape;1590;p31"/>
          <p:cNvSpPr txBox="1"/>
          <p:nvPr/>
        </p:nvSpPr>
        <p:spPr>
          <a:xfrm>
            <a:off x="4434840" y="4032504"/>
            <a:ext cx="3108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Bound Premium:  $5.2M</a:t>
            </a:r>
            <a:endParaRPr/>
          </a:p>
        </p:txBody>
      </p:sp>
      <p:sp>
        <p:nvSpPr>
          <p:cNvPr id="1591" name="Google Shape;1591;p31"/>
          <p:cNvSpPr/>
          <p:nvPr/>
        </p:nvSpPr>
        <p:spPr>
          <a:xfrm rot="5400000">
            <a:off x="5806440" y="2249424"/>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2" name="Google Shape;1592;p31"/>
          <p:cNvSpPr/>
          <p:nvPr/>
        </p:nvSpPr>
        <p:spPr>
          <a:xfrm rot="5400000">
            <a:off x="5806440" y="3044952"/>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3" name="Google Shape;1593;p31"/>
          <p:cNvSpPr/>
          <p:nvPr/>
        </p:nvSpPr>
        <p:spPr>
          <a:xfrm rot="5400000">
            <a:off x="5806440" y="3840480"/>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4" name="Google Shape;1594;p31"/>
          <p:cNvSpPr/>
          <p:nvPr/>
        </p:nvSpPr>
        <p:spPr>
          <a:xfrm>
            <a:off x="9418320" y="2258568"/>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5" name="Google Shape;1595;p31"/>
          <p:cNvSpPr txBox="1"/>
          <p:nvPr/>
        </p:nvSpPr>
        <p:spPr>
          <a:xfrm>
            <a:off x="9418320" y="2249424"/>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Quote Rate: 52.4%</a:t>
            </a:r>
            <a:endParaRPr/>
          </a:p>
        </p:txBody>
      </p:sp>
      <p:sp>
        <p:nvSpPr>
          <p:cNvPr id="1596" name="Google Shape;1596;p31"/>
          <p:cNvSpPr/>
          <p:nvPr/>
        </p:nvSpPr>
        <p:spPr>
          <a:xfrm>
            <a:off x="9418320" y="3054096"/>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7" name="Google Shape;1597;p31"/>
          <p:cNvSpPr txBox="1"/>
          <p:nvPr/>
        </p:nvSpPr>
        <p:spPr>
          <a:xfrm>
            <a:off x="9418320" y="3044952"/>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Bind Rate: 5.0%</a:t>
            </a:r>
            <a:endParaRPr/>
          </a:p>
        </p:txBody>
      </p:sp>
      <p:sp>
        <p:nvSpPr>
          <p:cNvPr id="1598" name="Google Shape;1598;p31"/>
          <p:cNvSpPr/>
          <p:nvPr/>
        </p:nvSpPr>
        <p:spPr>
          <a:xfrm>
            <a:off x="9418320" y="3849624"/>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9" name="Google Shape;1599;p31"/>
          <p:cNvSpPr txBox="1"/>
          <p:nvPr/>
        </p:nvSpPr>
        <p:spPr>
          <a:xfrm>
            <a:off x="9418320" y="3840480"/>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Avg Premium: $28,285</a:t>
            </a:r>
            <a:endParaRPr/>
          </a:p>
        </p:txBody>
      </p:sp>
      <p:sp>
        <p:nvSpPr>
          <p:cNvPr id="1600" name="Google Shape;1600;p31"/>
          <p:cNvSpPr txBox="1"/>
          <p:nvPr/>
        </p:nvSpPr>
        <p:spPr>
          <a:xfrm>
            <a:off x="457200" y="4754880"/>
            <a:ext cx="4572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BREAKDOWN</a:t>
            </a:r>
            <a:endParaRPr/>
          </a:p>
        </p:txBody>
      </p:sp>
      <p:sp>
        <p:nvSpPr>
          <p:cNvPr id="1601" name="Google Shape;1601;p31"/>
          <p:cNvSpPr/>
          <p:nvPr/>
        </p:nvSpPr>
        <p:spPr>
          <a:xfrm>
            <a:off x="457200" y="500176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2" name="Google Shape;1602;p31"/>
          <p:cNvSpPr/>
          <p:nvPr/>
        </p:nvSpPr>
        <p:spPr>
          <a:xfrm>
            <a:off x="45720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3" name="Google Shape;1603;p31"/>
          <p:cNvSpPr/>
          <p:nvPr/>
        </p:nvSpPr>
        <p:spPr>
          <a:xfrm>
            <a:off x="45720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4" name="Google Shape;1604;p31"/>
          <p:cNvSpPr txBox="1"/>
          <p:nvPr/>
        </p:nvSpPr>
        <p:spPr>
          <a:xfrm>
            <a:off x="64008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January</a:t>
            </a:r>
            <a:endParaRPr/>
          </a:p>
        </p:txBody>
      </p:sp>
      <p:sp>
        <p:nvSpPr>
          <p:cNvPr id="1605" name="Google Shape;1605;p31"/>
          <p:cNvSpPr txBox="1"/>
          <p:nvPr/>
        </p:nvSpPr>
        <p:spPr>
          <a:xfrm>
            <a:off x="64008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911 subs  |  471 quotes  |  13 binds</a:t>
            </a:r>
            <a:endParaRPr/>
          </a:p>
        </p:txBody>
      </p:sp>
      <p:sp>
        <p:nvSpPr>
          <p:cNvPr id="1606" name="Google Shape;1606;p31"/>
          <p:cNvSpPr txBox="1"/>
          <p:nvPr/>
        </p:nvSpPr>
        <p:spPr>
          <a:xfrm>
            <a:off x="64008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$500,726</a:t>
            </a:r>
            <a:endParaRPr/>
          </a:p>
        </p:txBody>
      </p:sp>
      <p:sp>
        <p:nvSpPr>
          <p:cNvPr id="1607" name="Google Shape;1607;p31"/>
          <p:cNvSpPr txBox="1"/>
          <p:nvPr/>
        </p:nvSpPr>
        <p:spPr>
          <a:xfrm>
            <a:off x="64008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1.4%</a:t>
            </a:r>
            <a:endParaRPr/>
          </a:p>
        </p:txBody>
      </p:sp>
      <p:sp>
        <p:nvSpPr>
          <p:cNvPr id="1608" name="Google Shape;1608;p31"/>
          <p:cNvSpPr/>
          <p:nvPr/>
        </p:nvSpPr>
        <p:spPr>
          <a:xfrm>
            <a:off x="429768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9" name="Google Shape;1609;p31"/>
          <p:cNvSpPr/>
          <p:nvPr/>
        </p:nvSpPr>
        <p:spPr>
          <a:xfrm>
            <a:off x="429768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0" name="Google Shape;1610;p31"/>
          <p:cNvSpPr txBox="1"/>
          <p:nvPr/>
        </p:nvSpPr>
        <p:spPr>
          <a:xfrm>
            <a:off x="448056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February</a:t>
            </a:r>
            <a:endParaRPr/>
          </a:p>
        </p:txBody>
      </p:sp>
      <p:sp>
        <p:nvSpPr>
          <p:cNvPr id="1611" name="Google Shape;1611;p31"/>
          <p:cNvSpPr txBox="1"/>
          <p:nvPr/>
        </p:nvSpPr>
        <p:spPr>
          <a:xfrm>
            <a:off x="448056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1166 subs  |  589 quotes  |  25 binds</a:t>
            </a:r>
            <a:endParaRPr/>
          </a:p>
        </p:txBody>
      </p:sp>
      <p:sp>
        <p:nvSpPr>
          <p:cNvPr id="1612" name="Google Shape;1612;p31"/>
          <p:cNvSpPr txBox="1"/>
          <p:nvPr/>
        </p:nvSpPr>
        <p:spPr>
          <a:xfrm>
            <a:off x="448056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$1.1M</a:t>
            </a:r>
            <a:endParaRPr/>
          </a:p>
        </p:txBody>
      </p:sp>
      <p:sp>
        <p:nvSpPr>
          <p:cNvPr id="1613" name="Google Shape;1613;p31"/>
          <p:cNvSpPr txBox="1"/>
          <p:nvPr/>
        </p:nvSpPr>
        <p:spPr>
          <a:xfrm>
            <a:off x="448056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2.1%</a:t>
            </a:r>
            <a:endParaRPr/>
          </a:p>
        </p:txBody>
      </p:sp>
      <p:sp>
        <p:nvSpPr>
          <p:cNvPr id="1614" name="Google Shape;1614;p31"/>
          <p:cNvSpPr/>
          <p:nvPr/>
        </p:nvSpPr>
        <p:spPr>
          <a:xfrm>
            <a:off x="813816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5" name="Google Shape;1615;p31"/>
          <p:cNvSpPr/>
          <p:nvPr/>
        </p:nvSpPr>
        <p:spPr>
          <a:xfrm>
            <a:off x="813816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6" name="Google Shape;1616;p31"/>
          <p:cNvSpPr txBox="1"/>
          <p:nvPr/>
        </p:nvSpPr>
        <p:spPr>
          <a:xfrm>
            <a:off x="832104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March</a:t>
            </a:r>
            <a:endParaRPr/>
          </a:p>
        </p:txBody>
      </p:sp>
      <p:sp>
        <p:nvSpPr>
          <p:cNvPr id="1617" name="Google Shape;1617;p31"/>
          <p:cNvSpPr txBox="1"/>
          <p:nvPr/>
        </p:nvSpPr>
        <p:spPr>
          <a:xfrm>
            <a:off x="832104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1607 subs  |  870 quotes  |  51 binds</a:t>
            </a:r>
            <a:endParaRPr/>
          </a:p>
        </p:txBody>
      </p:sp>
      <p:sp>
        <p:nvSpPr>
          <p:cNvPr id="1618" name="Google Shape;1618;p31"/>
          <p:cNvSpPr txBox="1"/>
          <p:nvPr/>
        </p:nvSpPr>
        <p:spPr>
          <a:xfrm>
            <a:off x="832104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$1.2M</a:t>
            </a:r>
            <a:endParaRPr/>
          </a:p>
        </p:txBody>
      </p:sp>
      <p:sp>
        <p:nvSpPr>
          <p:cNvPr id="1619" name="Google Shape;1619;p31"/>
          <p:cNvSpPr txBox="1"/>
          <p:nvPr/>
        </p:nvSpPr>
        <p:spPr>
          <a:xfrm>
            <a:off x="832104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3.2%</a:t>
            </a:r>
            <a:endParaRPr/>
          </a:p>
        </p:txBody>
      </p:sp>
      <p:sp>
        <p:nvSpPr>
          <p:cNvPr id="1620" name="Google Shape;1620;p3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1" name="Google Shape;1621;p3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622" name="Google Shape;1622;p3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626" name="Shape 1626"/>
        <p:cNvGrpSpPr/>
        <p:nvPr/>
      </p:nvGrpSpPr>
      <p:grpSpPr>
        <a:xfrm>
          <a:off x="0" y="0"/>
          <a:ext cx="0" cy="0"/>
          <a:chOff x="0" y="0"/>
          <a:chExt cx="0" cy="0"/>
        </a:xfrm>
      </p:grpSpPr>
      <p:sp>
        <p:nvSpPr>
          <p:cNvPr id="1627" name="Google Shape;1627;p3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8" name="Google Shape;1628;p3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9" name="Google Shape;1629;p3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0" name="Google Shape;1630;p3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1" name="Google Shape;1631;p3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Cameron Brader</a:t>
            </a:r>
            <a:endParaRPr/>
          </a:p>
        </p:txBody>
      </p:sp>
      <p:sp>
        <p:nvSpPr>
          <p:cNvPr id="1632" name="Google Shape;1632;p3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4 activities</a:t>
            </a:r>
            <a:endParaRPr/>
          </a:p>
        </p:txBody>
      </p:sp>
      <p:sp>
        <p:nvSpPr>
          <p:cNvPr id="1633" name="Google Shape;1633;p3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4" name="Google Shape;1634;p3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5" name="Google Shape;1635;p3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6" name="Google Shape;1636;p32"/>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7" name="Google Shape;1637;p32"/>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8" name="Google Shape;1638;p32"/>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9" name="Google Shape;1639;p32"/>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40" name="Google Shape;1640;p32"/>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641" name="Google Shape;1641;p32"/>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42" name="Google Shape;1642;p32"/>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Karen is selling Coverwhale DSG! she made a linked in post offering DSG availability inspired by our post. I am working well with Karen she keeps me in the loop on any submissions.</a:t>
            </a:r>
            <a:endParaRPr/>
          </a:p>
        </p:txBody>
      </p:sp>
      <p:sp>
        <p:nvSpPr>
          <p:cNvPr id="1643" name="Google Shape;1643;p32"/>
          <p:cNvSpPr/>
          <p:nvPr/>
        </p:nvSpPr>
        <p:spPr>
          <a:xfrm>
            <a:off x="274320" y="2441448"/>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4" name="Google Shape;1644;p32"/>
          <p:cNvSpPr/>
          <p:nvPr/>
        </p:nvSpPr>
        <p:spPr>
          <a:xfrm>
            <a:off x="274320" y="2441448"/>
            <a:ext cx="73152" cy="98755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5" name="Google Shape;1645;p32"/>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6" name="Google Shape;1646;p32"/>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47" name="Google Shape;1647;p32"/>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648" name="Google Shape;1648;p32"/>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49" name="Google Shape;1649;p32"/>
          <p:cNvSpPr txBox="1"/>
          <p:nvPr/>
        </p:nvSpPr>
        <p:spPr>
          <a:xfrm>
            <a:off x="438912" y="3026664"/>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They love the availability and options, they are combing progressive and gieco renewals to try to place with us. Also served as my phone introduction to this agency, they will be submitting more with me looking over them.</a:t>
            </a:r>
            <a:endParaRPr/>
          </a:p>
        </p:txBody>
      </p:sp>
      <p:sp>
        <p:nvSpPr>
          <p:cNvPr id="1650" name="Google Shape;1650;p32"/>
          <p:cNvSpPr/>
          <p:nvPr/>
        </p:nvSpPr>
        <p:spPr>
          <a:xfrm>
            <a:off x="274320" y="353872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1" name="Google Shape;1651;p32"/>
          <p:cNvSpPr/>
          <p:nvPr/>
        </p:nvSpPr>
        <p:spPr>
          <a:xfrm>
            <a:off x="274320" y="3538728"/>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2" name="Google Shape;1652;p32"/>
          <p:cNvSpPr/>
          <p:nvPr/>
        </p:nvSpPr>
        <p:spPr>
          <a:xfrm>
            <a:off x="438912" y="364845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3" name="Google Shape;1653;p32"/>
          <p:cNvSpPr txBox="1"/>
          <p:nvPr/>
        </p:nvSpPr>
        <p:spPr>
          <a:xfrm>
            <a:off x="438912" y="364845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54" name="Google Shape;1654;p32"/>
          <p:cNvSpPr txBox="1"/>
          <p:nvPr/>
        </p:nvSpPr>
        <p:spPr>
          <a:xfrm>
            <a:off x="1097280" y="364845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655" name="Google Shape;1655;p32"/>
          <p:cNvSpPr txBox="1"/>
          <p:nvPr/>
        </p:nvSpPr>
        <p:spPr>
          <a:xfrm>
            <a:off x="438912" y="390448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56" name="Google Shape;1656;p32"/>
          <p:cNvSpPr txBox="1"/>
          <p:nvPr/>
        </p:nvSpPr>
        <p:spPr>
          <a:xfrm>
            <a:off x="438912" y="412394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Was told about DSG immediately, they are one of the largest DSG agencies in VA, they instantly started submitting risks once hearing VA was open. Ran into issues with classification, This has been mentioned to UW but I was told their insureds are told to select exempt for hire when starting a DSG only authority. thus that makes a lot of their risks not eligible.</a:t>
            </a:r>
            <a:endParaRPr/>
          </a:p>
        </p:txBody>
      </p:sp>
      <p:sp>
        <p:nvSpPr>
          <p:cNvPr id="1657" name="Google Shape;1657;p32"/>
          <p:cNvSpPr/>
          <p:nvPr/>
        </p:nvSpPr>
        <p:spPr>
          <a:xfrm>
            <a:off x="274320" y="478231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8" name="Google Shape;1658;p32"/>
          <p:cNvSpPr/>
          <p:nvPr/>
        </p:nvSpPr>
        <p:spPr>
          <a:xfrm>
            <a:off x="274320" y="4782312"/>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9" name="Google Shape;1659;p32"/>
          <p:cNvSpPr/>
          <p:nvPr/>
        </p:nvSpPr>
        <p:spPr>
          <a:xfrm>
            <a:off x="438912" y="4892040"/>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0" name="Google Shape;1660;p32"/>
          <p:cNvSpPr txBox="1"/>
          <p:nvPr/>
        </p:nvSpPr>
        <p:spPr>
          <a:xfrm>
            <a:off x="438912" y="489204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61" name="Google Shape;1661;p32"/>
          <p:cNvSpPr txBox="1"/>
          <p:nvPr/>
        </p:nvSpPr>
        <p:spPr>
          <a:xfrm>
            <a:off x="1097280" y="489204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01/23/2026</a:t>
            </a:r>
            <a:endParaRPr/>
          </a:p>
        </p:txBody>
      </p:sp>
      <p:sp>
        <p:nvSpPr>
          <p:cNvPr id="1662" name="Google Shape;1662;p32"/>
          <p:cNvSpPr txBox="1"/>
          <p:nvPr/>
        </p:nvSpPr>
        <p:spPr>
          <a:xfrm>
            <a:off x="438912" y="514807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63" name="Google Shape;1663;p32"/>
          <p:cNvSpPr txBox="1"/>
          <p:nvPr/>
        </p:nvSpPr>
        <p:spPr>
          <a:xfrm>
            <a:off x="438912" y="536752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@Roland Massey @Derek Janssen Prospect: Gurbhinder (Agency Principal) Purpose: Agency prospecting / potential appointment with Cover Whale Overview Spoke with Gurbhinder to introduce Cover Whale and assess fit for an agency partnership. Call was highly productive and consultative. Gurbhinder runs a transportation-focused agency with a strong emphasis on analytics, underwriting discipline, and t...</a:t>
            </a:r>
            <a:endParaRPr/>
          </a:p>
        </p:txBody>
      </p:sp>
      <p:sp>
        <p:nvSpPr>
          <p:cNvPr id="1664" name="Google Shape;1664;p3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5" name="Google Shape;1665;p3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666" name="Google Shape;1666;p3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670" name="Shape 1670"/>
        <p:cNvGrpSpPr/>
        <p:nvPr/>
      </p:nvGrpSpPr>
      <p:grpSpPr>
        <a:xfrm>
          <a:off x="0" y="0"/>
          <a:ext cx="0" cy="0"/>
          <a:chOff x="0" y="0"/>
          <a:chExt cx="0" cy="0"/>
        </a:xfrm>
      </p:grpSpPr>
      <p:sp>
        <p:nvSpPr>
          <p:cNvPr id="1671" name="Google Shape;1671;p3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2" name="Google Shape;1672;p3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3" name="Google Shape;1673;p3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4" name="Google Shape;1674;p3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5" name="Google Shape;1675;p3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Christopher Hayes</a:t>
            </a:r>
            <a:endParaRPr/>
          </a:p>
        </p:txBody>
      </p:sp>
      <p:sp>
        <p:nvSpPr>
          <p:cNvPr id="1676" name="Google Shape;1676;p3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3 activities</a:t>
            </a:r>
            <a:endParaRPr/>
          </a:p>
        </p:txBody>
      </p:sp>
      <p:sp>
        <p:nvSpPr>
          <p:cNvPr id="1677" name="Google Shape;1677;p3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8" name="Google Shape;1678;p3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9" name="Google Shape;1679;p3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0" name="Google Shape;1680;p33"/>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1" name="Google Shape;1681;p33"/>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2" name="Google Shape;1682;p33"/>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3" name="Google Shape;1683;p33"/>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84" name="Google Shape;1684;p33"/>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1685" name="Google Shape;1685;p33"/>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86" name="Google Shape;1686;p33"/>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Dave on the team. He mentioned that primarily they do see a lot of DSG business come out of the tri-state area. They see way more leads/business from the NJ area than the PA area but since we are not in NJ yet they will satrt to send over the leads they have for the PA; but they did reiterate the fact that NJ would be a better outlet for DSG for their team. About 20% of t...</a:t>
            </a:r>
            <a:endParaRPr/>
          </a:p>
        </p:txBody>
      </p:sp>
      <p:sp>
        <p:nvSpPr>
          <p:cNvPr id="1687" name="Google Shape;1687;p33"/>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8" name="Google Shape;1688;p33"/>
          <p:cNvSpPr/>
          <p:nvPr/>
        </p:nvSpPr>
        <p:spPr>
          <a:xfrm>
            <a:off x="274320" y="2660904"/>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9" name="Google Shape;1689;p33"/>
          <p:cNvSpPr/>
          <p:nvPr/>
        </p:nvSpPr>
        <p:spPr>
          <a:xfrm>
            <a:off x="438912" y="27706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0" name="Google Shape;1690;p33"/>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91" name="Google Shape;1691;p33"/>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01/23/2026</a:t>
            </a:r>
            <a:endParaRPr/>
          </a:p>
        </p:txBody>
      </p:sp>
      <p:sp>
        <p:nvSpPr>
          <p:cNvPr id="1692" name="Google Shape;1692;p33"/>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93" name="Google Shape;1693;p33"/>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@Kevin McKernan @Roland Massey Met with the Principal agent Nicole Rodiguez, shadowed by Christina. Good first discussion with this agency. Despite struggling on the fleet side, this agency has been gaining steam over the last couple of months, writing the most they have ever written in their history with CW. They appear to have not had a clear understanding to what we are looking for in fleet ...</a:t>
            </a:r>
            <a:endParaRPr/>
          </a:p>
        </p:txBody>
      </p:sp>
      <p:sp>
        <p:nvSpPr>
          <p:cNvPr id="1694" name="Google Shape;1694;p33"/>
          <p:cNvSpPr/>
          <p:nvPr/>
        </p:nvSpPr>
        <p:spPr>
          <a:xfrm>
            <a:off x="274320" y="390448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5" name="Google Shape;1695;p33"/>
          <p:cNvSpPr/>
          <p:nvPr/>
        </p:nvSpPr>
        <p:spPr>
          <a:xfrm>
            <a:off x="274320" y="3904488"/>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6" name="Google Shape;1696;p33"/>
          <p:cNvSpPr/>
          <p:nvPr/>
        </p:nvSpPr>
        <p:spPr>
          <a:xfrm>
            <a:off x="438912" y="401421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7" name="Google Shape;1697;p33"/>
          <p:cNvSpPr txBox="1"/>
          <p:nvPr/>
        </p:nvSpPr>
        <p:spPr>
          <a:xfrm>
            <a:off x="438912" y="401421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98" name="Google Shape;1698;p33"/>
          <p:cNvSpPr txBox="1"/>
          <p:nvPr/>
        </p:nvSpPr>
        <p:spPr>
          <a:xfrm>
            <a:off x="1097280" y="401421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04/18/2025</a:t>
            </a:r>
            <a:endParaRPr/>
          </a:p>
        </p:txBody>
      </p:sp>
      <p:sp>
        <p:nvSpPr>
          <p:cNvPr id="1699" name="Google Shape;1699;p33"/>
          <p:cNvSpPr txBox="1"/>
          <p:nvPr/>
        </p:nvSpPr>
        <p:spPr>
          <a:xfrm>
            <a:off x="438912" y="427024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00" name="Google Shape;1700;p33"/>
          <p:cNvSpPr txBox="1"/>
          <p:nvPr/>
        </p:nvSpPr>
        <p:spPr>
          <a:xfrm>
            <a:off x="438912" y="448970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Met with Adam Mandwee at MCIEF 2025 in Orlando. Purpose of discussion was to re-engage this partner as per request of my leadership. The previous issues JM had with CW pre-exists Adam's time with the agency so not inight was added their besides servicing being a huge painpoint for the agency. I was able to educate Adam on the enhancements we have made not only to the platfrom but also on the se...</a:t>
            </a:r>
            <a:endParaRPr/>
          </a:p>
        </p:txBody>
      </p:sp>
      <p:sp>
        <p:nvSpPr>
          <p:cNvPr id="1701" name="Google Shape;1701;p3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2" name="Google Shape;1702;p3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03" name="Google Shape;1703;p3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07" name="Shape 1707"/>
        <p:cNvGrpSpPr/>
        <p:nvPr/>
      </p:nvGrpSpPr>
      <p:grpSpPr>
        <a:xfrm>
          <a:off x="0" y="0"/>
          <a:ext cx="0" cy="0"/>
          <a:chOff x="0" y="0"/>
          <a:chExt cx="0" cy="0"/>
        </a:xfrm>
      </p:grpSpPr>
      <p:sp>
        <p:nvSpPr>
          <p:cNvPr id="1708" name="Google Shape;1708;p3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9" name="Google Shape;1709;p3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0" name="Google Shape;1710;p3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1" name="Google Shape;1711;p3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2" name="Google Shape;1712;p3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Kevin McKernan</a:t>
            </a:r>
            <a:endParaRPr/>
          </a:p>
        </p:txBody>
      </p:sp>
      <p:sp>
        <p:nvSpPr>
          <p:cNvPr id="1713" name="Google Shape;1713;p3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1 activities</a:t>
            </a:r>
            <a:endParaRPr/>
          </a:p>
        </p:txBody>
      </p:sp>
      <p:sp>
        <p:nvSpPr>
          <p:cNvPr id="1714" name="Google Shape;1714;p3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5" name="Google Shape;1715;p3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6" name="Google Shape;1716;p3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7" name="Google Shape;1717;p34"/>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8" name="Google Shape;1718;p34"/>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9" name="Google Shape;1719;p34"/>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0" name="Google Shape;1720;p34"/>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21" name="Google Shape;1721;p34"/>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05/13/2025</a:t>
            </a:r>
            <a:endParaRPr/>
          </a:p>
        </p:txBody>
      </p:sp>
      <p:sp>
        <p:nvSpPr>
          <p:cNvPr id="1722" name="Google Shape;1722;p34"/>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23" name="Google Shape;1723;p34"/>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Meeting Notes: Heffernan Transportation Team Discussion Team Structure &amp; Current Situation Transportation Team Leads: Kenny &amp; Matt Palenta Team size: 5 members writing 5-30 units Current Market Position Main carriers: Sentry &amp; Great West (combined 100M in GWP) Limited options beyond these two carriers Dislike working with wholesalers Focus on: Dry Van, Flat Bed, Refer Geographic Focus Primary r...</a:t>
            </a:r>
            <a:endParaRPr/>
          </a:p>
        </p:txBody>
      </p:sp>
      <p:sp>
        <p:nvSpPr>
          <p:cNvPr id="1724" name="Google Shape;1724;p3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5" name="Google Shape;1725;p3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26" name="Google Shape;1726;p3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30" name="Shape 1730"/>
        <p:cNvGrpSpPr/>
        <p:nvPr/>
      </p:nvGrpSpPr>
      <p:grpSpPr>
        <a:xfrm>
          <a:off x="0" y="0"/>
          <a:ext cx="0" cy="0"/>
          <a:chOff x="0" y="0"/>
          <a:chExt cx="0" cy="0"/>
        </a:xfrm>
      </p:grpSpPr>
      <p:sp>
        <p:nvSpPr>
          <p:cNvPr id="1731" name="Google Shape;1731;p3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2" name="Google Shape;1732;p3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3" name="Google Shape;1733;p3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4" name="Google Shape;1734;p3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5" name="Google Shape;1735;p3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Ron Douglas</a:t>
            </a:r>
            <a:endParaRPr/>
          </a:p>
        </p:txBody>
      </p:sp>
      <p:sp>
        <p:nvSpPr>
          <p:cNvPr id="1736" name="Google Shape;1736;p3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2 activities</a:t>
            </a:r>
            <a:endParaRPr/>
          </a:p>
        </p:txBody>
      </p:sp>
      <p:sp>
        <p:nvSpPr>
          <p:cNvPr id="1737" name="Google Shape;1737;p3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8" name="Google Shape;1738;p3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9" name="Google Shape;1739;p3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0" name="Google Shape;1740;p35"/>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1" name="Google Shape;1741;p35"/>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2" name="Google Shape;1742;p35"/>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3" name="Google Shape;1743;p35"/>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744" name="Google Shape;1744;p35"/>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03/03/2026</a:t>
            </a:r>
            <a:endParaRPr/>
          </a:p>
        </p:txBody>
      </p:sp>
      <p:sp>
        <p:nvSpPr>
          <p:cNvPr id="1745" name="Google Shape;1745;p35"/>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Amy Flowers</a:t>
            </a:r>
            <a:endParaRPr/>
          </a:p>
        </p:txBody>
      </p:sp>
      <p:sp>
        <p:nvSpPr>
          <p:cNvPr id="1746" name="Google Shape;1746;p35"/>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47" name="Google Shape;1747;p35"/>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Amy, she, her husband Zach and their son Matt run the agency, she stated that they are strong with NV and primarily go to Progressive and Geico for those, with CW being a distant third. she stated that this is the case because Progressive and Geico generally give them what they need and their renewals are usually better, which makes the process easier for them their states are TX, AL...</a:t>
            </a:r>
            <a:endParaRPr/>
          </a:p>
        </p:txBody>
      </p:sp>
      <p:sp>
        <p:nvSpPr>
          <p:cNvPr id="1748" name="Google Shape;1748;p35"/>
          <p:cNvSpPr/>
          <p:nvPr/>
        </p:nvSpPr>
        <p:spPr>
          <a:xfrm>
            <a:off x="274320" y="2660904"/>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9" name="Google Shape;1749;p35"/>
          <p:cNvSpPr/>
          <p:nvPr/>
        </p:nvSpPr>
        <p:spPr>
          <a:xfrm>
            <a:off x="274320" y="2660904"/>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0" name="Google Shape;1750;p35"/>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1" name="Google Shape;1751;p35"/>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752" name="Google Shape;1752;p35"/>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02/26/2026</a:t>
            </a:r>
            <a:endParaRPr/>
          </a:p>
        </p:txBody>
      </p:sp>
      <p:sp>
        <p:nvSpPr>
          <p:cNvPr id="1753" name="Google Shape;1753;p35"/>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Carlos Barboza</a:t>
            </a:r>
            <a:endParaRPr/>
          </a:p>
        </p:txBody>
      </p:sp>
      <p:sp>
        <p:nvSpPr>
          <p:cNvPr id="1754" name="Google Shape;1754;p35"/>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55" name="Google Shape;1755;p35"/>
          <p:cNvSpPr txBox="1"/>
          <p:nvPr/>
        </p:nvSpPr>
        <p:spPr>
          <a:xfrm>
            <a:off x="438912" y="3246120"/>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 carlos, discussed dsg expansion, does not do a lot of dump, mainly reefer and dry van, 8-10 units, advised will be in south FL soon, and will meet, emailed him the most recent collateral, pleased with current status with CW, he asked about MVRs and if they were required to purchase, advised no DSG GROWTH @</a:t>
            </a:r>
            <a:endParaRPr/>
          </a:p>
        </p:txBody>
      </p:sp>
      <p:sp>
        <p:nvSpPr>
          <p:cNvPr id="1756" name="Google Shape;1756;p3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7" name="Google Shape;1757;p3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58" name="Google Shape;1758;p3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62" name="Shape 1762"/>
        <p:cNvGrpSpPr/>
        <p:nvPr/>
      </p:nvGrpSpPr>
      <p:grpSpPr>
        <a:xfrm>
          <a:off x="0" y="0"/>
          <a:ext cx="0" cy="0"/>
          <a:chOff x="0" y="0"/>
          <a:chExt cx="0" cy="0"/>
        </a:xfrm>
      </p:grpSpPr>
      <p:sp>
        <p:nvSpPr>
          <p:cNvPr id="1763" name="Google Shape;1763;p3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4" name="Google Shape;1764;p3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5" name="Google Shape;1765;p3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6" name="Google Shape;1766;p3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7" name="Google Shape;1767;p3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768" name="Google Shape;1768;p3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(1/5) — 18 activities</a:t>
            </a:r>
            <a:endParaRPr/>
          </a:p>
        </p:txBody>
      </p:sp>
      <p:sp>
        <p:nvSpPr>
          <p:cNvPr id="1769" name="Google Shape;1769;p3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0" name="Google Shape;1770;p3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1" name="Google Shape;1771;p3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2" name="Google Shape;1772;p36"/>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3" name="Google Shape;1773;p36"/>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4" name="Google Shape;1774;p36"/>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5" name="Google Shape;1775;p36"/>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76" name="Google Shape;1776;p36"/>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02/27/2026</a:t>
            </a:r>
            <a:endParaRPr/>
          </a:p>
        </p:txBody>
      </p:sp>
      <p:sp>
        <p:nvSpPr>
          <p:cNvPr id="1777" name="Google Shape;1777;p36"/>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78" name="Google Shape;1778;p36"/>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Sent an email regarding DSG and IL reopening. Will follow up with a phone call.</a:t>
            </a:r>
            <a:endParaRPr/>
          </a:p>
        </p:txBody>
      </p:sp>
      <p:sp>
        <p:nvSpPr>
          <p:cNvPr id="1779" name="Google Shape;1779;p36"/>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0" name="Google Shape;1780;p36"/>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1" name="Google Shape;1781;p36"/>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2" name="Google Shape;1782;p36"/>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83" name="Google Shape;1783;p36"/>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02/25/2026</a:t>
            </a:r>
            <a:endParaRPr/>
          </a:p>
        </p:txBody>
      </p:sp>
      <p:sp>
        <p:nvSpPr>
          <p:cNvPr id="1784" name="Google Shape;1784;p36"/>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85" name="Google Shape;1785;p36"/>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 Will follow up with phone call later this week.</a:t>
            </a:r>
            <a:endParaRPr/>
          </a:p>
        </p:txBody>
      </p:sp>
      <p:sp>
        <p:nvSpPr>
          <p:cNvPr id="1786" name="Google Shape;1786;p36"/>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7" name="Google Shape;1787;p36"/>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8" name="Google Shape;1788;p36"/>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9" name="Google Shape;1789;p36"/>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90" name="Google Shape;1790;p36"/>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791" name="Google Shape;1791;p36"/>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92" name="Google Shape;1792;p36"/>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Jason Singh, the underwriter, who stated that they write in over 48 states, and have started submitting for quotes. Will follow up to discuss value of BOB with the GM later this week.</a:t>
            </a:r>
            <a:endParaRPr/>
          </a:p>
        </p:txBody>
      </p:sp>
      <p:sp>
        <p:nvSpPr>
          <p:cNvPr id="1793" name="Google Shape;1793;p36"/>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4" name="Google Shape;1794;p36"/>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5" name="Google Shape;1795;p36"/>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6" name="Google Shape;1796;p36"/>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97" name="Google Shape;1797;p36"/>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798" name="Google Shape;1798;p36"/>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99" name="Google Shape;1799;p36"/>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Agent currently writes in 30 states and has a bob of approx 8 million. Sent details on DSG operations and states that we offer coverage, expecting submissions shortly.</a:t>
            </a:r>
            <a:endParaRPr/>
          </a:p>
        </p:txBody>
      </p:sp>
      <p:sp>
        <p:nvSpPr>
          <p:cNvPr id="1800" name="Google Shape;1800;p3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1" name="Google Shape;1801;p3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02" name="Google Shape;1802;p3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06" name="Shape 1806"/>
        <p:cNvGrpSpPr/>
        <p:nvPr/>
      </p:nvGrpSpPr>
      <p:grpSpPr>
        <a:xfrm>
          <a:off x="0" y="0"/>
          <a:ext cx="0" cy="0"/>
          <a:chOff x="0" y="0"/>
          <a:chExt cx="0" cy="0"/>
        </a:xfrm>
      </p:grpSpPr>
      <p:sp>
        <p:nvSpPr>
          <p:cNvPr id="1807" name="Google Shape;1807;p3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8" name="Google Shape;1808;p3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9" name="Google Shape;1809;p3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0" name="Google Shape;1810;p3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1" name="Google Shape;1811;p3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812" name="Google Shape;1812;p3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(2/5) — 18 activities</a:t>
            </a:r>
            <a:endParaRPr/>
          </a:p>
        </p:txBody>
      </p:sp>
      <p:sp>
        <p:nvSpPr>
          <p:cNvPr id="1813" name="Google Shape;1813;p3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4" name="Google Shape;1814;p3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5" name="Google Shape;1815;p3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6" name="Google Shape;1816;p37"/>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7" name="Google Shape;1817;p37"/>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8" name="Google Shape;1818;p37"/>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9" name="Google Shape;1819;p37"/>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20" name="Google Shape;1820;p37"/>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21" name="Google Shape;1821;p37"/>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22" name="Google Shape;1822;p37"/>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Follow up meeting 2/24 to meet with Sarah, GM, to discuss current states they write in and overall book of business</a:t>
            </a:r>
            <a:endParaRPr/>
          </a:p>
        </p:txBody>
      </p:sp>
      <p:sp>
        <p:nvSpPr>
          <p:cNvPr id="1823" name="Google Shape;1823;p37"/>
          <p:cNvSpPr/>
          <p:nvPr/>
        </p:nvSpPr>
        <p:spPr>
          <a:xfrm>
            <a:off x="274320" y="2441448"/>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4" name="Google Shape;1824;p37"/>
          <p:cNvSpPr/>
          <p:nvPr/>
        </p:nvSpPr>
        <p:spPr>
          <a:xfrm>
            <a:off x="274320" y="2441448"/>
            <a:ext cx="73152" cy="98755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5" name="Google Shape;1825;p37"/>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6" name="Google Shape;1826;p37"/>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27" name="Google Shape;1827;p37"/>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28" name="Google Shape;1828;p37"/>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29" name="Google Shape;1829;p37"/>
          <p:cNvSpPr txBox="1"/>
          <p:nvPr/>
        </p:nvSpPr>
        <p:spPr>
          <a:xfrm>
            <a:off x="438912" y="3026664"/>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Scott Bonder of Bonder Insurance, who was bought out by the Alera Group. He stated that he is super excited about IL opening back up , and has several clients to submit for DSG. His main focus is local and long haul, but writes in over 26 states with a bob value of approx $5 mil</a:t>
            </a:r>
            <a:endParaRPr/>
          </a:p>
        </p:txBody>
      </p:sp>
      <p:sp>
        <p:nvSpPr>
          <p:cNvPr id="1830" name="Google Shape;1830;p37"/>
          <p:cNvSpPr/>
          <p:nvPr/>
        </p:nvSpPr>
        <p:spPr>
          <a:xfrm>
            <a:off x="274320" y="353872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1" name="Google Shape;1831;p37"/>
          <p:cNvSpPr/>
          <p:nvPr/>
        </p:nvSpPr>
        <p:spPr>
          <a:xfrm>
            <a:off x="274320" y="353872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2" name="Google Shape;1832;p37"/>
          <p:cNvSpPr/>
          <p:nvPr/>
        </p:nvSpPr>
        <p:spPr>
          <a:xfrm>
            <a:off x="438912" y="364845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3" name="Google Shape;1833;p37"/>
          <p:cNvSpPr txBox="1"/>
          <p:nvPr/>
        </p:nvSpPr>
        <p:spPr>
          <a:xfrm>
            <a:off x="438912" y="364845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34" name="Google Shape;1834;p37"/>
          <p:cNvSpPr txBox="1"/>
          <p:nvPr/>
        </p:nvSpPr>
        <p:spPr>
          <a:xfrm>
            <a:off x="1097280" y="364845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35" name="Google Shape;1835;p37"/>
          <p:cNvSpPr txBox="1"/>
          <p:nvPr/>
        </p:nvSpPr>
        <p:spPr>
          <a:xfrm>
            <a:off x="438912" y="390448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36" name="Google Shape;1836;p37"/>
          <p:cNvSpPr txBox="1"/>
          <p:nvPr/>
        </p:nvSpPr>
        <p:spPr>
          <a:xfrm>
            <a:off x="438912" y="412394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Attempted to make contact via phone back in January. However, they responded to the email on DSG, and stated they will submit more soon. I have a follow up call next week to discuss the rest for their book.</a:t>
            </a:r>
            <a:endParaRPr/>
          </a:p>
        </p:txBody>
      </p:sp>
      <p:sp>
        <p:nvSpPr>
          <p:cNvPr id="1837" name="Google Shape;1837;p37"/>
          <p:cNvSpPr/>
          <p:nvPr/>
        </p:nvSpPr>
        <p:spPr>
          <a:xfrm>
            <a:off x="274320" y="456285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8" name="Google Shape;1838;p37"/>
          <p:cNvSpPr/>
          <p:nvPr/>
        </p:nvSpPr>
        <p:spPr>
          <a:xfrm>
            <a:off x="274320" y="456285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9" name="Google Shape;1839;p37"/>
          <p:cNvSpPr/>
          <p:nvPr/>
        </p:nvSpPr>
        <p:spPr>
          <a:xfrm>
            <a:off x="438912" y="467258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0" name="Google Shape;1840;p37"/>
          <p:cNvSpPr txBox="1"/>
          <p:nvPr/>
        </p:nvSpPr>
        <p:spPr>
          <a:xfrm>
            <a:off x="438912" y="467258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41" name="Google Shape;1841;p37"/>
          <p:cNvSpPr txBox="1"/>
          <p:nvPr/>
        </p:nvSpPr>
        <p:spPr>
          <a:xfrm>
            <a:off x="1097280" y="467258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42" name="Google Shape;1842;p37"/>
          <p:cNvSpPr txBox="1"/>
          <p:nvPr/>
        </p:nvSpPr>
        <p:spPr>
          <a:xfrm>
            <a:off x="438912" y="492861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43" name="Google Shape;1843;p37"/>
          <p:cNvSpPr txBox="1"/>
          <p:nvPr/>
        </p:nvSpPr>
        <p:spPr>
          <a:xfrm>
            <a:off x="438912" y="514807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Follow up call made regarding expansion with DSG. Sending over a submission shortly.</a:t>
            </a:r>
            <a:endParaRPr/>
          </a:p>
        </p:txBody>
      </p:sp>
      <p:sp>
        <p:nvSpPr>
          <p:cNvPr id="1844" name="Google Shape;1844;p3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5" name="Google Shape;1845;p3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46" name="Google Shape;1846;p3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50" name="Shape 1850"/>
        <p:cNvGrpSpPr/>
        <p:nvPr/>
      </p:nvGrpSpPr>
      <p:grpSpPr>
        <a:xfrm>
          <a:off x="0" y="0"/>
          <a:ext cx="0" cy="0"/>
          <a:chOff x="0" y="0"/>
          <a:chExt cx="0" cy="0"/>
        </a:xfrm>
      </p:grpSpPr>
      <p:sp>
        <p:nvSpPr>
          <p:cNvPr id="1851" name="Google Shape;1851;p3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2" name="Google Shape;1852;p3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3" name="Google Shape;1853;p3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4" name="Google Shape;1854;p3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5" name="Google Shape;1855;p3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856" name="Google Shape;1856;p3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(3/5) — 18 activities</a:t>
            </a:r>
            <a:endParaRPr/>
          </a:p>
        </p:txBody>
      </p:sp>
      <p:sp>
        <p:nvSpPr>
          <p:cNvPr id="1857" name="Google Shape;1857;p3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8" name="Google Shape;1858;p3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9" name="Google Shape;1859;p3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0" name="Google Shape;1860;p38"/>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1" name="Google Shape;1861;p38"/>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2" name="Google Shape;1862;p38"/>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3" name="Google Shape;1863;p38"/>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64" name="Google Shape;1864;p38"/>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65" name="Google Shape;1865;p38"/>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66" name="Google Shape;1866;p38"/>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this agency deals mostly with the Southeast region</a:t>
            </a:r>
            <a:endParaRPr/>
          </a:p>
        </p:txBody>
      </p:sp>
      <p:sp>
        <p:nvSpPr>
          <p:cNvPr id="1867" name="Google Shape;1867;p38"/>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8" name="Google Shape;1868;p38"/>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9" name="Google Shape;1869;p38"/>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0" name="Google Shape;1870;p38"/>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71" name="Google Shape;1871;p38"/>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72" name="Google Shape;1872;p38"/>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73" name="Google Shape;1873;p38"/>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to agent regarding expansion of DSG and Illinois reopening</a:t>
            </a:r>
            <a:endParaRPr/>
          </a:p>
        </p:txBody>
      </p:sp>
      <p:sp>
        <p:nvSpPr>
          <p:cNvPr id="1874" name="Google Shape;1874;p38"/>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5" name="Google Shape;1875;p38"/>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6" name="Google Shape;1876;p38"/>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7" name="Google Shape;1877;p38"/>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78" name="Google Shape;1878;p38"/>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79" name="Google Shape;1879;p38"/>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80" name="Google Shape;1880;p38"/>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Emailed agent about Illinois reopening and the expansion of DSG</a:t>
            </a:r>
            <a:endParaRPr/>
          </a:p>
        </p:txBody>
      </p:sp>
      <p:sp>
        <p:nvSpPr>
          <p:cNvPr id="1881" name="Google Shape;1881;p38"/>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2" name="Google Shape;1882;p38"/>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3" name="Google Shape;1883;p38"/>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4" name="Google Shape;1884;p38"/>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85" name="Google Shape;1885;p38"/>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86" name="Google Shape;1886;p38"/>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87" name="Google Shape;1887;p38"/>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Emailed agency regarding expansion of DSG, and Illinois reopening</a:t>
            </a:r>
            <a:endParaRPr/>
          </a:p>
        </p:txBody>
      </p:sp>
      <p:sp>
        <p:nvSpPr>
          <p:cNvPr id="1888" name="Google Shape;1888;p3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9" name="Google Shape;1889;p3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90" name="Google Shape;1890;p3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94" name="Shape 1894"/>
        <p:cNvGrpSpPr/>
        <p:nvPr/>
      </p:nvGrpSpPr>
      <p:grpSpPr>
        <a:xfrm>
          <a:off x="0" y="0"/>
          <a:ext cx="0" cy="0"/>
          <a:chOff x="0" y="0"/>
          <a:chExt cx="0" cy="0"/>
        </a:xfrm>
      </p:grpSpPr>
      <p:sp>
        <p:nvSpPr>
          <p:cNvPr id="1895" name="Google Shape;1895;p3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6" name="Google Shape;1896;p3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7" name="Google Shape;1897;p3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8" name="Google Shape;1898;p3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9" name="Google Shape;1899;p3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900" name="Google Shape;1900;p3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(4/5) — 18 activities</a:t>
            </a:r>
            <a:endParaRPr/>
          </a:p>
        </p:txBody>
      </p:sp>
      <p:sp>
        <p:nvSpPr>
          <p:cNvPr id="1901" name="Google Shape;1901;p3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2" name="Google Shape;1902;p3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3" name="Google Shape;1903;p3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4" name="Google Shape;1904;p39"/>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5" name="Google Shape;1905;p39"/>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6" name="Google Shape;1906;p39"/>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7" name="Google Shape;1907;p39"/>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08" name="Google Shape;1908;p39"/>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09" name="Google Shape;1909;p39"/>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10" name="Google Shape;1910;p39"/>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regarding IL reopening and expanded DSG coverage, awaiting follow up.</a:t>
            </a:r>
            <a:endParaRPr/>
          </a:p>
        </p:txBody>
      </p:sp>
      <p:sp>
        <p:nvSpPr>
          <p:cNvPr id="1911" name="Google Shape;1911;p39"/>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2" name="Google Shape;1912;p39"/>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3" name="Google Shape;1913;p39"/>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4" name="Google Shape;1914;p39"/>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15" name="Google Shape;1915;p39"/>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16" name="Google Shape;1916;p39"/>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17" name="Google Shape;1917;p39"/>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advising of IL reopening and expansion of DSG. awaiting follow up</a:t>
            </a:r>
            <a:endParaRPr/>
          </a:p>
        </p:txBody>
      </p:sp>
      <p:sp>
        <p:nvSpPr>
          <p:cNvPr id="1918" name="Google Shape;1918;p39"/>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9" name="Google Shape;1919;p39"/>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0" name="Google Shape;1920;p39"/>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1" name="Google Shape;1921;p39"/>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22" name="Google Shape;1922;p39"/>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23" name="Google Shape;1923;p39"/>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24" name="Google Shape;1924;p39"/>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Sent email concerning IL reopening and expansion of DSG. Awaiting feedback.</a:t>
            </a:r>
            <a:endParaRPr/>
          </a:p>
        </p:txBody>
      </p:sp>
      <p:sp>
        <p:nvSpPr>
          <p:cNvPr id="1925" name="Google Shape;1925;p39"/>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6" name="Google Shape;1926;p39"/>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7" name="Google Shape;1927;p39"/>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8" name="Google Shape;1928;p39"/>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29" name="Google Shape;1929;p39"/>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02/13/2026</a:t>
            </a:r>
            <a:endParaRPr/>
          </a:p>
        </p:txBody>
      </p:sp>
      <p:sp>
        <p:nvSpPr>
          <p:cNvPr id="1930" name="Google Shape;1930;p39"/>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31" name="Google Shape;1931;p39"/>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currently licensed in 10 states</a:t>
            </a:r>
            <a:endParaRPr/>
          </a:p>
        </p:txBody>
      </p:sp>
      <p:sp>
        <p:nvSpPr>
          <p:cNvPr id="1932" name="Google Shape;1932;p3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3" name="Google Shape;1933;p3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934" name="Google Shape;1934;p3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938" name="Shape 1938"/>
        <p:cNvGrpSpPr/>
        <p:nvPr/>
      </p:nvGrpSpPr>
      <p:grpSpPr>
        <a:xfrm>
          <a:off x="0" y="0"/>
          <a:ext cx="0" cy="0"/>
          <a:chOff x="0" y="0"/>
          <a:chExt cx="0" cy="0"/>
        </a:xfrm>
      </p:grpSpPr>
      <p:sp>
        <p:nvSpPr>
          <p:cNvPr id="1939" name="Google Shape;1939;p4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0" name="Google Shape;1940;p4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1" name="Google Shape;1941;p4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2" name="Google Shape;1942;p4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3" name="Google Shape;1943;p4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944" name="Google Shape;1944;p4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(5/5) — 18 activities</a:t>
            </a:r>
            <a:endParaRPr/>
          </a:p>
        </p:txBody>
      </p:sp>
      <p:sp>
        <p:nvSpPr>
          <p:cNvPr id="1945" name="Google Shape;1945;p4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6" name="Google Shape;1946;p4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7" name="Google Shape;1947;p4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8" name="Google Shape;1948;p40"/>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9" name="Google Shape;1949;p40"/>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0" name="Google Shape;1950;p40"/>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1" name="Google Shape;1951;p40"/>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52" name="Google Shape;1952;p40"/>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02/12/2026</a:t>
            </a:r>
            <a:endParaRPr/>
          </a:p>
        </p:txBody>
      </p:sp>
      <p:sp>
        <p:nvSpPr>
          <p:cNvPr id="1953" name="Google Shape;1953;p40"/>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54" name="Google Shape;1954;p40"/>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Agency owner, they are super excited about the expanded coverage for DSG and the reopening of IL. Their current book of business is approaching 10 mil with 100% commercial trucking.</a:t>
            </a:r>
            <a:endParaRPr/>
          </a:p>
        </p:txBody>
      </p:sp>
      <p:sp>
        <p:nvSpPr>
          <p:cNvPr id="1955" name="Google Shape;1955;p40"/>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6" name="Google Shape;1956;p40"/>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7" name="Google Shape;1957;p40"/>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8" name="Google Shape;1958;p40"/>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59" name="Google Shape;1959;p40"/>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1960" name="Google Shape;1960;p40"/>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61" name="Google Shape;1961;p40"/>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agency owner, Daniel, and he is excited to know that we have expanded DSG to other states. Their current book of business is approx $5 mil, with 99% focus on commercial trucking.</a:t>
            </a:r>
            <a:endParaRPr/>
          </a:p>
        </p:txBody>
      </p:sp>
      <p:sp>
        <p:nvSpPr>
          <p:cNvPr id="1962" name="Google Shape;1962;p4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3" name="Google Shape;1963;p4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964" name="Google Shape;1964;p4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968" name="Shape 1968"/>
        <p:cNvGrpSpPr/>
        <p:nvPr/>
      </p:nvGrpSpPr>
      <p:grpSpPr>
        <a:xfrm>
          <a:off x="0" y="0"/>
          <a:ext cx="0" cy="0"/>
          <a:chOff x="0" y="0"/>
          <a:chExt cx="0" cy="0"/>
        </a:xfrm>
      </p:grpSpPr>
      <p:sp>
        <p:nvSpPr>
          <p:cNvPr id="1969" name="Google Shape;1969;p4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0" name="Google Shape;1970;p4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1" name="Google Shape;1971;p4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2" name="Google Shape;1972;p4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3" name="Google Shape;1973;p4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1974" name="Google Shape;1974;p4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(1/6) — 22 activities</a:t>
            </a:r>
            <a:endParaRPr/>
          </a:p>
        </p:txBody>
      </p:sp>
      <p:sp>
        <p:nvSpPr>
          <p:cNvPr id="1975" name="Google Shape;1975;p4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6" name="Google Shape;1976;p4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7" name="Google Shape;1977;p4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8" name="Google Shape;1978;p41"/>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9" name="Google Shape;1979;p41"/>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0" name="Google Shape;1980;p41"/>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1" name="Google Shape;1981;p41"/>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82" name="Google Shape;1982;p41"/>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983" name="Google Shape;1983;p41"/>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William Jennings</a:t>
            </a:r>
            <a:endParaRPr/>
          </a:p>
        </p:txBody>
      </p:sp>
      <p:sp>
        <p:nvSpPr>
          <p:cNvPr id="1984" name="Google Shape;1984;p41"/>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85" name="Google Shape;1985;p41"/>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Westmoreland and sons. They are going to check every loss control box we have. Policy limits loss which is $1m. Have 25 power units. throw a dart but he needs to pick markets on this thing. doesn't know us and CW is new to him. has this thing with hartford but they have been on it for a long time. gets nervous because of the class of business. has a good uw over there and have treate...</a:t>
            </a:r>
            <a:endParaRPr/>
          </a:p>
        </p:txBody>
      </p:sp>
      <p:sp>
        <p:nvSpPr>
          <p:cNvPr id="1986" name="Google Shape;1986;p41"/>
          <p:cNvSpPr/>
          <p:nvPr/>
        </p:nvSpPr>
        <p:spPr>
          <a:xfrm>
            <a:off x="274320" y="26609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7" name="Google Shape;1987;p41"/>
          <p:cNvSpPr/>
          <p:nvPr/>
        </p:nvSpPr>
        <p:spPr>
          <a:xfrm>
            <a:off x="274320" y="2660904"/>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8" name="Google Shape;1988;p41"/>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9" name="Google Shape;1989;p41"/>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90" name="Google Shape;1990;p41"/>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02/19/2026</a:t>
            </a:r>
            <a:endParaRPr/>
          </a:p>
        </p:txBody>
      </p:sp>
      <p:sp>
        <p:nvSpPr>
          <p:cNvPr id="1991" name="Google Shape;1991;p41"/>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Anthony Borgomainerio</a:t>
            </a:r>
            <a:endParaRPr/>
          </a:p>
        </p:txBody>
      </p:sp>
      <p:sp>
        <p:nvSpPr>
          <p:cNvPr id="1992" name="Google Shape;1992;p41"/>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93" name="Google Shape;1993;p41"/>
          <p:cNvSpPr txBox="1"/>
          <p:nvPr/>
        </p:nvSpPr>
        <p:spPr>
          <a:xfrm>
            <a:off x="438912" y="32461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SENDING ONE OVER FROM WASHINGTON, GETTING DETAILS. OWNER OF OPPERATION HAS A SON THAT IS TURNING 21 AND WILL HAVE 2 YEARS CDL EXPERIENCE. GOING TO REVIEW.</a:t>
            </a:r>
            <a:endParaRPr/>
          </a:p>
        </p:txBody>
      </p:sp>
      <p:sp>
        <p:nvSpPr>
          <p:cNvPr id="1994" name="Google Shape;1994;p41"/>
          <p:cNvSpPr/>
          <p:nvPr/>
        </p:nvSpPr>
        <p:spPr>
          <a:xfrm>
            <a:off x="274320" y="3685032"/>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5" name="Google Shape;1995;p41"/>
          <p:cNvSpPr/>
          <p:nvPr/>
        </p:nvSpPr>
        <p:spPr>
          <a:xfrm>
            <a:off x="274320" y="3685032"/>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6" name="Google Shape;1996;p41"/>
          <p:cNvSpPr/>
          <p:nvPr/>
        </p:nvSpPr>
        <p:spPr>
          <a:xfrm>
            <a:off x="438912" y="379476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7" name="Google Shape;1997;p41"/>
          <p:cNvSpPr txBox="1"/>
          <p:nvPr/>
        </p:nvSpPr>
        <p:spPr>
          <a:xfrm>
            <a:off x="438912" y="379476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98" name="Google Shape;1998;p41"/>
          <p:cNvSpPr txBox="1"/>
          <p:nvPr/>
        </p:nvSpPr>
        <p:spPr>
          <a:xfrm>
            <a:off x="1097280" y="379476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999" name="Google Shape;1999;p41"/>
          <p:cNvSpPr txBox="1"/>
          <p:nvPr/>
        </p:nvSpPr>
        <p:spPr>
          <a:xfrm>
            <a:off x="2286000" y="379476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Joe Cantalin</a:t>
            </a:r>
            <a:endParaRPr/>
          </a:p>
        </p:txBody>
      </p:sp>
      <p:sp>
        <p:nvSpPr>
          <p:cNvPr id="2000" name="Google Shape;2000;p41"/>
          <p:cNvSpPr txBox="1"/>
          <p:nvPr/>
        </p:nvSpPr>
        <p:spPr>
          <a:xfrm>
            <a:off x="438912" y="405079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01" name="Google Shape;2001;p41"/>
          <p:cNvSpPr txBox="1"/>
          <p:nvPr/>
        </p:nvSpPr>
        <p:spPr>
          <a:xfrm>
            <a:off x="438912" y="4270248"/>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Geico can only go up to 9 power units for DSG. Joe writes DSG in the 15-25 power unit space. Only other market in Missouri is Acuity. They clean up with DSG in the state and we seem to be the only other market for 10-25 power units that can write it.</a:t>
            </a:r>
            <a:endParaRPr/>
          </a:p>
        </p:txBody>
      </p:sp>
      <p:sp>
        <p:nvSpPr>
          <p:cNvPr id="2002" name="Google Shape;2002;p41"/>
          <p:cNvSpPr/>
          <p:nvPr/>
        </p:nvSpPr>
        <p:spPr>
          <a:xfrm>
            <a:off x="274320" y="478231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3" name="Google Shape;2003;p41"/>
          <p:cNvSpPr/>
          <p:nvPr/>
        </p:nvSpPr>
        <p:spPr>
          <a:xfrm>
            <a:off x="274320" y="4782312"/>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4" name="Google Shape;2004;p41"/>
          <p:cNvSpPr/>
          <p:nvPr/>
        </p:nvSpPr>
        <p:spPr>
          <a:xfrm>
            <a:off x="438912" y="489204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5" name="Google Shape;2005;p41"/>
          <p:cNvSpPr txBox="1"/>
          <p:nvPr/>
        </p:nvSpPr>
        <p:spPr>
          <a:xfrm>
            <a:off x="438912" y="489204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06" name="Google Shape;2006;p41"/>
          <p:cNvSpPr txBox="1"/>
          <p:nvPr/>
        </p:nvSpPr>
        <p:spPr>
          <a:xfrm>
            <a:off x="1097280" y="489204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2007" name="Google Shape;2007;p41"/>
          <p:cNvSpPr txBox="1"/>
          <p:nvPr/>
        </p:nvSpPr>
        <p:spPr>
          <a:xfrm>
            <a:off x="2286000" y="489204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Joe Cantalin</a:t>
            </a:r>
            <a:endParaRPr/>
          </a:p>
        </p:txBody>
      </p:sp>
      <p:sp>
        <p:nvSpPr>
          <p:cNvPr id="2008" name="Google Shape;2008;p41"/>
          <p:cNvSpPr txBox="1"/>
          <p:nvPr/>
        </p:nvSpPr>
        <p:spPr>
          <a:xfrm>
            <a:off x="438912" y="514807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09" name="Google Shape;2009;p41"/>
          <p:cNvSpPr txBox="1"/>
          <p:nvPr/>
        </p:nvSpPr>
        <p:spPr>
          <a:xfrm>
            <a:off x="438912" y="536752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Joe he is out of St. Louis, MO (not assuredpartners FL as shown in hubspot). 19 power unit DSG account out of MO. Going to send it over to me and see if it's a fit. He doesn't have access to cover whale, thinking we can put him in under gallagher for quoting. he let me know all assuredpartners offices under gallgher have their own office contract nationwide. something assu...</a:t>
            </a:r>
            <a:endParaRPr/>
          </a:p>
        </p:txBody>
      </p:sp>
      <p:sp>
        <p:nvSpPr>
          <p:cNvPr id="2010" name="Google Shape;2010;p4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1" name="Google Shape;2011;p4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012" name="Google Shape;2012;p4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16" name="Shape 2016"/>
        <p:cNvGrpSpPr/>
        <p:nvPr/>
      </p:nvGrpSpPr>
      <p:grpSpPr>
        <a:xfrm>
          <a:off x="0" y="0"/>
          <a:ext cx="0" cy="0"/>
          <a:chOff x="0" y="0"/>
          <a:chExt cx="0" cy="0"/>
        </a:xfrm>
      </p:grpSpPr>
      <p:sp>
        <p:nvSpPr>
          <p:cNvPr id="2017" name="Google Shape;2017;p4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8" name="Google Shape;2018;p4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9" name="Google Shape;2019;p4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0" name="Google Shape;2020;p4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1" name="Google Shape;2021;p4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022" name="Google Shape;2022;p4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(2/6) — 22 activities</a:t>
            </a:r>
            <a:endParaRPr/>
          </a:p>
        </p:txBody>
      </p:sp>
      <p:sp>
        <p:nvSpPr>
          <p:cNvPr id="2023" name="Google Shape;2023;p4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4" name="Google Shape;2024;p4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5" name="Google Shape;2025;p4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6" name="Google Shape;2026;p42"/>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7" name="Google Shape;2027;p42"/>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8" name="Google Shape;2028;p42"/>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9" name="Google Shape;2029;p42"/>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30" name="Google Shape;2030;p42"/>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2031" name="Google Shape;2031;p42"/>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32" name="Google Shape;2032;p42"/>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33" name="Google Shape;2033;p42"/>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https://app.coverwhale.com/transportation/260638385201/0 - going to see if he can bind this quote out of GA two power units. Pricing is on the higher side but he doesn't think he has other options.</a:t>
            </a:r>
            <a:endParaRPr/>
          </a:p>
        </p:txBody>
      </p:sp>
      <p:sp>
        <p:nvSpPr>
          <p:cNvPr id="2034" name="Google Shape;2034;p42"/>
          <p:cNvSpPr/>
          <p:nvPr/>
        </p:nvSpPr>
        <p:spPr>
          <a:xfrm>
            <a:off x="274320" y="244144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5" name="Google Shape;2035;p42"/>
          <p:cNvSpPr/>
          <p:nvPr/>
        </p:nvSpPr>
        <p:spPr>
          <a:xfrm>
            <a:off x="274320" y="2441448"/>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6" name="Google Shape;2036;p42"/>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7" name="Google Shape;2037;p42"/>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38" name="Google Shape;2038;p42"/>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02/11/2026</a:t>
            </a:r>
            <a:endParaRPr/>
          </a:p>
        </p:txBody>
      </p:sp>
      <p:sp>
        <p:nvSpPr>
          <p:cNvPr id="2039" name="Google Shape;2039;p42"/>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40" name="Google Shape;2040;p42"/>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41" name="Google Shape;2041;p42"/>
          <p:cNvSpPr txBox="1"/>
          <p:nvPr/>
        </p:nvSpPr>
        <p:spPr>
          <a:xfrm>
            <a:off x="438912" y="302666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2 power units $33k per for AL. Asked cory if we can get pricing to $30k: " Oof. Not usually a ton of room there. I think you let it simmer for a bit and then tell him that's the best we can do for a two truck account but that you have more room on larger power unit sized accounts. Might still win it if we aren't up against another quote. He might just be trying to shave price to add ...</a:t>
            </a:r>
            <a:endParaRPr/>
          </a:p>
        </p:txBody>
      </p:sp>
      <p:sp>
        <p:nvSpPr>
          <p:cNvPr id="2042" name="Google Shape;2042;p42"/>
          <p:cNvSpPr/>
          <p:nvPr/>
        </p:nvSpPr>
        <p:spPr>
          <a:xfrm>
            <a:off x="274320" y="3685032"/>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3" name="Google Shape;2043;p42"/>
          <p:cNvSpPr/>
          <p:nvPr/>
        </p:nvSpPr>
        <p:spPr>
          <a:xfrm>
            <a:off x="274320" y="3685032"/>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4" name="Google Shape;2044;p42"/>
          <p:cNvSpPr/>
          <p:nvPr/>
        </p:nvSpPr>
        <p:spPr>
          <a:xfrm>
            <a:off x="438912" y="379476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5" name="Google Shape;2045;p42"/>
          <p:cNvSpPr txBox="1"/>
          <p:nvPr/>
        </p:nvSpPr>
        <p:spPr>
          <a:xfrm>
            <a:off x="438912" y="379476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46" name="Google Shape;2046;p42"/>
          <p:cNvSpPr txBox="1"/>
          <p:nvPr/>
        </p:nvSpPr>
        <p:spPr>
          <a:xfrm>
            <a:off x="1097280" y="379476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47" name="Google Shape;2047;p42"/>
          <p:cNvSpPr txBox="1"/>
          <p:nvPr/>
        </p:nvSpPr>
        <p:spPr>
          <a:xfrm>
            <a:off x="2286000" y="379476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48" name="Google Shape;2048;p42"/>
          <p:cNvSpPr txBox="1"/>
          <p:nvPr/>
        </p:nvSpPr>
        <p:spPr>
          <a:xfrm>
            <a:off x="438912" y="405079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49" name="Google Shape;2049;p42"/>
          <p:cNvSpPr txBox="1"/>
          <p:nvPr/>
        </p:nvSpPr>
        <p:spPr>
          <a:xfrm>
            <a:off x="438912" y="4270248"/>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asked if we are up against another quote so I have a better chance of running a 2 power unit account up the ladder and maybe can get credits applied.</a:t>
            </a:r>
            <a:endParaRPr/>
          </a:p>
        </p:txBody>
      </p:sp>
      <p:sp>
        <p:nvSpPr>
          <p:cNvPr id="2050" name="Google Shape;2050;p42"/>
          <p:cNvSpPr/>
          <p:nvPr/>
        </p:nvSpPr>
        <p:spPr>
          <a:xfrm>
            <a:off x="274320" y="470916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1" name="Google Shape;2051;p42"/>
          <p:cNvSpPr/>
          <p:nvPr/>
        </p:nvSpPr>
        <p:spPr>
          <a:xfrm>
            <a:off x="274320" y="470916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2" name="Google Shape;2052;p42"/>
          <p:cNvSpPr/>
          <p:nvPr/>
        </p:nvSpPr>
        <p:spPr>
          <a:xfrm>
            <a:off x="438912" y="481888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3" name="Google Shape;2053;p42"/>
          <p:cNvSpPr txBox="1"/>
          <p:nvPr/>
        </p:nvSpPr>
        <p:spPr>
          <a:xfrm>
            <a:off x="438912" y="481888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54" name="Google Shape;2054;p42"/>
          <p:cNvSpPr txBox="1"/>
          <p:nvPr/>
        </p:nvSpPr>
        <p:spPr>
          <a:xfrm>
            <a:off x="1097280" y="481888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55" name="Google Shape;2055;p42"/>
          <p:cNvSpPr txBox="1"/>
          <p:nvPr/>
        </p:nvSpPr>
        <p:spPr>
          <a:xfrm>
            <a:off x="2286000" y="481888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56" name="Google Shape;2056;p42"/>
          <p:cNvSpPr txBox="1"/>
          <p:nvPr/>
        </p:nvSpPr>
        <p:spPr>
          <a:xfrm>
            <a:off x="438912" y="507492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57" name="Google Shape;2057;p42"/>
          <p:cNvSpPr txBox="1"/>
          <p:nvPr/>
        </p:nvSpPr>
        <p:spPr>
          <a:xfrm>
            <a:off x="438912" y="529437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PUT IN THE MVR VIOLATION AND WAITING ON MVRS TO CONFIRM THAT ITS A NEW VENTURE - EFFECTIVE DATE FOR COVERAGE ASAP. HE WILL PROBABLY BE USING DASH CAMERAS - NEEDS TO HOOK THEM UP. CONNECT THEM AFTER BIND COMING BACK AS NON-ADMITTED QUOTE IN GA WANTS TO GET PRICING LOWER - ANYTHING UNDER $30K HE THINK HE CAN SELL. SEEING $750K ON THE LIMIT - NEEDS $1M ON THE LIMIT HE IS GOING TO EDIT T...</a:t>
            </a:r>
            <a:endParaRPr/>
          </a:p>
        </p:txBody>
      </p:sp>
      <p:sp>
        <p:nvSpPr>
          <p:cNvPr id="2058" name="Google Shape;2058;p4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9" name="Google Shape;2059;p4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060" name="Google Shape;2060;p4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64" name="Shape 2064"/>
        <p:cNvGrpSpPr/>
        <p:nvPr/>
      </p:nvGrpSpPr>
      <p:grpSpPr>
        <a:xfrm>
          <a:off x="0" y="0"/>
          <a:ext cx="0" cy="0"/>
          <a:chOff x="0" y="0"/>
          <a:chExt cx="0" cy="0"/>
        </a:xfrm>
      </p:grpSpPr>
      <p:sp>
        <p:nvSpPr>
          <p:cNvPr id="2065" name="Google Shape;2065;p4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6" name="Google Shape;2066;p4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7" name="Google Shape;2067;p4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8" name="Google Shape;2068;p4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9" name="Google Shape;2069;p4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070" name="Google Shape;2070;p4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(3/6) — 22 activities</a:t>
            </a:r>
            <a:endParaRPr/>
          </a:p>
        </p:txBody>
      </p:sp>
      <p:sp>
        <p:nvSpPr>
          <p:cNvPr id="2071" name="Google Shape;2071;p4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2" name="Google Shape;2072;p4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3" name="Google Shape;2073;p4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4" name="Google Shape;2074;p43"/>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5" name="Google Shape;2075;p43"/>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6" name="Google Shape;2076;p43"/>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7" name="Google Shape;2077;p43"/>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78" name="Google Shape;2078;p43"/>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79" name="Google Shape;2079;p43"/>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80" name="Google Shape;2080;p43"/>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81" name="Google Shape;2081;p43"/>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$31K PER TRUCK IN GA FOR TWO TRUCKS. SUBMISSION # 260638385201</a:t>
            </a:r>
            <a:endParaRPr/>
          </a:p>
        </p:txBody>
      </p:sp>
      <p:sp>
        <p:nvSpPr>
          <p:cNvPr id="2082" name="Google Shape;2082;p43"/>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3" name="Google Shape;2083;p43"/>
          <p:cNvSpPr/>
          <p:nvPr/>
        </p:nvSpPr>
        <p:spPr>
          <a:xfrm>
            <a:off x="274320" y="2441448"/>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4" name="Google Shape;2084;p43"/>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5" name="Google Shape;2085;p43"/>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86" name="Google Shape;2086;p43"/>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2087" name="Google Shape;2087;p43"/>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Anthony Borgomainerio</a:t>
            </a:r>
            <a:endParaRPr/>
          </a:p>
        </p:txBody>
      </p:sp>
      <p:sp>
        <p:nvSpPr>
          <p:cNvPr id="2088" name="Google Shape;2088;p43"/>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89" name="Google Shape;2089;p43"/>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has an account in AZ he is looking to get quoted. Need to get Jerrod Perkins set up with a login.</a:t>
            </a:r>
            <a:endParaRPr/>
          </a:p>
        </p:txBody>
      </p:sp>
      <p:sp>
        <p:nvSpPr>
          <p:cNvPr id="2090" name="Google Shape;2090;p43"/>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1" name="Google Shape;2091;p43"/>
          <p:cNvSpPr/>
          <p:nvPr/>
        </p:nvSpPr>
        <p:spPr>
          <a:xfrm>
            <a:off x="274320" y="3465576"/>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2" name="Google Shape;2092;p43"/>
          <p:cNvSpPr/>
          <p:nvPr/>
        </p:nvSpPr>
        <p:spPr>
          <a:xfrm>
            <a:off x="438912" y="3575304"/>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3" name="Google Shape;2093;p43"/>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94" name="Google Shape;2094;p43"/>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095" name="Google Shape;2095;p43"/>
          <p:cNvSpPr txBox="1"/>
          <p:nvPr/>
        </p:nvSpPr>
        <p:spPr>
          <a:xfrm>
            <a:off x="2286000" y="3575304"/>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96" name="Google Shape;2096;p43"/>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97" name="Google Shape;2097;p43"/>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HAS AN ACCOUNT IN TN 18 UNITS BUT MIGHT NOT BE WILLING TO USE DASHCAM/ELD NEED SOME INFO ON HOW THE ELD PLUG IN WORKS AND REPORTS TO US</a:t>
            </a:r>
            <a:endParaRPr/>
          </a:p>
        </p:txBody>
      </p:sp>
      <p:sp>
        <p:nvSpPr>
          <p:cNvPr id="2098" name="Google Shape;2098;p43"/>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9" name="Google Shape;2099;p43"/>
          <p:cNvSpPr/>
          <p:nvPr/>
        </p:nvSpPr>
        <p:spPr>
          <a:xfrm>
            <a:off x="274320" y="4489704"/>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0" name="Google Shape;2100;p43"/>
          <p:cNvSpPr/>
          <p:nvPr/>
        </p:nvSpPr>
        <p:spPr>
          <a:xfrm>
            <a:off x="438912" y="45994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1" name="Google Shape;2101;p43"/>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02" name="Google Shape;2102;p43"/>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103" name="Google Shape;2103;p43"/>
          <p:cNvSpPr txBox="1"/>
          <p:nvPr/>
        </p:nvSpPr>
        <p:spPr>
          <a:xfrm>
            <a:off x="2286000" y="45994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Jennifer Thompson</a:t>
            </a:r>
            <a:endParaRPr/>
          </a:p>
        </p:txBody>
      </p:sp>
      <p:sp>
        <p:nvSpPr>
          <p:cNvPr id="2104" name="Google Shape;2104;p43"/>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05" name="Google Shape;2105;p43"/>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b="0" i="0" sz="900" u="none" cap="none" strike="noStrike">
              <a:solidFill>
                <a:srgbClr val="2D233F"/>
              </a:solidFill>
              <a:latin typeface="Quattrocento Sans"/>
              <a:ea typeface="Quattrocento Sans"/>
              <a:cs typeface="Quattrocento Sans"/>
              <a:sym typeface="Quattrocento Sans"/>
            </a:endParaRPr>
          </a:p>
        </p:txBody>
      </p:sp>
      <p:sp>
        <p:nvSpPr>
          <p:cNvPr id="2106" name="Google Shape;2106;p4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7" name="Google Shape;2107;p4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108" name="Google Shape;2108;p4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12" name="Shape 2112"/>
        <p:cNvGrpSpPr/>
        <p:nvPr/>
      </p:nvGrpSpPr>
      <p:grpSpPr>
        <a:xfrm>
          <a:off x="0" y="0"/>
          <a:ext cx="0" cy="0"/>
          <a:chOff x="0" y="0"/>
          <a:chExt cx="0" cy="0"/>
        </a:xfrm>
      </p:grpSpPr>
      <p:sp>
        <p:nvSpPr>
          <p:cNvPr id="2113" name="Google Shape;2113;p4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4" name="Google Shape;2114;p4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5" name="Google Shape;2115;p4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6" name="Google Shape;2116;p4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7" name="Google Shape;2117;p4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118" name="Google Shape;2118;p4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(4/6) — 22 activities</a:t>
            </a:r>
            <a:endParaRPr/>
          </a:p>
        </p:txBody>
      </p:sp>
      <p:sp>
        <p:nvSpPr>
          <p:cNvPr id="2119" name="Google Shape;2119;p4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0" name="Google Shape;2120;p4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1" name="Google Shape;2121;p4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2" name="Google Shape;2122;p44"/>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3" name="Google Shape;2123;p44"/>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4" name="Google Shape;2124;p44"/>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5" name="Google Shape;2125;p44"/>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26" name="Google Shape;2126;p44"/>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127" name="Google Shape;2127;p44"/>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128" name="Google Shape;2128;p44"/>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29" name="Google Shape;2129;p44"/>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new venture 2 unit account due asap marsh georgia team runs the show with DSG in west georgia getting mitch set up with a login</a:t>
            </a:r>
            <a:endParaRPr/>
          </a:p>
        </p:txBody>
      </p:sp>
      <p:sp>
        <p:nvSpPr>
          <p:cNvPr id="2130" name="Google Shape;2130;p44"/>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1" name="Google Shape;2131;p44"/>
          <p:cNvSpPr/>
          <p:nvPr/>
        </p:nvSpPr>
        <p:spPr>
          <a:xfrm>
            <a:off x="274320" y="2441448"/>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2" name="Google Shape;2132;p44"/>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3" name="Google Shape;2133;p44"/>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34" name="Google Shape;2134;p44"/>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35" name="Google Shape;2135;p44"/>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Rhonda Wood</a:t>
            </a:r>
            <a:endParaRPr/>
          </a:p>
        </p:txBody>
      </p:sp>
      <p:sp>
        <p:nvSpPr>
          <p:cNvPr id="2136" name="Google Shape;2136;p44"/>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37" name="Google Shape;2137;p44"/>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b="0" i="0" sz="900" u="none" cap="none" strike="noStrike">
              <a:solidFill>
                <a:srgbClr val="2D233F"/>
              </a:solidFill>
              <a:latin typeface="Quattrocento Sans"/>
              <a:ea typeface="Quattrocento Sans"/>
              <a:cs typeface="Quattrocento Sans"/>
              <a:sym typeface="Quattrocento Sans"/>
            </a:endParaRPr>
          </a:p>
        </p:txBody>
      </p:sp>
      <p:sp>
        <p:nvSpPr>
          <p:cNvPr id="2138" name="Google Shape;2138;p44"/>
          <p:cNvSpPr/>
          <p:nvPr/>
        </p:nvSpPr>
        <p:spPr>
          <a:xfrm>
            <a:off x="274320" y="3465576"/>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9" name="Google Shape;2139;p44"/>
          <p:cNvSpPr/>
          <p:nvPr/>
        </p:nvSpPr>
        <p:spPr>
          <a:xfrm>
            <a:off x="274320" y="3465576"/>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0" name="Google Shape;2140;p44"/>
          <p:cNvSpPr/>
          <p:nvPr/>
        </p:nvSpPr>
        <p:spPr>
          <a:xfrm>
            <a:off x="438912" y="3575304"/>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1" name="Google Shape;2141;p44"/>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42" name="Google Shape;2142;p44"/>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43" name="Google Shape;2143;p44"/>
          <p:cNvSpPr txBox="1"/>
          <p:nvPr/>
        </p:nvSpPr>
        <p:spPr>
          <a:xfrm>
            <a:off x="2286000" y="3575304"/>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William Jennings</a:t>
            </a:r>
            <a:endParaRPr/>
          </a:p>
        </p:txBody>
      </p:sp>
      <p:sp>
        <p:nvSpPr>
          <p:cNvPr id="2144" name="Google Shape;2144;p44"/>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45" name="Google Shape;2145;p44"/>
          <p:cNvSpPr txBox="1"/>
          <p:nvPr/>
        </p:nvSpPr>
        <p:spPr>
          <a:xfrm>
            <a:off x="438912" y="4050792"/>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WRITE DSG AND ALL TYPES OF TRANSPORTATION 20 UNIT IN GA DSG - SENDING IT OVER TO ME 4/1 AM'S WOULD ENTER THE DETAILS INTO THE APP 8648217 - HIS NPN MMA SOUTHEAST - CARROLLTON, GA NOT A FAN OF 800 PHONE NUMBERS. GAVE HIM MY CELL @Cory Arnette</a:t>
            </a:r>
            <a:endParaRPr/>
          </a:p>
        </p:txBody>
      </p:sp>
      <p:sp>
        <p:nvSpPr>
          <p:cNvPr id="2146" name="Google Shape;2146;p44"/>
          <p:cNvSpPr/>
          <p:nvPr/>
        </p:nvSpPr>
        <p:spPr>
          <a:xfrm>
            <a:off x="274320" y="456285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7" name="Google Shape;2147;p44"/>
          <p:cNvSpPr/>
          <p:nvPr/>
        </p:nvSpPr>
        <p:spPr>
          <a:xfrm>
            <a:off x="274320" y="456285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8" name="Google Shape;2148;p44"/>
          <p:cNvSpPr/>
          <p:nvPr/>
        </p:nvSpPr>
        <p:spPr>
          <a:xfrm>
            <a:off x="438912" y="467258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9" name="Google Shape;2149;p44"/>
          <p:cNvSpPr txBox="1"/>
          <p:nvPr/>
        </p:nvSpPr>
        <p:spPr>
          <a:xfrm>
            <a:off x="438912" y="467258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150" name="Google Shape;2150;p44"/>
          <p:cNvSpPr txBox="1"/>
          <p:nvPr/>
        </p:nvSpPr>
        <p:spPr>
          <a:xfrm>
            <a:off x="1097280" y="467258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51" name="Google Shape;2151;p44"/>
          <p:cNvSpPr txBox="1"/>
          <p:nvPr/>
        </p:nvSpPr>
        <p:spPr>
          <a:xfrm>
            <a:off x="438912" y="492861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52" name="Google Shape;2152;p44"/>
          <p:cNvSpPr txBox="1"/>
          <p:nvPr/>
        </p:nvSpPr>
        <p:spPr>
          <a:xfrm>
            <a:off x="438912" y="514807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marsh Georgia</a:t>
            </a:r>
            <a:endParaRPr/>
          </a:p>
        </p:txBody>
      </p:sp>
      <p:sp>
        <p:nvSpPr>
          <p:cNvPr id="2153" name="Google Shape;2153;p4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4" name="Google Shape;2154;p4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155" name="Google Shape;2155;p4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59" name="Shape 2159"/>
        <p:cNvGrpSpPr/>
        <p:nvPr/>
      </p:nvGrpSpPr>
      <p:grpSpPr>
        <a:xfrm>
          <a:off x="0" y="0"/>
          <a:ext cx="0" cy="0"/>
          <a:chOff x="0" y="0"/>
          <a:chExt cx="0" cy="0"/>
        </a:xfrm>
      </p:grpSpPr>
      <p:sp>
        <p:nvSpPr>
          <p:cNvPr id="2160" name="Google Shape;2160;p4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1" name="Google Shape;2161;p4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2" name="Google Shape;2162;p4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3" name="Google Shape;2163;p4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4" name="Google Shape;2164;p4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165" name="Google Shape;2165;p4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(5/6) — 22 activities</a:t>
            </a:r>
            <a:endParaRPr/>
          </a:p>
        </p:txBody>
      </p:sp>
      <p:sp>
        <p:nvSpPr>
          <p:cNvPr id="2166" name="Google Shape;2166;p4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7" name="Google Shape;2167;p4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8" name="Google Shape;2168;p4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9" name="Google Shape;2169;p45"/>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0" name="Google Shape;2170;p45"/>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1" name="Google Shape;2171;p45"/>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2" name="Google Shape;2172;p45"/>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173" name="Google Shape;2173;p45"/>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07/15/2025</a:t>
            </a:r>
            <a:endParaRPr/>
          </a:p>
        </p:txBody>
      </p:sp>
      <p:sp>
        <p:nvSpPr>
          <p:cNvPr id="2174" name="Google Shape;2174;p45"/>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75" name="Google Shape;2175;p45"/>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Disco notes: Agency Background : Started in trucking in 2015 through the Truckers Association (now called Rock Lake). Contact began as a UW assistant and is familiar with back-end operations. Licensed as an agent with Allstate prior to launching independently in 2020 (post-COVID layoff). Current Status : Operating solo – she is the only producer. Currently focused on commercial trucking , plann...</a:t>
            </a:r>
            <a:endParaRPr/>
          </a:p>
        </p:txBody>
      </p:sp>
      <p:sp>
        <p:nvSpPr>
          <p:cNvPr id="2176" name="Google Shape;2176;p45"/>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7" name="Google Shape;2177;p45"/>
          <p:cNvSpPr/>
          <p:nvPr/>
        </p:nvSpPr>
        <p:spPr>
          <a:xfrm>
            <a:off x="274320" y="2660904"/>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8" name="Google Shape;2178;p45"/>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9" name="Google Shape;2179;p45"/>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80" name="Google Shape;2180;p45"/>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12/03/2024</a:t>
            </a:r>
            <a:endParaRPr/>
          </a:p>
        </p:txBody>
      </p:sp>
      <p:sp>
        <p:nvSpPr>
          <p:cNvPr id="2181" name="Google Shape;2181;p45"/>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+18032331259 Aircall new contact</a:t>
            </a:r>
            <a:endParaRPr/>
          </a:p>
        </p:txBody>
      </p:sp>
      <p:sp>
        <p:nvSpPr>
          <p:cNvPr id="2182" name="Google Shape;2182;p45"/>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83" name="Google Shape;2183;p45"/>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+18032331259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Policyholder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use us all the time. he has used us before with another agency. pet peeve was the customer service historically. turn around time for endorsements takes too long. quoting is simple. they want to write w us...</a:t>
            </a:r>
            <a:endParaRPr/>
          </a:p>
        </p:txBody>
      </p:sp>
      <p:sp>
        <p:nvSpPr>
          <p:cNvPr id="2184" name="Google Shape;2184;p45"/>
          <p:cNvSpPr/>
          <p:nvPr/>
        </p:nvSpPr>
        <p:spPr>
          <a:xfrm>
            <a:off x="274320" y="390448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5" name="Google Shape;2185;p45"/>
          <p:cNvSpPr/>
          <p:nvPr/>
        </p:nvSpPr>
        <p:spPr>
          <a:xfrm>
            <a:off x="274320" y="3904488"/>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6" name="Google Shape;2186;p45"/>
          <p:cNvSpPr/>
          <p:nvPr/>
        </p:nvSpPr>
        <p:spPr>
          <a:xfrm>
            <a:off x="438912" y="401421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7" name="Google Shape;2187;p45"/>
          <p:cNvSpPr txBox="1"/>
          <p:nvPr/>
        </p:nvSpPr>
        <p:spPr>
          <a:xfrm>
            <a:off x="438912" y="401421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88" name="Google Shape;2188;p45"/>
          <p:cNvSpPr txBox="1"/>
          <p:nvPr/>
        </p:nvSpPr>
        <p:spPr>
          <a:xfrm>
            <a:off x="1097280" y="401421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11/22/2024</a:t>
            </a:r>
            <a:endParaRPr/>
          </a:p>
        </p:txBody>
      </p:sp>
      <p:sp>
        <p:nvSpPr>
          <p:cNvPr id="2189" name="Google Shape;2189;p45"/>
          <p:cNvSpPr txBox="1"/>
          <p:nvPr/>
        </p:nvSpPr>
        <p:spPr>
          <a:xfrm>
            <a:off x="2286000" y="401421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Jaime Louisdhon</a:t>
            </a:r>
            <a:endParaRPr/>
          </a:p>
        </p:txBody>
      </p:sp>
      <p:sp>
        <p:nvSpPr>
          <p:cNvPr id="2190" name="Google Shape;2190;p45"/>
          <p:cNvSpPr txBox="1"/>
          <p:nvPr/>
        </p:nvSpPr>
        <p:spPr>
          <a:xfrm>
            <a:off x="438912" y="427024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91" name="Google Shape;2191;p45"/>
          <p:cNvSpPr txBox="1"/>
          <p:nvPr/>
        </p:nvSpPr>
        <p:spPr>
          <a:xfrm>
            <a:off x="438912" y="448970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Jaime Louisdhon +19542894020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Agent (Partner) Training Needed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 she has been calling in to get her email changed where they send quotes - it is currently admin@goadvantageinsurance.com would like it to be office@firgostruckinginsurance.com. she doesn't writ...</a:t>
            </a:r>
            <a:endParaRPr/>
          </a:p>
        </p:txBody>
      </p:sp>
      <p:sp>
        <p:nvSpPr>
          <p:cNvPr id="2192" name="Google Shape;2192;p45"/>
          <p:cNvSpPr/>
          <p:nvPr/>
        </p:nvSpPr>
        <p:spPr>
          <a:xfrm>
            <a:off x="274320" y="514807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3" name="Google Shape;2193;p45"/>
          <p:cNvSpPr/>
          <p:nvPr/>
        </p:nvSpPr>
        <p:spPr>
          <a:xfrm>
            <a:off x="274320" y="5148072"/>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4" name="Google Shape;2194;p45"/>
          <p:cNvSpPr/>
          <p:nvPr/>
        </p:nvSpPr>
        <p:spPr>
          <a:xfrm>
            <a:off x="438912" y="525780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5" name="Google Shape;2195;p45"/>
          <p:cNvSpPr txBox="1"/>
          <p:nvPr/>
        </p:nvSpPr>
        <p:spPr>
          <a:xfrm>
            <a:off x="438912" y="525780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96" name="Google Shape;2196;p45"/>
          <p:cNvSpPr txBox="1"/>
          <p:nvPr/>
        </p:nvSpPr>
        <p:spPr>
          <a:xfrm>
            <a:off x="1097280" y="525780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11/18/2024</a:t>
            </a:r>
            <a:endParaRPr/>
          </a:p>
        </p:txBody>
      </p:sp>
      <p:sp>
        <p:nvSpPr>
          <p:cNvPr id="2197" name="Google Shape;2197;p45"/>
          <p:cNvSpPr txBox="1"/>
          <p:nvPr/>
        </p:nvSpPr>
        <p:spPr>
          <a:xfrm>
            <a:off x="2286000" y="525780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Leeza Kanwal</a:t>
            </a:r>
            <a:endParaRPr/>
          </a:p>
        </p:txBody>
      </p:sp>
      <p:sp>
        <p:nvSpPr>
          <p:cNvPr id="2198" name="Google Shape;2198;p45"/>
          <p:cNvSpPr txBox="1"/>
          <p:nvPr/>
        </p:nvSpPr>
        <p:spPr>
          <a:xfrm>
            <a:off x="438912" y="551383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99" name="Google Shape;2199;p45"/>
          <p:cNvSpPr txBox="1"/>
          <p:nvPr/>
        </p:nvSpPr>
        <p:spPr>
          <a:xfrm>
            <a:off x="438912" y="573328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Leeza Kanwal +18048892126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writing DSG - only issue is a lot of those trucks are 1999. she writes a lot of DSG. a lot of them are older trucks. DSG states: GA, MD, TX. Still standing by that our DP is 'horrendous.'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Agent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Call ID: ...</a:t>
            </a:r>
            <a:endParaRPr/>
          </a:p>
        </p:txBody>
      </p:sp>
      <p:sp>
        <p:nvSpPr>
          <p:cNvPr id="2200" name="Google Shape;2200;p4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1" name="Google Shape;2201;p4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02" name="Google Shape;2202;p4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06" name="Shape 2206"/>
        <p:cNvGrpSpPr/>
        <p:nvPr/>
      </p:nvGrpSpPr>
      <p:grpSpPr>
        <a:xfrm>
          <a:off x="0" y="0"/>
          <a:ext cx="0" cy="0"/>
          <a:chOff x="0" y="0"/>
          <a:chExt cx="0" cy="0"/>
        </a:xfrm>
      </p:grpSpPr>
      <p:sp>
        <p:nvSpPr>
          <p:cNvPr id="2207" name="Google Shape;2207;p4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8" name="Google Shape;2208;p4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9" name="Google Shape;2209;p4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0" name="Google Shape;2210;p4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1" name="Google Shape;2211;p4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212" name="Google Shape;2212;p4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(6/6) — 22 activities</a:t>
            </a:r>
            <a:endParaRPr/>
          </a:p>
        </p:txBody>
      </p:sp>
      <p:sp>
        <p:nvSpPr>
          <p:cNvPr id="2213" name="Google Shape;2213;p4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4" name="Google Shape;2214;p4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5" name="Google Shape;2215;p4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6" name="Google Shape;2216;p46"/>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7" name="Google Shape;2217;p46"/>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8" name="Google Shape;2218;p46"/>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9" name="Google Shape;2219;p46"/>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220" name="Google Shape;2220;p46"/>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11/18/2024</a:t>
            </a:r>
            <a:endParaRPr/>
          </a:p>
        </p:txBody>
      </p:sp>
      <p:sp>
        <p:nvSpPr>
          <p:cNvPr id="2221" name="Google Shape;2221;p46"/>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Olga Adileh</a:t>
            </a:r>
            <a:endParaRPr/>
          </a:p>
        </p:txBody>
      </p:sp>
      <p:sp>
        <p:nvSpPr>
          <p:cNvPr id="2222" name="Google Shape;2222;p46"/>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223" name="Google Shape;2223;p46"/>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Olga Adileh +12024152108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Agent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needs help. 6 DUKAT - had an issue getting cameras delivered. they got delivered. they are getting a cancellation notice saying 12/23rd material changes in risk exposure.</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non-compliance for telematics...</a:t>
            </a:r>
            <a:endParaRPr/>
          </a:p>
        </p:txBody>
      </p:sp>
      <p:sp>
        <p:nvSpPr>
          <p:cNvPr id="2224" name="Google Shape;2224;p46"/>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5" name="Google Shape;2225;p46"/>
          <p:cNvSpPr/>
          <p:nvPr/>
        </p:nvSpPr>
        <p:spPr>
          <a:xfrm>
            <a:off x="274320" y="2660904"/>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6" name="Google Shape;2226;p46"/>
          <p:cNvSpPr/>
          <p:nvPr/>
        </p:nvSpPr>
        <p:spPr>
          <a:xfrm>
            <a:off x="438912" y="27706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7" name="Google Shape;2227;p46"/>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228" name="Google Shape;2228;p46"/>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09/25/2024</a:t>
            </a:r>
            <a:endParaRPr/>
          </a:p>
        </p:txBody>
      </p:sp>
      <p:sp>
        <p:nvSpPr>
          <p:cNvPr id="2229" name="Google Shape;2229;p46"/>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230" name="Google Shape;2230;p46"/>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Honesti is the only producer at her agency. But has some assistants that help her out. when it comes to trucking that is her baby. she knows how to use the platform very well. licensed in 28 states. she writes a lot of biz in TX.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What is her main market? does a ton of DSG - general freight - reefer - produce - flatbed - hotshot. most of her DSG guys have been with her since she had her agency...</a:t>
            </a:r>
            <a:endParaRPr/>
          </a:p>
        </p:txBody>
      </p:sp>
      <p:sp>
        <p:nvSpPr>
          <p:cNvPr id="2231" name="Google Shape;2231;p4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2" name="Google Shape;2232;p4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33" name="Google Shape;2233;p4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37" name="Shape 2237"/>
        <p:cNvGrpSpPr/>
        <p:nvPr/>
      </p:nvGrpSpPr>
      <p:grpSpPr>
        <a:xfrm>
          <a:off x="0" y="0"/>
          <a:ext cx="0" cy="0"/>
          <a:chOff x="0" y="0"/>
          <a:chExt cx="0" cy="0"/>
        </a:xfrm>
      </p:grpSpPr>
      <p:sp>
        <p:nvSpPr>
          <p:cNvPr id="2238" name="Google Shape;2238;p4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9" name="Google Shape;2239;p4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0" name="Google Shape;2240;p4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1" name="Google Shape;2241;p4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2" name="Google Shape;2242;p4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OUTREACH-TO-BIND CROSS-REFERENCE</a:t>
            </a:r>
            <a:endParaRPr/>
          </a:p>
        </p:txBody>
      </p:sp>
      <p:sp>
        <p:nvSpPr>
          <p:cNvPr id="2243" name="Google Shape;2243;p4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0 Agencies Touched</a:t>
            </a:r>
            <a:endParaRPr/>
          </a:p>
        </p:txBody>
      </p:sp>
      <p:sp>
        <p:nvSpPr>
          <p:cNvPr id="2244" name="Google Shape;2244;p4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5" name="Google Shape;2245;p4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6" name="Google Shape;2246;p4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7" name="Google Shape;2247;p47"/>
          <p:cNvSpPr/>
          <p:nvPr/>
        </p:nvSpPr>
        <p:spPr>
          <a:xfrm>
            <a:off x="36576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8" name="Google Shape;2248;p47"/>
          <p:cNvSpPr/>
          <p:nvPr/>
        </p:nvSpPr>
        <p:spPr>
          <a:xfrm>
            <a:off x="365760" y="146304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9" name="Google Shape;2249;p47"/>
          <p:cNvSpPr txBox="1"/>
          <p:nvPr/>
        </p:nvSpPr>
        <p:spPr>
          <a:xfrm>
            <a:off x="54864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AGENCIES TOUCHED</a:t>
            </a:r>
            <a:endParaRPr/>
          </a:p>
        </p:txBody>
      </p:sp>
      <p:sp>
        <p:nvSpPr>
          <p:cNvPr id="2250" name="Google Shape;2250;p47"/>
          <p:cNvSpPr txBox="1"/>
          <p:nvPr/>
        </p:nvSpPr>
        <p:spPr>
          <a:xfrm>
            <a:off x="54864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0</a:t>
            </a:r>
            <a:endParaRPr/>
          </a:p>
        </p:txBody>
      </p:sp>
      <p:sp>
        <p:nvSpPr>
          <p:cNvPr id="2251" name="Google Shape;2251;p47"/>
          <p:cNvSpPr txBox="1"/>
          <p:nvPr/>
        </p:nvSpPr>
        <p:spPr>
          <a:xfrm>
            <a:off x="54864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Via growth outreach</a:t>
            </a:r>
            <a:endParaRPr/>
          </a:p>
        </p:txBody>
      </p:sp>
      <p:sp>
        <p:nvSpPr>
          <p:cNvPr id="2252" name="Google Shape;2252;p47"/>
          <p:cNvSpPr/>
          <p:nvPr/>
        </p:nvSpPr>
        <p:spPr>
          <a:xfrm>
            <a:off x="329184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3" name="Google Shape;2253;p47"/>
          <p:cNvSpPr/>
          <p:nvPr/>
        </p:nvSpPr>
        <p:spPr>
          <a:xfrm>
            <a:off x="3291840" y="146304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4" name="Google Shape;2254;p47"/>
          <p:cNvSpPr txBox="1"/>
          <p:nvPr/>
        </p:nvSpPr>
        <p:spPr>
          <a:xfrm>
            <a:off x="347472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AGENCIES BOUND</a:t>
            </a:r>
            <a:endParaRPr/>
          </a:p>
        </p:txBody>
      </p:sp>
      <p:sp>
        <p:nvSpPr>
          <p:cNvPr id="2255" name="Google Shape;2255;p47"/>
          <p:cNvSpPr txBox="1"/>
          <p:nvPr/>
        </p:nvSpPr>
        <p:spPr>
          <a:xfrm>
            <a:off x="347472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0</a:t>
            </a:r>
            <a:endParaRPr/>
          </a:p>
        </p:txBody>
      </p:sp>
      <p:sp>
        <p:nvSpPr>
          <p:cNvPr id="2256" name="Google Shape;2256;p47"/>
          <p:cNvSpPr txBox="1"/>
          <p:nvPr/>
        </p:nvSpPr>
        <p:spPr>
          <a:xfrm>
            <a:off x="347472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Matched to bound policies</a:t>
            </a:r>
            <a:endParaRPr/>
          </a:p>
        </p:txBody>
      </p:sp>
      <p:sp>
        <p:nvSpPr>
          <p:cNvPr id="2257" name="Google Shape;2257;p47"/>
          <p:cNvSpPr/>
          <p:nvPr/>
        </p:nvSpPr>
        <p:spPr>
          <a:xfrm>
            <a:off x="621792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8" name="Google Shape;2258;p47"/>
          <p:cNvSpPr/>
          <p:nvPr/>
        </p:nvSpPr>
        <p:spPr>
          <a:xfrm>
            <a:off x="6217920" y="1463040"/>
            <a:ext cx="2651760" cy="5486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9" name="Google Shape;2259;p47"/>
          <p:cNvSpPr txBox="1"/>
          <p:nvPr/>
        </p:nvSpPr>
        <p:spPr>
          <a:xfrm>
            <a:off x="640080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CONVERSION RATE</a:t>
            </a:r>
            <a:endParaRPr/>
          </a:p>
        </p:txBody>
      </p:sp>
      <p:sp>
        <p:nvSpPr>
          <p:cNvPr id="2260" name="Google Shape;2260;p47"/>
          <p:cNvSpPr txBox="1"/>
          <p:nvPr/>
        </p:nvSpPr>
        <p:spPr>
          <a:xfrm>
            <a:off x="640080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59E0B"/>
                </a:solidFill>
                <a:latin typeface="Quattrocento Sans"/>
                <a:ea typeface="Quattrocento Sans"/>
                <a:cs typeface="Quattrocento Sans"/>
                <a:sym typeface="Quattrocento Sans"/>
              </a:rPr>
              <a:t>0%</a:t>
            </a:r>
            <a:endParaRPr/>
          </a:p>
        </p:txBody>
      </p:sp>
      <p:sp>
        <p:nvSpPr>
          <p:cNvPr id="2261" name="Google Shape;2261;p47"/>
          <p:cNvSpPr txBox="1"/>
          <p:nvPr/>
        </p:nvSpPr>
        <p:spPr>
          <a:xfrm>
            <a:off x="640080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Outreach → Bind</a:t>
            </a:r>
            <a:endParaRPr/>
          </a:p>
        </p:txBody>
      </p:sp>
      <p:sp>
        <p:nvSpPr>
          <p:cNvPr id="2262" name="Google Shape;2262;p47"/>
          <p:cNvSpPr/>
          <p:nvPr/>
        </p:nvSpPr>
        <p:spPr>
          <a:xfrm>
            <a:off x="914400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3" name="Google Shape;2263;p47"/>
          <p:cNvSpPr/>
          <p:nvPr/>
        </p:nvSpPr>
        <p:spPr>
          <a:xfrm>
            <a:off x="9144000" y="146304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4" name="Google Shape;2264;p47"/>
          <p:cNvSpPr txBox="1"/>
          <p:nvPr/>
        </p:nvSpPr>
        <p:spPr>
          <a:xfrm>
            <a:off x="932688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PIPELINE</a:t>
            </a:r>
            <a:endParaRPr/>
          </a:p>
        </p:txBody>
      </p:sp>
      <p:sp>
        <p:nvSpPr>
          <p:cNvPr id="2265" name="Google Shape;2265;p47"/>
          <p:cNvSpPr txBox="1"/>
          <p:nvPr/>
        </p:nvSpPr>
        <p:spPr>
          <a:xfrm>
            <a:off x="932688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0</a:t>
            </a:r>
            <a:endParaRPr/>
          </a:p>
        </p:txBody>
      </p:sp>
      <p:sp>
        <p:nvSpPr>
          <p:cNvPr id="2266" name="Google Shape;2266;p47"/>
          <p:cNvSpPr txBox="1"/>
          <p:nvPr/>
        </p:nvSpPr>
        <p:spPr>
          <a:xfrm>
            <a:off x="932688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Contacted, not yet bound</a:t>
            </a:r>
            <a:endParaRPr/>
          </a:p>
        </p:txBody>
      </p:sp>
      <p:graphicFrame>
        <p:nvGraphicFramePr>
          <p:cNvPr id="2267" name="Google Shape;2267;p47"/>
          <p:cNvGraphicFramePr/>
          <p:nvPr/>
        </p:nvGraphicFramePr>
        <p:xfrm>
          <a:off x="365760" y="2926080"/>
          <a:ext cx="3000000" cy="3000000"/>
        </p:xfrm>
        <a:graphic>
          <a:graphicData uri="http://schemas.openxmlformats.org/drawingml/2006/table">
            <a:tbl>
              <a:tblPr>
                <a:noFill/>
                <a:tableStyleId>{D82A8721-ECEF-4CED-8E2A-D61C263BF4EF}</a:tableStyleId>
              </a:tblPr>
              <a:tblGrid>
                <a:gridCol w="2560325"/>
                <a:gridCol w="1554475"/>
                <a:gridCol w="868675"/>
                <a:gridCol w="2377450"/>
                <a:gridCol w="868675"/>
                <a:gridCol w="1005850"/>
                <a:gridCol w="822950"/>
              </a:tblGrid>
              <a:tr h="26517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Outreach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Bound 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Premium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bl>
          </a:graphicData>
        </a:graphic>
      </p:graphicFrame>
      <p:sp>
        <p:nvSpPr>
          <p:cNvPr id="2268" name="Google Shape;2268;p4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9" name="Google Shape;2269;p4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70" name="Google Shape;2270;p4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74" name="Shape 2274"/>
        <p:cNvGrpSpPr/>
        <p:nvPr/>
      </p:nvGrpSpPr>
      <p:grpSpPr>
        <a:xfrm>
          <a:off x="0" y="0"/>
          <a:ext cx="0" cy="0"/>
          <a:chOff x="0" y="0"/>
          <a:chExt cx="0" cy="0"/>
        </a:xfrm>
      </p:grpSpPr>
      <p:sp>
        <p:nvSpPr>
          <p:cNvPr id="2275" name="Google Shape;2275;p4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6" name="Google Shape;2276;p4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7" name="Google Shape;2277;p4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8" name="Google Shape;2278;p4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9" name="Google Shape;2279;p4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ACTIVITY &amp; SUBMISSIONS TIMELINE</a:t>
            </a:r>
            <a:endParaRPr/>
          </a:p>
        </p:txBody>
      </p:sp>
      <p:sp>
        <p:nvSpPr>
          <p:cNvPr id="2280" name="Google Shape;2280;p4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Outreach Cadence vs. Submission Volume</a:t>
            </a:r>
            <a:endParaRPr/>
          </a:p>
        </p:txBody>
      </p:sp>
      <p:sp>
        <p:nvSpPr>
          <p:cNvPr id="2281" name="Google Shape;2281;p4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2" name="Google Shape;2282;p4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3" name="Google Shape;2283;p4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284" name="Google Shape;2284;p48"/>
          <p:cNvGraphicFramePr/>
          <p:nvPr/>
        </p:nvGraphicFramePr>
        <p:xfrm>
          <a:off x="457200" y="1554480"/>
          <a:ext cx="7315200" cy="4572000"/>
        </p:xfrm>
        <a:graphic>
          <a:graphicData uri="http://schemas.openxmlformats.org/drawingml/2006/chart">
            <c:chart r:id="rId3"/>
          </a:graphicData>
        </a:graphic>
      </p:graphicFrame>
      <p:sp>
        <p:nvSpPr>
          <p:cNvPr id="2285" name="Google Shape;2285;p48"/>
          <p:cNvSpPr/>
          <p:nvPr/>
        </p:nvSpPr>
        <p:spPr>
          <a:xfrm>
            <a:off x="8229600" y="1554480"/>
            <a:ext cx="3657600" cy="13716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6" name="Google Shape;2286;p48"/>
          <p:cNvSpPr/>
          <p:nvPr/>
        </p:nvSpPr>
        <p:spPr>
          <a:xfrm>
            <a:off x="8229600" y="1554480"/>
            <a:ext cx="54864" cy="137160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7" name="Google Shape;2287;p48"/>
          <p:cNvSpPr txBox="1"/>
          <p:nvPr/>
        </p:nvSpPr>
        <p:spPr>
          <a:xfrm>
            <a:off x="8412480" y="169164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Peak Activity Week</a:t>
            </a:r>
            <a:endParaRPr/>
          </a:p>
        </p:txBody>
      </p:sp>
      <p:sp>
        <p:nvSpPr>
          <p:cNvPr id="2288" name="Google Shape;2288;p48"/>
          <p:cNvSpPr txBox="1"/>
          <p:nvPr/>
        </p:nvSpPr>
        <p:spPr>
          <a:xfrm>
            <a:off x="8412480" y="201168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6B5F83"/>
                </a:solidFill>
                <a:latin typeface="Quattrocento Sans"/>
                <a:ea typeface="Quattrocento Sans"/>
                <a:cs typeface="Quattrocento Sans"/>
                <a:sym typeface="Quattrocento Sans"/>
              </a:rPr>
              <a:t>Week of 02/16</a:t>
            </a:r>
            <a:endParaRPr/>
          </a:p>
        </p:txBody>
      </p:sp>
      <p:sp>
        <p:nvSpPr>
          <p:cNvPr id="2289" name="Google Shape;2289;p48"/>
          <p:cNvSpPr txBox="1"/>
          <p:nvPr/>
        </p:nvSpPr>
        <p:spPr>
          <a:xfrm>
            <a:off x="8412480" y="2286000"/>
            <a:ext cx="32918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18 notes/calls</a:t>
            </a:r>
            <a:endParaRPr/>
          </a:p>
        </p:txBody>
      </p:sp>
      <p:sp>
        <p:nvSpPr>
          <p:cNvPr id="2290" name="Google Shape;2290;p48"/>
          <p:cNvSpPr/>
          <p:nvPr/>
        </p:nvSpPr>
        <p:spPr>
          <a:xfrm>
            <a:off x="8229600" y="320040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1" name="Google Shape;2291;p48"/>
          <p:cNvSpPr/>
          <p:nvPr/>
        </p:nvSpPr>
        <p:spPr>
          <a:xfrm>
            <a:off x="8229600" y="338328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2" name="Google Shape;2292;p48"/>
          <p:cNvSpPr txBox="1"/>
          <p:nvPr/>
        </p:nvSpPr>
        <p:spPr>
          <a:xfrm>
            <a:off x="8412480" y="329184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Jan Submissions</a:t>
            </a:r>
            <a:endParaRPr/>
          </a:p>
        </p:txBody>
      </p:sp>
      <p:sp>
        <p:nvSpPr>
          <p:cNvPr id="2293" name="Google Shape;2293;p48"/>
          <p:cNvSpPr txBox="1"/>
          <p:nvPr/>
        </p:nvSpPr>
        <p:spPr>
          <a:xfrm>
            <a:off x="8412480" y="365760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911</a:t>
            </a:r>
            <a:endParaRPr/>
          </a:p>
        </p:txBody>
      </p:sp>
      <p:sp>
        <p:nvSpPr>
          <p:cNvPr id="2294" name="Google Shape;2294;p48"/>
          <p:cNvSpPr txBox="1"/>
          <p:nvPr/>
        </p:nvSpPr>
        <p:spPr>
          <a:xfrm>
            <a:off x="8412480" y="402336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471 quoted  |  13 bound</a:t>
            </a:r>
            <a:endParaRPr/>
          </a:p>
        </p:txBody>
      </p:sp>
      <p:sp>
        <p:nvSpPr>
          <p:cNvPr id="2295" name="Google Shape;2295;p48"/>
          <p:cNvSpPr/>
          <p:nvPr/>
        </p:nvSpPr>
        <p:spPr>
          <a:xfrm>
            <a:off x="8229600" y="448056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6" name="Google Shape;2296;p48"/>
          <p:cNvSpPr/>
          <p:nvPr/>
        </p:nvSpPr>
        <p:spPr>
          <a:xfrm>
            <a:off x="8229600" y="466344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7" name="Google Shape;2297;p48"/>
          <p:cNvSpPr txBox="1"/>
          <p:nvPr/>
        </p:nvSpPr>
        <p:spPr>
          <a:xfrm>
            <a:off x="8412480" y="457200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Feb Submissions</a:t>
            </a:r>
            <a:endParaRPr/>
          </a:p>
        </p:txBody>
      </p:sp>
      <p:sp>
        <p:nvSpPr>
          <p:cNvPr id="2298" name="Google Shape;2298;p48"/>
          <p:cNvSpPr txBox="1"/>
          <p:nvPr/>
        </p:nvSpPr>
        <p:spPr>
          <a:xfrm>
            <a:off x="8412480" y="493776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1166</a:t>
            </a:r>
            <a:endParaRPr/>
          </a:p>
        </p:txBody>
      </p:sp>
      <p:sp>
        <p:nvSpPr>
          <p:cNvPr id="2299" name="Google Shape;2299;p48"/>
          <p:cNvSpPr txBox="1"/>
          <p:nvPr/>
        </p:nvSpPr>
        <p:spPr>
          <a:xfrm>
            <a:off x="8412480" y="530352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589 quoted  |  25 bound</a:t>
            </a:r>
            <a:endParaRPr/>
          </a:p>
        </p:txBody>
      </p:sp>
      <p:sp>
        <p:nvSpPr>
          <p:cNvPr id="2300" name="Google Shape;2300;p48"/>
          <p:cNvSpPr/>
          <p:nvPr/>
        </p:nvSpPr>
        <p:spPr>
          <a:xfrm>
            <a:off x="8229600" y="576072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1" name="Google Shape;2301;p48"/>
          <p:cNvSpPr/>
          <p:nvPr/>
        </p:nvSpPr>
        <p:spPr>
          <a:xfrm>
            <a:off x="8229600" y="594360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2" name="Google Shape;2302;p48"/>
          <p:cNvSpPr txBox="1"/>
          <p:nvPr/>
        </p:nvSpPr>
        <p:spPr>
          <a:xfrm>
            <a:off x="8412480" y="585216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Mar Submissions</a:t>
            </a:r>
            <a:endParaRPr/>
          </a:p>
        </p:txBody>
      </p:sp>
      <p:sp>
        <p:nvSpPr>
          <p:cNvPr id="2303" name="Google Shape;2303;p48"/>
          <p:cNvSpPr txBox="1"/>
          <p:nvPr/>
        </p:nvSpPr>
        <p:spPr>
          <a:xfrm>
            <a:off x="8412480" y="621792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1607</a:t>
            </a:r>
            <a:endParaRPr/>
          </a:p>
        </p:txBody>
      </p:sp>
      <p:sp>
        <p:nvSpPr>
          <p:cNvPr id="2304" name="Google Shape;2304;p48"/>
          <p:cNvSpPr txBox="1"/>
          <p:nvPr/>
        </p:nvSpPr>
        <p:spPr>
          <a:xfrm>
            <a:off x="8412480" y="65836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870 quoted  |  51 bound</a:t>
            </a:r>
            <a:endParaRPr/>
          </a:p>
        </p:txBody>
      </p:sp>
      <p:sp>
        <p:nvSpPr>
          <p:cNvPr id="2305" name="Google Shape;2305;p4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6" name="Google Shape;2306;p4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07" name="Google Shape;2307;p4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11" name="Shape 2311"/>
        <p:cNvGrpSpPr/>
        <p:nvPr/>
      </p:nvGrpSpPr>
      <p:grpSpPr>
        <a:xfrm>
          <a:off x="0" y="0"/>
          <a:ext cx="0" cy="0"/>
          <a:chOff x="0" y="0"/>
          <a:chExt cx="0" cy="0"/>
        </a:xfrm>
      </p:grpSpPr>
      <p:sp>
        <p:nvSpPr>
          <p:cNvPr id="2312" name="Google Shape;2312;p4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3" name="Google Shape;2313;p4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4" name="Google Shape;2314;p4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5" name="Google Shape;2315;p4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6" name="Google Shape;2316;p4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MARSH / MMA CONCENTRATION ANALYSIS</a:t>
            </a:r>
            <a:endParaRPr/>
          </a:p>
        </p:txBody>
      </p:sp>
      <p:sp>
        <p:nvSpPr>
          <p:cNvPr id="2317" name="Google Shape;2317;p4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Westy's Outreach Portfolio  |  22 Total Notes</a:t>
            </a:r>
            <a:endParaRPr/>
          </a:p>
        </p:txBody>
      </p:sp>
      <p:sp>
        <p:nvSpPr>
          <p:cNvPr id="2318" name="Google Shape;2318;p4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9" name="Google Shape;2319;p4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0" name="Google Shape;2320;p4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1" name="Google Shape;2321;p49"/>
          <p:cNvSpPr/>
          <p:nvPr/>
        </p:nvSpPr>
        <p:spPr>
          <a:xfrm>
            <a:off x="36576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2" name="Google Shape;2322;p49"/>
          <p:cNvSpPr/>
          <p:nvPr/>
        </p:nvSpPr>
        <p:spPr>
          <a:xfrm>
            <a:off x="365760" y="146304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3" name="Google Shape;2323;p49"/>
          <p:cNvSpPr txBox="1"/>
          <p:nvPr/>
        </p:nvSpPr>
        <p:spPr>
          <a:xfrm>
            <a:off x="54864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TOTAL OUTREACH</a:t>
            </a:r>
            <a:endParaRPr/>
          </a:p>
        </p:txBody>
      </p:sp>
      <p:sp>
        <p:nvSpPr>
          <p:cNvPr id="2324" name="Google Shape;2324;p49"/>
          <p:cNvSpPr txBox="1"/>
          <p:nvPr/>
        </p:nvSpPr>
        <p:spPr>
          <a:xfrm>
            <a:off x="54864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22</a:t>
            </a:r>
            <a:endParaRPr/>
          </a:p>
        </p:txBody>
      </p:sp>
      <p:sp>
        <p:nvSpPr>
          <p:cNvPr id="2325" name="Google Shape;2325;p49"/>
          <p:cNvSpPr txBox="1"/>
          <p:nvPr/>
        </p:nvSpPr>
        <p:spPr>
          <a:xfrm>
            <a:off x="54864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Westy's notes/calls</a:t>
            </a:r>
            <a:endParaRPr/>
          </a:p>
        </p:txBody>
      </p:sp>
      <p:sp>
        <p:nvSpPr>
          <p:cNvPr id="2326" name="Google Shape;2326;p49"/>
          <p:cNvSpPr/>
          <p:nvPr/>
        </p:nvSpPr>
        <p:spPr>
          <a:xfrm>
            <a:off x="329184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7" name="Google Shape;2327;p49"/>
          <p:cNvSpPr/>
          <p:nvPr/>
        </p:nvSpPr>
        <p:spPr>
          <a:xfrm>
            <a:off x="3291840" y="1463040"/>
            <a:ext cx="265176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8" name="Google Shape;2328;p49"/>
          <p:cNvSpPr txBox="1"/>
          <p:nvPr/>
        </p:nvSpPr>
        <p:spPr>
          <a:xfrm>
            <a:off x="347472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MARSH-RELATED</a:t>
            </a:r>
            <a:endParaRPr/>
          </a:p>
        </p:txBody>
      </p:sp>
      <p:sp>
        <p:nvSpPr>
          <p:cNvPr id="2329" name="Google Shape;2329;p49"/>
          <p:cNvSpPr txBox="1"/>
          <p:nvPr/>
        </p:nvSpPr>
        <p:spPr>
          <a:xfrm>
            <a:off x="347472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3</a:t>
            </a:r>
            <a:endParaRPr/>
          </a:p>
        </p:txBody>
      </p:sp>
      <p:sp>
        <p:nvSpPr>
          <p:cNvPr id="2330" name="Google Shape;2330;p49"/>
          <p:cNvSpPr txBox="1"/>
          <p:nvPr/>
        </p:nvSpPr>
        <p:spPr>
          <a:xfrm>
            <a:off x="347472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14% of total</a:t>
            </a:r>
            <a:endParaRPr/>
          </a:p>
        </p:txBody>
      </p:sp>
      <p:sp>
        <p:nvSpPr>
          <p:cNvPr id="2331" name="Google Shape;2331;p49"/>
          <p:cNvSpPr/>
          <p:nvPr/>
        </p:nvSpPr>
        <p:spPr>
          <a:xfrm>
            <a:off x="621792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2" name="Google Shape;2332;p49"/>
          <p:cNvSpPr/>
          <p:nvPr/>
        </p:nvSpPr>
        <p:spPr>
          <a:xfrm>
            <a:off x="6217920" y="146304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3" name="Google Shape;2333;p49"/>
          <p:cNvSpPr txBox="1"/>
          <p:nvPr/>
        </p:nvSpPr>
        <p:spPr>
          <a:xfrm>
            <a:off x="640080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UNIQUE CONTACTS</a:t>
            </a:r>
            <a:endParaRPr/>
          </a:p>
        </p:txBody>
      </p:sp>
      <p:sp>
        <p:nvSpPr>
          <p:cNvPr id="2334" name="Google Shape;2334;p49"/>
          <p:cNvSpPr txBox="1"/>
          <p:nvPr/>
        </p:nvSpPr>
        <p:spPr>
          <a:xfrm>
            <a:off x="640080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0</a:t>
            </a:r>
            <a:endParaRPr/>
          </a:p>
        </p:txBody>
      </p:sp>
      <p:sp>
        <p:nvSpPr>
          <p:cNvPr id="2335" name="Google Shape;2335;p49"/>
          <p:cNvSpPr txBox="1"/>
          <p:nvPr/>
        </p:nvSpPr>
        <p:spPr>
          <a:xfrm>
            <a:off x="640080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At Marsh/MMA</a:t>
            </a:r>
            <a:endParaRPr/>
          </a:p>
        </p:txBody>
      </p:sp>
      <p:sp>
        <p:nvSpPr>
          <p:cNvPr id="2336" name="Google Shape;2336;p49"/>
          <p:cNvSpPr/>
          <p:nvPr/>
        </p:nvSpPr>
        <p:spPr>
          <a:xfrm>
            <a:off x="914400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7" name="Google Shape;2337;p49"/>
          <p:cNvSpPr/>
          <p:nvPr/>
        </p:nvSpPr>
        <p:spPr>
          <a:xfrm>
            <a:off x="9144000" y="146304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8" name="Google Shape;2338;p49"/>
          <p:cNvSpPr txBox="1"/>
          <p:nvPr/>
        </p:nvSpPr>
        <p:spPr>
          <a:xfrm>
            <a:off x="932688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NON-MARSH</a:t>
            </a:r>
            <a:endParaRPr/>
          </a:p>
        </p:txBody>
      </p:sp>
      <p:sp>
        <p:nvSpPr>
          <p:cNvPr id="2339" name="Google Shape;2339;p49"/>
          <p:cNvSpPr txBox="1"/>
          <p:nvPr/>
        </p:nvSpPr>
        <p:spPr>
          <a:xfrm>
            <a:off x="932688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0</a:t>
            </a:r>
            <a:endParaRPr/>
          </a:p>
        </p:txBody>
      </p:sp>
      <p:sp>
        <p:nvSpPr>
          <p:cNvPr id="2340" name="Google Shape;2340;p49"/>
          <p:cNvSpPr txBox="1"/>
          <p:nvPr/>
        </p:nvSpPr>
        <p:spPr>
          <a:xfrm>
            <a:off x="932688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Diversification targets</a:t>
            </a:r>
            <a:endParaRPr/>
          </a:p>
        </p:txBody>
      </p:sp>
      <p:sp>
        <p:nvSpPr>
          <p:cNvPr id="2341" name="Google Shape;2341;p49"/>
          <p:cNvSpPr/>
          <p:nvPr/>
        </p:nvSpPr>
        <p:spPr>
          <a:xfrm>
            <a:off x="365760" y="2926080"/>
            <a:ext cx="5486400" cy="182880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2" name="Google Shape;2342;p49"/>
          <p:cNvSpPr/>
          <p:nvPr/>
        </p:nvSpPr>
        <p:spPr>
          <a:xfrm>
            <a:off x="365760" y="2926080"/>
            <a:ext cx="54864" cy="18288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3" name="Google Shape;2343;p49"/>
          <p:cNvSpPr txBox="1"/>
          <p:nvPr/>
        </p:nvSpPr>
        <p:spPr>
          <a:xfrm>
            <a:off x="530352" y="2999232"/>
            <a:ext cx="50292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Strength: Deep Marsh Relationship</a:t>
            </a:r>
            <a:endParaRPr/>
          </a:p>
        </p:txBody>
      </p:sp>
      <p:sp>
        <p:nvSpPr>
          <p:cNvPr id="2344" name="Google Shape;2344;p49"/>
          <p:cNvSpPr txBox="1"/>
          <p:nvPr/>
        </p:nvSpPr>
        <p:spPr>
          <a:xfrm>
            <a:off x="548640" y="3273552"/>
            <a:ext cx="5166360" cy="140817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Active relationship with multiple Marsh/MMA contacts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0 unique contacts engaged across Marsh offices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GA is a hotspot: 'Marsh Georgia runs the show in west GA DSG'</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Multiple submissions flowing from Marsh pipeline</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MMA Southeast (Carrollton, GA) identified as key DSG office</a:t>
            </a:r>
            <a:endParaRPr/>
          </a:p>
        </p:txBody>
      </p:sp>
      <p:sp>
        <p:nvSpPr>
          <p:cNvPr id="2345" name="Google Shape;2345;p49"/>
          <p:cNvSpPr/>
          <p:nvPr/>
        </p:nvSpPr>
        <p:spPr>
          <a:xfrm>
            <a:off x="6217920" y="2926080"/>
            <a:ext cx="5486400" cy="182880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6" name="Google Shape;2346;p49"/>
          <p:cNvSpPr/>
          <p:nvPr/>
        </p:nvSpPr>
        <p:spPr>
          <a:xfrm>
            <a:off x="6217920" y="2926080"/>
            <a:ext cx="54864" cy="18288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7" name="Google Shape;2347;p49"/>
          <p:cNvSpPr txBox="1"/>
          <p:nvPr/>
        </p:nvSpPr>
        <p:spPr>
          <a:xfrm>
            <a:off x="6382512" y="2999232"/>
            <a:ext cx="50292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Risk: Concentration Dependency</a:t>
            </a:r>
            <a:endParaRPr/>
          </a:p>
        </p:txBody>
      </p:sp>
      <p:sp>
        <p:nvSpPr>
          <p:cNvPr id="2348" name="Google Shape;2348;p49"/>
          <p:cNvSpPr txBox="1"/>
          <p:nvPr/>
        </p:nvSpPr>
        <p:spPr>
          <a:xfrm>
            <a:off x="6400800" y="3273552"/>
            <a:ext cx="5166360" cy="140817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14% of outreach concentrated in single broker network</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Revenue dependency on Marsh relationship decisions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Only 0 non-Marsh agencies being worked</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Need broader diversification beyond Marsh/MMA</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Hub International and AssuredPartners represent expansion opportunities</a:t>
            </a:r>
            <a:endParaRPr/>
          </a:p>
        </p:txBody>
      </p:sp>
      <p:sp>
        <p:nvSpPr>
          <p:cNvPr id="2349" name="Google Shape;2349;p49"/>
          <p:cNvSpPr txBox="1"/>
          <p:nvPr/>
        </p:nvSpPr>
        <p:spPr>
          <a:xfrm>
            <a:off x="457200" y="5029200"/>
            <a:ext cx="7315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5B21B6"/>
                </a:solidFill>
                <a:latin typeface="Quattrocento Sans"/>
                <a:ea typeface="Quattrocento Sans"/>
                <a:cs typeface="Quattrocento Sans"/>
                <a:sym typeface="Quattrocento Sans"/>
              </a:rPr>
              <a:t>DIVERSIFICATION OPPORTUNITIES — Non-Marsh Agencies in Pipeline</a:t>
            </a:r>
            <a:endParaRPr/>
          </a:p>
        </p:txBody>
      </p:sp>
      <p:sp>
        <p:nvSpPr>
          <p:cNvPr id="2350" name="Google Shape;2350;p49"/>
          <p:cNvSpPr/>
          <p:nvPr/>
        </p:nvSpPr>
        <p:spPr>
          <a:xfrm>
            <a:off x="457200" y="534924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1" name="Google Shape;2351;p4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2" name="Google Shape;2352;p4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53" name="Google Shape;2353;p4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57" name="Shape 2357"/>
        <p:cNvGrpSpPr/>
        <p:nvPr/>
      </p:nvGrpSpPr>
      <p:grpSpPr>
        <a:xfrm>
          <a:off x="0" y="0"/>
          <a:ext cx="0" cy="0"/>
          <a:chOff x="0" y="0"/>
          <a:chExt cx="0" cy="0"/>
        </a:xfrm>
      </p:grpSpPr>
      <p:sp>
        <p:nvSpPr>
          <p:cNvPr id="2358" name="Google Shape;2358;p5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9" name="Google Shape;2359;p5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0" name="Google Shape;2360;p5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1" name="Google Shape;2361;p5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2" name="Google Shape;2362;p5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ILLINOIS REOPENING PIPELINE</a:t>
            </a:r>
            <a:endParaRPr/>
          </a:p>
        </p:txBody>
      </p:sp>
      <p:sp>
        <p:nvSpPr>
          <p:cNvPr id="2363" name="Google Shape;2363;p5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IL Reopening Cited in 1+ Outreach Notes</a:t>
            </a:r>
            <a:endParaRPr/>
          </a:p>
        </p:txBody>
      </p:sp>
      <p:sp>
        <p:nvSpPr>
          <p:cNvPr id="2364" name="Google Shape;2364;p5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5" name="Google Shape;2365;p5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6" name="Google Shape;2366;p5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7" name="Google Shape;2367;p50"/>
          <p:cNvSpPr/>
          <p:nvPr/>
        </p:nvSpPr>
        <p:spPr>
          <a:xfrm>
            <a:off x="457200" y="1463040"/>
            <a:ext cx="11247120" cy="640080"/>
          </a:xfrm>
          <a:prstGeom prst="roundRect">
            <a:avLst>
              <a:gd fmla="val 8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8" name="Google Shape;2368;p50"/>
          <p:cNvSpPr txBox="1"/>
          <p:nvPr/>
        </p:nvSpPr>
        <p:spPr>
          <a:xfrm>
            <a:off x="731520" y="1508760"/>
            <a:ext cx="105156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1E073B"/>
                </a:solidFill>
                <a:latin typeface="Quattrocento Sans"/>
                <a:ea typeface="Quattrocento Sans"/>
                <a:cs typeface="Quattrocento Sans"/>
                <a:sym typeface="Quattrocento Sans"/>
              </a:rPr>
              <a:t>IL reopening cited in 1+ notes as the #1 conversation starter for DSG growth.</a:t>
            </a:r>
            <a:endParaRPr/>
          </a:p>
          <a:p>
            <a:pPr indent="0" lvl="0" marL="0" marR="0" rtl="0" algn="l">
              <a:spcBef>
                <a:spcPts val="20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Agents across multiple states are leveraging IL expansion to drive new submissions.</a:t>
            </a:r>
            <a:endParaRPr/>
          </a:p>
        </p:txBody>
      </p:sp>
      <p:graphicFrame>
        <p:nvGraphicFramePr>
          <p:cNvPr id="2369" name="Google Shape;2369;p50"/>
          <p:cNvGraphicFramePr/>
          <p:nvPr/>
        </p:nvGraphicFramePr>
        <p:xfrm>
          <a:off x="365760" y="2377440"/>
          <a:ext cx="3000000" cy="3000000"/>
        </p:xfrm>
        <a:graphic>
          <a:graphicData uri="http://schemas.openxmlformats.org/drawingml/2006/table">
            <a:tbl>
              <a:tblPr>
                <a:noFill/>
                <a:tableStyleId>{D82A8721-ECEF-4CED-8E2A-D61C263BF4EF}</a:tableStyleId>
              </a:tblPr>
              <a:tblGrid>
                <a:gridCol w="2560325"/>
                <a:gridCol w="1463050"/>
                <a:gridCol w="1188725"/>
                <a:gridCol w="914400"/>
                <a:gridCol w="914400"/>
                <a:gridCol w="4206250"/>
              </a:tblGrid>
              <a:tr h="3200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Owner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Book Size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Key Quote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20050">
                <a:tc>
                  <a:txBody>
                    <a:bodyPr/>
                    <a:lstStyle/>
                    <a:p>
                      <a:pPr indent="0" lvl="0" marL="0" marR="0" rtl="0" algn="l">
                        <a:spcBef>
                          <a:spcPts val="0"/>
                        </a:spcBef>
                        <a:spcAft>
                          <a:spcPts val="0"/>
                        </a:spcAft>
                        <a:buNone/>
                      </a:pPr>
                      <a:r>
                        <a:t/>
                      </a:r>
                      <a:endParaRPr b="1" sz="800" u="none" cap="none" strike="noStrike">
                        <a:solidFill>
                          <a:srgbClr val="1E073B"/>
                        </a:solidFill>
                        <a:latin typeface="Quattrocento Sans"/>
                        <a:ea typeface="Quattrocento Sans"/>
                        <a:cs typeface="Quattrocento Sans"/>
                        <a:sym typeface="Quattrocento Sans"/>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t/>
                      </a:r>
                      <a:endParaRPr b="0" sz="800" u="none" cap="none" strike="noStrike">
                        <a:solidFill>
                          <a:srgbClr val="6B5F83"/>
                        </a:solidFill>
                        <a:latin typeface="Quattrocento Sans"/>
                        <a:ea typeface="Quattrocento Sans"/>
                        <a:cs typeface="Quattrocento Sans"/>
                        <a:sym typeface="Quattrocento Sans"/>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Unknown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Sent an email regarding DSG and IL reopening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2370" name="Google Shape;2370;p50"/>
          <p:cNvSpPr/>
          <p:nvPr/>
        </p:nvSpPr>
        <p:spPr>
          <a:xfrm>
            <a:off x="365760" y="3291840"/>
            <a:ext cx="5394960" cy="1188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1" name="Google Shape;2371;p50"/>
          <p:cNvSpPr/>
          <p:nvPr/>
        </p:nvSpPr>
        <p:spPr>
          <a:xfrm>
            <a:off x="365760" y="3291840"/>
            <a:ext cx="54864" cy="1188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2" name="Google Shape;2372;p50"/>
          <p:cNvSpPr txBox="1"/>
          <p:nvPr/>
        </p:nvSpPr>
        <p:spPr>
          <a:xfrm>
            <a:off x="530352" y="3364992"/>
            <a:ext cx="493776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Why IL Matters for DSG Growth</a:t>
            </a:r>
            <a:endParaRPr/>
          </a:p>
        </p:txBody>
      </p:sp>
      <p:sp>
        <p:nvSpPr>
          <p:cNvPr id="2373" name="Google Shape;2373;p50"/>
          <p:cNvSpPr txBox="1"/>
          <p:nvPr/>
        </p:nvSpPr>
        <p:spPr>
          <a:xfrm>
            <a:off x="548640" y="3639312"/>
            <a:ext cx="507492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IL was closed to DSG for years — pent-up demand is real</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0 agencies disclosed trucking books totaling millions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Agents use IL reopening as a warm intro to new CW relationship</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IL serves as a gateway to broader DSG adoption across footprint</a:t>
            </a:r>
            <a:endParaRPr/>
          </a:p>
        </p:txBody>
      </p:sp>
      <p:sp>
        <p:nvSpPr>
          <p:cNvPr id="2374" name="Google Shape;2374;p50"/>
          <p:cNvSpPr/>
          <p:nvPr/>
        </p:nvSpPr>
        <p:spPr>
          <a:xfrm>
            <a:off x="6126480" y="3291840"/>
            <a:ext cx="5394960" cy="1188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5" name="Google Shape;2375;p50"/>
          <p:cNvSpPr/>
          <p:nvPr/>
        </p:nvSpPr>
        <p:spPr>
          <a:xfrm>
            <a:off x="6126480" y="3291840"/>
            <a:ext cx="54864" cy="1188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6" name="Google Shape;2376;p50"/>
          <p:cNvSpPr txBox="1"/>
          <p:nvPr/>
        </p:nvSpPr>
        <p:spPr>
          <a:xfrm>
            <a:off x="6291072" y="3364992"/>
            <a:ext cx="493776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Recommended Next Steps</a:t>
            </a:r>
            <a:endParaRPr/>
          </a:p>
        </p:txBody>
      </p:sp>
      <p:sp>
        <p:nvSpPr>
          <p:cNvPr id="2377" name="Google Shape;2377;p50"/>
          <p:cNvSpPr txBox="1"/>
          <p:nvPr/>
        </p:nvSpPr>
        <p:spPr>
          <a:xfrm>
            <a:off x="6309360" y="3639312"/>
            <a:ext cx="507492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Prioritize IL submissions queue for fast turnaround</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Create IL-specific marketing collateral for agents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Track IL reopening-sourced binds as separate KPI</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Use IL success to build case for NJ and other state launches</a:t>
            </a:r>
            <a:endParaRPr/>
          </a:p>
        </p:txBody>
      </p:sp>
      <p:sp>
        <p:nvSpPr>
          <p:cNvPr id="2378" name="Google Shape;2378;p5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9" name="Google Shape;2379;p5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80" name="Google Shape;2380;p5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84" name="Shape 2384"/>
        <p:cNvGrpSpPr/>
        <p:nvPr/>
      </p:nvGrpSpPr>
      <p:grpSpPr>
        <a:xfrm>
          <a:off x="0" y="0"/>
          <a:ext cx="0" cy="0"/>
          <a:chOff x="0" y="0"/>
          <a:chExt cx="0" cy="0"/>
        </a:xfrm>
      </p:grpSpPr>
      <p:sp>
        <p:nvSpPr>
          <p:cNvPr id="2385" name="Google Shape;2385;p5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6" name="Google Shape;2386;p5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7" name="Google Shape;2387;p5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8" name="Google Shape;2388;p5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9" name="Google Shape;2389;p5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NEXT STEPS / ACTION ITEMS</a:t>
            </a:r>
            <a:endParaRPr/>
          </a:p>
        </p:txBody>
      </p:sp>
      <p:sp>
        <p:nvSpPr>
          <p:cNvPr id="2390" name="Google Shape;2390;p5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Priority Actions for DSG Growth</a:t>
            </a:r>
            <a:endParaRPr/>
          </a:p>
        </p:txBody>
      </p:sp>
      <p:sp>
        <p:nvSpPr>
          <p:cNvPr id="2391" name="Google Shape;2391;p5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2" name="Google Shape;2392;p5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3" name="Google Shape;2393;p5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4" name="Google Shape;2394;p51"/>
          <p:cNvSpPr/>
          <p:nvPr/>
        </p:nvSpPr>
        <p:spPr>
          <a:xfrm>
            <a:off x="365760" y="146304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5" name="Google Shape;2395;p51"/>
          <p:cNvSpPr/>
          <p:nvPr/>
        </p:nvSpPr>
        <p:spPr>
          <a:xfrm>
            <a:off x="365760" y="1463040"/>
            <a:ext cx="54864" cy="2331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6" name="Google Shape;2396;p51"/>
          <p:cNvSpPr txBox="1"/>
          <p:nvPr/>
        </p:nvSpPr>
        <p:spPr>
          <a:xfrm>
            <a:off x="530352" y="153619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Resolve VA Classification Issue</a:t>
            </a:r>
            <a:endParaRPr/>
          </a:p>
        </p:txBody>
      </p:sp>
      <p:sp>
        <p:nvSpPr>
          <p:cNvPr id="2397" name="Google Shape;2397;p51"/>
          <p:cNvSpPr txBox="1"/>
          <p:nvPr/>
        </p:nvSpPr>
        <p:spPr>
          <a:xfrm>
            <a:off x="548640" y="187452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Exempt-for-hire classification making DSG risks ineligible</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Largest DSG agency in VA already submitting but being blocked</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Work with UW to create carve-out or reclassification path</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Potential to unlock significant VA pipeline immediately</a:t>
            </a:r>
            <a:endParaRPr/>
          </a:p>
        </p:txBody>
      </p:sp>
      <p:sp>
        <p:nvSpPr>
          <p:cNvPr id="2398" name="Google Shape;2398;p51"/>
          <p:cNvSpPr/>
          <p:nvPr/>
        </p:nvSpPr>
        <p:spPr>
          <a:xfrm>
            <a:off x="5349240" y="1536192"/>
            <a:ext cx="320040" cy="320040"/>
          </a:xfrm>
          <a:prstGeom prst="ellipse">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9" name="Google Shape;2399;p51"/>
          <p:cNvSpPr txBox="1"/>
          <p:nvPr/>
        </p:nvSpPr>
        <p:spPr>
          <a:xfrm>
            <a:off x="5349240" y="153619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1</a:t>
            </a:r>
            <a:endParaRPr/>
          </a:p>
        </p:txBody>
      </p:sp>
      <p:sp>
        <p:nvSpPr>
          <p:cNvPr id="2400" name="Google Shape;2400;p51"/>
          <p:cNvSpPr/>
          <p:nvPr/>
        </p:nvSpPr>
        <p:spPr>
          <a:xfrm>
            <a:off x="6126480" y="146304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1" name="Google Shape;2401;p51"/>
          <p:cNvSpPr/>
          <p:nvPr/>
        </p:nvSpPr>
        <p:spPr>
          <a:xfrm>
            <a:off x="6126480" y="1463040"/>
            <a:ext cx="54864" cy="2331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2" name="Google Shape;2402;p51"/>
          <p:cNvSpPr txBox="1"/>
          <p:nvPr/>
        </p:nvSpPr>
        <p:spPr>
          <a:xfrm>
            <a:off x="6291072" y="153619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Push for NJ Launch</a:t>
            </a:r>
            <a:endParaRPr/>
          </a:p>
        </p:txBody>
      </p:sp>
      <p:sp>
        <p:nvSpPr>
          <p:cNvPr id="2403" name="Google Shape;2403;p51"/>
          <p:cNvSpPr txBox="1"/>
          <p:nvPr/>
        </p:nvSpPr>
        <p:spPr>
          <a:xfrm>
            <a:off x="6309360" y="187452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NJ is the #1 gap cited by agents in tri-state area</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Agents report more DSG leads in NJ than PA</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Anthony DeBellis Agency: 'NJ would be a better outlet for DSG'</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NJ launch would immediately generate submissions from existing partners</a:t>
            </a:r>
            <a:endParaRPr/>
          </a:p>
        </p:txBody>
      </p:sp>
      <p:sp>
        <p:nvSpPr>
          <p:cNvPr id="2404" name="Google Shape;2404;p51"/>
          <p:cNvSpPr/>
          <p:nvPr/>
        </p:nvSpPr>
        <p:spPr>
          <a:xfrm>
            <a:off x="11109960" y="1536192"/>
            <a:ext cx="320040" cy="320040"/>
          </a:xfrm>
          <a:prstGeom prst="ellipse">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5" name="Google Shape;2405;p51"/>
          <p:cNvSpPr txBox="1"/>
          <p:nvPr/>
        </p:nvSpPr>
        <p:spPr>
          <a:xfrm>
            <a:off x="11109960" y="153619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2</a:t>
            </a:r>
            <a:endParaRPr/>
          </a:p>
        </p:txBody>
      </p:sp>
      <p:sp>
        <p:nvSpPr>
          <p:cNvPr id="2406" name="Google Shape;2406;p51"/>
          <p:cNvSpPr/>
          <p:nvPr/>
        </p:nvSpPr>
        <p:spPr>
          <a:xfrm>
            <a:off x="365760" y="388620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7" name="Google Shape;2407;p51"/>
          <p:cNvSpPr/>
          <p:nvPr/>
        </p:nvSpPr>
        <p:spPr>
          <a:xfrm>
            <a:off x="365760" y="3886200"/>
            <a:ext cx="54864" cy="2331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8" name="Google Shape;2408;p51"/>
          <p:cNvSpPr txBox="1"/>
          <p:nvPr/>
        </p:nvSpPr>
        <p:spPr>
          <a:xfrm>
            <a:off x="530352" y="395935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Create ELD/Dashcam Education One-Pager</a:t>
            </a:r>
            <a:endParaRPr/>
          </a:p>
        </p:txBody>
      </p:sp>
      <p:sp>
        <p:nvSpPr>
          <p:cNvPr id="2409" name="Google Shape;2409;p51"/>
          <p:cNvSpPr txBox="1"/>
          <p:nvPr/>
        </p:nvSpPr>
        <p:spPr>
          <a:xfrm>
            <a:off x="548640" y="429768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18-unit TN account may not bind due to dashcam/ELD confusion</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Agents need clear explanation of ELD plug-in and how it reports</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Camera delivery/installation logistics causing friction</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One-pager would reduce objections and speed up bind decisions</a:t>
            </a:r>
            <a:endParaRPr/>
          </a:p>
        </p:txBody>
      </p:sp>
      <p:sp>
        <p:nvSpPr>
          <p:cNvPr id="2410" name="Google Shape;2410;p51"/>
          <p:cNvSpPr/>
          <p:nvPr/>
        </p:nvSpPr>
        <p:spPr>
          <a:xfrm>
            <a:off x="5349240" y="3959352"/>
            <a:ext cx="320040" cy="320040"/>
          </a:xfrm>
          <a:prstGeom prst="ellipse">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1" name="Google Shape;2411;p51"/>
          <p:cNvSpPr txBox="1"/>
          <p:nvPr/>
        </p:nvSpPr>
        <p:spPr>
          <a:xfrm>
            <a:off x="5349240" y="395935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3</a:t>
            </a:r>
            <a:endParaRPr/>
          </a:p>
        </p:txBody>
      </p:sp>
      <p:sp>
        <p:nvSpPr>
          <p:cNvPr id="2412" name="Google Shape;2412;p51"/>
          <p:cNvSpPr/>
          <p:nvPr/>
        </p:nvSpPr>
        <p:spPr>
          <a:xfrm>
            <a:off x="6126480" y="388620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3" name="Google Shape;2413;p51"/>
          <p:cNvSpPr/>
          <p:nvPr/>
        </p:nvSpPr>
        <p:spPr>
          <a:xfrm>
            <a:off x="6126480" y="3886200"/>
            <a:ext cx="54864" cy="2331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4" name="Google Shape;2414;p51"/>
          <p:cNvSpPr txBox="1"/>
          <p:nvPr/>
        </p:nvSpPr>
        <p:spPr>
          <a:xfrm>
            <a:off x="6291072" y="395935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Follow Up on Large Pipeline Accounts</a:t>
            </a:r>
            <a:endParaRPr/>
          </a:p>
        </p:txBody>
      </p:sp>
      <p:sp>
        <p:nvSpPr>
          <p:cNvPr id="2415" name="Google Shape;2415;p51"/>
          <p:cNvSpPr txBox="1"/>
          <p:nvPr/>
        </p:nvSpPr>
        <p:spPr>
          <a:xfrm>
            <a:off x="6309360" y="429768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25 PU: Westmoreland &amp; Sons (Hartford incumbent at $25K/truck)</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20 PU: GA account via Marsh Southeast, eff 4/1</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19 PU: MO account via AssuredPartners/Gallagher</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18 PU: TN account (dashcam/ELD objection to resolve)</a:t>
            </a:r>
            <a:endParaRPr/>
          </a:p>
        </p:txBody>
      </p:sp>
      <p:sp>
        <p:nvSpPr>
          <p:cNvPr id="2416" name="Google Shape;2416;p51"/>
          <p:cNvSpPr/>
          <p:nvPr/>
        </p:nvSpPr>
        <p:spPr>
          <a:xfrm>
            <a:off x="11109960" y="3959352"/>
            <a:ext cx="320040" cy="320040"/>
          </a:xfrm>
          <a:prstGeom prst="ellipse">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7" name="Google Shape;2417;p51"/>
          <p:cNvSpPr txBox="1"/>
          <p:nvPr/>
        </p:nvSpPr>
        <p:spPr>
          <a:xfrm>
            <a:off x="11109960" y="395935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4</a:t>
            </a:r>
            <a:endParaRPr/>
          </a:p>
        </p:txBody>
      </p:sp>
      <p:sp>
        <p:nvSpPr>
          <p:cNvPr id="2418" name="Google Shape;2418;p5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9" name="Google Shape;2419;p5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420" name="Google Shape;2420;p5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2424" name="Shape 2424"/>
        <p:cNvGrpSpPr/>
        <p:nvPr/>
      </p:nvGrpSpPr>
      <p:grpSpPr>
        <a:xfrm>
          <a:off x="0" y="0"/>
          <a:ext cx="0" cy="0"/>
          <a:chOff x="0" y="0"/>
          <a:chExt cx="0" cy="0"/>
        </a:xfrm>
      </p:grpSpPr>
      <p:sp>
        <p:nvSpPr>
          <p:cNvPr id="2425" name="Google Shape;2425;p52"/>
          <p:cNvSpPr/>
          <p:nvPr/>
        </p:nvSpPr>
        <p:spPr>
          <a:xfrm>
            <a:off x="4572000" y="914400"/>
            <a:ext cx="7315200" cy="73152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6" name="Google Shape;2426;p52"/>
          <p:cNvSpPr/>
          <p:nvPr/>
        </p:nvSpPr>
        <p:spPr>
          <a:xfrm>
            <a:off x="6400800" y="2286000"/>
            <a:ext cx="4572000" cy="4572000"/>
          </a:xfrm>
          <a:prstGeom prst="ellipse">
            <a:avLst/>
          </a:prstGeom>
          <a:solidFill>
            <a:srgbClr val="7C3AED">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7" name="Google Shape;2427;p52"/>
          <p:cNvSpPr/>
          <p:nvPr/>
        </p:nvSpPr>
        <p:spPr>
          <a:xfrm>
            <a:off x="-914400" y="2743200"/>
            <a:ext cx="3657600" cy="3657600"/>
          </a:xfrm>
          <a:prstGeom prst="ellipse">
            <a:avLst/>
          </a:prstGeom>
          <a:solidFill>
            <a:srgbClr val="5B21B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8" name="Google Shape;2428;p52"/>
          <p:cNvSpPr/>
          <p:nvPr/>
        </p:nvSpPr>
        <p:spPr>
          <a:xfrm>
            <a:off x="2743200" y="4572000"/>
            <a:ext cx="2743200" cy="2743200"/>
          </a:xfrm>
          <a:prstGeom prst="ellipse">
            <a:avLst/>
          </a:prstGeom>
          <a:solidFill>
            <a:srgbClr val="D946EF">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9" name="Google Shape;2429;p52"/>
          <p:cNvSpPr/>
          <p:nvPr/>
        </p:nvSpPr>
        <p:spPr>
          <a:xfrm>
            <a:off x="5029200" y="2560320"/>
            <a:ext cx="219456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0" name="Google Shape;2430;p52"/>
          <p:cNvSpPr txBox="1"/>
          <p:nvPr/>
        </p:nvSpPr>
        <p:spPr>
          <a:xfrm>
            <a:off x="457200" y="2743200"/>
            <a:ext cx="1124712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5200" u="none" cap="none" strike="noStrike">
                <a:solidFill>
                  <a:srgbClr val="FFFFFF"/>
                </a:solidFill>
                <a:latin typeface="Quattrocento Sans"/>
                <a:ea typeface="Quattrocento Sans"/>
                <a:cs typeface="Quattrocento Sans"/>
                <a:sym typeface="Quattrocento Sans"/>
              </a:rPr>
              <a:t>Thank You</a:t>
            </a:r>
            <a:endParaRPr/>
          </a:p>
        </p:txBody>
      </p:sp>
      <p:sp>
        <p:nvSpPr>
          <p:cNvPr id="2431" name="Google Shape;2431;p52"/>
          <p:cNvSpPr txBox="1"/>
          <p:nvPr/>
        </p:nvSpPr>
        <p:spPr>
          <a:xfrm>
            <a:off x="457200" y="3657600"/>
            <a:ext cx="11247120" cy="5486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C4B5FD"/>
                </a:solidFill>
                <a:latin typeface="Quattrocento Sans"/>
                <a:ea typeface="Quattrocento Sans"/>
                <a:cs typeface="Quattrocento Sans"/>
                <a:sym typeface="Quattrocento Sans"/>
              </a:rPr>
              <a:t>DSG Bound Business  |  2026 Year-to-Date</a:t>
            </a:r>
            <a:endParaRPr/>
          </a:p>
        </p:txBody>
      </p:sp>
      <p:sp>
        <p:nvSpPr>
          <p:cNvPr id="2432" name="Google Shape;2432;p52"/>
          <p:cNvSpPr txBox="1"/>
          <p:nvPr/>
        </p:nvSpPr>
        <p:spPr>
          <a:xfrm>
            <a:off x="457200" y="4206240"/>
            <a:ext cx="1124712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400" u="none" cap="none" strike="noStrike">
                <a:solidFill>
                  <a:srgbClr val="A78BFA"/>
                </a:solidFill>
                <a:latin typeface="Quattrocento Sans"/>
                <a:ea typeface="Quattrocento Sans"/>
                <a:cs typeface="Quattrocento Sans"/>
                <a:sym typeface="Quattrocento Sans"/>
              </a:rPr>
              <a:t>184 Accounts   |   $5.2M GWP   |   $4.6M NWP</a:t>
            </a:r>
            <a:endParaRPr/>
          </a:p>
        </p:txBody>
      </p:sp>
      <p:sp>
        <p:nvSpPr>
          <p:cNvPr id="2433" name="Google Shape;2433;p52"/>
          <p:cNvSpPr/>
          <p:nvPr/>
        </p:nvSpPr>
        <p:spPr>
          <a:xfrm>
            <a:off x="0" y="603504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4" name="Google Shape;2434;p52"/>
          <p:cNvSpPr txBox="1"/>
          <p:nvPr/>
        </p:nvSpPr>
        <p:spPr>
          <a:xfrm>
            <a:off x="457200" y="6172200"/>
            <a:ext cx="1124712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A09CB0"/>
                </a:solidFill>
                <a:latin typeface="Quattrocento Sans"/>
                <a:ea typeface="Quattrocento Sans"/>
                <a:cs typeface="Quattrocento Sans"/>
                <a:sym typeface="Quattrocento Sans"/>
              </a:rPr>
              <a:t>Cover Whale  |  Metabase Analytics  |  HubSpot CRM</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