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0058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 Light"/>
              </a:rPr>
              <a:t>DSG BOUND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4800" b="1">
                <a:solidFill>
                  <a:srgbClr val="E0D4F5"/>
                </a:solidFill>
                <a:latin typeface="Calibri Light"/>
              </a:rPr>
              <a:t>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971800"/>
            <a:ext cx="3931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5029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 Light"/>
              </a:rPr>
              <a:t>2026 Year-to-Date  ·  Dump Truck / Sand &amp; Gravel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0">
                <a:solidFill>
                  <a:srgbClr val="88789E"/>
                </a:solidFill>
                <a:latin typeface="Calibri"/>
              </a:rPr>
              <a:t>Generated: May 19,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151 Accounts  |  $4.53M GWP  |  May 19,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4251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4251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6,949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251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251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YTD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9979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9979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9979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9979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Unique DOTs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5707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5707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$4.53M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5707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5707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1435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1435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$4.02M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1435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1435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11.3% Cede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7163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7163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$30,031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7163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7163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AT A GLANCE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06727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06727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6727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January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6727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727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3303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$472K GWP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43303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1,099 subs · 1.6% bind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80663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80663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80663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February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0663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0663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7239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$1,059K GWP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17239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1,398 subs · 2.0% bind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54599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54599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54599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4599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4599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1175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$1,103K GWP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91175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1,678 subs · 2.6% bind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28535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5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28535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April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8535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8535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5111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$1,016K GWP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65111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1,777 subs · 2.3% bind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02471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02471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02471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02471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02471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39047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$884K GWP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39047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997 subs · 2.3% bind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23 Accounts  |  GWP: $883,985  |  NWP: $784,095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$83,613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$83,264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$38,873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$37,336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$34,097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$34,107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$31,939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$22,226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$16,913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$1,725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$16,138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AVINA &amp; SONS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$16,733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$14,051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23 Accounts  |  GWP: $883,985  |  NWP: $784,095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ALL SUBMISSIONS BY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Ranked by Volume  |  527 agencies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  <a:gridCol w="914400"/>
                <a:gridCol w="914400"/>
                <a:gridCol w="914400"/>
                <a:gridCol w="1188720"/>
                <a:gridCol w="1737360"/>
              </a:tblGrid>
              <a:tr h="22263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$253,548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403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$300,171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$234,369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$40,983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$148,492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Insurance4Truckers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R-T Specialty,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American Fleet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Rodriguez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USA SPECIALTY INSURANCE/DBA PREVENTTY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Horizons Insurance And Financial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VL 17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Reliance Partners,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Protectgo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Trucker Path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Fast Insurance And Tax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H2O Commercial Insurance Agency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Network Truck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Showing top 22 of 527 agencies by submission volume  ·  Full list in DSG YTD Word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BDM / BDA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Rep-Level Submission &amp; Production Summary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05840"/>
                <a:gridCol w="1005840"/>
                <a:gridCol w="1005840"/>
                <a:gridCol w="1188720"/>
                <a:gridCol w="338328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Agencies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$796,297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$492,390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$477,934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962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$390,206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$299,457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$238,538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$126,578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$126,384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Taylor Sloan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$61,423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Cameron Brader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$35,246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Westy McLaughlin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Unassigned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$885,285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DISTRIBUTION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Geographic Concentration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97840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188720"/>
                <a:gridCol w="1463040"/>
                <a:gridCol w="1280160"/>
                <a:gridCol w="2194560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Category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$2,034,300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44.9%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1,231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$1,159,306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$326,970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$182,977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$22,971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$21,130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$8,775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$3,719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TX &amp; CA — TOP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114 Accounts  |  $3,193,606 GWP  |  70% of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5486400" cy="365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TX  ·  75 Accounts  ·  $2,034,300  ·  45% of Program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3,567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042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42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$2,034K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042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042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$27,124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788920"/>
            <a:ext cx="548640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TX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$299,621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$195,595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$160,388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$160,053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Usg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$128,891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$107,975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Mohsen Ins.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6153912" y="1143000"/>
            <a:ext cx="5486400" cy="365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CA  ·  39 Accounts  ·  $1,159,306  ·  26% of Program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391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5391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1,231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569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569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569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5391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$1,159K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569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569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$29,726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569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3912" y="2788920"/>
            <a:ext cx="548640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53912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CA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153912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Paramount Exclusive Insurance Services, 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Safeline Insurance Agency,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Fredrick B. Roberson Insurance Services, 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MST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Cal-Valley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Call Patty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$57,066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 Secure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EXPANSION STATE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Performance in the 22 New States Added February 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1143000"/>
          <a:ext cx="9601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463040"/>
                <a:gridCol w="1280160"/>
                <a:gridCol w="1280160"/>
                <a:gridCol w="2651760"/>
              </a:tblGrid>
              <a:tr h="238539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$22,971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Dormant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SUBMISSIONS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Pipeline  |  2026 YTD  |  6,949 Total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6,949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Processed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3552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552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3,754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552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UNIQUE DOTs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552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Submitted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2,965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DECLINED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43%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904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04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904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2.2% Bind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PIPELINE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3227832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645920"/>
                <a:gridCol w="1371600"/>
                <a:gridCol w="14630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Month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January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February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March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April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COVERAGE &amp; FLEET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Coverage Line Mix  ·  Body Type  ·  Fleet Size Distribution  |  2026 YTD 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COVERAGE MIX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36192"/>
            <a:ext cx="5394960" cy="43891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 Liability (AL)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27632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$3,563,081  (79%)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Auto Physical Damage (APD)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103120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$372,051  (8%)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5394960" cy="43891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78608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Other /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78608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$599,497  (13%)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5394960" cy="30175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BODY TYPE MIX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93008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57016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57016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557016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$2,178,668  (48%)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941064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941064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3941064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$1,057,814  (23%)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61104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25112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325112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325112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$796,588  (18%)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45152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09160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709160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70916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$20,094  (0%)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FLEET SIZE DISTRIBUTION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36192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162763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 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1627632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107 accounts  (71%)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011680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0312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2-3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0312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36 accounts  (24%)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487168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57860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4-5 Units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57860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9 accounts  (6%)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962656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305409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6-10 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05409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5 accounts  (3%)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356616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3611880"/>
            <a:ext cx="5394960" cy="34747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 Light"/>
              </a:rPr>
              <a:t>Average Fleet Size: 1.8 units/account  ·  Total Units: 265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41148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0" y="41422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UNITS BOUND BY MONTH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4507992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458114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January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4581144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42 units  |  18 accounts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4946904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502005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February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5020056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43 units  |  28 accounts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5385816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545896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March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458968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69 units  |  43 accounts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824728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589788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April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5897880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70 units  |  40 accounts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6263640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633679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May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6336792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41 units  |  23 accounts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RECENT BINDS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Most Recent Bound Accounts — Newest First  |  151 Unique DOTs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43000"/>
          <a:ext cx="11018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840480"/>
                <a:gridCol w="685800"/>
                <a:gridCol w="3657600"/>
                <a:gridCol w="1554480"/>
              </a:tblGrid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St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Ewall Insurance Company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 Risk Management Group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Eastern Underwriting Managers 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 Leader Group,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Executive Insurance Group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Island Fleet Insurance Agency 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CRC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Legacy Truck Insurance Agency 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Dream Assurance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AVINA &amp; SONS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Fredrick B. Roberson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2026-04-30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CLEVELAND LOGISTICS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$52,417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2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2026-04-30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BROTHERS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Western Truck Insurance Servic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$20,730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STRATEGIC ACTION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Priority Actions for DSG Program Growth  |  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AGENCY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035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top expansion states: AL, AR, DE, OR with BDM outreach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035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Assign BDMs to 1 dormant expansion 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035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Drive repeat submissions from top-performing agencies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035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Activate agencies with high quote volume but zero binds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PIPELINE CONVERSION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7067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Current bind rate: 2.2% — follow up on open submissions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7067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151 bound of 6,949 subs YTD — drive conversion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067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Reduce time-to-bind with faster underwriting turnaround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7067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Spring construction season: maximize quoting speed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PORTFOLIO 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2099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Diversify beyond CA+TX concentration (currently 70% of GWP)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2099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APD program: vehicles to 23 years old — key differentiator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2099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Towing to $25K + Roadside MASTERS — highlight in agency comms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2099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6-10 Units fleets for highest avg premium accounts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DSG PROGRAM — APPETITE &amp;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Dump Truck  ·  Sand &amp; Gravel  ·  Cover Whale Specialty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ELIGIBLE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2035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475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Dump trucks (all body types)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2035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475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Sand haulers &amp; gravel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035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475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Ready-mix concrete trucks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035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475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End dump / belly dump / side dump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035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475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Classes most admitted carriers decline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COVERAGE HIGHLIGHTS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7067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8507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Liability (AL) — primary &amp; excess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7067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8507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Physical Damage (APD) — standalone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7067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507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Towing coverage up to $25,000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27067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8507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Roadside MASTERS assistance included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7067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8507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Vehicles up to 23 years old eligible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PROGRAM PARAMETERS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2099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3539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Available in 32 states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12099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3539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Minimum 1 power unit — no max fleet cap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12099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3539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New ventures considered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2099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03539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Nationwide appetite for qualified risks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12099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3539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Competitive E&amp;S pricing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Program  |  2026 YTD  |  151 Policies  |  $4.53M GWP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5439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439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439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2026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1791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1791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$4.53M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1791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1791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3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8143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$4.02M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8143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3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After Cede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4495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4495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$30,031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4495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4495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79192"/>
            <a:ext cx="1106424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06624"/>
            <a:ext cx="110642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BREAKDOWN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879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879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JAN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$472,322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18 accounts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7511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7511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FEB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7511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$1,058,770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7511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28 accounts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8143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$1,103,136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143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43 accounts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8775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48775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APR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48775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$1,016,416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8775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40 accounts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2336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EA580C"/>
                </a:solidFill>
                <a:latin typeface="Calibri"/>
              </a:rPr>
              <a:t>▼ 42% MoM  |  May vs Apr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645152"/>
            <a:ext cx="530352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AMC Agents LLC  —  $300,171  (7%)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Cover Badger LLC  —  $253,548  (6%)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First Connect Insurance  —  $234,369  (5%)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Paramount Exclusive Insurance Servic  —  $205,197  (5%)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Fino Services LLC  —  $173,702  (4%)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645152"/>
            <a:ext cx="530352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STATES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TX  —  $2,034,300  (45%)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CA  —  $1,159,306  (26%)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GA  —  $326,970  (7%)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  —  $182,977  (4%)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VA  —  $138,776  (3%)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Cover Whale DSG Program  ·  Metabase Analytics  ·  May 19,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 Light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3611880"/>
            <a:ext cx="2651760" cy="36576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400" b="1">
                <a:solidFill>
                  <a:srgbClr val="E0D4F5"/>
                </a:solidFill>
                <a:latin typeface="Calibri Light"/>
              </a:rPr>
              <a:t>Prior-Month Bound Account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4114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January 2026  ·  February 2026  ·  March 2026  ·  April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JANUARY 2026 — BOUND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18 Accounts  |  GWP: $472,322  |  NWP: $418,950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385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HUGO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$139,015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GUILLEN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$112,727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GERALD DON GREEN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$47,460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$5,932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$53,392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KULMINDER S GILL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$32,782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$46,132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ROGO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$40,275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 RODRIGUEZ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$27,930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PLUS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$22,640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ANTELOPE INVESTMENT ENTERPRISES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QUINONES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PAUL VALENCIA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LUMBRERAS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ETHEREDGE AUTOTRANSPORT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MCH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DEWAYNE DUPREE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JC AND SONS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$9,123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LIONET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KB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TELEKINESIS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$171,186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$33,161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B T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$44,933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$48,330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STAR FUELS &amp;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VIRMAE MARIE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$7,188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AND TOUGH 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RS GILL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$26,061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SIIRTLI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$5,681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JOHNSON TRUCKING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ZEUS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$15,605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$20,583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 AND M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G&amp;Z TRANSPORTATION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Box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SCORPIO FREIGHT LINES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DIMAS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WAY2MAJOR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$4,300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GLM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ROKA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CAB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$5,117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MARIO A RODRIGUEZ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GOLDEN FLEXIT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551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AGUILAS TRANSPORT J&amp;D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UNLIMITED GROUND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 PACE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 V 7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$11,786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PAVETEX MATERIALS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$10,604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GREGORY SNOPEL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$10,523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BOSS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DV TNT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CHARLIE SMITH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$155,039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$175,211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GUEORQUI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$76,147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$84,141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T&amp;A ELITE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$58,234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$24,700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$82,935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M LONG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$46,724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SOUTHWEST CARRIER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$47,247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ACD 4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$43,425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$46,272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SACHA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$26,738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$27,288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$26,429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$26,979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CLYO TRUCKING COMPANY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Apollo Energy Services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$6,095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MISAEL BALDERAS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BLHN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$1,897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K&amp;R ROSE ENTERPRISE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SJT3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$21,620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DOMINION CARRIERS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$21,150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THOMPSON HAULING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BSMB DISPATCH SOLUTIONS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 ACOSTA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CALIFORNIA DUMPSTER RENTALS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$20,266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BURUCA FAMILY INVESTMENT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RUBIKON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$5,491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MICHAEL B CONWAY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ELOSCAR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$19,162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LR LOGISTICS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 BROTHERS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ALHADIDI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$17,104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LYLY TRUCK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$15,303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$15,853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MARTINEZ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NYJ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BAY 1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$15,439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JFAAMA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$12,927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$1,656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FAVIO VALDEZ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$10,750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LAWRENCE EDWARD FINCH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$13,868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TERESA BUSTILLO ESPINAL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$10,479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KINGS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ERAZO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HANDS TRUCKING AND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$12,556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ALL SON''S ASPHALT PAVING &amp; SEAL COATING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DIAZ MARTIN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DENESSE GROUP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POOR BOY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LEBRON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40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EVERGREEN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$93,655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$80,009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RENE ROMERO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$72,380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CARLOS ARREOLA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CLEVELAND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$52,417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VER-GLEN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$39,843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$49,796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SOLOMON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&amp; V CARRIERS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$35,408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$35,958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HARI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$28,576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FG CARRIERS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$29,274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$32,972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SANDRIDER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SILVAS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$16,654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$23,499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GARCHA TRANS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$3,425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$22,157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$21,857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BROTHERS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$20,730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4TH OZKAR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$19,531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WINKFIELD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MARCO A OSEGUERA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OSBALDO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$19,256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A F C H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40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 FABRICATION &amp; EXCAVATION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$7,214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ALMONTE TRUCK SERVICE CORP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INDER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STRAIGHT UP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SV5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LAURA MONICA ESPINOSA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$13,913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MYP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JGF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$10,337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$13,240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WILLIS WAY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$11,938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$12,488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CORNEJO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ALFREDO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SERGIO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CIRCLE CITY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B&amp;B DIRT AND DEMO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$8,682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$10,182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ALEJANDRO HERNANDEZ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$8,355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FLO RIDING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HARPER FREIGHT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PALOMINO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AMIR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WATER IS GOD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19,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