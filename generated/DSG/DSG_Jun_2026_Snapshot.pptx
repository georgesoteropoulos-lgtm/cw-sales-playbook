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 Light"/>
              </a:rPr>
              <a:t>COVER WHALE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000" b="1">
                <a:solidFill>
                  <a:srgbClr val="E0D4F5"/>
                </a:solidFill>
                <a:latin typeface="Calibri Light"/>
              </a:rPr>
              <a:t>Dirt, Sand &amp; Gravel (DSG)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291840"/>
            <a:ext cx="2651760" cy="36576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 Light"/>
              </a:rPr>
              <a:t>Performance Snapshot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0">
                <a:solidFill>
                  <a:srgbClr val="88789E"/>
                </a:solidFill>
                <a:latin typeface="Calibri"/>
              </a:rPr>
              <a:t>As of June 01,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Dump trucks, sand haulers, gravel operations — classes most carriers decline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38928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Available under Auto Physical Damage (APD) — standalone or packaged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31536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Towing up to $25K  |  Roadside MASTERS assistance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24144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Nationwide appetite  |  Vehicles up to 23 years 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166 Accounts  |  $5.17M GWP  |  June 01,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47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7,541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YTD Processed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7059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7059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166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7059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BOUND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7059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Unique DOTs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6171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6171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$5.17M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6171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GROSS WRITTEN PREM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6171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Year-to-Date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5283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5283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$31,161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5283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AVG PREM / ACCT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5283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Per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4395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4395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4395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BIND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4395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Bound ÷ Submissions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33507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3507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83/544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3507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PRODUCING AGENCIES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3507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461 not yet 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743200"/>
            <a:ext cx="11064240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Concentration: Top agency = 11% of GWP  ·  Top 5 agencies = 30% of GWP  ·  461 agencies submitting but not yet binding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71800"/>
            <a:ext cx="1106424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99232"/>
            <a:ext cx="11064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MONTHLY AT A GLANCE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6727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06727" y="338328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06727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January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6727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6727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3303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$472K GWP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3303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1,099 subs · 1.6% bind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80663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80663" y="3383280"/>
            <a:ext cx="1682496" cy="237744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0663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February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0663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0663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7239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$1,059K GWP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7239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1,398 subs · 2.0% bind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4599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4599" y="338328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54599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March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4599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4599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91175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$1,103K GWP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1175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1,678 subs · 2.6% bind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28535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28535" y="3383280"/>
            <a:ext cx="1682496" cy="237744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28535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April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8535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8535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5111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$1,016K GWP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5111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1,779 subs · 2.4% bind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02471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02471" y="338328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02471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May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02471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36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02471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9047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$1,490K GWP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39047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1,579 subs · 2.3% bind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June 01,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TOP PRODUCING AGENCIES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Ranked by Gross Written Premium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43000"/>
          <a:ext cx="110642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1645920"/>
                <a:gridCol w="1005840"/>
                <a:gridCol w="182880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Gross Written Premium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#1  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$572,313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$343,293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$274,849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Paramount Exclusive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$205,197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$178,715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$173,702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$158,292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Usg Insurance Services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$152,121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Your Truck Shield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$139,343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Safeline Insurance Agency,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$136,077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Cal-Valley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$123,511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$107,975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$96,590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Ins Professionals Of Georgia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$91,546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Mohsen Ins.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$87,610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Top 15 agencies = 55% of total GWP  ·  84 producing agencies YTD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June 01,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BDM / BDA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Rep-Level Submission &amp; Production Summary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05840"/>
                <a:gridCol w="1005840"/>
                <a:gridCol w="1005840"/>
                <a:gridCol w="118872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Agencies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629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$828,685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$532,870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$532,605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$408,533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448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$299,457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334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$248,338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$234,557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$149,352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$126,384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Taylor Sloan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$64,793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$61,423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Cameron Brader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$58,633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$35,246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Westy McLaughlin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Unassigned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1195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$1,110,326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+ HubSpot  ·  June 01,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ALL SUBMISSIONS BY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Ranked by Volume  |  544 agencies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  <a:gridCol w="914400"/>
                <a:gridCol w="914400"/>
                <a:gridCol w="914400"/>
                <a:gridCol w="1188720"/>
                <a:gridCol w="1737360"/>
              </a:tblGrid>
              <a:tr h="222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1706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636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$572,313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448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$173,702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244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$274,849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$343,293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$96,590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$178,715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$60,643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$158,292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Insurance4Truckers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$48,575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R-T Specialty,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$8,225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American Fleet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Rodriguez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USA SPECIALTY INSURANCE/DBA PREVENTTY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$61,459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Horizons Insurance And Financial Services,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$14,980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VL 17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Reliance Partners,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Protectgo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$50,317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Truckers Best Insurance dba Trucker Path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$38,628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H2O Commercial Insurance Agency Corp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$20,481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Fast Insurance And Tax Services,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Network Truck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Showing top 22 of 544 agencies by submission volume  ·  Full list in DSG YTD Word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June 01,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DISTRIBUTION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Geographic Concentration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97840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188720"/>
                <a:gridCol w="1463040"/>
                <a:gridCol w="1280160"/>
                <a:gridCol w="2194560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Category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Submissions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3,902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$2,482,086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48.0%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1,310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$1,337,183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$329,545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$182,977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$138,776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$32,771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$23,922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$21,130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$20,898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$15,764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$14,880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$13,649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NH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$12,128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$11,870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$11,445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$11,350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$8,775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$3,719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UT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June 01,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COVERAGE &amp; FLEET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Coverage Line Mix  ·  Body Type  ·  Fleet Size Distribution  |  2026 YTD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COVERAGE MIX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394960" cy="43891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 Liability (AL)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27632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$4,057,281  (78%)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Auto Physical Damage (APD)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$509,170  (10%)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5394960" cy="438912"/>
          </a:xfrm>
          <a:prstGeom prst="rect">
            <a:avLst/>
          </a:prstGeom>
          <a:solidFill>
            <a:srgbClr val="7B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Other /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$606,216  (12%)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394960" cy="3017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BODY TYPE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57016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57016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557016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$2,721,064  (53%)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77056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41064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941064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941064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$1,129,478  (22%)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61104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25112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25112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325112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$820,566  (16%)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709160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709160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70916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$20,094  (0%)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11704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FLEET SIZE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36192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627632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 Unit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1627632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118 accounts  (71%)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011680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103120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11+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103120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 accounts  (1%)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87168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578608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2-3 Units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578608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38 accounts  (23%)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962656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54096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4-5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054096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11 accounts  (7%)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438144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529584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6-10 Units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529584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5 accounts  (3%)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56616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11880"/>
            <a:ext cx="5394960" cy="34747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Average Fleet Size: 1.8 units/account  ·  Total Units: 304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1148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1422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AVG PREMIUM BY BODY TYPE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507992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581144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81144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$27,211 avg  ·  100 accts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946904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5020056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020056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$28,237 avg  ·  40 accts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385816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458968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5458968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$25,643 avg  ·  32 accts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824728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5897880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5897880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$20,094 avg  ·  1 accts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June 01,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DSG Recent Binds — 2026 YTD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88789E"/>
                </a:solidFill>
                <a:latin typeface="Calibri"/>
              </a:rPr>
              <a:t>166 unique accounts bound YTD — most recent first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05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3017520"/>
                <a:gridCol w="1645920"/>
                <a:gridCol w="685800"/>
                <a:gridCol w="1325880"/>
              </a:tblGrid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Date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Premium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MOALA &amp; CO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$19,660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911 TRUCKING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Checkers Truck Insurance Services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$32,388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2026-05-27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MARK STANFORD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Palerm Insurance Agency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$32,699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2026-05-21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GERARDO CARRANCO GOMEZ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$11,549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2026-05-21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LEON CALDERON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$16,287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2026-05-20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 HADDEN LOGISTICS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The Insurance Store Of Texas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$2,575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VULCAN TRANSPORT US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$318,765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2026-05-18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GRAY-GOLD READY MIX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$23,978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YPV FREIGHT INC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Ewall Insurance Company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$3,169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2026-05-15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G&amp;G DFW LOGISTICS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$26,835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ECL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$21,496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AUXVAC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Navsav Holdings Ii,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$22,774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CASTANO CONSTRUCTION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$8,567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2026-05-13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INEZ FAMILY TRUCKING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$18,327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ESCAMILLA TRUCKING INC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$39,423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 &amp; D TRUCKING SERVICES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PR Risk Management Group Inc.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$85,813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MIGUEL ANGEL RODRIGUEZ GARCIA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$11,582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AJF HAULING SERVICES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Eastern Underwriting Managers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$32,489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June 01,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