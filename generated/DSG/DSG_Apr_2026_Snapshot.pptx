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 Light"/>
              </a:rPr>
              <a:t>COVER WHALE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3000" b="1">
                <a:solidFill>
                  <a:srgbClr val="E0D4F5"/>
                </a:solidFill>
                <a:latin typeface="Calibri Light"/>
              </a:rPr>
              <a:t>Dirt, Sand &amp; Gravel (DSG)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291840"/>
            <a:ext cx="2651760" cy="36576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9418320" cy="5029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 Light"/>
              </a:rPr>
              <a:t>Performance Snapshot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300" b="0">
                <a:solidFill>
                  <a:srgbClr val="88789E"/>
                </a:solidFill>
                <a:latin typeface="Calibri"/>
              </a:rPr>
              <a:t>As of April 30,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418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Dump trucks, sand haulers, gravel operations — classes most carriers decline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38928"/>
            <a:ext cx="9418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Available under Auto Physical Damage (APD) — standalone or packaged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31536"/>
            <a:ext cx="9418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Towing up to $25K  |  Roadside MASTERS assistance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24144"/>
            <a:ext cx="9418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Nationwide appetite  |  Vehicles up to 23 years 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114 Accounts  |  $3.53M GWP  |  April 30,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947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" y="1348740"/>
            <a:ext cx="1920240" cy="5486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5,894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" y="1943100"/>
            <a:ext cx="192024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" y="2263140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YTD Processed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7059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7059" y="1348740"/>
            <a:ext cx="1920240" cy="5486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114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7059" y="1943100"/>
            <a:ext cx="192024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BOUND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7059" y="2263140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Unique DOTs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6171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6171" y="1348740"/>
            <a:ext cx="1920240" cy="5486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$3.53M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6171" y="1943100"/>
            <a:ext cx="192024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GROSS WRITTEN PREM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6171" y="2263140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Year-to-Date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5283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5283" y="1348740"/>
            <a:ext cx="1920240" cy="5486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$30,942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5283" y="1943100"/>
            <a:ext cx="192024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AVG PREM / ACCT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5283" y="2263140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Per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4395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4395" y="1348740"/>
            <a:ext cx="1920240" cy="5486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11.5%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4395" y="1943100"/>
            <a:ext cx="192024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QUOTE 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4395" y="2263140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Of Quotes That Bound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33507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33507" y="1348740"/>
            <a:ext cx="1920240" cy="5486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71/486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3507" y="1943100"/>
            <a:ext cx="192024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PRODUCING AGENCIES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3507" y="2263140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415 not yet binding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743200"/>
            <a:ext cx="11064240" cy="201168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Concentration: Top agency = 8% of GWP  ·  Top 5 agencies = 29% of GWP  ·  415 agencies submitting but not yet binding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71800"/>
            <a:ext cx="1106424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99232"/>
            <a:ext cx="11064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MONTHLY AT A GLANCE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6587" y="3364992"/>
            <a:ext cx="2651760" cy="32918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6587" y="3364992"/>
            <a:ext cx="2651760" cy="34747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6587" y="3392424"/>
            <a:ext cx="2651760" cy="30175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January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87" y="3794760"/>
            <a:ext cx="2651760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18 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315" y="4251960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GWP  $472,322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315" y="4654296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88789E"/>
                </a:solidFill>
                <a:latin typeface="Calibri"/>
              </a:rPr>
              <a:t>NWP  $418,950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315" y="5056632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Subs: 1099   Quoted: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315" y="5458968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Declined: 493   Bound: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315" y="5861304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Calibri"/>
              </a:rPr>
              <a:t>Bind Rate: 1.6%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75507" y="3364992"/>
            <a:ext cx="2651760" cy="32918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75507" y="3364992"/>
            <a:ext cx="2651760" cy="34747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5507" y="3392424"/>
            <a:ext cx="2651760" cy="30175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February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5507" y="3794760"/>
            <a:ext cx="2651760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27 Accounts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85235" y="4251960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GWP  $1,058,770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85235" y="4654296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88789E"/>
                </a:solidFill>
                <a:latin typeface="Calibri"/>
              </a:rPr>
              <a:t>NWP  $939,129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5235" y="5056632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Subs: 1399   Quoted: 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5235" y="5458968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Declined: 596   Bound: 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5235" y="5861304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Calibri"/>
              </a:rPr>
              <a:t>Bind Rate: 1.9%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4427" y="3364992"/>
            <a:ext cx="2651760" cy="32918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64427" y="3364992"/>
            <a:ext cx="2651760" cy="34747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4427" y="3392424"/>
            <a:ext cx="2651760" cy="30175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March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4427" y="3794760"/>
            <a:ext cx="2651760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43 Accounts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4155" y="4251960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GWP  $1,103,136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4155" y="4654296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88789E"/>
                </a:solidFill>
                <a:latin typeface="Calibri"/>
              </a:rPr>
              <a:t>NWP  $978,482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4155" y="5056632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Subs: 1678   Quoted: 141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4155" y="5458968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Declined: 713   Bound: 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4155" y="5861304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Calibri"/>
              </a:rPr>
              <a:t>Bind Rate: 2.6%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53347" y="3364992"/>
            <a:ext cx="2651760" cy="32918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53347" y="3364992"/>
            <a:ext cx="2651760" cy="34747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53347" y="3392424"/>
            <a:ext cx="2651760" cy="30175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April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53347" y="3794760"/>
            <a:ext cx="2651760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2000" b="1">
                <a:solidFill>
                  <a:srgbClr val="2E0A5A"/>
                </a:solidFill>
                <a:latin typeface="Calibri Light"/>
              </a:rPr>
              <a:t>27 Accounts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63075" y="4251960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GWP  $893,125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63075" y="4654296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88789E"/>
                </a:solidFill>
                <a:latin typeface="Calibri"/>
              </a:rPr>
              <a:t>NWP  $792,202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3075" y="5056632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Subs: 1718   Quoted: 726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63075" y="5458968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3A3A4A"/>
                </a:solidFill>
                <a:latin typeface="Calibri"/>
              </a:rPr>
              <a:t>Declined: 692   Bound: 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63075" y="5861304"/>
            <a:ext cx="2432304" cy="3657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Calibri"/>
              </a:rPr>
              <a:t>Bind Rate: 1.6%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April 30,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TOP PRODUCING AGENCIES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Ranked by Gross Written Premium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43000"/>
          <a:ext cx="110642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1645920"/>
                <a:gridCol w="1005840"/>
                <a:gridCol w="182880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Accounts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Gross Written Premium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% of Total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#1  AMC Agents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$280,090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Paramount Exclusive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$205,197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$197,368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$196,677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Usg Insurance Services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$152,121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Safeline Insurance Agency,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$136,077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$113,963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Mohsen Ins.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$87,610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Valion Security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$75,909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United Advantage Insurance Services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$71,354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MST INSURANCE SERVICES INC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$61,451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Erwin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$58,633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Cal-Valley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$58,550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$53,392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$52,002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Top 15 agencies = 51% of total GWP  ·  72 producing agencies YTD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April 30,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BDM / BDA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Rep-Level Submission &amp; Production Summary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0195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822960"/>
                <a:gridCol w="822960"/>
                <a:gridCol w="822960"/>
                <a:gridCol w="822960"/>
                <a:gridCol w="868680"/>
                <a:gridCol w="868680"/>
                <a:gridCol w="2240280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Agencies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Quoted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Q→B Conv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18.0%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$733,797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$434,731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469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$348,352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366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$234,419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267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$202,510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826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$144,227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19.2%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$110,620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$76,782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Taylor Sloan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$46,771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Erika Cabrera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$37,675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$35,246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Cameron Brader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Westy McLaughlin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Unassigned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2589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1051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$640,758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+ HubSpot  ·  April 30,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ALL SUBMISSIONS BY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Ranked by Volume  |  486 agencies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54480"/>
                <a:gridCol w="822960"/>
                <a:gridCol w="822960"/>
                <a:gridCol w="822960"/>
                <a:gridCol w="822960"/>
                <a:gridCol w="1005840"/>
                <a:gridCol w="1920240"/>
              </a:tblGrid>
              <a:tr h="222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Quoted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1396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$196,677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327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$52,002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$280,090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United Advantage Insurance Services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$71,354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$53,392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$197,368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$19,487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Insurance4Truckers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$48,575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$113,963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R-T Specialty,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$8,225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American Fleet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Rodriguez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USA SPECIALTY INSURANCE/DBA PREVENTTY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$28,487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Horizons Insurance And Financial Services,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$14,980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Reliance Partners,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Protectgo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VL 17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$3,788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Fast Insurance And Tax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Fredrick B. Roberson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Taylor Sloan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$46,771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Me Insurance Agency of NJ,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$1,100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Safeline Insurance Agency,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$136,077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Showing top 22 of 486 agencies by submission volume  ·  Full list in DSG YTD Word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April 30,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DISTRIBUTION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Geographic Concentration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97840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188720"/>
                <a:gridCol w="1463040"/>
                <a:gridCol w="1280160"/>
                <a:gridCol w="2194560"/>
                <a:gridCol w="1280160"/>
              </a:tblGrid>
              <a:tr h="2385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Category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Accounts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Submissions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% of Total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2,980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$1,325,801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1,053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$1,025,612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29.1%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$277,174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$182,977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$44,471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$23,922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$22,971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$20,898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$20,181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$15,034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$14,880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AZ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$13,649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$12,128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$11,870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$11,445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$11,350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NJ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$8,775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385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385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April 30,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COVERAGE &amp; FLEET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Coverage Line Mix  ·  Body Type  ·  Fleet Size Distribution  |  2026 YTD 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39496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COVERAGE MIX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394960" cy="43891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20040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 Liability (AL)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27632"/>
            <a:ext cx="173736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$2,637,138  (75%)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Auto Physical Damage (APD)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73736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$328,398  (9%)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5394960" cy="438912"/>
          </a:xfrm>
          <a:prstGeom prst="rect">
            <a:avLst/>
          </a:prstGeom>
          <a:solidFill>
            <a:srgbClr val="7B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320040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Other / 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578608"/>
            <a:ext cx="173736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$561,817  (16%)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394960" cy="30175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539496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BODY TYPE MIX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93008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57016"/>
            <a:ext cx="23774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1">
                <a:solidFill>
                  <a:srgbClr val="3A3A4A"/>
                </a:solidFill>
                <a:latin typeface="Calibri"/>
              </a:rPr>
              <a:t>Tractor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57016"/>
            <a:ext cx="64008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557016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$1,413,338  (40%)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77056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41064"/>
            <a:ext cx="23774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Dump Truck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941064"/>
            <a:ext cx="64008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941064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$920,027  (26%)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61104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25112"/>
            <a:ext cx="23774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325112"/>
            <a:ext cx="64008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325112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$692,429  (20%)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709160"/>
            <a:ext cx="23774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Box Truck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709160"/>
            <a:ext cx="64008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709160"/>
            <a:ext cx="192024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$20,094  (1%)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1170432"/>
            <a:ext cx="539496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FLEET SIZE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536192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1627632"/>
            <a:ext cx="228600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1 Unit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1627632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83 accounts  (73%)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011680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103120"/>
            <a:ext cx="228600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2-3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103120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26 accounts  (23%)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87168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578608"/>
            <a:ext cx="228600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4-5 Units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578608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6 accounts  (5%)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962656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54096"/>
            <a:ext cx="228600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6-10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054096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4 accounts  (4%)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56616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611880"/>
            <a:ext cx="5394960" cy="34747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Average Fleet Size: 1.7 units/account  ·  Total Units: 198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1148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142232"/>
            <a:ext cx="5394960" cy="25603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AVG PREMIUM BY BODY TYPE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507992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4581144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Tractor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4581144"/>
            <a:ext cx="246888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$23,955 avg  ·  59 accts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946904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020056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Dump Truck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5020056"/>
            <a:ext cx="246888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$29,678 avg  ·  31 accts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5385816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5458968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Unknown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458968"/>
            <a:ext cx="246888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$24,730 avg  ·  28 accts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824728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897880"/>
            <a:ext cx="256032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Box Truck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5897880"/>
            <a:ext cx="2468880" cy="27432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$20,094 avg  ·  1 accts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April 30,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692640" cy="59436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DSG Recent Binds — 2026 YTD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300" b="0">
                <a:solidFill>
                  <a:srgbClr val="88789E"/>
                </a:solidFill>
                <a:latin typeface="Calibri"/>
              </a:rPr>
              <a:t>114 unique accounts bound YTD — most recent first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058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3017520"/>
                <a:gridCol w="1645920"/>
                <a:gridCol w="685800"/>
                <a:gridCol w="1325880"/>
              </a:tblGrid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Date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Premium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2026-04-29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INDER TRUCKING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Pride Insurance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MN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$15,034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GER TRUCKING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Java Lifewealth Group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$21,857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2026-04-24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JGF TRUCKING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Your Truck Shield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$13,240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2026-04-22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ALMONTE TRUCK SERVICE CORP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Velocity Insurance Multiservices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$15,577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2026-04-22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PALOMINO TRANSPORTATION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Cover Me Insurance Agency of NJ, Inc.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2026-04-21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SERGIO GARCIA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Java Lifewealth Group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$11,585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2026-04-21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 &amp; V CARRIERS INC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Harmony Insurance Agency, Inc.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$35,958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2026-04-20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FLO RIDING LOGISTICS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Insurance4Truckers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$1,100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WILLIS WAY TRUCKING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 &amp; R Agency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$12,488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2026-04-20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STRAIGHT UP TRANSPORTATION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Tremach Inc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$15,011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B&amp;B DIRT AND DEMO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$10,182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2026-04-14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SV5 LOGISTICS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$14,551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2026-04-13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AMIR TRUCKING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Exclusive Financial Services, Inc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NJ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2026-04-10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MARCO A OSEGUERA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Elizabeth'S Insurance Services, Inc.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$19,430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2026-04-10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OSBALDO TRUCKING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$19,256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2026-04-09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HARI TRANSPORTATION INC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MST INSURANCE SERVICES INC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$35,236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2026-04-09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RENE ROMERO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$72,930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2026-04-09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GARCHA TRANS INC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$22,157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April 30,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