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1" roundtripDataSignature="AMtx7mhDmzFfhXgtna7yvuTvIs8Puy6i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20C581-1B60-4328-9E74-25D8075242B5}">
  <a:tblStyle styleId="{3620C581-1B60-4328-9E74-25D8075242B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customschemas.google.com/relationships/presentationmetadata" Target="metadata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0A5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D4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0D4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914400" y="1280160"/>
            <a:ext cx="10332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COVER WHALE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371600" y="2468880"/>
            <a:ext cx="9418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0D4F5"/>
                </a:solidFill>
                <a:latin typeface="Calibri"/>
                <a:ea typeface="Calibri"/>
                <a:cs typeface="Calibri"/>
                <a:sym typeface="Calibri"/>
              </a:rPr>
              <a:t>Dirt, Sand &amp; Gravel (DSG) Program</a:t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4754880" y="3291840"/>
            <a:ext cx="2651760" cy="36576"/>
          </a:xfrm>
          <a:prstGeom prst="rect">
            <a:avLst/>
          </a:prstGeom>
          <a:solidFill>
            <a:srgbClr val="E0D4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371600" y="3520440"/>
            <a:ext cx="9418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 Snapshot  ·  March 2026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1371600" y="4160520"/>
            <a:ext cx="9418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8789E"/>
                </a:solidFill>
                <a:latin typeface="Calibri"/>
                <a:ea typeface="Calibri"/>
                <a:cs typeface="Calibri"/>
                <a:sym typeface="Calibri"/>
              </a:rPr>
              <a:t>As of March 31, 2026  |  Confidential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2D9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731520" y="201168"/>
            <a:ext cx="9692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DSG Program — 2026 YTD Performance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731520" y="914400"/>
            <a:ext cx="1645920" cy="45720"/>
          </a:xfrm>
          <a:prstGeom prst="rect">
            <a:avLst/>
          </a:prstGeom>
          <a:solidFill>
            <a:srgbClr val="E0D4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8789E"/>
                </a:solidFill>
                <a:latin typeface="Calibri"/>
                <a:ea typeface="Calibri"/>
                <a:cs typeface="Calibri"/>
                <a:sym typeface="Calibri"/>
              </a:rPr>
              <a:t>Key metrics as of March 31, 2026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472287" y="1737360"/>
            <a:ext cx="2103120" cy="1828800"/>
          </a:xfrm>
          <a:prstGeom prst="rect">
            <a:avLst/>
          </a:prstGeom>
          <a:solidFill>
            <a:srgbClr val="2E0A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472287" y="210312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4,128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472287" y="269748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0D4F5"/>
                </a:solidFill>
                <a:latin typeface="Calibri"/>
                <a:ea typeface="Calibri"/>
                <a:cs typeface="Calibri"/>
                <a:sym typeface="Calibri"/>
              </a:rPr>
              <a:t>Submissions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E0D4F5"/>
                </a:solidFill>
                <a:latin typeface="Calibri"/>
                <a:ea typeface="Calibri"/>
                <a:cs typeface="Calibri"/>
                <a:sym typeface="Calibri"/>
              </a:rPr>
              <a:t>Processed</a:t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2758287" y="1737360"/>
            <a:ext cx="2103120" cy="1828800"/>
          </a:xfrm>
          <a:prstGeom prst="rect">
            <a:avLst/>
          </a:prstGeom>
          <a:solidFill>
            <a:srgbClr val="5C2D9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2758287" y="210312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75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2758287" y="269748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0D4F5"/>
                </a:solidFill>
                <a:latin typeface="Calibri"/>
                <a:ea typeface="Calibri"/>
                <a:cs typeface="Calibri"/>
                <a:sym typeface="Calibri"/>
              </a:rPr>
              <a:t>Bound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E0D4F5"/>
                </a:solidFill>
                <a:latin typeface="Calibri"/>
                <a:ea typeface="Calibri"/>
                <a:cs typeface="Calibri"/>
                <a:sym typeface="Calibri"/>
              </a:rPr>
              <a:t>Accounts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5044287" y="1737360"/>
            <a:ext cx="2103120" cy="1828800"/>
          </a:xfrm>
          <a:prstGeom prst="rect">
            <a:avLst/>
          </a:prstGeom>
          <a:solidFill>
            <a:srgbClr val="2E0A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5044287" y="210312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$2.45M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5044287" y="269748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0D4F5"/>
                </a:solidFill>
                <a:latin typeface="Calibri"/>
                <a:ea typeface="Calibri"/>
                <a:cs typeface="Calibri"/>
                <a:sym typeface="Calibri"/>
              </a:rPr>
              <a:t>Gross Written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E0D4F5"/>
                </a:solidFill>
                <a:latin typeface="Calibri"/>
                <a:ea typeface="Calibri"/>
                <a:cs typeface="Calibri"/>
                <a:sym typeface="Calibri"/>
              </a:rPr>
              <a:t>Premium</a:t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7330287" y="1737360"/>
            <a:ext cx="2103120" cy="1828800"/>
          </a:xfrm>
          <a:prstGeom prst="rect">
            <a:avLst/>
          </a:prstGeom>
          <a:solidFill>
            <a:srgbClr val="5C2D9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7330287" y="210312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$32,630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7330287" y="269748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0D4F5"/>
                </a:solidFill>
                <a:latin typeface="Calibri"/>
                <a:ea typeface="Calibri"/>
                <a:cs typeface="Calibri"/>
                <a:sym typeface="Calibri"/>
              </a:rPr>
              <a:t>Avg Premium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E0D4F5"/>
                </a:solidFill>
                <a:latin typeface="Calibri"/>
                <a:ea typeface="Calibri"/>
                <a:cs typeface="Calibri"/>
                <a:sym typeface="Calibri"/>
              </a:rPr>
              <a:t>per Account</a:t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9616287" y="1737360"/>
            <a:ext cx="2103120" cy="1828800"/>
          </a:xfrm>
          <a:prstGeom prst="rect">
            <a:avLst/>
          </a:prstGeom>
          <a:solidFill>
            <a:srgbClr val="2E0A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9616287" y="210312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9616287" y="269748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0D4F5"/>
                </a:solidFill>
                <a:latin typeface="Calibri"/>
                <a:ea typeface="Calibri"/>
                <a:cs typeface="Calibri"/>
                <a:sym typeface="Calibri"/>
              </a:rPr>
              <a:t>Active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E0D4F5"/>
                </a:solidFill>
                <a:latin typeface="Calibri"/>
                <a:ea typeface="Calibri"/>
                <a:cs typeface="Calibri"/>
                <a:sym typeface="Calibri"/>
              </a:rPr>
              <a:t>States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731520" y="379476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0A5A"/>
                </a:solidFill>
                <a:latin typeface="Calibri"/>
                <a:ea typeface="Calibri"/>
                <a:cs typeface="Calibri"/>
                <a:sym typeface="Calibri"/>
              </a:rPr>
              <a:t>Active States: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731520" y="41605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CA  ·  CO  ·  GA  ·  LA  ·  MD  ·  MO  ·  ND  ·  NE  ·  NJ  ·  NM  ·  NV  ·  OK  ·  PA  ·  SC  ·  TN  ·  TX  ·  VA</a:t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731520" y="4754880"/>
            <a:ext cx="10515600" cy="36576"/>
          </a:xfrm>
          <a:prstGeom prst="rect">
            <a:avLst/>
          </a:prstGeom>
          <a:solidFill>
            <a:srgbClr val="E0D4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914400" y="4892040"/>
            <a:ext cx="10149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●  Dump trucks, sand haulers, gravel operations — classes most carriers decline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914400" y="5166360"/>
            <a:ext cx="10149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●  Available under Auto Physical Damage (APD) — standalone or packaged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914400" y="5440680"/>
            <a:ext cx="10149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●  Towing up to $25K  |  Roadside MASTERS assistance included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914400" y="5715000"/>
            <a:ext cx="10149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A3A4A"/>
                </a:solidFill>
                <a:latin typeface="Calibri"/>
                <a:ea typeface="Calibri"/>
                <a:cs typeface="Calibri"/>
                <a:sym typeface="Calibri"/>
              </a:rPr>
              <a:t>●  Nationwide appetite  |  Vehicles up to 23 years old</a:t>
            </a:r>
            <a:endParaRPr/>
          </a:p>
        </p:txBody>
      </p:sp>
      <p:sp>
        <p:nvSpPr>
          <p:cNvPr id="121" name="Google Shape;121;p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457200" y="651052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789E"/>
                </a:solidFill>
                <a:latin typeface="Calibri"/>
                <a:ea typeface="Calibri"/>
                <a:cs typeface="Calibri"/>
                <a:sym typeface="Calibri"/>
              </a:rPr>
              <a:t>Source: Metabase Cards 6472 &amp; 10306  ·  March 31, 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0A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731520" y="201168"/>
            <a:ext cx="9692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DSG Monthly Breakdown — 2026 YTD</a:t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731520" y="914400"/>
            <a:ext cx="1645920" cy="45720"/>
          </a:xfrm>
          <a:prstGeom prst="rect">
            <a:avLst/>
          </a:prstGeom>
          <a:solidFill>
            <a:srgbClr val="E0D4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0" name="Google Shape;130;p3"/>
          <p:cNvGraphicFramePr/>
          <p:nvPr/>
        </p:nvGraphicFramePr>
        <p:xfrm>
          <a:off x="822960" y="12801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{3620C581-1B60-4328-9E74-25D8075242B5}</a:tableStyleId>
              </a:tblPr>
              <a:tblGrid>
                <a:gridCol w="2560325"/>
                <a:gridCol w="1828800"/>
                <a:gridCol w="2011675"/>
                <a:gridCol w="2286000"/>
                <a:gridCol w="18288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Submissions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Bound Accounts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Written Premium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 Premium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2E0A5A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January 2026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1,099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$472,322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$27,784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February 2026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1,398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$888,874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$34,187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March 2026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1,631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$1,086,032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$32,910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YTD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4,128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$2,447,228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2E0A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$32,630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2E0A5A"/>
                    </a:solidFill>
                  </a:tcPr>
                </a:tc>
              </a:tr>
            </a:tbl>
          </a:graphicData>
        </a:graphic>
      </p:graphicFrame>
      <p:sp>
        <p:nvSpPr>
          <p:cNvPr id="131" name="Google Shape;131;p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457200" y="651052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789E"/>
                </a:solidFill>
                <a:latin typeface="Calibri"/>
                <a:ea typeface="Calibri"/>
                <a:cs typeface="Calibri"/>
                <a:sym typeface="Calibri"/>
              </a:rPr>
              <a:t>Source: Metabase Cards 6472 &amp; 10306  ·  March 31, 2026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2D9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731520" y="201168"/>
            <a:ext cx="9692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DSG Recent Binds — 2026 YTD</a:t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731520" y="914400"/>
            <a:ext cx="1645920" cy="45720"/>
          </a:xfrm>
          <a:prstGeom prst="rect">
            <a:avLst/>
          </a:prstGeom>
          <a:solidFill>
            <a:srgbClr val="E0D4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8789E"/>
                </a:solidFill>
                <a:latin typeface="Calibri"/>
                <a:ea typeface="Calibri"/>
                <a:cs typeface="Calibri"/>
                <a:sym typeface="Calibri"/>
              </a:rPr>
              <a:t>75 unique accounts bound YTD — most recent first</a:t>
            </a:r>
            <a:endParaRPr/>
          </a:p>
        </p:txBody>
      </p:sp>
      <p:graphicFrame>
        <p:nvGraphicFramePr>
          <p:cNvPr id="141" name="Google Shape;141;p4"/>
          <p:cNvGraphicFramePr/>
          <p:nvPr/>
        </p:nvGraphicFramePr>
        <p:xfrm>
          <a:off x="731520" y="15544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{3620C581-1B60-4328-9E74-25D8075242B5}</a:tableStyleId>
              </a:tblPr>
              <a:tblGrid>
                <a:gridCol w="1463050"/>
                <a:gridCol w="5303525"/>
                <a:gridCol w="1371600"/>
                <a:gridCol w="1828800"/>
              </a:tblGrid>
              <a:tr h="243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Legal Name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Premium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5C2D91"/>
                    </a:solidFill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2026-03-26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LAWRENCE EDWARD FINCH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$14,418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2026-03-26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LEBRON TRUCKING LLC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$3,788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2026-03-25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LYLY TRUCK SERVICES LLC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$15,853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2026-03-20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POOR BOY TRUCKING LLC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$11,350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2026-03-20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ELOSCAR TRUCKING LLC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$19,162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2026-03-19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DOMINION CARRIERS TRUCKING LLC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$21,150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2026-03-19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SON''S ASPHALT PAVING &amp; SEAL COATING LLC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$12,247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2026-03-19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T&amp;A ELITE TRANSPORT LLC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$82,935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2026-03-19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DAVID MARTINEZ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$15,771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2026-03-18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KINGS HAULING LLC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$13,680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2026-03-18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JGJ TRUCKING LLC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$26,979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2026-03-17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BROTHERS TRUCKING LLC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$18,033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2026-03-17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K&amp;R ROSE ENTERPRISE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$21,910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2026-03-17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ERIKA TERESA BUSTILLO ESPINAL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$14,228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2026-03-17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DNA LOGISTICS LLC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NV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$550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2026-03-16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DIAZ MARTIN TRUCKING LLC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$12,153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2026-03-16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MICHAEL B CONWAY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$19,487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2026-03-16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BURUCA FAMILY INVESTMENT LLC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$20,181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2026-03-12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CHARLIE SMITH TRUCKING LLC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$175,211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0FC"/>
                    </a:solidFill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2026-03-11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BSMB DISPATCH SOLUTIONS LLC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A3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$20,600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DE8F8"/>
                    </a:solidFill>
                  </a:tcPr>
                </a:tc>
              </a:tr>
            </a:tbl>
          </a:graphicData>
        </a:graphic>
      </p:graphicFrame>
      <p:sp>
        <p:nvSpPr>
          <p:cNvPr id="142" name="Google Shape;142;p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0D4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457200" y="651052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789E"/>
                </a:solidFill>
                <a:latin typeface="Calibri"/>
                <a:ea typeface="Calibri"/>
                <a:cs typeface="Calibri"/>
                <a:sym typeface="Calibri"/>
              </a:rPr>
              <a:t>Source: Metabase Card 6472  ·  March 31,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