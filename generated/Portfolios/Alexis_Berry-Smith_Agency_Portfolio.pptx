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073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64592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000" b="1">
                <a:solidFill>
                  <a:srgbClr val="8B5CF6"/>
                </a:solidFill>
                <a:latin typeface="Segoe UI"/>
              </a:defRPr>
            </a:pPr>
            <a:r>
              <a:t>COVER WHALE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256032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FFFFFF"/>
                </a:solidFill>
                <a:latin typeface="Segoe UI"/>
              </a:defRPr>
            </a:pPr>
            <a:r>
              <a:t>Alexis Berry-Smith - Agency Portfolio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47472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C4B5FD"/>
                </a:solidFill>
                <a:latin typeface="Segoe UI"/>
              </a:defRPr>
            </a:pPr>
            <a:r>
              <a:t>Jan–May 2026  |  Generated May 18, 2026  |  22 Agencies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Alexis Berry-Smith - Portfolio 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Jan–May 2026  |  22 Total Agencies  |  22 Active  |  0 Inactive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37160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22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Agencies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847088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22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Active (YTD)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557016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$8,664,499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266944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$5,769,868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976872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$942,719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686800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$1,951,913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396728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DC2626"/>
                </a:solidFill>
                <a:latin typeface="Segoe UI"/>
              </a:defRPr>
            </a:pPr>
            <a:r>
              <a:t>$-3,981,307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37160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4065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Submissions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847088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264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Binds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557016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6.5%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266944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444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Subs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976872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27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Binds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686800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3621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Non-Fleet Subs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396728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237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Non-Fleet Binds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37160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$18,061,408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847088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$19,552,668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557016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$21,673,689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Annual Goal (40%)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266944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DC2626"/>
                </a:solidFill>
                <a:latin typeface="Segoe UI"/>
              </a:defRPr>
            </a:pPr>
            <a:r>
              <a:t>40%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976872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$2,903,258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686800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$5,761,488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Non-Fleet Bound Prem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0396728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19.1%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Retention Rate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74320" y="2514600"/>
            <a:ext cx="7863840" cy="292608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532888"/>
            <a:ext cx="3657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TOP AGENCIES BY YTD GWP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5760" y="2862072"/>
            <a:ext cx="25603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926079" y="2862072"/>
            <a:ext cx="100584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931920" y="2862072"/>
            <a:ext cx="9144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New Biz $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846320" y="2862072"/>
            <a:ext cx="8229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Renewals $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669280" y="2862072"/>
            <a:ext cx="54864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217920" y="2862072"/>
            <a:ext cx="5943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Quotes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812280" y="2862072"/>
            <a:ext cx="5029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315200" y="2862072"/>
            <a:ext cx="5943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HR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65760" y="3026664"/>
            <a:ext cx="7498079" cy="7315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65760" y="3081528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A.s.i.a Inc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926079" y="3081528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$1,993,074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931920" y="3081528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$1,183,414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846320" y="3081528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$19,881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669280" y="3081528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918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217920" y="3081528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525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12280" y="3081528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63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315200" y="3081528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6.9%</a:t>
            </a:r>
          </a:p>
        </p:txBody>
      </p:sp>
      <p:sp>
        <p:nvSpPr>
          <p:cNvPr id="45" name="Rectangle 44"/>
          <p:cNvSpPr/>
          <p:nvPr/>
        </p:nvSpPr>
        <p:spPr>
          <a:xfrm>
            <a:off x="365760" y="3273552"/>
            <a:ext cx="7498079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365760" y="3282696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Roadways Commercial Insurance Servi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926079" y="3282696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$1,042,624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931920" y="3282696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$715,605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846320" y="3282696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$33,536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669280" y="3282696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127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217920" y="3282696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89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812280" y="3282696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7315200" y="3282696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15.0%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365760" y="3483864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Truckers Insurance Services Llc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2926079" y="3483864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$848,152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3931920" y="3483864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$692,043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846320" y="3483864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$29,398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669280" y="3483864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351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217920" y="3483864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268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6812280" y="3483864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7315200" y="3483864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8.3%</a:t>
            </a:r>
          </a:p>
        </p:txBody>
      </p:sp>
      <p:sp>
        <p:nvSpPr>
          <p:cNvPr id="62" name="Rectangle 61"/>
          <p:cNvSpPr/>
          <p:nvPr/>
        </p:nvSpPr>
        <p:spPr>
          <a:xfrm>
            <a:off x="365760" y="3675888"/>
            <a:ext cx="7498079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365760" y="3685032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Alex Rue Insurance Agency, Inc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926079" y="368503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$711,165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931920" y="368503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$719,941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846320" y="368503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$49,093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669280" y="3685032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152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6217920" y="3685032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121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6812280" y="3685032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7315200" y="3685032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7.2%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365760" y="3886200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Stellar Management, Inc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2926079" y="3886200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$683,913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3931920" y="3886200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$250,848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4846320" y="3886200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$337,650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5669280" y="3886200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867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6217920" y="3886200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572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812280" y="3886200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315200" y="3886200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2.8%</a:t>
            </a:r>
          </a:p>
        </p:txBody>
      </p:sp>
      <p:sp>
        <p:nvSpPr>
          <p:cNvPr id="79" name="Rectangle 78"/>
          <p:cNvSpPr/>
          <p:nvPr/>
        </p:nvSpPr>
        <p:spPr>
          <a:xfrm>
            <a:off x="365760" y="4078224"/>
            <a:ext cx="7498079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365760" y="4087368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Aic Insurance Agency Llc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2926079" y="4087368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$642,423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3931920" y="4087368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$484,406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4846320" y="4087368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$27,253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5669280" y="4087368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390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6217920" y="4087368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272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6812280" y="4087368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7315200" y="4087368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8.2%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365760" y="4288536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MST INSURANCE SERVICES INC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2926079" y="4288536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$344,599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3931920" y="4288536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$169,304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4846320" y="4288536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$25,796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5669280" y="4288536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58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6217920" y="4288536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46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6812280" y="4288536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7315200" y="4288536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10.3%</a:t>
            </a:r>
          </a:p>
        </p:txBody>
      </p:sp>
      <p:sp>
        <p:nvSpPr>
          <p:cNvPr id="96" name="Rectangle 95"/>
          <p:cNvSpPr/>
          <p:nvPr/>
        </p:nvSpPr>
        <p:spPr>
          <a:xfrm>
            <a:off x="365760" y="4480560"/>
            <a:ext cx="7498079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365760" y="4489704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Pacific Atlantic Insurance Services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2926079" y="4489704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$320,638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3931920" y="4489704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$228,837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4846320" y="4489704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5669280" y="4489704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87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6217920" y="4489704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6812280" y="4489704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7315200" y="4489704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10.3%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365760" y="4690872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Insurance Mobile Services, Inc.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2926079" y="469087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$296,184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3931920" y="469087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$183,956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4846320" y="469087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$42,815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5669280" y="4690872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94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6217920" y="4690872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71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6812280" y="4690872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7315200" y="4690872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20.2%</a:t>
            </a:r>
          </a:p>
        </p:txBody>
      </p:sp>
      <p:sp>
        <p:nvSpPr>
          <p:cNvPr id="113" name="Rectangle 112"/>
          <p:cNvSpPr/>
          <p:nvPr/>
        </p:nvSpPr>
        <p:spPr>
          <a:xfrm>
            <a:off x="365760" y="4882896"/>
            <a:ext cx="7498079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TextBox 113"/>
          <p:cNvSpPr txBox="1"/>
          <p:nvPr/>
        </p:nvSpPr>
        <p:spPr>
          <a:xfrm>
            <a:off x="365760" y="4892040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Berrier Insurance Agency, Inc.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2926079" y="4892040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$246,427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3931920" y="4892040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$152,230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4846320" y="4892040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$113,951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5669280" y="4892040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101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6217920" y="4892040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74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6812280" y="4892040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7315200" y="4892040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5.9%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365760" y="5093208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Network Truck Insurance Services, I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926079" y="5093208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$226,868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931920" y="5093208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$116,554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846320" y="5093208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$67,666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5669280" y="5093208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173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6217920" y="5093208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812280" y="5093208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7315200" y="5093208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4.6%</a:t>
            </a:r>
          </a:p>
        </p:txBody>
      </p:sp>
      <p:sp>
        <p:nvSpPr>
          <p:cNvPr id="130" name="Rectangle 129"/>
          <p:cNvSpPr/>
          <p:nvPr/>
        </p:nvSpPr>
        <p:spPr>
          <a:xfrm>
            <a:off x="365760" y="5285232"/>
            <a:ext cx="7498079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TextBox 130"/>
          <p:cNvSpPr txBox="1"/>
          <p:nvPr/>
        </p:nvSpPr>
        <p:spPr>
          <a:xfrm>
            <a:off x="365760" y="5294376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Walker Insurance Agency, Inc.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2926079" y="5294376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$207,492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931920" y="5294376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$131,466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4846320" y="5294376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$88,750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5669280" y="5294376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59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6217920" y="5294376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38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6812280" y="5294376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7315200" y="5294376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10.2%</a:t>
            </a:r>
          </a:p>
        </p:txBody>
      </p:sp>
      <p:sp>
        <p:nvSpPr>
          <p:cNvPr id="139" name="Rectangle 138"/>
          <p:cNvSpPr/>
          <p:nvPr/>
        </p:nvSpPr>
        <p:spPr>
          <a:xfrm>
            <a:off x="8229600" y="2514600"/>
            <a:ext cx="3749039" cy="292608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TextBox 139"/>
          <p:cNvSpPr txBox="1"/>
          <p:nvPr/>
        </p:nvSpPr>
        <p:spPr>
          <a:xfrm>
            <a:off x="8321040" y="2532888"/>
            <a:ext cx="2743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MONTHLY SUMMARY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8275320" y="2862072"/>
            <a:ext cx="4572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8732520" y="2862072"/>
            <a:ext cx="77724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9509760" y="2862072"/>
            <a:ext cx="7315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New Biz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10241280" y="2862072"/>
            <a:ext cx="5029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10744200" y="2862072"/>
            <a:ext cx="4572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11201400" y="2862072"/>
            <a:ext cx="5029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HR</a:t>
            </a:r>
          </a:p>
        </p:txBody>
      </p:sp>
      <p:sp>
        <p:nvSpPr>
          <p:cNvPr id="147" name="Rectangle 146"/>
          <p:cNvSpPr/>
          <p:nvPr/>
        </p:nvSpPr>
        <p:spPr>
          <a:xfrm>
            <a:off x="8275320" y="3026664"/>
            <a:ext cx="3566160" cy="7315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TextBox 147"/>
          <p:cNvSpPr txBox="1"/>
          <p:nvPr/>
        </p:nvSpPr>
        <p:spPr>
          <a:xfrm>
            <a:off x="8275320" y="3081528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8732520" y="3081528"/>
            <a:ext cx="777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$4,380,325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9509760" y="3081528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$992,165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10241280" y="3081528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900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10744200" y="3081528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103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11201400" y="3081528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11.4%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8275320" y="3337560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8732520" y="3337560"/>
            <a:ext cx="777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$4,239,920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9509760" y="3337560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$1,185,913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10241280" y="3337560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793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10744200" y="3337560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96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11201400" y="3337560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12.1%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8275320" y="3593592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8732520" y="3593592"/>
            <a:ext cx="777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$4,457,199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9509760" y="3593592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$1,372,342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10241280" y="3593592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1052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10744200" y="3593592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105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11201400" y="3593592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10.0%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8275320" y="3849624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8732520" y="3849624"/>
            <a:ext cx="777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$4,050,511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9509760" y="3849624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$1,636,669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10241280" y="3849624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1082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10744200" y="3849624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112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11201400" y="3849624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10.4%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8275320" y="4105656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8732520" y="4105656"/>
            <a:ext cx="777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$1,742,433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9509760" y="4105656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$582,779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10241280" y="4105656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596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10744200" y="4105656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48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11201400" y="4105656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8.1%</a:t>
            </a:r>
          </a:p>
        </p:txBody>
      </p:sp>
      <p:sp>
        <p:nvSpPr>
          <p:cNvPr id="178" name="Rectangle 177"/>
          <p:cNvSpPr/>
          <p:nvPr/>
        </p:nvSpPr>
        <p:spPr>
          <a:xfrm>
            <a:off x="8275320" y="4325112"/>
            <a:ext cx="3566160" cy="10972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" name="TextBox 178"/>
          <p:cNvSpPr txBox="1"/>
          <p:nvPr/>
        </p:nvSpPr>
        <p:spPr>
          <a:xfrm>
            <a:off x="8275320" y="4361688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</a:t>
            </a:r>
          </a:p>
        </p:txBody>
      </p:sp>
      <p:sp>
        <p:nvSpPr>
          <p:cNvPr id="180" name="TextBox 179"/>
          <p:cNvSpPr txBox="1"/>
          <p:nvPr/>
        </p:nvSpPr>
        <p:spPr>
          <a:xfrm>
            <a:off x="8732520" y="4361688"/>
            <a:ext cx="777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$8,664,499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9509760" y="4361688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$5,769,868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10241280" y="4361688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4065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10744200" y="4361688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264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11201400" y="4361688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6.5%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OKR Scoreboard — Alexis Berry-Smith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BDM OKRs  |  Q2 measure (paced where applicable)  |  Matches BD Rep Scoreboard numbers</a:t>
            </a:r>
          </a:p>
        </p:txBody>
      </p:sp>
      <p:sp>
        <p:nvSpPr>
          <p:cNvPr id="5" name="Rectangle 4"/>
          <p:cNvSpPr/>
          <p:nvPr/>
        </p:nvSpPr>
        <p:spPr>
          <a:xfrm>
            <a:off x="8686800" y="960120"/>
            <a:ext cx="3200400" cy="1371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0" y="1033271"/>
            <a:ext cx="3200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D97706"/>
                </a:solidFill>
                <a:latin typeface="Segoe UI"/>
              </a:defRPr>
            </a:pPr>
            <a:r>
              <a:t>58.4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0" y="1591056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6B7280"/>
                </a:solidFill>
                <a:latin typeface="Segoe UI"/>
              </a:defRPr>
            </a:pPr>
            <a:r>
              <a:t>COMPOSITE SCORE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0" y="1865376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6B7280"/>
                </a:solidFill>
                <a:latin typeface="Segoe UI"/>
              </a:defRPr>
            </a:pPr>
            <a:r>
              <a:t>Green ≥ 70  |  Amber 45-69  |  Red &lt; 45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960120"/>
            <a:ext cx="8138160" cy="11887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65760" y="960120"/>
            <a:ext cx="91440" cy="118872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10515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B7280"/>
                </a:solidFill>
                <a:latin typeface="Segoe UI"/>
              </a:defRPr>
            </a:pPr>
            <a:r>
              <a:t>OKR 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1307592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11827"/>
                </a:solidFill>
                <a:latin typeface="Segoe UI"/>
              </a:defRPr>
            </a:pPr>
            <a:r>
              <a:t>Subs YoY 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" y="1673352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7280"/>
                </a:solidFill>
                <a:latin typeface="Segoe UI"/>
              </a:defRPr>
            </a:pPr>
            <a:r>
              <a:t>Goal ≥+100%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09360" y="1143000"/>
            <a:ext cx="2103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800" b="1">
                <a:solidFill>
                  <a:srgbClr val="059669"/>
                </a:solidFill>
                <a:latin typeface="Segoe UI"/>
              </a:defRPr>
            </a:pPr>
            <a:r>
              <a:t>+146%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65760" y="2240280"/>
            <a:ext cx="8138160" cy="11887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65760" y="2240280"/>
            <a:ext cx="91440" cy="1188720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94360" y="233172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B7280"/>
                </a:solidFill>
                <a:latin typeface="Segoe UI"/>
              </a:defRPr>
            </a:pPr>
            <a:r>
              <a:t>OKR 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4360" y="2587752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11827"/>
                </a:solidFill>
                <a:latin typeface="Segoe UI"/>
              </a:defRPr>
            </a:pPr>
            <a:r>
              <a:t>Activity Compliance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4360" y="2953512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7280"/>
                </a:solidFill>
                <a:latin typeface="Segoe UI"/>
              </a:defRPr>
            </a:pPr>
            <a:r>
              <a:t>Goal ≥ 100% (40/wk)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09360" y="2423160"/>
            <a:ext cx="2103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800" b="1">
                <a:solidFill>
                  <a:srgbClr val="DC2626"/>
                </a:solidFill>
                <a:latin typeface="Segoe UI"/>
              </a:defRPr>
            </a:pPr>
            <a:r>
              <a:t>34%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65760" y="3520440"/>
            <a:ext cx="8138160" cy="11887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365760" y="3520440"/>
            <a:ext cx="91440" cy="118872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94360" y="361188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B7280"/>
                </a:solidFill>
                <a:latin typeface="Segoe UI"/>
              </a:defRPr>
            </a:pPr>
            <a:r>
              <a:t>OKR 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94360" y="3867912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11827"/>
                </a:solidFill>
                <a:latin typeface="Segoe UI"/>
              </a:defRPr>
            </a:pPr>
            <a:r>
              <a:t>Portfolio Active 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94360" y="4233672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22 of 22 agencies  |  Goal 100%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09360" y="3703320"/>
            <a:ext cx="2103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800" b="1">
                <a:solidFill>
                  <a:srgbClr val="059669"/>
                </a:solidFill>
                <a:latin typeface="Segoe UI"/>
              </a:defRPr>
            </a:pPr>
            <a:r>
              <a:t>100%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65760" y="4800600"/>
            <a:ext cx="8138160" cy="11887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365760" y="4800600"/>
            <a:ext cx="91440" cy="1188720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94360" y="489204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B7280"/>
                </a:solidFill>
                <a:latin typeface="Segoe UI"/>
              </a:defRPr>
            </a:pPr>
            <a:r>
              <a:t>OKR 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94360" y="5148072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11827"/>
                </a:solidFill>
                <a:latin typeface="Segoe UI"/>
              </a:defRPr>
            </a:pPr>
            <a:r>
              <a:t>New Producing Agencies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94360" y="5513832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7280"/>
                </a:solidFill>
                <a:latin typeface="Segoe UI"/>
              </a:defRPr>
            </a:pPr>
            <a:r>
              <a:t>Q2 Activated Won  |  Goal ≥ 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309360" y="4983480"/>
            <a:ext cx="2103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800" b="1">
                <a:solidFill>
                  <a:srgbClr val="DC2626"/>
                </a:solidFill>
                <a:latin typeface="Segoe UI"/>
              </a:defRPr>
            </a:pPr>
            <a:r>
              <a:t>0 of 4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65760" y="6492240"/>
            <a:ext cx="11430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6B7280"/>
                </a:solidFill>
                <a:latin typeface="Segoe UI"/>
              </a:defRPr>
            </a:pPr>
            <a:r>
              <a:t>OKR 1: Q2 paced subs YoY — current Q2-YTD subs ÷ days-elapsed × 91 vs prior full Q2 (Apr–Jun 2025)  |  OKR 2: Q2 avg weekly calls + meetings vs 40/wk goal (outbound calls + meetings only, matches scoreboard)  |  OKR 3: % of HubSpot book with ≥1 submission in 2026  |  OKR 4: Q2 Activated-Won NNA deals with `Appointed - ` prefix, owned by this BDM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FFFFF"/>
                </a:solidFill>
                <a:latin typeface="Segoe UI"/>
              </a:defRPr>
            </a:pPr>
            <a:r>
              <a:t>BD Activity  —  Alexis Berry-Smith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457200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Jan–May 2026  |  Calls + Meetings  |  Weekly goal: 40 activities  |  Colored arrow = month-over-month trend vs prior complete month</a:t>
            </a:r>
          </a:p>
        </p:txBody>
      </p:sp>
      <p:sp>
        <p:nvSpPr>
          <p:cNvPr id="5" name="Rectangle 4"/>
          <p:cNvSpPr/>
          <p:nvPr/>
        </p:nvSpPr>
        <p:spPr>
          <a:xfrm>
            <a:off x="137160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B7280"/>
                </a:solidFill>
                <a:latin typeface="Segoe UI"/>
              </a:defRPr>
            </a:pPr>
            <a:r>
              <a:t>72 →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Calls</a:t>
            </a:r>
          </a:p>
        </p:txBody>
      </p:sp>
      <p:sp>
        <p:nvSpPr>
          <p:cNvPr id="6" name="Rectangle 5"/>
          <p:cNvSpPr/>
          <p:nvPr/>
        </p:nvSpPr>
        <p:spPr>
          <a:xfrm>
            <a:off x="2542580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B7280"/>
                </a:solidFill>
                <a:latin typeface="Segoe UI"/>
              </a:defRPr>
            </a:pPr>
            <a:r>
              <a:t>9 →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Meetings</a:t>
            </a:r>
          </a:p>
        </p:txBody>
      </p:sp>
      <p:sp>
        <p:nvSpPr>
          <p:cNvPr id="7" name="Rectangle 6"/>
          <p:cNvSpPr/>
          <p:nvPr/>
        </p:nvSpPr>
        <p:spPr>
          <a:xfrm>
            <a:off x="4948001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B7280"/>
                </a:solidFill>
                <a:latin typeface="Segoe UI"/>
              </a:defRPr>
            </a:pPr>
            <a:r>
              <a:t>81 →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Activity</a:t>
            </a:r>
          </a:p>
        </p:txBody>
      </p:sp>
      <p:sp>
        <p:nvSpPr>
          <p:cNvPr id="8" name="Rectangle 7"/>
          <p:cNvSpPr/>
          <p:nvPr/>
        </p:nvSpPr>
        <p:spPr>
          <a:xfrm>
            <a:off x="7353421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D28D9"/>
                </a:solidFill>
                <a:latin typeface="Segoe UI"/>
              </a:defRPr>
            </a:pPr>
            <a:r>
              <a:t>4.3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Avg / Week</a:t>
            </a:r>
          </a:p>
        </p:txBody>
      </p:sp>
      <p:sp>
        <p:nvSpPr>
          <p:cNvPr id="9" name="Rectangle 8"/>
          <p:cNvSpPr/>
          <p:nvPr/>
        </p:nvSpPr>
        <p:spPr>
          <a:xfrm>
            <a:off x="9758842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DC2626"/>
                </a:solidFill>
                <a:latin typeface="Segoe UI"/>
              </a:defRPr>
            </a:pPr>
            <a:r>
              <a:t>11%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 (40/wk)</a:t>
            </a:r>
          </a:p>
        </p:txBody>
      </p:sp>
      <p:sp>
        <p:nvSpPr>
          <p:cNvPr id="10" name="Rectangle 9"/>
          <p:cNvSpPr/>
          <p:nvPr/>
        </p:nvSpPr>
        <p:spPr>
          <a:xfrm>
            <a:off x="137160" y="1600200"/>
            <a:ext cx="585216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46888" y="1636776"/>
            <a:ext cx="5669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WEEKS 1–10  (Jan–Mar)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46888" y="1938528"/>
            <a:ext cx="1645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Week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92808" y="1938528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Calls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624328" y="1938528"/>
            <a:ext cx="8686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Meetings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93008" y="1938528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Total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224528" y="1938528"/>
            <a:ext cx="7772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% Goal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01768" y="1938528"/>
            <a:ext cx="10515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Status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82880" y="2112264"/>
            <a:ext cx="5833872" cy="5486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37160" y="2167128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137160" y="2167128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46888" y="2185416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1/5–1/11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892808" y="218541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624328" y="2185416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493008" y="218541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224528" y="2185416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01768" y="2185416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137160" y="2409444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137160" y="2409444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46888" y="2427732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1/12–1/18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892808" y="242773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624328" y="2427732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493008" y="242773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224528" y="2427732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001768" y="2427732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35" name="Rectangle 34"/>
          <p:cNvSpPr/>
          <p:nvPr/>
        </p:nvSpPr>
        <p:spPr>
          <a:xfrm>
            <a:off x="137160" y="2651760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137160" y="2651760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46888" y="2670048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1/19–1/25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892808" y="267004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624328" y="2670048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493008" y="267004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224528" y="2670048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001768" y="2670048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43" name="Rectangle 42"/>
          <p:cNvSpPr/>
          <p:nvPr/>
        </p:nvSpPr>
        <p:spPr>
          <a:xfrm>
            <a:off x="137160" y="2894076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137160" y="2894076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246888" y="2912364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1/26–2/1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892808" y="291236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624328" y="2912364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493008" y="291236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224528" y="2912364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001768" y="2912364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51" name="Rectangle 50"/>
          <p:cNvSpPr/>
          <p:nvPr/>
        </p:nvSpPr>
        <p:spPr>
          <a:xfrm>
            <a:off x="137160" y="3136392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137160" y="3136392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246888" y="3154680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2/2–2/8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892808" y="315468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2624328" y="3154680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3493008" y="315468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224528" y="3154680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001768" y="3154680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59" name="Rectangle 58"/>
          <p:cNvSpPr/>
          <p:nvPr/>
        </p:nvSpPr>
        <p:spPr>
          <a:xfrm>
            <a:off x="137160" y="3378708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137160" y="3378708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246888" y="3396996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2/9–2/15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892808" y="339699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2624328" y="3396996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3493008" y="339699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4224528" y="3396996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5001768" y="3396996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67" name="Rectangle 66"/>
          <p:cNvSpPr/>
          <p:nvPr/>
        </p:nvSpPr>
        <p:spPr>
          <a:xfrm>
            <a:off x="137160" y="3621024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137160" y="3621024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246888" y="3639312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2/16–2/22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892808" y="363931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2624328" y="3639312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3493008" y="363931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224528" y="3639312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5001768" y="3639312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75" name="Rectangle 74"/>
          <p:cNvSpPr/>
          <p:nvPr/>
        </p:nvSpPr>
        <p:spPr>
          <a:xfrm>
            <a:off x="137160" y="3863340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137160" y="3863340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246888" y="3881628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2/23–3/1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1892808" y="388162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2624328" y="3881628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3493008" y="388162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4224528" y="3881628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5001768" y="3881628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83" name="Rectangle 82"/>
          <p:cNvSpPr/>
          <p:nvPr/>
        </p:nvSpPr>
        <p:spPr>
          <a:xfrm>
            <a:off x="137160" y="4105656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137160" y="4105656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246888" y="4123944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3/2–3/8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1892808" y="412394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2624328" y="4123944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3493008" y="412394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4224528" y="4123944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5001768" y="4123944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91" name="Rectangle 90"/>
          <p:cNvSpPr/>
          <p:nvPr/>
        </p:nvSpPr>
        <p:spPr>
          <a:xfrm>
            <a:off x="137160" y="4347972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137160" y="4347972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246888" y="4366260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3/9–3/15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1892808" y="436626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2624328" y="4366260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3493008" y="436626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4224528" y="4366260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5001768" y="4366260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99" name="Rectangle 98"/>
          <p:cNvSpPr/>
          <p:nvPr/>
        </p:nvSpPr>
        <p:spPr>
          <a:xfrm>
            <a:off x="6199632" y="1600200"/>
            <a:ext cx="585216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TextBox 99"/>
          <p:cNvSpPr txBox="1"/>
          <p:nvPr/>
        </p:nvSpPr>
        <p:spPr>
          <a:xfrm>
            <a:off x="6309360" y="1636776"/>
            <a:ext cx="5669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WEEKS 11–20  (Mar–May)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6309360" y="1938528"/>
            <a:ext cx="1645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Week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7955280" y="1938528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Calls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8686800" y="1938528"/>
            <a:ext cx="8686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Meetings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9555480" y="1938528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Total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10287000" y="1938528"/>
            <a:ext cx="7772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% Goal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11064240" y="1938528"/>
            <a:ext cx="10515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Status</a:t>
            </a:r>
          </a:p>
        </p:txBody>
      </p:sp>
      <p:sp>
        <p:nvSpPr>
          <p:cNvPr id="107" name="Rectangle 106"/>
          <p:cNvSpPr/>
          <p:nvPr/>
        </p:nvSpPr>
        <p:spPr>
          <a:xfrm>
            <a:off x="6245352" y="2112264"/>
            <a:ext cx="5833872" cy="5486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Rectangle 107"/>
          <p:cNvSpPr/>
          <p:nvPr/>
        </p:nvSpPr>
        <p:spPr>
          <a:xfrm>
            <a:off x="6199632" y="2167128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Rectangle 108"/>
          <p:cNvSpPr/>
          <p:nvPr/>
        </p:nvSpPr>
        <p:spPr>
          <a:xfrm>
            <a:off x="6199632" y="2167128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TextBox 109"/>
          <p:cNvSpPr txBox="1"/>
          <p:nvPr/>
        </p:nvSpPr>
        <p:spPr>
          <a:xfrm>
            <a:off x="6309360" y="2185416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3/16–3/22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7955280" y="218541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8686800" y="2185416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9555480" y="218541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10287000" y="2185416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11064240" y="2185416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116" name="Rectangle 115"/>
          <p:cNvSpPr/>
          <p:nvPr/>
        </p:nvSpPr>
        <p:spPr>
          <a:xfrm>
            <a:off x="6199632" y="2409444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Rectangle 116"/>
          <p:cNvSpPr/>
          <p:nvPr/>
        </p:nvSpPr>
        <p:spPr>
          <a:xfrm>
            <a:off x="6199632" y="2409444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TextBox 117"/>
          <p:cNvSpPr txBox="1"/>
          <p:nvPr/>
        </p:nvSpPr>
        <p:spPr>
          <a:xfrm>
            <a:off x="6309360" y="2427732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3/23–3/29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7955280" y="242773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8686800" y="2427732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9555480" y="242773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10287000" y="2427732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11064240" y="2427732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124" name="Rectangle 123"/>
          <p:cNvSpPr/>
          <p:nvPr/>
        </p:nvSpPr>
        <p:spPr>
          <a:xfrm>
            <a:off x="6199632" y="2651760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Rectangle 124"/>
          <p:cNvSpPr/>
          <p:nvPr/>
        </p:nvSpPr>
        <p:spPr>
          <a:xfrm>
            <a:off x="6199632" y="2651760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TextBox 125"/>
          <p:cNvSpPr txBox="1"/>
          <p:nvPr/>
        </p:nvSpPr>
        <p:spPr>
          <a:xfrm>
            <a:off x="6309360" y="2670048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3/30–4/5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7955280" y="267004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8686800" y="2670048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9555480" y="267004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10287000" y="2670048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1064240" y="2670048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6199632" y="2894076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Rectangle 132"/>
          <p:cNvSpPr/>
          <p:nvPr/>
        </p:nvSpPr>
        <p:spPr>
          <a:xfrm>
            <a:off x="6199632" y="2894076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TextBox 133"/>
          <p:cNvSpPr txBox="1"/>
          <p:nvPr/>
        </p:nvSpPr>
        <p:spPr>
          <a:xfrm>
            <a:off x="6309360" y="2912364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4/6–4/12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7955280" y="291236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8686800" y="2912364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9555480" y="291236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10287000" y="2912364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11064240" y="2912364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140" name="Rectangle 139"/>
          <p:cNvSpPr/>
          <p:nvPr/>
        </p:nvSpPr>
        <p:spPr>
          <a:xfrm>
            <a:off x="6199632" y="3136392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Rectangle 140"/>
          <p:cNvSpPr/>
          <p:nvPr/>
        </p:nvSpPr>
        <p:spPr>
          <a:xfrm>
            <a:off x="6199632" y="3136392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TextBox 141"/>
          <p:cNvSpPr txBox="1"/>
          <p:nvPr/>
        </p:nvSpPr>
        <p:spPr>
          <a:xfrm>
            <a:off x="6309360" y="3154680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4/13–4/19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955280" y="315468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686800" y="3154680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55480" y="315468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10287000" y="3154680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1064240" y="3154680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148" name="Rectangle 147"/>
          <p:cNvSpPr/>
          <p:nvPr/>
        </p:nvSpPr>
        <p:spPr>
          <a:xfrm>
            <a:off x="6199632" y="3378708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Rectangle 148"/>
          <p:cNvSpPr/>
          <p:nvPr/>
        </p:nvSpPr>
        <p:spPr>
          <a:xfrm>
            <a:off x="6199632" y="3378708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TextBox 149"/>
          <p:cNvSpPr txBox="1"/>
          <p:nvPr/>
        </p:nvSpPr>
        <p:spPr>
          <a:xfrm>
            <a:off x="6309360" y="3396996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4/20–4/26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7955280" y="339699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8686800" y="3396996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9555480" y="339699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10287000" y="3396996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10%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11064240" y="3396996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156" name="Rectangle 155"/>
          <p:cNvSpPr/>
          <p:nvPr/>
        </p:nvSpPr>
        <p:spPr>
          <a:xfrm>
            <a:off x="6199632" y="3621024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Rectangle 156"/>
          <p:cNvSpPr/>
          <p:nvPr/>
        </p:nvSpPr>
        <p:spPr>
          <a:xfrm>
            <a:off x="6199632" y="3621024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TextBox 157"/>
          <p:cNvSpPr txBox="1"/>
          <p:nvPr/>
        </p:nvSpPr>
        <p:spPr>
          <a:xfrm>
            <a:off x="6309360" y="3639312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4/27–5/3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7955280" y="363931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8686800" y="3639312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9555480" y="363931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10287000" y="3639312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11064240" y="3639312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164" name="Rectangle 163"/>
          <p:cNvSpPr/>
          <p:nvPr/>
        </p:nvSpPr>
        <p:spPr>
          <a:xfrm>
            <a:off x="6199632" y="3863340"/>
            <a:ext cx="5852160" cy="242316"/>
          </a:xfrm>
          <a:prstGeom prst="rect">
            <a:avLst/>
          </a:prstGeom>
          <a:solidFill>
            <a:srgbClr val="FFFB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Rectangle 164"/>
          <p:cNvSpPr/>
          <p:nvPr/>
        </p:nvSpPr>
        <p:spPr>
          <a:xfrm>
            <a:off x="6199632" y="3863340"/>
            <a:ext cx="50292" cy="242316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309360" y="3881628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5/4–5/10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7955280" y="388162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8686800" y="3881628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9555480" y="388162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97706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10287000" y="3881628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97706"/>
                </a:solidFill>
                <a:latin typeface="Segoe UI"/>
              </a:defRPr>
            </a:pPr>
            <a:r>
              <a:t>80%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11064240" y="3881628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97706"/>
                </a:solidFill>
                <a:latin typeface="Segoe UI"/>
              </a:defRPr>
            </a:pPr>
            <a:r>
              <a:t>~ Near</a:t>
            </a:r>
          </a:p>
        </p:txBody>
      </p:sp>
      <p:sp>
        <p:nvSpPr>
          <p:cNvPr id="172" name="Rectangle 171"/>
          <p:cNvSpPr/>
          <p:nvPr/>
        </p:nvSpPr>
        <p:spPr>
          <a:xfrm>
            <a:off x="6199632" y="4105656"/>
            <a:ext cx="5852160" cy="242316"/>
          </a:xfrm>
          <a:prstGeom prst="rect">
            <a:avLst/>
          </a:prstGeom>
          <a:solidFill>
            <a:srgbClr val="F0F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Rectangle 172"/>
          <p:cNvSpPr/>
          <p:nvPr/>
        </p:nvSpPr>
        <p:spPr>
          <a:xfrm>
            <a:off x="6199632" y="4105656"/>
            <a:ext cx="50292" cy="242316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" name="TextBox 173"/>
          <p:cNvSpPr txBox="1"/>
          <p:nvPr/>
        </p:nvSpPr>
        <p:spPr>
          <a:xfrm>
            <a:off x="6309360" y="4123944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5/11–5/17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7955280" y="412394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37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8686800" y="4123944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9555480" y="412394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10287000" y="4123944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112%</a:t>
            </a:r>
          </a:p>
        </p:txBody>
      </p:sp>
      <p:sp>
        <p:nvSpPr>
          <p:cNvPr id="179" name="TextBox 178"/>
          <p:cNvSpPr txBox="1"/>
          <p:nvPr/>
        </p:nvSpPr>
        <p:spPr>
          <a:xfrm>
            <a:off x="11064240" y="4123944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✓ Met</a:t>
            </a:r>
          </a:p>
        </p:txBody>
      </p:sp>
      <p:sp>
        <p:nvSpPr>
          <p:cNvPr id="180" name="Rectangle 179"/>
          <p:cNvSpPr/>
          <p:nvPr/>
        </p:nvSpPr>
        <p:spPr>
          <a:xfrm>
            <a:off x="6199632" y="4347972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" name="Rectangle 180"/>
          <p:cNvSpPr/>
          <p:nvPr/>
        </p:nvSpPr>
        <p:spPr>
          <a:xfrm>
            <a:off x="6199632" y="4347972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2" name="TextBox 181"/>
          <p:cNvSpPr txBox="1"/>
          <p:nvPr/>
        </p:nvSpPr>
        <p:spPr>
          <a:xfrm>
            <a:off x="6309360" y="4366260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5/18–5/18*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7955280" y="436626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8686800" y="4366260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85" name="TextBox 184"/>
          <p:cNvSpPr txBox="1"/>
          <p:nvPr/>
        </p:nvSpPr>
        <p:spPr>
          <a:xfrm>
            <a:off x="9555480" y="436626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86" name="TextBox 185"/>
          <p:cNvSpPr txBox="1"/>
          <p:nvPr/>
        </p:nvSpPr>
        <p:spPr>
          <a:xfrm>
            <a:off x="10287000" y="4366260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11064240" y="4366260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188" name="TextBox 187"/>
          <p:cNvSpPr txBox="1"/>
          <p:nvPr/>
        </p:nvSpPr>
        <p:spPr>
          <a:xfrm>
            <a:off x="137160" y="6528816"/>
            <a:ext cx="117957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6B7280"/>
                </a:solidFill>
                <a:latin typeface="Segoe UI"/>
              </a:defRPr>
            </a:pPr>
            <a:r>
              <a:t>Source: HubSpot CRM  |  Calls + meetings only (emails excluded)  |  * = current/partial week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FFFFF"/>
                </a:solidFill>
                <a:latin typeface="Segoe UI"/>
              </a:defRPr>
            </a:pPr>
            <a:r>
              <a:t>Submission Growth  —  Alexis Berry-Smith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457200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Jan–May 2026 vs 2025  |  Green = growth  |  Red = decline  |  Hit ratio = binds / submissions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137160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059669"/>
                </a:solidFill>
                <a:latin typeface="Segoe UI"/>
              </a:defRPr>
            </a:pPr>
            <a:r>
              <a:t>1586 ▲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Submissions</a:t>
            </a:r>
          </a:p>
        </p:txBody>
      </p:sp>
      <p:sp>
        <p:nvSpPr>
          <p:cNvPr id="6" name="Rectangle 5"/>
          <p:cNvSpPr/>
          <p:nvPr/>
        </p:nvSpPr>
        <p:spPr>
          <a:xfrm>
            <a:off x="2542580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059669"/>
                </a:solidFill>
                <a:latin typeface="Segoe UI"/>
              </a:defRPr>
            </a:pPr>
            <a:r>
              <a:t>115 ▲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Binds</a:t>
            </a:r>
          </a:p>
        </p:txBody>
      </p:sp>
      <p:sp>
        <p:nvSpPr>
          <p:cNvPr id="7" name="Rectangle 6"/>
          <p:cNvSpPr/>
          <p:nvPr/>
        </p:nvSpPr>
        <p:spPr>
          <a:xfrm>
            <a:off x="4948001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DC2626"/>
                </a:solidFill>
                <a:latin typeface="Segoe UI"/>
              </a:defRPr>
            </a:pPr>
            <a:r>
              <a:t>7.3% ▼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8" name="Rectangle 7"/>
          <p:cNvSpPr/>
          <p:nvPr/>
        </p:nvSpPr>
        <p:spPr>
          <a:xfrm>
            <a:off x="7353421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DC2626"/>
                </a:solidFill>
                <a:latin typeface="Segoe UI"/>
              </a:defRPr>
            </a:pPr>
            <a:r>
              <a:t>-47.8%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Subs YOY vs 2025</a:t>
            </a:r>
          </a:p>
        </p:txBody>
      </p:sp>
      <p:sp>
        <p:nvSpPr>
          <p:cNvPr id="9" name="Rectangle 8"/>
          <p:cNvSpPr/>
          <p:nvPr/>
        </p:nvSpPr>
        <p:spPr>
          <a:xfrm>
            <a:off x="9758842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DC2626"/>
                </a:solidFill>
                <a:latin typeface="Segoe UI"/>
              </a:defRPr>
            </a:pPr>
            <a:r>
              <a:t>-76.6%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 YOY vs 2025</a:t>
            </a:r>
          </a:p>
        </p:txBody>
      </p:sp>
      <p:sp>
        <p:nvSpPr>
          <p:cNvPr id="10" name="Rectangle 9"/>
          <p:cNvSpPr/>
          <p:nvPr/>
        </p:nvSpPr>
        <p:spPr>
          <a:xfrm>
            <a:off x="137160" y="1600200"/>
            <a:ext cx="521208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46888" y="1636776"/>
            <a:ext cx="5029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MONTHLY BREAKDOWN  —  2026 vs 2025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46888" y="1938528"/>
            <a:ext cx="566928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13816" y="1938528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2026 Subs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19656" y="1938528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2026 Binds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34056" y="1938528"/>
            <a:ext cx="621792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Hit 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55848" y="1938528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2025 Subs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270248" y="1938528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YoY %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82880" y="2112264"/>
            <a:ext cx="5056632" cy="5486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37160" y="2157984"/>
            <a:ext cx="5212080" cy="33375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46888" y="2203704"/>
            <a:ext cx="56692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13816" y="2203704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819656" y="2203704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734056" y="2203704"/>
            <a:ext cx="62179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355848" y="2203704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606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270248" y="2203704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-100%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46888" y="2519172"/>
            <a:ext cx="56692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13816" y="2519172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819656" y="2519172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734056" y="2519172"/>
            <a:ext cx="62179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55848" y="2519172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536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70248" y="2519172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-100%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37160" y="2788920"/>
            <a:ext cx="5212080" cy="33375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46888" y="2834640"/>
            <a:ext cx="56692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13816" y="2834640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819656" y="2834640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734056" y="2834640"/>
            <a:ext cx="62179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25.0%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55848" y="2834640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676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70248" y="2834640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-99%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46888" y="3150108"/>
            <a:ext cx="56692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13816" y="3150108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1,008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819656" y="3150108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73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2734056" y="3150108"/>
            <a:ext cx="62179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7.2%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355848" y="3150108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617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270248" y="3150108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+63%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37160" y="3419856"/>
            <a:ext cx="5212080" cy="33375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246888" y="3465576"/>
            <a:ext cx="56692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13816" y="3465576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574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819656" y="3465576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41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2734056" y="3465576"/>
            <a:ext cx="62179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7.1%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355848" y="3465576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604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270248" y="3465576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-5%</a:t>
            </a:r>
          </a:p>
        </p:txBody>
      </p:sp>
      <p:sp>
        <p:nvSpPr>
          <p:cNvPr id="52" name="Rectangle 51"/>
          <p:cNvSpPr/>
          <p:nvPr/>
        </p:nvSpPr>
        <p:spPr>
          <a:xfrm>
            <a:off x="182880" y="3717036"/>
            <a:ext cx="5120640" cy="9144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246888" y="3762756"/>
            <a:ext cx="56692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YTD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13816" y="3762756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1,586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819656" y="3762756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115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2734056" y="3762756"/>
            <a:ext cx="62179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7.3%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3355848" y="3762756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3,039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4270248" y="3762756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-48%</a:t>
            </a:r>
          </a:p>
        </p:txBody>
      </p:sp>
      <p:sp>
        <p:nvSpPr>
          <p:cNvPr id="59" name="Rectangle 58"/>
          <p:cNvSpPr/>
          <p:nvPr/>
        </p:nvSpPr>
        <p:spPr>
          <a:xfrm>
            <a:off x="5623560" y="1600200"/>
            <a:ext cx="640080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5733288" y="1636776"/>
            <a:ext cx="6217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TOP AGENCIES BY SUBMISSION VOLUME  —  YTD Ranked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5733288" y="1938528"/>
            <a:ext cx="2834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8567928" y="1938528"/>
            <a:ext cx="8686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YTD Subs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9436608" y="1938528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0259568" y="1938528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Hit %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10991088" y="1938528"/>
            <a:ext cx="6858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YOY</a:t>
            </a:r>
          </a:p>
        </p:txBody>
      </p:sp>
      <p:sp>
        <p:nvSpPr>
          <p:cNvPr id="66" name="Rectangle 65"/>
          <p:cNvSpPr/>
          <p:nvPr/>
        </p:nvSpPr>
        <p:spPr>
          <a:xfrm>
            <a:off x="5669280" y="2112264"/>
            <a:ext cx="5971032" cy="5486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5623560" y="2167128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5733288" y="2185416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A.s.i.a Inc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8567928" y="2185416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918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9436608" y="2185416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63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0259568" y="2185416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6.9%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0991088" y="2185416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+746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5733288" y="2441448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Stellar Management, Inc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8567928" y="2441448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867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9436608" y="2441448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10259568" y="2441448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2.8%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10991088" y="2441448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+263</a:t>
            </a:r>
          </a:p>
        </p:txBody>
      </p:sp>
      <p:sp>
        <p:nvSpPr>
          <p:cNvPr id="78" name="Rectangle 77"/>
          <p:cNvSpPr/>
          <p:nvPr/>
        </p:nvSpPr>
        <p:spPr>
          <a:xfrm>
            <a:off x="5623560" y="2679192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5733288" y="2697480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Aic Insurance Agency Llc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567928" y="2697480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390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436608" y="2697480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259568" y="2697480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8.2%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10991088" y="2697480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+29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5733288" y="2953512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Truckers Insurance Services Llc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8567928" y="2953512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351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9436608" y="2953512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10259568" y="2953512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8.3%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10991088" y="2953512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+351</a:t>
            </a:r>
          </a:p>
        </p:txBody>
      </p:sp>
      <p:sp>
        <p:nvSpPr>
          <p:cNvPr id="89" name="Rectangle 88"/>
          <p:cNvSpPr/>
          <p:nvPr/>
        </p:nvSpPr>
        <p:spPr>
          <a:xfrm>
            <a:off x="5623560" y="3191256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5733288" y="3209544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Amerigo Insurance Agency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8567928" y="3209544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307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9436608" y="3209544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10259568" y="3209544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1.6%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10991088" y="3209544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-202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5733288" y="3465576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Network Truck Insurance Services, Inc.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8567928" y="3465576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173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9436608" y="3465576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10259568" y="3465576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4.6%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10991088" y="3465576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-68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5623560" y="3703320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5733288" y="3721608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Alex Rue Insurance Agency, Inc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8567928" y="3721608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152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9436608" y="3721608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10259568" y="3721608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7.2%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10991088" y="3721608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+38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5733288" y="3977640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Roadways Commercial Insurance Services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567928" y="3977640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127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9436608" y="3977640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10259568" y="3977640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15.0%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991088" y="3977640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-28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5623560" y="4215384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5733288" y="4233672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Berrier Insurance Agency, Inc.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8567928" y="4233672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101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9436608" y="4233672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10259568" y="4233672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5.9%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10991088" y="4233672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+26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5733288" y="4489704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Insurance Mobile Services, Inc.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8567928" y="4489704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94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9436608" y="4489704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10259568" y="4489704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20.2%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10991088" y="4489704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-26</a:t>
            </a:r>
          </a:p>
        </p:txBody>
      </p:sp>
      <p:sp>
        <p:nvSpPr>
          <p:cNvPr id="122" name="Rectangle 121"/>
          <p:cNvSpPr/>
          <p:nvPr/>
        </p:nvSpPr>
        <p:spPr>
          <a:xfrm>
            <a:off x="5623560" y="4727448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TextBox 122"/>
          <p:cNvSpPr txBox="1"/>
          <p:nvPr/>
        </p:nvSpPr>
        <p:spPr>
          <a:xfrm>
            <a:off x="5733288" y="4745736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Pacific Atlantic Insurance Services In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8567928" y="4745736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87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9436608" y="4745736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10259568" y="4745736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10.3%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10991088" y="4745736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+79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5733288" y="5001768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Grant Line Insurance Agency, Inc.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8567928" y="5001768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85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9436608" y="5001768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0259568" y="5001768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5.9%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10991088" y="5001768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+42</a:t>
            </a:r>
          </a:p>
        </p:txBody>
      </p:sp>
      <p:sp>
        <p:nvSpPr>
          <p:cNvPr id="133" name="Rectangle 132"/>
          <p:cNvSpPr/>
          <p:nvPr/>
        </p:nvSpPr>
        <p:spPr>
          <a:xfrm>
            <a:off x="5623560" y="5239512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TextBox 133"/>
          <p:cNvSpPr txBox="1"/>
          <p:nvPr/>
        </p:nvSpPr>
        <p:spPr>
          <a:xfrm>
            <a:off x="5733288" y="5257800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American Continental Insurance Service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8567928" y="5257800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67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9436608" y="5257800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10259568" y="5257800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3.0%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10991088" y="5257800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-5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5733288" y="5513832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Walker Insurance Agency, Inc.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8567928" y="5513832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59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9436608" y="5513832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10259568" y="5513832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10.2%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10991088" y="5513832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+23</a:t>
            </a:r>
          </a:p>
        </p:txBody>
      </p:sp>
      <p:sp>
        <p:nvSpPr>
          <p:cNvPr id="144" name="Rectangle 143"/>
          <p:cNvSpPr/>
          <p:nvPr/>
        </p:nvSpPr>
        <p:spPr>
          <a:xfrm>
            <a:off x="5623560" y="5751576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TextBox 144"/>
          <p:cNvSpPr txBox="1"/>
          <p:nvPr/>
        </p:nvSpPr>
        <p:spPr>
          <a:xfrm>
            <a:off x="5733288" y="5769864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J &amp; S Insurance Agency Inc.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8567928" y="5769864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58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9436608" y="5769864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10259568" y="5769864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5.2%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10991088" y="5769864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-26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5733288" y="6025896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MST INSURANCE SERVICES INC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8567928" y="6025896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58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9436608" y="6025896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10259568" y="6025896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10.3%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10991088" y="6025896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-1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137160" y="6528816"/>
            <a:ext cx="117957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6B7280"/>
                </a:solidFill>
                <a:latin typeface="Segoe UI"/>
              </a:defRPr>
            </a:pPr>
            <a:r>
              <a:t>Source: Metabase  |  Totals match Sales Scoreboard: Q1 → Q1 owner, Q2+ → current owner, 2025 baseline → current owner  |  Hit ratio = binds / submissions  |  Right-panel agency table shows current portfolio  |  Green ≥ 8%  Red &lt; 5%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Monthly Trend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Alexis Berry-Smith  |  22 Total Agencies  |  Jan–May 2026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097280"/>
            <a:ext cx="10424160" cy="329184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143000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920240" y="1143000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37560" y="1143000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New Biz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663440" y="1143000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897879" y="1143000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Cancel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086599" y="1143000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00999" y="1143000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Quotes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915399" y="1143000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829799" y="1143000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1499616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920240" y="1499616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$4,380,325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337560" y="1499616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$992,165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63440" y="1499616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$98,838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897879" y="1499616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DC2626"/>
                </a:solidFill>
                <a:latin typeface="Segoe UI"/>
              </a:defRPr>
            </a:pPr>
            <a:r>
              <a:t>$-851,930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086599" y="1499616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900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00999" y="1499616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634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915399" y="1499616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103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829799" y="1499616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11.4%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65760" y="1773936"/>
            <a:ext cx="10424160" cy="329184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57200" y="1828800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920240" y="1828800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$4,239,920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337560" y="1828800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$1,185,913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663440" y="1828800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$200,414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897879" y="1828800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DC2626"/>
                </a:solidFill>
                <a:latin typeface="Segoe UI"/>
              </a:defRPr>
            </a:pPr>
            <a:r>
              <a:t>$-751,030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086599" y="1828800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793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000999" y="1828800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536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915399" y="1828800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96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829799" y="1828800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12.1%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57200" y="2157984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920240" y="2157984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$4,457,199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337560" y="2157984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$1,372,342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663440" y="2157984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$525,662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897879" y="2157984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DC2626"/>
                </a:solidFill>
                <a:latin typeface="Segoe UI"/>
              </a:defRPr>
            </a:pPr>
            <a:r>
              <a:t>$-1,055,763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086599" y="2157984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1,052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000999" y="2157984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687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915399" y="2157984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105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829799" y="2157984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10.0%</a:t>
            </a:r>
          </a:p>
        </p:txBody>
      </p:sp>
      <p:sp>
        <p:nvSpPr>
          <p:cNvPr id="43" name="Rectangle 42"/>
          <p:cNvSpPr/>
          <p:nvPr/>
        </p:nvSpPr>
        <p:spPr>
          <a:xfrm>
            <a:off x="365760" y="2432303"/>
            <a:ext cx="10424160" cy="329184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457200" y="2487168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920240" y="2487168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$4,050,511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337560" y="2487168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$1,636,669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663440" y="2487168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$35,521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897879" y="2487168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DC2626"/>
                </a:solidFill>
                <a:latin typeface="Segoe UI"/>
              </a:defRPr>
            </a:pPr>
            <a:r>
              <a:t>$-953,383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086599" y="2487168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1,082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000999" y="2487168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760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915399" y="2487168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112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829799" y="2487168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10.4%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57200" y="2816351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920240" y="2816351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$1,742,433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3337560" y="2816351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$582,779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663440" y="2816351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$82,283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897879" y="2816351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DC2626"/>
                </a:solidFill>
                <a:latin typeface="Segoe UI"/>
              </a:defRPr>
            </a:pPr>
            <a:r>
              <a:t>$-369,201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086599" y="2816351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596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8000999" y="2816351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397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915399" y="2816351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48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829799" y="2816351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8.1%</a:t>
            </a:r>
          </a:p>
        </p:txBody>
      </p:sp>
      <p:sp>
        <p:nvSpPr>
          <p:cNvPr id="62" name="Rectangle 61"/>
          <p:cNvSpPr/>
          <p:nvPr/>
        </p:nvSpPr>
        <p:spPr>
          <a:xfrm>
            <a:off x="365760" y="3090671"/>
            <a:ext cx="10424160" cy="36576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457200" y="3163823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YTD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920240" y="3163823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$18,870,387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37560" y="3163823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$5,769,868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663440" y="3163823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$942,719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897879" y="3163823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$-3,981,307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7086599" y="3163823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4,423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8000999" y="3163823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3,014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8915399" y="3163823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464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9829799" y="3163823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10.5%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365760" y="3611879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7280"/>
                </a:solidFill>
                <a:latin typeface="Segoe UI"/>
              </a:defRPr>
            </a:pPr>
            <a:r>
              <a:t>Green = up vs prior month  |  Red = down vs prior month or negative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DSG In My Portfolio — Alexis Berry-Smith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13232"/>
            <a:ext cx="112471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Dirt, Sand &amp; Gravel program performance across this bdm's agencies  |  2026 YTD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138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DSG SUBMISSIONS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33756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BOUND ACCOUNTS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12648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6D28D9"/>
                </a:solidFill>
                <a:latin typeface="Segoe UI"/>
              </a:defRPr>
            </a:pPr>
            <a:r>
              <a:t>$126,384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GROSS WRITTEN PREM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91540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059669"/>
                </a:solidFill>
                <a:latin typeface="Segoe UI"/>
              </a:defRPr>
            </a:pPr>
            <a:r>
              <a:t>4.3%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 RATE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2286000"/>
            <a:ext cx="1133856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6928" y="2322576"/>
            <a:ext cx="111556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DSG ACTIVITY BY AGENCY (top 8 by submissions)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2670048"/>
            <a:ext cx="42062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63440" y="2670048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0" y="2670048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Declined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223760" y="2670048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Bound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03920" y="2670048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Bind 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784080" y="2670048"/>
            <a:ext cx="2011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2944368"/>
            <a:ext cx="11338559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7200" y="2980944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Network Truck Insurance Services, Inc.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63440" y="2980944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43600" y="2980944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223760" y="2980944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503920" y="2980944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784080" y="2980944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" y="3291839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Pacific Atlantic Insurance Services Inc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663440" y="329183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943600" y="329183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23760" y="329183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503920" y="329183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5.3%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784080" y="3291839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$15,509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57200" y="3566159"/>
            <a:ext cx="11338559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57200" y="3602735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Truckers Insurance Services LLC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663440" y="360273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943600" y="360273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223760" y="360273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503920" y="360273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7.7%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784080" y="3602735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$14,583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57200" y="3913631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A.S.I.A Inc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663440" y="3913631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943600" y="3913631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223760" y="3913631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503920" y="3913631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784080" y="3913631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57200" y="4187951"/>
            <a:ext cx="11338559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57200" y="4224527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Berrier Insurance Agency, Inc.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663440" y="4224527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943600" y="4224527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223760" y="4224527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503920" y="4224527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784080" y="4224527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57200" y="4535423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Alex Rue Insurance Agency, Inc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663440" y="4535423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943600" y="4535423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223760" y="4535423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503920" y="4535423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12.5%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784080" y="4535423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$19,077</a:t>
            </a:r>
          </a:p>
        </p:txBody>
      </p:sp>
      <p:sp>
        <p:nvSpPr>
          <p:cNvPr id="55" name="Rectangle 54"/>
          <p:cNvSpPr/>
          <p:nvPr/>
        </p:nvSpPr>
        <p:spPr>
          <a:xfrm>
            <a:off x="457200" y="4809743"/>
            <a:ext cx="11338559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457200" y="4846319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MST INSURANCE SERVICES INC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663440" y="484631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943600" y="484631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223760" y="484631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503920" y="484631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25.0%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784080" y="4846319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$61,451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457200" y="5157215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Amerigo Insurance Agency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4663440" y="515721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5943600" y="515721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7223760" y="515721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8503920" y="515721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9784080" y="5157215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457200" y="5943600"/>
            <a:ext cx="11338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280"/>
                </a:solidFill>
                <a:latin typeface="Segoe UI"/>
              </a:defRPr>
            </a:pPr>
            <a:r>
              <a:t>States with DSG bound business in this book: CA, ID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Fleet In My Portfolio — Alexis Berry-Smith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13232"/>
            <a:ext cx="112471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Fleet business (4+ power units) across this bdm's agencies  |  2026 YTD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675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SUBMISSIONS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33756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150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12648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6D28D9"/>
                </a:solidFill>
                <a:latin typeface="Segoe UI"/>
              </a:defRPr>
            </a:pPr>
            <a:r>
              <a:t>$19,985,507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GWP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91540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AVG UNITS / SUB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2286000"/>
            <a:ext cx="694944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6928" y="2322576"/>
            <a:ext cx="6766559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FLEET BY AGENCY (top 8)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2670048"/>
            <a:ext cx="3291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749039" y="2670048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63440" y="2670048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Bound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77840" y="2670048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Bind 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92240" y="2670048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2944368"/>
            <a:ext cx="694944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7200" y="2980944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Stellar Management, Inc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749039" y="2980944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63440" y="2980944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577840" y="2980944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7.7%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92240" y="2980944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$1,484,514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3291839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A.S.I.A Inc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749039" y="329183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663440" y="329183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577840" y="329183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13.0%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92240" y="329183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$1,390,613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57200" y="3566159"/>
            <a:ext cx="694944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57200" y="3602735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Aic Insurance Agency LLC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749039" y="360273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663440" y="360273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577840" y="360273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25.8%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92240" y="360273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$3,330,633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7200" y="3913631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Alex Rue Insurance Agency, Inc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749039" y="3913631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65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663440" y="3913631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577840" y="3913631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27.7%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492240" y="3913631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$2,455,508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57200" y="4187951"/>
            <a:ext cx="694944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57200" y="4224527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Amerigo Insurance Agency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749039" y="4224527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63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663440" y="4224527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577840" y="4224527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28.6%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492240" y="4224527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$3,964,813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57200" y="4535423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Roadways Commercial Insurance Services Inc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749039" y="4535423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663440" y="4535423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577840" y="4535423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51.5%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492240" y="4535423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$1,827,497</a:t>
            </a:r>
          </a:p>
        </p:txBody>
      </p:sp>
      <p:sp>
        <p:nvSpPr>
          <p:cNvPr id="48" name="Rectangle 47"/>
          <p:cNvSpPr/>
          <p:nvPr/>
        </p:nvSpPr>
        <p:spPr>
          <a:xfrm>
            <a:off x="457200" y="4809743"/>
            <a:ext cx="694944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457200" y="4846319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MST INSURANCE SERVICES INC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749039" y="484631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663440" y="484631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577840" y="484631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31.0%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492240" y="484631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$1,547,695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57200" y="5157215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Network Truck Insurance Services, Inc.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3749039" y="515721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663440" y="515721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577840" y="515721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492240" y="515721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59" name="Rectangle 58"/>
          <p:cNvSpPr/>
          <p:nvPr/>
        </p:nvSpPr>
        <p:spPr>
          <a:xfrm>
            <a:off x="7589520" y="2286000"/>
            <a:ext cx="420624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7699248" y="2322576"/>
            <a:ext cx="4023359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FLEET SIZE MIX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7680960" y="2670048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4-5 units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9098280" y="2670048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321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0104120" y="2670048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(48%)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7680960" y="3035808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6-10 units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9098280" y="3035808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242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0104120" y="3035808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(36%)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7680960" y="3401568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11-25 units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9098280" y="3401568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108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0104120" y="3401568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(16%)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7680960" y="3767328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26-50 units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9098280" y="3767328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0104120" y="3767328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(0%)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7680960" y="4133087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51+ units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098280" y="4133087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104120" y="4133087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(0%)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57200" y="6126480"/>
            <a:ext cx="11338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280"/>
                </a:solidFill>
                <a:latin typeface="Segoe UI"/>
              </a:defRPr>
            </a:pPr>
            <a:r>
              <a:t>Bind rate on fleet: 22.2%  ·  Declined: 145  ·  Source: cw_rep.transportation_submissions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Agency Producers — Alexis Berry-Smith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Jan–May 2026  |  Individual agents ranked by YTD submissions  |  Agent = broker_contact on submission  |  Trend = MoM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82880" y="841248"/>
            <a:ext cx="2249424" cy="566928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6D28D9"/>
                </a:solidFill>
                <a:latin typeface="Segoe UI"/>
              </a:defRPr>
            </a:pPr>
            <a:r>
              <a:t>4065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YTD Subs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9464" y="841248"/>
            <a:ext cx="2249424" cy="566928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6D28D9"/>
                </a:solidFill>
                <a:latin typeface="Segoe UI"/>
              </a:defRPr>
            </a:pPr>
            <a:r>
              <a:t>264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YTD Binds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956048" y="841248"/>
            <a:ext cx="2249424" cy="566928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6D28D9"/>
                </a:solidFill>
                <a:latin typeface="Segoe UI"/>
              </a:defRPr>
            </a:pPr>
            <a:r>
              <a:t>6.5%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Portfolio Hit Ratio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42631" y="841248"/>
            <a:ext cx="2249424" cy="566928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6D28D9"/>
                </a:solidFill>
                <a:latin typeface="Segoe UI"/>
              </a:defRPr>
            </a:pPr>
            <a:r>
              <a:t>59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Active Agents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729215" y="841248"/>
            <a:ext cx="2249424" cy="566928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6D28D9"/>
                </a:solidFill>
                <a:latin typeface="Segoe UI"/>
              </a:defRPr>
            </a:pPr>
            <a:r>
              <a:t>57%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Top 5 Agent Share</a:t>
            </a:r>
          </a:p>
        </p:txBody>
      </p:sp>
      <p:sp>
        <p:nvSpPr>
          <p:cNvPr id="10" name="Rectangle 9"/>
          <p:cNvSpPr/>
          <p:nvPr/>
        </p:nvSpPr>
        <p:spPr>
          <a:xfrm>
            <a:off x="137160" y="1536192"/>
            <a:ext cx="576072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46888" y="1572768"/>
            <a:ext cx="5577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TOP AGENTS BY SUBMISSIONS  —  Ranked 1–18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46888" y="1874519"/>
            <a:ext cx="15544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Agent Name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01368" y="1874519"/>
            <a:ext cx="18288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30168" y="1874519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24528" y="1874519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18888" y="1874519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Hit 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13248" y="1874519"/>
            <a:ext cx="457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MoM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82880" y="2048255"/>
            <a:ext cx="5650992" cy="5486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37160" y="2103120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46888" y="2121408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Raman Palta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801368" y="2121408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Stellar Management, Inc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30168" y="21214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867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224528" y="21214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818888" y="21214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2.8%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13248" y="2121408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46888" y="2360980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Shubham Kamra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801368" y="2360980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A.s.i.a Inc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30168" y="236098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437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224528" y="236098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818888" y="236098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6.6%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413248" y="2360980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37160" y="2582265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46888" y="2600553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Angelica Puente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801368" y="2600553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Truckers Insurance Services Ll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630168" y="260055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351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224528" y="260055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818888" y="260055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8.3%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413248" y="2600553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46888" y="2840126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Deepak Goswami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801368" y="2840126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A.s.i.a Inc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630168" y="284012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342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224528" y="284012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818888" y="284012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5.8%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413248" y="2840126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37160" y="3061411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246888" y="3079699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Parmjit Dhami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801368" y="3079699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Amerigo Insurance Agency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630168" y="3079699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307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224528" y="3079699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818888" y="3079699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1.6%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413248" y="3079699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246888" y="3319272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Alexander Rue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801368" y="3319272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Alex Rue Insurance Agency, Inc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3630168" y="33192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152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224528" y="33192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818888" y="33192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7.2%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413248" y="3319272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58" name="Rectangle 57"/>
          <p:cNvSpPr/>
          <p:nvPr/>
        </p:nvSpPr>
        <p:spPr>
          <a:xfrm>
            <a:off x="137160" y="3540556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246888" y="3558844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Manjit Singh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801368" y="3558844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Roadways Commercial Insurance 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3630168" y="355884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127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4224528" y="355884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4818888" y="355884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15.0%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5413248" y="3558844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246888" y="3798417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Dmitri Omelco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801368" y="3798417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Aic Insurance Agency Llc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3630168" y="379841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126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4224528" y="379841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4818888" y="379841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7.9%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5413248" y="3798417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71" name="Rectangle 70"/>
          <p:cNvSpPr/>
          <p:nvPr/>
        </p:nvSpPr>
        <p:spPr>
          <a:xfrm>
            <a:off x="137160" y="4019702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246888" y="4037990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Paul Metlenko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801368" y="4037990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Insurance Mobile Services, Inc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3630168" y="403799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94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4224528" y="403799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818888" y="403799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20.2%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5413248" y="4037990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246888" y="4277563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Jessie Ghangas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801368" y="4277563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Pacific Atlantic Insurance Ser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3630168" y="427756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87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4224528" y="427756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4818888" y="427756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10.3%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5413248" y="4277563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84" name="Rectangle 83"/>
          <p:cNvSpPr/>
          <p:nvPr/>
        </p:nvSpPr>
        <p:spPr>
          <a:xfrm>
            <a:off x="137160" y="4498848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246888" y="4517136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Jasvir Kaur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1801368" y="4517136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Grant Line Insurance Agency, I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3630168" y="451713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85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4224528" y="451713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4818888" y="451713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5.9%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5413248" y="4517136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246888" y="4756708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Veronica Buruian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1801368" y="4756708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Aic Insurance Agency Llc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3630168" y="47567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76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4224528" y="47567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4818888" y="47567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5413248" y="4756708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97" name="Rectangle 96"/>
          <p:cNvSpPr/>
          <p:nvPr/>
        </p:nvSpPr>
        <p:spPr>
          <a:xfrm>
            <a:off x="137160" y="4977993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246888" y="4996281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Baldev Singh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1801368" y="4996281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A.s.i.a Inc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3630168" y="4996281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65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4224528" y="4996281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4818888" y="4996281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16.9%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5413248" y="4996281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246888" y="5235854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Raman Kailey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1801368" y="5235854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American Continental Insurance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3630168" y="523585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64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4224528" y="523585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4818888" y="523585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1.6%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5413248" y="5235854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137160" y="5457139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246888" y="5475427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Manmdeep Thiara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1801368" y="5475427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MST INSURANCE SERVICES INC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3630168" y="547542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58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4224528" y="547542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4818888" y="547542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10.3%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5413248" y="5475427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246888" y="5715000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Sandy Gill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1801368" y="5715000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J &amp; S Insurance Agency Inc.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3630168" y="571500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58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4224528" y="571500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4818888" y="571500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5.2%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5413248" y="5715000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123" name="Rectangle 122"/>
          <p:cNvSpPr/>
          <p:nvPr/>
        </p:nvSpPr>
        <p:spPr>
          <a:xfrm>
            <a:off x="137160" y="5936284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TextBox 123"/>
          <p:cNvSpPr txBox="1"/>
          <p:nvPr/>
        </p:nvSpPr>
        <p:spPr>
          <a:xfrm>
            <a:off x="246888" y="5954572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Michael Erbes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1801368" y="5954572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Walker Insurance Agency, Inc.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3630168" y="59545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57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4224528" y="59545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4818888" y="59545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10.5%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5413248" y="5954572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246888" y="6194145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Nick Lobodiuk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801368" y="6194145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Aic Insurance Agency Llc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3630168" y="6194145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46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4224528" y="6194145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4818888" y="6194145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17.4%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5413248" y="6194145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136" name="Rectangle 135"/>
          <p:cNvSpPr/>
          <p:nvPr/>
        </p:nvSpPr>
        <p:spPr>
          <a:xfrm>
            <a:off x="6245352" y="1536192"/>
            <a:ext cx="576072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TextBox 136"/>
          <p:cNvSpPr txBox="1"/>
          <p:nvPr/>
        </p:nvSpPr>
        <p:spPr>
          <a:xfrm>
            <a:off x="6355080" y="1572768"/>
            <a:ext cx="5577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CONTINUED  —  Ranked 19–36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6355080" y="1874519"/>
            <a:ext cx="15544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Agent Name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7909560" y="1874519"/>
            <a:ext cx="18288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9738360" y="1874519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10332720" y="1874519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10927080" y="1874519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Hit %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11521440" y="1874519"/>
            <a:ext cx="457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MoM</a:t>
            </a:r>
          </a:p>
        </p:txBody>
      </p:sp>
      <p:sp>
        <p:nvSpPr>
          <p:cNvPr id="144" name="Rectangle 143"/>
          <p:cNvSpPr/>
          <p:nvPr/>
        </p:nvSpPr>
        <p:spPr>
          <a:xfrm>
            <a:off x="6291072" y="2048255"/>
            <a:ext cx="5650992" cy="5486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Rectangle 144"/>
          <p:cNvSpPr/>
          <p:nvPr/>
        </p:nvSpPr>
        <p:spPr>
          <a:xfrm>
            <a:off x="6245352" y="2103120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TextBox 145"/>
          <p:cNvSpPr txBox="1"/>
          <p:nvPr/>
        </p:nvSpPr>
        <p:spPr>
          <a:xfrm>
            <a:off x="6355080" y="2121408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Veniamin Omelko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7909560" y="2121408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Aic Insurance Agency Llc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9738360" y="21214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39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10332720" y="21214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10927080" y="21214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11521440" y="2121408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6355080" y="2360980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No Given Name Rahul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7909560" y="2360980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A.s.i.a Inc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9738360" y="236098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36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10332720" y="236098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10927080" y="236098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2.8%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11521440" y="2360980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158" name="Rectangle 157"/>
          <p:cNvSpPr/>
          <p:nvPr/>
        </p:nvSpPr>
        <p:spPr>
          <a:xfrm>
            <a:off x="6245352" y="2582265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TextBox 158"/>
          <p:cNvSpPr txBox="1"/>
          <p:nvPr/>
        </p:nvSpPr>
        <p:spPr>
          <a:xfrm>
            <a:off x="6355080" y="2600553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Sukhnek Bahia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7909560" y="2600553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West Reliance Insurance Broker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9738360" y="260055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36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10332720" y="260055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10927080" y="260055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8.3%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11521440" y="2600553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355080" y="2840126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Tanya Golovina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7909560" y="2840126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Aic Insurance Agency Llc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9738360" y="284012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10332720" y="284012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10927080" y="284012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25.7%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11521440" y="2840126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6245352" y="3061411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6355080" y="3079699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Grigoriy Gasan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7909560" y="3079699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Aic Insurance Agency Llc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9738360" y="3079699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10332720" y="3079699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10927080" y="3079699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11521440" y="3079699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6355080" y="3319272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Josh Thomas</a:t>
            </a:r>
          </a:p>
        </p:txBody>
      </p:sp>
      <p:sp>
        <p:nvSpPr>
          <p:cNvPr id="179" name="TextBox 178"/>
          <p:cNvSpPr txBox="1"/>
          <p:nvPr/>
        </p:nvSpPr>
        <p:spPr>
          <a:xfrm>
            <a:off x="7909560" y="3319272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Network Truck Insurance Servic</a:t>
            </a:r>
          </a:p>
        </p:txBody>
      </p:sp>
      <p:sp>
        <p:nvSpPr>
          <p:cNvPr id="180" name="TextBox 179"/>
          <p:cNvSpPr txBox="1"/>
          <p:nvPr/>
        </p:nvSpPr>
        <p:spPr>
          <a:xfrm>
            <a:off x="9738360" y="33192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10332720" y="33192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10927080" y="33192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11521440" y="3319272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184" name="Rectangle 183"/>
          <p:cNvSpPr/>
          <p:nvPr/>
        </p:nvSpPr>
        <p:spPr>
          <a:xfrm>
            <a:off x="6245352" y="3540556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" name="TextBox 184"/>
          <p:cNvSpPr txBox="1"/>
          <p:nvPr/>
        </p:nvSpPr>
        <p:spPr>
          <a:xfrm>
            <a:off x="6355080" y="3558844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KAVI Singh</a:t>
            </a:r>
          </a:p>
        </p:txBody>
      </p:sp>
      <p:sp>
        <p:nvSpPr>
          <p:cNvPr id="186" name="TextBox 185"/>
          <p:cNvSpPr txBox="1"/>
          <p:nvPr/>
        </p:nvSpPr>
        <p:spPr>
          <a:xfrm>
            <a:off x="7909560" y="3558844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Kavi.llc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9738360" y="355884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34</a:t>
            </a:r>
          </a:p>
        </p:txBody>
      </p:sp>
      <p:sp>
        <p:nvSpPr>
          <p:cNvPr id="188" name="TextBox 187"/>
          <p:cNvSpPr txBox="1"/>
          <p:nvPr/>
        </p:nvSpPr>
        <p:spPr>
          <a:xfrm>
            <a:off x="10332720" y="355884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89" name="TextBox 188"/>
          <p:cNvSpPr txBox="1"/>
          <p:nvPr/>
        </p:nvSpPr>
        <p:spPr>
          <a:xfrm>
            <a:off x="10927080" y="355884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20.6%</a:t>
            </a:r>
          </a:p>
        </p:txBody>
      </p:sp>
      <p:sp>
        <p:nvSpPr>
          <p:cNvPr id="190" name="TextBox 189"/>
          <p:cNvSpPr txBox="1"/>
          <p:nvPr/>
        </p:nvSpPr>
        <p:spPr>
          <a:xfrm>
            <a:off x="11521440" y="3558844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191" name="TextBox 190"/>
          <p:cNvSpPr txBox="1"/>
          <p:nvPr/>
        </p:nvSpPr>
        <p:spPr>
          <a:xfrm>
            <a:off x="6355080" y="3798417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PABLO ROMAN</a:t>
            </a:r>
          </a:p>
        </p:txBody>
      </p:sp>
      <p:sp>
        <p:nvSpPr>
          <p:cNvPr id="192" name="TextBox 191"/>
          <p:cNvSpPr txBox="1"/>
          <p:nvPr/>
        </p:nvSpPr>
        <p:spPr>
          <a:xfrm>
            <a:off x="7909560" y="3798417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Berrier Insurance Agency, Inc.</a:t>
            </a:r>
          </a:p>
        </p:txBody>
      </p:sp>
      <p:sp>
        <p:nvSpPr>
          <p:cNvPr id="193" name="TextBox 192"/>
          <p:cNvSpPr txBox="1"/>
          <p:nvPr/>
        </p:nvSpPr>
        <p:spPr>
          <a:xfrm>
            <a:off x="9738360" y="379841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34</a:t>
            </a:r>
          </a:p>
        </p:txBody>
      </p:sp>
      <p:sp>
        <p:nvSpPr>
          <p:cNvPr id="194" name="TextBox 193"/>
          <p:cNvSpPr txBox="1"/>
          <p:nvPr/>
        </p:nvSpPr>
        <p:spPr>
          <a:xfrm>
            <a:off x="10332720" y="379841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95" name="TextBox 194"/>
          <p:cNvSpPr txBox="1"/>
          <p:nvPr/>
        </p:nvSpPr>
        <p:spPr>
          <a:xfrm>
            <a:off x="10927080" y="379841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8.8%</a:t>
            </a:r>
          </a:p>
        </p:txBody>
      </p:sp>
      <p:sp>
        <p:nvSpPr>
          <p:cNvPr id="196" name="TextBox 195"/>
          <p:cNvSpPr txBox="1"/>
          <p:nvPr/>
        </p:nvSpPr>
        <p:spPr>
          <a:xfrm>
            <a:off x="11521440" y="3798417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197" name="Rectangle 196"/>
          <p:cNvSpPr/>
          <p:nvPr/>
        </p:nvSpPr>
        <p:spPr>
          <a:xfrm>
            <a:off x="6245352" y="4019702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8" name="TextBox 197"/>
          <p:cNvSpPr txBox="1"/>
          <p:nvPr/>
        </p:nvSpPr>
        <p:spPr>
          <a:xfrm>
            <a:off x="6355080" y="4037990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Karmjit Bahia</a:t>
            </a:r>
          </a:p>
        </p:txBody>
      </p:sp>
      <p:sp>
        <p:nvSpPr>
          <p:cNvPr id="199" name="TextBox 198"/>
          <p:cNvSpPr txBox="1"/>
          <p:nvPr/>
        </p:nvSpPr>
        <p:spPr>
          <a:xfrm>
            <a:off x="7909560" y="4037990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Key Insurance</a:t>
            </a:r>
          </a:p>
        </p:txBody>
      </p:sp>
      <p:sp>
        <p:nvSpPr>
          <p:cNvPr id="200" name="TextBox 199"/>
          <p:cNvSpPr txBox="1"/>
          <p:nvPr/>
        </p:nvSpPr>
        <p:spPr>
          <a:xfrm>
            <a:off x="9738360" y="403799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201" name="TextBox 200"/>
          <p:cNvSpPr txBox="1"/>
          <p:nvPr/>
        </p:nvSpPr>
        <p:spPr>
          <a:xfrm>
            <a:off x="10332720" y="403799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202" name="TextBox 201"/>
          <p:cNvSpPr txBox="1"/>
          <p:nvPr/>
        </p:nvSpPr>
        <p:spPr>
          <a:xfrm>
            <a:off x="10927080" y="403799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3.1%</a:t>
            </a:r>
          </a:p>
        </p:txBody>
      </p:sp>
      <p:sp>
        <p:nvSpPr>
          <p:cNvPr id="203" name="TextBox 202"/>
          <p:cNvSpPr txBox="1"/>
          <p:nvPr/>
        </p:nvSpPr>
        <p:spPr>
          <a:xfrm>
            <a:off x="11521440" y="4037990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204" name="TextBox 203"/>
          <p:cNvSpPr txBox="1"/>
          <p:nvPr/>
        </p:nvSpPr>
        <p:spPr>
          <a:xfrm>
            <a:off x="6355080" y="4277563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Brandon Fagliano</a:t>
            </a:r>
          </a:p>
        </p:txBody>
      </p:sp>
      <p:sp>
        <p:nvSpPr>
          <p:cNvPr id="205" name="TextBox 204"/>
          <p:cNvSpPr txBox="1"/>
          <p:nvPr/>
        </p:nvSpPr>
        <p:spPr>
          <a:xfrm>
            <a:off x="7909560" y="4277563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Network Truck Insurance Servic</a:t>
            </a:r>
          </a:p>
        </p:txBody>
      </p:sp>
      <p:sp>
        <p:nvSpPr>
          <p:cNvPr id="206" name="TextBox 205"/>
          <p:cNvSpPr txBox="1"/>
          <p:nvPr/>
        </p:nvSpPr>
        <p:spPr>
          <a:xfrm>
            <a:off x="9738360" y="427756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207" name="TextBox 206"/>
          <p:cNvSpPr txBox="1"/>
          <p:nvPr/>
        </p:nvSpPr>
        <p:spPr>
          <a:xfrm>
            <a:off x="10332720" y="427756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208" name="TextBox 207"/>
          <p:cNvSpPr txBox="1"/>
          <p:nvPr/>
        </p:nvSpPr>
        <p:spPr>
          <a:xfrm>
            <a:off x="10927080" y="427756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3.6%</a:t>
            </a:r>
          </a:p>
        </p:txBody>
      </p:sp>
      <p:sp>
        <p:nvSpPr>
          <p:cNvPr id="209" name="TextBox 208"/>
          <p:cNvSpPr txBox="1"/>
          <p:nvPr/>
        </p:nvSpPr>
        <p:spPr>
          <a:xfrm>
            <a:off x="11521440" y="4277563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210" name="Rectangle 209"/>
          <p:cNvSpPr/>
          <p:nvPr/>
        </p:nvSpPr>
        <p:spPr>
          <a:xfrm>
            <a:off x="6245352" y="4498848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1" name="TextBox 210"/>
          <p:cNvSpPr txBox="1"/>
          <p:nvPr/>
        </p:nvSpPr>
        <p:spPr>
          <a:xfrm>
            <a:off x="6355080" y="4517136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No Name Given Sandeep Ku</a:t>
            </a:r>
          </a:p>
        </p:txBody>
      </p:sp>
      <p:sp>
        <p:nvSpPr>
          <p:cNvPr id="212" name="TextBox 211"/>
          <p:cNvSpPr txBox="1"/>
          <p:nvPr/>
        </p:nvSpPr>
        <p:spPr>
          <a:xfrm>
            <a:off x="7909560" y="4517136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A.s.i.a Inc</a:t>
            </a:r>
          </a:p>
        </p:txBody>
      </p:sp>
      <p:sp>
        <p:nvSpPr>
          <p:cNvPr id="213" name="TextBox 212"/>
          <p:cNvSpPr txBox="1"/>
          <p:nvPr/>
        </p:nvSpPr>
        <p:spPr>
          <a:xfrm>
            <a:off x="9738360" y="451713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214" name="TextBox 213"/>
          <p:cNvSpPr txBox="1"/>
          <p:nvPr/>
        </p:nvSpPr>
        <p:spPr>
          <a:xfrm>
            <a:off x="10332720" y="451713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215" name="TextBox 214"/>
          <p:cNvSpPr txBox="1"/>
          <p:nvPr/>
        </p:nvSpPr>
        <p:spPr>
          <a:xfrm>
            <a:off x="10927080" y="451713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4.2%</a:t>
            </a:r>
          </a:p>
        </p:txBody>
      </p:sp>
      <p:sp>
        <p:nvSpPr>
          <p:cNvPr id="216" name="TextBox 215"/>
          <p:cNvSpPr txBox="1"/>
          <p:nvPr/>
        </p:nvSpPr>
        <p:spPr>
          <a:xfrm>
            <a:off x="11521440" y="4517136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217" name="TextBox 216"/>
          <p:cNvSpPr txBox="1"/>
          <p:nvPr/>
        </p:nvSpPr>
        <p:spPr>
          <a:xfrm>
            <a:off x="6355080" y="4756708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Matthew Munoz</a:t>
            </a:r>
          </a:p>
        </p:txBody>
      </p:sp>
      <p:sp>
        <p:nvSpPr>
          <p:cNvPr id="218" name="TextBox 217"/>
          <p:cNvSpPr txBox="1"/>
          <p:nvPr/>
        </p:nvSpPr>
        <p:spPr>
          <a:xfrm>
            <a:off x="7909560" y="4756708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Berrier Insurance Agency, Inc.</a:t>
            </a:r>
          </a:p>
        </p:txBody>
      </p:sp>
      <p:sp>
        <p:nvSpPr>
          <p:cNvPr id="219" name="TextBox 218"/>
          <p:cNvSpPr txBox="1"/>
          <p:nvPr/>
        </p:nvSpPr>
        <p:spPr>
          <a:xfrm>
            <a:off x="9738360" y="47567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220" name="TextBox 219"/>
          <p:cNvSpPr txBox="1"/>
          <p:nvPr/>
        </p:nvSpPr>
        <p:spPr>
          <a:xfrm>
            <a:off x="10332720" y="47567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21" name="TextBox 220"/>
          <p:cNvSpPr txBox="1"/>
          <p:nvPr/>
        </p:nvSpPr>
        <p:spPr>
          <a:xfrm>
            <a:off x="10927080" y="47567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222" name="TextBox 221"/>
          <p:cNvSpPr txBox="1"/>
          <p:nvPr/>
        </p:nvSpPr>
        <p:spPr>
          <a:xfrm>
            <a:off x="11521440" y="4756708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223" name="Rectangle 222"/>
          <p:cNvSpPr/>
          <p:nvPr/>
        </p:nvSpPr>
        <p:spPr>
          <a:xfrm>
            <a:off x="6245352" y="4977993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4" name="TextBox 223"/>
          <p:cNvSpPr txBox="1"/>
          <p:nvPr/>
        </p:nvSpPr>
        <p:spPr>
          <a:xfrm>
            <a:off x="6355080" y="4996281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Omar Morquecho</a:t>
            </a:r>
          </a:p>
        </p:txBody>
      </p:sp>
      <p:sp>
        <p:nvSpPr>
          <p:cNvPr id="225" name="TextBox 224"/>
          <p:cNvSpPr txBox="1"/>
          <p:nvPr/>
        </p:nvSpPr>
        <p:spPr>
          <a:xfrm>
            <a:off x="7909560" y="4996281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Monumental Insurance Services,</a:t>
            </a:r>
          </a:p>
        </p:txBody>
      </p:sp>
      <p:sp>
        <p:nvSpPr>
          <p:cNvPr id="226" name="TextBox 225"/>
          <p:cNvSpPr txBox="1"/>
          <p:nvPr/>
        </p:nvSpPr>
        <p:spPr>
          <a:xfrm>
            <a:off x="9738360" y="4996281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227" name="TextBox 226"/>
          <p:cNvSpPr txBox="1"/>
          <p:nvPr/>
        </p:nvSpPr>
        <p:spPr>
          <a:xfrm>
            <a:off x="10332720" y="4996281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228" name="TextBox 227"/>
          <p:cNvSpPr txBox="1"/>
          <p:nvPr/>
        </p:nvSpPr>
        <p:spPr>
          <a:xfrm>
            <a:off x="10927080" y="4996281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4.2%</a:t>
            </a:r>
          </a:p>
        </p:txBody>
      </p:sp>
      <p:sp>
        <p:nvSpPr>
          <p:cNvPr id="229" name="TextBox 228"/>
          <p:cNvSpPr txBox="1"/>
          <p:nvPr/>
        </p:nvSpPr>
        <p:spPr>
          <a:xfrm>
            <a:off x="11521440" y="4996281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B7280"/>
                </a:solidFill>
                <a:latin typeface="Segoe UI"/>
              </a:defRPr>
            </a:pPr>
            <a:r>
              <a:t>→</a:t>
            </a:r>
          </a:p>
        </p:txBody>
      </p:sp>
      <p:sp>
        <p:nvSpPr>
          <p:cNvPr id="230" name="TextBox 229"/>
          <p:cNvSpPr txBox="1"/>
          <p:nvPr/>
        </p:nvSpPr>
        <p:spPr>
          <a:xfrm>
            <a:off x="6355080" y="5235854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Chris Del Pozzo</a:t>
            </a:r>
          </a:p>
        </p:txBody>
      </p:sp>
      <p:sp>
        <p:nvSpPr>
          <p:cNvPr id="231" name="TextBox 230"/>
          <p:cNvSpPr txBox="1"/>
          <p:nvPr/>
        </p:nvSpPr>
        <p:spPr>
          <a:xfrm>
            <a:off x="7909560" y="5235854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Network Truck Insurance Servic</a:t>
            </a:r>
          </a:p>
        </p:txBody>
      </p:sp>
      <p:sp>
        <p:nvSpPr>
          <p:cNvPr id="232" name="TextBox 231"/>
          <p:cNvSpPr txBox="1"/>
          <p:nvPr/>
        </p:nvSpPr>
        <p:spPr>
          <a:xfrm>
            <a:off x="9738360" y="523585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233" name="TextBox 232"/>
          <p:cNvSpPr txBox="1"/>
          <p:nvPr/>
        </p:nvSpPr>
        <p:spPr>
          <a:xfrm>
            <a:off x="10332720" y="523585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34" name="TextBox 233"/>
          <p:cNvSpPr txBox="1"/>
          <p:nvPr/>
        </p:nvSpPr>
        <p:spPr>
          <a:xfrm>
            <a:off x="10927080" y="523585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235" name="TextBox 234"/>
          <p:cNvSpPr txBox="1"/>
          <p:nvPr/>
        </p:nvSpPr>
        <p:spPr>
          <a:xfrm>
            <a:off x="11521440" y="5235854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236" name="Rectangle 235"/>
          <p:cNvSpPr/>
          <p:nvPr/>
        </p:nvSpPr>
        <p:spPr>
          <a:xfrm>
            <a:off x="6245352" y="5457139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7" name="TextBox 236"/>
          <p:cNvSpPr txBox="1"/>
          <p:nvPr/>
        </p:nvSpPr>
        <p:spPr>
          <a:xfrm>
            <a:off x="6355080" y="5475427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Andrei Omelco</a:t>
            </a:r>
          </a:p>
        </p:txBody>
      </p:sp>
      <p:sp>
        <p:nvSpPr>
          <p:cNvPr id="238" name="TextBox 237"/>
          <p:cNvSpPr txBox="1"/>
          <p:nvPr/>
        </p:nvSpPr>
        <p:spPr>
          <a:xfrm>
            <a:off x="7909560" y="5475427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Aic Insurance Agency Llc</a:t>
            </a:r>
          </a:p>
        </p:txBody>
      </p:sp>
      <p:sp>
        <p:nvSpPr>
          <p:cNvPr id="239" name="TextBox 238"/>
          <p:cNvSpPr txBox="1"/>
          <p:nvPr/>
        </p:nvSpPr>
        <p:spPr>
          <a:xfrm>
            <a:off x="9738360" y="547542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240" name="TextBox 239"/>
          <p:cNvSpPr txBox="1"/>
          <p:nvPr/>
        </p:nvSpPr>
        <p:spPr>
          <a:xfrm>
            <a:off x="10332720" y="547542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241" name="TextBox 240"/>
          <p:cNvSpPr txBox="1"/>
          <p:nvPr/>
        </p:nvSpPr>
        <p:spPr>
          <a:xfrm>
            <a:off x="10927080" y="547542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13.0%</a:t>
            </a:r>
          </a:p>
        </p:txBody>
      </p:sp>
      <p:sp>
        <p:nvSpPr>
          <p:cNvPr id="242" name="TextBox 241"/>
          <p:cNvSpPr txBox="1"/>
          <p:nvPr/>
        </p:nvSpPr>
        <p:spPr>
          <a:xfrm>
            <a:off x="11521440" y="5475427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243" name="TextBox 242"/>
          <p:cNvSpPr txBox="1"/>
          <p:nvPr/>
        </p:nvSpPr>
        <p:spPr>
          <a:xfrm>
            <a:off x="6355080" y="5715000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Brian Nicosia</a:t>
            </a:r>
          </a:p>
        </p:txBody>
      </p:sp>
      <p:sp>
        <p:nvSpPr>
          <p:cNvPr id="244" name="TextBox 243"/>
          <p:cNvSpPr txBox="1"/>
          <p:nvPr/>
        </p:nvSpPr>
        <p:spPr>
          <a:xfrm>
            <a:off x="7909560" y="5715000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Network Truck Insurance Servic</a:t>
            </a:r>
          </a:p>
        </p:txBody>
      </p:sp>
      <p:sp>
        <p:nvSpPr>
          <p:cNvPr id="245" name="TextBox 244"/>
          <p:cNvSpPr txBox="1"/>
          <p:nvPr/>
        </p:nvSpPr>
        <p:spPr>
          <a:xfrm>
            <a:off x="9738360" y="571500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246" name="TextBox 245"/>
          <p:cNvSpPr txBox="1"/>
          <p:nvPr/>
        </p:nvSpPr>
        <p:spPr>
          <a:xfrm>
            <a:off x="10332720" y="571500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47" name="TextBox 246"/>
          <p:cNvSpPr txBox="1"/>
          <p:nvPr/>
        </p:nvSpPr>
        <p:spPr>
          <a:xfrm>
            <a:off x="10927080" y="571500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248" name="TextBox 247"/>
          <p:cNvSpPr txBox="1"/>
          <p:nvPr/>
        </p:nvSpPr>
        <p:spPr>
          <a:xfrm>
            <a:off x="11521440" y="5715000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249" name="Rectangle 248"/>
          <p:cNvSpPr/>
          <p:nvPr/>
        </p:nvSpPr>
        <p:spPr>
          <a:xfrm>
            <a:off x="6245352" y="5936284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0" name="TextBox 249"/>
          <p:cNvSpPr txBox="1"/>
          <p:nvPr/>
        </p:nvSpPr>
        <p:spPr>
          <a:xfrm>
            <a:off x="6355080" y="5954572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KRISHNA DAND</a:t>
            </a:r>
          </a:p>
        </p:txBody>
      </p:sp>
      <p:sp>
        <p:nvSpPr>
          <p:cNvPr id="251" name="TextBox 250"/>
          <p:cNvSpPr txBox="1"/>
          <p:nvPr/>
        </p:nvSpPr>
        <p:spPr>
          <a:xfrm>
            <a:off x="7909560" y="5954572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Berrier Insurance Agency, Inc.</a:t>
            </a:r>
          </a:p>
        </p:txBody>
      </p:sp>
      <p:sp>
        <p:nvSpPr>
          <p:cNvPr id="252" name="TextBox 251"/>
          <p:cNvSpPr txBox="1"/>
          <p:nvPr/>
        </p:nvSpPr>
        <p:spPr>
          <a:xfrm>
            <a:off x="9738360" y="59545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253" name="TextBox 252"/>
          <p:cNvSpPr txBox="1"/>
          <p:nvPr/>
        </p:nvSpPr>
        <p:spPr>
          <a:xfrm>
            <a:off x="10332720" y="59545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254" name="TextBox 253"/>
          <p:cNvSpPr txBox="1"/>
          <p:nvPr/>
        </p:nvSpPr>
        <p:spPr>
          <a:xfrm>
            <a:off x="10927080" y="59545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5.9%</a:t>
            </a:r>
          </a:p>
        </p:txBody>
      </p:sp>
      <p:sp>
        <p:nvSpPr>
          <p:cNvPr id="255" name="TextBox 254"/>
          <p:cNvSpPr txBox="1"/>
          <p:nvPr/>
        </p:nvSpPr>
        <p:spPr>
          <a:xfrm>
            <a:off x="11521440" y="5954572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256" name="TextBox 255"/>
          <p:cNvSpPr txBox="1"/>
          <p:nvPr/>
        </p:nvSpPr>
        <p:spPr>
          <a:xfrm>
            <a:off x="6355080" y="6194145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Parmpaul Thandi</a:t>
            </a:r>
          </a:p>
        </p:txBody>
      </p:sp>
      <p:sp>
        <p:nvSpPr>
          <p:cNvPr id="257" name="TextBox 256"/>
          <p:cNvSpPr txBox="1"/>
          <p:nvPr/>
        </p:nvSpPr>
        <p:spPr>
          <a:xfrm>
            <a:off x="7909560" y="6194145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Soho Insurance Brokerage, Inc.</a:t>
            </a:r>
          </a:p>
        </p:txBody>
      </p:sp>
      <p:sp>
        <p:nvSpPr>
          <p:cNvPr id="258" name="TextBox 257"/>
          <p:cNvSpPr txBox="1"/>
          <p:nvPr/>
        </p:nvSpPr>
        <p:spPr>
          <a:xfrm>
            <a:off x="9738360" y="6194145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259" name="TextBox 258"/>
          <p:cNvSpPr txBox="1"/>
          <p:nvPr/>
        </p:nvSpPr>
        <p:spPr>
          <a:xfrm>
            <a:off x="10332720" y="6194145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60" name="TextBox 259"/>
          <p:cNvSpPr txBox="1"/>
          <p:nvPr/>
        </p:nvSpPr>
        <p:spPr>
          <a:xfrm>
            <a:off x="10927080" y="6194145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261" name="TextBox 260"/>
          <p:cNvSpPr txBox="1"/>
          <p:nvPr/>
        </p:nvSpPr>
        <p:spPr>
          <a:xfrm>
            <a:off x="11521440" y="6194145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262" name="TextBox 261"/>
          <p:cNvSpPr txBox="1"/>
          <p:nvPr/>
        </p:nvSpPr>
        <p:spPr>
          <a:xfrm>
            <a:off x="274320" y="6510528"/>
            <a:ext cx="11704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6B7280"/>
                </a:solidFill>
                <a:latin typeface="Segoe UI"/>
              </a:defRPr>
            </a:pPr>
            <a:r>
              <a:t>Source: Metabase  |  Agent = broker_contact_user_id on submission record  |  Hit ratio = binds / subs  |  MoM = month-over-month  |  2 subs had no agent mapped (broker_contact_user_id not set)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Top Performers vs Underperformers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Jan–May 2026  |  Standouts and agencies needing attention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914400"/>
            <a:ext cx="5486400" cy="329184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960120"/>
            <a:ext cx="52120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65F46"/>
                </a:solidFill>
                <a:latin typeface="Segoe UI"/>
              </a:defRPr>
            </a:pPr>
            <a:r>
              <a:t>EXCEEDING — Top 5</a:t>
            </a:r>
          </a:p>
        </p:txBody>
      </p:sp>
      <p:sp>
        <p:nvSpPr>
          <p:cNvPr id="7" name="Rectangle 6"/>
          <p:cNvSpPr/>
          <p:nvPr/>
        </p:nvSpPr>
        <p:spPr>
          <a:xfrm>
            <a:off x="6336792" y="914400"/>
            <a:ext cx="5486400" cy="329184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73952" y="960120"/>
            <a:ext cx="52120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991B1B"/>
                </a:solidFill>
                <a:latin typeface="Segoe UI"/>
              </a:defRPr>
            </a:pPr>
            <a:r>
              <a:t>NEEDS ATTENTION — Bottom 5</a:t>
            </a:r>
          </a:p>
        </p:txBody>
      </p:sp>
      <p:sp>
        <p:nvSpPr>
          <p:cNvPr id="9" name="Rectangle 8"/>
          <p:cNvSpPr/>
          <p:nvPr/>
        </p:nvSpPr>
        <p:spPr>
          <a:xfrm>
            <a:off x="411480" y="1371600"/>
            <a:ext cx="365760" cy="36576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135331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A.s.i.a Inc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155448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$1,993,074  |  Subs 918  |  Binds 63  |  HR 6.9%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179222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65F46"/>
                </a:solidFill>
                <a:latin typeface="Segoe UI"/>
              </a:defRPr>
            </a:pPr>
            <a:r>
              <a:t>Hit ratio 6.9% (portfolio avg: 6.5%)  |  $1,993,074 YTD GWP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11480" y="2377440"/>
            <a:ext cx="365760" cy="36576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235915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Truckers Insurance Services Llc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" y="256032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$848,152  |  Subs 351  |  Binds 29  |  HR 8.3%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279806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65F46"/>
                </a:solidFill>
                <a:latin typeface="Segoe UI"/>
              </a:defRPr>
            </a:pPr>
            <a:r>
              <a:t>Hit ratio 8.3% (portfolio avg: 6.5%)  |  $848,152 YTD GWP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11480" y="3383280"/>
            <a:ext cx="365760" cy="36576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68680" y="336499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Aic Insurance Agency Llc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" y="356616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$642,423  |  Subs 390  |  Binds 32  |  HR 8.2%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8680" y="380390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65F46"/>
                </a:solidFill>
                <a:latin typeface="Segoe UI"/>
              </a:defRPr>
            </a:pPr>
            <a:r>
              <a:t>Hit ratio 8.2% (portfolio avg: 6.5%)  |  $642,423 YTD GWP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11480" y="4389120"/>
            <a:ext cx="365760" cy="36576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68680" y="437083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Roadways Commercial Insurance Services Inc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68680" y="457200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$1,042,624  |  Subs 127  |  Binds 19  |  HR 15.0%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68680" y="480974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65F46"/>
                </a:solidFill>
                <a:latin typeface="Segoe UI"/>
              </a:defRPr>
            </a:pPr>
            <a:r>
              <a:t>Hit ratio 15.0% (portfolio avg: 6.5%)  |  $1,042,624 YTD GWP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11480" y="5394960"/>
            <a:ext cx="365760" cy="36576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68680" y="537667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Stellar Management, Inc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68680" y="557784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$683,913  |  Subs 867  |  Binds 24  |  HR 2.8%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68680" y="581558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65F46"/>
                </a:solidFill>
                <a:latin typeface="Segoe UI"/>
              </a:defRPr>
            </a:pPr>
            <a:r>
              <a:t>$683,913 YTD GWP  |  24 binds in Q1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382512" y="1371600"/>
            <a:ext cx="365760" cy="36576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839712" y="135331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Soho Insurance Brokerage, Inc.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839712" y="155448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$183,854  |  Subs 16  |  Binds 0  |  HR 0.0%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839712" y="179222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91B1B"/>
                </a:solidFill>
                <a:latin typeface="Segoe UI"/>
              </a:defRPr>
            </a:pPr>
            <a:r>
              <a:t>16 submissions with 0 binds - zero conversion  |  Cancellations are 121% of new business ($86,414 vs $71,427)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382512" y="2377440"/>
            <a:ext cx="365760" cy="36576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2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839712" y="235915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Amerigo Insurance Agency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839712" y="256032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$194,402  |  Subs 307  |  Binds 5  |  HR 1.6%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839712" y="279806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91B1B"/>
                </a:solidFill>
                <a:latin typeface="Segoe UI"/>
              </a:defRPr>
            </a:pPr>
            <a:r>
              <a:t>Hit ratio only 1.6% on 307 subs  |  Submissions dropped 62% MoM (100 -&gt; 38)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382512" y="3383280"/>
            <a:ext cx="365760" cy="36576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3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839712" y="336499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Pacific Atlantic Insurance Services Inc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839712" y="356616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$320,638  |  Subs 87  |  Binds 9  |  HR 10.3%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839712" y="380390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91B1B"/>
                </a:solidFill>
                <a:latin typeface="Segoe UI"/>
              </a:defRPr>
            </a:pPr>
            <a:r>
              <a:t>Cancellations are 152% of new business ($348,359 vs $228,837)  |  Submissions dropped 79% MoM (34 -&gt; 7)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382512" y="4389120"/>
            <a:ext cx="365760" cy="36576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4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839712" y="437083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J &amp; S Insurance Agency Inc.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39712" y="457200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$51,411  |  Subs 58  |  Binds 3  |  HR 5.2%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839712" y="480974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91B1B"/>
                </a:solidFill>
                <a:latin typeface="Segoe UI"/>
              </a:defRPr>
            </a:pPr>
            <a:r>
              <a:t>Cancellations are 238% of new business ($63,999 vs $26,866)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382512" y="5394960"/>
            <a:ext cx="365760" cy="36576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5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839712" y="537667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Stellar Management, Inc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839712" y="557784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$683,913  |  Subs 867  |  Binds 24  |  HR 2.8%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839712" y="581558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91B1B"/>
                </a:solidFill>
                <a:latin typeface="Segoe UI"/>
              </a:defRPr>
            </a:pPr>
            <a:r>
              <a:t>Hit ratio only 2.8% on 867 subs  |  Cancellations are 98% of new business ($245,545 vs $250,848)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Agencies I Appointed — Alexis Berry-Smith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OKR 4 progress  |  Q2 goal: 4 new producing agencies  |  Source: HubSpot Net New Agency / Activated Won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6576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DC2626"/>
                </a:solidFill>
                <a:latin typeface="Segoe UI"/>
              </a:defRPr>
            </a:pPr>
            <a:r>
              <a:t>0 of 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Q2 OKR 4 PROGRESS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74320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APPOINTED YTD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12064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D28D9"/>
                </a:solidFill>
                <a:latin typeface="Segoe UI"/>
              </a:defRPr>
            </a:pPr>
            <a:r>
              <a:t>—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AVG TIME TO 1ST SUB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498079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D28D9"/>
                </a:solidFill>
                <a:latin typeface="Segoe UI"/>
              </a:defRPr>
            </a:pPr>
            <a:r>
              <a:t>—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AVG TIME TO 1ST BIND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87552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SUBS POST-APPT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1920240"/>
            <a:ext cx="11430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111827"/>
                </a:solidFill>
                <a:latin typeface="Segoe UI"/>
              </a:defRPr>
            </a:pPr>
            <a:r>
              <a:t>Activation: 0/0 appointed agencies have submitted (0%)  •  0/0 have bound (0%)  •  Total bound: 0  •  Total GWP: $0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5760" y="2240280"/>
            <a:ext cx="1143000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75488" y="2276856"/>
            <a:ext cx="112471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APPOINTED AGENCIES (newest first)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2606040"/>
            <a:ext cx="3291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0" y="2606040"/>
            <a:ext cx="1097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Appointed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54880" y="2606040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23560" y="2606040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Days to 1st Sub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903720" y="2606040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0" y="2606040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Days to 1st Bind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4000" y="2606040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3657600"/>
            <a:ext cx="11338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6B7280"/>
                </a:solidFill>
                <a:latin typeface="Segoe UI"/>
              </a:defRPr>
            </a:pPr>
            <a:r>
              <a:t>No Activated Won appointments in this book year-to-date.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65760" y="6492240"/>
            <a:ext cx="11430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B7280"/>
                </a:solidFill>
                <a:latin typeface="Segoe UI"/>
              </a:defRPr>
            </a:pPr>
            <a:r>
              <a:t>OKR 4 source: HubSpot Net New Agency Prospect Pipeline · Activated Won stage · only 'Appointed - ' prefix deals count (matches BD Rep Scoreboard). BDMs scored on count vs goal of 4/quarter.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Strategic Assessment &amp; Priorities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Alexis Berry-Smith Portfolio  |  Jan–May 2026  |  Strengths, gaps, and ranked action items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914400"/>
            <a:ext cx="5486400" cy="365760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960120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371600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71600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Top 3 (A.s.i.a Inc, Roadways Commercial Insur, Truckers Insurance Servic) drive $3,883,850 (45%) of portfolio YTD GWP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682496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1682496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Strong hit ratios: Insurance Mobile Ser (20.2%), Kavi.llc (17.1%), Roadways Commercial  (15.0%)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1993392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1993392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21 agencies converting submissions to bound business in Jan–May 2026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2304288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2304288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4,065 total submissions across 22 active agencies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217920" y="914400"/>
            <a:ext cx="5486400" cy="365760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55080" y="960120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991B1B"/>
                </a:solidFill>
                <a:latin typeface="Segoe UI"/>
              </a:defRPr>
            </a:pPr>
            <a:r>
              <a:t>NEEDS ATTENTION - Areas for Improvement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09359" y="1371600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2240" y="1371600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 agencies submitting but 0 binds (16 subs): Soho Insurance Broke (16)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09359" y="1682496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92240" y="1682496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Low hit ratios need coaching: Amerigo Insurance Ag (1.6%), Stellar Management,  (2.8%), American Continental (3.0%)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65760" y="2926080"/>
            <a:ext cx="11430000" cy="36576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48640" y="297180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FFFFF"/>
                </a:solidFill>
                <a:latin typeface="Segoe UI"/>
              </a:defRPr>
            </a:pPr>
            <a:r>
              <a:t>TOP STRATEGIC PRIORITIES — Ranked by Estimated Impact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74320" y="3429000"/>
            <a:ext cx="365760" cy="36576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7240" y="3410712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Reduce Cancellation Rates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7240" y="363931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4B5563"/>
                </a:solidFill>
                <a:latin typeface="Segoe UI"/>
              </a:defRPr>
            </a:pPr>
            <a:r>
              <a:t>12 agencies with cancellations &gt;40% of new biz: A.s.i.a Inc, Roadways Commercial Insur, Truckers Insurance Servic. $3,336,528 total cancellations - investigate retention.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74320" y="4069080"/>
            <a:ext cx="365760" cy="36576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2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77240" y="4050792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Scale Top Performers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77240" y="427939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4B5563"/>
                </a:solidFill>
                <a:latin typeface="Segoe UI"/>
              </a:defRPr>
            </a:pPr>
            <a:r>
              <a:t>Double down on high-converting agencies: A.s.i.a Inc, Roadways Commercial Insur, Truckers Insurance Servic. Increase submission volume 20% through marketing support and referral incentives.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274320" y="4709160"/>
            <a:ext cx="365760" cy="36576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77240" y="4690872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Improve Low Hit Ratio Agencies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77240" y="491947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4B5563"/>
                </a:solidFill>
                <a:latin typeface="Segoe UI"/>
              </a:defRPr>
            </a:pPr>
            <a:r>
              <a:t>3 agencies with 20+ subs but &lt;3% HR: Amerigo Insurance Ag (1.6%), Stellar Management,  (2.8%), American Continental (3.0%). Conduct submission quality training to lift conversion 2-3 points.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74320" y="5349240"/>
            <a:ext cx="365760" cy="36576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4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77240" y="5330952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Develop High-Volume Growth Candidates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77240" y="555955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4B5563"/>
                </a:solidFill>
                <a:latin typeface="Segoe UI"/>
              </a:defRPr>
            </a:pPr>
            <a:r>
              <a:t>4 agencies with 30+ subs and some binds but &lt;5% HR: Stellar Management,  (867s/24b), Amerigo Insurance Ag (307s/5b), Network Truck Insura (173s/8b). Small HR improvements on large volume = significant premium lift.</a:t>
            </a:r>
          </a:p>
        </p:txBody>
      </p:sp>
      <p:sp>
        <p:nvSpPr>
          <p:cNvPr id="35" name="Rectangle 34"/>
          <p:cNvSpPr/>
          <p:nvPr/>
        </p:nvSpPr>
        <p:spPr>
          <a:xfrm>
            <a:off x="274320" y="5989320"/>
            <a:ext cx="365760" cy="36576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5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77240" y="5971032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Arrest Declining Submission Volume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77240" y="619963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4B5563"/>
                </a:solidFill>
                <a:latin typeface="Segoe UI"/>
              </a:defRPr>
            </a:pPr>
            <a:r>
              <a:t>6 agencies with 50%+ MoM drops: American Continental (19-&gt;5), Amerigo Insurance Ag (100-&gt;38), Grant Line Insurance (31-&gt;9). Investigate root causes.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Recently Bound Submissions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Alexis Berry-Smith  |  Last 25 Bound Submissions  |  264 Total Bound in Portfolio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05840"/>
            <a:ext cx="3657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#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1005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Sub #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28800" y="1005840"/>
            <a:ext cx="29718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800600" y="1005840"/>
            <a:ext cx="28346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Insured (Account)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35240" y="1005840"/>
            <a:ext cx="23774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12680" y="1005840"/>
            <a:ext cx="13258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Premium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338559" y="1005840"/>
            <a:ext cx="13258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Bind Date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1207008"/>
            <a:ext cx="111556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48640" y="1280160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1280160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264385221037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28800" y="1280160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A.s.i.a Inc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00600" y="128016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JAAT BROS TRANSPORT INC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635240" y="1280160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Deepak Goswami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012680" y="128016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$18,389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338559" y="128016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15, 2026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1463040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48640" y="1481328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4400" y="1481328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256437447303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828800" y="1481328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J &amp; S Insurance Agency Inc.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800600" y="1481328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G N CARGO INC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635240" y="1481328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Sandy Gill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12680" y="148132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$13,192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338559" y="148132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15, 2026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48640" y="1682496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4400" y="1682496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261549405262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828800" y="1682496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A.s.i.a Inc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800600" y="1682496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DSP TRANSPORT LLC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635240" y="1682496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Shubham Kamra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012680" y="168249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$62,433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338559" y="168249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14, 2026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57200" y="1865376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48640" y="1883664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14400" y="1883664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264727004017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828800" y="1883664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A.s.i.a Inc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800600" y="1883664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RAIPUR TRANSPORT INC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635240" y="1883664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Deepak Goswami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012680" y="188366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$51,247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1338559" y="188366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14, 2026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48640" y="2084832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14400" y="2084832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259454135454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828800" y="2084832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Stellar Management, Inc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800600" y="2084832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ROYAL STAR LOGISTICS INC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635240" y="2084832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Raman Palta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0012680" y="208483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$187,406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1338559" y="208483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14, 2026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57200" y="2267712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548640" y="2286000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14400" y="2286000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266619538571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828800" y="2286000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A.s.i.a Inc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800600" y="228600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DSR ROADKING INC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7635240" y="2286000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Shubham Kamra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0012680" y="228600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$17,708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1338559" y="228600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13, 2026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48640" y="2487168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914400" y="2487168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256055325042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828800" y="2487168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Roadways Commercial Insurance Serv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800600" y="2487168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GURSHARAN TRANS INC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7635240" y="2487168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Manjit Singh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0012680" y="248716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$54,188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1338559" y="248716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13, 2026</a:t>
            </a:r>
          </a:p>
        </p:txBody>
      </p:sp>
      <p:sp>
        <p:nvSpPr>
          <p:cNvPr id="65" name="Rectangle 64"/>
          <p:cNvSpPr/>
          <p:nvPr/>
        </p:nvSpPr>
        <p:spPr>
          <a:xfrm>
            <a:off x="457200" y="2670048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548640" y="2688336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914400" y="2688336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253511719934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1828800" y="2688336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Aic Insurance Agency Llc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4800600" y="2688336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WILLOW EXPRESS LLC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7635240" y="2688336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Andrei Omelco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0012680" y="268833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$178,034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1338559" y="268833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13, 2026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548640" y="2889504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14400" y="2889504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268004496164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828800" y="2889504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A.s.i.a Inc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800600" y="2889504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AVI CARRIER INC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7635240" y="2889504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Shubham Kamra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10012680" y="288950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$17,963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1338559" y="288950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12, 2026</a:t>
            </a:r>
          </a:p>
        </p:txBody>
      </p:sp>
      <p:sp>
        <p:nvSpPr>
          <p:cNvPr id="80" name="Rectangle 79"/>
          <p:cNvSpPr/>
          <p:nvPr/>
        </p:nvSpPr>
        <p:spPr>
          <a:xfrm>
            <a:off x="457200" y="3072384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548640" y="3090672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914400" y="3090672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268087832012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1828800" y="3090672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A.s.i.a Inc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4800600" y="3090672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PAAK TRANSPORT INC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635240" y="3090672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Baldev Singh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10012680" y="309067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$22,485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11338559" y="309067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12, 2026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548640" y="3291840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914400" y="3291840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262601295613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1828800" y="3291840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Truckers Insurance Services Llc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4800600" y="329184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RANCHO ESTRELLA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635240" y="3291840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Angelica Puente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10012680" y="329184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$17,785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11338559" y="329184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11, 2026</a:t>
            </a:r>
          </a:p>
        </p:txBody>
      </p:sp>
      <p:sp>
        <p:nvSpPr>
          <p:cNvPr id="95" name="Rectangle 94"/>
          <p:cNvSpPr/>
          <p:nvPr/>
        </p:nvSpPr>
        <p:spPr>
          <a:xfrm>
            <a:off x="457200" y="3474720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548640" y="3493008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914400" y="3493008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269118543964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1828800" y="3493008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Insurance Mobile Services, Inc.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4800600" y="3493008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VNT Logistics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7635240" y="3493008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Paul Metlenko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10012680" y="349300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$3,244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11338559" y="349300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11, 2026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548640" y="3694176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914400" y="3694176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255440684904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1828800" y="3694176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Berrier Insurance Agency, Inc.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4800600" y="3694176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Saleem Nuristani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7635240" y="3694176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Elizabeth Ann Wyman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10012680" y="369417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$7,118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11338559" y="369417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11, 2026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457200" y="3877056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548640" y="3895344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914400" y="3895344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253945897228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1828800" y="3895344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Walker Insurance Agency, Inc.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4800600" y="3895344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MY LE TRAN EXPRESS LLC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7635240" y="3895344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Michael Erbes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10012680" y="389534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$61,361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1338559" y="389534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11, 2026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548640" y="4096512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914400" y="4096512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256845583826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1828800" y="4096512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Alex Rue Insurance Agency, Inc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4800600" y="4096512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SIERRA EXPEDITE INC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7635240" y="4096512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Alexander Rue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10012680" y="409651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$11,037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11338559" y="409651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11, 2026</a:t>
            </a:r>
          </a:p>
        </p:txBody>
      </p:sp>
      <p:sp>
        <p:nvSpPr>
          <p:cNvPr id="125" name="Rectangle 124"/>
          <p:cNvSpPr/>
          <p:nvPr/>
        </p:nvSpPr>
        <p:spPr>
          <a:xfrm>
            <a:off x="457200" y="4279392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TextBox 125"/>
          <p:cNvSpPr txBox="1"/>
          <p:nvPr/>
        </p:nvSpPr>
        <p:spPr>
          <a:xfrm>
            <a:off x="548640" y="4297680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914400" y="4297680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269089313102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1828800" y="4297680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A.s.i.a Inc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4800600" y="429768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BHANGU TRUCKLINE LLC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297680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Shubham Kamra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0012680" y="429768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$18,006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11338559" y="429768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09, 2026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548640" y="4498848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914400" y="4498848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263667094634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1828800" y="4498848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Aic Insurance Agency Llc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4800600" y="4498848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LOFTHOUSE SERVICES LLC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7635240" y="4498848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Dmitri Omelco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10012680" y="449884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$17,368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11338559" y="449884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08, 2026</a:t>
            </a:r>
          </a:p>
        </p:txBody>
      </p:sp>
      <p:sp>
        <p:nvSpPr>
          <p:cNvPr id="140" name="Rectangle 139"/>
          <p:cNvSpPr/>
          <p:nvPr/>
        </p:nvSpPr>
        <p:spPr>
          <a:xfrm>
            <a:off x="457200" y="4681728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TextBox 140"/>
          <p:cNvSpPr txBox="1"/>
          <p:nvPr/>
        </p:nvSpPr>
        <p:spPr>
          <a:xfrm>
            <a:off x="548640" y="4700016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914400" y="4700016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266687646807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1828800" y="4700016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Alex Rue Insurance Agency, Inc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4800600" y="4700016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GSV TRUCKLINE INC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7635240" y="4700016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Alexander Rue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10012680" y="470001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$19,603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1338559" y="470001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08, 2026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548640" y="4901184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914400" y="4901184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254119297644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1828800" y="4901184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A.s.i.a Inc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800600" y="4901184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WEST PORT TRUCKING INC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7635240" y="4901184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No Name Given Sandeep Kumar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10012680" y="490118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$10,762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11338559" y="490118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07, 2026</a:t>
            </a:r>
          </a:p>
        </p:txBody>
      </p:sp>
      <p:sp>
        <p:nvSpPr>
          <p:cNvPr id="155" name="Rectangle 154"/>
          <p:cNvSpPr/>
          <p:nvPr/>
        </p:nvSpPr>
        <p:spPr>
          <a:xfrm>
            <a:off x="457200" y="5084064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TextBox 155"/>
          <p:cNvSpPr txBox="1"/>
          <p:nvPr/>
        </p:nvSpPr>
        <p:spPr>
          <a:xfrm>
            <a:off x="548640" y="5102352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914400" y="5102352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268607582047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1828800" y="5102352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A.s.i.a Inc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4800600" y="5102352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FALCON LOGISTICS INC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7635240" y="5102352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Shubham Kamra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10012680" y="510235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$15,536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11338559" y="510235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07, 2026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548640" y="5303520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914400" y="5303520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260386964613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1828800" y="5303520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Roadways Commercial Insurance Serv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4800600" y="530352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GREEN GOLD LOGISTICS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7635240" y="5303520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Manjit Singh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10012680" y="530352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$19,266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11338559" y="530352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07, 2026</a:t>
            </a:r>
          </a:p>
        </p:txBody>
      </p:sp>
      <p:sp>
        <p:nvSpPr>
          <p:cNvPr id="170" name="Rectangle 169"/>
          <p:cNvSpPr/>
          <p:nvPr/>
        </p:nvSpPr>
        <p:spPr>
          <a:xfrm>
            <a:off x="457200" y="5486400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" name="TextBox 170"/>
          <p:cNvSpPr txBox="1"/>
          <p:nvPr/>
        </p:nvSpPr>
        <p:spPr>
          <a:xfrm>
            <a:off x="548640" y="5504688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914400" y="5504688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255494522527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1828800" y="5504688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Insurance Mobile Services, Inc.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4800600" y="5504688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ZAMIN INC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7635240" y="5504688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Paul Metlenko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10012680" y="550468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$23,278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11338559" y="550468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07, 2026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548640" y="5705856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79" name="TextBox 178"/>
          <p:cNvSpPr txBox="1"/>
          <p:nvPr/>
        </p:nvSpPr>
        <p:spPr>
          <a:xfrm>
            <a:off x="914400" y="5705856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253153770016</a:t>
            </a:r>
          </a:p>
        </p:txBody>
      </p:sp>
      <p:sp>
        <p:nvSpPr>
          <p:cNvPr id="180" name="TextBox 179"/>
          <p:cNvSpPr txBox="1"/>
          <p:nvPr/>
        </p:nvSpPr>
        <p:spPr>
          <a:xfrm>
            <a:off x="1828800" y="5705856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Amerigo Insurance Agency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4800600" y="5705856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NIRWAN TRUCKING INC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7635240" y="5705856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Parmjit Dhami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10012680" y="570585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$75,896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11338559" y="570585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07, 2026</a:t>
            </a:r>
          </a:p>
        </p:txBody>
      </p:sp>
      <p:sp>
        <p:nvSpPr>
          <p:cNvPr id="185" name="Rectangle 184"/>
          <p:cNvSpPr/>
          <p:nvPr/>
        </p:nvSpPr>
        <p:spPr>
          <a:xfrm>
            <a:off x="457200" y="5888736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TextBox 185"/>
          <p:cNvSpPr txBox="1"/>
          <p:nvPr/>
        </p:nvSpPr>
        <p:spPr>
          <a:xfrm>
            <a:off x="548640" y="5907024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914400" y="5907024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264376787336</a:t>
            </a:r>
          </a:p>
        </p:txBody>
      </p:sp>
      <p:sp>
        <p:nvSpPr>
          <p:cNvPr id="188" name="TextBox 187"/>
          <p:cNvSpPr txBox="1"/>
          <p:nvPr/>
        </p:nvSpPr>
        <p:spPr>
          <a:xfrm>
            <a:off x="1828800" y="5907024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Aic Insurance Agency Llc</a:t>
            </a:r>
          </a:p>
        </p:txBody>
      </p:sp>
      <p:sp>
        <p:nvSpPr>
          <p:cNvPr id="189" name="TextBox 188"/>
          <p:cNvSpPr txBox="1"/>
          <p:nvPr/>
        </p:nvSpPr>
        <p:spPr>
          <a:xfrm>
            <a:off x="4800600" y="5907024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MC LOGISTICS LLC</a:t>
            </a:r>
          </a:p>
        </p:txBody>
      </p:sp>
      <p:sp>
        <p:nvSpPr>
          <p:cNvPr id="190" name="TextBox 189"/>
          <p:cNvSpPr txBox="1"/>
          <p:nvPr/>
        </p:nvSpPr>
        <p:spPr>
          <a:xfrm>
            <a:off x="7635240" y="5907024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Nick Lobodiuk</a:t>
            </a:r>
          </a:p>
        </p:txBody>
      </p:sp>
      <p:sp>
        <p:nvSpPr>
          <p:cNvPr id="191" name="TextBox 190"/>
          <p:cNvSpPr txBox="1"/>
          <p:nvPr/>
        </p:nvSpPr>
        <p:spPr>
          <a:xfrm>
            <a:off x="10012680" y="590702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$54,713</a:t>
            </a:r>
          </a:p>
        </p:txBody>
      </p:sp>
      <p:sp>
        <p:nvSpPr>
          <p:cNvPr id="192" name="TextBox 191"/>
          <p:cNvSpPr txBox="1"/>
          <p:nvPr/>
        </p:nvSpPr>
        <p:spPr>
          <a:xfrm>
            <a:off x="11338559" y="590702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07, 2026</a:t>
            </a:r>
          </a:p>
        </p:txBody>
      </p:sp>
      <p:sp>
        <p:nvSpPr>
          <p:cNvPr id="193" name="TextBox 192"/>
          <p:cNvSpPr txBox="1"/>
          <p:nvPr/>
        </p:nvSpPr>
        <p:spPr>
          <a:xfrm>
            <a:off x="548640" y="6108192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94" name="TextBox 193"/>
          <p:cNvSpPr txBox="1"/>
          <p:nvPr/>
        </p:nvSpPr>
        <p:spPr>
          <a:xfrm>
            <a:off x="914400" y="6108192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265543659355</a:t>
            </a:r>
          </a:p>
        </p:txBody>
      </p:sp>
      <p:sp>
        <p:nvSpPr>
          <p:cNvPr id="195" name="TextBox 194"/>
          <p:cNvSpPr txBox="1"/>
          <p:nvPr/>
        </p:nvSpPr>
        <p:spPr>
          <a:xfrm>
            <a:off x="1828800" y="6108192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Alex Rue Insurance Agency, Inc</a:t>
            </a:r>
          </a:p>
        </p:txBody>
      </p:sp>
      <p:sp>
        <p:nvSpPr>
          <p:cNvPr id="196" name="TextBox 195"/>
          <p:cNvSpPr txBox="1"/>
          <p:nvPr/>
        </p:nvSpPr>
        <p:spPr>
          <a:xfrm>
            <a:off x="4800600" y="6108192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HUMBLE FREIGHT INC</a:t>
            </a:r>
          </a:p>
        </p:txBody>
      </p:sp>
      <p:sp>
        <p:nvSpPr>
          <p:cNvPr id="197" name="TextBox 196"/>
          <p:cNvSpPr txBox="1"/>
          <p:nvPr/>
        </p:nvSpPr>
        <p:spPr>
          <a:xfrm>
            <a:off x="7635240" y="6108192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Alexander Rue</a:t>
            </a:r>
          </a:p>
        </p:txBody>
      </p:sp>
      <p:sp>
        <p:nvSpPr>
          <p:cNvPr id="198" name="TextBox 197"/>
          <p:cNvSpPr txBox="1"/>
          <p:nvPr/>
        </p:nvSpPr>
        <p:spPr>
          <a:xfrm>
            <a:off x="10012680" y="610819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$949</a:t>
            </a:r>
          </a:p>
        </p:txBody>
      </p:sp>
      <p:sp>
        <p:nvSpPr>
          <p:cNvPr id="199" name="TextBox 198"/>
          <p:cNvSpPr txBox="1"/>
          <p:nvPr/>
        </p:nvSpPr>
        <p:spPr>
          <a:xfrm>
            <a:off x="11338559" y="610819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07, 2026</a:t>
            </a:r>
          </a:p>
        </p:txBody>
      </p:sp>
      <p:sp>
        <p:nvSpPr>
          <p:cNvPr id="200" name="Rectangle 199"/>
          <p:cNvSpPr/>
          <p:nvPr/>
        </p:nvSpPr>
        <p:spPr>
          <a:xfrm>
            <a:off x="548640" y="6345936"/>
            <a:ext cx="11155680" cy="10972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1" name="TextBox 200"/>
          <p:cNvSpPr txBox="1"/>
          <p:nvPr/>
        </p:nvSpPr>
        <p:spPr>
          <a:xfrm>
            <a:off x="548640" y="6400800"/>
            <a:ext cx="78638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Total (Last 25 Submissions)</a:t>
            </a:r>
          </a:p>
        </p:txBody>
      </p:sp>
      <p:sp>
        <p:nvSpPr>
          <p:cNvPr id="202" name="TextBox 201"/>
          <p:cNvSpPr txBox="1"/>
          <p:nvPr/>
        </p:nvSpPr>
        <p:spPr>
          <a:xfrm>
            <a:off x="8412480" y="6400800"/>
            <a:ext cx="1828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$978,967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Renewal Watch — Next 90 Days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Alexis Berry-Smith  |  Active in-force policies expiring through Aug 16, 2026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6576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78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POLICIES UP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74320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6D28D9"/>
                </a:solidFill>
                <a:latin typeface="Segoe UI"/>
              </a:defRPr>
            </a:pPr>
            <a:r>
              <a:t>$1,227,365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PREMIUM AT RISK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12064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DC2626"/>
                </a:solidFill>
                <a:latin typeface="Segoe UI"/>
              </a:defRPr>
            </a:pPr>
            <a:r>
              <a:t>24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EXPIRE ≤30 DAYS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498079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21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31-60 DAYS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87552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33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61-90 DAYS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1993392"/>
            <a:ext cx="1143000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75488" y="2029968"/>
            <a:ext cx="112471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POLICIES EXPIRING (sorted by date — earliest first)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2359152"/>
            <a:ext cx="2377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43200" y="2359152"/>
            <a:ext cx="11887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Sub #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931920" y="2359152"/>
            <a:ext cx="3017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Insured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49440" y="2359152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Exp Date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955279" y="2359152"/>
            <a:ext cx="502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Days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58200" y="2359152"/>
            <a:ext cx="1097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Coverage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555480" y="2359152"/>
            <a:ext cx="13258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881359" y="2359152"/>
            <a:ext cx="502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State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65760" y="2633472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65760" y="2670048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Kavi.llc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743200" y="2670048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251314764657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931920" y="2670048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SHAKTI TRANSPORT INC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49440" y="2670048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2026-05-20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955279" y="2670048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2d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458200" y="2670048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MTC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555480" y="2670048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$2,364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881359" y="2670048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CA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65760" y="2980944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Stellar Management, Inc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743200" y="2980944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259861984730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931920" y="2980944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APPLE LOGISTICS INC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949440" y="2980944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2026-05-20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955279" y="2980944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2d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458200" y="2980944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555480" y="2980944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$20,434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881359" y="2980944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TX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65760" y="3255263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65760" y="3291839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Insurance Mobile Services, Inc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743200" y="3291839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259317538534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931920" y="3291839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Statewide Transportation LLc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949440" y="3291839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2026-05-21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955279" y="3291839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3d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458200" y="3291839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NTL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555480" y="3291839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$750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881359" y="3291839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CA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65760" y="3602735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Amerigo Insurance Agency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743200" y="3602735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255731743785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931920" y="3602735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LALA TRUCKLINE INC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949440" y="3602735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2026-05-22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955279" y="3602735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4d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458200" y="3602735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555480" y="3602735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$49,709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0881359" y="3602735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CA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77055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913631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Aic Insurance Agency Llc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2743200" y="3913631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257927661214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3931920" y="3913631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FSS TRANSPORTATION LLC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949440" y="3913631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2026-05-24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955279" y="3913631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6d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458200" y="3913631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TGL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555480" y="3913631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$41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0881359" y="3913631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GA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365760" y="4224527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Stellar Management, Inc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743200" y="4224527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254012839166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931920" y="4224527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MAHADEV EXPRESS INC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6949440" y="4224527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2026-05-24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7955279" y="4224527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6d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8458200" y="4224527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9555480" y="4224527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$20,813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0881359" y="4224527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CA</a:t>
            </a:r>
          </a:p>
        </p:txBody>
      </p:sp>
      <p:sp>
        <p:nvSpPr>
          <p:cNvPr id="71" name="Rectangle 70"/>
          <p:cNvSpPr/>
          <p:nvPr/>
        </p:nvSpPr>
        <p:spPr>
          <a:xfrm>
            <a:off x="365760" y="4498847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365760" y="4535423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A.s.i.a Inc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2743200" y="4535423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258745982517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3931920" y="4535423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HANDA TRUCKING INC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6949440" y="4535423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2026-05-24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7955279" y="4535423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6d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8458200" y="4535423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9555480" y="4535423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$30,652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0881359" y="4535423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OR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365760" y="4846319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Kavi.llc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2743200" y="4846319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259325078093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3931920" y="4846319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NEW SARAI TRUCKING INC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6949440" y="4846319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2026-05-28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7955279" y="4846319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10d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8458200" y="4846319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9555480" y="4846319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$15,374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10881359" y="4846319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CA</a:t>
            </a:r>
          </a:p>
        </p:txBody>
      </p:sp>
      <p:sp>
        <p:nvSpPr>
          <p:cNvPr id="88" name="Rectangle 87"/>
          <p:cNvSpPr/>
          <p:nvPr/>
        </p:nvSpPr>
        <p:spPr>
          <a:xfrm>
            <a:off x="365760" y="5120639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365760" y="5157215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A.s.i.a Inc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2743200" y="5157215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258555155114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3931920" y="5157215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SSA HAULERS LLC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6949440" y="5157215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2026-05-28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7955279" y="5157215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10d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458200" y="5157215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555480" y="5157215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881359" y="5157215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CA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365760" y="5468111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Kavi.llc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2743200" y="5468111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256955531582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3931920" y="5468111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ROAD HUNTER TRUCKERS INC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6949440" y="5468111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2026-05-29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7955279" y="5468111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11d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8458200" y="5468111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9555480" y="5468111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$19,932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10881359" y="5468111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CA</a:t>
            </a:r>
          </a:p>
        </p:txBody>
      </p:sp>
      <p:sp>
        <p:nvSpPr>
          <p:cNvPr id="105" name="Rectangle 104"/>
          <p:cNvSpPr/>
          <p:nvPr/>
        </p:nvSpPr>
        <p:spPr>
          <a:xfrm>
            <a:off x="365760" y="5742431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TextBox 105"/>
          <p:cNvSpPr txBox="1"/>
          <p:nvPr/>
        </p:nvSpPr>
        <p:spPr>
          <a:xfrm>
            <a:off x="365760" y="5779007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A.s.i.a Inc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2743200" y="5779007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252037311719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3931920" y="5779007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JETBLUE LOGISTICS INC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6949440" y="5779007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2026-05-29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7955279" y="5779007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11d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8458200" y="5779007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9555480" y="5779007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$18,800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10881359" y="5779007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TX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365760" y="6089903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Insurance Mobile Services, Inc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2743200" y="6089903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258944420209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3931920" y="6089903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XOREZMIS INC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6949440" y="6089903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2026-06-05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7955279" y="6089903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18d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8458200" y="6089903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NTL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9555480" y="6089903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$750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10881359" y="6089903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OH</a:t>
            </a:r>
          </a:p>
        </p:txBody>
      </p:sp>
      <p:sp>
        <p:nvSpPr>
          <p:cNvPr id="122" name="Rectangle 121"/>
          <p:cNvSpPr/>
          <p:nvPr/>
        </p:nvSpPr>
        <p:spPr>
          <a:xfrm>
            <a:off x="365760" y="6364223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TextBox 122"/>
          <p:cNvSpPr txBox="1"/>
          <p:nvPr/>
        </p:nvSpPr>
        <p:spPr>
          <a:xfrm>
            <a:off x="365760" y="6400799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Berrier Insurance Agency, Inc.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2743200" y="6400799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259112955693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3931920" y="6400799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NIRMAL SINGH SANGHA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6949440" y="6400799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2026-06-05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7955279" y="6400799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18d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8458200" y="6400799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TGL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9555480" y="6400799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$650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10881359" y="6400799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CA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365760" y="6492240"/>
            <a:ext cx="11430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B7280"/>
                </a:solidFill>
                <a:latin typeface="Segoe UI"/>
              </a:defRPr>
            </a:pPr>
            <a:r>
              <a:t>Showing 13 of 78 upcoming renewals  |  Source: dw_reader.policy_premium  |  Active in-force only  |  Sorted by expiration date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Pending Cancellations — Save List — Next 90 Days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Alexis Berry-Smith  |  Policies with cancellation_date on or before Aug 16, 2026  |  Sorted by urgency — call these agencies first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6576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POLICIES PENDING CANCEL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74320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PREMIUM AT RISK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12064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05966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≤30 DAYS (URGENT)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498079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≤30 DAY PREMIUM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87552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6D28D9"/>
                </a:solidFill>
                <a:latin typeface="Segoe UI"/>
              </a:defRPr>
            </a:pPr>
            <a:r>
              <a:t>—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TOP REASON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1993392"/>
            <a:ext cx="1143000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75488" y="2029968"/>
            <a:ext cx="112471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PENDING CANCELS (sorted by cancel date — earliest first)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2359152"/>
            <a:ext cx="502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Days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2359152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Cancel Date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783080" y="2359152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Sub #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88920" y="2359152"/>
            <a:ext cx="26060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Insured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94960" y="2359152"/>
            <a:ext cx="2057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52360" y="2359152"/>
            <a:ext cx="457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LOB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909560" y="2359152"/>
            <a:ext cx="457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State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66760" y="2359152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418320" y="2359152"/>
            <a:ext cx="2377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Reason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3657600"/>
            <a:ext cx="11338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059669"/>
                </a:solidFill>
                <a:latin typeface="Segoe UI"/>
              </a:defRPr>
            </a:pPr>
            <a:r>
              <a:t>No pending cancellations in the next 90 days for this book. 🎉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5760" y="6492240"/>
            <a:ext cx="11430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B7280"/>
                </a:solidFill>
                <a:latin typeface="Segoe UI"/>
              </a:defRPr>
            </a:pPr>
            <a:r>
              <a:t>Showing 0 of 0 pending cancels  |  Source: dw_reader.policy_premium  |  Non-payment = green (most savable), Insured-requested = red, Days ≤14 = red  |  Action: contact agency, confirm reinstatement plan, escalate non-payment cases for billing fix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A.s.i.a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1  |  Region: Pacific Northwest  |  State: CA  |  City: Roseville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$1,993,074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$1,183,414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$19,881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$789,779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$-1,193,331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$2,385,932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$3,822,711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70%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918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63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6.9%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$191,535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$1,396,172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$154,626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$108,564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$46,062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$-46,278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$214,475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$82,383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$132,092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$-248,423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$564,150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$288,349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$275,800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$-277,377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$836,115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$574,702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$19,881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$241,532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$-411,892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$223,709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$129,415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$94,293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$-209,360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$1,993,074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$1,183,414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$19,881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$789,779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$-1,193,331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186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166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9.7%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144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129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8.3%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243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220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9.9%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254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237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13.0%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158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143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8.9%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918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85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833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63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6.9%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37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186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144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38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243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254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43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158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172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985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$36K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$155K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$36K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$214K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$222K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$564K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$103K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$836K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$160K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$224K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$556K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$2.0M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$1,993,074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$1,183,414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101% of new business ($1,193,331)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73% month-over-month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$1,183,414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$1,193,331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Roadways Commercial Insurance Services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1  |  Region: Pacific Northwest  |  State: CA  |  City: Sacramento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$1,042,624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$715,605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$33,536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$293,483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$-493,268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$737,616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$1,791,829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118%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127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15.0%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$340,115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$443,265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$306,192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$169,361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$136,831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$-104,966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$353,038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$233,140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$33,536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$86,362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$-140,238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$120,349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$78,610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$41,739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$-61,497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$156,264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$121,313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$34,951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$-186,568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$106,781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$113,182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$-6,401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$1,042,624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$715,605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$33,536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$293,483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$-493,268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36.4%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34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32.4%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17.1%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37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34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16.2%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13.6%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127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111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15.0%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34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42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37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155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161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$306K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$353K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$-15,932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$120K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$156K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$107K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$-11,589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$1.0M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$1,042,624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$715,605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69% of new business ($493,268)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$715,605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$493,268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Truckers Insurance Services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Pacific Northwest  |  State: N/A  |  City: N/A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$848,152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$692,043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$29,398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$126,710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$-375,250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$634,300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$1,482,452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111%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351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8.3%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$601,400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$231,418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$180,687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$50,732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$-131,712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$223,956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$192,570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$31,386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$-96,703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$170,535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$148,379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$22,156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$-39,508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$142,834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$120,883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$21,951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$-88,590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$79,409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$49,525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$29,398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$486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$-18,738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$848,152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$692,043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$29,398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$126,710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$-375,250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75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74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89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88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11.2%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105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103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7.6%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76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74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14.5%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38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37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7.9%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351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344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8.3%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75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89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105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76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38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383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$231K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$224K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$171K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$143K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$79K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$848K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$848,152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$692,043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54% of new business ($375,250)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$692,043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$375,250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Alex Rue Insurance Agency,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1  |  Region: Pacific Northwest  |  State: CA  |  City: Roseville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$711,165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$719,941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$49,093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$-57,869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$-267,742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$526,779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$937,334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113%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152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7.2%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$393,517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$142,910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$67,641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$37,909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$19,500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$10,232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$-2,172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$343,848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$387,828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$-43,980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$249,225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$220,246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$29,593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$-614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$-128,956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$-11,990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$5,092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$-17,082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$-135,964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$62,441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$68,867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$-6,426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$-650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$711,165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$719,941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$49,093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$-57,869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$-267,742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17.1%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39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12.8%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37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10.8%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15.6%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11.1%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152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126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7.2%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39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37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114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170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$37K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$68K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$43K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$344K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$103K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$249K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$39K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$-11,990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$79K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$62K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$301K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$711K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$711,165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$719,941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significant concerns identified this quarter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Continue monitoring performance metrics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$719,941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$267,742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Stellar Management,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1  |  Region: Pacific Northwest  |  State: WA  |  City: Seattle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$683,913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$250,848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$337,650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$95,415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$-245,545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$2,606,142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$2,120,253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22%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867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2.8%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$505,548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$472,799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$96,490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$65,566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$30,924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$-67,434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$53,528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$16,446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$18,765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$18,317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$-24,186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$437,395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$113,238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$318,885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$5,272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$-66,144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$66,054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$46,821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$19,232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$-57,681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$30,445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$8,776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$21,669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$-30,100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$683,913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$250,848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$337,650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$95,415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$-245,545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189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158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6.3%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175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158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5.7%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230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208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4.8%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189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163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5.3%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125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111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2.4%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867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105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762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2.8%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77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189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101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139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230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132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189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155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125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604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908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$96K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$168K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$54K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$467K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$437K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$290K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$66K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$236K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$30K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$1.2M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$684K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$683,913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$250,848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Low 2.8% hit ratio on 867 subs - needs coaching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98% of new business ($245,545)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Walk through recent lost quotes (867 subs, only 24 binds). Ask: "What are the top 2 reasons your clients go elsewhere?" Use answers to tailor appetite and pricing discussions.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$250,848 in new business. Ask: "What types of accounts are you seeing the most success with?" Use this to identify more of their book that fits our appetite.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Aic Insurance Agency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1  |  Region: Pacific Northwest  |  State: OR  |  City: Redmond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$642,423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$484,406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$27,253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$130,764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$-89,495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$1,633,938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$1,514,991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33%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390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8.2%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$523,114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$477,329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$85,643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$20,891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$18,752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$46,000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$-8,152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$48,913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$46,715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$2,198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$-10,822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$200,190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$136,953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$5,532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$57,705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$-36,388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$219,616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$218,540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$1,076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$-17,305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$88,061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$61,306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$2,970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$23,785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$-16,829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$642,423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$484,406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$27,253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$130,764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$-89,495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93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82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11.8%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76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65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11.8%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87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17.2%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104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87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11.5%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65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55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10.8%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390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58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332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8.2%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93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61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76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87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104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65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361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425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$89K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$86K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$-6,595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$49K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$136K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$200K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$422K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$220K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$121K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$88K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$761K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$642K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$642,423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$484,406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60% month-over-month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$484,406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Volume dropped significantly last month. Lead with curiosity, not concern: "I noticed things slowed down - anything going on I can help with?" Identify if it's seasonal, competitive, or operational.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MST INSURANCE SERVICES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Pacific Northwest  |  State: CA  |  City: Tracy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$344,599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$169,304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$25,796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$149,499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$-186,648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$250,880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$468,599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114%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10.3%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$189,702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$146,079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$146,079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$-131,437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$45,009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$5,851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$25,796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$13,362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$18,567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$26,215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$-7,648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$-24,707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$134,944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$137,238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$-2,294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$-30,504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$344,599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$169,304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$25,796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$149,499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$-186,648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21.4%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7.1%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21.1%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58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10.3%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59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67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$14K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$146K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$80K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$45K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$19K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$26K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$135K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$395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$127K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$345K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$344,599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$169,304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110% of new business ($186,648)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100% month-over-month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$169,304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$186,648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Pacific Atlantic Insurance Services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1  |  Region: Pacific Northwest  |  State: CA  |  City: N/A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$320,638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$228,837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$91,801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$-348,359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$645,355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$965,992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41%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87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10.3%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$191,340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$238,940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$38,490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$38,490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$-191,824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$50,509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$50,509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$-144,445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$200,371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$213,327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$-12,957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$31,268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$15,509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$15,758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$-12,090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$320,638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$228,837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$91,801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$-348,359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21.4%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14.8%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34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14.7%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87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79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10.3%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34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102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$38K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$51K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$200K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$31K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$321K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$320,638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$228,837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152% of new business ($348,359)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84% month-over-month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$228,837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$348,359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Insurance Mobile Services, Inc.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Pacific Northwest  |  State: CA  |  City: Granite Bay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$296,184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$183,956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$42,815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$69,412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$-111,502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$678,966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$726,060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36%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94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20.2%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$27,890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$247,386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$22,735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$6,226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$22,784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$-6,274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$-3,510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$122,936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$56,022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$15,307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$51,607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$-52,571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$47,211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$21,457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$2,450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$23,304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$-53,765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$29,862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$28,961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$901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$-1,655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$73,439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$71,290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$2,275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$-126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$296,184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$183,956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$42,815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$69,412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$-111,502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28.0%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28.0%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17.6%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94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85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20.2%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34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120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111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$96K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$23K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$86K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$123K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$36K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$47K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$-7,915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$30K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$40K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$73K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$249K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$296K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$296,184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$183,956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61% of new business ($111,502)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$183,956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$111,502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Berrier Insurance Agency, Inc.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Pacific Northwest  |  State: CA  |  City: Auburn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$246,427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$152,230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$113,951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$-19,754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$629,080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$524,549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33%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101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5.9%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$199,663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$38,287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$139,883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$139,054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$829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$111,682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$107,009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$4,673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$-21,947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$6,942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$-28,889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$1,485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$1,485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$15,325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$13,177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$2,148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$246,427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$152,230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$113,951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$-19,754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18.8%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13.6%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6.2%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5.9%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101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93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5.9%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75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107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$140K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$112K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$112K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$181K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$-21,947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$36K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$22K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$15K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$351K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$246K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$246,427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$152,230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significant concerns identified this quarter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Continue monitoring performance metrics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$152,230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Strong $113,951 renewal book. Use this as proof of value: "Your retention shows we're delivering - let's find more accounts like these in your pipeline."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Network Truck Insurance Services, Inc.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Pacific Northwest  |  State: CA  |  City: Roseville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$226,868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$116,554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$67,666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$42,648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$-65,645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$761,350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$465,679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25%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173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4.6%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$278,505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$63,137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$27,498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$20,027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$15,612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$-41,247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$7,156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$7,156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$51,293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$51,322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$-29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$-24,398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$30,972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$30,577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$395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$74,309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$47,639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$26,669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$226,868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$116,554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$67,666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$42,648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$-65,645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6.7%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17.4%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55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3.6%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47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6.4%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11.1%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173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150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4.6%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36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62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55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36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47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241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182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$107K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$63K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$7K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$178K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$51K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$66K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$31K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$166K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$74K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$523K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$227K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$226,868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$116,554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56% of new business ($65,645)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$116,554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$65,645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Walker Insurance Agency, Inc.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Pacific Northwest  |  State: WA  |  City: Longview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$207,492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$131,466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$88,750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$-12,723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$-47,431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$235,693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$357,769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73%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10.2%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$131,924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$161,841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$-14,593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$4,928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$4,928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$98,333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$88,750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$9,583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$-32,838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$38,586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$64,225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$-25,639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$65,659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$67,241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$-1,582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$207,492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$131,466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$88,750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$-12,723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$-47,431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7.1%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9.1%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30.8%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16.7%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28.6%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59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58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10.2%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36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69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$15K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$-14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$26K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$98K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$44K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$39K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$66K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$85K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$207K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$207,492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$131,466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Submission volume dropped from 24 to 7 MoM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$131,466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$47,431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Amerigo Insurance Agency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Pacific Northwest  |  State: CA  |  City: Yuba City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$194,402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$185,109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$9,293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$-35,608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$1,464,780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$1,027,676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11%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307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1.6%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$215,721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$60,662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$9,961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$9,961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$-24,573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$8,040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$8,040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$-3,712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$-59,250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$-59,250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$-4,942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$235,158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$185,109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$50,049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$492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$492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$-2,380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$194,402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$185,109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$9,293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$-35,608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75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64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39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12.8%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74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62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2.7%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91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38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2.6%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307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36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271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1.6%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107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75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83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39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111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74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100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98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38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509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326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$53K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$10K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$187K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$8K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$58K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$-59,250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$213K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$235K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$120K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$492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$632K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$194K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$194,402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$185,109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Low 1.6% hit ratio on 307 subs - needs coaching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100% month-over-month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Walk through recent lost quotes (307 subs, only 5 binds). Ask: "What are the top 2 reasons your clients go elsewhere?" Use answers to tailor appetite and pricing discussions.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$185,109 in new business. Ask: "What types of accounts are you seeing the most success with?" Use this to identify more of their book that fits our appetite.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Grant Line Insurance Agency, Inc.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Pacific Northwest  |  State: CA  |  City: Tracy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$192,358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$164,646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$27,712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$-56,053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$375,490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$486,748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43%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85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5.9%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$162,391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$138,127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$100,027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$38,100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$-21,312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$33,887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$20,548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$13,339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$15,397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$21,428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$-6,031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$-18,246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$4,948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$22,644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$-17,696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$-16,494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$192,358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$164,646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$27,712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$-56,053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13.6%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11.8%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13.3%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6.5%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85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71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5.9%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43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94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$138K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$81K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$34K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$15K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$81K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$192K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$192,358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$164,646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68% month-over-month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Submission volume dropped from 31 to 9 MoM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$164,646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$56,053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Soho Insurance Brokerage, Inc.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Pacific Northwest  |  State: CA  |  City: Dublin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$183,854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$71,427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$112,427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$-86,414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$216,667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$325,982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71%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$82,699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$71,427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$11,272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$102,416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$102,416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$-86,414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$-1,261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$-1,261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$183,854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$71,427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$112,427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$-86,414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11.1%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47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$826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$83K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$40K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$102K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$33K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$-1,261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$75K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$184K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$183,854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$71,427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 submissions with zero binds - zero conversion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121% of new business ($86,414)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Review their 16 quoted-not-bound submissions together. Ask which quotes were close and what competitors offered - identifies specific pricing or appetite gaps to escalate internally.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$71,427 in new business. Ask: "What types of accounts are you seeing the most success with?" Use this to identify more of their book that fits our appetite.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Key Insurance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Pacific Northwest  |  State: WA  |  City: Kent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$134,310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$93,992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$40,318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$-141,425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$134,310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10.9%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$93,992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$209,454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$79,917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$93,992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$-14,075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$22,898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$22,898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$-15,081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$13,104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$13,104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$-102,949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$-51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$-51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$18,442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$18,442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$-23,395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$134,310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$93,992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$40,318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$-141,425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22.2%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11.1%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46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39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10.9%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50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58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$80K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$23K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$13K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$-51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$18K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$134K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$134,310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$93,992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150% of new business ($141,425)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$93,992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$141,425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West Reliance Insurance Brokerage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Pacific Northwest  |  State: CA  |  City: N/A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$118,995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$119,805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$-811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$568,283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$149,966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17%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8.3%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$74,965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$42,390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$42,390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$43,261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$38,961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$4,300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$-120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$-120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$32,968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$38,455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$-5,487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$496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$496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$118,995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$119,805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$-811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14.3%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37.5%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7.7%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36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8.3%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81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41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$351K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$42K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$28K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$43K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$-7,575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$-120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$94K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$33K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$72K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$496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$537K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$119K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$118,995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$119,805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98% month-over-month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Submission volume dropped from 13 to 3 MoM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$119,805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Volume dropped significantly last month. Lead with curiosity, not concern: "I noticed things slowed down - anything going on I can help with?" Identify if it's seasonal, competitive, or operational.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Kavi.llc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1  |  Region: Pacific Northwest  |  State: CA  |  City: Stockton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$118,275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$74,806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$43,468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$-87,172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$2,606,761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$1,369,811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4%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17.1%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$88,899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$317,251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$43,276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$17,776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$25,499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$-55,318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$-2,838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$-2,838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$70,824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$57,030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$13,794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$-31,854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$7,013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$7,013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$118,275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$74,806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$43,468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$-87,172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11.8%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33.3%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41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39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17.1%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41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51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184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46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$191K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$43K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$202K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$-2,838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$545K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$71K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$102K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$7K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$316K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$1.4M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$118K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$118,275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$74,806 in renewals - strong retention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90% month-over-month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new business - all premium from renewals/endorsements only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Their $74,806 in renewals shows they trust our product. Ask: "What's holding back new submissions?" They may need updated appetite info or a refresher on our quoting process.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Volume dropped significantly last month. Lead with curiosity, not concern: "I noticed things slowed down - anything going on I can help with?" Identify if it's seasonal, competitive, or operational.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Monumental Insurance Services,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Pacific Northwest  |  State: CA  |  City: Concord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$69,299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$52,818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$16,481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$171,781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$130,309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34%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4.2%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$52,818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$69,299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$52,818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$16,481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$69,299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$52,818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$16,481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16.7%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4.2%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$18K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$81K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$69K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$12K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$111K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$69K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$69,299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$52,818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significant concerns identified this quarter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Continue monitoring performance metrics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$52,818 in new business. Ask: "What types of accounts are you seeing the most success with?" Use this to identify more of their book that fits our appetite.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J &amp; S Insurance Agency Inc.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Pacific Northwest  |  State: WA  |  City: Puyallup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$51,411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$26,866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$24,545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$-63,999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$514,370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$421,138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5.2%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$91,748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$-7,404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$26,866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$26,866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$6,531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$6,531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$-19,350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$18,050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$18,050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$-37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$-37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$-37,245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$51,411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$26,866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$24,545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$-63,999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5.6%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7.1%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14.3%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11.1%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58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56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5.2%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84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61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$27K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$31K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$7K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$56K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$18K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$57K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$-37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$145K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$51K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$51,411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$26,866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238% of new business ($63,999)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100% month-over-month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$26,866 in new business. Ask what made those deals work and how you can help replicate that success with similar accounts in their pipeline.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$63,999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Grewal Insurance Group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West  |  State: N/A  |  City: Pacific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$26,600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$26,600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$-25,142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$26,600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12.5%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$26,600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$26,600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$26,600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$-25,142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$26,600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$26,600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$-25,142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25.0%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12.5%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$27K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$27K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$26,600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$26,600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95% of new business ($25,142)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$26,600 in new business. Ask what made those deals work and how you can help replicate that success with similar accounts in their pipeline.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$25,142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American Continental Insurance Services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Pacific Northwest  |  State: CA  |  City: Tracy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$11,438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$15,640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$-4,202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$-61,279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$417,245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$301,911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2%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67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$77,065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$-14,850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$-46,429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$11,438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$15,640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$-4,202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$11,438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$15,640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$-4,202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$-61,279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8.7%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5.3%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67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57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72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73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$57K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$-0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$29K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$24K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$17K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$11K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$127K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$11K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$11,438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$15,640 in renewals - strong retention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Low 3.0% hit ratio on 67 subs - needs coaching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Submission volume dropped from 19 to 5 MoM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Walk through recent lost quotes (67 subs, only 2 binds). Ask: "What are the top 2 reasons your clients go elsewhere?" Use answers to tailor appetite and pricing discussions.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