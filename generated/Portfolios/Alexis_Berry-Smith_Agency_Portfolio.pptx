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</p:sldIdLst>
  <p:sldSz cy="6858000" cx="12191675"/>
  <p:notesSz cx="6858000" cy="9144000"/>
  <p:embeddedFontLst>
    <p:embeddedFont>
      <p:font typeface="Quattrocento Sans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47" roundtripDataSignature="AMtx7mgJG4t6kLh0mAJEvijp0m22ohhU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font" Target="fonts/QuattrocentoSans-bold.fntdata"/><Relationship Id="rId21" Type="http://schemas.openxmlformats.org/officeDocument/2006/relationships/slide" Target="slides/slide16.xml"/><Relationship Id="rId43" Type="http://schemas.openxmlformats.org/officeDocument/2006/relationships/font" Target="fonts/QuattrocentoSans-regular.fntdata"/><Relationship Id="rId24" Type="http://schemas.openxmlformats.org/officeDocument/2006/relationships/slide" Target="slides/slide19.xml"/><Relationship Id="rId46" Type="http://schemas.openxmlformats.org/officeDocument/2006/relationships/font" Target="fonts/QuattrocentoSans-boldItalic.fntdata"/><Relationship Id="rId23" Type="http://schemas.openxmlformats.org/officeDocument/2006/relationships/slide" Target="slides/slide18.xml"/><Relationship Id="rId45" Type="http://schemas.openxmlformats.org/officeDocument/2006/relationships/font" Target="fonts/QuattrocentoSans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47" Type="http://customschemas.google.com/relationships/presentationmetadata" Target="meta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1" name="Google Shape;66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6" name="Google Shape;73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5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7" name="Google Shape;80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6" name="Google Shape;88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9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1" name="Google Shape;115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0" name="Shape 1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Google Shape;120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2" name="Google Shape;120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4" name="Shape 1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Google Shape;122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6" name="Google Shape;122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4" name="Shape 1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" name="Google Shape;126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6" name="Google Shape;126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9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Google Shape;1470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1" name="Google Shape;1471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3" name="Shape 1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4" name="Google Shape;160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5" name="Google Shape;1605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8" name="Shape 1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Google Shape;1629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0" name="Google Shape;1630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7" name="Shape 1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8" name="Google Shape;1808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9" name="Google Shape;1809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4" name="Shape 1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5" name="Google Shape;1985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6" name="Google Shape;1986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1" name="Shape 2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2" name="Google Shape;2162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3" name="Google Shape;2163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0" name="Shape 2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1" name="Google Shape;2341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2" name="Google Shape;2342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9" name="Shape 2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0" name="Google Shape;2520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1" name="Google Shape;2521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6" name="Shape 2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7" name="Google Shape;2697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8" name="Google Shape;2698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5" name="Shape 2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6" name="Google Shape;2876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7" name="Google Shape;2877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4" name="Shape 3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5" name="Google Shape;3055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6" name="Google Shape;3056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1" name="Shape 3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2" name="Google Shape;3232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3" name="Google Shape;3233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0" name="Shape 3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1" name="Google Shape;3411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2" name="Google Shape;3412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7" name="Shape 3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8" name="Google Shape;3588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9" name="Google Shape;3589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4" name="Shape 3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5" name="Google Shape;3765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6" name="Google Shape;3766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3" name="Shape 3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4" name="Google Shape;3944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5" name="Google Shape;3945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2" name="Shape 4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3" name="Google Shape;4123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4" name="Google Shape;4124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1" name="Shape 4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2" name="Google Shape;4302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3" name="Google Shape;4303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8" name="Shape 4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9" name="Google Shape;4479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0" name="Google Shape;4480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7" name="Shape 4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8" name="Google Shape;4658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9" name="Google Shape;4659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36" name="Shape 4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7" name="Google Shape;4837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8" name="Google Shape;4838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5" name="Shape 50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6" name="Google Shape;5016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7" name="Google Shape;5017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4" name="Shape 5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5" name="Google Shape;5195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6" name="Google Shape;5196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73" name="Shape 5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4" name="Google Shape;5374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5" name="Google Shape;5375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4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4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4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4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4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4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4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4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4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4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4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4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4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4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4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4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4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4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4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4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4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4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3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3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3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3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07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 WHALE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Alexis Berry-Smith - Agency Portfolio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Generated May 20, 2026  |  22 Agencies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Alexis Berry-Smith - Portfolio Overview</a:t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22 Total Agencies  |  22 Active  |  0 Inactive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13716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Agencies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184708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(YTD)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3557016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$8,700,935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5266944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$5,807,593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976872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$942,719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868680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$1,950,623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1039672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$-4,020,350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13716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Submissions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184708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Binds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3557016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5266944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976872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Binds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868680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Subs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1039672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Binds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13716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$18,061,408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184708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$19,589,103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3557016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$21,673,689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Annual Goal (40%)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5266944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6976872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$2,906,995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68680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$5,590,856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Bound Prem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039672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Retention Rate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YTD GWP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 $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 $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$1,993,624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$1,183,964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$19,881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944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534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Roadways Commercial Insurance Servi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$1,037,589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$715,605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$33,536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14.5%</a:t>
            </a:r>
            <a:endParaRPr/>
          </a:p>
        </p:txBody>
      </p:sp>
      <p:sp>
        <p:nvSpPr>
          <p:cNvPr id="143" name="Google Shape;143;p2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Insurance Services Llc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$848,152</a:t>
            </a:r>
            <a:endParaRPr/>
          </a:p>
        </p:txBody>
      </p:sp>
      <p:sp>
        <p:nvSpPr>
          <p:cNvPr id="145" name="Google Shape;145;p2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$692,043</a:t>
            </a:r>
            <a:endParaRPr/>
          </a:p>
        </p:txBody>
      </p:sp>
      <p:sp>
        <p:nvSpPr>
          <p:cNvPr id="146" name="Google Shape;146;p2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$29,398</a:t>
            </a:r>
            <a:endParaRPr/>
          </a:p>
        </p:txBody>
      </p:sp>
      <p:sp>
        <p:nvSpPr>
          <p:cNvPr id="147" name="Google Shape;147;p2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357</a:t>
            </a:r>
            <a:endParaRPr/>
          </a:p>
        </p:txBody>
      </p:sp>
      <p:sp>
        <p:nvSpPr>
          <p:cNvPr id="148" name="Google Shape;148;p2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275</a:t>
            </a:r>
            <a:endParaRPr/>
          </a:p>
        </p:txBody>
      </p:sp>
      <p:sp>
        <p:nvSpPr>
          <p:cNvPr id="149" name="Google Shape;149;p2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50" name="Google Shape;150;p2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7.8%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 Rue Insurance Agency, Inc</a:t>
            </a:r>
            <a:endParaRPr/>
          </a:p>
        </p:txBody>
      </p:sp>
      <p:sp>
        <p:nvSpPr>
          <p:cNvPr id="153" name="Google Shape;153;p2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$711,343</a:t>
            </a:r>
            <a:endParaRPr/>
          </a:p>
        </p:txBody>
      </p:sp>
      <p:sp>
        <p:nvSpPr>
          <p:cNvPr id="154" name="Google Shape;154;p2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$719,941</a:t>
            </a:r>
            <a:endParaRPr/>
          </a:p>
        </p:txBody>
      </p:sp>
      <p:sp>
        <p:nvSpPr>
          <p:cNvPr id="155" name="Google Shape;155;p2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$49,093</a:t>
            </a:r>
            <a:endParaRPr/>
          </a:p>
        </p:txBody>
      </p:sp>
      <p:sp>
        <p:nvSpPr>
          <p:cNvPr id="156" name="Google Shape;156;p2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158" name="Google Shape;158;p2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59" name="Google Shape;159;p2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160" name="Google Shape;160;p2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Stellar Management, Inc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$687,533</a:t>
            </a:r>
            <a:endParaRPr/>
          </a:p>
        </p:txBody>
      </p:sp>
      <p:sp>
        <p:nvSpPr>
          <p:cNvPr id="162" name="Google Shape;162;p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$250,848</a:t>
            </a:r>
            <a:endParaRPr/>
          </a:p>
        </p:txBody>
      </p:sp>
      <p:sp>
        <p:nvSpPr>
          <p:cNvPr id="163" name="Google Shape;163;p2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$337,650</a:t>
            </a:r>
            <a:endParaRPr/>
          </a:p>
        </p:txBody>
      </p:sp>
      <p:sp>
        <p:nvSpPr>
          <p:cNvPr id="164" name="Google Shape;164;p2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883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586</a:t>
            </a:r>
            <a:endParaRPr/>
          </a:p>
        </p:txBody>
      </p:sp>
      <p:sp>
        <p:nvSpPr>
          <p:cNvPr id="166" name="Google Shape;166;p2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</p:txBody>
      </p:sp>
      <p:sp>
        <p:nvSpPr>
          <p:cNvPr id="168" name="Google Shape;168;p2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Aic Insurance Agency Llc</a:t>
            </a:r>
            <a:endParaRPr/>
          </a:p>
        </p:txBody>
      </p:sp>
      <p:sp>
        <p:nvSpPr>
          <p:cNvPr id="170" name="Google Shape;170;p2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$642,423</a:t>
            </a:r>
            <a:endParaRPr/>
          </a:p>
        </p:txBody>
      </p:sp>
      <p:sp>
        <p:nvSpPr>
          <p:cNvPr id="171" name="Google Shape;171;p2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$484,406</a:t>
            </a:r>
            <a:endParaRPr/>
          </a:p>
        </p:txBody>
      </p:sp>
      <p:sp>
        <p:nvSpPr>
          <p:cNvPr id="172" name="Google Shape;172;p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$27,253</a:t>
            </a:r>
            <a:endParaRPr/>
          </a:p>
        </p:txBody>
      </p:sp>
      <p:sp>
        <p:nvSpPr>
          <p:cNvPr id="173" name="Google Shape;173;p2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395</a:t>
            </a:r>
            <a:endParaRPr/>
          </a:p>
        </p:txBody>
      </p:sp>
      <p:sp>
        <p:nvSpPr>
          <p:cNvPr id="174" name="Google Shape;174;p2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273</a:t>
            </a:r>
            <a:endParaRPr/>
          </a:p>
        </p:txBody>
      </p:sp>
      <p:sp>
        <p:nvSpPr>
          <p:cNvPr id="175" name="Google Shape;175;p2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176" name="Google Shape;176;p2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</p:txBody>
      </p:sp>
      <p:sp>
        <p:nvSpPr>
          <p:cNvPr id="177" name="Google Shape;177;p2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MST INSURANCE SERVICES INC</a:t>
            </a:r>
            <a:endParaRPr/>
          </a:p>
        </p:txBody>
      </p:sp>
      <p:sp>
        <p:nvSpPr>
          <p:cNvPr id="178" name="Google Shape;178;p2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$344,599</a:t>
            </a:r>
            <a:endParaRPr/>
          </a:p>
        </p:txBody>
      </p:sp>
      <p:sp>
        <p:nvSpPr>
          <p:cNvPr id="179" name="Google Shape;179;p2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$169,304</a:t>
            </a:r>
            <a:endParaRPr/>
          </a:p>
        </p:txBody>
      </p:sp>
      <p:sp>
        <p:nvSpPr>
          <p:cNvPr id="180" name="Google Shape;180;p2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$25,796</a:t>
            </a:r>
            <a:endParaRPr/>
          </a:p>
        </p:txBody>
      </p:sp>
      <p:sp>
        <p:nvSpPr>
          <p:cNvPr id="181" name="Google Shape;181;p2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182" name="Google Shape;182;p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183" name="Google Shape;183;p2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84" name="Google Shape;184;p2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8.6%</a:t>
            </a:r>
            <a:endParaRPr/>
          </a:p>
        </p:txBody>
      </p:sp>
      <p:sp>
        <p:nvSpPr>
          <p:cNvPr id="185" name="Google Shape;185;p2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Pacific Atlantic Insurance Services</a:t>
            </a:r>
            <a:endParaRPr/>
          </a:p>
        </p:txBody>
      </p:sp>
      <p:sp>
        <p:nvSpPr>
          <p:cNvPr id="187" name="Google Shape;187;p2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$320,638</a:t>
            </a:r>
            <a:endParaRPr/>
          </a:p>
        </p:txBody>
      </p:sp>
      <p:sp>
        <p:nvSpPr>
          <p:cNvPr id="188" name="Google Shape;188;p2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$228,837</a:t>
            </a:r>
            <a:endParaRPr/>
          </a:p>
        </p:txBody>
      </p:sp>
      <p:sp>
        <p:nvSpPr>
          <p:cNvPr id="189" name="Google Shape;189;p2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0" name="Google Shape;190;p2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191" name="Google Shape;191;p2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192" name="Google Shape;192;p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93" name="Google Shape;193;p2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194" name="Google Shape;194;p2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Mobile Services, Inc.</a:t>
            </a:r>
            <a:endParaRPr/>
          </a:p>
        </p:txBody>
      </p:sp>
      <p:sp>
        <p:nvSpPr>
          <p:cNvPr id="195" name="Google Shape;195;p2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$296,184</a:t>
            </a:r>
            <a:endParaRPr/>
          </a:p>
        </p:txBody>
      </p:sp>
      <p:sp>
        <p:nvSpPr>
          <p:cNvPr id="196" name="Google Shape;196;p2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$183,956</a:t>
            </a:r>
            <a:endParaRPr/>
          </a:p>
        </p:txBody>
      </p:sp>
      <p:sp>
        <p:nvSpPr>
          <p:cNvPr id="197" name="Google Shape;197;p2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$42,815</a:t>
            </a:r>
            <a:endParaRPr/>
          </a:p>
        </p:txBody>
      </p:sp>
      <p:sp>
        <p:nvSpPr>
          <p:cNvPr id="198" name="Google Shape;198;p2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199" name="Google Shape;199;p2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200" name="Google Shape;200;p2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01" name="Google Shape;201;p2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202" name="Google Shape;202;p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Berrier Insurance Agency, Inc.</a:t>
            </a:r>
            <a:endParaRPr/>
          </a:p>
        </p:txBody>
      </p:sp>
      <p:sp>
        <p:nvSpPr>
          <p:cNvPr id="204" name="Google Shape;204;p2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$246,427</a:t>
            </a:r>
            <a:endParaRPr/>
          </a:p>
        </p:txBody>
      </p:sp>
      <p:sp>
        <p:nvSpPr>
          <p:cNvPr id="205" name="Google Shape;205;p2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$152,230</a:t>
            </a:r>
            <a:endParaRPr/>
          </a:p>
        </p:txBody>
      </p:sp>
      <p:sp>
        <p:nvSpPr>
          <p:cNvPr id="206" name="Google Shape;206;p2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$113,951</a:t>
            </a:r>
            <a:endParaRPr/>
          </a:p>
        </p:txBody>
      </p:sp>
      <p:sp>
        <p:nvSpPr>
          <p:cNvPr id="207" name="Google Shape;207;p2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</a:t>
            </a:r>
            <a:endParaRPr/>
          </a:p>
        </p:txBody>
      </p:sp>
      <p:sp>
        <p:nvSpPr>
          <p:cNvPr id="208" name="Google Shape;208;p2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209" name="Google Shape;209;p2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10" name="Google Shape;210;p2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211" name="Google Shape;211;p2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Truck Insurance Services, I</a:t>
            </a:r>
            <a:endParaRPr/>
          </a:p>
        </p:txBody>
      </p:sp>
      <p:sp>
        <p:nvSpPr>
          <p:cNvPr id="212" name="Google Shape;212;p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$226,868</a:t>
            </a:r>
            <a:endParaRPr/>
          </a:p>
        </p:txBody>
      </p:sp>
      <p:sp>
        <p:nvSpPr>
          <p:cNvPr id="213" name="Google Shape;213;p2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$116,554</a:t>
            </a:r>
            <a:endParaRPr/>
          </a:p>
        </p:txBody>
      </p:sp>
      <p:sp>
        <p:nvSpPr>
          <p:cNvPr id="214" name="Google Shape;214;p2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$67,666</a:t>
            </a:r>
            <a:endParaRPr/>
          </a:p>
        </p:txBody>
      </p:sp>
      <p:sp>
        <p:nvSpPr>
          <p:cNvPr id="215" name="Google Shape;215;p2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181</a:t>
            </a:r>
            <a:endParaRPr/>
          </a:p>
        </p:txBody>
      </p:sp>
      <p:sp>
        <p:nvSpPr>
          <p:cNvPr id="216" name="Google Shape;216;p2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142</a:t>
            </a:r>
            <a:endParaRPr/>
          </a:p>
        </p:txBody>
      </p:sp>
      <p:sp>
        <p:nvSpPr>
          <p:cNvPr id="217" name="Google Shape;217;p2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18" name="Google Shape;218;p2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219" name="Google Shape;219;p2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Walker Insurance Agency, Inc.</a:t>
            </a:r>
            <a:endParaRPr/>
          </a:p>
        </p:txBody>
      </p:sp>
      <p:sp>
        <p:nvSpPr>
          <p:cNvPr id="221" name="Google Shape;221;p2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$207,492</a:t>
            </a:r>
            <a:endParaRPr/>
          </a:p>
        </p:txBody>
      </p:sp>
      <p:sp>
        <p:nvSpPr>
          <p:cNvPr id="222" name="Google Shape;222;p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$131,466</a:t>
            </a:r>
            <a:endParaRPr/>
          </a:p>
        </p:txBody>
      </p:sp>
      <p:sp>
        <p:nvSpPr>
          <p:cNvPr id="223" name="Google Shape;223;p2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$88,750</a:t>
            </a:r>
            <a:endParaRPr/>
          </a:p>
        </p:txBody>
      </p:sp>
      <p:sp>
        <p:nvSpPr>
          <p:cNvPr id="224" name="Google Shape;224;p2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225" name="Google Shape;225;p2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226" name="Google Shape;226;p2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27" name="Google Shape;227;p2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</p:txBody>
      </p:sp>
      <p:sp>
        <p:nvSpPr>
          <p:cNvPr id="228" name="Google Shape;228;p2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SUMMARY</a:t>
            </a:r>
            <a:endParaRPr/>
          </a:p>
        </p:txBody>
      </p:sp>
      <p:sp>
        <p:nvSpPr>
          <p:cNvPr id="230" name="Google Shape;230;p2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1" name="Google Shape;231;p2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232" name="Google Shape;232;p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233" name="Google Shape;233;p2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4" name="Google Shape;234;p2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5" name="Google Shape;235;p2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236" name="Google Shape;236;p2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238" name="Google Shape;238;p2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$4,157,242</a:t>
            </a:r>
            <a:endParaRPr/>
          </a:p>
        </p:txBody>
      </p:sp>
      <p:sp>
        <p:nvSpPr>
          <p:cNvPr id="239" name="Google Shape;239;p2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$992,165</a:t>
            </a:r>
            <a:endParaRPr/>
          </a:p>
        </p:txBody>
      </p:sp>
      <p:sp>
        <p:nvSpPr>
          <p:cNvPr id="240" name="Google Shape;240;p2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900</a:t>
            </a:r>
            <a:endParaRPr/>
          </a:p>
        </p:txBody>
      </p:sp>
      <p:sp>
        <p:nvSpPr>
          <p:cNvPr id="241" name="Google Shape;241;p2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</a:t>
            </a:r>
            <a:endParaRPr/>
          </a:p>
        </p:txBody>
      </p:sp>
      <p:sp>
        <p:nvSpPr>
          <p:cNvPr id="242" name="Google Shape;242;p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243" name="Google Shape;243;p2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244" name="Google Shape;244;p2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$4,258,613</a:t>
            </a:r>
            <a:endParaRPr/>
          </a:p>
        </p:txBody>
      </p:sp>
      <p:sp>
        <p:nvSpPr>
          <p:cNvPr id="245" name="Google Shape;245;p2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$1,185,913</a:t>
            </a:r>
            <a:endParaRPr/>
          </a:p>
        </p:txBody>
      </p:sp>
      <p:sp>
        <p:nvSpPr>
          <p:cNvPr id="246" name="Google Shape;246;p2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793</a:t>
            </a:r>
            <a:endParaRPr/>
          </a:p>
        </p:txBody>
      </p:sp>
      <p:sp>
        <p:nvSpPr>
          <p:cNvPr id="247" name="Google Shape;247;p2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</a:t>
            </a:r>
            <a:endParaRPr/>
          </a:p>
        </p:txBody>
      </p:sp>
      <p:sp>
        <p:nvSpPr>
          <p:cNvPr id="248" name="Google Shape;248;p2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12.1%</a:t>
            </a:r>
            <a:endParaRPr/>
          </a:p>
        </p:txBody>
      </p:sp>
      <p:sp>
        <p:nvSpPr>
          <p:cNvPr id="249" name="Google Shape;249;p2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250" name="Google Shape;250;p2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$4,499,889</a:t>
            </a:r>
            <a:endParaRPr/>
          </a:p>
        </p:txBody>
      </p:sp>
      <p:sp>
        <p:nvSpPr>
          <p:cNvPr id="251" name="Google Shape;251;p2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$1,372,342</a:t>
            </a:r>
            <a:endParaRPr/>
          </a:p>
        </p:txBody>
      </p:sp>
      <p:sp>
        <p:nvSpPr>
          <p:cNvPr id="252" name="Google Shape;252;p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1052</a:t>
            </a:r>
            <a:endParaRPr/>
          </a:p>
        </p:txBody>
      </p:sp>
      <p:sp>
        <p:nvSpPr>
          <p:cNvPr id="253" name="Google Shape;253;p2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</a:t>
            </a:r>
            <a:endParaRPr/>
          </a:p>
        </p:txBody>
      </p:sp>
      <p:sp>
        <p:nvSpPr>
          <p:cNvPr id="254" name="Google Shape;254;p2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10.1%</a:t>
            </a:r>
            <a:endParaRPr/>
          </a:p>
        </p:txBody>
      </p:sp>
      <p:sp>
        <p:nvSpPr>
          <p:cNvPr id="255" name="Google Shape;255;p2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256" name="Google Shape;256;p2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$4,082,162</a:t>
            </a:r>
            <a:endParaRPr/>
          </a:p>
        </p:txBody>
      </p:sp>
      <p:sp>
        <p:nvSpPr>
          <p:cNvPr id="257" name="Google Shape;257;p2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$1,636,669</a:t>
            </a:r>
            <a:endParaRPr/>
          </a:p>
        </p:txBody>
      </p:sp>
      <p:sp>
        <p:nvSpPr>
          <p:cNvPr id="258" name="Google Shape;258;p2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1082</a:t>
            </a:r>
            <a:endParaRPr/>
          </a:p>
        </p:txBody>
      </p:sp>
      <p:sp>
        <p:nvSpPr>
          <p:cNvPr id="259" name="Google Shape;259;p2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113</a:t>
            </a:r>
            <a:endParaRPr/>
          </a:p>
        </p:txBody>
      </p:sp>
      <p:sp>
        <p:nvSpPr>
          <p:cNvPr id="260" name="Google Shape;260;p2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10.4%</a:t>
            </a:r>
            <a:endParaRPr/>
          </a:p>
        </p:txBody>
      </p:sp>
      <p:sp>
        <p:nvSpPr>
          <p:cNvPr id="261" name="Google Shape;261;p2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2" name="Google Shape;262;p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$1,921,518</a:t>
            </a:r>
            <a:endParaRPr/>
          </a:p>
        </p:txBody>
      </p:sp>
      <p:sp>
        <p:nvSpPr>
          <p:cNvPr id="263" name="Google Shape;263;p2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$620,504</a:t>
            </a:r>
            <a:endParaRPr/>
          </a:p>
        </p:txBody>
      </p:sp>
      <p:sp>
        <p:nvSpPr>
          <p:cNvPr id="264" name="Google Shape;264;p2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690</a:t>
            </a:r>
            <a:endParaRPr/>
          </a:p>
        </p:txBody>
      </p:sp>
      <p:sp>
        <p:nvSpPr>
          <p:cNvPr id="265" name="Google Shape;265;p2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266" name="Google Shape;266;p2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</p:txBody>
      </p:sp>
      <p:sp>
        <p:nvSpPr>
          <p:cNvPr id="267" name="Google Shape;267;p2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</a:t>
            </a:r>
            <a:endParaRPr/>
          </a:p>
        </p:txBody>
      </p:sp>
      <p:sp>
        <p:nvSpPr>
          <p:cNvPr id="269" name="Google Shape;269;p2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$8,700,935</a:t>
            </a:r>
            <a:endParaRPr/>
          </a:p>
        </p:txBody>
      </p:sp>
      <p:sp>
        <p:nvSpPr>
          <p:cNvPr id="270" name="Google Shape;270;p2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$5,807,593</a:t>
            </a:r>
            <a:endParaRPr/>
          </a:p>
        </p:txBody>
      </p:sp>
      <p:sp>
        <p:nvSpPr>
          <p:cNvPr id="271" name="Google Shape;271;p2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4150</a:t>
            </a:r>
            <a:endParaRPr/>
          </a:p>
        </p:txBody>
      </p:sp>
      <p:sp>
        <p:nvSpPr>
          <p:cNvPr id="272" name="Google Shape;272;p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</p:txBody>
      </p:sp>
      <p:sp>
        <p:nvSpPr>
          <p:cNvPr id="273" name="Google Shape;273;p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6.3%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3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Scoreboard — Alexis Berry-Smith</a:t>
            </a:r>
            <a:endParaRPr/>
          </a:p>
        </p:txBody>
      </p:sp>
      <p:sp>
        <p:nvSpPr>
          <p:cNvPr id="280" name="Google Shape;280;p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BDM OKRs  |  Q2 measure (paced where applicable)  |  Matches BD Rep Scoreboard numbers</a:t>
            </a:r>
            <a:endParaRPr/>
          </a:p>
        </p:txBody>
      </p:sp>
      <p:sp>
        <p:nvSpPr>
          <p:cNvPr id="281" name="Google Shape;281;p3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3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58.4</a:t>
            </a:r>
            <a:endParaRPr/>
          </a:p>
        </p:txBody>
      </p:sp>
      <p:sp>
        <p:nvSpPr>
          <p:cNvPr id="283" name="Google Shape;283;p3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COMPOSITE SCORE</a:t>
            </a:r>
            <a:endParaRPr/>
          </a:p>
        </p:txBody>
      </p:sp>
      <p:sp>
        <p:nvSpPr>
          <p:cNvPr id="284" name="Google Shape;284;p3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≥ 70  |  Amber 45-69  |  Red &lt; 45</a:t>
            </a:r>
            <a:endParaRPr/>
          </a:p>
        </p:txBody>
      </p:sp>
      <p:sp>
        <p:nvSpPr>
          <p:cNvPr id="285" name="Google Shape;285;p3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3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3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</a:t>
            </a:r>
            <a:endParaRPr/>
          </a:p>
        </p:txBody>
      </p:sp>
      <p:sp>
        <p:nvSpPr>
          <p:cNvPr id="288" name="Google Shape;288;p3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%</a:t>
            </a:r>
            <a:endParaRPr/>
          </a:p>
        </p:txBody>
      </p:sp>
      <p:sp>
        <p:nvSpPr>
          <p:cNvPr id="289" name="Google Shape;289;p3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≥+100%</a:t>
            </a:r>
            <a:endParaRPr/>
          </a:p>
        </p:txBody>
      </p:sp>
      <p:sp>
        <p:nvSpPr>
          <p:cNvPr id="290" name="Google Shape;290;p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+150%</a:t>
            </a:r>
            <a:endParaRPr/>
          </a:p>
        </p:txBody>
      </p:sp>
      <p:sp>
        <p:nvSpPr>
          <p:cNvPr id="291" name="Google Shape;291;p3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2</a:t>
            </a:r>
            <a:endParaRPr/>
          </a:p>
        </p:txBody>
      </p:sp>
      <p:sp>
        <p:nvSpPr>
          <p:cNvPr id="294" name="Google Shape;294;p3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Activity Compliance</a:t>
            </a:r>
            <a:endParaRPr/>
          </a:p>
        </p:txBody>
      </p:sp>
      <p:sp>
        <p:nvSpPr>
          <p:cNvPr id="295" name="Google Shape;295;p3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 100% (40/wk)</a:t>
            </a:r>
            <a:endParaRPr/>
          </a:p>
        </p:txBody>
      </p:sp>
      <p:sp>
        <p:nvSpPr>
          <p:cNvPr id="296" name="Google Shape;296;p3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34%</a:t>
            </a:r>
            <a:endParaRPr/>
          </a:p>
        </p:txBody>
      </p:sp>
      <p:sp>
        <p:nvSpPr>
          <p:cNvPr id="297" name="Google Shape;297;p3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3</a:t>
            </a:r>
            <a:endParaRPr/>
          </a:p>
        </p:txBody>
      </p:sp>
      <p:sp>
        <p:nvSpPr>
          <p:cNvPr id="300" name="Google Shape;300;p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Active %</a:t>
            </a:r>
            <a:endParaRPr/>
          </a:p>
        </p:txBody>
      </p:sp>
      <p:sp>
        <p:nvSpPr>
          <p:cNvPr id="301" name="Google Shape;301;p3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 of 22 agencies  |  Goal 100%</a:t>
            </a:r>
            <a:endParaRPr/>
          </a:p>
        </p:txBody>
      </p:sp>
      <p:sp>
        <p:nvSpPr>
          <p:cNvPr id="302" name="Google Shape;302;p3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100%</a:t>
            </a:r>
            <a:endParaRPr/>
          </a:p>
        </p:txBody>
      </p:sp>
      <p:sp>
        <p:nvSpPr>
          <p:cNvPr id="303" name="Google Shape;303;p3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3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3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4</a:t>
            </a:r>
            <a:endParaRPr/>
          </a:p>
        </p:txBody>
      </p:sp>
      <p:sp>
        <p:nvSpPr>
          <p:cNvPr id="306" name="Google Shape;306;p3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Producing Agencies</a:t>
            </a:r>
            <a:endParaRPr/>
          </a:p>
        </p:txBody>
      </p:sp>
      <p:sp>
        <p:nvSpPr>
          <p:cNvPr id="307" name="Google Shape;307;p3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Q2 Activated Won  |  Goal ≥ 4</a:t>
            </a:r>
            <a:endParaRPr/>
          </a:p>
        </p:txBody>
      </p:sp>
      <p:sp>
        <p:nvSpPr>
          <p:cNvPr id="308" name="Google Shape;308;p3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 of 4</a:t>
            </a:r>
            <a:endParaRPr/>
          </a:p>
        </p:txBody>
      </p:sp>
      <p:sp>
        <p:nvSpPr>
          <p:cNvPr id="309" name="Google Shape;309;p3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4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 Activity  —  Alexis Berry-Smith</a:t>
            </a:r>
            <a:endParaRPr/>
          </a:p>
        </p:txBody>
      </p:sp>
      <p:sp>
        <p:nvSpPr>
          <p:cNvPr id="316" name="Google Shape;316;p4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Calls + Meetings  |  Weekly goal: 40 activities  |  Colored arrow = month-over-month trend vs prior complete month</a:t>
            </a:r>
            <a:endParaRPr/>
          </a:p>
        </p:txBody>
      </p:sp>
      <p:sp>
        <p:nvSpPr>
          <p:cNvPr id="317" name="Google Shape;317;p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Calls</a:t>
            </a:r>
            <a:endParaRPr/>
          </a:p>
        </p:txBody>
      </p:sp>
      <p:sp>
        <p:nvSpPr>
          <p:cNvPr id="318" name="Google Shape;318;p4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Meetings</a:t>
            </a:r>
            <a:endParaRPr/>
          </a:p>
        </p:txBody>
      </p:sp>
      <p:sp>
        <p:nvSpPr>
          <p:cNvPr id="319" name="Google Shape;319;p4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Activity</a:t>
            </a:r>
            <a:endParaRPr/>
          </a:p>
        </p:txBody>
      </p:sp>
      <p:sp>
        <p:nvSpPr>
          <p:cNvPr id="320" name="Google Shape;320;p4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/ Week</a:t>
            </a:r>
            <a:endParaRPr/>
          </a:p>
        </p:txBody>
      </p:sp>
      <p:sp>
        <p:nvSpPr>
          <p:cNvPr id="321" name="Google Shape;321;p4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 (40/wk)</a:t>
            </a:r>
            <a:endParaRPr/>
          </a:p>
        </p:txBody>
      </p:sp>
      <p:sp>
        <p:nvSpPr>
          <p:cNvPr id="322" name="Google Shape;322;p4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4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1–10  (Jan–Mar)</a:t>
            </a:r>
            <a:endParaRPr/>
          </a:p>
        </p:txBody>
      </p:sp>
      <p:sp>
        <p:nvSpPr>
          <p:cNvPr id="324" name="Google Shape;324;p4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325" name="Google Shape;325;p4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326" name="Google Shape;326;p4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327" name="Google Shape;327;p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328" name="Google Shape;328;p4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329" name="Google Shape;329;p4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330" name="Google Shape;330;p4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4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4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4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1/5–1/11</a:t>
            </a:r>
            <a:endParaRPr/>
          </a:p>
        </p:txBody>
      </p:sp>
      <p:sp>
        <p:nvSpPr>
          <p:cNvPr id="334" name="Google Shape;334;p4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5" name="Google Shape;335;p4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6" name="Google Shape;336;p4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7" name="Google Shape;337;p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38" name="Google Shape;338;p4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39" name="Google Shape;339;p4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4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4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1/12–1/18</a:t>
            </a:r>
            <a:endParaRPr/>
          </a:p>
        </p:txBody>
      </p:sp>
      <p:sp>
        <p:nvSpPr>
          <p:cNvPr id="342" name="Google Shape;342;p4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3" name="Google Shape;343;p4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4" name="Google Shape;344;p4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5" name="Google Shape;345;p4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46" name="Google Shape;346;p4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47" name="Google Shape;347;p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4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4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1/19–1/25</a:t>
            </a:r>
            <a:endParaRPr/>
          </a:p>
        </p:txBody>
      </p:sp>
      <p:sp>
        <p:nvSpPr>
          <p:cNvPr id="350" name="Google Shape;350;p4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1" name="Google Shape;351;p4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2" name="Google Shape;352;p4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" name="Google Shape;353;p4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54" name="Google Shape;354;p4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55" name="Google Shape;355;p4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4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1/26–2/1</a:t>
            </a:r>
            <a:endParaRPr/>
          </a:p>
        </p:txBody>
      </p:sp>
      <p:sp>
        <p:nvSpPr>
          <p:cNvPr id="358" name="Google Shape;358;p4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9" name="Google Shape;359;p4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0" name="Google Shape;360;p4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1" name="Google Shape;361;p4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62" name="Google Shape;362;p4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63" name="Google Shape;363;p4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4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4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2/2–2/8</a:t>
            </a:r>
            <a:endParaRPr/>
          </a:p>
        </p:txBody>
      </p:sp>
      <p:sp>
        <p:nvSpPr>
          <p:cNvPr id="366" name="Google Shape;366;p4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7" name="Google Shape;367;p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8" name="Google Shape;368;p4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9" name="Google Shape;369;p4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70" name="Google Shape;370;p4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1" name="Google Shape;371;p4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4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4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2/9–2/15</a:t>
            </a:r>
            <a:endParaRPr/>
          </a:p>
        </p:txBody>
      </p:sp>
      <p:sp>
        <p:nvSpPr>
          <p:cNvPr id="374" name="Google Shape;374;p4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5" name="Google Shape;375;p4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6" name="Google Shape;376;p4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7" name="Google Shape;377;p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78" name="Google Shape;378;p4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9" name="Google Shape;379;p4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4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4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2/16–2/22</a:t>
            </a:r>
            <a:endParaRPr/>
          </a:p>
        </p:txBody>
      </p:sp>
      <p:sp>
        <p:nvSpPr>
          <p:cNvPr id="382" name="Google Shape;382;p4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3" name="Google Shape;383;p4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4" name="Google Shape;384;p4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5" name="Google Shape;385;p4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86" name="Google Shape;386;p4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87" name="Google Shape;387;p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4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4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2/23–3/1</a:t>
            </a:r>
            <a:endParaRPr/>
          </a:p>
        </p:txBody>
      </p:sp>
      <p:sp>
        <p:nvSpPr>
          <p:cNvPr id="390" name="Google Shape;390;p4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1" name="Google Shape;391;p4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2" name="Google Shape;392;p4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3" name="Google Shape;393;p4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94" name="Google Shape;394;p4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95" name="Google Shape;395;p4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4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3/2–3/8</a:t>
            </a:r>
            <a:endParaRPr/>
          </a:p>
        </p:txBody>
      </p:sp>
      <p:sp>
        <p:nvSpPr>
          <p:cNvPr id="398" name="Google Shape;398;p4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9" name="Google Shape;399;p4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0" name="Google Shape;400;p4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" name="Google Shape;401;p4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02" name="Google Shape;402;p4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03" name="Google Shape;403;p4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4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4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3/9–3/15</a:t>
            </a:r>
            <a:endParaRPr/>
          </a:p>
        </p:txBody>
      </p:sp>
      <p:sp>
        <p:nvSpPr>
          <p:cNvPr id="406" name="Google Shape;406;p4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" name="Google Shape;407;p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8" name="Google Shape;408;p4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9" name="Google Shape;409;p4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10" name="Google Shape;410;p4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11" name="Google Shape;411;p4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4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11–20  (Mar–May)</a:t>
            </a:r>
            <a:endParaRPr/>
          </a:p>
        </p:txBody>
      </p:sp>
      <p:sp>
        <p:nvSpPr>
          <p:cNvPr id="413" name="Google Shape;413;p4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414" name="Google Shape;414;p4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415" name="Google Shape;415;p4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416" name="Google Shape;416;p4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417" name="Google Shape;417;p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418" name="Google Shape;418;p4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419" name="Google Shape;419;p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4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4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4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3/16–3/22</a:t>
            </a:r>
            <a:endParaRPr/>
          </a:p>
        </p:txBody>
      </p:sp>
      <p:sp>
        <p:nvSpPr>
          <p:cNvPr id="423" name="Google Shape;423;p4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4" name="Google Shape;424;p4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5" name="Google Shape;425;p4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6" name="Google Shape;426;p4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27" name="Google Shape;427;p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28" name="Google Shape;428;p4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4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3/23–3/29</a:t>
            </a:r>
            <a:endParaRPr/>
          </a:p>
        </p:txBody>
      </p:sp>
      <p:sp>
        <p:nvSpPr>
          <p:cNvPr id="431" name="Google Shape;431;p4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2" name="Google Shape;432;p4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3" name="Google Shape;433;p4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4" name="Google Shape;434;p4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35" name="Google Shape;435;p4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36" name="Google Shape;436;p4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4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3/30–4/5</a:t>
            </a:r>
            <a:endParaRPr/>
          </a:p>
        </p:txBody>
      </p:sp>
      <p:sp>
        <p:nvSpPr>
          <p:cNvPr id="439" name="Google Shape;439;p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0" name="Google Shape;440;p4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" name="Google Shape;441;p4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" name="Google Shape;442;p4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43" name="Google Shape;443;p4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44" name="Google Shape;444;p4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4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4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4/6–4/12</a:t>
            </a:r>
            <a:endParaRPr/>
          </a:p>
        </p:txBody>
      </p:sp>
      <p:sp>
        <p:nvSpPr>
          <p:cNvPr id="447" name="Google Shape;447;p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8" name="Google Shape;448;p4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9" name="Google Shape;449;p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0" name="Google Shape;450;p4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51" name="Google Shape;451;p4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52" name="Google Shape;452;p4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4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4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4/13–4/19</a:t>
            </a:r>
            <a:endParaRPr/>
          </a:p>
        </p:txBody>
      </p:sp>
      <p:sp>
        <p:nvSpPr>
          <p:cNvPr id="455" name="Google Shape;455;p4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6" name="Google Shape;456;p4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7" name="Google Shape;457;p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8" name="Google Shape;458;p4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59" name="Google Shape;459;p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60" name="Google Shape;460;p4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4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4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4/20–4/26</a:t>
            </a:r>
            <a:endParaRPr/>
          </a:p>
        </p:txBody>
      </p:sp>
      <p:sp>
        <p:nvSpPr>
          <p:cNvPr id="463" name="Google Shape;463;p4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64" name="Google Shape;464;p4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5" name="Google Shape;465;p4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66" name="Google Shape;466;p4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10%</a:t>
            </a:r>
            <a:endParaRPr/>
          </a:p>
        </p:txBody>
      </p:sp>
      <p:sp>
        <p:nvSpPr>
          <p:cNvPr id="467" name="Google Shape;467;p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68" name="Google Shape;468;p4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4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4/27–5/3</a:t>
            </a:r>
            <a:endParaRPr/>
          </a:p>
        </p:txBody>
      </p:sp>
      <p:sp>
        <p:nvSpPr>
          <p:cNvPr id="471" name="Google Shape;471;p4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" name="Google Shape;472;p4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3" name="Google Shape;473;p4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4" name="Google Shape;474;p4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75" name="Google Shape;475;p4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76" name="Google Shape;476;p4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4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5/4–5/10</a:t>
            </a:r>
            <a:endParaRPr/>
          </a:p>
        </p:txBody>
      </p:sp>
      <p:sp>
        <p:nvSpPr>
          <p:cNvPr id="479" name="Google Shape;479;p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80" name="Google Shape;480;p4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1" name="Google Shape;481;p4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482" name="Google Shape;482;p4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80%</a:t>
            </a:r>
            <a:endParaRPr/>
          </a:p>
        </p:txBody>
      </p:sp>
      <p:sp>
        <p:nvSpPr>
          <p:cNvPr id="483" name="Google Shape;483;p4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84" name="Google Shape;484;p4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4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4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5/11–5/17</a:t>
            </a:r>
            <a:endParaRPr/>
          </a:p>
        </p:txBody>
      </p:sp>
      <p:sp>
        <p:nvSpPr>
          <p:cNvPr id="487" name="Google Shape;487;p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488" name="Google Shape;488;p4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89" name="Google Shape;489;p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490" name="Google Shape;490;p4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112%</a:t>
            </a:r>
            <a:endParaRPr/>
          </a:p>
        </p:txBody>
      </p:sp>
      <p:sp>
        <p:nvSpPr>
          <p:cNvPr id="491" name="Google Shape;491;p4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92" name="Google Shape;492;p4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4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4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5/18–5/20*</a:t>
            </a:r>
            <a:endParaRPr/>
          </a:p>
        </p:txBody>
      </p:sp>
      <p:sp>
        <p:nvSpPr>
          <p:cNvPr id="495" name="Google Shape;495;p4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6" name="Google Shape;496;p4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7" name="Google Shape;497;p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98" name="Google Shape;498;p4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22%</a:t>
            </a:r>
            <a:endParaRPr/>
          </a:p>
        </p:txBody>
      </p:sp>
      <p:sp>
        <p:nvSpPr>
          <p:cNvPr id="499" name="Google Shape;499;p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500" name="Google Shape;500;p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CRM  |  Calls + meetings only (emails excluded)  |  * = current/partial week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5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Growth  —  Alexis Berry-Smith</a:t>
            </a:r>
            <a:endParaRPr/>
          </a:p>
        </p:txBody>
      </p:sp>
      <p:sp>
        <p:nvSpPr>
          <p:cNvPr id="507" name="Google Shape;507;p5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vs 2025  |  Green = growth  |  Red = decline  |  Hit ratio = binds / submissions</a:t>
            </a:r>
            <a:endParaRPr/>
          </a:p>
        </p:txBody>
      </p:sp>
      <p:sp>
        <p:nvSpPr>
          <p:cNvPr id="508" name="Google Shape;508;p5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1679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Submissions</a:t>
            </a:r>
            <a:endParaRPr/>
          </a:p>
        </p:txBody>
      </p:sp>
      <p:sp>
        <p:nvSpPr>
          <p:cNvPr id="509" name="Google Shape;509;p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Binds</a:t>
            </a:r>
            <a:endParaRPr/>
          </a:p>
        </p:txBody>
      </p:sp>
      <p:sp>
        <p:nvSpPr>
          <p:cNvPr id="510" name="Google Shape;510;p5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 ▼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1" name="Google Shape;511;p5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-44.8%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vs 2025</a:t>
            </a:r>
            <a:endParaRPr/>
          </a:p>
        </p:txBody>
      </p:sp>
      <p:sp>
        <p:nvSpPr>
          <p:cNvPr id="512" name="Google Shape;512;p5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-75.5%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 YOY vs 2025</a:t>
            </a:r>
            <a:endParaRPr/>
          </a:p>
        </p:txBody>
      </p:sp>
      <p:sp>
        <p:nvSpPr>
          <p:cNvPr id="513" name="Google Shape;513;p5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5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BREAKDOWN  —  2026 vs 2025</a:t>
            </a:r>
            <a:endParaRPr/>
          </a:p>
        </p:txBody>
      </p:sp>
      <p:sp>
        <p:nvSpPr>
          <p:cNvPr id="515" name="Google Shape;515;p5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6" name="Google Shape;516;p5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Subs</a:t>
            </a:r>
            <a:endParaRPr/>
          </a:p>
        </p:txBody>
      </p:sp>
      <p:sp>
        <p:nvSpPr>
          <p:cNvPr id="517" name="Google Shape;517;p5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Binds</a:t>
            </a:r>
            <a:endParaRPr/>
          </a:p>
        </p:txBody>
      </p:sp>
      <p:sp>
        <p:nvSpPr>
          <p:cNvPr id="518" name="Google Shape;518;p5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19" name="Google Shape;519;p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Subs</a:t>
            </a:r>
            <a:endParaRPr/>
          </a:p>
        </p:txBody>
      </p:sp>
      <p:sp>
        <p:nvSpPr>
          <p:cNvPr id="520" name="Google Shape;520;p5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%</a:t>
            </a:r>
            <a:endParaRPr/>
          </a:p>
        </p:txBody>
      </p:sp>
      <p:sp>
        <p:nvSpPr>
          <p:cNvPr id="521" name="Google Shape;521;p5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5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5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524" name="Google Shape;524;p5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5" name="Google Shape;525;p5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6" name="Google Shape;526;p5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7" name="Google Shape;527;p5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606</a:t>
            </a:r>
            <a:endParaRPr/>
          </a:p>
        </p:txBody>
      </p:sp>
      <p:sp>
        <p:nvSpPr>
          <p:cNvPr id="528" name="Google Shape;528;p5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29" name="Google Shape;529;p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530" name="Google Shape;530;p5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" name="Google Shape;531;p5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2" name="Google Shape;532;p5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3" name="Google Shape;533;p5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536</a:t>
            </a:r>
            <a:endParaRPr/>
          </a:p>
        </p:txBody>
      </p:sp>
      <p:sp>
        <p:nvSpPr>
          <p:cNvPr id="534" name="Google Shape;534;p5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35" name="Google Shape;535;p5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5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537" name="Google Shape;537;p5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38" name="Google Shape;538;p5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9" name="Google Shape;539;p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540" name="Google Shape;540;p5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676</a:t>
            </a:r>
            <a:endParaRPr/>
          </a:p>
        </p:txBody>
      </p:sp>
      <p:sp>
        <p:nvSpPr>
          <p:cNvPr id="541" name="Google Shape;541;p5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-99%</a:t>
            </a:r>
            <a:endParaRPr/>
          </a:p>
        </p:txBody>
      </p:sp>
      <p:sp>
        <p:nvSpPr>
          <p:cNvPr id="542" name="Google Shape;542;p5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543" name="Google Shape;543;p5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1,009</a:t>
            </a:r>
            <a:endParaRPr/>
          </a:p>
        </p:txBody>
      </p:sp>
      <p:sp>
        <p:nvSpPr>
          <p:cNvPr id="544" name="Google Shape;544;p5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545" name="Google Shape;545;p5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</p:txBody>
      </p:sp>
      <p:sp>
        <p:nvSpPr>
          <p:cNvPr id="546" name="Google Shape;546;p5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617</a:t>
            </a:r>
            <a:endParaRPr/>
          </a:p>
        </p:txBody>
      </p:sp>
      <p:sp>
        <p:nvSpPr>
          <p:cNvPr id="547" name="Google Shape;547;p5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+64%</a:t>
            </a:r>
            <a:endParaRPr/>
          </a:p>
        </p:txBody>
      </p:sp>
      <p:sp>
        <p:nvSpPr>
          <p:cNvPr id="548" name="Google Shape;548;p5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0" name="Google Shape;550;p5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666</a:t>
            </a:r>
            <a:endParaRPr/>
          </a:p>
        </p:txBody>
      </p:sp>
      <p:sp>
        <p:nvSpPr>
          <p:cNvPr id="551" name="Google Shape;551;p5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552" name="Google Shape;552;p5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6.6%</a:t>
            </a:r>
            <a:endParaRPr/>
          </a:p>
        </p:txBody>
      </p:sp>
      <p:sp>
        <p:nvSpPr>
          <p:cNvPr id="553" name="Google Shape;553;p5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604</a:t>
            </a:r>
            <a:endParaRPr/>
          </a:p>
        </p:txBody>
      </p:sp>
      <p:sp>
        <p:nvSpPr>
          <p:cNvPr id="554" name="Google Shape;554;p5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+10%</a:t>
            </a:r>
            <a:endParaRPr/>
          </a:p>
        </p:txBody>
      </p:sp>
      <p:sp>
        <p:nvSpPr>
          <p:cNvPr id="555" name="Google Shape;555;p5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5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557" name="Google Shape;557;p5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1,679</a:t>
            </a:r>
            <a:endParaRPr/>
          </a:p>
        </p:txBody>
      </p:sp>
      <p:sp>
        <p:nvSpPr>
          <p:cNvPr id="558" name="Google Shape;558;p5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</a:t>
            </a:r>
            <a:endParaRPr/>
          </a:p>
        </p:txBody>
      </p:sp>
      <p:sp>
        <p:nvSpPr>
          <p:cNvPr id="559" name="Google Shape;559;p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560" name="Google Shape;560;p5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3,039</a:t>
            </a:r>
            <a:endParaRPr/>
          </a:p>
        </p:txBody>
      </p:sp>
      <p:sp>
        <p:nvSpPr>
          <p:cNvPr id="561" name="Google Shape;561;p5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-45%</a:t>
            </a:r>
            <a:endParaRPr/>
          </a:p>
        </p:txBody>
      </p:sp>
      <p:sp>
        <p:nvSpPr>
          <p:cNvPr id="562" name="Google Shape;562;p5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SUBMISSION VOLUME  —  YTD Ranked</a:t>
            </a:r>
            <a:endParaRPr/>
          </a:p>
        </p:txBody>
      </p:sp>
      <p:sp>
        <p:nvSpPr>
          <p:cNvPr id="564" name="Google Shape;564;p5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565" name="Google Shape;565;p5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Subs</a:t>
            </a:r>
            <a:endParaRPr/>
          </a:p>
        </p:txBody>
      </p:sp>
      <p:sp>
        <p:nvSpPr>
          <p:cNvPr id="566" name="Google Shape;566;p5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7" name="Google Shape;567;p5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68" name="Google Shape;568;p5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</a:t>
            </a:r>
            <a:endParaRPr/>
          </a:p>
        </p:txBody>
      </p:sp>
      <p:sp>
        <p:nvSpPr>
          <p:cNvPr id="569" name="Google Shape;569;p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5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5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572" name="Google Shape;572;p5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944</a:t>
            </a:r>
            <a:endParaRPr/>
          </a:p>
        </p:txBody>
      </p:sp>
      <p:sp>
        <p:nvSpPr>
          <p:cNvPr id="573" name="Google Shape;573;p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574" name="Google Shape;574;p5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575" name="Google Shape;575;p5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+772</a:t>
            </a:r>
            <a:endParaRPr/>
          </a:p>
        </p:txBody>
      </p:sp>
      <p:sp>
        <p:nvSpPr>
          <p:cNvPr id="576" name="Google Shape;576;p5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Stellar Management, Inc</a:t>
            </a:r>
            <a:endParaRPr/>
          </a:p>
        </p:txBody>
      </p:sp>
      <p:sp>
        <p:nvSpPr>
          <p:cNvPr id="577" name="Google Shape;577;p5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883</a:t>
            </a:r>
            <a:endParaRPr/>
          </a:p>
        </p:txBody>
      </p:sp>
      <p:sp>
        <p:nvSpPr>
          <p:cNvPr id="578" name="Google Shape;578;p5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579" name="Google Shape;579;p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</p:txBody>
      </p:sp>
      <p:sp>
        <p:nvSpPr>
          <p:cNvPr id="580" name="Google Shape;580;p5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+279</a:t>
            </a:r>
            <a:endParaRPr/>
          </a:p>
        </p:txBody>
      </p:sp>
      <p:sp>
        <p:nvSpPr>
          <p:cNvPr id="581" name="Google Shape;581;p5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5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Aic Insurance Agency Llc</a:t>
            </a:r>
            <a:endParaRPr/>
          </a:p>
        </p:txBody>
      </p:sp>
      <p:sp>
        <p:nvSpPr>
          <p:cNvPr id="583" name="Google Shape;583;p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395</a:t>
            </a:r>
            <a:endParaRPr/>
          </a:p>
        </p:txBody>
      </p:sp>
      <p:sp>
        <p:nvSpPr>
          <p:cNvPr id="584" name="Google Shape;584;p5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585" name="Google Shape;585;p5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</p:txBody>
      </p:sp>
      <p:sp>
        <p:nvSpPr>
          <p:cNvPr id="586" name="Google Shape;586;p5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+34</a:t>
            </a:r>
            <a:endParaRPr/>
          </a:p>
        </p:txBody>
      </p:sp>
      <p:sp>
        <p:nvSpPr>
          <p:cNvPr id="587" name="Google Shape;587;p5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Insurance Services Llc</a:t>
            </a:r>
            <a:endParaRPr/>
          </a:p>
        </p:txBody>
      </p:sp>
      <p:sp>
        <p:nvSpPr>
          <p:cNvPr id="588" name="Google Shape;588;p5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357</a:t>
            </a:r>
            <a:endParaRPr/>
          </a:p>
        </p:txBody>
      </p:sp>
      <p:sp>
        <p:nvSpPr>
          <p:cNvPr id="589" name="Google Shape;589;p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590" name="Google Shape;590;p5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7.8%</a:t>
            </a:r>
            <a:endParaRPr/>
          </a:p>
        </p:txBody>
      </p:sp>
      <p:sp>
        <p:nvSpPr>
          <p:cNvPr id="591" name="Google Shape;591;p5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+357</a:t>
            </a:r>
            <a:endParaRPr/>
          </a:p>
        </p:txBody>
      </p:sp>
      <p:sp>
        <p:nvSpPr>
          <p:cNvPr id="592" name="Google Shape;592;p5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Amerigo Insurance Agency</a:t>
            </a:r>
            <a:endParaRPr/>
          </a:p>
        </p:txBody>
      </p:sp>
      <p:sp>
        <p:nvSpPr>
          <p:cNvPr id="594" name="Google Shape;594;p5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312</a:t>
            </a:r>
            <a:endParaRPr/>
          </a:p>
        </p:txBody>
      </p:sp>
      <p:sp>
        <p:nvSpPr>
          <p:cNvPr id="595" name="Google Shape;595;p5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96" name="Google Shape;596;p5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597" name="Google Shape;597;p5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-197</a:t>
            </a:r>
            <a:endParaRPr/>
          </a:p>
        </p:txBody>
      </p:sp>
      <p:sp>
        <p:nvSpPr>
          <p:cNvPr id="598" name="Google Shape;598;p5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Truck Insurance Services, Inc.</a:t>
            </a:r>
            <a:endParaRPr/>
          </a:p>
        </p:txBody>
      </p:sp>
      <p:sp>
        <p:nvSpPr>
          <p:cNvPr id="599" name="Google Shape;599;p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181</a:t>
            </a:r>
            <a:endParaRPr/>
          </a:p>
        </p:txBody>
      </p:sp>
      <p:sp>
        <p:nvSpPr>
          <p:cNvPr id="600" name="Google Shape;600;p5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01" name="Google Shape;601;p5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602" name="Google Shape;602;p5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-60</a:t>
            </a:r>
            <a:endParaRPr/>
          </a:p>
        </p:txBody>
      </p:sp>
      <p:sp>
        <p:nvSpPr>
          <p:cNvPr id="603" name="Google Shape;603;p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5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 Rue Insurance Agency, Inc</a:t>
            </a:r>
            <a:endParaRPr/>
          </a:p>
        </p:txBody>
      </p:sp>
      <p:sp>
        <p:nvSpPr>
          <p:cNvPr id="605" name="Google Shape;605;p5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</p:txBody>
      </p:sp>
      <p:sp>
        <p:nvSpPr>
          <p:cNvPr id="606" name="Google Shape;606;p5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07" name="Google Shape;607;p5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608" name="Google Shape;608;p5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+40</a:t>
            </a:r>
            <a:endParaRPr/>
          </a:p>
        </p:txBody>
      </p:sp>
      <p:sp>
        <p:nvSpPr>
          <p:cNvPr id="609" name="Google Shape;609;p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Roadways Commercial Insurance Services</a:t>
            </a:r>
            <a:endParaRPr/>
          </a:p>
        </p:txBody>
      </p:sp>
      <p:sp>
        <p:nvSpPr>
          <p:cNvPr id="610" name="Google Shape;610;p5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</a:t>
            </a:r>
            <a:endParaRPr/>
          </a:p>
        </p:txBody>
      </p:sp>
      <p:sp>
        <p:nvSpPr>
          <p:cNvPr id="611" name="Google Shape;611;p5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12" name="Google Shape;612;p5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14.5%</a:t>
            </a:r>
            <a:endParaRPr/>
          </a:p>
        </p:txBody>
      </p:sp>
      <p:sp>
        <p:nvSpPr>
          <p:cNvPr id="613" name="Google Shape;613;p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-24</a:t>
            </a:r>
            <a:endParaRPr/>
          </a:p>
        </p:txBody>
      </p:sp>
      <p:sp>
        <p:nvSpPr>
          <p:cNvPr id="614" name="Google Shape;614;p5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5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Berrier Insurance Agency, Inc.</a:t>
            </a:r>
            <a:endParaRPr/>
          </a:p>
        </p:txBody>
      </p:sp>
      <p:sp>
        <p:nvSpPr>
          <p:cNvPr id="616" name="Google Shape;616;p5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</a:t>
            </a:r>
            <a:endParaRPr/>
          </a:p>
        </p:txBody>
      </p:sp>
      <p:sp>
        <p:nvSpPr>
          <p:cNvPr id="617" name="Google Shape;617;p5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18" name="Google Shape;618;p5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619" name="Google Shape;619;p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+28</a:t>
            </a:r>
            <a:endParaRPr/>
          </a:p>
        </p:txBody>
      </p:sp>
      <p:sp>
        <p:nvSpPr>
          <p:cNvPr id="620" name="Google Shape;620;p5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Mobile Services, Inc.</a:t>
            </a:r>
            <a:endParaRPr/>
          </a:p>
        </p:txBody>
      </p:sp>
      <p:sp>
        <p:nvSpPr>
          <p:cNvPr id="621" name="Google Shape;621;p5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622" name="Google Shape;622;p5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23" name="Google Shape;623;p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624" name="Google Shape;624;p5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-25</a:t>
            </a:r>
            <a:endParaRPr/>
          </a:p>
        </p:txBody>
      </p:sp>
      <p:sp>
        <p:nvSpPr>
          <p:cNvPr id="625" name="Google Shape;625;p5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5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Grant Line Insurance Agency, Inc.</a:t>
            </a:r>
            <a:endParaRPr/>
          </a:p>
        </p:txBody>
      </p:sp>
      <p:sp>
        <p:nvSpPr>
          <p:cNvPr id="627" name="Google Shape;627;p5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628" name="Google Shape;628;p5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9" name="Google Shape;629;p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630" name="Google Shape;630;p5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+44</a:t>
            </a:r>
            <a:endParaRPr/>
          </a:p>
        </p:txBody>
      </p:sp>
      <p:sp>
        <p:nvSpPr>
          <p:cNvPr id="631" name="Google Shape;631;p5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Pacific Atlantic Insurance Services In</a:t>
            </a:r>
            <a:endParaRPr/>
          </a:p>
        </p:txBody>
      </p:sp>
      <p:sp>
        <p:nvSpPr>
          <p:cNvPr id="632" name="Google Shape;632;p5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633" name="Google Shape;633;p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34" name="Google Shape;634;p5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635" name="Google Shape;635;p5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+79</a:t>
            </a:r>
            <a:endParaRPr/>
          </a:p>
        </p:txBody>
      </p:sp>
      <p:sp>
        <p:nvSpPr>
          <p:cNvPr id="636" name="Google Shape;636;p5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5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American Continental Insurance Service</a:t>
            </a:r>
            <a:endParaRPr/>
          </a:p>
        </p:txBody>
      </p:sp>
      <p:sp>
        <p:nvSpPr>
          <p:cNvPr id="638" name="Google Shape;638;p5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639" name="Google Shape;639;p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0" name="Google Shape;640;p5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641" name="Google Shape;641;p5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-4</a:t>
            </a:r>
            <a:endParaRPr/>
          </a:p>
        </p:txBody>
      </p:sp>
      <p:sp>
        <p:nvSpPr>
          <p:cNvPr id="642" name="Google Shape;642;p5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 &amp; S Insurance Agency Inc.</a:t>
            </a:r>
            <a:endParaRPr/>
          </a:p>
        </p:txBody>
      </p:sp>
      <p:sp>
        <p:nvSpPr>
          <p:cNvPr id="643" name="Google Shape;643;p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644" name="Google Shape;644;p5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5" name="Google Shape;645;p5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646" name="Google Shape;646;p5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-23</a:t>
            </a:r>
            <a:endParaRPr/>
          </a:p>
        </p:txBody>
      </p:sp>
      <p:sp>
        <p:nvSpPr>
          <p:cNvPr id="647" name="Google Shape;647;p5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5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Walker Insurance Agency, Inc.</a:t>
            </a:r>
            <a:endParaRPr/>
          </a:p>
        </p:txBody>
      </p:sp>
      <p:sp>
        <p:nvSpPr>
          <p:cNvPr id="649" name="Google Shape;649;p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650" name="Google Shape;650;p5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51" name="Google Shape;651;p5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</p:txBody>
      </p:sp>
      <p:sp>
        <p:nvSpPr>
          <p:cNvPr id="652" name="Google Shape;652;p5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+23</a:t>
            </a:r>
            <a:endParaRPr/>
          </a:p>
        </p:txBody>
      </p:sp>
      <p:sp>
        <p:nvSpPr>
          <p:cNvPr id="653" name="Google Shape;653;p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MST INSURANCE SERVICES INC</a:t>
            </a:r>
            <a:endParaRPr/>
          </a:p>
        </p:txBody>
      </p:sp>
      <p:sp>
        <p:nvSpPr>
          <p:cNvPr id="654" name="Google Shape;654;p5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655" name="Google Shape;655;p5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56" name="Google Shape;656;p5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8.6%</a:t>
            </a:r>
            <a:endParaRPr/>
          </a:p>
        </p:txBody>
      </p:sp>
      <p:sp>
        <p:nvSpPr>
          <p:cNvPr id="657" name="Google Shape;657;p5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</a:t>
            </a:r>
            <a:endParaRPr/>
          </a:p>
        </p:txBody>
      </p:sp>
      <p:sp>
        <p:nvSpPr>
          <p:cNvPr id="658" name="Google Shape;658;p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6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Trend</a:t>
            </a:r>
            <a:endParaRPr/>
          </a:p>
        </p:txBody>
      </p:sp>
      <p:sp>
        <p:nvSpPr>
          <p:cNvPr id="665" name="Google Shape;665;p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Alexis Berry-Smith  |  22 Total Agencies  |  Jan–May 2026</a:t>
            </a:r>
            <a:endParaRPr/>
          </a:p>
        </p:txBody>
      </p:sp>
      <p:sp>
        <p:nvSpPr>
          <p:cNvPr id="666" name="Google Shape;666;p6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6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68" name="Google Shape;668;p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669" name="Google Shape;669;p6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670" name="Google Shape;670;p6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71" name="Google Shape;671;p6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</a:t>
            </a:r>
            <a:endParaRPr/>
          </a:p>
        </p:txBody>
      </p:sp>
      <p:sp>
        <p:nvSpPr>
          <p:cNvPr id="672" name="Google Shape;672;p6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73" name="Google Shape;673;p6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674" name="Google Shape;674;p6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5" name="Google Shape;675;p6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6" name="Google Shape;676;p6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7" name="Google Shape;677;p6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$4,157,242</a:t>
            </a:r>
            <a:endParaRPr/>
          </a:p>
        </p:txBody>
      </p:sp>
      <p:sp>
        <p:nvSpPr>
          <p:cNvPr id="678" name="Google Shape;678;p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$992,165</a:t>
            </a:r>
            <a:endParaRPr/>
          </a:p>
        </p:txBody>
      </p:sp>
      <p:sp>
        <p:nvSpPr>
          <p:cNvPr id="679" name="Google Shape;679;p6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$98,838</a:t>
            </a:r>
            <a:endParaRPr/>
          </a:p>
        </p:txBody>
      </p:sp>
      <p:sp>
        <p:nvSpPr>
          <p:cNvPr id="680" name="Google Shape;680;p6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$-851,930</a:t>
            </a:r>
            <a:endParaRPr/>
          </a:p>
        </p:txBody>
      </p:sp>
      <p:sp>
        <p:nvSpPr>
          <p:cNvPr id="681" name="Google Shape;681;p6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900</a:t>
            </a:r>
            <a:endParaRPr/>
          </a:p>
        </p:txBody>
      </p:sp>
      <p:sp>
        <p:nvSpPr>
          <p:cNvPr id="682" name="Google Shape;682;p6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632</a:t>
            </a:r>
            <a:endParaRPr/>
          </a:p>
        </p:txBody>
      </p:sp>
      <p:sp>
        <p:nvSpPr>
          <p:cNvPr id="683" name="Google Shape;683;p6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</a:t>
            </a:r>
            <a:endParaRPr/>
          </a:p>
        </p:txBody>
      </p:sp>
      <p:sp>
        <p:nvSpPr>
          <p:cNvPr id="684" name="Google Shape;684;p6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685" name="Google Shape;685;p6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6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7" name="Google Shape;687;p6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$4,258,613</a:t>
            </a:r>
            <a:endParaRPr/>
          </a:p>
        </p:txBody>
      </p:sp>
      <p:sp>
        <p:nvSpPr>
          <p:cNvPr id="688" name="Google Shape;688;p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$1,185,913</a:t>
            </a:r>
            <a:endParaRPr/>
          </a:p>
        </p:txBody>
      </p:sp>
      <p:sp>
        <p:nvSpPr>
          <p:cNvPr id="689" name="Google Shape;689;p6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$200,414</a:t>
            </a:r>
            <a:endParaRPr/>
          </a:p>
        </p:txBody>
      </p:sp>
      <p:sp>
        <p:nvSpPr>
          <p:cNvPr id="690" name="Google Shape;690;p6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$-751,030</a:t>
            </a:r>
            <a:endParaRPr/>
          </a:p>
        </p:txBody>
      </p:sp>
      <p:sp>
        <p:nvSpPr>
          <p:cNvPr id="691" name="Google Shape;691;p6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793</a:t>
            </a:r>
            <a:endParaRPr/>
          </a:p>
        </p:txBody>
      </p:sp>
      <p:sp>
        <p:nvSpPr>
          <p:cNvPr id="692" name="Google Shape;692;p6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536</a:t>
            </a:r>
            <a:endParaRPr/>
          </a:p>
        </p:txBody>
      </p:sp>
      <p:sp>
        <p:nvSpPr>
          <p:cNvPr id="693" name="Google Shape;693;p6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</a:t>
            </a:r>
            <a:endParaRPr/>
          </a:p>
        </p:txBody>
      </p:sp>
      <p:sp>
        <p:nvSpPr>
          <p:cNvPr id="694" name="Google Shape;694;p6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12.1%</a:t>
            </a:r>
            <a:endParaRPr/>
          </a:p>
        </p:txBody>
      </p:sp>
      <p:sp>
        <p:nvSpPr>
          <p:cNvPr id="695" name="Google Shape;695;p6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6" name="Google Shape;696;p6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$4,499,889</a:t>
            </a:r>
            <a:endParaRPr/>
          </a:p>
        </p:txBody>
      </p:sp>
      <p:sp>
        <p:nvSpPr>
          <p:cNvPr id="697" name="Google Shape;697;p6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$1,372,342</a:t>
            </a:r>
            <a:endParaRPr/>
          </a:p>
        </p:txBody>
      </p:sp>
      <p:sp>
        <p:nvSpPr>
          <p:cNvPr id="698" name="Google Shape;698;p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$525,662</a:t>
            </a:r>
            <a:endParaRPr/>
          </a:p>
        </p:txBody>
      </p:sp>
      <p:sp>
        <p:nvSpPr>
          <p:cNvPr id="699" name="Google Shape;699;p6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$-1,055,763</a:t>
            </a:r>
            <a:endParaRPr/>
          </a:p>
        </p:txBody>
      </p:sp>
      <p:sp>
        <p:nvSpPr>
          <p:cNvPr id="700" name="Google Shape;700;p6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1,052</a:t>
            </a:r>
            <a:endParaRPr/>
          </a:p>
        </p:txBody>
      </p:sp>
      <p:sp>
        <p:nvSpPr>
          <p:cNvPr id="701" name="Google Shape;701;p6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688</a:t>
            </a:r>
            <a:endParaRPr/>
          </a:p>
        </p:txBody>
      </p:sp>
      <p:sp>
        <p:nvSpPr>
          <p:cNvPr id="702" name="Google Shape;702;p6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</a:t>
            </a:r>
            <a:endParaRPr/>
          </a:p>
        </p:txBody>
      </p:sp>
      <p:sp>
        <p:nvSpPr>
          <p:cNvPr id="703" name="Google Shape;703;p6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10.1%</a:t>
            </a:r>
            <a:endParaRPr/>
          </a:p>
        </p:txBody>
      </p:sp>
      <p:sp>
        <p:nvSpPr>
          <p:cNvPr id="704" name="Google Shape;704;p6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6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6" name="Google Shape;706;p6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$4,082,162</a:t>
            </a:r>
            <a:endParaRPr/>
          </a:p>
        </p:txBody>
      </p:sp>
      <p:sp>
        <p:nvSpPr>
          <p:cNvPr id="707" name="Google Shape;707;p6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$1,636,669</a:t>
            </a:r>
            <a:endParaRPr/>
          </a:p>
        </p:txBody>
      </p:sp>
      <p:sp>
        <p:nvSpPr>
          <p:cNvPr id="708" name="Google Shape;708;p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$35,521</a:t>
            </a:r>
            <a:endParaRPr/>
          </a:p>
        </p:txBody>
      </p:sp>
      <p:sp>
        <p:nvSpPr>
          <p:cNvPr id="709" name="Google Shape;709;p6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$-953,383</a:t>
            </a:r>
            <a:endParaRPr/>
          </a:p>
        </p:txBody>
      </p:sp>
      <p:sp>
        <p:nvSpPr>
          <p:cNvPr id="710" name="Google Shape;710;p6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1,082</a:t>
            </a:r>
            <a:endParaRPr/>
          </a:p>
        </p:txBody>
      </p:sp>
      <p:sp>
        <p:nvSpPr>
          <p:cNvPr id="711" name="Google Shape;711;p6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761</a:t>
            </a:r>
            <a:endParaRPr/>
          </a:p>
        </p:txBody>
      </p:sp>
      <p:sp>
        <p:nvSpPr>
          <p:cNvPr id="712" name="Google Shape;712;p6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113</a:t>
            </a:r>
            <a:endParaRPr/>
          </a:p>
        </p:txBody>
      </p:sp>
      <p:sp>
        <p:nvSpPr>
          <p:cNvPr id="713" name="Google Shape;713;p6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10.4%</a:t>
            </a:r>
            <a:endParaRPr/>
          </a:p>
        </p:txBody>
      </p:sp>
      <p:sp>
        <p:nvSpPr>
          <p:cNvPr id="714" name="Google Shape;714;p6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15" name="Google Shape;715;p6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$1,921,518</a:t>
            </a:r>
            <a:endParaRPr/>
          </a:p>
        </p:txBody>
      </p:sp>
      <p:sp>
        <p:nvSpPr>
          <p:cNvPr id="716" name="Google Shape;716;p6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$620,504</a:t>
            </a:r>
            <a:endParaRPr/>
          </a:p>
        </p:txBody>
      </p:sp>
      <p:sp>
        <p:nvSpPr>
          <p:cNvPr id="717" name="Google Shape;717;p6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$82,283</a:t>
            </a:r>
            <a:endParaRPr/>
          </a:p>
        </p:txBody>
      </p:sp>
      <p:sp>
        <p:nvSpPr>
          <p:cNvPr id="718" name="Google Shape;718;p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$-408,244</a:t>
            </a:r>
            <a:endParaRPr/>
          </a:p>
        </p:txBody>
      </p:sp>
      <p:sp>
        <p:nvSpPr>
          <p:cNvPr id="719" name="Google Shape;719;p6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690</a:t>
            </a:r>
            <a:endParaRPr/>
          </a:p>
        </p:txBody>
      </p:sp>
      <p:sp>
        <p:nvSpPr>
          <p:cNvPr id="720" name="Google Shape;720;p6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456</a:t>
            </a:r>
            <a:endParaRPr/>
          </a:p>
        </p:txBody>
      </p:sp>
      <p:sp>
        <p:nvSpPr>
          <p:cNvPr id="721" name="Google Shape;721;p6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722" name="Google Shape;722;p6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</p:txBody>
      </p:sp>
      <p:sp>
        <p:nvSpPr>
          <p:cNvPr id="723" name="Google Shape;723;p6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6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725" name="Google Shape;725;p6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$18,919,423</a:t>
            </a:r>
            <a:endParaRPr/>
          </a:p>
        </p:txBody>
      </p:sp>
      <p:sp>
        <p:nvSpPr>
          <p:cNvPr id="726" name="Google Shape;726;p6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$5,807,593</a:t>
            </a:r>
            <a:endParaRPr/>
          </a:p>
        </p:txBody>
      </p:sp>
      <p:sp>
        <p:nvSpPr>
          <p:cNvPr id="727" name="Google Shape;727;p6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$942,719</a:t>
            </a:r>
            <a:endParaRPr/>
          </a:p>
        </p:txBody>
      </p:sp>
      <p:sp>
        <p:nvSpPr>
          <p:cNvPr id="728" name="Google Shape;728;p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$-4,020,350</a:t>
            </a:r>
            <a:endParaRPr/>
          </a:p>
        </p:txBody>
      </p:sp>
      <p:sp>
        <p:nvSpPr>
          <p:cNvPr id="729" name="Google Shape;729;p6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4,517</a:t>
            </a:r>
            <a:endParaRPr/>
          </a:p>
        </p:txBody>
      </p:sp>
      <p:sp>
        <p:nvSpPr>
          <p:cNvPr id="730" name="Google Shape;730;p6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3,073</a:t>
            </a:r>
            <a:endParaRPr/>
          </a:p>
        </p:txBody>
      </p:sp>
      <p:sp>
        <p:nvSpPr>
          <p:cNvPr id="731" name="Google Shape;731;p6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466</a:t>
            </a:r>
            <a:endParaRPr/>
          </a:p>
        </p:txBody>
      </p:sp>
      <p:sp>
        <p:nvSpPr>
          <p:cNvPr id="732" name="Google Shape;732;p6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733" name="Google Shape;733;p6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= up vs prior month  |  Red = down vs prior month or negative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7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In My Portfolio — Alexis Berry-Smith</a:t>
            </a:r>
            <a:endParaRPr/>
          </a:p>
        </p:txBody>
      </p:sp>
      <p:sp>
        <p:nvSpPr>
          <p:cNvPr id="739" name="Google Shape;739;p7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Dirt, Sand &amp; Gravel program performance across this bdm's agencies  |  2026 YTD</a:t>
            </a:r>
            <a:endParaRPr/>
          </a:p>
        </p:txBody>
      </p:sp>
      <p:sp>
        <p:nvSpPr>
          <p:cNvPr id="740" name="Google Shape;740;p7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SUBMISSIONS</a:t>
            </a:r>
            <a:endParaRPr/>
          </a:p>
        </p:txBody>
      </p:sp>
      <p:sp>
        <p:nvSpPr>
          <p:cNvPr id="741" name="Google Shape;741;p7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ACCOUNTS</a:t>
            </a:r>
            <a:endParaRPr/>
          </a:p>
        </p:txBody>
      </p:sp>
      <p:sp>
        <p:nvSpPr>
          <p:cNvPr id="742" name="Google Shape;742;p7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$126,384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GROSS WRITTEN PREM</a:t>
            </a:r>
            <a:endParaRPr/>
          </a:p>
        </p:txBody>
      </p:sp>
      <p:sp>
        <p:nvSpPr>
          <p:cNvPr id="743" name="Google Shape;743;p7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</a:t>
            </a:r>
            <a:endParaRPr/>
          </a:p>
        </p:txBody>
      </p:sp>
      <p:sp>
        <p:nvSpPr>
          <p:cNvPr id="744" name="Google Shape;744;p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7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ACTIVITY BY AGENCY (top 8 by submissions)</a:t>
            </a:r>
            <a:endParaRPr/>
          </a:p>
        </p:txBody>
      </p:sp>
      <p:sp>
        <p:nvSpPr>
          <p:cNvPr id="746" name="Google Shape;746;p7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747" name="Google Shape;747;p7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48" name="Google Shape;748;p7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Declined</a:t>
            </a:r>
            <a:endParaRPr/>
          </a:p>
        </p:txBody>
      </p:sp>
      <p:sp>
        <p:nvSpPr>
          <p:cNvPr id="749" name="Google Shape;749;p7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750" name="Google Shape;750;p7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751" name="Google Shape;751;p7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752" name="Google Shape;752;p7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7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Truck Insurance Services, Inc.</a:t>
            </a:r>
            <a:endParaRPr/>
          </a:p>
        </p:txBody>
      </p:sp>
      <p:sp>
        <p:nvSpPr>
          <p:cNvPr id="754" name="Google Shape;754;p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755" name="Google Shape;755;p7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756" name="Google Shape;756;p7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7" name="Google Shape;757;p7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8" name="Google Shape;758;p7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59" name="Google Shape;759;p7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Pacific Atlantic Insurance Services Inc</a:t>
            </a:r>
            <a:endParaRPr/>
          </a:p>
        </p:txBody>
      </p:sp>
      <p:sp>
        <p:nvSpPr>
          <p:cNvPr id="760" name="Google Shape;760;p7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61" name="Google Shape;761;p7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62" name="Google Shape;762;p7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3" name="Google Shape;763;p7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764" name="Google Shape;764;p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$15,509</a:t>
            </a:r>
            <a:endParaRPr/>
          </a:p>
        </p:txBody>
      </p:sp>
      <p:sp>
        <p:nvSpPr>
          <p:cNvPr id="765" name="Google Shape;765;p7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7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Insurance Services LLC</a:t>
            </a:r>
            <a:endParaRPr/>
          </a:p>
        </p:txBody>
      </p:sp>
      <p:sp>
        <p:nvSpPr>
          <p:cNvPr id="767" name="Google Shape;767;p7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68" name="Google Shape;768;p7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9" name="Google Shape;769;p7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0" name="Google Shape;770;p7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771" name="Google Shape;771;p7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$14,583</a:t>
            </a:r>
            <a:endParaRPr/>
          </a:p>
        </p:txBody>
      </p:sp>
      <p:sp>
        <p:nvSpPr>
          <p:cNvPr id="772" name="Google Shape;772;p7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773" name="Google Shape;773;p7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74" name="Google Shape;774;p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75" name="Google Shape;775;p7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6" name="Google Shape;776;p7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7" name="Google Shape;777;p7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78" name="Google Shape;778;p7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7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Berrier Insurance Agency, Inc.</a:t>
            </a:r>
            <a:endParaRPr/>
          </a:p>
        </p:txBody>
      </p:sp>
      <p:sp>
        <p:nvSpPr>
          <p:cNvPr id="780" name="Google Shape;780;p7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81" name="Google Shape;781;p7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82" name="Google Shape;782;p7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" name="Google Shape;783;p7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4" name="Google Shape;784;p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85" name="Google Shape;785;p7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 Rue Insurance Agency, Inc</a:t>
            </a:r>
            <a:endParaRPr/>
          </a:p>
        </p:txBody>
      </p:sp>
      <p:sp>
        <p:nvSpPr>
          <p:cNvPr id="786" name="Google Shape;786;p7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87" name="Google Shape;787;p7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8" name="Google Shape;788;p7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9" name="Google Shape;789;p7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790" name="Google Shape;790;p7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$19,077</a:t>
            </a:r>
            <a:endParaRPr/>
          </a:p>
        </p:txBody>
      </p:sp>
      <p:sp>
        <p:nvSpPr>
          <p:cNvPr id="791" name="Google Shape;791;p7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7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MST INSURANCE SERVICES INC</a:t>
            </a:r>
            <a:endParaRPr/>
          </a:p>
        </p:txBody>
      </p:sp>
      <p:sp>
        <p:nvSpPr>
          <p:cNvPr id="793" name="Google Shape;793;p7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94" name="Google Shape;794;p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95" name="Google Shape;795;p7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96" name="Google Shape;796;p7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797" name="Google Shape;797;p7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$61,451</a:t>
            </a:r>
            <a:endParaRPr/>
          </a:p>
        </p:txBody>
      </p:sp>
      <p:sp>
        <p:nvSpPr>
          <p:cNvPr id="798" name="Google Shape;798;p7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Amerigo Insurance Agency</a:t>
            </a:r>
            <a:endParaRPr/>
          </a:p>
        </p:txBody>
      </p:sp>
      <p:sp>
        <p:nvSpPr>
          <p:cNvPr id="799" name="Google Shape;799;p7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00" name="Google Shape;800;p7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01" name="Google Shape;801;p7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2" name="Google Shape;802;p7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3" name="Google Shape;803;p7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04" name="Google Shape;804;p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States with DSG bound business in this book: CA, ID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8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8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In My Portfolio — Alexis Berry-Smith</a:t>
            </a:r>
            <a:endParaRPr/>
          </a:p>
        </p:txBody>
      </p:sp>
      <p:sp>
        <p:nvSpPr>
          <p:cNvPr id="810" name="Google Shape;810;p8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business (4+ power units) across this bdm's agencies  |  2026 YTD</a:t>
            </a:r>
            <a:endParaRPr/>
          </a:p>
        </p:txBody>
      </p:sp>
      <p:sp>
        <p:nvSpPr>
          <p:cNvPr id="811" name="Google Shape;811;p8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SUBMISSIONS</a:t>
            </a:r>
            <a:endParaRPr/>
          </a:p>
        </p:txBody>
      </p:sp>
      <p:sp>
        <p:nvSpPr>
          <p:cNvPr id="812" name="Google Shape;812;p8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</a:t>
            </a:r>
            <a:endParaRPr/>
          </a:p>
        </p:txBody>
      </p:sp>
      <p:sp>
        <p:nvSpPr>
          <p:cNvPr id="813" name="Google Shape;813;p8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$20,375,398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GWP</a:t>
            </a:r>
            <a:endParaRPr/>
          </a:p>
        </p:txBody>
      </p:sp>
      <p:sp>
        <p:nvSpPr>
          <p:cNvPr id="814" name="Google Shape;814;p8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UNITS / SUB</a:t>
            </a:r>
            <a:endParaRPr/>
          </a:p>
        </p:txBody>
      </p:sp>
      <p:sp>
        <p:nvSpPr>
          <p:cNvPr id="815" name="Google Shape;815;p8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BY AGENCY (top 8)</a:t>
            </a:r>
            <a:endParaRPr/>
          </a:p>
        </p:txBody>
      </p:sp>
      <p:sp>
        <p:nvSpPr>
          <p:cNvPr id="817" name="Google Shape;817;p8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18" name="Google Shape;818;p8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19" name="Google Shape;819;p8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820" name="Google Shape;820;p8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821" name="Google Shape;821;p8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822" name="Google Shape;822;p8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8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Stellar Management, Inc</a:t>
            </a:r>
            <a:endParaRPr/>
          </a:p>
        </p:txBody>
      </p:sp>
      <p:sp>
        <p:nvSpPr>
          <p:cNvPr id="824" name="Google Shape;824;p8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</a:t>
            </a:r>
            <a:endParaRPr/>
          </a:p>
        </p:txBody>
      </p:sp>
      <p:sp>
        <p:nvSpPr>
          <p:cNvPr id="825" name="Google Shape;825;p8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26" name="Google Shape;826;p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7.6%</a:t>
            </a:r>
            <a:endParaRPr/>
          </a:p>
        </p:txBody>
      </p:sp>
      <p:sp>
        <p:nvSpPr>
          <p:cNvPr id="827" name="Google Shape;827;p8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$1,484,514</a:t>
            </a:r>
            <a:endParaRPr/>
          </a:p>
        </p:txBody>
      </p:sp>
      <p:sp>
        <p:nvSpPr>
          <p:cNvPr id="828" name="Google Shape;828;p8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829" name="Google Shape;829;p8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101</a:t>
            </a:r>
            <a:endParaRPr/>
          </a:p>
        </p:txBody>
      </p:sp>
      <p:sp>
        <p:nvSpPr>
          <p:cNvPr id="830" name="Google Shape;830;p8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31" name="Google Shape;831;p8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13.9%</a:t>
            </a:r>
            <a:endParaRPr/>
          </a:p>
        </p:txBody>
      </p:sp>
      <p:sp>
        <p:nvSpPr>
          <p:cNvPr id="832" name="Google Shape;832;p8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$1,391,163</a:t>
            </a:r>
            <a:endParaRPr/>
          </a:p>
        </p:txBody>
      </p:sp>
      <p:sp>
        <p:nvSpPr>
          <p:cNvPr id="833" name="Google Shape;833;p8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8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Aic Insurance Agency LLC</a:t>
            </a:r>
            <a:endParaRPr/>
          </a:p>
        </p:txBody>
      </p:sp>
      <p:sp>
        <p:nvSpPr>
          <p:cNvPr id="835" name="Google Shape;835;p8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</a:t>
            </a:r>
            <a:endParaRPr/>
          </a:p>
        </p:txBody>
      </p:sp>
      <p:sp>
        <p:nvSpPr>
          <p:cNvPr id="836" name="Google Shape;836;p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837" name="Google Shape;837;p8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838" name="Google Shape;838;p8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$3,330,633</a:t>
            </a:r>
            <a:endParaRPr/>
          </a:p>
        </p:txBody>
      </p:sp>
      <p:sp>
        <p:nvSpPr>
          <p:cNvPr id="839" name="Google Shape;839;p8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Amerigo Insurance Agency</a:t>
            </a:r>
            <a:endParaRPr/>
          </a:p>
        </p:txBody>
      </p:sp>
      <p:sp>
        <p:nvSpPr>
          <p:cNvPr id="840" name="Google Shape;840;p8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841" name="Google Shape;841;p8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42" name="Google Shape;842;p8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27.9%</a:t>
            </a:r>
            <a:endParaRPr/>
          </a:p>
        </p:txBody>
      </p:sp>
      <p:sp>
        <p:nvSpPr>
          <p:cNvPr id="843" name="Google Shape;843;p8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$4,199,135</a:t>
            </a:r>
            <a:endParaRPr/>
          </a:p>
        </p:txBody>
      </p:sp>
      <p:sp>
        <p:nvSpPr>
          <p:cNvPr id="844" name="Google Shape;844;p8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" name="Google Shape;845;p8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 Rue Insurance Agency, Inc</a:t>
            </a:r>
            <a:endParaRPr/>
          </a:p>
        </p:txBody>
      </p:sp>
      <p:sp>
        <p:nvSpPr>
          <p:cNvPr id="846" name="Google Shape;846;p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847" name="Google Shape;847;p8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48" name="Google Shape;848;p8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28.8%</a:t>
            </a:r>
            <a:endParaRPr/>
          </a:p>
        </p:txBody>
      </p:sp>
      <p:sp>
        <p:nvSpPr>
          <p:cNvPr id="849" name="Google Shape;849;p8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$2,513,250</a:t>
            </a:r>
            <a:endParaRPr/>
          </a:p>
        </p:txBody>
      </p:sp>
      <p:sp>
        <p:nvSpPr>
          <p:cNvPr id="850" name="Google Shape;850;p8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Roadways Commercial Insurance Services Inc</a:t>
            </a:r>
            <a:endParaRPr/>
          </a:p>
        </p:txBody>
      </p:sp>
      <p:sp>
        <p:nvSpPr>
          <p:cNvPr id="851" name="Google Shape;851;p8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852" name="Google Shape;852;p8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53" name="Google Shape;853;p8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51.5%</a:t>
            </a:r>
            <a:endParaRPr/>
          </a:p>
        </p:txBody>
      </p:sp>
      <p:sp>
        <p:nvSpPr>
          <p:cNvPr id="854" name="Google Shape;854;p8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$1,827,497</a:t>
            </a:r>
            <a:endParaRPr/>
          </a:p>
        </p:txBody>
      </p:sp>
      <p:sp>
        <p:nvSpPr>
          <p:cNvPr id="855" name="Google Shape;855;p8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MST INSURANCE SERVICES INC</a:t>
            </a:r>
            <a:endParaRPr/>
          </a:p>
        </p:txBody>
      </p:sp>
      <p:sp>
        <p:nvSpPr>
          <p:cNvPr id="857" name="Google Shape;857;p8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858" name="Google Shape;858;p8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59" name="Google Shape;859;p8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31.0%</a:t>
            </a:r>
            <a:endParaRPr/>
          </a:p>
        </p:txBody>
      </p:sp>
      <p:sp>
        <p:nvSpPr>
          <p:cNvPr id="860" name="Google Shape;860;p8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$1,547,695</a:t>
            </a:r>
            <a:endParaRPr/>
          </a:p>
        </p:txBody>
      </p:sp>
      <p:sp>
        <p:nvSpPr>
          <p:cNvPr id="861" name="Google Shape;861;p8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Truck Insurance Services, Inc.</a:t>
            </a:r>
            <a:endParaRPr/>
          </a:p>
        </p:txBody>
      </p:sp>
      <p:sp>
        <p:nvSpPr>
          <p:cNvPr id="862" name="Google Shape;862;p8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863" name="Google Shape;863;p8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4" name="Google Shape;864;p8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5" name="Google Shape;865;p8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66" name="Google Shape;866;p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" name="Google Shape;867;p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SIZE MIX</a:t>
            </a:r>
            <a:endParaRPr/>
          </a:p>
        </p:txBody>
      </p:sp>
      <p:sp>
        <p:nvSpPr>
          <p:cNvPr id="868" name="Google Shape;868;p8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4-5 units</a:t>
            </a:r>
            <a:endParaRPr/>
          </a:p>
        </p:txBody>
      </p:sp>
      <p:sp>
        <p:nvSpPr>
          <p:cNvPr id="869" name="Google Shape;869;p8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326</a:t>
            </a:r>
            <a:endParaRPr/>
          </a:p>
        </p:txBody>
      </p:sp>
      <p:sp>
        <p:nvSpPr>
          <p:cNvPr id="870" name="Google Shape;870;p8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(47%)</a:t>
            </a:r>
            <a:endParaRPr/>
          </a:p>
        </p:txBody>
      </p:sp>
      <p:sp>
        <p:nvSpPr>
          <p:cNvPr id="871" name="Google Shape;871;p8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6-10 units</a:t>
            </a:r>
            <a:endParaRPr/>
          </a:p>
        </p:txBody>
      </p:sp>
      <p:sp>
        <p:nvSpPr>
          <p:cNvPr id="872" name="Google Shape;872;p8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247</a:t>
            </a:r>
            <a:endParaRPr/>
          </a:p>
        </p:txBody>
      </p:sp>
      <p:sp>
        <p:nvSpPr>
          <p:cNvPr id="873" name="Google Shape;873;p8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(36%)</a:t>
            </a:r>
            <a:endParaRPr/>
          </a:p>
        </p:txBody>
      </p:sp>
      <p:sp>
        <p:nvSpPr>
          <p:cNvPr id="874" name="Google Shape;874;p8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11-25 units</a:t>
            </a:r>
            <a:endParaRPr/>
          </a:p>
        </p:txBody>
      </p:sp>
      <p:sp>
        <p:nvSpPr>
          <p:cNvPr id="875" name="Google Shape;875;p8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111</a:t>
            </a:r>
            <a:endParaRPr/>
          </a:p>
        </p:txBody>
      </p:sp>
      <p:sp>
        <p:nvSpPr>
          <p:cNvPr id="876" name="Google Shape;876;p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(16%)</a:t>
            </a:r>
            <a:endParaRPr/>
          </a:p>
        </p:txBody>
      </p:sp>
      <p:sp>
        <p:nvSpPr>
          <p:cNvPr id="877" name="Google Shape;877;p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26-50 units</a:t>
            </a:r>
            <a:endParaRPr/>
          </a:p>
        </p:txBody>
      </p:sp>
      <p:sp>
        <p:nvSpPr>
          <p:cNvPr id="878" name="Google Shape;878;p8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79" name="Google Shape;879;p8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80" name="Google Shape;880;p8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51+ units</a:t>
            </a:r>
            <a:endParaRPr/>
          </a:p>
        </p:txBody>
      </p:sp>
      <p:sp>
        <p:nvSpPr>
          <p:cNvPr id="881" name="Google Shape;881;p8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82" name="Google Shape;882;p8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83" name="Google Shape;883;p8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 on fleet: 22.4%  ·  Declined: 148  ·  Source: cw_rep.transportation_submissions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p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" name="Google Shape;889;p9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Producers — Alexis Berry-Smith</a:t>
            </a:r>
            <a:endParaRPr/>
          </a:p>
        </p:txBody>
      </p:sp>
      <p:sp>
        <p:nvSpPr>
          <p:cNvPr id="890" name="Google Shape;890;p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Individual agents ranked by YTD submissions  |  Agent = broker_contact on submission  |  Trend = MoM</a:t>
            </a:r>
            <a:endParaRPr/>
          </a:p>
        </p:txBody>
      </p:sp>
      <p:sp>
        <p:nvSpPr>
          <p:cNvPr id="891" name="Google Shape;891;p9"/>
          <p:cNvSpPr/>
          <p:nvPr/>
        </p:nvSpPr>
        <p:spPr>
          <a:xfrm>
            <a:off x="182880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Subs</a:t>
            </a:r>
            <a:endParaRPr/>
          </a:p>
        </p:txBody>
      </p:sp>
      <p:sp>
        <p:nvSpPr>
          <p:cNvPr id="892" name="Google Shape;892;p9"/>
          <p:cNvSpPr/>
          <p:nvPr/>
        </p:nvSpPr>
        <p:spPr>
          <a:xfrm>
            <a:off x="2569464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Binds</a:t>
            </a:r>
            <a:endParaRPr/>
          </a:p>
        </p:txBody>
      </p:sp>
      <p:sp>
        <p:nvSpPr>
          <p:cNvPr id="893" name="Google Shape;893;p9"/>
          <p:cNvSpPr/>
          <p:nvPr/>
        </p:nvSpPr>
        <p:spPr>
          <a:xfrm>
            <a:off x="4956048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Hit Ratio</a:t>
            </a:r>
            <a:endParaRPr/>
          </a:p>
        </p:txBody>
      </p:sp>
      <p:sp>
        <p:nvSpPr>
          <p:cNvPr id="894" name="Google Shape;894;p9"/>
          <p:cNvSpPr/>
          <p:nvPr/>
        </p:nvSpPr>
        <p:spPr>
          <a:xfrm>
            <a:off x="7342631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Agents</a:t>
            </a:r>
            <a:endParaRPr/>
          </a:p>
        </p:txBody>
      </p:sp>
      <p:sp>
        <p:nvSpPr>
          <p:cNvPr id="895" name="Google Shape;895;p9"/>
          <p:cNvSpPr/>
          <p:nvPr/>
        </p:nvSpPr>
        <p:spPr>
          <a:xfrm>
            <a:off x="9729215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5 Agent Share</a:t>
            </a:r>
            <a:endParaRPr/>
          </a:p>
        </p:txBody>
      </p:sp>
      <p:sp>
        <p:nvSpPr>
          <p:cNvPr id="896" name="Google Shape;896;p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9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AGENTS BY SUBMISSIONS  —  Ranked 1–18</a:t>
            </a:r>
            <a:endParaRPr/>
          </a:p>
        </p:txBody>
      </p:sp>
      <p:sp>
        <p:nvSpPr>
          <p:cNvPr id="898" name="Google Shape;898;p9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899" name="Google Shape;899;p9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900" name="Google Shape;900;p9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01" name="Google Shape;901;p9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02" name="Google Shape;902;p9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903" name="Google Shape;903;p9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904" name="Google Shape;904;p9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9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" name="Google Shape;906;p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Raman Palta</a:t>
            </a:r>
            <a:endParaRPr/>
          </a:p>
        </p:txBody>
      </p:sp>
      <p:sp>
        <p:nvSpPr>
          <p:cNvPr id="907" name="Google Shape;907;p9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Stellar Management, Inc</a:t>
            </a:r>
            <a:endParaRPr/>
          </a:p>
        </p:txBody>
      </p:sp>
      <p:sp>
        <p:nvSpPr>
          <p:cNvPr id="908" name="Google Shape;908;p9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883</a:t>
            </a:r>
            <a:endParaRPr/>
          </a:p>
        </p:txBody>
      </p:sp>
      <p:sp>
        <p:nvSpPr>
          <p:cNvPr id="909" name="Google Shape;909;p9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910" name="Google Shape;910;p9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</p:txBody>
      </p:sp>
      <p:sp>
        <p:nvSpPr>
          <p:cNvPr id="911" name="Google Shape;911;p9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12" name="Google Shape;912;p9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Shubham Kamra</a:t>
            </a:r>
            <a:endParaRPr/>
          </a:p>
        </p:txBody>
      </p:sp>
      <p:sp>
        <p:nvSpPr>
          <p:cNvPr id="913" name="Google Shape;913;p9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914" name="Google Shape;914;p9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446</a:t>
            </a:r>
            <a:endParaRPr/>
          </a:p>
        </p:txBody>
      </p:sp>
      <p:sp>
        <p:nvSpPr>
          <p:cNvPr id="915" name="Google Shape;915;p9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916" name="Google Shape;916;p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7.0%</a:t>
            </a:r>
            <a:endParaRPr/>
          </a:p>
        </p:txBody>
      </p:sp>
      <p:sp>
        <p:nvSpPr>
          <p:cNvPr id="917" name="Google Shape;917;p9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18" name="Google Shape;918;p9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" name="Google Shape;919;p9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Angelica Puente</a:t>
            </a:r>
            <a:endParaRPr/>
          </a:p>
        </p:txBody>
      </p:sp>
      <p:sp>
        <p:nvSpPr>
          <p:cNvPr id="920" name="Google Shape;920;p9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Insurance Services Ll</a:t>
            </a:r>
            <a:endParaRPr/>
          </a:p>
        </p:txBody>
      </p:sp>
      <p:sp>
        <p:nvSpPr>
          <p:cNvPr id="921" name="Google Shape;921;p9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357</a:t>
            </a:r>
            <a:endParaRPr/>
          </a:p>
        </p:txBody>
      </p:sp>
      <p:sp>
        <p:nvSpPr>
          <p:cNvPr id="922" name="Google Shape;922;p9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923" name="Google Shape;923;p9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7.8%</a:t>
            </a:r>
            <a:endParaRPr/>
          </a:p>
        </p:txBody>
      </p:sp>
      <p:sp>
        <p:nvSpPr>
          <p:cNvPr id="924" name="Google Shape;924;p9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25" name="Google Shape;925;p9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Deepak Goswami</a:t>
            </a:r>
            <a:endParaRPr/>
          </a:p>
        </p:txBody>
      </p:sp>
      <p:sp>
        <p:nvSpPr>
          <p:cNvPr id="926" name="Google Shape;926;p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927" name="Google Shape;927;p9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355</a:t>
            </a:r>
            <a:endParaRPr/>
          </a:p>
        </p:txBody>
      </p:sp>
      <p:sp>
        <p:nvSpPr>
          <p:cNvPr id="928" name="Google Shape;928;p9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929" name="Google Shape;929;p9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</p:txBody>
      </p:sp>
      <p:sp>
        <p:nvSpPr>
          <p:cNvPr id="930" name="Google Shape;930;p9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31" name="Google Shape;931;p9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9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Parmjit Dhami</a:t>
            </a:r>
            <a:endParaRPr/>
          </a:p>
        </p:txBody>
      </p:sp>
      <p:sp>
        <p:nvSpPr>
          <p:cNvPr id="933" name="Google Shape;933;p9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Amerigo Insurance Agency</a:t>
            </a:r>
            <a:endParaRPr/>
          </a:p>
        </p:txBody>
      </p:sp>
      <p:sp>
        <p:nvSpPr>
          <p:cNvPr id="934" name="Google Shape;934;p9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312</a:t>
            </a:r>
            <a:endParaRPr/>
          </a:p>
        </p:txBody>
      </p:sp>
      <p:sp>
        <p:nvSpPr>
          <p:cNvPr id="935" name="Google Shape;935;p9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36" name="Google Shape;936;p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937" name="Google Shape;937;p9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38" name="Google Shape;938;p9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Alexander Rue</a:t>
            </a:r>
            <a:endParaRPr/>
          </a:p>
        </p:txBody>
      </p:sp>
      <p:sp>
        <p:nvSpPr>
          <p:cNvPr id="939" name="Google Shape;939;p9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 Rue Insurance Agency, Inc</a:t>
            </a:r>
            <a:endParaRPr/>
          </a:p>
        </p:txBody>
      </p:sp>
      <p:sp>
        <p:nvSpPr>
          <p:cNvPr id="940" name="Google Shape;940;p9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</p:txBody>
      </p:sp>
      <p:sp>
        <p:nvSpPr>
          <p:cNvPr id="941" name="Google Shape;941;p9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942" name="Google Shape;942;p9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943" name="Google Shape;943;p9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44" name="Google Shape;944;p9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p9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Manjit Singh</a:t>
            </a:r>
            <a:endParaRPr/>
          </a:p>
        </p:txBody>
      </p:sp>
      <p:sp>
        <p:nvSpPr>
          <p:cNvPr id="946" name="Google Shape;946;p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Roadways Commercial Insurance </a:t>
            </a:r>
            <a:endParaRPr/>
          </a:p>
        </p:txBody>
      </p:sp>
      <p:sp>
        <p:nvSpPr>
          <p:cNvPr id="947" name="Google Shape;947;p9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</a:t>
            </a:r>
            <a:endParaRPr/>
          </a:p>
        </p:txBody>
      </p:sp>
      <p:sp>
        <p:nvSpPr>
          <p:cNvPr id="948" name="Google Shape;948;p9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949" name="Google Shape;949;p9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14.5%</a:t>
            </a:r>
            <a:endParaRPr/>
          </a:p>
        </p:txBody>
      </p:sp>
      <p:sp>
        <p:nvSpPr>
          <p:cNvPr id="950" name="Google Shape;950;p9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51" name="Google Shape;951;p9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Dmitri Omelco</a:t>
            </a:r>
            <a:endParaRPr/>
          </a:p>
        </p:txBody>
      </p:sp>
      <p:sp>
        <p:nvSpPr>
          <p:cNvPr id="952" name="Google Shape;952;p9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Aic Insurance Agency Llc</a:t>
            </a:r>
            <a:endParaRPr/>
          </a:p>
        </p:txBody>
      </p:sp>
      <p:sp>
        <p:nvSpPr>
          <p:cNvPr id="953" name="Google Shape;953;p9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130</a:t>
            </a:r>
            <a:endParaRPr/>
          </a:p>
        </p:txBody>
      </p:sp>
      <p:sp>
        <p:nvSpPr>
          <p:cNvPr id="954" name="Google Shape;954;p9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55" name="Google Shape;955;p9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956" name="Google Shape;956;p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57" name="Google Shape;957;p9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" name="Google Shape;958;p9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Paul Metlenko</a:t>
            </a:r>
            <a:endParaRPr/>
          </a:p>
        </p:txBody>
      </p:sp>
      <p:sp>
        <p:nvSpPr>
          <p:cNvPr id="959" name="Google Shape;959;p9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Mobile Services, Inc</a:t>
            </a:r>
            <a:endParaRPr/>
          </a:p>
        </p:txBody>
      </p:sp>
      <p:sp>
        <p:nvSpPr>
          <p:cNvPr id="960" name="Google Shape;960;p9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961" name="Google Shape;961;p9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962" name="Google Shape;962;p9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963" name="Google Shape;963;p9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64" name="Google Shape;964;p9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Jessie Ghangas</a:t>
            </a:r>
            <a:endParaRPr/>
          </a:p>
        </p:txBody>
      </p:sp>
      <p:sp>
        <p:nvSpPr>
          <p:cNvPr id="965" name="Google Shape;965;p9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Pacific Atlantic Insurance Ser</a:t>
            </a:r>
            <a:endParaRPr/>
          </a:p>
        </p:txBody>
      </p:sp>
      <p:sp>
        <p:nvSpPr>
          <p:cNvPr id="966" name="Google Shape;966;p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967" name="Google Shape;967;p9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68" name="Google Shape;968;p9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969" name="Google Shape;969;p9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70" name="Google Shape;970;p9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9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Jasvir Kaur</a:t>
            </a:r>
            <a:endParaRPr/>
          </a:p>
        </p:txBody>
      </p:sp>
      <p:sp>
        <p:nvSpPr>
          <p:cNvPr id="972" name="Google Shape;972;p9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Grant Line Insurance Agency, I</a:t>
            </a:r>
            <a:endParaRPr/>
          </a:p>
        </p:txBody>
      </p:sp>
      <p:sp>
        <p:nvSpPr>
          <p:cNvPr id="973" name="Google Shape;973;p9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974" name="Google Shape;974;p9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75" name="Google Shape;975;p9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976" name="Google Shape;976;p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77" name="Google Shape;977;p9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Veronica Buruian</a:t>
            </a:r>
            <a:endParaRPr/>
          </a:p>
        </p:txBody>
      </p:sp>
      <p:sp>
        <p:nvSpPr>
          <p:cNvPr id="978" name="Google Shape;978;p9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Aic Insurance Agency Llc</a:t>
            </a:r>
            <a:endParaRPr/>
          </a:p>
        </p:txBody>
      </p:sp>
      <p:sp>
        <p:nvSpPr>
          <p:cNvPr id="979" name="Google Shape;979;p9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980" name="Google Shape;980;p9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1" name="Google Shape;981;p9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82" name="Google Shape;982;p9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3" name="Google Shape;983;p9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9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Baldev Singh</a:t>
            </a:r>
            <a:endParaRPr/>
          </a:p>
        </p:txBody>
      </p:sp>
      <p:sp>
        <p:nvSpPr>
          <p:cNvPr id="985" name="Google Shape;985;p9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986" name="Google Shape;986;p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987" name="Google Shape;987;p9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988" name="Google Shape;988;p9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16.4%</a:t>
            </a:r>
            <a:endParaRPr/>
          </a:p>
        </p:txBody>
      </p:sp>
      <p:sp>
        <p:nvSpPr>
          <p:cNvPr id="989" name="Google Shape;989;p9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90" name="Google Shape;990;p9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Raman Kailey</a:t>
            </a:r>
            <a:endParaRPr/>
          </a:p>
        </p:txBody>
      </p:sp>
      <p:sp>
        <p:nvSpPr>
          <p:cNvPr id="991" name="Google Shape;991;p9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American Continental Insurance</a:t>
            </a:r>
            <a:endParaRPr/>
          </a:p>
        </p:txBody>
      </p:sp>
      <p:sp>
        <p:nvSpPr>
          <p:cNvPr id="992" name="Google Shape;992;p9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993" name="Google Shape;993;p9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4" name="Google Shape;994;p9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995" name="Google Shape;995;p9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96" name="Google Shape;996;p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" name="Google Shape;997;p9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Sandy Gill</a:t>
            </a:r>
            <a:endParaRPr/>
          </a:p>
        </p:txBody>
      </p:sp>
      <p:sp>
        <p:nvSpPr>
          <p:cNvPr id="998" name="Google Shape;998;p9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 &amp; S Insurance Agency Inc.</a:t>
            </a:r>
            <a:endParaRPr/>
          </a:p>
        </p:txBody>
      </p:sp>
      <p:sp>
        <p:nvSpPr>
          <p:cNvPr id="999" name="Google Shape;999;p9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1000" name="Google Shape;1000;p9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01" name="Google Shape;1001;p9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1002" name="Google Shape;1002;p9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03" name="Google Shape;1003;p9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Manmdeep Thiara</a:t>
            </a:r>
            <a:endParaRPr/>
          </a:p>
        </p:txBody>
      </p:sp>
      <p:sp>
        <p:nvSpPr>
          <p:cNvPr id="1004" name="Google Shape;1004;p9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MST INSURANCE SERVICES INC</a:t>
            </a:r>
            <a:endParaRPr/>
          </a:p>
        </p:txBody>
      </p:sp>
      <p:sp>
        <p:nvSpPr>
          <p:cNvPr id="1005" name="Google Shape;1005;p9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1006" name="Google Shape;1006;p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07" name="Google Shape;1007;p9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8.6%</a:t>
            </a:r>
            <a:endParaRPr/>
          </a:p>
        </p:txBody>
      </p:sp>
      <p:sp>
        <p:nvSpPr>
          <p:cNvPr id="1008" name="Google Shape;1008;p9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09" name="Google Shape;1009;p9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" name="Google Shape;1010;p9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Michael Erbes</a:t>
            </a:r>
            <a:endParaRPr/>
          </a:p>
        </p:txBody>
      </p:sp>
      <p:sp>
        <p:nvSpPr>
          <p:cNvPr id="1011" name="Google Shape;1011;p9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Walker Insurance Agency, Inc.</a:t>
            </a:r>
            <a:endParaRPr/>
          </a:p>
        </p:txBody>
      </p:sp>
      <p:sp>
        <p:nvSpPr>
          <p:cNvPr id="1012" name="Google Shape;1012;p9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1013" name="Google Shape;1013;p9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014" name="Google Shape;1014;p9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1015" name="Google Shape;1015;p9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16" name="Google Shape;1016;p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Nick Lobodiuk</a:t>
            </a:r>
            <a:endParaRPr/>
          </a:p>
        </p:txBody>
      </p:sp>
      <p:sp>
        <p:nvSpPr>
          <p:cNvPr id="1017" name="Google Shape;1017;p9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Aic Insurance Agency Llc</a:t>
            </a:r>
            <a:endParaRPr/>
          </a:p>
        </p:txBody>
      </p:sp>
      <p:sp>
        <p:nvSpPr>
          <p:cNvPr id="1018" name="Google Shape;1018;p9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1019" name="Google Shape;1019;p9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20" name="Google Shape;1020;p9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15.2%</a:t>
            </a:r>
            <a:endParaRPr/>
          </a:p>
        </p:txBody>
      </p:sp>
      <p:sp>
        <p:nvSpPr>
          <p:cNvPr id="1021" name="Google Shape;1021;p9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22" name="Google Shape;1022;p9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" name="Google Shape;1023;p9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CONTINUED  —  Ranked 19–36</a:t>
            </a:r>
            <a:endParaRPr/>
          </a:p>
        </p:txBody>
      </p:sp>
      <p:sp>
        <p:nvSpPr>
          <p:cNvPr id="1024" name="Google Shape;1024;p9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1025" name="Google Shape;1025;p9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026" name="Google Shape;1026;p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27" name="Google Shape;1027;p9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28" name="Google Shape;1028;p9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1029" name="Google Shape;1029;p9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1030" name="Google Shape;1030;p9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" name="Google Shape;1031;p9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2" name="Google Shape;1032;p9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Veniamin Omelko</a:t>
            </a:r>
            <a:endParaRPr/>
          </a:p>
        </p:txBody>
      </p:sp>
      <p:sp>
        <p:nvSpPr>
          <p:cNvPr id="1033" name="Google Shape;1033;p9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Aic Insurance Agency Llc</a:t>
            </a:r>
            <a:endParaRPr/>
          </a:p>
        </p:txBody>
      </p:sp>
      <p:sp>
        <p:nvSpPr>
          <p:cNvPr id="1034" name="Google Shape;1034;p9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1035" name="Google Shape;1035;p9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6" name="Google Shape;1036;p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37" name="Google Shape;1037;p9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38" name="Google Shape;1038;p9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Sukhnek Bahia</a:t>
            </a:r>
            <a:endParaRPr/>
          </a:p>
        </p:txBody>
      </p:sp>
      <p:sp>
        <p:nvSpPr>
          <p:cNvPr id="1039" name="Google Shape;1039;p9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West Reliance Insurance Broker</a:t>
            </a:r>
            <a:endParaRPr/>
          </a:p>
        </p:txBody>
      </p:sp>
      <p:sp>
        <p:nvSpPr>
          <p:cNvPr id="1040" name="Google Shape;1040;p9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041" name="Google Shape;1041;p9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42" name="Google Shape;1042;p9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1043" name="Google Shape;1043;p9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44" name="Google Shape;1044;p9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5" name="Google Shape;1045;p9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Given Name Rahul</a:t>
            </a:r>
            <a:endParaRPr/>
          </a:p>
        </p:txBody>
      </p:sp>
      <p:sp>
        <p:nvSpPr>
          <p:cNvPr id="1046" name="Google Shape;1046;p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047" name="Google Shape;1047;p9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048" name="Google Shape;1048;p9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49" name="Google Shape;1049;p9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</p:txBody>
      </p:sp>
      <p:sp>
        <p:nvSpPr>
          <p:cNvPr id="1050" name="Google Shape;1050;p9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51" name="Google Shape;1051;p9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Tanya Golovina</a:t>
            </a:r>
            <a:endParaRPr/>
          </a:p>
        </p:txBody>
      </p:sp>
      <p:sp>
        <p:nvSpPr>
          <p:cNvPr id="1052" name="Google Shape;1052;p9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Aic Insurance Agency Llc</a:t>
            </a:r>
            <a:endParaRPr/>
          </a:p>
        </p:txBody>
      </p:sp>
      <p:sp>
        <p:nvSpPr>
          <p:cNvPr id="1053" name="Google Shape;1053;p9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054" name="Google Shape;1054;p9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55" name="Google Shape;1055;p9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22.9%</a:t>
            </a:r>
            <a:endParaRPr/>
          </a:p>
        </p:txBody>
      </p:sp>
      <p:sp>
        <p:nvSpPr>
          <p:cNvPr id="1056" name="Google Shape;1056;p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57" name="Google Shape;1057;p9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8" name="Google Shape;1058;p9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Grigoriy Gasan</a:t>
            </a:r>
            <a:endParaRPr/>
          </a:p>
        </p:txBody>
      </p:sp>
      <p:sp>
        <p:nvSpPr>
          <p:cNvPr id="1059" name="Google Shape;1059;p9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Aic Insurance Agency Llc</a:t>
            </a:r>
            <a:endParaRPr/>
          </a:p>
        </p:txBody>
      </p:sp>
      <p:sp>
        <p:nvSpPr>
          <p:cNvPr id="1060" name="Google Shape;1060;p9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061" name="Google Shape;1061;p9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2" name="Google Shape;1062;p9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3" name="Google Shape;1063;p9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64" name="Google Shape;1064;p9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Josh Thomas</a:t>
            </a:r>
            <a:endParaRPr/>
          </a:p>
        </p:txBody>
      </p:sp>
      <p:sp>
        <p:nvSpPr>
          <p:cNvPr id="1065" name="Google Shape;1065;p9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Truck Insurance Servic</a:t>
            </a:r>
            <a:endParaRPr/>
          </a:p>
        </p:txBody>
      </p:sp>
      <p:sp>
        <p:nvSpPr>
          <p:cNvPr id="1066" name="Google Shape;1066;p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067" name="Google Shape;1067;p9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8" name="Google Shape;1068;p9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9" name="Google Shape;1069;p9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70" name="Google Shape;1070;p9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1" name="Google Shape;1071;p9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KAVI Singh</a:t>
            </a:r>
            <a:endParaRPr/>
          </a:p>
        </p:txBody>
      </p:sp>
      <p:sp>
        <p:nvSpPr>
          <p:cNvPr id="1072" name="Google Shape;1072;p9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Kavi.llc</a:t>
            </a:r>
            <a:endParaRPr/>
          </a:p>
        </p:txBody>
      </p:sp>
      <p:sp>
        <p:nvSpPr>
          <p:cNvPr id="1073" name="Google Shape;1073;p9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074" name="Google Shape;1074;p9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075" name="Google Shape;1075;p9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17.6%</a:t>
            </a:r>
            <a:endParaRPr/>
          </a:p>
        </p:txBody>
      </p:sp>
      <p:sp>
        <p:nvSpPr>
          <p:cNvPr id="1076" name="Google Shape;1076;p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77" name="Google Shape;1077;p9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PABLO ROMAN</a:t>
            </a:r>
            <a:endParaRPr/>
          </a:p>
        </p:txBody>
      </p:sp>
      <p:sp>
        <p:nvSpPr>
          <p:cNvPr id="1078" name="Google Shape;1078;p9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Berrier Insurance Agency, Inc.</a:t>
            </a:r>
            <a:endParaRPr/>
          </a:p>
        </p:txBody>
      </p:sp>
      <p:sp>
        <p:nvSpPr>
          <p:cNvPr id="1079" name="Google Shape;1079;p9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080" name="Google Shape;1080;p9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81" name="Google Shape;1081;p9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8.8%</a:t>
            </a:r>
            <a:endParaRPr/>
          </a:p>
        </p:txBody>
      </p:sp>
      <p:sp>
        <p:nvSpPr>
          <p:cNvPr id="1082" name="Google Shape;1082;p9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83" name="Google Shape;1083;p9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4" name="Google Shape;1084;p9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Karmjit Bahia</a:t>
            </a:r>
            <a:endParaRPr/>
          </a:p>
        </p:txBody>
      </p:sp>
      <p:sp>
        <p:nvSpPr>
          <p:cNvPr id="1085" name="Google Shape;1085;p9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Key Insurance</a:t>
            </a:r>
            <a:endParaRPr/>
          </a:p>
        </p:txBody>
      </p:sp>
      <p:sp>
        <p:nvSpPr>
          <p:cNvPr id="1086" name="Google Shape;1086;p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087" name="Google Shape;1087;p9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8" name="Google Shape;1088;p9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1089" name="Google Shape;1089;p9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90" name="Google Shape;1090;p9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Brandon Fagliano</a:t>
            </a:r>
            <a:endParaRPr/>
          </a:p>
        </p:txBody>
      </p:sp>
      <p:sp>
        <p:nvSpPr>
          <p:cNvPr id="1091" name="Google Shape;1091;p9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Truck Insurance Servic</a:t>
            </a:r>
            <a:endParaRPr/>
          </a:p>
        </p:txBody>
      </p:sp>
      <p:sp>
        <p:nvSpPr>
          <p:cNvPr id="1092" name="Google Shape;1092;p9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093" name="Google Shape;1093;p9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94" name="Google Shape;1094;p9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1095" name="Google Shape;1095;p9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96" name="Google Shape;1096;p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7" name="Google Shape;1097;p9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Matthew Munoz</a:t>
            </a:r>
            <a:endParaRPr/>
          </a:p>
        </p:txBody>
      </p:sp>
      <p:sp>
        <p:nvSpPr>
          <p:cNvPr id="1098" name="Google Shape;1098;p9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Berrier Insurance Agency, Inc.</a:t>
            </a:r>
            <a:endParaRPr/>
          </a:p>
        </p:txBody>
      </p:sp>
      <p:sp>
        <p:nvSpPr>
          <p:cNvPr id="1099" name="Google Shape;1099;p9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100" name="Google Shape;1100;p9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01" name="Google Shape;1101;p9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1102" name="Google Shape;1102;p9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03" name="Google Shape;1103;p9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Brian Nicosia</a:t>
            </a:r>
            <a:endParaRPr/>
          </a:p>
        </p:txBody>
      </p:sp>
      <p:sp>
        <p:nvSpPr>
          <p:cNvPr id="1104" name="Google Shape;1104;p9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Truck Insurance Servic</a:t>
            </a:r>
            <a:endParaRPr/>
          </a:p>
        </p:txBody>
      </p:sp>
      <p:sp>
        <p:nvSpPr>
          <p:cNvPr id="1105" name="Google Shape;1105;p9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106" name="Google Shape;1106;p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7" name="Google Shape;1107;p9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08" name="Google Shape;1108;p9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09" name="Google Shape;1109;p9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0" name="Google Shape;1110;p9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Name Given Sandeep Ku</a:t>
            </a:r>
            <a:endParaRPr/>
          </a:p>
        </p:txBody>
      </p:sp>
      <p:sp>
        <p:nvSpPr>
          <p:cNvPr id="1111" name="Google Shape;1111;p9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112" name="Google Shape;1112;p9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113" name="Google Shape;1113;p9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4" name="Google Shape;1114;p9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15" name="Google Shape;1115;p9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16" name="Google Shape;1116;p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Omar Morquecho</a:t>
            </a:r>
            <a:endParaRPr/>
          </a:p>
        </p:txBody>
      </p:sp>
      <p:sp>
        <p:nvSpPr>
          <p:cNvPr id="1117" name="Google Shape;1117;p9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Monumental Insurance Services,</a:t>
            </a:r>
            <a:endParaRPr/>
          </a:p>
        </p:txBody>
      </p:sp>
      <p:sp>
        <p:nvSpPr>
          <p:cNvPr id="1118" name="Google Shape;1118;p9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119" name="Google Shape;1119;p9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20" name="Google Shape;1120;p9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21" name="Google Shape;1121;p9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22" name="Google Shape;1122;p9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3" name="Google Shape;1123;p9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 Del Pozzo</a:t>
            </a:r>
            <a:endParaRPr/>
          </a:p>
        </p:txBody>
      </p:sp>
      <p:sp>
        <p:nvSpPr>
          <p:cNvPr id="1124" name="Google Shape;1124;p9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Truck Insurance Servic</a:t>
            </a:r>
            <a:endParaRPr/>
          </a:p>
        </p:txBody>
      </p:sp>
      <p:sp>
        <p:nvSpPr>
          <p:cNvPr id="1125" name="Google Shape;1125;p9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126" name="Google Shape;1126;p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27" name="Google Shape;1127;p9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28" name="Google Shape;1128;p9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29" name="Google Shape;1129;p9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Andrei Omelco</a:t>
            </a:r>
            <a:endParaRPr/>
          </a:p>
        </p:txBody>
      </p:sp>
      <p:sp>
        <p:nvSpPr>
          <p:cNvPr id="1130" name="Google Shape;1130;p9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Aic Insurance Agency Llc</a:t>
            </a:r>
            <a:endParaRPr/>
          </a:p>
        </p:txBody>
      </p:sp>
      <p:sp>
        <p:nvSpPr>
          <p:cNvPr id="1131" name="Google Shape;1131;p9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132" name="Google Shape;1132;p9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33" name="Google Shape;1133;p9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13.0%</a:t>
            </a:r>
            <a:endParaRPr/>
          </a:p>
        </p:txBody>
      </p:sp>
      <p:sp>
        <p:nvSpPr>
          <p:cNvPr id="1134" name="Google Shape;1134;p9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35" name="Google Shape;1135;p9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6" name="Google Shape;1136;p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KRISHNA DAND</a:t>
            </a:r>
            <a:endParaRPr/>
          </a:p>
        </p:txBody>
      </p:sp>
      <p:sp>
        <p:nvSpPr>
          <p:cNvPr id="1137" name="Google Shape;1137;p9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Berrier Insurance Agency, Inc.</a:t>
            </a:r>
            <a:endParaRPr/>
          </a:p>
        </p:txBody>
      </p:sp>
      <p:sp>
        <p:nvSpPr>
          <p:cNvPr id="1138" name="Google Shape;1138;p9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139" name="Google Shape;1139;p9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40" name="Google Shape;1140;p9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1141" name="Google Shape;1141;p9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42" name="Google Shape;1142;p9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Parmpaul Thandi</a:t>
            </a:r>
            <a:endParaRPr/>
          </a:p>
        </p:txBody>
      </p:sp>
      <p:sp>
        <p:nvSpPr>
          <p:cNvPr id="1143" name="Google Shape;1143;p9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Soho Insurance Brokerage, Inc.</a:t>
            </a:r>
            <a:endParaRPr/>
          </a:p>
        </p:txBody>
      </p:sp>
      <p:sp>
        <p:nvSpPr>
          <p:cNvPr id="1144" name="Google Shape;1144;p9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145" name="Google Shape;1145;p9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46" name="Google Shape;1146;p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1147" name="Google Shape;1147;p9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48" name="Google Shape;1148;p9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Agent = broker_contact_user_id on submission record  |  Hit ratio = binds / subs  |  MoM = month-over-month  |  2 subs had no agent mapped (broker_contact_user_id not set)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2" name="Shape 1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Google Shape;1153;p1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4" name="Google Shape;1154;p10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Performers vs Underperformers</a:t>
            </a:r>
            <a:endParaRPr/>
          </a:p>
        </p:txBody>
      </p:sp>
      <p:sp>
        <p:nvSpPr>
          <p:cNvPr id="1155" name="Google Shape;1155;p1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Standouts and agencies needing attention</a:t>
            </a:r>
            <a:endParaRPr/>
          </a:p>
        </p:txBody>
      </p:sp>
      <p:sp>
        <p:nvSpPr>
          <p:cNvPr id="1156" name="Google Shape;1156;p10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7" name="Google Shape;1157;p10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EXCEEDING — Top 5</a:t>
            </a:r>
            <a:endParaRPr/>
          </a:p>
        </p:txBody>
      </p:sp>
      <p:sp>
        <p:nvSpPr>
          <p:cNvPr id="1158" name="Google Shape;1158;p10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9" name="Google Shape;1159;p10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— Bottom 5</a:t>
            </a:r>
            <a:endParaRPr/>
          </a:p>
        </p:txBody>
      </p:sp>
      <p:sp>
        <p:nvSpPr>
          <p:cNvPr id="1160" name="Google Shape;1160;p10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61" name="Google Shape;1161;p10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162" name="Google Shape;1162;p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$1,993,624  |  Subs 944  |  Binds 63  |  HR 6.7%</a:t>
            </a:r>
            <a:endParaRPr/>
          </a:p>
        </p:txBody>
      </p:sp>
      <p:sp>
        <p:nvSpPr>
          <p:cNvPr id="1163" name="Google Shape;1163;p10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6.7% (portfolio avg: 6.3%)  |  $1,993,624 YTD GWP</a:t>
            </a:r>
            <a:endParaRPr/>
          </a:p>
        </p:txBody>
      </p:sp>
      <p:sp>
        <p:nvSpPr>
          <p:cNvPr id="1164" name="Google Shape;1164;p10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65" name="Google Shape;1165;p10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Insurance Services Llc</a:t>
            </a:r>
            <a:endParaRPr/>
          </a:p>
        </p:txBody>
      </p:sp>
      <p:sp>
        <p:nvSpPr>
          <p:cNvPr id="1166" name="Google Shape;1166;p10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$848,152  |  Subs 357  |  Binds 28  |  HR 7.8%</a:t>
            </a:r>
            <a:endParaRPr/>
          </a:p>
        </p:txBody>
      </p:sp>
      <p:sp>
        <p:nvSpPr>
          <p:cNvPr id="1167" name="Google Shape;1167;p10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7.8% (portfolio avg: 6.3%)  |  $848,152 YTD GWP</a:t>
            </a:r>
            <a:endParaRPr/>
          </a:p>
        </p:txBody>
      </p:sp>
      <p:sp>
        <p:nvSpPr>
          <p:cNvPr id="1168" name="Google Shape;1168;p10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69" name="Google Shape;1169;p10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Roadways Commercial Insurance Services Inc</a:t>
            </a:r>
            <a:endParaRPr/>
          </a:p>
        </p:txBody>
      </p:sp>
      <p:sp>
        <p:nvSpPr>
          <p:cNvPr id="1170" name="Google Shape;1170;p10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$1,037,589  |  Subs 131  |  Binds 19  |  HR 14.5%</a:t>
            </a:r>
            <a:endParaRPr/>
          </a:p>
        </p:txBody>
      </p:sp>
      <p:sp>
        <p:nvSpPr>
          <p:cNvPr id="1171" name="Google Shape;1171;p10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14.5% (portfolio avg: 6.3%)  |  $1,037,589 YTD GWP</a:t>
            </a:r>
            <a:endParaRPr/>
          </a:p>
        </p:txBody>
      </p:sp>
      <p:sp>
        <p:nvSpPr>
          <p:cNvPr id="1172" name="Google Shape;1172;p1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73" name="Google Shape;1173;p10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Aic Insurance Agency Llc</a:t>
            </a:r>
            <a:endParaRPr/>
          </a:p>
        </p:txBody>
      </p:sp>
      <p:sp>
        <p:nvSpPr>
          <p:cNvPr id="1174" name="Google Shape;1174;p10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$642,423  |  Subs 395  |  Binds 29  |  HR 7.3%</a:t>
            </a:r>
            <a:endParaRPr/>
          </a:p>
        </p:txBody>
      </p:sp>
      <p:sp>
        <p:nvSpPr>
          <p:cNvPr id="1175" name="Google Shape;1175;p10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7.3% (portfolio avg: 6.3%)  |  $642,423 YTD GWP</a:t>
            </a:r>
            <a:endParaRPr/>
          </a:p>
        </p:txBody>
      </p:sp>
      <p:sp>
        <p:nvSpPr>
          <p:cNvPr id="1176" name="Google Shape;1176;p10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77" name="Google Shape;1177;p10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Stellar Management, Inc</a:t>
            </a:r>
            <a:endParaRPr/>
          </a:p>
        </p:txBody>
      </p:sp>
      <p:sp>
        <p:nvSpPr>
          <p:cNvPr id="1178" name="Google Shape;1178;p10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$687,533  |  Subs 883  |  Binds 23  |  HR 2.6%</a:t>
            </a:r>
            <a:endParaRPr/>
          </a:p>
        </p:txBody>
      </p:sp>
      <p:sp>
        <p:nvSpPr>
          <p:cNvPr id="1179" name="Google Shape;1179;p10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$687,533 YTD GWP  |  23 binds in Q1</a:t>
            </a:r>
            <a:endParaRPr/>
          </a:p>
        </p:txBody>
      </p:sp>
      <p:sp>
        <p:nvSpPr>
          <p:cNvPr id="1180" name="Google Shape;1180;p10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81" name="Google Shape;1181;p10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Monumental Insurance Services, Llc</a:t>
            </a:r>
            <a:endParaRPr/>
          </a:p>
        </p:txBody>
      </p:sp>
      <p:sp>
        <p:nvSpPr>
          <p:cNvPr id="1182" name="Google Shape;1182;p1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$69,299  |  Subs 24  |  Binds 0  |  HR 0.0%</a:t>
            </a:r>
            <a:endParaRPr/>
          </a:p>
        </p:txBody>
      </p:sp>
      <p:sp>
        <p:nvSpPr>
          <p:cNvPr id="1183" name="Google Shape;1183;p10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 submissions with 0 binds - zero conversion  |  18 quotes generated but 0 converted to binds</a:t>
            </a:r>
            <a:endParaRPr/>
          </a:p>
        </p:txBody>
      </p:sp>
      <p:sp>
        <p:nvSpPr>
          <p:cNvPr id="1184" name="Google Shape;1184;p10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85" name="Google Shape;1185;p10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Pacific Atlantic Insurance Services Inc</a:t>
            </a:r>
            <a:endParaRPr/>
          </a:p>
        </p:txBody>
      </p:sp>
      <p:sp>
        <p:nvSpPr>
          <p:cNvPr id="1186" name="Google Shape;1186;p10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$320,638  |  Subs 87  |  Binds 9  |  HR 10.3%</a:t>
            </a:r>
            <a:endParaRPr/>
          </a:p>
        </p:txBody>
      </p:sp>
      <p:sp>
        <p:nvSpPr>
          <p:cNvPr id="1187" name="Google Shape;1187;p10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are 152% of new business ($348,359 vs $228,837)  |  Submissions dropped 79% MoM (34 -&gt; 7)</a:t>
            </a:r>
            <a:endParaRPr/>
          </a:p>
        </p:txBody>
      </p:sp>
      <p:sp>
        <p:nvSpPr>
          <p:cNvPr id="1188" name="Google Shape;1188;p10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89" name="Google Shape;1189;p10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Amerigo Insurance Agency</a:t>
            </a:r>
            <a:endParaRPr/>
          </a:p>
        </p:txBody>
      </p:sp>
      <p:sp>
        <p:nvSpPr>
          <p:cNvPr id="1190" name="Google Shape;1190;p10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$194,350  |  Subs 312  |  Binds 6  |  HR 1.9%</a:t>
            </a:r>
            <a:endParaRPr/>
          </a:p>
        </p:txBody>
      </p:sp>
      <p:sp>
        <p:nvSpPr>
          <p:cNvPr id="1191" name="Google Shape;1191;p10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1.9% on 312 subs  |  Submissions dropped 57% MoM (100 -&gt; 43)</a:t>
            </a:r>
            <a:endParaRPr/>
          </a:p>
        </p:txBody>
      </p:sp>
      <p:sp>
        <p:nvSpPr>
          <p:cNvPr id="1192" name="Google Shape;1192;p1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93" name="Google Shape;1193;p10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 &amp; S Insurance Agency Inc.</a:t>
            </a:r>
            <a:endParaRPr/>
          </a:p>
        </p:txBody>
      </p:sp>
      <p:sp>
        <p:nvSpPr>
          <p:cNvPr id="1194" name="Google Shape;1194;p10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$51,411  |  Subs 61  |  Binds 3  |  HR 4.9%</a:t>
            </a:r>
            <a:endParaRPr/>
          </a:p>
        </p:txBody>
      </p:sp>
      <p:sp>
        <p:nvSpPr>
          <p:cNvPr id="1195" name="Google Shape;1195;p10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are 238% of new business ($63,999 vs $26,866)</a:t>
            </a:r>
            <a:endParaRPr/>
          </a:p>
        </p:txBody>
      </p:sp>
      <p:sp>
        <p:nvSpPr>
          <p:cNvPr id="1196" name="Google Shape;1196;p10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97" name="Google Shape;1197;p10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American Continental Insurance Services In</a:t>
            </a:r>
            <a:endParaRPr/>
          </a:p>
        </p:txBody>
      </p:sp>
      <p:sp>
        <p:nvSpPr>
          <p:cNvPr id="1198" name="Google Shape;1198;p10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$48,613  |  Subs 68  |  Binds 3  |  HR 4.4%</a:t>
            </a:r>
            <a:endParaRPr/>
          </a:p>
        </p:txBody>
      </p:sp>
      <p:sp>
        <p:nvSpPr>
          <p:cNvPr id="1199" name="Google Shape;1199;p10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are 165% of new business ($61,279 vs $37,175)  |  Submissions dropped 68% MoM (19 -&gt; 6)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3" name="Shape 1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Google Shape;1204;p1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5" name="Google Shape;1205;p11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Agencies I Appointed — Alexis Berry-Smith</a:t>
            </a:r>
            <a:endParaRPr/>
          </a:p>
        </p:txBody>
      </p:sp>
      <p:sp>
        <p:nvSpPr>
          <p:cNvPr id="1206" name="Google Shape;1206;p1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4 progress  |  Q2 goal: 4 new producing agencies  |  Source: HubSpot Net New Agency / Activated Won</a:t>
            </a:r>
            <a:endParaRPr/>
          </a:p>
        </p:txBody>
      </p:sp>
      <p:sp>
        <p:nvSpPr>
          <p:cNvPr id="1207" name="Google Shape;1207;p11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 of 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Q2 OKR 4 PROGRESS</a:t>
            </a:r>
            <a:endParaRPr/>
          </a:p>
        </p:txBody>
      </p:sp>
      <p:sp>
        <p:nvSpPr>
          <p:cNvPr id="1208" name="Google Shape;1208;p11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YTD</a:t>
            </a:r>
            <a:endParaRPr/>
          </a:p>
        </p:txBody>
      </p:sp>
      <p:sp>
        <p:nvSpPr>
          <p:cNvPr id="1209" name="Google Shape;1209;p11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SUB</a:t>
            </a:r>
            <a:endParaRPr/>
          </a:p>
        </p:txBody>
      </p:sp>
      <p:sp>
        <p:nvSpPr>
          <p:cNvPr id="1210" name="Google Shape;1210;p11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BIND</a:t>
            </a:r>
            <a:endParaRPr/>
          </a:p>
        </p:txBody>
      </p:sp>
      <p:sp>
        <p:nvSpPr>
          <p:cNvPr id="1211" name="Google Shape;1211;p11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SUBS POST-APPT</a:t>
            </a:r>
            <a:endParaRPr/>
          </a:p>
        </p:txBody>
      </p:sp>
      <p:sp>
        <p:nvSpPr>
          <p:cNvPr id="1212" name="Google Shape;1212;p11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Activation: 0/0 appointed agencies have submitted (0%)  •  0/0 have bound (0%)  •  Total bound: 0  •  Total GWP: $0</a:t>
            </a:r>
            <a:endParaRPr/>
          </a:p>
        </p:txBody>
      </p:sp>
      <p:sp>
        <p:nvSpPr>
          <p:cNvPr id="1213" name="Google Shape;1213;p11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4" name="Google Shape;1214;p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AGENCIES (newest first)</a:t>
            </a:r>
            <a:endParaRPr/>
          </a:p>
        </p:txBody>
      </p:sp>
      <p:sp>
        <p:nvSpPr>
          <p:cNvPr id="1215" name="Google Shape;1215;p11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16" name="Google Shape;1216;p11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</a:t>
            </a:r>
            <a:endParaRPr/>
          </a:p>
        </p:txBody>
      </p:sp>
      <p:sp>
        <p:nvSpPr>
          <p:cNvPr id="1217" name="Google Shape;1217;p11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18" name="Google Shape;1218;p11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Sub</a:t>
            </a:r>
            <a:endParaRPr/>
          </a:p>
        </p:txBody>
      </p:sp>
      <p:sp>
        <p:nvSpPr>
          <p:cNvPr id="1219" name="Google Shape;1219;p11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20" name="Google Shape;1220;p11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Bind</a:t>
            </a:r>
            <a:endParaRPr/>
          </a:p>
        </p:txBody>
      </p:sp>
      <p:sp>
        <p:nvSpPr>
          <p:cNvPr id="1221" name="Google Shape;1221;p11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222" name="Google Shape;1222;p11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Activated Won appointments in this book year-to-date.</a:t>
            </a:r>
            <a:endParaRPr/>
          </a:p>
        </p:txBody>
      </p:sp>
      <p:sp>
        <p:nvSpPr>
          <p:cNvPr id="1223" name="Google Shape;1223;p11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4 source: HubSpot Net New Agency Prospect Pipeline · Activated Won stage · only 'Appointed - ' prefix deals count (matches BD Rep Scoreboard). BDMs scored on count vs goal of 4/quarter.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7" name="Shape 1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p1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9" name="Google Shape;1229;p1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Assessment &amp; Priorities</a:t>
            </a:r>
            <a:endParaRPr/>
          </a:p>
        </p:txBody>
      </p:sp>
      <p:sp>
        <p:nvSpPr>
          <p:cNvPr id="1230" name="Google Shape;1230;p1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Alexis Berry-Smith Portfolio  |  Jan–May 2026  |  Strengths, gaps, and ranked action items</a:t>
            </a:r>
            <a:endParaRPr/>
          </a:p>
        </p:txBody>
      </p:sp>
      <p:sp>
        <p:nvSpPr>
          <p:cNvPr id="1231" name="Google Shape;1231;p12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2" name="Google Shape;1232;p12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233" name="Google Shape;1233;p12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34" name="Google Shape;1234;p12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(A.s.i.a Inc, Roadways Commercial Insur, Truckers Insurance Servic) drive $3,879,365 (45%) of portfolio YTD GWP</a:t>
            </a:r>
            <a:endParaRPr/>
          </a:p>
        </p:txBody>
      </p:sp>
      <p:sp>
        <p:nvSpPr>
          <p:cNvPr id="1235" name="Google Shape;1235;p12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36" name="Google Shape;1236;p12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hit ratios: Insurance Mobile Ser (20.0%), Kavi.llc (14.6%), Roadways Commercial  (14.5%)</a:t>
            </a:r>
            <a:endParaRPr/>
          </a:p>
        </p:txBody>
      </p:sp>
      <p:sp>
        <p:nvSpPr>
          <p:cNvPr id="1237" name="Google Shape;1237;p12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38" name="Google Shape;1238;p12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 agencies converting submissions to bound business in Jan–May 2026</a:t>
            </a:r>
            <a:endParaRPr/>
          </a:p>
        </p:txBody>
      </p:sp>
      <p:sp>
        <p:nvSpPr>
          <p:cNvPr id="1239" name="Google Shape;1239;p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40" name="Google Shape;1240;p12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4,150 total submissions across 22 active agencies</a:t>
            </a:r>
            <a:endParaRPr/>
          </a:p>
        </p:txBody>
      </p:sp>
      <p:sp>
        <p:nvSpPr>
          <p:cNvPr id="1241" name="Google Shape;1241;p12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2" name="Google Shape;1242;p12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- Areas for Improvement</a:t>
            </a:r>
            <a:endParaRPr/>
          </a:p>
        </p:txBody>
      </p:sp>
      <p:sp>
        <p:nvSpPr>
          <p:cNvPr id="1243" name="Google Shape;1243;p12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44" name="Google Shape;1244;p12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agencies submitting but 0 binds (24 subs): Monumental Insurance (24)</a:t>
            </a:r>
            <a:endParaRPr/>
          </a:p>
        </p:txBody>
      </p:sp>
      <p:sp>
        <p:nvSpPr>
          <p:cNvPr id="1245" name="Google Shape;1245;p12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46" name="Google Shape;1246;p12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hit ratios need coaching: Amerigo Insurance Ag (1.9%), Stellar Management,  (2.6%)</a:t>
            </a:r>
            <a:endParaRPr/>
          </a:p>
        </p:txBody>
      </p:sp>
      <p:sp>
        <p:nvSpPr>
          <p:cNvPr id="1247" name="Google Shape;1247;p1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8" name="Google Shape;1248;p12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STRATEGIC PRIORITIES — Ranked by Estimated Impact</a:t>
            </a:r>
            <a:endParaRPr/>
          </a:p>
        </p:txBody>
      </p:sp>
      <p:sp>
        <p:nvSpPr>
          <p:cNvPr id="1249" name="Google Shape;1249;p1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250" name="Google Shape;1250;p12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Reduce Cancellation Rates</a:t>
            </a:r>
            <a:endParaRPr/>
          </a:p>
        </p:txBody>
      </p:sp>
      <p:sp>
        <p:nvSpPr>
          <p:cNvPr id="1251" name="Google Shape;1251;p1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 agencies with cancellations &gt;40% of new biz: A.s.i.a Inc, Roadways Commercial Insur, Truckers Insurance Servic. $3,436,850 total cancellations - investigate retention.</a:t>
            </a:r>
            <a:endParaRPr/>
          </a:p>
        </p:txBody>
      </p:sp>
      <p:sp>
        <p:nvSpPr>
          <p:cNvPr id="1252" name="Google Shape;1252;p12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253" name="Google Shape;1253;p12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Scale Top Performers</a:t>
            </a:r>
            <a:endParaRPr/>
          </a:p>
        </p:txBody>
      </p:sp>
      <p:sp>
        <p:nvSpPr>
          <p:cNvPr id="1254" name="Google Shape;1254;p12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Double down on high-converting agencies: A.s.i.a Inc, Roadways Commercial Insur, Truckers Insurance Servic. Increase submission volume 20% through marketing support and referral incentives.</a:t>
            </a:r>
            <a:endParaRPr/>
          </a:p>
        </p:txBody>
      </p:sp>
      <p:sp>
        <p:nvSpPr>
          <p:cNvPr id="1255" name="Google Shape;1255;p1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256" name="Google Shape;1256;p12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Improve Low Hit Ratio Agencies</a:t>
            </a:r>
            <a:endParaRPr/>
          </a:p>
        </p:txBody>
      </p:sp>
      <p:sp>
        <p:nvSpPr>
          <p:cNvPr id="1257" name="Google Shape;1257;p1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agencies with 20+ subs but &lt;3% HR: Amerigo Insurance Ag (1.9%), Stellar Management,  (2.6%). Conduct submission quality training to lift conversion 2-3 points.</a:t>
            </a:r>
            <a:endParaRPr/>
          </a:p>
        </p:txBody>
      </p:sp>
      <p:sp>
        <p:nvSpPr>
          <p:cNvPr id="1258" name="Google Shape;1258;p12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59" name="Google Shape;1259;p1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Develop High-Volume Growth Candidates</a:t>
            </a:r>
            <a:endParaRPr/>
          </a:p>
        </p:txBody>
      </p:sp>
      <p:sp>
        <p:nvSpPr>
          <p:cNvPr id="1260" name="Google Shape;1260;p12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agencies with 30+ subs and some binds but &lt;5% HR: Stellar Management,  (883s/23b), Amerigo Insurance Ag (312s/6b), Network Truck Insura (181s/8b). Small HR improvements on large volume = significant premium lift.</a:t>
            </a:r>
            <a:endParaRPr/>
          </a:p>
        </p:txBody>
      </p:sp>
      <p:sp>
        <p:nvSpPr>
          <p:cNvPr id="1261" name="Google Shape;1261;p1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62" name="Google Shape;1262;p12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Arrest Declining Submission Volume</a:t>
            </a:r>
            <a:endParaRPr/>
          </a:p>
        </p:txBody>
      </p:sp>
      <p:sp>
        <p:nvSpPr>
          <p:cNvPr id="1263" name="Google Shape;1263;p12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agencies with 50%+ MoM drops: American Continental (19-&gt;6), Amerigo Insurance Ag (100-&gt;43), Grant Line Insurance (31-&gt;11). Investigate root causes.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67" name="Shape 1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Google Shape;1268;p1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9" name="Google Shape;1269;p1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Recently Bound Submissions</a:t>
            </a:r>
            <a:endParaRPr/>
          </a:p>
        </p:txBody>
      </p:sp>
      <p:sp>
        <p:nvSpPr>
          <p:cNvPr id="1270" name="Google Shape;1270;p1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Alexis Berry-Smith  |  Last 25 Bound Submissions  |  261 Total Bound in Portfolio</a:t>
            </a:r>
            <a:endParaRPr/>
          </a:p>
        </p:txBody>
      </p:sp>
      <p:sp>
        <p:nvSpPr>
          <p:cNvPr id="1271" name="Google Shape;1271;p13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#</a:t>
            </a:r>
            <a:endParaRPr/>
          </a:p>
        </p:txBody>
      </p:sp>
      <p:sp>
        <p:nvSpPr>
          <p:cNvPr id="1272" name="Google Shape;1272;p13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273" name="Google Shape;1273;p13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74" name="Google Shape;1274;p13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(Account)</a:t>
            </a:r>
            <a:endParaRPr/>
          </a:p>
        </p:txBody>
      </p:sp>
      <p:sp>
        <p:nvSpPr>
          <p:cNvPr id="1275" name="Google Shape;1275;p13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</a:t>
            </a:r>
            <a:endParaRPr/>
          </a:p>
        </p:txBody>
      </p:sp>
      <p:sp>
        <p:nvSpPr>
          <p:cNvPr id="1276" name="Google Shape;1276;p13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</a:t>
            </a:r>
            <a:endParaRPr/>
          </a:p>
        </p:txBody>
      </p:sp>
      <p:sp>
        <p:nvSpPr>
          <p:cNvPr id="1277" name="Google Shape;1277;p13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Date</a:t>
            </a:r>
            <a:endParaRPr/>
          </a:p>
        </p:txBody>
      </p:sp>
      <p:sp>
        <p:nvSpPr>
          <p:cNvPr id="1278" name="Google Shape;1278;p13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9" name="Google Shape;1279;p13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280" name="Google Shape;1280;p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268065250263</a:t>
            </a:r>
            <a:endParaRPr/>
          </a:p>
        </p:txBody>
      </p:sp>
      <p:sp>
        <p:nvSpPr>
          <p:cNvPr id="1281" name="Google Shape;1281;p13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282" name="Google Shape;1282;p13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HMG LOGISTICS LTD</a:t>
            </a:r>
            <a:endParaRPr/>
          </a:p>
        </p:txBody>
      </p:sp>
      <p:sp>
        <p:nvSpPr>
          <p:cNvPr id="1283" name="Google Shape;1283;p13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Shubham Kamra</a:t>
            </a:r>
            <a:endParaRPr/>
          </a:p>
        </p:txBody>
      </p:sp>
      <p:sp>
        <p:nvSpPr>
          <p:cNvPr id="1284" name="Google Shape;1284;p13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$20,495</a:t>
            </a:r>
            <a:endParaRPr/>
          </a:p>
        </p:txBody>
      </p:sp>
      <p:sp>
        <p:nvSpPr>
          <p:cNvPr id="1285" name="Google Shape;1285;p13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286" name="Google Shape;1286;p13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7" name="Google Shape;1287;p13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288" name="Google Shape;1288;p13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263858493057</a:t>
            </a:r>
            <a:endParaRPr/>
          </a:p>
        </p:txBody>
      </p:sp>
      <p:sp>
        <p:nvSpPr>
          <p:cNvPr id="1289" name="Google Shape;1289;p13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290" name="Google Shape;1290;p1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NADALA TRUCKING INC</a:t>
            </a:r>
            <a:endParaRPr/>
          </a:p>
        </p:txBody>
      </p:sp>
      <p:sp>
        <p:nvSpPr>
          <p:cNvPr id="1291" name="Google Shape;1291;p13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Deepak Goswami</a:t>
            </a:r>
            <a:endParaRPr/>
          </a:p>
        </p:txBody>
      </p:sp>
      <p:sp>
        <p:nvSpPr>
          <p:cNvPr id="1292" name="Google Shape;1292;p13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$19,729</a:t>
            </a:r>
            <a:endParaRPr/>
          </a:p>
        </p:txBody>
      </p:sp>
      <p:sp>
        <p:nvSpPr>
          <p:cNvPr id="1293" name="Google Shape;1293;p13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294" name="Google Shape;1294;p13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295" name="Google Shape;1295;p13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255351899555</a:t>
            </a:r>
            <a:endParaRPr/>
          </a:p>
        </p:txBody>
      </p:sp>
      <p:sp>
        <p:nvSpPr>
          <p:cNvPr id="1296" name="Google Shape;1296;p13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Key Insurance</a:t>
            </a:r>
            <a:endParaRPr/>
          </a:p>
        </p:txBody>
      </p:sp>
      <p:sp>
        <p:nvSpPr>
          <p:cNvPr id="1297" name="Google Shape;1297;p13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AB TRUCKLINES INC</a:t>
            </a:r>
            <a:endParaRPr/>
          </a:p>
        </p:txBody>
      </p:sp>
      <p:sp>
        <p:nvSpPr>
          <p:cNvPr id="1298" name="Google Shape;1298;p13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Kristina Vasilchenko</a:t>
            </a:r>
            <a:endParaRPr/>
          </a:p>
        </p:txBody>
      </p:sp>
      <p:sp>
        <p:nvSpPr>
          <p:cNvPr id="1299" name="Google Shape;1299;p13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$17,179</a:t>
            </a:r>
            <a:endParaRPr/>
          </a:p>
        </p:txBody>
      </p:sp>
      <p:sp>
        <p:nvSpPr>
          <p:cNvPr id="1300" name="Google Shape;1300;p1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01" name="Google Shape;1301;p13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2" name="Google Shape;1302;p13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303" name="Google Shape;1303;p13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260114960143</a:t>
            </a:r>
            <a:endParaRPr/>
          </a:p>
        </p:txBody>
      </p:sp>
      <p:sp>
        <p:nvSpPr>
          <p:cNvPr id="1304" name="Google Shape;1304;p13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305" name="Google Shape;1305;p13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ROUTES TRUCKING INC</a:t>
            </a:r>
            <a:endParaRPr/>
          </a:p>
        </p:txBody>
      </p:sp>
      <p:sp>
        <p:nvSpPr>
          <p:cNvPr id="1306" name="Google Shape;1306;p13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Shubham Kamra</a:t>
            </a:r>
            <a:endParaRPr/>
          </a:p>
        </p:txBody>
      </p:sp>
      <p:sp>
        <p:nvSpPr>
          <p:cNvPr id="1307" name="Google Shape;1307;p13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308" name="Google Shape;1308;p13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309" name="Google Shape;1309;p13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310" name="Google Shape;1310;p1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259907563344</a:t>
            </a:r>
            <a:endParaRPr/>
          </a:p>
        </p:txBody>
      </p:sp>
      <p:sp>
        <p:nvSpPr>
          <p:cNvPr id="1311" name="Google Shape;1311;p13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Stellar Management, Inc</a:t>
            </a:r>
            <a:endParaRPr/>
          </a:p>
        </p:txBody>
      </p:sp>
      <p:sp>
        <p:nvSpPr>
          <p:cNvPr id="1312" name="Google Shape;1312;p13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WARRAICH CARRIER INC</a:t>
            </a:r>
            <a:endParaRPr/>
          </a:p>
        </p:txBody>
      </p:sp>
      <p:sp>
        <p:nvSpPr>
          <p:cNvPr id="1313" name="Google Shape;1313;p13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Raman Palta</a:t>
            </a:r>
            <a:endParaRPr/>
          </a:p>
        </p:txBody>
      </p:sp>
      <p:sp>
        <p:nvSpPr>
          <p:cNvPr id="1314" name="Google Shape;1314;p13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$32,725</a:t>
            </a:r>
            <a:endParaRPr/>
          </a:p>
        </p:txBody>
      </p:sp>
      <p:sp>
        <p:nvSpPr>
          <p:cNvPr id="1315" name="Google Shape;1315;p13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316" name="Google Shape;1316;p13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7" name="Google Shape;1317;p13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318" name="Google Shape;1318;p13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269935153800</a:t>
            </a:r>
            <a:endParaRPr/>
          </a:p>
        </p:txBody>
      </p:sp>
      <p:sp>
        <p:nvSpPr>
          <p:cNvPr id="1319" name="Google Shape;1319;p13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Amerigo Insurance Agency</a:t>
            </a:r>
            <a:endParaRPr/>
          </a:p>
        </p:txBody>
      </p:sp>
      <p:sp>
        <p:nvSpPr>
          <p:cNvPr id="1320" name="Google Shape;1320;p1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PRIME POWER INC</a:t>
            </a:r>
            <a:endParaRPr/>
          </a:p>
        </p:txBody>
      </p:sp>
      <p:sp>
        <p:nvSpPr>
          <p:cNvPr id="1321" name="Google Shape;1321;p13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Parmjit Dhami</a:t>
            </a:r>
            <a:endParaRPr/>
          </a:p>
        </p:txBody>
      </p:sp>
      <p:sp>
        <p:nvSpPr>
          <p:cNvPr id="1322" name="Google Shape;1322;p13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$234,322</a:t>
            </a:r>
            <a:endParaRPr/>
          </a:p>
        </p:txBody>
      </p:sp>
      <p:sp>
        <p:nvSpPr>
          <p:cNvPr id="1323" name="Google Shape;1323;p13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324" name="Google Shape;1324;p13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325" name="Google Shape;1325;p13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251986217800</a:t>
            </a:r>
            <a:endParaRPr/>
          </a:p>
        </p:txBody>
      </p:sp>
      <p:sp>
        <p:nvSpPr>
          <p:cNvPr id="1326" name="Google Shape;1326;p13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Key Insurance</a:t>
            </a:r>
            <a:endParaRPr/>
          </a:p>
        </p:txBody>
      </p:sp>
      <p:sp>
        <p:nvSpPr>
          <p:cNvPr id="1327" name="Google Shape;1327;p13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BBJ TRUCKS INC</a:t>
            </a:r>
            <a:endParaRPr/>
          </a:p>
        </p:txBody>
      </p:sp>
      <p:sp>
        <p:nvSpPr>
          <p:cNvPr id="1328" name="Google Shape;1328;p13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Kristina Vasilchenko</a:t>
            </a:r>
            <a:endParaRPr/>
          </a:p>
        </p:txBody>
      </p:sp>
      <p:sp>
        <p:nvSpPr>
          <p:cNvPr id="1329" name="Google Shape;1329;p13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$81,068</a:t>
            </a:r>
            <a:endParaRPr/>
          </a:p>
        </p:txBody>
      </p:sp>
      <p:sp>
        <p:nvSpPr>
          <p:cNvPr id="1330" name="Google Shape;1330;p1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331" name="Google Shape;1331;p13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2" name="Google Shape;1332;p13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333" name="Google Shape;1333;p13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264385221037</a:t>
            </a:r>
            <a:endParaRPr/>
          </a:p>
        </p:txBody>
      </p:sp>
      <p:sp>
        <p:nvSpPr>
          <p:cNvPr id="1334" name="Google Shape;1334;p13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335" name="Google Shape;1335;p13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JAAT BROS TRANSPORT INC</a:t>
            </a:r>
            <a:endParaRPr/>
          </a:p>
        </p:txBody>
      </p:sp>
      <p:sp>
        <p:nvSpPr>
          <p:cNvPr id="1336" name="Google Shape;1336;p13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Deepak Goswami</a:t>
            </a:r>
            <a:endParaRPr/>
          </a:p>
        </p:txBody>
      </p:sp>
      <p:sp>
        <p:nvSpPr>
          <p:cNvPr id="1337" name="Google Shape;1337;p13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$18,389</a:t>
            </a:r>
            <a:endParaRPr/>
          </a:p>
        </p:txBody>
      </p:sp>
      <p:sp>
        <p:nvSpPr>
          <p:cNvPr id="1338" name="Google Shape;1338;p13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339" name="Google Shape;1339;p13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340" name="Google Shape;1340;p1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256437447303</a:t>
            </a:r>
            <a:endParaRPr/>
          </a:p>
        </p:txBody>
      </p:sp>
      <p:sp>
        <p:nvSpPr>
          <p:cNvPr id="1341" name="Google Shape;1341;p13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 &amp; S Insurance Agency Inc.</a:t>
            </a:r>
            <a:endParaRPr/>
          </a:p>
        </p:txBody>
      </p:sp>
      <p:sp>
        <p:nvSpPr>
          <p:cNvPr id="1342" name="Google Shape;1342;p13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 N CARGO INC</a:t>
            </a:r>
            <a:endParaRPr/>
          </a:p>
        </p:txBody>
      </p:sp>
      <p:sp>
        <p:nvSpPr>
          <p:cNvPr id="1343" name="Google Shape;1343;p13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Sandy Gill</a:t>
            </a:r>
            <a:endParaRPr/>
          </a:p>
        </p:txBody>
      </p:sp>
      <p:sp>
        <p:nvSpPr>
          <p:cNvPr id="1344" name="Google Shape;1344;p13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$13,192</a:t>
            </a:r>
            <a:endParaRPr/>
          </a:p>
        </p:txBody>
      </p:sp>
      <p:sp>
        <p:nvSpPr>
          <p:cNvPr id="1345" name="Google Shape;1345;p13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346" name="Google Shape;1346;p13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7" name="Google Shape;1347;p13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348" name="Google Shape;1348;p13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261549405262</a:t>
            </a:r>
            <a:endParaRPr/>
          </a:p>
        </p:txBody>
      </p:sp>
      <p:sp>
        <p:nvSpPr>
          <p:cNvPr id="1349" name="Google Shape;1349;p13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350" name="Google Shape;1350;p1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DSP TRANSPORT LLC</a:t>
            </a:r>
            <a:endParaRPr/>
          </a:p>
        </p:txBody>
      </p:sp>
      <p:sp>
        <p:nvSpPr>
          <p:cNvPr id="1351" name="Google Shape;1351;p13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Shubham Kamra</a:t>
            </a:r>
            <a:endParaRPr/>
          </a:p>
        </p:txBody>
      </p:sp>
      <p:sp>
        <p:nvSpPr>
          <p:cNvPr id="1352" name="Google Shape;1352;p13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$62,433</a:t>
            </a:r>
            <a:endParaRPr/>
          </a:p>
        </p:txBody>
      </p:sp>
      <p:sp>
        <p:nvSpPr>
          <p:cNvPr id="1353" name="Google Shape;1353;p13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14, 2026</a:t>
            </a:r>
            <a:endParaRPr/>
          </a:p>
        </p:txBody>
      </p:sp>
      <p:sp>
        <p:nvSpPr>
          <p:cNvPr id="1354" name="Google Shape;1354;p13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355" name="Google Shape;1355;p13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259492100429</a:t>
            </a:r>
            <a:endParaRPr/>
          </a:p>
        </p:txBody>
      </p:sp>
      <p:sp>
        <p:nvSpPr>
          <p:cNvPr id="1356" name="Google Shape;1356;p13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Roadways Commercial Insurance Serv</a:t>
            </a:r>
            <a:endParaRPr/>
          </a:p>
        </p:txBody>
      </p:sp>
      <p:sp>
        <p:nvSpPr>
          <p:cNvPr id="1357" name="Google Shape;1357;p13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KRISHNA TRANZ INC</a:t>
            </a:r>
            <a:endParaRPr/>
          </a:p>
        </p:txBody>
      </p:sp>
      <p:sp>
        <p:nvSpPr>
          <p:cNvPr id="1358" name="Google Shape;1358;p13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Manjit Singh</a:t>
            </a:r>
            <a:endParaRPr/>
          </a:p>
        </p:txBody>
      </p:sp>
      <p:sp>
        <p:nvSpPr>
          <p:cNvPr id="1359" name="Google Shape;1359;p13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$30,243</a:t>
            </a:r>
            <a:endParaRPr/>
          </a:p>
        </p:txBody>
      </p:sp>
      <p:sp>
        <p:nvSpPr>
          <p:cNvPr id="1360" name="Google Shape;1360;p1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14, 2026</a:t>
            </a:r>
            <a:endParaRPr/>
          </a:p>
        </p:txBody>
      </p:sp>
      <p:sp>
        <p:nvSpPr>
          <p:cNvPr id="1361" name="Google Shape;1361;p13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2" name="Google Shape;1362;p13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363" name="Google Shape;1363;p13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266619538571</a:t>
            </a:r>
            <a:endParaRPr/>
          </a:p>
        </p:txBody>
      </p:sp>
      <p:sp>
        <p:nvSpPr>
          <p:cNvPr id="1364" name="Google Shape;1364;p13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365" name="Google Shape;1365;p13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DSR ROADKING INC</a:t>
            </a:r>
            <a:endParaRPr/>
          </a:p>
        </p:txBody>
      </p:sp>
      <p:sp>
        <p:nvSpPr>
          <p:cNvPr id="1366" name="Google Shape;1366;p13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Shubham Kamra</a:t>
            </a:r>
            <a:endParaRPr/>
          </a:p>
        </p:txBody>
      </p:sp>
      <p:sp>
        <p:nvSpPr>
          <p:cNvPr id="1367" name="Google Shape;1367;p13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$17,708</a:t>
            </a:r>
            <a:endParaRPr/>
          </a:p>
        </p:txBody>
      </p:sp>
      <p:sp>
        <p:nvSpPr>
          <p:cNvPr id="1368" name="Google Shape;1368;p13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13, 2026</a:t>
            </a:r>
            <a:endParaRPr/>
          </a:p>
        </p:txBody>
      </p:sp>
      <p:sp>
        <p:nvSpPr>
          <p:cNvPr id="1369" name="Google Shape;1369;p13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370" name="Google Shape;1370;p1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256055325042</a:t>
            </a:r>
            <a:endParaRPr/>
          </a:p>
        </p:txBody>
      </p:sp>
      <p:sp>
        <p:nvSpPr>
          <p:cNvPr id="1371" name="Google Shape;1371;p13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Roadways Commercial Insurance Serv</a:t>
            </a:r>
            <a:endParaRPr/>
          </a:p>
        </p:txBody>
      </p:sp>
      <p:sp>
        <p:nvSpPr>
          <p:cNvPr id="1372" name="Google Shape;1372;p13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GURSHARAN TRANS INC</a:t>
            </a:r>
            <a:endParaRPr/>
          </a:p>
        </p:txBody>
      </p:sp>
      <p:sp>
        <p:nvSpPr>
          <p:cNvPr id="1373" name="Google Shape;1373;p13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Manjit Singh</a:t>
            </a:r>
            <a:endParaRPr/>
          </a:p>
        </p:txBody>
      </p:sp>
      <p:sp>
        <p:nvSpPr>
          <p:cNvPr id="1374" name="Google Shape;1374;p13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$54,188</a:t>
            </a:r>
            <a:endParaRPr/>
          </a:p>
        </p:txBody>
      </p:sp>
      <p:sp>
        <p:nvSpPr>
          <p:cNvPr id="1375" name="Google Shape;1375;p13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13, 2026</a:t>
            </a:r>
            <a:endParaRPr/>
          </a:p>
        </p:txBody>
      </p:sp>
      <p:sp>
        <p:nvSpPr>
          <p:cNvPr id="1376" name="Google Shape;1376;p13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7" name="Google Shape;1377;p13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378" name="Google Shape;1378;p13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253511719934</a:t>
            </a:r>
            <a:endParaRPr/>
          </a:p>
        </p:txBody>
      </p:sp>
      <p:sp>
        <p:nvSpPr>
          <p:cNvPr id="1379" name="Google Shape;1379;p13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Aic Insurance Agency Llc</a:t>
            </a:r>
            <a:endParaRPr/>
          </a:p>
        </p:txBody>
      </p:sp>
      <p:sp>
        <p:nvSpPr>
          <p:cNvPr id="1380" name="Google Shape;1380;p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WILLOW EXPRESS LLC</a:t>
            </a:r>
            <a:endParaRPr/>
          </a:p>
        </p:txBody>
      </p:sp>
      <p:sp>
        <p:nvSpPr>
          <p:cNvPr id="1381" name="Google Shape;1381;p13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Andrei Omelco</a:t>
            </a:r>
            <a:endParaRPr/>
          </a:p>
        </p:txBody>
      </p:sp>
      <p:sp>
        <p:nvSpPr>
          <p:cNvPr id="1382" name="Google Shape;1382;p13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$178,034</a:t>
            </a:r>
            <a:endParaRPr/>
          </a:p>
        </p:txBody>
      </p:sp>
      <p:sp>
        <p:nvSpPr>
          <p:cNvPr id="1383" name="Google Shape;1383;p13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13, 2026</a:t>
            </a:r>
            <a:endParaRPr/>
          </a:p>
        </p:txBody>
      </p:sp>
      <p:sp>
        <p:nvSpPr>
          <p:cNvPr id="1384" name="Google Shape;1384;p13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385" name="Google Shape;1385;p13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268004496164</a:t>
            </a:r>
            <a:endParaRPr/>
          </a:p>
        </p:txBody>
      </p:sp>
      <p:sp>
        <p:nvSpPr>
          <p:cNvPr id="1386" name="Google Shape;1386;p13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387" name="Google Shape;1387;p13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AVI CARRIER INC</a:t>
            </a:r>
            <a:endParaRPr/>
          </a:p>
        </p:txBody>
      </p:sp>
      <p:sp>
        <p:nvSpPr>
          <p:cNvPr id="1388" name="Google Shape;1388;p13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Shubham Kamra</a:t>
            </a:r>
            <a:endParaRPr/>
          </a:p>
        </p:txBody>
      </p:sp>
      <p:sp>
        <p:nvSpPr>
          <p:cNvPr id="1389" name="Google Shape;1389;p13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$17,963</a:t>
            </a:r>
            <a:endParaRPr/>
          </a:p>
        </p:txBody>
      </p:sp>
      <p:sp>
        <p:nvSpPr>
          <p:cNvPr id="1390" name="Google Shape;1390;p1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391" name="Google Shape;1391;p13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2" name="Google Shape;1392;p13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393" name="Google Shape;1393;p13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268087832012</a:t>
            </a:r>
            <a:endParaRPr/>
          </a:p>
        </p:txBody>
      </p:sp>
      <p:sp>
        <p:nvSpPr>
          <p:cNvPr id="1394" name="Google Shape;1394;p13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395" name="Google Shape;1395;p13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PAAK TRANSPORT INC</a:t>
            </a:r>
            <a:endParaRPr/>
          </a:p>
        </p:txBody>
      </p:sp>
      <p:sp>
        <p:nvSpPr>
          <p:cNvPr id="1396" name="Google Shape;1396;p13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Baldev Singh</a:t>
            </a:r>
            <a:endParaRPr/>
          </a:p>
        </p:txBody>
      </p:sp>
      <p:sp>
        <p:nvSpPr>
          <p:cNvPr id="1397" name="Google Shape;1397;p13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$22,485</a:t>
            </a:r>
            <a:endParaRPr/>
          </a:p>
        </p:txBody>
      </p:sp>
      <p:sp>
        <p:nvSpPr>
          <p:cNvPr id="1398" name="Google Shape;1398;p13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399" name="Google Shape;1399;p13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400" name="Google Shape;1400;p1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261555840029</a:t>
            </a:r>
            <a:endParaRPr/>
          </a:p>
        </p:txBody>
      </p:sp>
      <p:sp>
        <p:nvSpPr>
          <p:cNvPr id="1401" name="Google Shape;1401;p13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Soho Insurance Brokerage, Inc.</a:t>
            </a:r>
            <a:endParaRPr/>
          </a:p>
        </p:txBody>
      </p:sp>
      <p:sp>
        <p:nvSpPr>
          <p:cNvPr id="1402" name="Google Shape;1402;p13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SPS TRANS CARGO INC</a:t>
            </a:r>
            <a:endParaRPr/>
          </a:p>
        </p:txBody>
      </p:sp>
      <p:sp>
        <p:nvSpPr>
          <p:cNvPr id="1403" name="Google Shape;1403;p13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Parmpaul Thandi</a:t>
            </a:r>
            <a:endParaRPr/>
          </a:p>
        </p:txBody>
      </p:sp>
      <p:sp>
        <p:nvSpPr>
          <p:cNvPr id="1404" name="Google Shape;1404;p13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$97,277</a:t>
            </a:r>
            <a:endParaRPr/>
          </a:p>
        </p:txBody>
      </p:sp>
      <p:sp>
        <p:nvSpPr>
          <p:cNvPr id="1405" name="Google Shape;1405;p13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406" name="Google Shape;1406;p13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7" name="Google Shape;1407;p13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408" name="Google Shape;1408;p13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262601295613</a:t>
            </a:r>
            <a:endParaRPr/>
          </a:p>
        </p:txBody>
      </p:sp>
      <p:sp>
        <p:nvSpPr>
          <p:cNvPr id="1409" name="Google Shape;1409;p13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Insurance Services Llc</a:t>
            </a:r>
            <a:endParaRPr/>
          </a:p>
        </p:txBody>
      </p:sp>
      <p:sp>
        <p:nvSpPr>
          <p:cNvPr id="1410" name="Google Shape;1410;p1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RANCHO ESTRELLA</a:t>
            </a:r>
            <a:endParaRPr/>
          </a:p>
        </p:txBody>
      </p:sp>
      <p:sp>
        <p:nvSpPr>
          <p:cNvPr id="1411" name="Google Shape;1411;p13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Angelica Puente</a:t>
            </a:r>
            <a:endParaRPr/>
          </a:p>
        </p:txBody>
      </p:sp>
      <p:sp>
        <p:nvSpPr>
          <p:cNvPr id="1412" name="Google Shape;1412;p13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$17,785</a:t>
            </a:r>
            <a:endParaRPr/>
          </a:p>
        </p:txBody>
      </p:sp>
      <p:sp>
        <p:nvSpPr>
          <p:cNvPr id="1413" name="Google Shape;1413;p13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11, 2026</a:t>
            </a:r>
            <a:endParaRPr/>
          </a:p>
        </p:txBody>
      </p:sp>
      <p:sp>
        <p:nvSpPr>
          <p:cNvPr id="1414" name="Google Shape;1414;p13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415" name="Google Shape;1415;p13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269118543964</a:t>
            </a:r>
            <a:endParaRPr/>
          </a:p>
        </p:txBody>
      </p:sp>
      <p:sp>
        <p:nvSpPr>
          <p:cNvPr id="1416" name="Google Shape;1416;p13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Mobile Services, Inc.</a:t>
            </a:r>
            <a:endParaRPr/>
          </a:p>
        </p:txBody>
      </p:sp>
      <p:sp>
        <p:nvSpPr>
          <p:cNvPr id="1417" name="Google Shape;1417;p13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VNT Logistics</a:t>
            </a:r>
            <a:endParaRPr/>
          </a:p>
        </p:txBody>
      </p:sp>
      <p:sp>
        <p:nvSpPr>
          <p:cNvPr id="1418" name="Google Shape;1418;p13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Paul Metlenko</a:t>
            </a:r>
            <a:endParaRPr/>
          </a:p>
        </p:txBody>
      </p:sp>
      <p:sp>
        <p:nvSpPr>
          <p:cNvPr id="1419" name="Google Shape;1419;p13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$3,244</a:t>
            </a:r>
            <a:endParaRPr/>
          </a:p>
        </p:txBody>
      </p:sp>
      <p:sp>
        <p:nvSpPr>
          <p:cNvPr id="1420" name="Google Shape;1420;p1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11, 2026</a:t>
            </a:r>
            <a:endParaRPr/>
          </a:p>
        </p:txBody>
      </p:sp>
      <p:sp>
        <p:nvSpPr>
          <p:cNvPr id="1421" name="Google Shape;1421;p13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2" name="Google Shape;1422;p13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423" name="Google Shape;1423;p13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255440684904</a:t>
            </a:r>
            <a:endParaRPr/>
          </a:p>
        </p:txBody>
      </p:sp>
      <p:sp>
        <p:nvSpPr>
          <p:cNvPr id="1424" name="Google Shape;1424;p13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Berrier Insurance Agency, Inc.</a:t>
            </a:r>
            <a:endParaRPr/>
          </a:p>
        </p:txBody>
      </p:sp>
      <p:sp>
        <p:nvSpPr>
          <p:cNvPr id="1425" name="Google Shape;1425;p13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Saleem Nuristani</a:t>
            </a:r>
            <a:endParaRPr/>
          </a:p>
        </p:txBody>
      </p:sp>
      <p:sp>
        <p:nvSpPr>
          <p:cNvPr id="1426" name="Google Shape;1426;p13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Elizabeth Ann Wyman</a:t>
            </a:r>
            <a:endParaRPr/>
          </a:p>
        </p:txBody>
      </p:sp>
      <p:sp>
        <p:nvSpPr>
          <p:cNvPr id="1427" name="Google Shape;1427;p13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$7,118</a:t>
            </a:r>
            <a:endParaRPr/>
          </a:p>
        </p:txBody>
      </p:sp>
      <p:sp>
        <p:nvSpPr>
          <p:cNvPr id="1428" name="Google Shape;1428;p13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11, 2026</a:t>
            </a:r>
            <a:endParaRPr/>
          </a:p>
        </p:txBody>
      </p:sp>
      <p:sp>
        <p:nvSpPr>
          <p:cNvPr id="1429" name="Google Shape;1429;p13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430" name="Google Shape;1430;p1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253945897228</a:t>
            </a:r>
            <a:endParaRPr/>
          </a:p>
        </p:txBody>
      </p:sp>
      <p:sp>
        <p:nvSpPr>
          <p:cNvPr id="1431" name="Google Shape;1431;p13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Walker Insurance Agency, Inc.</a:t>
            </a:r>
            <a:endParaRPr/>
          </a:p>
        </p:txBody>
      </p:sp>
      <p:sp>
        <p:nvSpPr>
          <p:cNvPr id="1432" name="Google Shape;1432;p13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MY LE TRAN EXPRESS LLC</a:t>
            </a:r>
            <a:endParaRPr/>
          </a:p>
        </p:txBody>
      </p:sp>
      <p:sp>
        <p:nvSpPr>
          <p:cNvPr id="1433" name="Google Shape;1433;p13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Michael Erbes</a:t>
            </a:r>
            <a:endParaRPr/>
          </a:p>
        </p:txBody>
      </p:sp>
      <p:sp>
        <p:nvSpPr>
          <p:cNvPr id="1434" name="Google Shape;1434;p13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$61,361</a:t>
            </a:r>
            <a:endParaRPr/>
          </a:p>
        </p:txBody>
      </p:sp>
      <p:sp>
        <p:nvSpPr>
          <p:cNvPr id="1435" name="Google Shape;1435;p13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11, 2026</a:t>
            </a:r>
            <a:endParaRPr/>
          </a:p>
        </p:txBody>
      </p:sp>
      <p:sp>
        <p:nvSpPr>
          <p:cNvPr id="1436" name="Google Shape;1436;p13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7" name="Google Shape;1437;p13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438" name="Google Shape;1438;p13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256845583826</a:t>
            </a:r>
            <a:endParaRPr/>
          </a:p>
        </p:txBody>
      </p:sp>
      <p:sp>
        <p:nvSpPr>
          <p:cNvPr id="1439" name="Google Shape;1439;p13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 Rue Insurance Agency, Inc</a:t>
            </a:r>
            <a:endParaRPr/>
          </a:p>
        </p:txBody>
      </p:sp>
      <p:sp>
        <p:nvSpPr>
          <p:cNvPr id="1440" name="Google Shape;1440;p1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SIERRA EXPEDITE INC</a:t>
            </a:r>
            <a:endParaRPr/>
          </a:p>
        </p:txBody>
      </p:sp>
      <p:sp>
        <p:nvSpPr>
          <p:cNvPr id="1441" name="Google Shape;1441;p13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Alexander Rue</a:t>
            </a:r>
            <a:endParaRPr/>
          </a:p>
        </p:txBody>
      </p:sp>
      <p:sp>
        <p:nvSpPr>
          <p:cNvPr id="1442" name="Google Shape;1442;p13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$11,037</a:t>
            </a:r>
            <a:endParaRPr/>
          </a:p>
        </p:txBody>
      </p:sp>
      <p:sp>
        <p:nvSpPr>
          <p:cNvPr id="1443" name="Google Shape;1443;p13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11, 2026</a:t>
            </a:r>
            <a:endParaRPr/>
          </a:p>
        </p:txBody>
      </p:sp>
      <p:sp>
        <p:nvSpPr>
          <p:cNvPr id="1444" name="Google Shape;1444;p13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445" name="Google Shape;1445;p13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263667094634</a:t>
            </a:r>
            <a:endParaRPr/>
          </a:p>
        </p:txBody>
      </p:sp>
      <p:sp>
        <p:nvSpPr>
          <p:cNvPr id="1446" name="Google Shape;1446;p13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Aic Insurance Agency Llc</a:t>
            </a:r>
            <a:endParaRPr/>
          </a:p>
        </p:txBody>
      </p:sp>
      <p:sp>
        <p:nvSpPr>
          <p:cNvPr id="1447" name="Google Shape;1447;p13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LOFTHOUSE SERVICES LLC</a:t>
            </a:r>
            <a:endParaRPr/>
          </a:p>
        </p:txBody>
      </p:sp>
      <p:sp>
        <p:nvSpPr>
          <p:cNvPr id="1448" name="Google Shape;1448;p13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Dmitri Omelco</a:t>
            </a:r>
            <a:endParaRPr/>
          </a:p>
        </p:txBody>
      </p:sp>
      <p:sp>
        <p:nvSpPr>
          <p:cNvPr id="1449" name="Google Shape;1449;p13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$17,368</a:t>
            </a:r>
            <a:endParaRPr/>
          </a:p>
        </p:txBody>
      </p:sp>
      <p:sp>
        <p:nvSpPr>
          <p:cNvPr id="1450" name="Google Shape;1450;p1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08, 2026</a:t>
            </a:r>
            <a:endParaRPr/>
          </a:p>
        </p:txBody>
      </p:sp>
      <p:sp>
        <p:nvSpPr>
          <p:cNvPr id="1451" name="Google Shape;1451;p13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2" name="Google Shape;1452;p13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453" name="Google Shape;1453;p13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266687646807</a:t>
            </a:r>
            <a:endParaRPr/>
          </a:p>
        </p:txBody>
      </p:sp>
      <p:sp>
        <p:nvSpPr>
          <p:cNvPr id="1454" name="Google Shape;1454;p13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 Rue Insurance Agency, Inc</a:t>
            </a:r>
            <a:endParaRPr/>
          </a:p>
        </p:txBody>
      </p:sp>
      <p:sp>
        <p:nvSpPr>
          <p:cNvPr id="1455" name="Google Shape;1455;p13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GSV TRUCKLINE INC</a:t>
            </a:r>
            <a:endParaRPr/>
          </a:p>
        </p:txBody>
      </p:sp>
      <p:sp>
        <p:nvSpPr>
          <p:cNvPr id="1456" name="Google Shape;1456;p13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Alexander Rue</a:t>
            </a:r>
            <a:endParaRPr/>
          </a:p>
        </p:txBody>
      </p:sp>
      <p:sp>
        <p:nvSpPr>
          <p:cNvPr id="1457" name="Google Shape;1457;p13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$19,603</a:t>
            </a:r>
            <a:endParaRPr/>
          </a:p>
        </p:txBody>
      </p:sp>
      <p:sp>
        <p:nvSpPr>
          <p:cNvPr id="1458" name="Google Shape;1458;p13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08, 2026</a:t>
            </a:r>
            <a:endParaRPr/>
          </a:p>
        </p:txBody>
      </p:sp>
      <p:sp>
        <p:nvSpPr>
          <p:cNvPr id="1459" name="Google Shape;1459;p13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460" name="Google Shape;1460;p1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268607582047</a:t>
            </a:r>
            <a:endParaRPr/>
          </a:p>
        </p:txBody>
      </p:sp>
      <p:sp>
        <p:nvSpPr>
          <p:cNvPr id="1461" name="Google Shape;1461;p13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462" name="Google Shape;1462;p13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FALCON LOGISTICS INC</a:t>
            </a:r>
            <a:endParaRPr/>
          </a:p>
        </p:txBody>
      </p:sp>
      <p:sp>
        <p:nvSpPr>
          <p:cNvPr id="1463" name="Google Shape;1463;p13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Shubham Kamra</a:t>
            </a:r>
            <a:endParaRPr/>
          </a:p>
        </p:txBody>
      </p:sp>
      <p:sp>
        <p:nvSpPr>
          <p:cNvPr id="1464" name="Google Shape;1464;p13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$15,536</a:t>
            </a:r>
            <a:endParaRPr/>
          </a:p>
        </p:txBody>
      </p:sp>
      <p:sp>
        <p:nvSpPr>
          <p:cNvPr id="1465" name="Google Shape;1465;p13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07, 2026</a:t>
            </a:r>
            <a:endParaRPr/>
          </a:p>
        </p:txBody>
      </p:sp>
      <p:sp>
        <p:nvSpPr>
          <p:cNvPr id="1466" name="Google Shape;1466;p13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7" name="Google Shape;1467;p13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(Last 25 Submissions)</a:t>
            </a:r>
            <a:endParaRPr/>
          </a:p>
        </p:txBody>
      </p:sp>
      <p:sp>
        <p:nvSpPr>
          <p:cNvPr id="1468" name="Google Shape;1468;p13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$1,071,032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72" name="Shape 1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3" name="Google Shape;1473;p1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4" name="Google Shape;1474;p14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 Watch — Next 90 Days</a:t>
            </a:r>
            <a:endParaRPr/>
          </a:p>
        </p:txBody>
      </p:sp>
      <p:sp>
        <p:nvSpPr>
          <p:cNvPr id="1475" name="Google Shape;1475;p1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Alexis Berry-Smith  |  Active in-force policies expiring through Aug 18, 2026</a:t>
            </a:r>
            <a:endParaRPr/>
          </a:p>
        </p:txBody>
      </p:sp>
      <p:sp>
        <p:nvSpPr>
          <p:cNvPr id="1476" name="Google Shape;1476;p14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UP</a:t>
            </a:r>
            <a:endParaRPr/>
          </a:p>
        </p:txBody>
      </p:sp>
      <p:sp>
        <p:nvSpPr>
          <p:cNvPr id="1477" name="Google Shape;1477;p14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$1,242,363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PREMIUM AT RISK</a:t>
            </a:r>
            <a:endParaRPr/>
          </a:p>
        </p:txBody>
      </p:sp>
      <p:sp>
        <p:nvSpPr>
          <p:cNvPr id="1478" name="Google Shape;1478;p14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EXPIRE ≤30 DAYS</a:t>
            </a:r>
            <a:endParaRPr/>
          </a:p>
        </p:txBody>
      </p:sp>
      <p:sp>
        <p:nvSpPr>
          <p:cNvPr id="1479" name="Google Shape;1479;p14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31-60 DAYS</a:t>
            </a:r>
            <a:endParaRPr/>
          </a:p>
        </p:txBody>
      </p:sp>
      <p:sp>
        <p:nvSpPr>
          <p:cNvPr id="1480" name="Google Shape;1480;p14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61-90 DAYS</a:t>
            </a:r>
            <a:endParaRPr/>
          </a:p>
        </p:txBody>
      </p:sp>
      <p:sp>
        <p:nvSpPr>
          <p:cNvPr id="1481" name="Google Shape;1481;p14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2" name="Google Shape;1482;p14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EXPIRING (sorted by date — earliest first)</a:t>
            </a:r>
            <a:endParaRPr/>
          </a:p>
        </p:txBody>
      </p:sp>
      <p:sp>
        <p:nvSpPr>
          <p:cNvPr id="1483" name="Google Shape;1483;p14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484" name="Google Shape;1484;p14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485" name="Google Shape;1485;p14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486" name="Google Shape;1486;p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 Date</a:t>
            </a:r>
            <a:endParaRPr/>
          </a:p>
        </p:txBody>
      </p:sp>
      <p:sp>
        <p:nvSpPr>
          <p:cNvPr id="1487" name="Google Shape;1487;p14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488" name="Google Shape;1488;p14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Coverage</a:t>
            </a:r>
            <a:endParaRPr/>
          </a:p>
        </p:txBody>
      </p:sp>
      <p:sp>
        <p:nvSpPr>
          <p:cNvPr id="1489" name="Google Shape;1489;p14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490" name="Google Shape;1490;p14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491" name="Google Shape;1491;p14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2" name="Google Shape;1492;p14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Mobile Services, Inc</a:t>
            </a:r>
            <a:endParaRPr/>
          </a:p>
        </p:txBody>
      </p:sp>
      <p:sp>
        <p:nvSpPr>
          <p:cNvPr id="1493" name="Google Shape;1493;p14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259317538534</a:t>
            </a:r>
            <a:endParaRPr/>
          </a:p>
        </p:txBody>
      </p:sp>
      <p:sp>
        <p:nvSpPr>
          <p:cNvPr id="1494" name="Google Shape;1494;p14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Statewide Transportation LLc</a:t>
            </a:r>
            <a:endParaRPr/>
          </a:p>
        </p:txBody>
      </p:sp>
      <p:sp>
        <p:nvSpPr>
          <p:cNvPr id="1495" name="Google Shape;1495;p14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2026-05-21</a:t>
            </a:r>
            <a:endParaRPr/>
          </a:p>
        </p:txBody>
      </p:sp>
      <p:sp>
        <p:nvSpPr>
          <p:cNvPr id="1496" name="Google Shape;1496;p1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1d</a:t>
            </a:r>
            <a:endParaRPr/>
          </a:p>
        </p:txBody>
      </p:sp>
      <p:sp>
        <p:nvSpPr>
          <p:cNvPr id="1497" name="Google Shape;1497;p14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498" name="Google Shape;1498;p14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$3,875</a:t>
            </a:r>
            <a:endParaRPr/>
          </a:p>
        </p:txBody>
      </p:sp>
      <p:sp>
        <p:nvSpPr>
          <p:cNvPr id="1499" name="Google Shape;1499;p14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00" name="Google Shape;1500;p14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Amerigo Insurance Agency</a:t>
            </a:r>
            <a:endParaRPr/>
          </a:p>
        </p:txBody>
      </p:sp>
      <p:sp>
        <p:nvSpPr>
          <p:cNvPr id="1501" name="Google Shape;1501;p14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255731743785</a:t>
            </a:r>
            <a:endParaRPr/>
          </a:p>
        </p:txBody>
      </p:sp>
      <p:sp>
        <p:nvSpPr>
          <p:cNvPr id="1502" name="Google Shape;1502;p14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LALA TRUCKLINE INC</a:t>
            </a:r>
            <a:endParaRPr/>
          </a:p>
        </p:txBody>
      </p:sp>
      <p:sp>
        <p:nvSpPr>
          <p:cNvPr id="1503" name="Google Shape;1503;p14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2026-05-22</a:t>
            </a:r>
            <a:endParaRPr/>
          </a:p>
        </p:txBody>
      </p:sp>
      <p:sp>
        <p:nvSpPr>
          <p:cNvPr id="1504" name="Google Shape;1504;p14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2d</a:t>
            </a:r>
            <a:endParaRPr/>
          </a:p>
        </p:txBody>
      </p:sp>
      <p:sp>
        <p:nvSpPr>
          <p:cNvPr id="1505" name="Google Shape;1505;p14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06" name="Google Shape;1506;p1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$49,709</a:t>
            </a:r>
            <a:endParaRPr/>
          </a:p>
        </p:txBody>
      </p:sp>
      <p:sp>
        <p:nvSpPr>
          <p:cNvPr id="1507" name="Google Shape;1507;p14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08" name="Google Shape;1508;p14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9" name="Google Shape;1509;p14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510" name="Google Shape;1510;p14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258745982517</a:t>
            </a:r>
            <a:endParaRPr/>
          </a:p>
        </p:txBody>
      </p:sp>
      <p:sp>
        <p:nvSpPr>
          <p:cNvPr id="1511" name="Google Shape;1511;p14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HANDA TRUCKING INC</a:t>
            </a:r>
            <a:endParaRPr/>
          </a:p>
        </p:txBody>
      </p:sp>
      <p:sp>
        <p:nvSpPr>
          <p:cNvPr id="1512" name="Google Shape;1512;p14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2026-05-24</a:t>
            </a:r>
            <a:endParaRPr/>
          </a:p>
        </p:txBody>
      </p:sp>
      <p:sp>
        <p:nvSpPr>
          <p:cNvPr id="1513" name="Google Shape;1513;p14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4d</a:t>
            </a:r>
            <a:endParaRPr/>
          </a:p>
        </p:txBody>
      </p:sp>
      <p:sp>
        <p:nvSpPr>
          <p:cNvPr id="1514" name="Google Shape;1514;p14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15" name="Google Shape;1515;p14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$30,652</a:t>
            </a:r>
            <a:endParaRPr/>
          </a:p>
        </p:txBody>
      </p:sp>
      <p:sp>
        <p:nvSpPr>
          <p:cNvPr id="1516" name="Google Shape;1516;p1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</a:t>
            </a:r>
            <a:endParaRPr/>
          </a:p>
        </p:txBody>
      </p:sp>
      <p:sp>
        <p:nvSpPr>
          <p:cNvPr id="1517" name="Google Shape;1517;p14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Aic Insurance Agency Llc</a:t>
            </a:r>
            <a:endParaRPr/>
          </a:p>
        </p:txBody>
      </p:sp>
      <p:sp>
        <p:nvSpPr>
          <p:cNvPr id="1518" name="Google Shape;1518;p14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257927661214</a:t>
            </a:r>
            <a:endParaRPr/>
          </a:p>
        </p:txBody>
      </p:sp>
      <p:sp>
        <p:nvSpPr>
          <p:cNvPr id="1519" name="Google Shape;1519;p14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FSS TRANSPORTATION LLC</a:t>
            </a:r>
            <a:endParaRPr/>
          </a:p>
        </p:txBody>
      </p:sp>
      <p:sp>
        <p:nvSpPr>
          <p:cNvPr id="1520" name="Google Shape;1520;p14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2026-05-24</a:t>
            </a:r>
            <a:endParaRPr/>
          </a:p>
        </p:txBody>
      </p:sp>
      <p:sp>
        <p:nvSpPr>
          <p:cNvPr id="1521" name="Google Shape;1521;p14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4d</a:t>
            </a:r>
            <a:endParaRPr/>
          </a:p>
        </p:txBody>
      </p:sp>
      <p:sp>
        <p:nvSpPr>
          <p:cNvPr id="1522" name="Google Shape;1522;p14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523" name="Google Shape;1523;p14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</a:t>
            </a:r>
            <a:endParaRPr/>
          </a:p>
        </p:txBody>
      </p:sp>
      <p:sp>
        <p:nvSpPr>
          <p:cNvPr id="1524" name="Google Shape;1524;p14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</a:t>
            </a:r>
            <a:endParaRPr/>
          </a:p>
        </p:txBody>
      </p:sp>
      <p:sp>
        <p:nvSpPr>
          <p:cNvPr id="1525" name="Google Shape;1525;p14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6" name="Google Shape;1526;p1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Stellar Management, Inc</a:t>
            </a:r>
            <a:endParaRPr/>
          </a:p>
        </p:txBody>
      </p:sp>
      <p:sp>
        <p:nvSpPr>
          <p:cNvPr id="1527" name="Google Shape;1527;p14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254012839166</a:t>
            </a:r>
            <a:endParaRPr/>
          </a:p>
        </p:txBody>
      </p:sp>
      <p:sp>
        <p:nvSpPr>
          <p:cNvPr id="1528" name="Google Shape;1528;p14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MAHADEV EXPRESS INC</a:t>
            </a:r>
            <a:endParaRPr/>
          </a:p>
        </p:txBody>
      </p:sp>
      <p:sp>
        <p:nvSpPr>
          <p:cNvPr id="1529" name="Google Shape;1529;p14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2026-05-24</a:t>
            </a:r>
            <a:endParaRPr/>
          </a:p>
        </p:txBody>
      </p:sp>
      <p:sp>
        <p:nvSpPr>
          <p:cNvPr id="1530" name="Google Shape;1530;p14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4d</a:t>
            </a:r>
            <a:endParaRPr/>
          </a:p>
        </p:txBody>
      </p:sp>
      <p:sp>
        <p:nvSpPr>
          <p:cNvPr id="1531" name="Google Shape;1531;p14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32" name="Google Shape;1532;p14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$20,813</a:t>
            </a:r>
            <a:endParaRPr/>
          </a:p>
        </p:txBody>
      </p:sp>
      <p:sp>
        <p:nvSpPr>
          <p:cNvPr id="1533" name="Google Shape;1533;p14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34" name="Google Shape;1534;p14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Kavi.llc</a:t>
            </a:r>
            <a:endParaRPr/>
          </a:p>
        </p:txBody>
      </p:sp>
      <p:sp>
        <p:nvSpPr>
          <p:cNvPr id="1535" name="Google Shape;1535;p14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259325078093</a:t>
            </a:r>
            <a:endParaRPr/>
          </a:p>
        </p:txBody>
      </p:sp>
      <p:sp>
        <p:nvSpPr>
          <p:cNvPr id="1536" name="Google Shape;1536;p1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SARAI TRUCKING INC</a:t>
            </a:r>
            <a:endParaRPr/>
          </a:p>
        </p:txBody>
      </p:sp>
      <p:sp>
        <p:nvSpPr>
          <p:cNvPr id="1537" name="Google Shape;1537;p14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538" name="Google Shape;1538;p14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8d</a:t>
            </a:r>
            <a:endParaRPr/>
          </a:p>
        </p:txBody>
      </p:sp>
      <p:sp>
        <p:nvSpPr>
          <p:cNvPr id="1539" name="Google Shape;1539;p14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40" name="Google Shape;1540;p14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$5,125</a:t>
            </a:r>
            <a:endParaRPr/>
          </a:p>
        </p:txBody>
      </p:sp>
      <p:sp>
        <p:nvSpPr>
          <p:cNvPr id="1541" name="Google Shape;1541;p14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42" name="Google Shape;1542;p14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3" name="Google Shape;1543;p14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544" name="Google Shape;1544;p14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258555155114</a:t>
            </a:r>
            <a:endParaRPr/>
          </a:p>
        </p:txBody>
      </p:sp>
      <p:sp>
        <p:nvSpPr>
          <p:cNvPr id="1545" name="Google Shape;1545;p14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SSA HAULERS LLC</a:t>
            </a:r>
            <a:endParaRPr/>
          </a:p>
        </p:txBody>
      </p:sp>
      <p:sp>
        <p:nvSpPr>
          <p:cNvPr id="1546" name="Google Shape;1546;p1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547" name="Google Shape;1547;p14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8d</a:t>
            </a:r>
            <a:endParaRPr/>
          </a:p>
        </p:txBody>
      </p:sp>
      <p:sp>
        <p:nvSpPr>
          <p:cNvPr id="1548" name="Google Shape;1548;p14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49" name="Google Shape;1549;p14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50" name="Google Shape;1550;p14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51" name="Google Shape;1551;p14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Kavi.llc</a:t>
            </a:r>
            <a:endParaRPr/>
          </a:p>
        </p:txBody>
      </p:sp>
      <p:sp>
        <p:nvSpPr>
          <p:cNvPr id="1552" name="Google Shape;1552;p14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256955531582</a:t>
            </a:r>
            <a:endParaRPr/>
          </a:p>
        </p:txBody>
      </p:sp>
      <p:sp>
        <p:nvSpPr>
          <p:cNvPr id="1553" name="Google Shape;1553;p14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ROAD HUNTER TRUCKERS INC</a:t>
            </a:r>
            <a:endParaRPr/>
          </a:p>
        </p:txBody>
      </p:sp>
      <p:sp>
        <p:nvSpPr>
          <p:cNvPr id="1554" name="Google Shape;1554;p14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555" name="Google Shape;1555;p14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9d</a:t>
            </a:r>
            <a:endParaRPr/>
          </a:p>
        </p:txBody>
      </p:sp>
      <p:sp>
        <p:nvSpPr>
          <p:cNvPr id="1556" name="Google Shape;1556;p1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57" name="Google Shape;1557;p14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$3,373</a:t>
            </a:r>
            <a:endParaRPr/>
          </a:p>
        </p:txBody>
      </p:sp>
      <p:sp>
        <p:nvSpPr>
          <p:cNvPr id="1558" name="Google Shape;1558;p14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59" name="Google Shape;1559;p14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0" name="Google Shape;1560;p14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561" name="Google Shape;1561;p14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252037311719</a:t>
            </a:r>
            <a:endParaRPr/>
          </a:p>
        </p:txBody>
      </p:sp>
      <p:sp>
        <p:nvSpPr>
          <p:cNvPr id="1562" name="Google Shape;1562;p14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JETBLUE LOGISTICS INC</a:t>
            </a:r>
            <a:endParaRPr/>
          </a:p>
        </p:txBody>
      </p:sp>
      <p:sp>
        <p:nvSpPr>
          <p:cNvPr id="1563" name="Google Shape;1563;p14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564" name="Google Shape;1564;p14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9d</a:t>
            </a:r>
            <a:endParaRPr/>
          </a:p>
        </p:txBody>
      </p:sp>
      <p:sp>
        <p:nvSpPr>
          <p:cNvPr id="1565" name="Google Shape;1565;p14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66" name="Google Shape;1566;p1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$18,800</a:t>
            </a:r>
            <a:endParaRPr/>
          </a:p>
        </p:txBody>
      </p:sp>
      <p:sp>
        <p:nvSpPr>
          <p:cNvPr id="1567" name="Google Shape;1567;p14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568" name="Google Shape;1568;p14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Mobile Services, Inc</a:t>
            </a:r>
            <a:endParaRPr/>
          </a:p>
        </p:txBody>
      </p:sp>
      <p:sp>
        <p:nvSpPr>
          <p:cNvPr id="1569" name="Google Shape;1569;p14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258944420209</a:t>
            </a:r>
            <a:endParaRPr/>
          </a:p>
        </p:txBody>
      </p:sp>
      <p:sp>
        <p:nvSpPr>
          <p:cNvPr id="1570" name="Google Shape;1570;p14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XOREZMIS INC</a:t>
            </a:r>
            <a:endParaRPr/>
          </a:p>
        </p:txBody>
      </p:sp>
      <p:sp>
        <p:nvSpPr>
          <p:cNvPr id="1571" name="Google Shape;1571;p14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2026-06-05</a:t>
            </a:r>
            <a:endParaRPr/>
          </a:p>
        </p:txBody>
      </p:sp>
      <p:sp>
        <p:nvSpPr>
          <p:cNvPr id="1572" name="Google Shape;1572;p14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16d</a:t>
            </a:r>
            <a:endParaRPr/>
          </a:p>
        </p:txBody>
      </p:sp>
      <p:sp>
        <p:nvSpPr>
          <p:cNvPr id="1573" name="Google Shape;1573;p14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NTL</a:t>
            </a:r>
            <a:endParaRPr/>
          </a:p>
        </p:txBody>
      </p:sp>
      <p:sp>
        <p:nvSpPr>
          <p:cNvPr id="1574" name="Google Shape;1574;p14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$750</a:t>
            </a:r>
            <a:endParaRPr/>
          </a:p>
        </p:txBody>
      </p:sp>
      <p:sp>
        <p:nvSpPr>
          <p:cNvPr id="1575" name="Google Shape;1575;p14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OH</a:t>
            </a:r>
            <a:endParaRPr/>
          </a:p>
        </p:txBody>
      </p:sp>
      <p:sp>
        <p:nvSpPr>
          <p:cNvPr id="1576" name="Google Shape;1576;p1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7" name="Google Shape;1577;p14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Berrier Insurance Agency, Inc.</a:t>
            </a:r>
            <a:endParaRPr/>
          </a:p>
        </p:txBody>
      </p:sp>
      <p:sp>
        <p:nvSpPr>
          <p:cNvPr id="1578" name="Google Shape;1578;p14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259112955693</a:t>
            </a:r>
            <a:endParaRPr/>
          </a:p>
        </p:txBody>
      </p:sp>
      <p:sp>
        <p:nvSpPr>
          <p:cNvPr id="1579" name="Google Shape;1579;p14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NIRMAL SINGH SANGHA</a:t>
            </a:r>
            <a:endParaRPr/>
          </a:p>
        </p:txBody>
      </p:sp>
      <p:sp>
        <p:nvSpPr>
          <p:cNvPr id="1580" name="Google Shape;1580;p14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2026-06-05</a:t>
            </a:r>
            <a:endParaRPr/>
          </a:p>
        </p:txBody>
      </p:sp>
      <p:sp>
        <p:nvSpPr>
          <p:cNvPr id="1581" name="Google Shape;1581;p14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16d</a:t>
            </a:r>
            <a:endParaRPr/>
          </a:p>
        </p:txBody>
      </p:sp>
      <p:sp>
        <p:nvSpPr>
          <p:cNvPr id="1582" name="Google Shape;1582;p14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83" name="Google Shape;1583;p14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$20,892</a:t>
            </a:r>
            <a:endParaRPr/>
          </a:p>
        </p:txBody>
      </p:sp>
      <p:sp>
        <p:nvSpPr>
          <p:cNvPr id="1584" name="Google Shape;1584;p14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85" name="Google Shape;1585;p14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586" name="Google Shape;1586;p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259275145407</a:t>
            </a:r>
            <a:endParaRPr/>
          </a:p>
        </p:txBody>
      </p:sp>
      <p:sp>
        <p:nvSpPr>
          <p:cNvPr id="1587" name="Google Shape;1587;p14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GRD TRUCKLINE INC</a:t>
            </a:r>
            <a:endParaRPr/>
          </a:p>
        </p:txBody>
      </p:sp>
      <p:sp>
        <p:nvSpPr>
          <p:cNvPr id="1588" name="Google Shape;1588;p14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2026-06-05</a:t>
            </a:r>
            <a:endParaRPr/>
          </a:p>
        </p:txBody>
      </p:sp>
      <p:sp>
        <p:nvSpPr>
          <p:cNvPr id="1589" name="Google Shape;1589;p14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16d</a:t>
            </a:r>
            <a:endParaRPr/>
          </a:p>
        </p:txBody>
      </p:sp>
      <p:sp>
        <p:nvSpPr>
          <p:cNvPr id="1590" name="Google Shape;1590;p14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91" name="Google Shape;1591;p14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92" name="Google Shape;1592;p14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93" name="Google Shape;1593;p14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4" name="Google Shape;1594;p14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Grant Line Insurance Agency, I</a:t>
            </a:r>
            <a:endParaRPr/>
          </a:p>
        </p:txBody>
      </p:sp>
      <p:sp>
        <p:nvSpPr>
          <p:cNvPr id="1595" name="Google Shape;1595;p14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258718145941</a:t>
            </a:r>
            <a:endParaRPr/>
          </a:p>
        </p:txBody>
      </p:sp>
      <p:sp>
        <p:nvSpPr>
          <p:cNvPr id="1596" name="Google Shape;1596;p1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 S T LLC</a:t>
            </a:r>
            <a:endParaRPr/>
          </a:p>
        </p:txBody>
      </p:sp>
      <p:sp>
        <p:nvSpPr>
          <p:cNvPr id="1597" name="Google Shape;1597;p14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2026-06-06</a:t>
            </a:r>
            <a:endParaRPr/>
          </a:p>
        </p:txBody>
      </p:sp>
      <p:sp>
        <p:nvSpPr>
          <p:cNvPr id="1598" name="Google Shape;1598;p14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17d</a:t>
            </a:r>
            <a:endParaRPr/>
          </a:p>
        </p:txBody>
      </p:sp>
      <p:sp>
        <p:nvSpPr>
          <p:cNvPr id="1599" name="Google Shape;1599;p14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00" name="Google Shape;1600;p14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$13,794</a:t>
            </a:r>
            <a:endParaRPr/>
          </a:p>
        </p:txBody>
      </p:sp>
      <p:sp>
        <p:nvSpPr>
          <p:cNvPr id="1601" name="Google Shape;1601;p14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02" name="Google Shape;1602;p1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13 of 76 upcoming renewals  |  Source: dw_reader.policy_premium  |  Active in-force only  |  Sorted by expiration date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06" name="Shape 1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" name="Google Shape;1607;p1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8" name="Google Shape;1608;p15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Cancellations — Save List — Next 90 Days</a:t>
            </a:r>
            <a:endParaRPr/>
          </a:p>
        </p:txBody>
      </p:sp>
      <p:sp>
        <p:nvSpPr>
          <p:cNvPr id="1609" name="Google Shape;1609;p1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Alexis Berry-Smith  |  Policies with cancellation_date on or before Aug 18, 2026  |  Sorted by urgency — call these agencies first</a:t>
            </a:r>
            <a:endParaRPr/>
          </a:p>
        </p:txBody>
      </p:sp>
      <p:sp>
        <p:nvSpPr>
          <p:cNvPr id="1610" name="Google Shape;1610;p15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PENDING CANCEL</a:t>
            </a:r>
            <a:endParaRPr/>
          </a:p>
        </p:txBody>
      </p:sp>
      <p:sp>
        <p:nvSpPr>
          <p:cNvPr id="1611" name="Google Shape;1611;p15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 AT RISK</a:t>
            </a:r>
            <a:endParaRPr/>
          </a:p>
        </p:txBody>
      </p:sp>
      <p:sp>
        <p:nvSpPr>
          <p:cNvPr id="1612" name="Google Shape;1612;p15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DAYS (URGENT)</a:t>
            </a:r>
            <a:endParaRPr/>
          </a:p>
        </p:txBody>
      </p:sp>
      <p:sp>
        <p:nvSpPr>
          <p:cNvPr id="1613" name="Google Shape;1613;p15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 PREMIUM</a:t>
            </a:r>
            <a:endParaRPr/>
          </a:p>
        </p:txBody>
      </p:sp>
      <p:sp>
        <p:nvSpPr>
          <p:cNvPr id="1614" name="Google Shape;1614;p15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REASON</a:t>
            </a:r>
            <a:endParaRPr/>
          </a:p>
        </p:txBody>
      </p:sp>
      <p:sp>
        <p:nvSpPr>
          <p:cNvPr id="1615" name="Google Shape;1615;p15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6" name="Google Shape;1616;p15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CANCELS (sorted by cancel date — earliest first)</a:t>
            </a:r>
            <a:endParaRPr/>
          </a:p>
        </p:txBody>
      </p:sp>
      <p:sp>
        <p:nvSpPr>
          <p:cNvPr id="1617" name="Google Shape;1617;p15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618" name="Google Shape;1618;p15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 Date</a:t>
            </a:r>
            <a:endParaRPr/>
          </a:p>
        </p:txBody>
      </p:sp>
      <p:sp>
        <p:nvSpPr>
          <p:cNvPr id="1619" name="Google Shape;1619;p15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620" name="Google Shape;1620;p15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621" name="Google Shape;1621;p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622" name="Google Shape;1622;p15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LOB</a:t>
            </a:r>
            <a:endParaRPr/>
          </a:p>
        </p:txBody>
      </p:sp>
      <p:sp>
        <p:nvSpPr>
          <p:cNvPr id="1623" name="Google Shape;1623;p15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624" name="Google Shape;1624;p15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625" name="Google Shape;1625;p15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Reason</a:t>
            </a:r>
            <a:endParaRPr/>
          </a:p>
        </p:txBody>
      </p:sp>
      <p:sp>
        <p:nvSpPr>
          <p:cNvPr id="1626" name="Google Shape;1626;p15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pending cancellations in the next 90 days for this book. 🎉</a:t>
            </a:r>
            <a:endParaRPr/>
          </a:p>
        </p:txBody>
      </p:sp>
      <p:sp>
        <p:nvSpPr>
          <p:cNvPr id="1627" name="Google Shape;1627;p15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31" name="Shape 1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Google Shape;1632;p1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3" name="Google Shape;1633;p1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A.s.i.a Inc</a:t>
            </a:r>
            <a:endParaRPr/>
          </a:p>
        </p:txBody>
      </p:sp>
      <p:sp>
        <p:nvSpPr>
          <p:cNvPr id="1634" name="Google Shape;1634;p1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Pacific Northwest  |  State: CA  |  City: Roseville</a:t>
            </a:r>
            <a:endParaRPr/>
          </a:p>
        </p:txBody>
      </p:sp>
      <p:sp>
        <p:nvSpPr>
          <p:cNvPr id="1635" name="Google Shape;1635;p1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$1,993,624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636" name="Google Shape;1636;p1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$1,183,964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37" name="Google Shape;1637;p1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638" name="Google Shape;1638;p1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$789,779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639" name="Google Shape;1639;p1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$-1,232,374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640" name="Google Shape;1640;p1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$2,385,932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641" name="Google Shape;1641;p1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$3,823,261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642" name="Google Shape;1642;p1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643" name="Google Shape;1643;p1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644" name="Google Shape;1644;p1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645" name="Google Shape;1645;p1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646" name="Google Shape;1646;p1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$60,133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647" name="Google Shape;1647;p1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$1,385,128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648" name="Google Shape;1648;p1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9" name="Google Shape;1649;p1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650" name="Google Shape;1650;p1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651" name="Google Shape;1651;p1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652" name="Google Shape;1652;p1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53" name="Google Shape;1653;p1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654" name="Google Shape;1654;p1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655" name="Google Shape;1655;p1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656" name="Google Shape;1656;p1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7" name="Google Shape;1657;p1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658" name="Google Shape;1658;p1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$154,626</a:t>
            </a:r>
            <a:endParaRPr/>
          </a:p>
        </p:txBody>
      </p:sp>
      <p:sp>
        <p:nvSpPr>
          <p:cNvPr id="1659" name="Google Shape;1659;p1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$108,564</a:t>
            </a:r>
            <a:endParaRPr/>
          </a:p>
        </p:txBody>
      </p:sp>
      <p:sp>
        <p:nvSpPr>
          <p:cNvPr id="1660" name="Google Shape;1660;p1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61" name="Google Shape;1661;p1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$46,062</a:t>
            </a:r>
            <a:endParaRPr/>
          </a:p>
        </p:txBody>
      </p:sp>
      <p:sp>
        <p:nvSpPr>
          <p:cNvPr id="1662" name="Google Shape;1662;p1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$-46,278</a:t>
            </a:r>
            <a:endParaRPr/>
          </a:p>
        </p:txBody>
      </p:sp>
      <p:sp>
        <p:nvSpPr>
          <p:cNvPr id="1663" name="Google Shape;1663;p1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4" name="Google Shape;1664;p1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665" name="Google Shape;1665;p1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$214,475</a:t>
            </a:r>
            <a:endParaRPr/>
          </a:p>
        </p:txBody>
      </p:sp>
      <p:sp>
        <p:nvSpPr>
          <p:cNvPr id="1666" name="Google Shape;1666;p1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$82,383</a:t>
            </a:r>
            <a:endParaRPr/>
          </a:p>
        </p:txBody>
      </p:sp>
      <p:sp>
        <p:nvSpPr>
          <p:cNvPr id="1667" name="Google Shape;1667;p1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68" name="Google Shape;1668;p1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$132,092</a:t>
            </a:r>
            <a:endParaRPr/>
          </a:p>
        </p:txBody>
      </p:sp>
      <p:sp>
        <p:nvSpPr>
          <p:cNvPr id="1669" name="Google Shape;1669;p1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$-248,423</a:t>
            </a:r>
            <a:endParaRPr/>
          </a:p>
        </p:txBody>
      </p:sp>
      <p:sp>
        <p:nvSpPr>
          <p:cNvPr id="1670" name="Google Shape;1670;p1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1" name="Google Shape;1671;p1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672" name="Google Shape;1672;p1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$564,150</a:t>
            </a:r>
            <a:endParaRPr/>
          </a:p>
        </p:txBody>
      </p:sp>
      <p:sp>
        <p:nvSpPr>
          <p:cNvPr id="1673" name="Google Shape;1673;p1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$288,349</a:t>
            </a:r>
            <a:endParaRPr/>
          </a:p>
        </p:txBody>
      </p:sp>
      <p:sp>
        <p:nvSpPr>
          <p:cNvPr id="1674" name="Google Shape;1674;p1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75" name="Google Shape;1675;p1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$275,800</a:t>
            </a:r>
            <a:endParaRPr/>
          </a:p>
        </p:txBody>
      </p:sp>
      <p:sp>
        <p:nvSpPr>
          <p:cNvPr id="1676" name="Google Shape;1676;p1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$-277,377</a:t>
            </a:r>
            <a:endParaRPr/>
          </a:p>
        </p:txBody>
      </p:sp>
      <p:sp>
        <p:nvSpPr>
          <p:cNvPr id="1677" name="Google Shape;1677;p1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8" name="Google Shape;1678;p1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679" name="Google Shape;1679;p1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$836,115</a:t>
            </a:r>
            <a:endParaRPr/>
          </a:p>
        </p:txBody>
      </p:sp>
      <p:sp>
        <p:nvSpPr>
          <p:cNvPr id="1680" name="Google Shape;1680;p1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$574,702</a:t>
            </a:r>
            <a:endParaRPr/>
          </a:p>
        </p:txBody>
      </p:sp>
      <p:sp>
        <p:nvSpPr>
          <p:cNvPr id="1681" name="Google Shape;1681;p1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$19,881</a:t>
            </a:r>
            <a:endParaRPr/>
          </a:p>
        </p:txBody>
      </p:sp>
      <p:sp>
        <p:nvSpPr>
          <p:cNvPr id="1682" name="Google Shape;1682;p1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$241,532</a:t>
            </a:r>
            <a:endParaRPr/>
          </a:p>
        </p:txBody>
      </p:sp>
      <p:sp>
        <p:nvSpPr>
          <p:cNvPr id="1683" name="Google Shape;1683;p1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$-411,892</a:t>
            </a:r>
            <a:endParaRPr/>
          </a:p>
        </p:txBody>
      </p:sp>
      <p:sp>
        <p:nvSpPr>
          <p:cNvPr id="1684" name="Google Shape;1684;p1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5" name="Google Shape;1685;p1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686" name="Google Shape;1686;p1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$224,259</a:t>
            </a:r>
            <a:endParaRPr/>
          </a:p>
        </p:txBody>
      </p:sp>
      <p:sp>
        <p:nvSpPr>
          <p:cNvPr id="1687" name="Google Shape;1687;p1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$129,965</a:t>
            </a:r>
            <a:endParaRPr/>
          </a:p>
        </p:txBody>
      </p:sp>
      <p:sp>
        <p:nvSpPr>
          <p:cNvPr id="1688" name="Google Shape;1688;p1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89" name="Google Shape;1689;p1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$94,293</a:t>
            </a:r>
            <a:endParaRPr/>
          </a:p>
        </p:txBody>
      </p:sp>
      <p:sp>
        <p:nvSpPr>
          <p:cNvPr id="1690" name="Google Shape;1690;p1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$-248,404</a:t>
            </a:r>
            <a:endParaRPr/>
          </a:p>
        </p:txBody>
      </p:sp>
      <p:sp>
        <p:nvSpPr>
          <p:cNvPr id="1691" name="Google Shape;1691;p1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2" name="Google Shape;1692;p1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693" name="Google Shape;1693;p1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$1,993,624</a:t>
            </a:r>
            <a:endParaRPr/>
          </a:p>
        </p:txBody>
      </p:sp>
      <p:sp>
        <p:nvSpPr>
          <p:cNvPr id="1694" name="Google Shape;1694;p1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$1,183,964</a:t>
            </a:r>
            <a:endParaRPr/>
          </a:p>
        </p:txBody>
      </p:sp>
      <p:sp>
        <p:nvSpPr>
          <p:cNvPr id="1695" name="Google Shape;1695;p1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$19,881</a:t>
            </a:r>
            <a:endParaRPr/>
          </a:p>
        </p:txBody>
      </p:sp>
      <p:sp>
        <p:nvSpPr>
          <p:cNvPr id="1696" name="Google Shape;1696;p1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$789,779</a:t>
            </a:r>
            <a:endParaRPr/>
          </a:p>
        </p:txBody>
      </p:sp>
      <p:sp>
        <p:nvSpPr>
          <p:cNvPr id="1697" name="Google Shape;1697;p1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$-1,232,374</a:t>
            </a:r>
            <a:endParaRPr/>
          </a:p>
        </p:txBody>
      </p:sp>
      <p:sp>
        <p:nvSpPr>
          <p:cNvPr id="1698" name="Google Shape;1698;p1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9" name="Google Shape;1699;p1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700" name="Google Shape;1700;p1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701" name="Google Shape;1701;p1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702" name="Google Shape;1702;p1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703" name="Google Shape;1703;p1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704" name="Google Shape;1704;p1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705" name="Google Shape;1705;p1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706" name="Google Shape;1706;p1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7" name="Google Shape;1707;p1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708" name="Google Shape;1708;p1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186</a:t>
            </a:r>
            <a:endParaRPr/>
          </a:p>
        </p:txBody>
      </p:sp>
      <p:sp>
        <p:nvSpPr>
          <p:cNvPr id="1709" name="Google Shape;1709;p1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710" name="Google Shape;1710;p1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1711" name="Google Shape;1711;p1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712" name="Google Shape;1712;p1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9.7%</a:t>
            </a:r>
            <a:endParaRPr/>
          </a:p>
        </p:txBody>
      </p:sp>
      <p:sp>
        <p:nvSpPr>
          <p:cNvPr id="1713" name="Google Shape;1713;p1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4" name="Google Shape;1714;p1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715" name="Google Shape;1715;p1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</a:t>
            </a:r>
            <a:endParaRPr/>
          </a:p>
        </p:txBody>
      </p:sp>
      <p:sp>
        <p:nvSpPr>
          <p:cNvPr id="1716" name="Google Shape;1716;p1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717" name="Google Shape;1717;p1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</p:txBody>
      </p:sp>
      <p:sp>
        <p:nvSpPr>
          <p:cNvPr id="1718" name="Google Shape;1718;p1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719" name="Google Shape;1719;p1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1720" name="Google Shape;1720;p1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1" name="Google Shape;1721;p1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722" name="Google Shape;1722;p1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243</a:t>
            </a:r>
            <a:endParaRPr/>
          </a:p>
        </p:txBody>
      </p:sp>
      <p:sp>
        <p:nvSpPr>
          <p:cNvPr id="1723" name="Google Shape;1723;p1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724" name="Google Shape;1724;p1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220</a:t>
            </a:r>
            <a:endParaRPr/>
          </a:p>
        </p:txBody>
      </p:sp>
      <p:sp>
        <p:nvSpPr>
          <p:cNvPr id="1725" name="Google Shape;1725;p1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726" name="Google Shape;1726;p1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9.9%</a:t>
            </a:r>
            <a:endParaRPr/>
          </a:p>
        </p:txBody>
      </p:sp>
      <p:sp>
        <p:nvSpPr>
          <p:cNvPr id="1727" name="Google Shape;1727;p1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8" name="Google Shape;1728;p1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29" name="Google Shape;1729;p1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</a:t>
            </a:r>
            <a:endParaRPr/>
          </a:p>
        </p:txBody>
      </p:sp>
      <p:sp>
        <p:nvSpPr>
          <p:cNvPr id="1730" name="Google Shape;1730;p1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731" name="Google Shape;1731;p1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237</a:t>
            </a:r>
            <a:endParaRPr/>
          </a:p>
        </p:txBody>
      </p:sp>
      <p:sp>
        <p:nvSpPr>
          <p:cNvPr id="1732" name="Google Shape;1732;p1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733" name="Google Shape;1733;p1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13.4%</a:t>
            </a:r>
            <a:endParaRPr/>
          </a:p>
        </p:txBody>
      </p:sp>
      <p:sp>
        <p:nvSpPr>
          <p:cNvPr id="1734" name="Google Shape;1734;p1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5" name="Google Shape;1735;p1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36" name="Google Shape;1736;p1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188</a:t>
            </a:r>
            <a:endParaRPr/>
          </a:p>
        </p:txBody>
      </p:sp>
      <p:sp>
        <p:nvSpPr>
          <p:cNvPr id="1737" name="Google Shape;1737;p1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738" name="Google Shape;1738;p1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172</a:t>
            </a:r>
            <a:endParaRPr/>
          </a:p>
        </p:txBody>
      </p:sp>
      <p:sp>
        <p:nvSpPr>
          <p:cNvPr id="1739" name="Google Shape;1739;p1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740" name="Google Shape;1740;p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</p:txBody>
      </p:sp>
      <p:sp>
        <p:nvSpPr>
          <p:cNvPr id="1741" name="Google Shape;1741;p1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2" name="Google Shape;1742;p1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743" name="Google Shape;1743;p1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944</a:t>
            </a:r>
            <a:endParaRPr/>
          </a:p>
        </p:txBody>
      </p:sp>
      <p:sp>
        <p:nvSpPr>
          <p:cNvPr id="1744" name="Google Shape;1744;p1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1745" name="Google Shape;1745;p1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859</a:t>
            </a:r>
            <a:endParaRPr/>
          </a:p>
        </p:txBody>
      </p:sp>
      <p:sp>
        <p:nvSpPr>
          <p:cNvPr id="1746" name="Google Shape;1746;p1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1747" name="Google Shape;1747;p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1748" name="Google Shape;1748;p1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9" name="Google Shape;1749;p1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750" name="Google Shape;1750;p1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751" name="Google Shape;1751;p1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752" name="Google Shape;1752;p1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753" name="Google Shape;1753;p1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754" name="Google Shape;1754;p1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755" name="Google Shape;1755;p1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756" name="Google Shape;1756;p1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757" name="Google Shape;1757;p1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758" name="Google Shape;1758;p1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759" name="Google Shape;1759;p1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760" name="Google Shape;1760;p1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761" name="Google Shape;1761;p1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762" name="Google Shape;1762;p1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763" name="Google Shape;1763;p1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764" name="Google Shape;1764;p1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765" name="Google Shape;1765;p1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186</a:t>
            </a:r>
            <a:endParaRPr/>
          </a:p>
        </p:txBody>
      </p:sp>
      <p:sp>
        <p:nvSpPr>
          <p:cNvPr id="1766" name="Google Shape;1766;p1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1767" name="Google Shape;1767;p1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</a:t>
            </a:r>
            <a:endParaRPr/>
          </a:p>
        </p:txBody>
      </p:sp>
      <p:sp>
        <p:nvSpPr>
          <p:cNvPr id="1768" name="Google Shape;1768;p1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1769" name="Google Shape;1769;p1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243</a:t>
            </a:r>
            <a:endParaRPr/>
          </a:p>
        </p:txBody>
      </p:sp>
      <p:sp>
        <p:nvSpPr>
          <p:cNvPr id="1770" name="Google Shape;1770;p1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1771" name="Google Shape;1771;p1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</a:t>
            </a:r>
            <a:endParaRPr/>
          </a:p>
        </p:txBody>
      </p:sp>
      <p:sp>
        <p:nvSpPr>
          <p:cNvPr id="1772" name="Google Shape;1772;p1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1773" name="Google Shape;1773;p1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188</a:t>
            </a:r>
            <a:endParaRPr/>
          </a:p>
        </p:txBody>
      </p:sp>
      <p:sp>
        <p:nvSpPr>
          <p:cNvPr id="1774" name="Google Shape;1774;p1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172</a:t>
            </a:r>
            <a:endParaRPr/>
          </a:p>
        </p:txBody>
      </p:sp>
      <p:sp>
        <p:nvSpPr>
          <p:cNvPr id="1775" name="Google Shape;1775;p1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1015</a:t>
            </a:r>
            <a:endParaRPr/>
          </a:p>
        </p:txBody>
      </p:sp>
      <p:sp>
        <p:nvSpPr>
          <p:cNvPr id="1776" name="Google Shape;1776;p1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777" name="Google Shape;1777;p1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1778" name="Google Shape;1778;p1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$155K</a:t>
            </a:r>
            <a:endParaRPr/>
          </a:p>
        </p:txBody>
      </p:sp>
      <p:sp>
        <p:nvSpPr>
          <p:cNvPr id="1779" name="Google Shape;1779;p1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1780" name="Google Shape;1780;p1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$214K</a:t>
            </a:r>
            <a:endParaRPr/>
          </a:p>
        </p:txBody>
      </p:sp>
      <p:sp>
        <p:nvSpPr>
          <p:cNvPr id="1781" name="Google Shape;1781;p1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$222K</a:t>
            </a:r>
            <a:endParaRPr/>
          </a:p>
        </p:txBody>
      </p:sp>
      <p:sp>
        <p:nvSpPr>
          <p:cNvPr id="1782" name="Google Shape;1782;p1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$564K</a:t>
            </a:r>
            <a:endParaRPr/>
          </a:p>
        </p:txBody>
      </p:sp>
      <p:sp>
        <p:nvSpPr>
          <p:cNvPr id="1783" name="Google Shape;1783;p1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$103K</a:t>
            </a:r>
            <a:endParaRPr/>
          </a:p>
        </p:txBody>
      </p:sp>
      <p:sp>
        <p:nvSpPr>
          <p:cNvPr id="1784" name="Google Shape;1784;p1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$836K</a:t>
            </a:r>
            <a:endParaRPr/>
          </a:p>
        </p:txBody>
      </p:sp>
      <p:sp>
        <p:nvSpPr>
          <p:cNvPr id="1785" name="Google Shape;1785;p1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$160K</a:t>
            </a:r>
            <a:endParaRPr/>
          </a:p>
        </p:txBody>
      </p:sp>
      <p:sp>
        <p:nvSpPr>
          <p:cNvPr id="1786" name="Google Shape;1786;p1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$224K</a:t>
            </a:r>
            <a:endParaRPr/>
          </a:p>
        </p:txBody>
      </p:sp>
      <p:sp>
        <p:nvSpPr>
          <p:cNvPr id="1787" name="Google Shape;1787;p1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$556K</a:t>
            </a:r>
            <a:endParaRPr/>
          </a:p>
        </p:txBody>
      </p:sp>
      <p:sp>
        <p:nvSpPr>
          <p:cNvPr id="1788" name="Google Shape;1788;p1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$2.0M</a:t>
            </a:r>
            <a:endParaRPr/>
          </a:p>
        </p:txBody>
      </p:sp>
      <p:sp>
        <p:nvSpPr>
          <p:cNvPr id="1789" name="Google Shape;1789;p1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0" name="Google Shape;1790;p1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791" name="Google Shape;1791;p1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792" name="Google Shape;1792;p1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$1,993,624 YTD gross written premium</a:t>
            </a:r>
            <a:endParaRPr/>
          </a:p>
        </p:txBody>
      </p:sp>
      <p:sp>
        <p:nvSpPr>
          <p:cNvPr id="1793" name="Google Shape;1793;p1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794" name="Google Shape;1794;p1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$1,183,964 in new business production</a:t>
            </a:r>
            <a:endParaRPr/>
          </a:p>
        </p:txBody>
      </p:sp>
      <p:sp>
        <p:nvSpPr>
          <p:cNvPr id="1795" name="Google Shape;1795;p1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6" name="Google Shape;1796;p1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797" name="Google Shape;1797;p1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798" name="Google Shape;1798;p1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104% of new business ($1,232,374)</a:t>
            </a:r>
            <a:endParaRPr/>
          </a:p>
        </p:txBody>
      </p:sp>
      <p:sp>
        <p:nvSpPr>
          <p:cNvPr id="1799" name="Google Shape;1799;p1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800" name="Google Shape;1800;p1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73% month-over-month</a:t>
            </a:r>
            <a:endParaRPr/>
          </a:p>
        </p:txBody>
      </p:sp>
      <p:sp>
        <p:nvSpPr>
          <p:cNvPr id="1801" name="Google Shape;1801;p1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2" name="Google Shape;1802;p1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803" name="Google Shape;1803;p1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804" name="Google Shape;1804;p1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$1,183,964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1805" name="Google Shape;1805;p1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806" name="Google Shape;1806;p1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$1,232,374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10" name="Shape 1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1" name="Google Shape;1811;p1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2" name="Google Shape;1812;p1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Roadways Commercial Insurance Services Inc</a:t>
            </a:r>
            <a:endParaRPr/>
          </a:p>
        </p:txBody>
      </p:sp>
      <p:sp>
        <p:nvSpPr>
          <p:cNvPr id="1813" name="Google Shape;1813;p1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Pacific Northwest  |  State: CA  |  City: Sacramento</a:t>
            </a:r>
            <a:endParaRPr/>
          </a:p>
        </p:txBody>
      </p:sp>
      <p:sp>
        <p:nvSpPr>
          <p:cNvPr id="1814" name="Google Shape;1814;p1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$1,037,589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815" name="Google Shape;1815;p1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$715,605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16" name="Google Shape;1816;p1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$33,536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17" name="Google Shape;1817;p1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$288,447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18" name="Google Shape;1818;p1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$-493,268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19" name="Google Shape;1819;p1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$737,616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820" name="Google Shape;1820;p1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$1,786,794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821" name="Google Shape;1821;p1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822" name="Google Shape;1822;p1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23" name="Google Shape;1823;p1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824" name="Google Shape;1824;p1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825" name="Google Shape;1825;p1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$433,705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826" name="Google Shape;1826;p1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$396,931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827" name="Google Shape;1827;p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8" name="Google Shape;1828;p1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829" name="Google Shape;1829;p1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30" name="Google Shape;1830;p1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831" name="Google Shape;1831;p1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32" name="Google Shape;1832;p1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33" name="Google Shape;1833;p1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34" name="Google Shape;1834;p1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35" name="Google Shape;1835;p1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6" name="Google Shape;1836;p1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837" name="Google Shape;1837;p1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$306,192</a:t>
            </a:r>
            <a:endParaRPr/>
          </a:p>
        </p:txBody>
      </p:sp>
      <p:sp>
        <p:nvSpPr>
          <p:cNvPr id="1838" name="Google Shape;1838;p1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$169,361</a:t>
            </a:r>
            <a:endParaRPr/>
          </a:p>
        </p:txBody>
      </p:sp>
      <p:sp>
        <p:nvSpPr>
          <p:cNvPr id="1839" name="Google Shape;1839;p1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40" name="Google Shape;1840;p1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$136,831</a:t>
            </a:r>
            <a:endParaRPr/>
          </a:p>
        </p:txBody>
      </p:sp>
      <p:sp>
        <p:nvSpPr>
          <p:cNvPr id="1841" name="Google Shape;1841;p1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$-104,966</a:t>
            </a:r>
            <a:endParaRPr/>
          </a:p>
        </p:txBody>
      </p:sp>
      <p:sp>
        <p:nvSpPr>
          <p:cNvPr id="1842" name="Google Shape;1842;p1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3" name="Google Shape;1843;p1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844" name="Google Shape;1844;p1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$353,038</a:t>
            </a:r>
            <a:endParaRPr/>
          </a:p>
        </p:txBody>
      </p:sp>
      <p:sp>
        <p:nvSpPr>
          <p:cNvPr id="1845" name="Google Shape;1845;p1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$233,140</a:t>
            </a:r>
            <a:endParaRPr/>
          </a:p>
        </p:txBody>
      </p:sp>
      <p:sp>
        <p:nvSpPr>
          <p:cNvPr id="1846" name="Google Shape;1846;p1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$33,536</a:t>
            </a:r>
            <a:endParaRPr/>
          </a:p>
        </p:txBody>
      </p:sp>
      <p:sp>
        <p:nvSpPr>
          <p:cNvPr id="1847" name="Google Shape;1847;p1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$86,362</a:t>
            </a:r>
            <a:endParaRPr/>
          </a:p>
        </p:txBody>
      </p:sp>
      <p:sp>
        <p:nvSpPr>
          <p:cNvPr id="1848" name="Google Shape;1848;p1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$-140,238</a:t>
            </a:r>
            <a:endParaRPr/>
          </a:p>
        </p:txBody>
      </p:sp>
      <p:sp>
        <p:nvSpPr>
          <p:cNvPr id="1849" name="Google Shape;1849;p1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0" name="Google Shape;1850;p1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851" name="Google Shape;1851;p1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$120,349</a:t>
            </a:r>
            <a:endParaRPr/>
          </a:p>
        </p:txBody>
      </p:sp>
      <p:sp>
        <p:nvSpPr>
          <p:cNvPr id="1852" name="Google Shape;1852;p1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$78,610</a:t>
            </a:r>
            <a:endParaRPr/>
          </a:p>
        </p:txBody>
      </p:sp>
      <p:sp>
        <p:nvSpPr>
          <p:cNvPr id="1853" name="Google Shape;1853;p1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54" name="Google Shape;1854;p1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$41,739</a:t>
            </a:r>
            <a:endParaRPr/>
          </a:p>
        </p:txBody>
      </p:sp>
      <p:sp>
        <p:nvSpPr>
          <p:cNvPr id="1855" name="Google Shape;1855;p1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$-61,497</a:t>
            </a:r>
            <a:endParaRPr/>
          </a:p>
        </p:txBody>
      </p:sp>
      <p:sp>
        <p:nvSpPr>
          <p:cNvPr id="1856" name="Google Shape;1856;p1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7" name="Google Shape;1857;p1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858" name="Google Shape;1858;p1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$156,264</a:t>
            </a:r>
            <a:endParaRPr/>
          </a:p>
        </p:txBody>
      </p:sp>
      <p:sp>
        <p:nvSpPr>
          <p:cNvPr id="1859" name="Google Shape;1859;p1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$121,313</a:t>
            </a:r>
            <a:endParaRPr/>
          </a:p>
        </p:txBody>
      </p:sp>
      <p:sp>
        <p:nvSpPr>
          <p:cNvPr id="1860" name="Google Shape;1860;p1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61" name="Google Shape;1861;p1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$34,951</a:t>
            </a:r>
            <a:endParaRPr/>
          </a:p>
        </p:txBody>
      </p:sp>
      <p:sp>
        <p:nvSpPr>
          <p:cNvPr id="1862" name="Google Shape;1862;p1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$-186,568</a:t>
            </a:r>
            <a:endParaRPr/>
          </a:p>
        </p:txBody>
      </p:sp>
      <p:sp>
        <p:nvSpPr>
          <p:cNvPr id="1863" name="Google Shape;1863;p1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4" name="Google Shape;1864;p1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865" name="Google Shape;1865;p1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$101,746</a:t>
            </a:r>
            <a:endParaRPr/>
          </a:p>
        </p:txBody>
      </p:sp>
      <p:sp>
        <p:nvSpPr>
          <p:cNvPr id="1866" name="Google Shape;1866;p1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$113,182</a:t>
            </a:r>
            <a:endParaRPr/>
          </a:p>
        </p:txBody>
      </p:sp>
      <p:sp>
        <p:nvSpPr>
          <p:cNvPr id="1867" name="Google Shape;1867;p1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68" name="Google Shape;1868;p1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$-11,436</a:t>
            </a:r>
            <a:endParaRPr/>
          </a:p>
        </p:txBody>
      </p:sp>
      <p:sp>
        <p:nvSpPr>
          <p:cNvPr id="1869" name="Google Shape;1869;p1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70" name="Google Shape;1870;p1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1" name="Google Shape;1871;p1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872" name="Google Shape;1872;p1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$1,037,589</a:t>
            </a:r>
            <a:endParaRPr/>
          </a:p>
        </p:txBody>
      </p:sp>
      <p:sp>
        <p:nvSpPr>
          <p:cNvPr id="1873" name="Google Shape;1873;p1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$715,605</a:t>
            </a:r>
            <a:endParaRPr/>
          </a:p>
        </p:txBody>
      </p:sp>
      <p:sp>
        <p:nvSpPr>
          <p:cNvPr id="1874" name="Google Shape;1874;p1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$33,536</a:t>
            </a:r>
            <a:endParaRPr/>
          </a:p>
        </p:txBody>
      </p:sp>
      <p:sp>
        <p:nvSpPr>
          <p:cNvPr id="1875" name="Google Shape;1875;p1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$288,447</a:t>
            </a:r>
            <a:endParaRPr/>
          </a:p>
        </p:txBody>
      </p:sp>
      <p:sp>
        <p:nvSpPr>
          <p:cNvPr id="1876" name="Google Shape;1876;p1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$-493,268</a:t>
            </a:r>
            <a:endParaRPr/>
          </a:p>
        </p:txBody>
      </p:sp>
      <p:sp>
        <p:nvSpPr>
          <p:cNvPr id="1877" name="Google Shape;1877;p1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8" name="Google Shape;1878;p1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879" name="Google Shape;1879;p1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80" name="Google Shape;1880;p1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881" name="Google Shape;1881;p1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882" name="Google Shape;1882;p1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883" name="Google Shape;1883;p1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884" name="Google Shape;1884;p1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885" name="Google Shape;1885;p1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6" name="Google Shape;1886;p1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887" name="Google Shape;1887;p1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1888" name="Google Shape;1888;p1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889" name="Google Shape;1889;p1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1890" name="Google Shape;1890;p1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891" name="Google Shape;1891;p1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36.4%</a:t>
            </a:r>
            <a:endParaRPr/>
          </a:p>
        </p:txBody>
      </p:sp>
      <p:sp>
        <p:nvSpPr>
          <p:cNvPr id="1892" name="Google Shape;1892;p1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3" name="Google Shape;1893;p1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894" name="Google Shape;1894;p1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895" name="Google Shape;1895;p1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896" name="Google Shape;1896;p1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1897" name="Google Shape;1897;p1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898" name="Google Shape;1898;p1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32.4%</a:t>
            </a:r>
            <a:endParaRPr/>
          </a:p>
        </p:txBody>
      </p:sp>
      <p:sp>
        <p:nvSpPr>
          <p:cNvPr id="1899" name="Google Shape;1899;p1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0" name="Google Shape;1900;p1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901" name="Google Shape;1901;p1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902" name="Google Shape;1902;p1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03" name="Google Shape;1903;p1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1904" name="Google Shape;1904;p1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905" name="Google Shape;1905;p1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17.1%</a:t>
            </a:r>
            <a:endParaRPr/>
          </a:p>
        </p:txBody>
      </p:sp>
      <p:sp>
        <p:nvSpPr>
          <p:cNvPr id="1906" name="Google Shape;1906;p1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7" name="Google Shape;1907;p1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908" name="Google Shape;1908;p1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909" name="Google Shape;1909;p1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910" name="Google Shape;1910;p1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911" name="Google Shape;1911;p1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912" name="Google Shape;1912;p1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16.2%</a:t>
            </a:r>
            <a:endParaRPr/>
          </a:p>
        </p:txBody>
      </p:sp>
      <p:sp>
        <p:nvSpPr>
          <p:cNvPr id="1913" name="Google Shape;1913;p1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4" name="Google Shape;1914;p1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15" name="Google Shape;1915;p1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916" name="Google Shape;1916;p1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917" name="Google Shape;1917;p1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918" name="Google Shape;1918;p1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919" name="Google Shape;1919;p1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1920" name="Google Shape;1920;p1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1" name="Google Shape;1921;p1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22" name="Google Shape;1922;p1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</a:t>
            </a:r>
            <a:endParaRPr/>
          </a:p>
        </p:txBody>
      </p:sp>
      <p:sp>
        <p:nvSpPr>
          <p:cNvPr id="1923" name="Google Shape;1923;p1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924" name="Google Shape;1924;p1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115</a:t>
            </a:r>
            <a:endParaRPr/>
          </a:p>
        </p:txBody>
      </p:sp>
      <p:sp>
        <p:nvSpPr>
          <p:cNvPr id="1925" name="Google Shape;1925;p1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926" name="Google Shape;1926;p1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14.5%</a:t>
            </a:r>
            <a:endParaRPr/>
          </a:p>
        </p:txBody>
      </p:sp>
      <p:sp>
        <p:nvSpPr>
          <p:cNvPr id="1927" name="Google Shape;1927;p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8" name="Google Shape;1928;p1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929" name="Google Shape;1929;p1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30" name="Google Shape;1930;p1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931" name="Google Shape;1931;p1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932" name="Google Shape;1932;p1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933" name="Google Shape;1933;p1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934" name="Google Shape;1934;p1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935" name="Google Shape;1935;p1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936" name="Google Shape;1936;p1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937" name="Google Shape;1937;p1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938" name="Google Shape;1938;p1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939" name="Google Shape;1939;p1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940" name="Google Shape;1940;p1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941" name="Google Shape;1941;p1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942" name="Google Shape;1942;p1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943" name="Google Shape;1943;p1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944" name="Google Shape;1944;p1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1945" name="Google Shape;1945;p1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1946" name="Google Shape;1946;p1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947" name="Google Shape;1947;p1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948" name="Google Shape;1948;p1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949" name="Google Shape;1949;p1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1950" name="Google Shape;1950;p1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951" name="Google Shape;1951;p1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952" name="Google Shape;1952;p1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953" name="Google Shape;1953;p1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155</a:t>
            </a:r>
            <a:endParaRPr/>
          </a:p>
        </p:txBody>
      </p:sp>
      <p:sp>
        <p:nvSpPr>
          <p:cNvPr id="1954" name="Google Shape;1954;p1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167</a:t>
            </a:r>
            <a:endParaRPr/>
          </a:p>
        </p:txBody>
      </p:sp>
      <p:sp>
        <p:nvSpPr>
          <p:cNvPr id="1955" name="Google Shape;1955;p1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956" name="Google Shape;1956;p1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57" name="Google Shape;1957;p1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$306K</a:t>
            </a:r>
            <a:endParaRPr/>
          </a:p>
        </p:txBody>
      </p:sp>
      <p:sp>
        <p:nvSpPr>
          <p:cNvPr id="1958" name="Google Shape;1958;p1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59" name="Google Shape;1959;p1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$353K</a:t>
            </a:r>
            <a:endParaRPr/>
          </a:p>
        </p:txBody>
      </p:sp>
      <p:sp>
        <p:nvSpPr>
          <p:cNvPr id="1960" name="Google Shape;1960;p1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$-15,932</a:t>
            </a:r>
            <a:endParaRPr/>
          </a:p>
        </p:txBody>
      </p:sp>
      <p:sp>
        <p:nvSpPr>
          <p:cNvPr id="1961" name="Google Shape;1961;p1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$120K</a:t>
            </a:r>
            <a:endParaRPr/>
          </a:p>
        </p:txBody>
      </p:sp>
      <p:sp>
        <p:nvSpPr>
          <p:cNvPr id="1962" name="Google Shape;1962;p1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1963" name="Google Shape;1963;p1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$156K</a:t>
            </a:r>
            <a:endParaRPr/>
          </a:p>
        </p:txBody>
      </p:sp>
      <p:sp>
        <p:nvSpPr>
          <p:cNvPr id="1964" name="Google Shape;1964;p1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1965" name="Google Shape;1965;p1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$102K</a:t>
            </a:r>
            <a:endParaRPr/>
          </a:p>
        </p:txBody>
      </p:sp>
      <p:sp>
        <p:nvSpPr>
          <p:cNvPr id="1966" name="Google Shape;1966;p1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$-11,589</a:t>
            </a:r>
            <a:endParaRPr/>
          </a:p>
        </p:txBody>
      </p:sp>
      <p:sp>
        <p:nvSpPr>
          <p:cNvPr id="1967" name="Google Shape;1967;p1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$1.0M</a:t>
            </a:r>
            <a:endParaRPr/>
          </a:p>
        </p:txBody>
      </p:sp>
      <p:sp>
        <p:nvSpPr>
          <p:cNvPr id="1968" name="Google Shape;1968;p1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9" name="Google Shape;1969;p1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970" name="Google Shape;1970;p1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971" name="Google Shape;1971;p1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$1,037,589 YTD gross written premium</a:t>
            </a:r>
            <a:endParaRPr/>
          </a:p>
        </p:txBody>
      </p:sp>
      <p:sp>
        <p:nvSpPr>
          <p:cNvPr id="1972" name="Google Shape;1972;p1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973" name="Google Shape;1973;p1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$715,605 in new business production</a:t>
            </a:r>
            <a:endParaRPr/>
          </a:p>
        </p:txBody>
      </p:sp>
      <p:sp>
        <p:nvSpPr>
          <p:cNvPr id="1974" name="Google Shape;1974;p1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5" name="Google Shape;1975;p1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976" name="Google Shape;1976;p1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977" name="Google Shape;1977;p1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69% of new business ($493,268)</a:t>
            </a:r>
            <a:endParaRPr/>
          </a:p>
        </p:txBody>
      </p:sp>
      <p:sp>
        <p:nvSpPr>
          <p:cNvPr id="1978" name="Google Shape;1978;p1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9" name="Google Shape;1979;p1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980" name="Google Shape;1980;p1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981" name="Google Shape;1981;p1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$715,605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1982" name="Google Shape;1982;p1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983" name="Google Shape;1983;p1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$493,268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87" name="Shape 1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8" name="Google Shape;1988;p1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9" name="Google Shape;1989;p1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Insurance Services Llc</a:t>
            </a:r>
            <a:endParaRPr/>
          </a:p>
        </p:txBody>
      </p:sp>
      <p:sp>
        <p:nvSpPr>
          <p:cNvPr id="1990" name="Google Shape;1990;p1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Pacific Northwest  |  State: N/A  |  City: N/A</a:t>
            </a:r>
            <a:endParaRPr/>
          </a:p>
        </p:txBody>
      </p:sp>
      <p:sp>
        <p:nvSpPr>
          <p:cNvPr id="1991" name="Google Shape;1991;p1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$848,152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992" name="Google Shape;1992;p1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$692,043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993" name="Google Shape;1993;p1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$29,398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994" name="Google Shape;1994;p1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$126,710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995" name="Google Shape;1995;p1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$-375,250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996" name="Google Shape;1996;p1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$634,300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997" name="Google Shape;1997;p1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$1,482,452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998" name="Google Shape;1998;p1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999" name="Google Shape;1999;p1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000" name="Google Shape;2000;p1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01" name="Google Shape;2001;p1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02" name="Google Shape;2002;p1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003" name="Google Shape;2003;p1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$591,791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004" name="Google Shape;2004;p1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5" name="Google Shape;2005;p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006" name="Google Shape;2006;p1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07" name="Google Shape;2007;p1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008" name="Google Shape;2008;p1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09" name="Google Shape;2009;p1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10" name="Google Shape;2010;p1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11" name="Google Shape;2011;p1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12" name="Google Shape;2012;p1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3" name="Google Shape;2013;p1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14" name="Google Shape;2014;p1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$231,418</a:t>
            </a:r>
            <a:endParaRPr/>
          </a:p>
        </p:txBody>
      </p:sp>
      <p:sp>
        <p:nvSpPr>
          <p:cNvPr id="2015" name="Google Shape;2015;p1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$180,687</a:t>
            </a:r>
            <a:endParaRPr/>
          </a:p>
        </p:txBody>
      </p:sp>
      <p:sp>
        <p:nvSpPr>
          <p:cNvPr id="2016" name="Google Shape;2016;p1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17" name="Google Shape;2017;p1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$50,732</a:t>
            </a:r>
            <a:endParaRPr/>
          </a:p>
        </p:txBody>
      </p:sp>
      <p:sp>
        <p:nvSpPr>
          <p:cNvPr id="2018" name="Google Shape;2018;p1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$-131,712</a:t>
            </a:r>
            <a:endParaRPr/>
          </a:p>
        </p:txBody>
      </p:sp>
      <p:sp>
        <p:nvSpPr>
          <p:cNvPr id="2019" name="Google Shape;2019;p1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0" name="Google Shape;2020;p1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21" name="Google Shape;2021;p1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$223,956</a:t>
            </a:r>
            <a:endParaRPr/>
          </a:p>
        </p:txBody>
      </p:sp>
      <p:sp>
        <p:nvSpPr>
          <p:cNvPr id="2022" name="Google Shape;2022;p1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$192,570</a:t>
            </a:r>
            <a:endParaRPr/>
          </a:p>
        </p:txBody>
      </p:sp>
      <p:sp>
        <p:nvSpPr>
          <p:cNvPr id="2023" name="Google Shape;2023;p1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24" name="Google Shape;2024;p1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$31,386</a:t>
            </a:r>
            <a:endParaRPr/>
          </a:p>
        </p:txBody>
      </p:sp>
      <p:sp>
        <p:nvSpPr>
          <p:cNvPr id="2025" name="Google Shape;2025;p1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$-96,703</a:t>
            </a:r>
            <a:endParaRPr/>
          </a:p>
        </p:txBody>
      </p:sp>
      <p:sp>
        <p:nvSpPr>
          <p:cNvPr id="2026" name="Google Shape;2026;p1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7" name="Google Shape;2027;p1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28" name="Google Shape;2028;p1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$170,535</a:t>
            </a:r>
            <a:endParaRPr/>
          </a:p>
        </p:txBody>
      </p:sp>
      <p:sp>
        <p:nvSpPr>
          <p:cNvPr id="2029" name="Google Shape;2029;p1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$148,379</a:t>
            </a:r>
            <a:endParaRPr/>
          </a:p>
        </p:txBody>
      </p:sp>
      <p:sp>
        <p:nvSpPr>
          <p:cNvPr id="2030" name="Google Shape;2030;p1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31" name="Google Shape;2031;p1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$22,156</a:t>
            </a:r>
            <a:endParaRPr/>
          </a:p>
        </p:txBody>
      </p:sp>
      <p:sp>
        <p:nvSpPr>
          <p:cNvPr id="2032" name="Google Shape;2032;p1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$-39,508</a:t>
            </a:r>
            <a:endParaRPr/>
          </a:p>
        </p:txBody>
      </p:sp>
      <p:sp>
        <p:nvSpPr>
          <p:cNvPr id="2033" name="Google Shape;2033;p1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4" name="Google Shape;2034;p1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035" name="Google Shape;2035;p1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$142,834</a:t>
            </a:r>
            <a:endParaRPr/>
          </a:p>
        </p:txBody>
      </p:sp>
      <p:sp>
        <p:nvSpPr>
          <p:cNvPr id="2036" name="Google Shape;2036;p1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$120,883</a:t>
            </a:r>
            <a:endParaRPr/>
          </a:p>
        </p:txBody>
      </p:sp>
      <p:sp>
        <p:nvSpPr>
          <p:cNvPr id="2037" name="Google Shape;2037;p1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38" name="Google Shape;2038;p1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$21,951</a:t>
            </a:r>
            <a:endParaRPr/>
          </a:p>
        </p:txBody>
      </p:sp>
      <p:sp>
        <p:nvSpPr>
          <p:cNvPr id="2039" name="Google Shape;2039;p1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$-88,590</a:t>
            </a:r>
            <a:endParaRPr/>
          </a:p>
        </p:txBody>
      </p:sp>
      <p:sp>
        <p:nvSpPr>
          <p:cNvPr id="2040" name="Google Shape;2040;p1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1" name="Google Shape;2041;p1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042" name="Google Shape;2042;p1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$79,409</a:t>
            </a:r>
            <a:endParaRPr/>
          </a:p>
        </p:txBody>
      </p:sp>
      <p:sp>
        <p:nvSpPr>
          <p:cNvPr id="2043" name="Google Shape;2043;p1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$49,525</a:t>
            </a:r>
            <a:endParaRPr/>
          </a:p>
        </p:txBody>
      </p:sp>
      <p:sp>
        <p:nvSpPr>
          <p:cNvPr id="2044" name="Google Shape;2044;p1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$29,398</a:t>
            </a:r>
            <a:endParaRPr/>
          </a:p>
        </p:txBody>
      </p:sp>
      <p:sp>
        <p:nvSpPr>
          <p:cNvPr id="2045" name="Google Shape;2045;p1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$486</a:t>
            </a:r>
            <a:endParaRPr/>
          </a:p>
        </p:txBody>
      </p:sp>
      <p:sp>
        <p:nvSpPr>
          <p:cNvPr id="2046" name="Google Shape;2046;p1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$-18,738</a:t>
            </a:r>
            <a:endParaRPr/>
          </a:p>
        </p:txBody>
      </p:sp>
      <p:sp>
        <p:nvSpPr>
          <p:cNvPr id="2047" name="Google Shape;2047;p1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8" name="Google Shape;2048;p1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49" name="Google Shape;2049;p1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$848,152</a:t>
            </a:r>
            <a:endParaRPr/>
          </a:p>
        </p:txBody>
      </p:sp>
      <p:sp>
        <p:nvSpPr>
          <p:cNvPr id="2050" name="Google Shape;2050;p1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$692,043</a:t>
            </a:r>
            <a:endParaRPr/>
          </a:p>
        </p:txBody>
      </p:sp>
      <p:sp>
        <p:nvSpPr>
          <p:cNvPr id="2051" name="Google Shape;2051;p1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$29,398</a:t>
            </a:r>
            <a:endParaRPr/>
          </a:p>
        </p:txBody>
      </p:sp>
      <p:sp>
        <p:nvSpPr>
          <p:cNvPr id="2052" name="Google Shape;2052;p1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$126,710</a:t>
            </a:r>
            <a:endParaRPr/>
          </a:p>
        </p:txBody>
      </p:sp>
      <p:sp>
        <p:nvSpPr>
          <p:cNvPr id="2053" name="Google Shape;2053;p1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$-375,250</a:t>
            </a:r>
            <a:endParaRPr/>
          </a:p>
        </p:txBody>
      </p:sp>
      <p:sp>
        <p:nvSpPr>
          <p:cNvPr id="2054" name="Google Shape;2054;p1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5" name="Google Shape;2055;p1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056" name="Google Shape;2056;p1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57" name="Google Shape;2057;p1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058" name="Google Shape;2058;p1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059" name="Google Shape;2059;p1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060" name="Google Shape;2060;p1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61" name="Google Shape;2061;p1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62" name="Google Shape;2062;p1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3" name="Google Shape;2063;p1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64" name="Google Shape;2064;p1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2065" name="Google Shape;2065;p1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66" name="Google Shape;2066;p1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2067" name="Google Shape;2067;p1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068" name="Google Shape;2068;p1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16.0%</a:t>
            </a:r>
            <a:endParaRPr/>
          </a:p>
        </p:txBody>
      </p:sp>
      <p:sp>
        <p:nvSpPr>
          <p:cNvPr id="2069" name="Google Shape;2069;p1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0" name="Google Shape;2070;p1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71" name="Google Shape;2071;p1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</p:txBody>
      </p:sp>
      <p:sp>
        <p:nvSpPr>
          <p:cNvPr id="2072" name="Google Shape;2072;p1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73" name="Google Shape;2073;p1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</a:t>
            </a:r>
            <a:endParaRPr/>
          </a:p>
        </p:txBody>
      </p:sp>
      <p:sp>
        <p:nvSpPr>
          <p:cNvPr id="2074" name="Google Shape;2074;p1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075" name="Google Shape;2075;p1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11.2%</a:t>
            </a:r>
            <a:endParaRPr/>
          </a:p>
        </p:txBody>
      </p:sp>
      <p:sp>
        <p:nvSpPr>
          <p:cNvPr id="2076" name="Google Shape;2076;p1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7" name="Google Shape;2077;p1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78" name="Google Shape;2078;p1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2079" name="Google Shape;2079;p1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080" name="Google Shape;2080;p1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</a:t>
            </a:r>
            <a:endParaRPr/>
          </a:p>
        </p:txBody>
      </p:sp>
      <p:sp>
        <p:nvSpPr>
          <p:cNvPr id="2081" name="Google Shape;2081;p1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082" name="Google Shape;2082;p1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8.6%</a:t>
            </a:r>
            <a:endParaRPr/>
          </a:p>
        </p:txBody>
      </p:sp>
      <p:sp>
        <p:nvSpPr>
          <p:cNvPr id="2083" name="Google Shape;2083;p1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4" name="Google Shape;2084;p1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085" name="Google Shape;2085;p1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2086" name="Google Shape;2086;p1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087" name="Google Shape;2087;p1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2088" name="Google Shape;2088;p1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089" name="Google Shape;2089;p1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14.5%</a:t>
            </a:r>
            <a:endParaRPr/>
          </a:p>
        </p:txBody>
      </p:sp>
      <p:sp>
        <p:nvSpPr>
          <p:cNvPr id="2090" name="Google Shape;2090;p1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1" name="Google Shape;2091;p1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092" name="Google Shape;2092;p1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2093" name="Google Shape;2093;p1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94" name="Google Shape;2094;p1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095" name="Google Shape;2095;p1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096" name="Google Shape;2096;p1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2097" name="Google Shape;2097;p1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8" name="Google Shape;2098;p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99" name="Google Shape;2099;p1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357</a:t>
            </a:r>
            <a:endParaRPr/>
          </a:p>
        </p:txBody>
      </p:sp>
      <p:sp>
        <p:nvSpPr>
          <p:cNvPr id="2100" name="Google Shape;2100;p1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101" name="Google Shape;2101;p1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350</a:t>
            </a:r>
            <a:endParaRPr/>
          </a:p>
        </p:txBody>
      </p:sp>
      <p:sp>
        <p:nvSpPr>
          <p:cNvPr id="2102" name="Google Shape;2102;p1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2103" name="Google Shape;2103;p1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7.8%</a:t>
            </a:r>
            <a:endParaRPr/>
          </a:p>
        </p:txBody>
      </p:sp>
      <p:sp>
        <p:nvSpPr>
          <p:cNvPr id="2104" name="Google Shape;2104;p1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5" name="Google Shape;2105;p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106" name="Google Shape;2106;p1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107" name="Google Shape;2107;p1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108" name="Google Shape;2108;p1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109" name="Google Shape;2109;p1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110" name="Google Shape;2110;p1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111" name="Google Shape;2111;p1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112" name="Google Shape;2112;p1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113" name="Google Shape;2113;p1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114" name="Google Shape;2114;p1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115" name="Google Shape;2115;p1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116" name="Google Shape;2116;p1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117" name="Google Shape;2117;p1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118" name="Google Shape;2118;p1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119" name="Google Shape;2119;p1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20" name="Google Shape;2120;p1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21" name="Google Shape;2121;p1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2122" name="Google Shape;2122;p1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23" name="Google Shape;2123;p1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</p:txBody>
      </p:sp>
      <p:sp>
        <p:nvSpPr>
          <p:cNvPr id="2124" name="Google Shape;2124;p1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25" name="Google Shape;2125;p1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2126" name="Google Shape;2126;p1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27" name="Google Shape;2127;p1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2128" name="Google Shape;2128;p1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29" name="Google Shape;2129;p1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2130" name="Google Shape;2130;p1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31" name="Google Shape;2131;p1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389</a:t>
            </a:r>
            <a:endParaRPr/>
          </a:p>
        </p:txBody>
      </p:sp>
      <p:sp>
        <p:nvSpPr>
          <p:cNvPr id="2132" name="Google Shape;2132;p1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133" name="Google Shape;2133;p1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34" name="Google Shape;2134;p1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$231K</a:t>
            </a:r>
            <a:endParaRPr/>
          </a:p>
        </p:txBody>
      </p:sp>
      <p:sp>
        <p:nvSpPr>
          <p:cNvPr id="2135" name="Google Shape;2135;p1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36" name="Google Shape;2136;p1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$224K</a:t>
            </a:r>
            <a:endParaRPr/>
          </a:p>
        </p:txBody>
      </p:sp>
      <p:sp>
        <p:nvSpPr>
          <p:cNvPr id="2137" name="Google Shape;2137;p1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38" name="Google Shape;2138;p1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$171K</a:t>
            </a:r>
            <a:endParaRPr/>
          </a:p>
        </p:txBody>
      </p:sp>
      <p:sp>
        <p:nvSpPr>
          <p:cNvPr id="2139" name="Google Shape;2139;p1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40" name="Google Shape;2140;p1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$143K</a:t>
            </a:r>
            <a:endParaRPr/>
          </a:p>
        </p:txBody>
      </p:sp>
      <p:sp>
        <p:nvSpPr>
          <p:cNvPr id="2141" name="Google Shape;2141;p1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42" name="Google Shape;2142;p1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2143" name="Google Shape;2143;p1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44" name="Google Shape;2144;p1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$848K</a:t>
            </a:r>
            <a:endParaRPr/>
          </a:p>
        </p:txBody>
      </p:sp>
      <p:sp>
        <p:nvSpPr>
          <p:cNvPr id="2145" name="Google Shape;2145;p1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6" name="Google Shape;2146;p1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147" name="Google Shape;2147;p1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48" name="Google Shape;2148;p1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$848,152 YTD gross written premium</a:t>
            </a:r>
            <a:endParaRPr/>
          </a:p>
        </p:txBody>
      </p:sp>
      <p:sp>
        <p:nvSpPr>
          <p:cNvPr id="2149" name="Google Shape;2149;p1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50" name="Google Shape;2150;p1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$692,043 in new business production</a:t>
            </a:r>
            <a:endParaRPr/>
          </a:p>
        </p:txBody>
      </p:sp>
      <p:sp>
        <p:nvSpPr>
          <p:cNvPr id="2151" name="Google Shape;2151;p1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2" name="Google Shape;2152;p1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153" name="Google Shape;2153;p1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154" name="Google Shape;2154;p1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54% of new business ($375,250)</a:t>
            </a:r>
            <a:endParaRPr/>
          </a:p>
        </p:txBody>
      </p:sp>
      <p:sp>
        <p:nvSpPr>
          <p:cNvPr id="2155" name="Google Shape;2155;p1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6" name="Google Shape;2156;p1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157" name="Google Shape;2157;p1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158" name="Google Shape;2158;p1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$692,043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159" name="Google Shape;2159;p1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160" name="Google Shape;2160;p1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$375,250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64" name="Shape 2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5" name="Google Shape;2165;p1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6" name="Google Shape;2166;p1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 Rue Insurance Agency, Inc</a:t>
            </a:r>
            <a:endParaRPr/>
          </a:p>
        </p:txBody>
      </p:sp>
      <p:sp>
        <p:nvSpPr>
          <p:cNvPr id="2167" name="Google Shape;2167;p1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Pacific Northwest  |  State: CA  |  City: Roseville</a:t>
            </a:r>
            <a:endParaRPr/>
          </a:p>
        </p:txBody>
      </p:sp>
      <p:sp>
        <p:nvSpPr>
          <p:cNvPr id="2168" name="Google Shape;2168;p1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$711,343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169" name="Google Shape;2169;p1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$719,941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170" name="Google Shape;2170;p1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$49,093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171" name="Google Shape;2171;p1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$-57,691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172" name="Google Shape;2172;p1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$-267,742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173" name="Google Shape;2173;p1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$526,779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174" name="Google Shape;2174;p1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$937,512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175" name="Google Shape;2175;p1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176" name="Google Shape;2176;p1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77" name="Google Shape;2177;p1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178" name="Google Shape;2178;p1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179" name="Google Shape;2179;p1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$393,517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180" name="Google Shape;2180;p1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$142,910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181" name="Google Shape;2181;p1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2" name="Google Shape;2182;p1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183" name="Google Shape;2183;p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184" name="Google Shape;2184;p1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185" name="Google Shape;2185;p1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186" name="Google Shape;2186;p1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187" name="Google Shape;2187;p1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188" name="Google Shape;2188;p1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189" name="Google Shape;2189;p1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0" name="Google Shape;2190;p1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191" name="Google Shape;2191;p1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$67,641</a:t>
            </a:r>
            <a:endParaRPr/>
          </a:p>
        </p:txBody>
      </p:sp>
      <p:sp>
        <p:nvSpPr>
          <p:cNvPr id="2192" name="Google Shape;2192;p1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$37,909</a:t>
            </a:r>
            <a:endParaRPr/>
          </a:p>
        </p:txBody>
      </p:sp>
      <p:sp>
        <p:nvSpPr>
          <p:cNvPr id="2193" name="Google Shape;2193;p1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$19,500</a:t>
            </a:r>
            <a:endParaRPr/>
          </a:p>
        </p:txBody>
      </p:sp>
      <p:sp>
        <p:nvSpPr>
          <p:cNvPr id="2194" name="Google Shape;2194;p1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$10,232</a:t>
            </a:r>
            <a:endParaRPr/>
          </a:p>
        </p:txBody>
      </p:sp>
      <p:sp>
        <p:nvSpPr>
          <p:cNvPr id="2195" name="Google Shape;2195;p1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$-2,172</a:t>
            </a:r>
            <a:endParaRPr/>
          </a:p>
        </p:txBody>
      </p:sp>
      <p:sp>
        <p:nvSpPr>
          <p:cNvPr id="2196" name="Google Shape;2196;p1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7" name="Google Shape;2197;p1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198" name="Google Shape;2198;p1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$343,848</a:t>
            </a:r>
            <a:endParaRPr/>
          </a:p>
        </p:txBody>
      </p:sp>
      <p:sp>
        <p:nvSpPr>
          <p:cNvPr id="2199" name="Google Shape;2199;p1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$387,828</a:t>
            </a:r>
            <a:endParaRPr/>
          </a:p>
        </p:txBody>
      </p:sp>
      <p:sp>
        <p:nvSpPr>
          <p:cNvPr id="2200" name="Google Shape;2200;p1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01" name="Google Shape;2201;p1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$-43,980</a:t>
            </a:r>
            <a:endParaRPr/>
          </a:p>
        </p:txBody>
      </p:sp>
      <p:sp>
        <p:nvSpPr>
          <p:cNvPr id="2202" name="Google Shape;2202;p1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03" name="Google Shape;2203;p1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4" name="Google Shape;2204;p1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05" name="Google Shape;2205;p1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$249,225</a:t>
            </a:r>
            <a:endParaRPr/>
          </a:p>
        </p:txBody>
      </p:sp>
      <p:sp>
        <p:nvSpPr>
          <p:cNvPr id="2206" name="Google Shape;2206;p1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$220,246</a:t>
            </a:r>
            <a:endParaRPr/>
          </a:p>
        </p:txBody>
      </p:sp>
      <p:sp>
        <p:nvSpPr>
          <p:cNvPr id="2207" name="Google Shape;2207;p1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$29,593</a:t>
            </a:r>
            <a:endParaRPr/>
          </a:p>
        </p:txBody>
      </p:sp>
      <p:sp>
        <p:nvSpPr>
          <p:cNvPr id="2208" name="Google Shape;2208;p1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$-614</a:t>
            </a:r>
            <a:endParaRPr/>
          </a:p>
        </p:txBody>
      </p:sp>
      <p:sp>
        <p:nvSpPr>
          <p:cNvPr id="2209" name="Google Shape;2209;p1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$-128,956</a:t>
            </a:r>
            <a:endParaRPr/>
          </a:p>
        </p:txBody>
      </p:sp>
      <p:sp>
        <p:nvSpPr>
          <p:cNvPr id="2210" name="Google Shape;2210;p1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1" name="Google Shape;2211;p1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12" name="Google Shape;2212;p1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$-11,990</a:t>
            </a:r>
            <a:endParaRPr/>
          </a:p>
        </p:txBody>
      </p:sp>
      <p:sp>
        <p:nvSpPr>
          <p:cNvPr id="2213" name="Google Shape;2213;p1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$5,092</a:t>
            </a:r>
            <a:endParaRPr/>
          </a:p>
        </p:txBody>
      </p:sp>
      <p:sp>
        <p:nvSpPr>
          <p:cNvPr id="2214" name="Google Shape;2214;p1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15" name="Google Shape;2215;p1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$-17,082</a:t>
            </a:r>
            <a:endParaRPr/>
          </a:p>
        </p:txBody>
      </p:sp>
      <p:sp>
        <p:nvSpPr>
          <p:cNvPr id="2216" name="Google Shape;2216;p1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$-135,964</a:t>
            </a:r>
            <a:endParaRPr/>
          </a:p>
        </p:txBody>
      </p:sp>
      <p:sp>
        <p:nvSpPr>
          <p:cNvPr id="2217" name="Google Shape;2217;p1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8" name="Google Shape;2218;p1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19" name="Google Shape;2219;p1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$62,619</a:t>
            </a:r>
            <a:endParaRPr/>
          </a:p>
        </p:txBody>
      </p:sp>
      <p:sp>
        <p:nvSpPr>
          <p:cNvPr id="2220" name="Google Shape;2220;p1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$68,867</a:t>
            </a:r>
            <a:endParaRPr/>
          </a:p>
        </p:txBody>
      </p:sp>
      <p:sp>
        <p:nvSpPr>
          <p:cNvPr id="2221" name="Google Shape;2221;p1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2" name="Google Shape;2222;p1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$-6,248</a:t>
            </a:r>
            <a:endParaRPr/>
          </a:p>
        </p:txBody>
      </p:sp>
      <p:sp>
        <p:nvSpPr>
          <p:cNvPr id="2223" name="Google Shape;2223;p1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$-650</a:t>
            </a:r>
            <a:endParaRPr/>
          </a:p>
        </p:txBody>
      </p:sp>
      <p:sp>
        <p:nvSpPr>
          <p:cNvPr id="2224" name="Google Shape;2224;p1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5" name="Google Shape;2225;p1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26" name="Google Shape;2226;p1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$711,343</a:t>
            </a:r>
            <a:endParaRPr/>
          </a:p>
        </p:txBody>
      </p:sp>
      <p:sp>
        <p:nvSpPr>
          <p:cNvPr id="2227" name="Google Shape;2227;p1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$719,941</a:t>
            </a:r>
            <a:endParaRPr/>
          </a:p>
        </p:txBody>
      </p:sp>
      <p:sp>
        <p:nvSpPr>
          <p:cNvPr id="2228" name="Google Shape;2228;p1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$49,093</a:t>
            </a:r>
            <a:endParaRPr/>
          </a:p>
        </p:txBody>
      </p:sp>
      <p:sp>
        <p:nvSpPr>
          <p:cNvPr id="2229" name="Google Shape;2229;p1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$-57,691</a:t>
            </a:r>
            <a:endParaRPr/>
          </a:p>
        </p:txBody>
      </p:sp>
      <p:sp>
        <p:nvSpPr>
          <p:cNvPr id="2230" name="Google Shape;2230;p1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$-267,742</a:t>
            </a:r>
            <a:endParaRPr/>
          </a:p>
        </p:txBody>
      </p:sp>
      <p:sp>
        <p:nvSpPr>
          <p:cNvPr id="2231" name="Google Shape;2231;p1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2" name="Google Shape;2232;p1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233" name="Google Shape;2233;p1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34" name="Google Shape;2234;p1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235" name="Google Shape;2235;p1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236" name="Google Shape;2236;p1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237" name="Google Shape;2237;p1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238" name="Google Shape;2238;p1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39" name="Google Shape;2239;p1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0" name="Google Shape;2240;p1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41" name="Google Shape;2241;p1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242" name="Google Shape;2242;p1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243" name="Google Shape;2243;p1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244" name="Google Shape;2244;p1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245" name="Google Shape;2245;p1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17.1%</a:t>
            </a:r>
            <a:endParaRPr/>
          </a:p>
        </p:txBody>
      </p:sp>
      <p:sp>
        <p:nvSpPr>
          <p:cNvPr id="2246" name="Google Shape;2246;p1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7" name="Google Shape;2247;p1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48" name="Google Shape;2248;p1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2249" name="Google Shape;2249;p1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250" name="Google Shape;2250;p1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251" name="Google Shape;2251;p1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252" name="Google Shape;2252;p1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12.8%</a:t>
            </a:r>
            <a:endParaRPr/>
          </a:p>
        </p:txBody>
      </p:sp>
      <p:sp>
        <p:nvSpPr>
          <p:cNvPr id="2253" name="Google Shape;2253;p1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4" name="Google Shape;2254;p1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55" name="Google Shape;2255;p1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2256" name="Google Shape;2256;p1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257" name="Google Shape;2257;p1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2258" name="Google Shape;2258;p1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259" name="Google Shape;2259;p1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10.8%</a:t>
            </a:r>
            <a:endParaRPr/>
          </a:p>
        </p:txBody>
      </p:sp>
      <p:sp>
        <p:nvSpPr>
          <p:cNvPr id="2260" name="Google Shape;2260;p1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1" name="Google Shape;2261;p1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62" name="Google Shape;2262;p1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2263" name="Google Shape;2263;p1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264" name="Google Shape;2264;p1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265" name="Google Shape;2265;p1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266" name="Google Shape;2266;p1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15.6%</a:t>
            </a:r>
            <a:endParaRPr/>
          </a:p>
        </p:txBody>
      </p:sp>
      <p:sp>
        <p:nvSpPr>
          <p:cNvPr id="2267" name="Google Shape;2267;p1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8" name="Google Shape;2268;p1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69" name="Google Shape;2269;p1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270" name="Google Shape;2270;p1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271" name="Google Shape;2271;p1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272" name="Google Shape;2272;p1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273" name="Google Shape;2273;p1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2274" name="Google Shape;2274;p1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5" name="Google Shape;2275;p1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76" name="Google Shape;2276;p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</p:txBody>
      </p:sp>
      <p:sp>
        <p:nvSpPr>
          <p:cNvPr id="2277" name="Google Shape;2277;p1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278" name="Google Shape;2278;p1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</a:t>
            </a:r>
            <a:endParaRPr/>
          </a:p>
        </p:txBody>
      </p:sp>
      <p:sp>
        <p:nvSpPr>
          <p:cNvPr id="2279" name="Google Shape;2279;p1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280" name="Google Shape;2280;p1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2281" name="Google Shape;2281;p1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2" name="Google Shape;2282;p1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283" name="Google Shape;2283;p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84" name="Google Shape;2284;p1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285" name="Google Shape;2285;p1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286" name="Google Shape;2286;p1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287" name="Google Shape;2287;p1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288" name="Google Shape;2288;p1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289" name="Google Shape;2289;p1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290" name="Google Shape;2290;p1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291" name="Google Shape;2291;p1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292" name="Google Shape;2292;p1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293" name="Google Shape;2293;p1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294" name="Google Shape;2294;p1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295" name="Google Shape;2295;p1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296" name="Google Shape;2296;p1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297" name="Google Shape;2297;p1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298" name="Google Shape;2298;p1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299" name="Google Shape;2299;p1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300" name="Google Shape;2300;p1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2301" name="Google Shape;2301;p1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302" name="Google Shape;2302;p1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2303" name="Google Shape;2303;p1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304" name="Google Shape;2304;p1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2305" name="Google Shape;2305;p1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306" name="Google Shape;2306;p1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307" name="Google Shape;2307;p1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114</a:t>
            </a:r>
            <a:endParaRPr/>
          </a:p>
        </p:txBody>
      </p:sp>
      <p:sp>
        <p:nvSpPr>
          <p:cNvPr id="2308" name="Google Shape;2308;p1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172</a:t>
            </a:r>
            <a:endParaRPr/>
          </a:p>
        </p:txBody>
      </p:sp>
      <p:sp>
        <p:nvSpPr>
          <p:cNvPr id="2309" name="Google Shape;2309;p1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310" name="Google Shape;2310;p1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2311" name="Google Shape;2311;p1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$68K</a:t>
            </a:r>
            <a:endParaRPr/>
          </a:p>
        </p:txBody>
      </p:sp>
      <p:sp>
        <p:nvSpPr>
          <p:cNvPr id="2312" name="Google Shape;2312;p1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2313" name="Google Shape;2313;p1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$344K</a:t>
            </a:r>
            <a:endParaRPr/>
          </a:p>
        </p:txBody>
      </p:sp>
      <p:sp>
        <p:nvSpPr>
          <p:cNvPr id="2314" name="Google Shape;2314;p1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$103K</a:t>
            </a:r>
            <a:endParaRPr/>
          </a:p>
        </p:txBody>
      </p:sp>
      <p:sp>
        <p:nvSpPr>
          <p:cNvPr id="2315" name="Google Shape;2315;p1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$249K</a:t>
            </a:r>
            <a:endParaRPr/>
          </a:p>
        </p:txBody>
      </p:sp>
      <p:sp>
        <p:nvSpPr>
          <p:cNvPr id="2316" name="Google Shape;2316;p1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$39K</a:t>
            </a:r>
            <a:endParaRPr/>
          </a:p>
        </p:txBody>
      </p:sp>
      <p:sp>
        <p:nvSpPr>
          <p:cNvPr id="2317" name="Google Shape;2317;p1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$-11,990</a:t>
            </a:r>
            <a:endParaRPr/>
          </a:p>
        </p:txBody>
      </p:sp>
      <p:sp>
        <p:nvSpPr>
          <p:cNvPr id="2318" name="Google Shape;2318;p1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2319" name="Google Shape;2319;p1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$63K</a:t>
            </a:r>
            <a:endParaRPr/>
          </a:p>
        </p:txBody>
      </p:sp>
      <p:sp>
        <p:nvSpPr>
          <p:cNvPr id="2320" name="Google Shape;2320;p1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$301K</a:t>
            </a:r>
            <a:endParaRPr/>
          </a:p>
        </p:txBody>
      </p:sp>
      <p:sp>
        <p:nvSpPr>
          <p:cNvPr id="2321" name="Google Shape;2321;p1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$711K</a:t>
            </a:r>
            <a:endParaRPr/>
          </a:p>
        </p:txBody>
      </p:sp>
      <p:sp>
        <p:nvSpPr>
          <p:cNvPr id="2322" name="Google Shape;2322;p1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3" name="Google Shape;2323;p1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324" name="Google Shape;2324;p1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25" name="Google Shape;2325;p1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$711,343 YTD gross written premium</a:t>
            </a:r>
            <a:endParaRPr/>
          </a:p>
        </p:txBody>
      </p:sp>
      <p:sp>
        <p:nvSpPr>
          <p:cNvPr id="2326" name="Google Shape;2326;p1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27" name="Google Shape;2327;p1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$719,941 in new business production</a:t>
            </a:r>
            <a:endParaRPr/>
          </a:p>
        </p:txBody>
      </p:sp>
      <p:sp>
        <p:nvSpPr>
          <p:cNvPr id="2328" name="Google Shape;2328;p1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9" name="Google Shape;2329;p1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330" name="Google Shape;2330;p1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331" name="Google Shape;2331;p1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2332" name="Google Shape;2332;p1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333" name="Google Shape;2333;p1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2334" name="Google Shape;2334;p1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5" name="Google Shape;2335;p1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336" name="Google Shape;2336;p1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337" name="Google Shape;2337;p1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$719,941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338" name="Google Shape;2338;p1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339" name="Google Shape;2339;p1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$267,742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43" name="Shape 2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4" name="Google Shape;2344;p2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5" name="Google Shape;2345;p2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Stellar Management, Inc</a:t>
            </a:r>
            <a:endParaRPr/>
          </a:p>
        </p:txBody>
      </p:sp>
      <p:sp>
        <p:nvSpPr>
          <p:cNvPr id="2346" name="Google Shape;2346;p2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Pacific Northwest  |  State: WA  |  City: Seattle</a:t>
            </a:r>
            <a:endParaRPr/>
          </a:p>
        </p:txBody>
      </p:sp>
      <p:sp>
        <p:nvSpPr>
          <p:cNvPr id="2347" name="Google Shape;2347;p2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$687,533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348" name="Google Shape;2348;p2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$250,848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49" name="Google Shape;2349;p2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$337,650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50" name="Google Shape;2350;p2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$99,035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51" name="Google Shape;2351;p2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$-245,545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52" name="Google Shape;2352;p2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$2,606,142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353" name="Google Shape;2353;p2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$2,123,873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354" name="Google Shape;2354;p2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355" name="Google Shape;2355;p2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56" name="Google Shape;2356;p2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57" name="Google Shape;2357;p2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358" name="Google Shape;2358;p2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$215,497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359" name="Google Shape;2359;p2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$505,523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360" name="Google Shape;2360;p2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1" name="Google Shape;2361;p2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362" name="Google Shape;2362;p2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63" name="Google Shape;2363;p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364" name="Google Shape;2364;p2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65" name="Google Shape;2365;p2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66" name="Google Shape;2366;p2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67" name="Google Shape;2367;p2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68" name="Google Shape;2368;p2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9" name="Google Shape;2369;p2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370" name="Google Shape;2370;p2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$96,490</a:t>
            </a:r>
            <a:endParaRPr/>
          </a:p>
        </p:txBody>
      </p:sp>
      <p:sp>
        <p:nvSpPr>
          <p:cNvPr id="2371" name="Google Shape;2371;p2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$65,566</a:t>
            </a:r>
            <a:endParaRPr/>
          </a:p>
        </p:txBody>
      </p:sp>
      <p:sp>
        <p:nvSpPr>
          <p:cNvPr id="2372" name="Google Shape;2372;p2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73" name="Google Shape;2373;p2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$30,924</a:t>
            </a:r>
            <a:endParaRPr/>
          </a:p>
        </p:txBody>
      </p:sp>
      <p:sp>
        <p:nvSpPr>
          <p:cNvPr id="2374" name="Google Shape;2374;p2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$-67,434</a:t>
            </a:r>
            <a:endParaRPr/>
          </a:p>
        </p:txBody>
      </p:sp>
      <p:sp>
        <p:nvSpPr>
          <p:cNvPr id="2375" name="Google Shape;2375;p2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6" name="Google Shape;2376;p2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377" name="Google Shape;2377;p2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$53,528</a:t>
            </a:r>
            <a:endParaRPr/>
          </a:p>
        </p:txBody>
      </p:sp>
      <p:sp>
        <p:nvSpPr>
          <p:cNvPr id="2378" name="Google Shape;2378;p2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$16,446</a:t>
            </a:r>
            <a:endParaRPr/>
          </a:p>
        </p:txBody>
      </p:sp>
      <p:sp>
        <p:nvSpPr>
          <p:cNvPr id="2379" name="Google Shape;2379;p2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$18,765</a:t>
            </a:r>
            <a:endParaRPr/>
          </a:p>
        </p:txBody>
      </p:sp>
      <p:sp>
        <p:nvSpPr>
          <p:cNvPr id="2380" name="Google Shape;2380;p2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$18,317</a:t>
            </a:r>
            <a:endParaRPr/>
          </a:p>
        </p:txBody>
      </p:sp>
      <p:sp>
        <p:nvSpPr>
          <p:cNvPr id="2381" name="Google Shape;2381;p2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$-24,186</a:t>
            </a:r>
            <a:endParaRPr/>
          </a:p>
        </p:txBody>
      </p:sp>
      <p:sp>
        <p:nvSpPr>
          <p:cNvPr id="2382" name="Google Shape;2382;p2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3" name="Google Shape;2383;p2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384" name="Google Shape;2384;p2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$437,395</a:t>
            </a:r>
            <a:endParaRPr/>
          </a:p>
        </p:txBody>
      </p:sp>
      <p:sp>
        <p:nvSpPr>
          <p:cNvPr id="2385" name="Google Shape;2385;p2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$113,238</a:t>
            </a:r>
            <a:endParaRPr/>
          </a:p>
        </p:txBody>
      </p:sp>
      <p:sp>
        <p:nvSpPr>
          <p:cNvPr id="2386" name="Google Shape;2386;p2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$318,885</a:t>
            </a:r>
            <a:endParaRPr/>
          </a:p>
        </p:txBody>
      </p:sp>
      <p:sp>
        <p:nvSpPr>
          <p:cNvPr id="2387" name="Google Shape;2387;p2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$5,272</a:t>
            </a:r>
            <a:endParaRPr/>
          </a:p>
        </p:txBody>
      </p:sp>
      <p:sp>
        <p:nvSpPr>
          <p:cNvPr id="2388" name="Google Shape;2388;p2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$-66,144</a:t>
            </a:r>
            <a:endParaRPr/>
          </a:p>
        </p:txBody>
      </p:sp>
      <p:sp>
        <p:nvSpPr>
          <p:cNvPr id="2389" name="Google Shape;2389;p2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0" name="Google Shape;2390;p2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391" name="Google Shape;2391;p2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$66,054</a:t>
            </a:r>
            <a:endParaRPr/>
          </a:p>
        </p:txBody>
      </p:sp>
      <p:sp>
        <p:nvSpPr>
          <p:cNvPr id="2392" name="Google Shape;2392;p2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$46,821</a:t>
            </a:r>
            <a:endParaRPr/>
          </a:p>
        </p:txBody>
      </p:sp>
      <p:sp>
        <p:nvSpPr>
          <p:cNvPr id="2393" name="Google Shape;2393;p2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94" name="Google Shape;2394;p2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$19,232</a:t>
            </a:r>
            <a:endParaRPr/>
          </a:p>
        </p:txBody>
      </p:sp>
      <p:sp>
        <p:nvSpPr>
          <p:cNvPr id="2395" name="Google Shape;2395;p2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$-57,681</a:t>
            </a:r>
            <a:endParaRPr/>
          </a:p>
        </p:txBody>
      </p:sp>
      <p:sp>
        <p:nvSpPr>
          <p:cNvPr id="2396" name="Google Shape;2396;p2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7" name="Google Shape;2397;p2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398" name="Google Shape;2398;p2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$34,065</a:t>
            </a:r>
            <a:endParaRPr/>
          </a:p>
        </p:txBody>
      </p:sp>
      <p:sp>
        <p:nvSpPr>
          <p:cNvPr id="2399" name="Google Shape;2399;p2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$8,776</a:t>
            </a:r>
            <a:endParaRPr/>
          </a:p>
        </p:txBody>
      </p:sp>
      <p:sp>
        <p:nvSpPr>
          <p:cNvPr id="2400" name="Google Shape;2400;p2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01" name="Google Shape;2401;p2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$25,289</a:t>
            </a:r>
            <a:endParaRPr/>
          </a:p>
        </p:txBody>
      </p:sp>
      <p:sp>
        <p:nvSpPr>
          <p:cNvPr id="2402" name="Google Shape;2402;p2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$-30,100</a:t>
            </a:r>
            <a:endParaRPr/>
          </a:p>
        </p:txBody>
      </p:sp>
      <p:sp>
        <p:nvSpPr>
          <p:cNvPr id="2403" name="Google Shape;2403;p2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4" name="Google Shape;2404;p2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05" name="Google Shape;2405;p2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$687,533</a:t>
            </a:r>
            <a:endParaRPr/>
          </a:p>
        </p:txBody>
      </p:sp>
      <p:sp>
        <p:nvSpPr>
          <p:cNvPr id="2406" name="Google Shape;2406;p2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$250,848</a:t>
            </a:r>
            <a:endParaRPr/>
          </a:p>
        </p:txBody>
      </p:sp>
      <p:sp>
        <p:nvSpPr>
          <p:cNvPr id="2407" name="Google Shape;2407;p2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$337,650</a:t>
            </a:r>
            <a:endParaRPr/>
          </a:p>
        </p:txBody>
      </p:sp>
      <p:sp>
        <p:nvSpPr>
          <p:cNvPr id="2408" name="Google Shape;2408;p2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$99,035</a:t>
            </a:r>
            <a:endParaRPr/>
          </a:p>
        </p:txBody>
      </p:sp>
      <p:sp>
        <p:nvSpPr>
          <p:cNvPr id="2409" name="Google Shape;2409;p2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$-245,545</a:t>
            </a:r>
            <a:endParaRPr/>
          </a:p>
        </p:txBody>
      </p:sp>
      <p:sp>
        <p:nvSpPr>
          <p:cNvPr id="2410" name="Google Shape;2410;p2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1" name="Google Shape;2411;p2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412" name="Google Shape;2412;p2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413" name="Google Shape;2413;p2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414" name="Google Shape;2414;p2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415" name="Google Shape;2415;p2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416" name="Google Shape;2416;p2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417" name="Google Shape;2417;p2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418" name="Google Shape;2418;p2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9" name="Google Shape;2419;p2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20" name="Google Shape;2420;p2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2421" name="Google Shape;2421;p2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422" name="Google Shape;2422;p2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</a:t>
            </a:r>
            <a:endParaRPr/>
          </a:p>
        </p:txBody>
      </p:sp>
      <p:sp>
        <p:nvSpPr>
          <p:cNvPr id="2423" name="Google Shape;2423;p2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424" name="Google Shape;2424;p2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5.8%</a:t>
            </a:r>
            <a:endParaRPr/>
          </a:p>
        </p:txBody>
      </p:sp>
      <p:sp>
        <p:nvSpPr>
          <p:cNvPr id="2425" name="Google Shape;2425;p2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6" name="Google Shape;2426;p2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27" name="Google Shape;2427;p2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175</a:t>
            </a:r>
            <a:endParaRPr/>
          </a:p>
        </p:txBody>
      </p:sp>
      <p:sp>
        <p:nvSpPr>
          <p:cNvPr id="2428" name="Google Shape;2428;p2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2429" name="Google Shape;2429;p2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</a:t>
            </a:r>
            <a:endParaRPr/>
          </a:p>
        </p:txBody>
      </p:sp>
      <p:sp>
        <p:nvSpPr>
          <p:cNvPr id="2430" name="Google Shape;2430;p2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431" name="Google Shape;2431;p2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2432" name="Google Shape;2432;p2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3" name="Google Shape;2433;p2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34" name="Google Shape;2434;p2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230</a:t>
            </a:r>
            <a:endParaRPr/>
          </a:p>
        </p:txBody>
      </p:sp>
      <p:sp>
        <p:nvSpPr>
          <p:cNvPr id="2435" name="Google Shape;2435;p2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436" name="Google Shape;2436;p2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208</a:t>
            </a:r>
            <a:endParaRPr/>
          </a:p>
        </p:txBody>
      </p:sp>
      <p:sp>
        <p:nvSpPr>
          <p:cNvPr id="2437" name="Google Shape;2437;p2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438" name="Google Shape;2438;p2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2439" name="Google Shape;2439;p2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0" name="Google Shape;2440;p2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41" name="Google Shape;2441;p2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2442" name="Google Shape;2442;p2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443" name="Google Shape;2443;p2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163</a:t>
            </a:r>
            <a:endParaRPr/>
          </a:p>
        </p:txBody>
      </p:sp>
      <p:sp>
        <p:nvSpPr>
          <p:cNvPr id="2444" name="Google Shape;2444;p2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445" name="Google Shape;2445;p2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2446" name="Google Shape;2446;p2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7" name="Google Shape;2447;p2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48" name="Google Shape;2448;p2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2449" name="Google Shape;2449;p2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450" name="Google Shape;2450;p2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</p:txBody>
      </p:sp>
      <p:sp>
        <p:nvSpPr>
          <p:cNvPr id="2451" name="Google Shape;2451;p2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452" name="Google Shape;2452;p2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2453" name="Google Shape;2453;p2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4" name="Google Shape;2454;p2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55" name="Google Shape;2455;p2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883</a:t>
            </a:r>
            <a:endParaRPr/>
          </a:p>
        </p:txBody>
      </p:sp>
      <p:sp>
        <p:nvSpPr>
          <p:cNvPr id="2456" name="Google Shape;2456;p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2457" name="Google Shape;2457;p2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778</a:t>
            </a:r>
            <a:endParaRPr/>
          </a:p>
        </p:txBody>
      </p:sp>
      <p:sp>
        <p:nvSpPr>
          <p:cNvPr id="2458" name="Google Shape;2458;p2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459" name="Google Shape;2459;p2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</p:txBody>
      </p:sp>
      <p:sp>
        <p:nvSpPr>
          <p:cNvPr id="2460" name="Google Shape;2460;p2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1" name="Google Shape;2461;p2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462" name="Google Shape;2462;p2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63" name="Google Shape;2463;p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464" name="Google Shape;2464;p2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465" name="Google Shape;2465;p2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466" name="Google Shape;2466;p2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467" name="Google Shape;2467;p2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468" name="Google Shape;2468;p2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469" name="Google Shape;2469;p2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470" name="Google Shape;2470;p2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471" name="Google Shape;2471;p2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472" name="Google Shape;2472;p2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473" name="Google Shape;2473;p2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474" name="Google Shape;2474;p2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475" name="Google Shape;2475;p2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476" name="Google Shape;2476;p2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2477" name="Google Shape;2477;p2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2478" name="Google Shape;2478;p2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101</a:t>
            </a:r>
            <a:endParaRPr/>
          </a:p>
        </p:txBody>
      </p:sp>
      <p:sp>
        <p:nvSpPr>
          <p:cNvPr id="2479" name="Google Shape;2479;p2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175</a:t>
            </a:r>
            <a:endParaRPr/>
          </a:p>
        </p:txBody>
      </p:sp>
      <p:sp>
        <p:nvSpPr>
          <p:cNvPr id="2480" name="Google Shape;2480;p2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</a:t>
            </a:r>
            <a:endParaRPr/>
          </a:p>
        </p:txBody>
      </p:sp>
      <p:sp>
        <p:nvSpPr>
          <p:cNvPr id="2481" name="Google Shape;2481;p2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230</a:t>
            </a:r>
            <a:endParaRPr/>
          </a:p>
        </p:txBody>
      </p:sp>
      <p:sp>
        <p:nvSpPr>
          <p:cNvPr id="2482" name="Google Shape;2482;p2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2483" name="Google Shape;2483;p2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2484" name="Google Shape;2484;p2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155</a:t>
            </a:r>
            <a:endParaRPr/>
          </a:p>
        </p:txBody>
      </p:sp>
      <p:sp>
        <p:nvSpPr>
          <p:cNvPr id="2485" name="Google Shape;2485;p2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2486" name="Google Shape;2486;p2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604</a:t>
            </a:r>
            <a:endParaRPr/>
          </a:p>
        </p:txBody>
      </p:sp>
      <p:sp>
        <p:nvSpPr>
          <p:cNvPr id="2487" name="Google Shape;2487;p2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924</a:t>
            </a:r>
            <a:endParaRPr/>
          </a:p>
        </p:txBody>
      </p:sp>
      <p:sp>
        <p:nvSpPr>
          <p:cNvPr id="2488" name="Google Shape;2488;p2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489" name="Google Shape;2489;p2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2490" name="Google Shape;2490;p2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$96K</a:t>
            </a:r>
            <a:endParaRPr/>
          </a:p>
        </p:txBody>
      </p:sp>
      <p:sp>
        <p:nvSpPr>
          <p:cNvPr id="2491" name="Google Shape;2491;p2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$168K</a:t>
            </a:r>
            <a:endParaRPr/>
          </a:p>
        </p:txBody>
      </p:sp>
      <p:sp>
        <p:nvSpPr>
          <p:cNvPr id="2492" name="Google Shape;2492;p2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$54K</a:t>
            </a:r>
            <a:endParaRPr/>
          </a:p>
        </p:txBody>
      </p:sp>
      <p:sp>
        <p:nvSpPr>
          <p:cNvPr id="2493" name="Google Shape;2493;p2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$467K</a:t>
            </a:r>
            <a:endParaRPr/>
          </a:p>
        </p:txBody>
      </p:sp>
      <p:sp>
        <p:nvSpPr>
          <p:cNvPr id="2494" name="Google Shape;2494;p2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$437K</a:t>
            </a:r>
            <a:endParaRPr/>
          </a:p>
        </p:txBody>
      </p:sp>
      <p:sp>
        <p:nvSpPr>
          <p:cNvPr id="2495" name="Google Shape;2495;p2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$290K</a:t>
            </a:r>
            <a:endParaRPr/>
          </a:p>
        </p:txBody>
      </p:sp>
      <p:sp>
        <p:nvSpPr>
          <p:cNvPr id="2496" name="Google Shape;2496;p2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$66K</a:t>
            </a:r>
            <a:endParaRPr/>
          </a:p>
        </p:txBody>
      </p:sp>
      <p:sp>
        <p:nvSpPr>
          <p:cNvPr id="2497" name="Google Shape;2497;p2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$236K</a:t>
            </a:r>
            <a:endParaRPr/>
          </a:p>
        </p:txBody>
      </p:sp>
      <p:sp>
        <p:nvSpPr>
          <p:cNvPr id="2498" name="Google Shape;2498;p2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$34K</a:t>
            </a:r>
            <a:endParaRPr/>
          </a:p>
        </p:txBody>
      </p:sp>
      <p:sp>
        <p:nvSpPr>
          <p:cNvPr id="2499" name="Google Shape;2499;p2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$1.2M</a:t>
            </a:r>
            <a:endParaRPr/>
          </a:p>
        </p:txBody>
      </p:sp>
      <p:sp>
        <p:nvSpPr>
          <p:cNvPr id="2500" name="Google Shape;2500;p2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$688K</a:t>
            </a:r>
            <a:endParaRPr/>
          </a:p>
        </p:txBody>
      </p:sp>
      <p:sp>
        <p:nvSpPr>
          <p:cNvPr id="2501" name="Google Shape;2501;p2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2" name="Google Shape;2502;p2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503" name="Google Shape;2503;p2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504" name="Google Shape;2504;p2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$687,533 YTD gross written premium</a:t>
            </a:r>
            <a:endParaRPr/>
          </a:p>
        </p:txBody>
      </p:sp>
      <p:sp>
        <p:nvSpPr>
          <p:cNvPr id="2505" name="Google Shape;2505;p2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506" name="Google Shape;2506;p2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$250,848 in new business production</a:t>
            </a:r>
            <a:endParaRPr/>
          </a:p>
        </p:txBody>
      </p:sp>
      <p:sp>
        <p:nvSpPr>
          <p:cNvPr id="2507" name="Google Shape;2507;p2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8" name="Google Shape;2508;p2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509" name="Google Shape;2509;p2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10" name="Google Shape;2510;p2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2.6% hit ratio on 883 subs - needs coaching</a:t>
            </a:r>
            <a:endParaRPr/>
          </a:p>
        </p:txBody>
      </p:sp>
      <p:sp>
        <p:nvSpPr>
          <p:cNvPr id="2511" name="Google Shape;2511;p2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12" name="Google Shape;2512;p2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98% of new business ($245,545)</a:t>
            </a:r>
            <a:endParaRPr/>
          </a:p>
        </p:txBody>
      </p:sp>
      <p:sp>
        <p:nvSpPr>
          <p:cNvPr id="2513" name="Google Shape;2513;p2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4" name="Google Shape;2514;p2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515" name="Google Shape;2515;p2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516" name="Google Shape;2516;p2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(883 subs, only 23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517" name="Google Shape;2517;p2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518" name="Google Shape;2518;p2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$250,848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22" name="Shape 2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3" name="Google Shape;2523;p2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4" name="Google Shape;2524;p2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Aic Insurance Agency Llc</a:t>
            </a:r>
            <a:endParaRPr/>
          </a:p>
        </p:txBody>
      </p:sp>
      <p:sp>
        <p:nvSpPr>
          <p:cNvPr id="2525" name="Google Shape;2525;p2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Pacific Northwest  |  State: OR  |  City: Redmond</a:t>
            </a:r>
            <a:endParaRPr/>
          </a:p>
        </p:txBody>
      </p:sp>
      <p:sp>
        <p:nvSpPr>
          <p:cNvPr id="2526" name="Google Shape;2526;p2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$642,423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527" name="Google Shape;2527;p2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$484,406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28" name="Google Shape;2528;p2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29" name="Google Shape;2529;p2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$130,764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30" name="Google Shape;2530;p2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$-89,495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31" name="Google Shape;2531;p2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$1,633,938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532" name="Google Shape;2532;p2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$1,514,991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533" name="Google Shape;2533;p2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534" name="Google Shape;2534;p2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535" name="Google Shape;2535;p2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36" name="Google Shape;2536;p2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37" name="Google Shape;2537;p2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$523,114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538" name="Google Shape;2538;p2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$407,410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539" name="Google Shape;2539;p2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0" name="Google Shape;2540;p2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541" name="Google Shape;2541;p2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42" name="Google Shape;2542;p2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543" name="Google Shape;2543;p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44" name="Google Shape;2544;p2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45" name="Google Shape;2545;p2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46" name="Google Shape;2546;p2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47" name="Google Shape;2547;p2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8" name="Google Shape;2548;p2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49" name="Google Shape;2549;p2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$85,643</a:t>
            </a:r>
            <a:endParaRPr/>
          </a:p>
        </p:txBody>
      </p:sp>
      <p:sp>
        <p:nvSpPr>
          <p:cNvPr id="2550" name="Google Shape;2550;p2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$20,891</a:t>
            </a:r>
            <a:endParaRPr/>
          </a:p>
        </p:txBody>
      </p:sp>
      <p:sp>
        <p:nvSpPr>
          <p:cNvPr id="2551" name="Google Shape;2551;p2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$18,752</a:t>
            </a:r>
            <a:endParaRPr/>
          </a:p>
        </p:txBody>
      </p:sp>
      <p:sp>
        <p:nvSpPr>
          <p:cNvPr id="2552" name="Google Shape;2552;p2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$46,000</a:t>
            </a:r>
            <a:endParaRPr/>
          </a:p>
        </p:txBody>
      </p:sp>
      <p:sp>
        <p:nvSpPr>
          <p:cNvPr id="2553" name="Google Shape;2553;p2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$-8,152</a:t>
            </a:r>
            <a:endParaRPr/>
          </a:p>
        </p:txBody>
      </p:sp>
      <p:sp>
        <p:nvSpPr>
          <p:cNvPr id="2554" name="Google Shape;2554;p2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5" name="Google Shape;2555;p2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56" name="Google Shape;2556;p2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$48,913</a:t>
            </a:r>
            <a:endParaRPr/>
          </a:p>
        </p:txBody>
      </p:sp>
      <p:sp>
        <p:nvSpPr>
          <p:cNvPr id="2557" name="Google Shape;2557;p2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$46,715</a:t>
            </a:r>
            <a:endParaRPr/>
          </a:p>
        </p:txBody>
      </p:sp>
      <p:sp>
        <p:nvSpPr>
          <p:cNvPr id="2558" name="Google Shape;2558;p2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59" name="Google Shape;2559;p2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$2,198</a:t>
            </a:r>
            <a:endParaRPr/>
          </a:p>
        </p:txBody>
      </p:sp>
      <p:sp>
        <p:nvSpPr>
          <p:cNvPr id="2560" name="Google Shape;2560;p2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$-10,822</a:t>
            </a:r>
            <a:endParaRPr/>
          </a:p>
        </p:txBody>
      </p:sp>
      <p:sp>
        <p:nvSpPr>
          <p:cNvPr id="2561" name="Google Shape;2561;p2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2" name="Google Shape;2562;p2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563" name="Google Shape;2563;p2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$200,190</a:t>
            </a:r>
            <a:endParaRPr/>
          </a:p>
        </p:txBody>
      </p:sp>
      <p:sp>
        <p:nvSpPr>
          <p:cNvPr id="2564" name="Google Shape;2564;p2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$136,953</a:t>
            </a:r>
            <a:endParaRPr/>
          </a:p>
        </p:txBody>
      </p:sp>
      <p:sp>
        <p:nvSpPr>
          <p:cNvPr id="2565" name="Google Shape;2565;p2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$5,532</a:t>
            </a:r>
            <a:endParaRPr/>
          </a:p>
        </p:txBody>
      </p:sp>
      <p:sp>
        <p:nvSpPr>
          <p:cNvPr id="2566" name="Google Shape;2566;p2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$57,705</a:t>
            </a:r>
            <a:endParaRPr/>
          </a:p>
        </p:txBody>
      </p:sp>
      <p:sp>
        <p:nvSpPr>
          <p:cNvPr id="2567" name="Google Shape;2567;p2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$-36,388</a:t>
            </a:r>
            <a:endParaRPr/>
          </a:p>
        </p:txBody>
      </p:sp>
      <p:sp>
        <p:nvSpPr>
          <p:cNvPr id="2568" name="Google Shape;2568;p2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9" name="Google Shape;2569;p2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570" name="Google Shape;2570;p2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$219,616</a:t>
            </a:r>
            <a:endParaRPr/>
          </a:p>
        </p:txBody>
      </p:sp>
      <p:sp>
        <p:nvSpPr>
          <p:cNvPr id="2571" name="Google Shape;2571;p2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$218,540</a:t>
            </a:r>
            <a:endParaRPr/>
          </a:p>
        </p:txBody>
      </p:sp>
      <p:sp>
        <p:nvSpPr>
          <p:cNvPr id="2572" name="Google Shape;2572;p2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3" name="Google Shape;2573;p2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$1,076</a:t>
            </a:r>
            <a:endParaRPr/>
          </a:p>
        </p:txBody>
      </p:sp>
      <p:sp>
        <p:nvSpPr>
          <p:cNvPr id="2574" name="Google Shape;2574;p2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$-17,305</a:t>
            </a:r>
            <a:endParaRPr/>
          </a:p>
        </p:txBody>
      </p:sp>
      <p:sp>
        <p:nvSpPr>
          <p:cNvPr id="2575" name="Google Shape;2575;p2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6" name="Google Shape;2576;p2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577" name="Google Shape;2577;p2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$88,061</a:t>
            </a:r>
            <a:endParaRPr/>
          </a:p>
        </p:txBody>
      </p:sp>
      <p:sp>
        <p:nvSpPr>
          <p:cNvPr id="2578" name="Google Shape;2578;p2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$61,306</a:t>
            </a:r>
            <a:endParaRPr/>
          </a:p>
        </p:txBody>
      </p:sp>
      <p:sp>
        <p:nvSpPr>
          <p:cNvPr id="2579" name="Google Shape;2579;p2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$2,970</a:t>
            </a:r>
            <a:endParaRPr/>
          </a:p>
        </p:txBody>
      </p:sp>
      <p:sp>
        <p:nvSpPr>
          <p:cNvPr id="2580" name="Google Shape;2580;p2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$23,785</a:t>
            </a:r>
            <a:endParaRPr/>
          </a:p>
        </p:txBody>
      </p:sp>
      <p:sp>
        <p:nvSpPr>
          <p:cNvPr id="2581" name="Google Shape;2581;p2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$-16,829</a:t>
            </a:r>
            <a:endParaRPr/>
          </a:p>
        </p:txBody>
      </p:sp>
      <p:sp>
        <p:nvSpPr>
          <p:cNvPr id="2582" name="Google Shape;2582;p2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3" name="Google Shape;2583;p2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584" name="Google Shape;2584;p2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$642,423</a:t>
            </a:r>
            <a:endParaRPr/>
          </a:p>
        </p:txBody>
      </p:sp>
      <p:sp>
        <p:nvSpPr>
          <p:cNvPr id="2585" name="Google Shape;2585;p2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$484,406</a:t>
            </a:r>
            <a:endParaRPr/>
          </a:p>
        </p:txBody>
      </p:sp>
      <p:sp>
        <p:nvSpPr>
          <p:cNvPr id="2586" name="Google Shape;2586;p2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$27,253</a:t>
            </a:r>
            <a:endParaRPr/>
          </a:p>
        </p:txBody>
      </p:sp>
      <p:sp>
        <p:nvSpPr>
          <p:cNvPr id="2587" name="Google Shape;2587;p2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$130,764</a:t>
            </a:r>
            <a:endParaRPr/>
          </a:p>
        </p:txBody>
      </p:sp>
      <p:sp>
        <p:nvSpPr>
          <p:cNvPr id="2588" name="Google Shape;2588;p2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$-89,495</a:t>
            </a:r>
            <a:endParaRPr/>
          </a:p>
        </p:txBody>
      </p:sp>
      <p:sp>
        <p:nvSpPr>
          <p:cNvPr id="2589" name="Google Shape;2589;p2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0" name="Google Shape;2590;p2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591" name="Google Shape;2591;p2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92" name="Google Shape;2592;p2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593" name="Google Shape;2593;p2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594" name="Google Shape;2594;p2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595" name="Google Shape;2595;p2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96" name="Google Shape;2596;p2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97" name="Google Shape;2597;p2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8" name="Google Shape;2598;p2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99" name="Google Shape;2599;p2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</p:txBody>
      </p:sp>
      <p:sp>
        <p:nvSpPr>
          <p:cNvPr id="2600" name="Google Shape;2600;p2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601" name="Google Shape;2601;p2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2602" name="Google Shape;2602;p2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603" name="Google Shape;2603;p2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2604" name="Google Shape;2604;p2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5" name="Google Shape;2605;p2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606" name="Google Shape;2606;p2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2607" name="Google Shape;2607;p2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608" name="Google Shape;2608;p2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2609" name="Google Shape;2609;p2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610" name="Google Shape;2610;p2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2611" name="Google Shape;2611;p2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2" name="Google Shape;2612;p2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13" name="Google Shape;2613;p2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2614" name="Google Shape;2614;p2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2615" name="Google Shape;2615;p2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2616" name="Google Shape;2616;p2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617" name="Google Shape;2617;p2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17.2%</a:t>
            </a:r>
            <a:endParaRPr/>
          </a:p>
        </p:txBody>
      </p:sp>
      <p:sp>
        <p:nvSpPr>
          <p:cNvPr id="2618" name="Google Shape;2618;p2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9" name="Google Shape;2619;p2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20" name="Google Shape;2620;p2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</a:t>
            </a:r>
            <a:endParaRPr/>
          </a:p>
        </p:txBody>
      </p:sp>
      <p:sp>
        <p:nvSpPr>
          <p:cNvPr id="2621" name="Google Shape;2621;p2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2622" name="Google Shape;2622;p2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2623" name="Google Shape;2623;p2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624" name="Google Shape;2624;p2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10.6%</a:t>
            </a:r>
            <a:endParaRPr/>
          </a:p>
        </p:txBody>
      </p:sp>
      <p:sp>
        <p:nvSpPr>
          <p:cNvPr id="2625" name="Google Shape;2625;p2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6" name="Google Shape;2626;p2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27" name="Google Shape;2627;p2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2628" name="Google Shape;2628;p2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629" name="Google Shape;2629;p2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2630" name="Google Shape;2630;p2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631" name="Google Shape;2631;p2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8.5%</a:t>
            </a:r>
            <a:endParaRPr/>
          </a:p>
        </p:txBody>
      </p:sp>
      <p:sp>
        <p:nvSpPr>
          <p:cNvPr id="2632" name="Google Shape;2632;p2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3" name="Google Shape;2633;p2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34" name="Google Shape;2634;p2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395</a:t>
            </a:r>
            <a:endParaRPr/>
          </a:p>
        </p:txBody>
      </p:sp>
      <p:sp>
        <p:nvSpPr>
          <p:cNvPr id="2635" name="Google Shape;2635;p2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2636" name="Google Shape;2636;p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334</a:t>
            </a:r>
            <a:endParaRPr/>
          </a:p>
        </p:txBody>
      </p:sp>
      <p:sp>
        <p:nvSpPr>
          <p:cNvPr id="2637" name="Google Shape;2637;p2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638" name="Google Shape;2638;p2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</p:txBody>
      </p:sp>
      <p:sp>
        <p:nvSpPr>
          <p:cNvPr id="2639" name="Google Shape;2639;p2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0" name="Google Shape;2640;p2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641" name="Google Shape;2641;p2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642" name="Google Shape;2642;p2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643" name="Google Shape;2643;p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644" name="Google Shape;2644;p2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645" name="Google Shape;2645;p2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646" name="Google Shape;2646;p2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647" name="Google Shape;2647;p2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648" name="Google Shape;2648;p2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649" name="Google Shape;2649;p2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650" name="Google Shape;2650;p2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651" name="Google Shape;2651;p2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652" name="Google Shape;2652;p2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653" name="Google Shape;2653;p2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654" name="Google Shape;2654;p2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655" name="Google Shape;2655;p2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2656" name="Google Shape;2656;p2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</p:txBody>
      </p:sp>
      <p:sp>
        <p:nvSpPr>
          <p:cNvPr id="2657" name="Google Shape;2657;p2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2658" name="Google Shape;2658;p2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2659" name="Google Shape;2659;p2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2660" name="Google Shape;2660;p2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2661" name="Google Shape;2661;p2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2662" name="Google Shape;2662;p2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</a:t>
            </a:r>
            <a:endParaRPr/>
          </a:p>
        </p:txBody>
      </p:sp>
      <p:sp>
        <p:nvSpPr>
          <p:cNvPr id="2663" name="Google Shape;2663;p2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2664" name="Google Shape;2664;p2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2665" name="Google Shape;2665;p2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361</a:t>
            </a:r>
            <a:endParaRPr/>
          </a:p>
        </p:txBody>
      </p:sp>
      <p:sp>
        <p:nvSpPr>
          <p:cNvPr id="2666" name="Google Shape;2666;p2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431</a:t>
            </a:r>
            <a:endParaRPr/>
          </a:p>
        </p:txBody>
      </p:sp>
      <p:sp>
        <p:nvSpPr>
          <p:cNvPr id="2667" name="Google Shape;2667;p2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668" name="Google Shape;2668;p2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$89K</a:t>
            </a:r>
            <a:endParaRPr/>
          </a:p>
        </p:txBody>
      </p:sp>
      <p:sp>
        <p:nvSpPr>
          <p:cNvPr id="2669" name="Google Shape;2669;p2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$86K</a:t>
            </a:r>
            <a:endParaRPr/>
          </a:p>
        </p:txBody>
      </p:sp>
      <p:sp>
        <p:nvSpPr>
          <p:cNvPr id="2670" name="Google Shape;2670;p2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$-6,595</a:t>
            </a:r>
            <a:endParaRPr/>
          </a:p>
        </p:txBody>
      </p:sp>
      <p:sp>
        <p:nvSpPr>
          <p:cNvPr id="2671" name="Google Shape;2671;p2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2672" name="Google Shape;2672;p2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$136K</a:t>
            </a:r>
            <a:endParaRPr/>
          </a:p>
        </p:txBody>
      </p:sp>
      <p:sp>
        <p:nvSpPr>
          <p:cNvPr id="2673" name="Google Shape;2673;p2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$200K</a:t>
            </a:r>
            <a:endParaRPr/>
          </a:p>
        </p:txBody>
      </p:sp>
      <p:sp>
        <p:nvSpPr>
          <p:cNvPr id="2674" name="Google Shape;2674;p2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$422K</a:t>
            </a:r>
            <a:endParaRPr/>
          </a:p>
        </p:txBody>
      </p:sp>
      <p:sp>
        <p:nvSpPr>
          <p:cNvPr id="2675" name="Google Shape;2675;p2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$220K</a:t>
            </a:r>
            <a:endParaRPr/>
          </a:p>
        </p:txBody>
      </p:sp>
      <p:sp>
        <p:nvSpPr>
          <p:cNvPr id="2676" name="Google Shape;2676;p2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$121K</a:t>
            </a:r>
            <a:endParaRPr/>
          </a:p>
        </p:txBody>
      </p:sp>
      <p:sp>
        <p:nvSpPr>
          <p:cNvPr id="2677" name="Google Shape;2677;p2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$88K</a:t>
            </a:r>
            <a:endParaRPr/>
          </a:p>
        </p:txBody>
      </p:sp>
      <p:sp>
        <p:nvSpPr>
          <p:cNvPr id="2678" name="Google Shape;2678;p2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$761K</a:t>
            </a:r>
            <a:endParaRPr/>
          </a:p>
        </p:txBody>
      </p:sp>
      <p:sp>
        <p:nvSpPr>
          <p:cNvPr id="2679" name="Google Shape;2679;p2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$642K</a:t>
            </a:r>
            <a:endParaRPr/>
          </a:p>
        </p:txBody>
      </p:sp>
      <p:sp>
        <p:nvSpPr>
          <p:cNvPr id="2680" name="Google Shape;2680;p2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1" name="Google Shape;2681;p2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682" name="Google Shape;2682;p2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683" name="Google Shape;2683;p2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$642,423 YTD gross written premium</a:t>
            </a:r>
            <a:endParaRPr/>
          </a:p>
        </p:txBody>
      </p:sp>
      <p:sp>
        <p:nvSpPr>
          <p:cNvPr id="2684" name="Google Shape;2684;p2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685" name="Google Shape;2685;p2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$484,406 in new business production</a:t>
            </a:r>
            <a:endParaRPr/>
          </a:p>
        </p:txBody>
      </p:sp>
      <p:sp>
        <p:nvSpPr>
          <p:cNvPr id="2686" name="Google Shape;2686;p2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7" name="Google Shape;2687;p2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688" name="Google Shape;2688;p2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689" name="Google Shape;2689;p2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60% month-over-month</a:t>
            </a:r>
            <a:endParaRPr/>
          </a:p>
        </p:txBody>
      </p:sp>
      <p:sp>
        <p:nvSpPr>
          <p:cNvPr id="2690" name="Google Shape;2690;p2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1" name="Google Shape;2691;p2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692" name="Google Shape;2692;p2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693" name="Google Shape;2693;p2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$484,406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694" name="Google Shape;2694;p2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695" name="Google Shape;2695;p2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99" name="Shape 2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0" name="Google Shape;2700;p2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1" name="Google Shape;2701;p2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MST INSURANCE SERVICES INC</a:t>
            </a:r>
            <a:endParaRPr/>
          </a:p>
        </p:txBody>
      </p:sp>
      <p:sp>
        <p:nvSpPr>
          <p:cNvPr id="2702" name="Google Shape;2702;p2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Pacific Northwest  |  State: CA  |  City: Tracy</a:t>
            </a:r>
            <a:endParaRPr/>
          </a:p>
        </p:txBody>
      </p:sp>
      <p:sp>
        <p:nvSpPr>
          <p:cNvPr id="2703" name="Google Shape;2703;p2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$344,599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704" name="Google Shape;2704;p2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$169,304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05" name="Google Shape;2705;p2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$25,796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06" name="Google Shape;2706;p2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$149,499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07" name="Google Shape;2707;p2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$-186,648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08" name="Google Shape;2708;p2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$250,880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709" name="Google Shape;2709;p2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$468,599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710" name="Google Shape;2710;p2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711" name="Google Shape;2711;p2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12" name="Google Shape;2712;p2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13" name="Google Shape;2713;p2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14" name="Google Shape;2714;p2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715" name="Google Shape;2715;p2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$163,787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716" name="Google Shape;2716;p2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7" name="Google Shape;2717;p2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718" name="Google Shape;2718;p2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19" name="Google Shape;2719;p2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720" name="Google Shape;2720;p2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21" name="Google Shape;2721;p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22" name="Google Shape;2722;p2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23" name="Google Shape;2723;p2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24" name="Google Shape;2724;p2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5" name="Google Shape;2725;p2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26" name="Google Shape;2726;p2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$146,079</a:t>
            </a:r>
            <a:endParaRPr/>
          </a:p>
        </p:txBody>
      </p:sp>
      <p:sp>
        <p:nvSpPr>
          <p:cNvPr id="2727" name="Google Shape;2727;p2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8" name="Google Shape;2728;p2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9" name="Google Shape;2729;p2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$146,079</a:t>
            </a:r>
            <a:endParaRPr/>
          </a:p>
        </p:txBody>
      </p:sp>
      <p:sp>
        <p:nvSpPr>
          <p:cNvPr id="2730" name="Google Shape;2730;p2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$-131,437</a:t>
            </a:r>
            <a:endParaRPr/>
          </a:p>
        </p:txBody>
      </p:sp>
      <p:sp>
        <p:nvSpPr>
          <p:cNvPr id="2731" name="Google Shape;2731;p2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2" name="Google Shape;2732;p2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33" name="Google Shape;2733;p2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$45,009</a:t>
            </a:r>
            <a:endParaRPr/>
          </a:p>
        </p:txBody>
      </p:sp>
      <p:sp>
        <p:nvSpPr>
          <p:cNvPr id="2734" name="Google Shape;2734;p2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$5,851</a:t>
            </a:r>
            <a:endParaRPr/>
          </a:p>
        </p:txBody>
      </p:sp>
      <p:sp>
        <p:nvSpPr>
          <p:cNvPr id="2735" name="Google Shape;2735;p2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$25,796</a:t>
            </a:r>
            <a:endParaRPr/>
          </a:p>
        </p:txBody>
      </p:sp>
      <p:sp>
        <p:nvSpPr>
          <p:cNvPr id="2736" name="Google Shape;2736;p2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$13,362</a:t>
            </a:r>
            <a:endParaRPr/>
          </a:p>
        </p:txBody>
      </p:sp>
      <p:sp>
        <p:nvSpPr>
          <p:cNvPr id="2737" name="Google Shape;2737;p2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8" name="Google Shape;2738;p2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9" name="Google Shape;2739;p2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40" name="Google Shape;2740;p2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$18,567</a:t>
            </a:r>
            <a:endParaRPr/>
          </a:p>
        </p:txBody>
      </p:sp>
      <p:sp>
        <p:nvSpPr>
          <p:cNvPr id="2741" name="Google Shape;2741;p2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$26,215</a:t>
            </a:r>
            <a:endParaRPr/>
          </a:p>
        </p:txBody>
      </p:sp>
      <p:sp>
        <p:nvSpPr>
          <p:cNvPr id="2742" name="Google Shape;2742;p2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3" name="Google Shape;2743;p2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$-7,648</a:t>
            </a:r>
            <a:endParaRPr/>
          </a:p>
        </p:txBody>
      </p:sp>
      <p:sp>
        <p:nvSpPr>
          <p:cNvPr id="2744" name="Google Shape;2744;p2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$-24,707</a:t>
            </a:r>
            <a:endParaRPr/>
          </a:p>
        </p:txBody>
      </p:sp>
      <p:sp>
        <p:nvSpPr>
          <p:cNvPr id="2745" name="Google Shape;2745;p2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6" name="Google Shape;2746;p2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47" name="Google Shape;2747;p2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$134,944</a:t>
            </a:r>
            <a:endParaRPr/>
          </a:p>
        </p:txBody>
      </p:sp>
      <p:sp>
        <p:nvSpPr>
          <p:cNvPr id="2748" name="Google Shape;2748;p2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$137,238</a:t>
            </a:r>
            <a:endParaRPr/>
          </a:p>
        </p:txBody>
      </p:sp>
      <p:sp>
        <p:nvSpPr>
          <p:cNvPr id="2749" name="Google Shape;2749;p2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0" name="Google Shape;2750;p2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$-2,294</a:t>
            </a:r>
            <a:endParaRPr/>
          </a:p>
        </p:txBody>
      </p:sp>
      <p:sp>
        <p:nvSpPr>
          <p:cNvPr id="2751" name="Google Shape;2751;p2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2" name="Google Shape;2752;p2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3" name="Google Shape;2753;p2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54" name="Google Shape;2754;p2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5" name="Google Shape;2755;p2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6" name="Google Shape;2756;p2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7" name="Google Shape;2757;p2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8" name="Google Shape;2758;p2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$-30,504</a:t>
            </a:r>
            <a:endParaRPr/>
          </a:p>
        </p:txBody>
      </p:sp>
      <p:sp>
        <p:nvSpPr>
          <p:cNvPr id="2759" name="Google Shape;2759;p2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0" name="Google Shape;2760;p2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761" name="Google Shape;2761;p2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$344,599</a:t>
            </a:r>
            <a:endParaRPr/>
          </a:p>
        </p:txBody>
      </p:sp>
      <p:sp>
        <p:nvSpPr>
          <p:cNvPr id="2762" name="Google Shape;2762;p2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$169,304</a:t>
            </a:r>
            <a:endParaRPr/>
          </a:p>
        </p:txBody>
      </p:sp>
      <p:sp>
        <p:nvSpPr>
          <p:cNvPr id="2763" name="Google Shape;2763;p2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$25,796</a:t>
            </a:r>
            <a:endParaRPr/>
          </a:p>
        </p:txBody>
      </p:sp>
      <p:sp>
        <p:nvSpPr>
          <p:cNvPr id="2764" name="Google Shape;2764;p2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$149,499</a:t>
            </a:r>
            <a:endParaRPr/>
          </a:p>
        </p:txBody>
      </p:sp>
      <p:sp>
        <p:nvSpPr>
          <p:cNvPr id="2765" name="Google Shape;2765;p2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$-186,648</a:t>
            </a:r>
            <a:endParaRPr/>
          </a:p>
        </p:txBody>
      </p:sp>
      <p:sp>
        <p:nvSpPr>
          <p:cNvPr id="2766" name="Google Shape;2766;p2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7" name="Google Shape;2767;p2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768" name="Google Shape;2768;p2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69" name="Google Shape;2769;p2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770" name="Google Shape;2770;p2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771" name="Google Shape;2771;p2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772" name="Google Shape;2772;p2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73" name="Google Shape;2773;p2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74" name="Google Shape;2774;p2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5" name="Google Shape;2775;p2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76" name="Google Shape;2776;p2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777" name="Google Shape;2777;p2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778" name="Google Shape;2778;p2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779" name="Google Shape;2779;p2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780" name="Google Shape;2780;p2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2781" name="Google Shape;2781;p2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2" name="Google Shape;2782;p2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83" name="Google Shape;2783;p2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784" name="Google Shape;2784;p2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785" name="Google Shape;2785;p2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786" name="Google Shape;2786;p2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787" name="Google Shape;2787;p2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21.4%</a:t>
            </a:r>
            <a:endParaRPr/>
          </a:p>
        </p:txBody>
      </p:sp>
      <p:sp>
        <p:nvSpPr>
          <p:cNvPr id="2788" name="Google Shape;2788;p2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9" name="Google Shape;2789;p2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90" name="Google Shape;2790;p2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791" name="Google Shape;2791;p2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792" name="Google Shape;2792;p2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793" name="Google Shape;2793;p2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94" name="Google Shape;2794;p2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2795" name="Google Shape;2795;p2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6" name="Google Shape;2796;p2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97" name="Google Shape;2797;p2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798" name="Google Shape;2798;p2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799" name="Google Shape;2799;p2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800" name="Google Shape;2800;p2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801" name="Google Shape;2801;p2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21.1%</a:t>
            </a:r>
            <a:endParaRPr/>
          </a:p>
        </p:txBody>
      </p:sp>
      <p:sp>
        <p:nvSpPr>
          <p:cNvPr id="2802" name="Google Shape;2802;p2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3" name="Google Shape;2803;p2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804" name="Google Shape;2804;p2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805" name="Google Shape;2805;p2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06" name="Google Shape;2806;p2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807" name="Google Shape;2807;p2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08" name="Google Shape;2808;p2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2809" name="Google Shape;2809;p2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0" name="Google Shape;2810;p2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811" name="Google Shape;2811;p2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2812" name="Google Shape;2812;p2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813" name="Google Shape;2813;p2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2814" name="Google Shape;2814;p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815" name="Google Shape;2815;p2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8.6%</a:t>
            </a:r>
            <a:endParaRPr/>
          </a:p>
        </p:txBody>
      </p:sp>
      <p:sp>
        <p:nvSpPr>
          <p:cNvPr id="2816" name="Google Shape;2816;p2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7" name="Google Shape;2817;p2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818" name="Google Shape;2818;p2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19" name="Google Shape;2819;p2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820" name="Google Shape;2820;p2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821" name="Google Shape;2821;p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822" name="Google Shape;2822;p2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823" name="Google Shape;2823;p2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824" name="Google Shape;2824;p2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825" name="Google Shape;2825;p2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826" name="Google Shape;2826;p2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827" name="Google Shape;2827;p2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828" name="Google Shape;2828;p2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829" name="Google Shape;2829;p2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830" name="Google Shape;2830;p2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831" name="Google Shape;2831;p2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32" name="Google Shape;2832;p2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33" name="Google Shape;2833;p2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834" name="Google Shape;2834;p2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835" name="Google Shape;2835;p2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836" name="Google Shape;2836;p2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837" name="Google Shape;2837;p2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838" name="Google Shape;2838;p2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839" name="Google Shape;2839;p2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840" name="Google Shape;2840;p2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841" name="Google Shape;2841;p2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842" name="Google Shape;2842;p2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2843" name="Google Shape;2843;p2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2844" name="Google Shape;2844;p2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845" name="Google Shape;2845;p2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2846" name="Google Shape;2846;p2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$146K</a:t>
            </a:r>
            <a:endParaRPr/>
          </a:p>
        </p:txBody>
      </p:sp>
      <p:sp>
        <p:nvSpPr>
          <p:cNvPr id="2847" name="Google Shape;2847;p2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$80K</a:t>
            </a:r>
            <a:endParaRPr/>
          </a:p>
        </p:txBody>
      </p:sp>
      <p:sp>
        <p:nvSpPr>
          <p:cNvPr id="2848" name="Google Shape;2848;p2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$45K</a:t>
            </a:r>
            <a:endParaRPr/>
          </a:p>
        </p:txBody>
      </p:sp>
      <p:sp>
        <p:nvSpPr>
          <p:cNvPr id="2849" name="Google Shape;2849;p2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2850" name="Google Shape;2850;p2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2851" name="Google Shape;2851;p2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2852" name="Google Shape;2852;p2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$135K</a:t>
            </a:r>
            <a:endParaRPr/>
          </a:p>
        </p:txBody>
      </p:sp>
      <p:sp>
        <p:nvSpPr>
          <p:cNvPr id="2853" name="Google Shape;2853;p2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$395</a:t>
            </a:r>
            <a:endParaRPr/>
          </a:p>
        </p:txBody>
      </p:sp>
      <p:sp>
        <p:nvSpPr>
          <p:cNvPr id="2854" name="Google Shape;2854;p2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55" name="Google Shape;2855;p2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$127K</a:t>
            </a:r>
            <a:endParaRPr/>
          </a:p>
        </p:txBody>
      </p:sp>
      <p:sp>
        <p:nvSpPr>
          <p:cNvPr id="2856" name="Google Shape;2856;p2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$345K</a:t>
            </a:r>
            <a:endParaRPr/>
          </a:p>
        </p:txBody>
      </p:sp>
      <p:sp>
        <p:nvSpPr>
          <p:cNvPr id="2857" name="Google Shape;2857;p2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8" name="Google Shape;2858;p2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859" name="Google Shape;2859;p2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60" name="Google Shape;2860;p2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$344,599 YTD gross written premium</a:t>
            </a:r>
            <a:endParaRPr/>
          </a:p>
        </p:txBody>
      </p:sp>
      <p:sp>
        <p:nvSpPr>
          <p:cNvPr id="2861" name="Google Shape;2861;p2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62" name="Google Shape;2862;p2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$169,304 in new business production</a:t>
            </a:r>
            <a:endParaRPr/>
          </a:p>
        </p:txBody>
      </p:sp>
      <p:sp>
        <p:nvSpPr>
          <p:cNvPr id="2863" name="Google Shape;2863;p2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4" name="Google Shape;2864;p2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865" name="Google Shape;2865;p2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66" name="Google Shape;2866;p2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110% of new business ($186,648)</a:t>
            </a:r>
            <a:endParaRPr/>
          </a:p>
        </p:txBody>
      </p:sp>
      <p:sp>
        <p:nvSpPr>
          <p:cNvPr id="2867" name="Google Shape;2867;p2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68" name="Google Shape;2868;p2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2869" name="Google Shape;2869;p2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0" name="Google Shape;2870;p2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871" name="Google Shape;2871;p2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872" name="Google Shape;2872;p2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$169,304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873" name="Google Shape;2873;p2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874" name="Google Shape;2874;p2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$186,648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78" name="Shape 2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9" name="Google Shape;2879;p2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0" name="Google Shape;2880;p2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Pacific Atlantic Insurance Services Inc</a:t>
            </a:r>
            <a:endParaRPr/>
          </a:p>
        </p:txBody>
      </p:sp>
      <p:sp>
        <p:nvSpPr>
          <p:cNvPr id="2881" name="Google Shape;2881;p2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Pacific Northwest  |  State: CA  |  City: N/A</a:t>
            </a:r>
            <a:endParaRPr/>
          </a:p>
        </p:txBody>
      </p:sp>
      <p:sp>
        <p:nvSpPr>
          <p:cNvPr id="2882" name="Google Shape;2882;p2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$320,638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883" name="Google Shape;2883;p2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$228,837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884" name="Google Shape;2884;p2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885" name="Google Shape;2885;p2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$91,801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886" name="Google Shape;2886;p2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$-348,359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887" name="Google Shape;2887;p2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$645,355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888" name="Google Shape;2888;p2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$965,992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889" name="Google Shape;2889;p2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890" name="Google Shape;2890;p2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91" name="Google Shape;2891;p2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892" name="Google Shape;2892;p2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893" name="Google Shape;2893;p2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$191,340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894" name="Google Shape;2894;p2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$222,815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895" name="Google Shape;2895;p2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6" name="Google Shape;2896;p2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897" name="Google Shape;2897;p2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898" name="Google Shape;2898;p2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899" name="Google Shape;2899;p2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00" name="Google Shape;2900;p2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01" name="Google Shape;2901;p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02" name="Google Shape;2902;p2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03" name="Google Shape;2903;p2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4" name="Google Shape;2904;p2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05" name="Google Shape;2905;p2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$38,490</a:t>
            </a:r>
            <a:endParaRPr/>
          </a:p>
        </p:txBody>
      </p:sp>
      <p:sp>
        <p:nvSpPr>
          <p:cNvPr id="2906" name="Google Shape;2906;p2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7" name="Google Shape;2907;p2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8" name="Google Shape;2908;p2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$38,490</a:t>
            </a:r>
            <a:endParaRPr/>
          </a:p>
        </p:txBody>
      </p:sp>
      <p:sp>
        <p:nvSpPr>
          <p:cNvPr id="2909" name="Google Shape;2909;p2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$-191,824</a:t>
            </a:r>
            <a:endParaRPr/>
          </a:p>
        </p:txBody>
      </p:sp>
      <p:sp>
        <p:nvSpPr>
          <p:cNvPr id="2910" name="Google Shape;2910;p2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1" name="Google Shape;2911;p2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12" name="Google Shape;2912;p2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$50,509</a:t>
            </a:r>
            <a:endParaRPr/>
          </a:p>
        </p:txBody>
      </p:sp>
      <p:sp>
        <p:nvSpPr>
          <p:cNvPr id="2913" name="Google Shape;2913;p2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4" name="Google Shape;2914;p2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5" name="Google Shape;2915;p2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$50,509</a:t>
            </a:r>
            <a:endParaRPr/>
          </a:p>
        </p:txBody>
      </p:sp>
      <p:sp>
        <p:nvSpPr>
          <p:cNvPr id="2916" name="Google Shape;2916;p2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$-144,445</a:t>
            </a:r>
            <a:endParaRPr/>
          </a:p>
        </p:txBody>
      </p:sp>
      <p:sp>
        <p:nvSpPr>
          <p:cNvPr id="2917" name="Google Shape;2917;p2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8" name="Google Shape;2918;p2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19" name="Google Shape;2919;p2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$200,371</a:t>
            </a:r>
            <a:endParaRPr/>
          </a:p>
        </p:txBody>
      </p:sp>
      <p:sp>
        <p:nvSpPr>
          <p:cNvPr id="2920" name="Google Shape;2920;p2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$213,327</a:t>
            </a:r>
            <a:endParaRPr/>
          </a:p>
        </p:txBody>
      </p:sp>
      <p:sp>
        <p:nvSpPr>
          <p:cNvPr id="2921" name="Google Shape;2921;p2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2" name="Google Shape;2922;p2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$-12,957</a:t>
            </a:r>
            <a:endParaRPr/>
          </a:p>
        </p:txBody>
      </p:sp>
      <p:sp>
        <p:nvSpPr>
          <p:cNvPr id="2923" name="Google Shape;2923;p2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4" name="Google Shape;2924;p2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5" name="Google Shape;2925;p2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26" name="Google Shape;2926;p2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$31,268</a:t>
            </a:r>
            <a:endParaRPr/>
          </a:p>
        </p:txBody>
      </p:sp>
      <p:sp>
        <p:nvSpPr>
          <p:cNvPr id="2927" name="Google Shape;2927;p2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$15,509</a:t>
            </a:r>
            <a:endParaRPr/>
          </a:p>
        </p:txBody>
      </p:sp>
      <p:sp>
        <p:nvSpPr>
          <p:cNvPr id="2928" name="Google Shape;2928;p2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9" name="Google Shape;2929;p2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$15,758</a:t>
            </a:r>
            <a:endParaRPr/>
          </a:p>
        </p:txBody>
      </p:sp>
      <p:sp>
        <p:nvSpPr>
          <p:cNvPr id="2930" name="Google Shape;2930;p2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$-12,090</a:t>
            </a:r>
            <a:endParaRPr/>
          </a:p>
        </p:txBody>
      </p:sp>
      <p:sp>
        <p:nvSpPr>
          <p:cNvPr id="2931" name="Google Shape;2931;p2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2" name="Google Shape;2932;p2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33" name="Google Shape;2933;p2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4" name="Google Shape;2934;p2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5" name="Google Shape;2935;p2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6" name="Google Shape;2936;p2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7" name="Google Shape;2937;p2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8" name="Google Shape;2938;p2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9" name="Google Shape;2939;p2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40" name="Google Shape;2940;p2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$320,638</a:t>
            </a:r>
            <a:endParaRPr/>
          </a:p>
        </p:txBody>
      </p:sp>
      <p:sp>
        <p:nvSpPr>
          <p:cNvPr id="2941" name="Google Shape;2941;p2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$228,837</a:t>
            </a:r>
            <a:endParaRPr/>
          </a:p>
        </p:txBody>
      </p:sp>
      <p:sp>
        <p:nvSpPr>
          <p:cNvPr id="2942" name="Google Shape;2942;p2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3" name="Google Shape;2943;p2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$91,801</a:t>
            </a:r>
            <a:endParaRPr/>
          </a:p>
        </p:txBody>
      </p:sp>
      <p:sp>
        <p:nvSpPr>
          <p:cNvPr id="2944" name="Google Shape;2944;p2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$-348,359</a:t>
            </a:r>
            <a:endParaRPr/>
          </a:p>
        </p:txBody>
      </p:sp>
      <p:sp>
        <p:nvSpPr>
          <p:cNvPr id="2945" name="Google Shape;2945;p2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6" name="Google Shape;2946;p2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947" name="Google Shape;2947;p2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48" name="Google Shape;2948;p2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949" name="Google Shape;2949;p2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950" name="Google Shape;2950;p2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951" name="Google Shape;2951;p2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52" name="Google Shape;2952;p2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53" name="Google Shape;2953;p2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4" name="Google Shape;2954;p2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55" name="Google Shape;2955;p2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956" name="Google Shape;2956;p2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57" name="Google Shape;2957;p2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958" name="Google Shape;2958;p2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959" name="Google Shape;2959;p2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21.4%</a:t>
            </a:r>
            <a:endParaRPr/>
          </a:p>
        </p:txBody>
      </p:sp>
      <p:sp>
        <p:nvSpPr>
          <p:cNvPr id="2960" name="Google Shape;2960;p2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1" name="Google Shape;2961;p2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62" name="Google Shape;2962;p2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963" name="Google Shape;2963;p2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64" name="Google Shape;2964;p2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965" name="Google Shape;2965;p2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966" name="Google Shape;2966;p2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2967" name="Google Shape;2967;p2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8" name="Google Shape;2968;p2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69" name="Google Shape;2969;p2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970" name="Google Shape;2970;p2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971" name="Google Shape;2971;p2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972" name="Google Shape;2972;p2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973" name="Google Shape;2973;p2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14.8%</a:t>
            </a:r>
            <a:endParaRPr/>
          </a:p>
        </p:txBody>
      </p:sp>
      <p:sp>
        <p:nvSpPr>
          <p:cNvPr id="2974" name="Google Shape;2974;p2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5" name="Google Shape;2975;p2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76" name="Google Shape;2976;p2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2977" name="Google Shape;2977;p2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78" name="Google Shape;2978;p2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2979" name="Google Shape;2979;p2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980" name="Google Shape;2980;p2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14.7%</a:t>
            </a:r>
            <a:endParaRPr/>
          </a:p>
        </p:txBody>
      </p:sp>
      <p:sp>
        <p:nvSpPr>
          <p:cNvPr id="2981" name="Google Shape;2981;p2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2" name="Google Shape;2982;p2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83" name="Google Shape;2983;p2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984" name="Google Shape;2984;p2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85" name="Google Shape;2985;p2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986" name="Google Shape;2986;p2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87" name="Google Shape;2987;p2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88" name="Google Shape;2988;p2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9" name="Google Shape;2989;p2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90" name="Google Shape;2990;p2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2991" name="Google Shape;2991;p2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992" name="Google Shape;2992;p2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2993" name="Google Shape;2993;p2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994" name="Google Shape;2994;p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2995" name="Google Shape;2995;p2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6" name="Google Shape;2996;p2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997" name="Google Shape;2997;p2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98" name="Google Shape;2998;p2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999" name="Google Shape;2999;p2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000" name="Google Shape;3000;p2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001" name="Google Shape;3001;p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002" name="Google Shape;3002;p2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003" name="Google Shape;3003;p2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004" name="Google Shape;3004;p2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005" name="Google Shape;3005;p2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006" name="Google Shape;3006;p2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007" name="Google Shape;3007;p2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008" name="Google Shape;3008;p2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009" name="Google Shape;3009;p2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010" name="Google Shape;3010;p2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11" name="Google Shape;3011;p2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12" name="Google Shape;3012;p2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013" name="Google Shape;3013;p2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14" name="Google Shape;3014;p2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015" name="Google Shape;3015;p2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16" name="Google Shape;3016;p2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017" name="Google Shape;3017;p2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18" name="Google Shape;3018;p2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3019" name="Google Shape;3019;p2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020" name="Google Shape;3020;p2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021" name="Google Shape;3021;p2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022" name="Google Shape;3022;p2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</a:t>
            </a:r>
            <a:endParaRPr/>
          </a:p>
        </p:txBody>
      </p:sp>
      <p:sp>
        <p:nvSpPr>
          <p:cNvPr id="3023" name="Google Shape;3023;p2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024" name="Google Shape;3024;p2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25" name="Google Shape;3025;p2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3026" name="Google Shape;3026;p2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27" name="Google Shape;3027;p2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$51K</a:t>
            </a:r>
            <a:endParaRPr/>
          </a:p>
        </p:txBody>
      </p:sp>
      <p:sp>
        <p:nvSpPr>
          <p:cNvPr id="3028" name="Google Shape;3028;p2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29" name="Google Shape;3029;p2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$200K</a:t>
            </a:r>
            <a:endParaRPr/>
          </a:p>
        </p:txBody>
      </p:sp>
      <p:sp>
        <p:nvSpPr>
          <p:cNvPr id="3030" name="Google Shape;3030;p2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31" name="Google Shape;3031;p2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3032" name="Google Shape;3032;p2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33" name="Google Shape;3033;p2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34" name="Google Shape;3034;p2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35" name="Google Shape;3035;p2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$321K</a:t>
            </a:r>
            <a:endParaRPr/>
          </a:p>
        </p:txBody>
      </p:sp>
      <p:sp>
        <p:nvSpPr>
          <p:cNvPr id="3036" name="Google Shape;3036;p2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7" name="Google Shape;3037;p2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038" name="Google Shape;3038;p2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39" name="Google Shape;3039;p2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$320,638 YTD gross written premium</a:t>
            </a:r>
            <a:endParaRPr/>
          </a:p>
        </p:txBody>
      </p:sp>
      <p:sp>
        <p:nvSpPr>
          <p:cNvPr id="3040" name="Google Shape;3040;p2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41" name="Google Shape;3041;p2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$228,837 in new business production</a:t>
            </a:r>
            <a:endParaRPr/>
          </a:p>
        </p:txBody>
      </p:sp>
      <p:sp>
        <p:nvSpPr>
          <p:cNvPr id="3042" name="Google Shape;3042;p2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3" name="Google Shape;3043;p2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044" name="Google Shape;3044;p2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45" name="Google Shape;3045;p2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152% of new business ($348,359)</a:t>
            </a:r>
            <a:endParaRPr/>
          </a:p>
        </p:txBody>
      </p:sp>
      <p:sp>
        <p:nvSpPr>
          <p:cNvPr id="3046" name="Google Shape;3046;p2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47" name="Google Shape;3047;p2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84% month-over-month</a:t>
            </a:r>
            <a:endParaRPr/>
          </a:p>
        </p:txBody>
      </p:sp>
      <p:sp>
        <p:nvSpPr>
          <p:cNvPr id="3048" name="Google Shape;3048;p2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9" name="Google Shape;3049;p2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050" name="Google Shape;3050;p2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051" name="Google Shape;3051;p2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$228,837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052" name="Google Shape;3052;p2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053" name="Google Shape;3053;p2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$348,359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57" name="Shape 3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8" name="Google Shape;3058;p2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9" name="Google Shape;3059;p2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Mobile Services, Inc.</a:t>
            </a:r>
            <a:endParaRPr/>
          </a:p>
        </p:txBody>
      </p:sp>
      <p:sp>
        <p:nvSpPr>
          <p:cNvPr id="3060" name="Google Shape;3060;p2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Pacific Northwest  |  State: CA  |  City: Granite Bay</a:t>
            </a:r>
            <a:endParaRPr/>
          </a:p>
        </p:txBody>
      </p:sp>
      <p:sp>
        <p:nvSpPr>
          <p:cNvPr id="3061" name="Google Shape;3061;p2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$296,184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062" name="Google Shape;3062;p2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$183,956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63" name="Google Shape;3063;p2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$42,815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64" name="Google Shape;3064;p2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$69,412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65" name="Google Shape;3065;p2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$-111,502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66" name="Google Shape;3066;p2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$678,966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067" name="Google Shape;3067;p2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$726,060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068" name="Google Shape;3068;p2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069" name="Google Shape;3069;p2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70" name="Google Shape;3070;p2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071" name="Google Shape;3071;p2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072" name="Google Shape;3072;p2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$27,890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073" name="Google Shape;3073;p2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$247,386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074" name="Google Shape;3074;p2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5" name="Google Shape;3075;p2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076" name="Google Shape;3076;p2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077" name="Google Shape;3077;p2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078" name="Google Shape;3078;p2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79" name="Google Shape;3079;p2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80" name="Google Shape;3080;p2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81" name="Google Shape;3081;p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82" name="Google Shape;3082;p2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3" name="Google Shape;3083;p2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084" name="Google Shape;3084;p2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$22,735</a:t>
            </a:r>
            <a:endParaRPr/>
          </a:p>
        </p:txBody>
      </p:sp>
      <p:sp>
        <p:nvSpPr>
          <p:cNvPr id="3085" name="Google Shape;3085;p2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$6,226</a:t>
            </a:r>
            <a:endParaRPr/>
          </a:p>
        </p:txBody>
      </p:sp>
      <p:sp>
        <p:nvSpPr>
          <p:cNvPr id="3086" name="Google Shape;3086;p2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$22,784</a:t>
            </a:r>
            <a:endParaRPr/>
          </a:p>
        </p:txBody>
      </p:sp>
      <p:sp>
        <p:nvSpPr>
          <p:cNvPr id="3087" name="Google Shape;3087;p2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$-6,274</a:t>
            </a:r>
            <a:endParaRPr/>
          </a:p>
        </p:txBody>
      </p:sp>
      <p:sp>
        <p:nvSpPr>
          <p:cNvPr id="3088" name="Google Shape;3088;p2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$-3,510</a:t>
            </a:r>
            <a:endParaRPr/>
          </a:p>
        </p:txBody>
      </p:sp>
      <p:sp>
        <p:nvSpPr>
          <p:cNvPr id="3089" name="Google Shape;3089;p2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0" name="Google Shape;3090;p2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091" name="Google Shape;3091;p2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$122,936</a:t>
            </a:r>
            <a:endParaRPr/>
          </a:p>
        </p:txBody>
      </p:sp>
      <p:sp>
        <p:nvSpPr>
          <p:cNvPr id="3092" name="Google Shape;3092;p2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$56,022</a:t>
            </a:r>
            <a:endParaRPr/>
          </a:p>
        </p:txBody>
      </p:sp>
      <p:sp>
        <p:nvSpPr>
          <p:cNvPr id="3093" name="Google Shape;3093;p2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$15,307</a:t>
            </a:r>
            <a:endParaRPr/>
          </a:p>
        </p:txBody>
      </p:sp>
      <p:sp>
        <p:nvSpPr>
          <p:cNvPr id="3094" name="Google Shape;3094;p2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$51,607</a:t>
            </a:r>
            <a:endParaRPr/>
          </a:p>
        </p:txBody>
      </p:sp>
      <p:sp>
        <p:nvSpPr>
          <p:cNvPr id="3095" name="Google Shape;3095;p2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$-52,571</a:t>
            </a:r>
            <a:endParaRPr/>
          </a:p>
        </p:txBody>
      </p:sp>
      <p:sp>
        <p:nvSpPr>
          <p:cNvPr id="3096" name="Google Shape;3096;p2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7" name="Google Shape;3097;p2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098" name="Google Shape;3098;p2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$47,211</a:t>
            </a:r>
            <a:endParaRPr/>
          </a:p>
        </p:txBody>
      </p:sp>
      <p:sp>
        <p:nvSpPr>
          <p:cNvPr id="3099" name="Google Shape;3099;p2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$21,457</a:t>
            </a:r>
            <a:endParaRPr/>
          </a:p>
        </p:txBody>
      </p:sp>
      <p:sp>
        <p:nvSpPr>
          <p:cNvPr id="3100" name="Google Shape;3100;p2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$2,450</a:t>
            </a:r>
            <a:endParaRPr/>
          </a:p>
        </p:txBody>
      </p:sp>
      <p:sp>
        <p:nvSpPr>
          <p:cNvPr id="3101" name="Google Shape;3101;p2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$23,304</a:t>
            </a:r>
            <a:endParaRPr/>
          </a:p>
        </p:txBody>
      </p:sp>
      <p:sp>
        <p:nvSpPr>
          <p:cNvPr id="3102" name="Google Shape;3102;p2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$-53,765</a:t>
            </a:r>
            <a:endParaRPr/>
          </a:p>
        </p:txBody>
      </p:sp>
      <p:sp>
        <p:nvSpPr>
          <p:cNvPr id="3103" name="Google Shape;3103;p2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4" name="Google Shape;3104;p2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05" name="Google Shape;3105;p2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$29,862</a:t>
            </a:r>
            <a:endParaRPr/>
          </a:p>
        </p:txBody>
      </p:sp>
      <p:sp>
        <p:nvSpPr>
          <p:cNvPr id="3106" name="Google Shape;3106;p2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$28,961</a:t>
            </a:r>
            <a:endParaRPr/>
          </a:p>
        </p:txBody>
      </p:sp>
      <p:sp>
        <p:nvSpPr>
          <p:cNvPr id="3107" name="Google Shape;3107;p2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8" name="Google Shape;3108;p2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$901</a:t>
            </a:r>
            <a:endParaRPr/>
          </a:p>
        </p:txBody>
      </p:sp>
      <p:sp>
        <p:nvSpPr>
          <p:cNvPr id="3109" name="Google Shape;3109;p2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$-1,655</a:t>
            </a:r>
            <a:endParaRPr/>
          </a:p>
        </p:txBody>
      </p:sp>
      <p:sp>
        <p:nvSpPr>
          <p:cNvPr id="3110" name="Google Shape;3110;p2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1" name="Google Shape;3111;p2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12" name="Google Shape;3112;p2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$73,439</a:t>
            </a:r>
            <a:endParaRPr/>
          </a:p>
        </p:txBody>
      </p:sp>
      <p:sp>
        <p:nvSpPr>
          <p:cNvPr id="3113" name="Google Shape;3113;p2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$71,290</a:t>
            </a:r>
            <a:endParaRPr/>
          </a:p>
        </p:txBody>
      </p:sp>
      <p:sp>
        <p:nvSpPr>
          <p:cNvPr id="3114" name="Google Shape;3114;p2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$2,275</a:t>
            </a:r>
            <a:endParaRPr/>
          </a:p>
        </p:txBody>
      </p:sp>
      <p:sp>
        <p:nvSpPr>
          <p:cNvPr id="3115" name="Google Shape;3115;p2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$-126</a:t>
            </a:r>
            <a:endParaRPr/>
          </a:p>
        </p:txBody>
      </p:sp>
      <p:sp>
        <p:nvSpPr>
          <p:cNvPr id="3116" name="Google Shape;3116;p2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7" name="Google Shape;3117;p2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8" name="Google Shape;3118;p2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19" name="Google Shape;3119;p2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$296,184</a:t>
            </a:r>
            <a:endParaRPr/>
          </a:p>
        </p:txBody>
      </p:sp>
      <p:sp>
        <p:nvSpPr>
          <p:cNvPr id="3120" name="Google Shape;3120;p2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$183,956</a:t>
            </a:r>
            <a:endParaRPr/>
          </a:p>
        </p:txBody>
      </p:sp>
      <p:sp>
        <p:nvSpPr>
          <p:cNvPr id="3121" name="Google Shape;3121;p2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$42,815</a:t>
            </a:r>
            <a:endParaRPr/>
          </a:p>
        </p:txBody>
      </p:sp>
      <p:sp>
        <p:nvSpPr>
          <p:cNvPr id="3122" name="Google Shape;3122;p2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$69,412</a:t>
            </a:r>
            <a:endParaRPr/>
          </a:p>
        </p:txBody>
      </p:sp>
      <p:sp>
        <p:nvSpPr>
          <p:cNvPr id="3123" name="Google Shape;3123;p2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$-111,502</a:t>
            </a:r>
            <a:endParaRPr/>
          </a:p>
        </p:txBody>
      </p:sp>
      <p:sp>
        <p:nvSpPr>
          <p:cNvPr id="3124" name="Google Shape;3124;p2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5" name="Google Shape;3125;p2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126" name="Google Shape;3126;p2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27" name="Google Shape;3127;p2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128" name="Google Shape;3128;p2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129" name="Google Shape;3129;p2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130" name="Google Shape;3130;p2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31" name="Google Shape;3131;p2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32" name="Google Shape;3132;p2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3" name="Google Shape;3133;p2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34" name="Google Shape;3134;p2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135" name="Google Shape;3135;p2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36" name="Google Shape;3136;p2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137" name="Google Shape;3137;p2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138" name="Google Shape;3138;p2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139" name="Google Shape;3139;p2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0" name="Google Shape;3140;p2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41" name="Google Shape;3141;p2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142" name="Google Shape;3142;p2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43" name="Google Shape;3143;p2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144" name="Google Shape;3144;p2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145" name="Google Shape;3145;p2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28.0%</a:t>
            </a:r>
            <a:endParaRPr/>
          </a:p>
        </p:txBody>
      </p:sp>
      <p:sp>
        <p:nvSpPr>
          <p:cNvPr id="3146" name="Google Shape;3146;p2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7" name="Google Shape;3147;p2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48" name="Google Shape;3148;p2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149" name="Google Shape;3149;p2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50" name="Google Shape;3150;p2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151" name="Google Shape;3151;p2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152" name="Google Shape;3152;p2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28.0%</a:t>
            </a:r>
            <a:endParaRPr/>
          </a:p>
        </p:txBody>
      </p:sp>
      <p:sp>
        <p:nvSpPr>
          <p:cNvPr id="3153" name="Google Shape;3153;p2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4" name="Google Shape;3154;p2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55" name="Google Shape;3155;p2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156" name="Google Shape;3156;p2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57" name="Google Shape;3157;p2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158" name="Google Shape;3158;p2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159" name="Google Shape;3159;p2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3160" name="Google Shape;3160;p2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1" name="Google Shape;3161;p2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62" name="Google Shape;3162;p2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163" name="Google Shape;3163;p2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64" name="Google Shape;3164;p2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165" name="Google Shape;3165;p2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166" name="Google Shape;3166;p2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3167" name="Google Shape;3167;p2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8" name="Google Shape;3168;p2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69" name="Google Shape;3169;p2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3170" name="Google Shape;3170;p2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171" name="Google Shape;3171;p2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</a:t>
            </a:r>
            <a:endParaRPr/>
          </a:p>
        </p:txBody>
      </p:sp>
      <p:sp>
        <p:nvSpPr>
          <p:cNvPr id="3172" name="Google Shape;3172;p2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173" name="Google Shape;3173;p2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3174" name="Google Shape;3174;p2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5" name="Google Shape;3175;p2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176" name="Google Shape;3176;p2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77" name="Google Shape;3177;p2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178" name="Google Shape;3178;p2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179" name="Google Shape;3179;p2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180" name="Google Shape;3180;p2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181" name="Google Shape;3181;p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182" name="Google Shape;3182;p2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183" name="Google Shape;3183;p2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184" name="Google Shape;3184;p2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185" name="Google Shape;3185;p2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186" name="Google Shape;3186;p2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187" name="Google Shape;3187;p2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188" name="Google Shape;3188;p2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189" name="Google Shape;3189;p2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190" name="Google Shape;3190;p2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191" name="Google Shape;3191;p2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192" name="Google Shape;3192;p2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3193" name="Google Shape;3193;p2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194" name="Google Shape;3194;p2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195" name="Google Shape;3195;p2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196" name="Google Shape;3196;p2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3197" name="Google Shape;3197;p2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198" name="Google Shape;3198;p2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199" name="Google Shape;3199;p2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200" name="Google Shape;3200;p2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</a:t>
            </a:r>
            <a:endParaRPr/>
          </a:p>
        </p:txBody>
      </p:sp>
      <p:sp>
        <p:nvSpPr>
          <p:cNvPr id="3201" name="Google Shape;3201;p2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112</a:t>
            </a:r>
            <a:endParaRPr/>
          </a:p>
        </p:txBody>
      </p:sp>
      <p:sp>
        <p:nvSpPr>
          <p:cNvPr id="3202" name="Google Shape;3202;p2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203" name="Google Shape;3203;p2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$96K</a:t>
            </a:r>
            <a:endParaRPr/>
          </a:p>
        </p:txBody>
      </p:sp>
      <p:sp>
        <p:nvSpPr>
          <p:cNvPr id="3204" name="Google Shape;3204;p2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3205" name="Google Shape;3205;p2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$86K</a:t>
            </a:r>
            <a:endParaRPr/>
          </a:p>
        </p:txBody>
      </p:sp>
      <p:sp>
        <p:nvSpPr>
          <p:cNvPr id="3206" name="Google Shape;3206;p2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$123K</a:t>
            </a:r>
            <a:endParaRPr/>
          </a:p>
        </p:txBody>
      </p:sp>
      <p:sp>
        <p:nvSpPr>
          <p:cNvPr id="3207" name="Google Shape;3207;p2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3208" name="Google Shape;3208;p2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3209" name="Google Shape;3209;p2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$-7,915</a:t>
            </a:r>
            <a:endParaRPr/>
          </a:p>
        </p:txBody>
      </p:sp>
      <p:sp>
        <p:nvSpPr>
          <p:cNvPr id="3210" name="Google Shape;3210;p2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3211" name="Google Shape;3211;p2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$40K</a:t>
            </a:r>
            <a:endParaRPr/>
          </a:p>
        </p:txBody>
      </p:sp>
      <p:sp>
        <p:nvSpPr>
          <p:cNvPr id="3212" name="Google Shape;3212;p2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$73K</a:t>
            </a:r>
            <a:endParaRPr/>
          </a:p>
        </p:txBody>
      </p:sp>
      <p:sp>
        <p:nvSpPr>
          <p:cNvPr id="3213" name="Google Shape;3213;p2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$249K</a:t>
            </a:r>
            <a:endParaRPr/>
          </a:p>
        </p:txBody>
      </p:sp>
      <p:sp>
        <p:nvSpPr>
          <p:cNvPr id="3214" name="Google Shape;3214;p2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$296K</a:t>
            </a:r>
            <a:endParaRPr/>
          </a:p>
        </p:txBody>
      </p:sp>
      <p:sp>
        <p:nvSpPr>
          <p:cNvPr id="3215" name="Google Shape;3215;p2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6" name="Google Shape;3216;p2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217" name="Google Shape;3217;p2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18" name="Google Shape;3218;p2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$296,184 YTD gross written premium</a:t>
            </a:r>
            <a:endParaRPr/>
          </a:p>
        </p:txBody>
      </p:sp>
      <p:sp>
        <p:nvSpPr>
          <p:cNvPr id="3219" name="Google Shape;3219;p2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20" name="Google Shape;3220;p2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$183,956 in new business production</a:t>
            </a:r>
            <a:endParaRPr/>
          </a:p>
        </p:txBody>
      </p:sp>
      <p:sp>
        <p:nvSpPr>
          <p:cNvPr id="3221" name="Google Shape;3221;p2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2" name="Google Shape;3222;p2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223" name="Google Shape;3223;p2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24" name="Google Shape;3224;p2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61% of new business ($111,502)</a:t>
            </a:r>
            <a:endParaRPr/>
          </a:p>
        </p:txBody>
      </p:sp>
      <p:sp>
        <p:nvSpPr>
          <p:cNvPr id="3225" name="Google Shape;3225;p2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6" name="Google Shape;3226;p2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227" name="Google Shape;3227;p2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228" name="Google Shape;3228;p2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$183,956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229" name="Google Shape;3229;p2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230" name="Google Shape;3230;p2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$111,502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34" name="Shape 3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5" name="Google Shape;3235;p2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6" name="Google Shape;3236;p2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Berrier Insurance Agency, Inc.</a:t>
            </a:r>
            <a:endParaRPr/>
          </a:p>
        </p:txBody>
      </p:sp>
      <p:sp>
        <p:nvSpPr>
          <p:cNvPr id="3237" name="Google Shape;3237;p2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Pacific Northwest  |  State: CA  |  City: Auburn</a:t>
            </a:r>
            <a:endParaRPr/>
          </a:p>
        </p:txBody>
      </p:sp>
      <p:sp>
        <p:nvSpPr>
          <p:cNvPr id="3238" name="Google Shape;3238;p2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$246,427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239" name="Google Shape;3239;p2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$152,230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40" name="Google Shape;3240;p2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$113,951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41" name="Google Shape;3241;p2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$-19,754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42" name="Google Shape;3242;p2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43" name="Google Shape;3243;p2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$629,080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244" name="Google Shape;3244;p2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$524,549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245" name="Google Shape;3245;p2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246" name="Google Shape;3246;p2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47" name="Google Shape;3247;p2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248" name="Google Shape;3248;p2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249" name="Google Shape;3249;p2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$199,663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250" name="Google Shape;3250;p2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$59,912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251" name="Google Shape;3251;p2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2" name="Google Shape;3252;p2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253" name="Google Shape;3253;p2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254" name="Google Shape;3254;p2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255" name="Google Shape;3255;p2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56" name="Google Shape;3256;p2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57" name="Google Shape;3257;p2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58" name="Google Shape;3258;p2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59" name="Google Shape;3259;p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0" name="Google Shape;3260;p2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261" name="Google Shape;3261;p2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$139,883</a:t>
            </a:r>
            <a:endParaRPr/>
          </a:p>
        </p:txBody>
      </p:sp>
      <p:sp>
        <p:nvSpPr>
          <p:cNvPr id="3262" name="Google Shape;3262;p2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$139,054</a:t>
            </a:r>
            <a:endParaRPr/>
          </a:p>
        </p:txBody>
      </p:sp>
      <p:sp>
        <p:nvSpPr>
          <p:cNvPr id="3263" name="Google Shape;3263;p2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4" name="Google Shape;3264;p2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$829</a:t>
            </a:r>
            <a:endParaRPr/>
          </a:p>
        </p:txBody>
      </p:sp>
      <p:sp>
        <p:nvSpPr>
          <p:cNvPr id="3265" name="Google Shape;3265;p2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6" name="Google Shape;3266;p2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7" name="Google Shape;3267;p2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268" name="Google Shape;3268;p2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$111,682</a:t>
            </a:r>
            <a:endParaRPr/>
          </a:p>
        </p:txBody>
      </p:sp>
      <p:sp>
        <p:nvSpPr>
          <p:cNvPr id="3269" name="Google Shape;3269;p2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0" name="Google Shape;3270;p2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$107,009</a:t>
            </a:r>
            <a:endParaRPr/>
          </a:p>
        </p:txBody>
      </p:sp>
      <p:sp>
        <p:nvSpPr>
          <p:cNvPr id="3271" name="Google Shape;3271;p2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$4,673</a:t>
            </a:r>
            <a:endParaRPr/>
          </a:p>
        </p:txBody>
      </p:sp>
      <p:sp>
        <p:nvSpPr>
          <p:cNvPr id="3272" name="Google Shape;3272;p2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3" name="Google Shape;3273;p2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4" name="Google Shape;3274;p2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275" name="Google Shape;3275;p2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$-21,947</a:t>
            </a:r>
            <a:endParaRPr/>
          </a:p>
        </p:txBody>
      </p:sp>
      <p:sp>
        <p:nvSpPr>
          <p:cNvPr id="3276" name="Google Shape;3276;p2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7" name="Google Shape;3277;p2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$6,942</a:t>
            </a:r>
            <a:endParaRPr/>
          </a:p>
        </p:txBody>
      </p:sp>
      <p:sp>
        <p:nvSpPr>
          <p:cNvPr id="3278" name="Google Shape;3278;p2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$-28,889</a:t>
            </a:r>
            <a:endParaRPr/>
          </a:p>
        </p:txBody>
      </p:sp>
      <p:sp>
        <p:nvSpPr>
          <p:cNvPr id="3279" name="Google Shape;3279;p2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0" name="Google Shape;3280;p2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1" name="Google Shape;3281;p2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282" name="Google Shape;3282;p2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$1,485</a:t>
            </a:r>
            <a:endParaRPr/>
          </a:p>
        </p:txBody>
      </p:sp>
      <p:sp>
        <p:nvSpPr>
          <p:cNvPr id="3283" name="Google Shape;3283;p2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4" name="Google Shape;3284;p2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5" name="Google Shape;3285;p2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$1,485</a:t>
            </a:r>
            <a:endParaRPr/>
          </a:p>
        </p:txBody>
      </p:sp>
      <p:sp>
        <p:nvSpPr>
          <p:cNvPr id="3286" name="Google Shape;3286;p2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7" name="Google Shape;3287;p2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8" name="Google Shape;3288;p2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289" name="Google Shape;3289;p2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$15,325</a:t>
            </a:r>
            <a:endParaRPr/>
          </a:p>
        </p:txBody>
      </p:sp>
      <p:sp>
        <p:nvSpPr>
          <p:cNvPr id="3290" name="Google Shape;3290;p2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$13,177</a:t>
            </a:r>
            <a:endParaRPr/>
          </a:p>
        </p:txBody>
      </p:sp>
      <p:sp>
        <p:nvSpPr>
          <p:cNvPr id="3291" name="Google Shape;3291;p2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2" name="Google Shape;3292;p2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$2,148</a:t>
            </a:r>
            <a:endParaRPr/>
          </a:p>
        </p:txBody>
      </p:sp>
      <p:sp>
        <p:nvSpPr>
          <p:cNvPr id="3293" name="Google Shape;3293;p2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4" name="Google Shape;3294;p2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5" name="Google Shape;3295;p2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296" name="Google Shape;3296;p2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$246,427</a:t>
            </a:r>
            <a:endParaRPr/>
          </a:p>
        </p:txBody>
      </p:sp>
      <p:sp>
        <p:nvSpPr>
          <p:cNvPr id="3297" name="Google Shape;3297;p2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$152,230</a:t>
            </a:r>
            <a:endParaRPr/>
          </a:p>
        </p:txBody>
      </p:sp>
      <p:sp>
        <p:nvSpPr>
          <p:cNvPr id="3298" name="Google Shape;3298;p2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$113,951</a:t>
            </a:r>
            <a:endParaRPr/>
          </a:p>
        </p:txBody>
      </p:sp>
      <p:sp>
        <p:nvSpPr>
          <p:cNvPr id="3299" name="Google Shape;3299;p2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$-19,754</a:t>
            </a:r>
            <a:endParaRPr/>
          </a:p>
        </p:txBody>
      </p:sp>
      <p:sp>
        <p:nvSpPr>
          <p:cNvPr id="3300" name="Google Shape;3300;p2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1" name="Google Shape;3301;p2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2" name="Google Shape;3302;p2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303" name="Google Shape;3303;p2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304" name="Google Shape;3304;p2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305" name="Google Shape;3305;p2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306" name="Google Shape;3306;p2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307" name="Google Shape;3307;p2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308" name="Google Shape;3308;p2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309" name="Google Shape;3309;p2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0" name="Google Shape;3310;p2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311" name="Google Shape;3311;p2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312" name="Google Shape;3312;p2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13" name="Google Shape;3313;p2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314" name="Google Shape;3314;p2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15" name="Google Shape;3315;p2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15.0%</a:t>
            </a:r>
            <a:endParaRPr/>
          </a:p>
        </p:txBody>
      </p:sp>
      <p:sp>
        <p:nvSpPr>
          <p:cNvPr id="3316" name="Google Shape;3316;p2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7" name="Google Shape;3317;p2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18" name="Google Shape;3318;p2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319" name="Google Shape;3319;p2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320" name="Google Shape;3320;p2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321" name="Google Shape;3321;p2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22" name="Google Shape;3322;p2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18.8%</a:t>
            </a:r>
            <a:endParaRPr/>
          </a:p>
        </p:txBody>
      </p:sp>
      <p:sp>
        <p:nvSpPr>
          <p:cNvPr id="3323" name="Google Shape;3323;p2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4" name="Google Shape;3324;p2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25" name="Google Shape;3325;p2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326" name="Google Shape;3326;p2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27" name="Google Shape;3327;p2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328" name="Google Shape;3328;p2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29" name="Google Shape;3329;p2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13.6%</a:t>
            </a:r>
            <a:endParaRPr/>
          </a:p>
        </p:txBody>
      </p:sp>
      <p:sp>
        <p:nvSpPr>
          <p:cNvPr id="3330" name="Google Shape;3330;p2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1" name="Google Shape;3331;p2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32" name="Google Shape;3332;p2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333" name="Google Shape;3333;p2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34" name="Google Shape;3334;p2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335" name="Google Shape;3335;p2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36" name="Google Shape;3336;p2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9.4%</a:t>
            </a:r>
            <a:endParaRPr/>
          </a:p>
        </p:txBody>
      </p:sp>
      <p:sp>
        <p:nvSpPr>
          <p:cNvPr id="3337" name="Google Shape;3337;p2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8" name="Google Shape;3338;p2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39" name="Google Shape;3339;p2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340" name="Google Shape;3340;p2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41" name="Google Shape;3341;p2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342" name="Google Shape;3342;p2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43" name="Google Shape;3343;p2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3344" name="Google Shape;3344;p2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5" name="Google Shape;3345;p2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46" name="Google Shape;3346;p2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</a:t>
            </a:r>
            <a:endParaRPr/>
          </a:p>
        </p:txBody>
      </p:sp>
      <p:sp>
        <p:nvSpPr>
          <p:cNvPr id="3347" name="Google Shape;3347;p2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348" name="Google Shape;3348;p2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</p:txBody>
      </p:sp>
      <p:sp>
        <p:nvSpPr>
          <p:cNvPr id="3349" name="Google Shape;3349;p2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350" name="Google Shape;3350;p2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3351" name="Google Shape;3351;p2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2" name="Google Shape;3352;p2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353" name="Google Shape;3353;p2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54" name="Google Shape;3354;p2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355" name="Google Shape;3355;p2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356" name="Google Shape;3356;p2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357" name="Google Shape;3357;p2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358" name="Google Shape;3358;p2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359" name="Google Shape;3359;p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360" name="Google Shape;3360;p2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361" name="Google Shape;3361;p2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362" name="Google Shape;3362;p2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363" name="Google Shape;3363;p2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364" name="Google Shape;3364;p2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365" name="Google Shape;3365;p2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366" name="Google Shape;3366;p2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367" name="Google Shape;3367;p2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368" name="Google Shape;3368;p2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369" name="Google Shape;3369;p2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370" name="Google Shape;3370;p2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371" name="Google Shape;3371;p2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372" name="Google Shape;3372;p2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373" name="Google Shape;3373;p2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374" name="Google Shape;3374;p2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375" name="Google Shape;3375;p2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376" name="Google Shape;3376;p2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377" name="Google Shape;3377;p2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3378" name="Google Shape;3378;p2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109</a:t>
            </a:r>
            <a:endParaRPr/>
          </a:p>
        </p:txBody>
      </p:sp>
      <p:sp>
        <p:nvSpPr>
          <p:cNvPr id="3379" name="Google Shape;3379;p2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380" name="Google Shape;3380;p2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81" name="Google Shape;3381;p2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$140K</a:t>
            </a:r>
            <a:endParaRPr/>
          </a:p>
        </p:txBody>
      </p:sp>
      <p:sp>
        <p:nvSpPr>
          <p:cNvPr id="3382" name="Google Shape;3382;p2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$112K</a:t>
            </a:r>
            <a:endParaRPr/>
          </a:p>
        </p:txBody>
      </p:sp>
      <p:sp>
        <p:nvSpPr>
          <p:cNvPr id="3383" name="Google Shape;3383;p2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$112K</a:t>
            </a:r>
            <a:endParaRPr/>
          </a:p>
        </p:txBody>
      </p:sp>
      <p:sp>
        <p:nvSpPr>
          <p:cNvPr id="3384" name="Google Shape;3384;p2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$181K</a:t>
            </a:r>
            <a:endParaRPr/>
          </a:p>
        </p:txBody>
      </p:sp>
      <p:sp>
        <p:nvSpPr>
          <p:cNvPr id="3385" name="Google Shape;3385;p2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$-21,947</a:t>
            </a:r>
            <a:endParaRPr/>
          </a:p>
        </p:txBody>
      </p:sp>
      <p:sp>
        <p:nvSpPr>
          <p:cNvPr id="3386" name="Google Shape;3386;p2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3387" name="Google Shape;3387;p2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3388" name="Google Shape;3388;p2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3389" name="Google Shape;3389;p2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3390" name="Google Shape;3390;p2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$351K</a:t>
            </a:r>
            <a:endParaRPr/>
          </a:p>
        </p:txBody>
      </p:sp>
      <p:sp>
        <p:nvSpPr>
          <p:cNvPr id="3391" name="Google Shape;3391;p2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$246K</a:t>
            </a:r>
            <a:endParaRPr/>
          </a:p>
        </p:txBody>
      </p:sp>
      <p:sp>
        <p:nvSpPr>
          <p:cNvPr id="3392" name="Google Shape;3392;p2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3" name="Google Shape;3393;p2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394" name="Google Shape;3394;p2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395" name="Google Shape;3395;p2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$246,427 YTD gross written premium</a:t>
            </a:r>
            <a:endParaRPr/>
          </a:p>
        </p:txBody>
      </p:sp>
      <p:sp>
        <p:nvSpPr>
          <p:cNvPr id="3396" name="Google Shape;3396;p2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397" name="Google Shape;3397;p2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$152,230 in new business production</a:t>
            </a:r>
            <a:endParaRPr/>
          </a:p>
        </p:txBody>
      </p:sp>
      <p:sp>
        <p:nvSpPr>
          <p:cNvPr id="3398" name="Google Shape;3398;p2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9" name="Google Shape;3399;p2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400" name="Google Shape;3400;p2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01" name="Google Shape;3401;p2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3402" name="Google Shape;3402;p2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03" name="Google Shape;3403;p2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3404" name="Google Shape;3404;p2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5" name="Google Shape;3405;p2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406" name="Google Shape;3406;p2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407" name="Google Shape;3407;p2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$152,230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408" name="Google Shape;3408;p2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409" name="Google Shape;3409;p2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$113,951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13" name="Shape 3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4" name="Google Shape;3414;p2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5" name="Google Shape;3415;p2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Truck Insurance Services, Inc.</a:t>
            </a:r>
            <a:endParaRPr/>
          </a:p>
        </p:txBody>
      </p:sp>
      <p:sp>
        <p:nvSpPr>
          <p:cNvPr id="3416" name="Google Shape;3416;p2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Pacific Northwest  |  State: CA  |  City: Roseville</a:t>
            </a:r>
            <a:endParaRPr/>
          </a:p>
        </p:txBody>
      </p:sp>
      <p:sp>
        <p:nvSpPr>
          <p:cNvPr id="3417" name="Google Shape;3417;p2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$226,868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418" name="Google Shape;3418;p2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$116,554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19" name="Google Shape;3419;p2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$67,666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20" name="Google Shape;3420;p2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$42,648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21" name="Google Shape;3421;p2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$-65,645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22" name="Google Shape;3422;p2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$761,350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423" name="Google Shape;3423;p2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$465,679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424" name="Google Shape;3424;p2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425" name="Google Shape;3425;p2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26" name="Google Shape;3426;p2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427" name="Google Shape;3427;p2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428" name="Google Shape;3428;p2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429" name="Google Shape;3429;p2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$278,505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430" name="Google Shape;3430;p2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1" name="Google Shape;3431;p2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432" name="Google Shape;3432;p2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33" name="Google Shape;3433;p2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434" name="Google Shape;3434;p2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35" name="Google Shape;3435;p2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36" name="Google Shape;3436;p2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37" name="Google Shape;3437;p2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38" name="Google Shape;3438;p2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9" name="Google Shape;3439;p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440" name="Google Shape;3440;p2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$63,137</a:t>
            </a:r>
            <a:endParaRPr/>
          </a:p>
        </p:txBody>
      </p:sp>
      <p:sp>
        <p:nvSpPr>
          <p:cNvPr id="3441" name="Google Shape;3441;p2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$27,498</a:t>
            </a:r>
            <a:endParaRPr/>
          </a:p>
        </p:txBody>
      </p:sp>
      <p:sp>
        <p:nvSpPr>
          <p:cNvPr id="3442" name="Google Shape;3442;p2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$20,027</a:t>
            </a:r>
            <a:endParaRPr/>
          </a:p>
        </p:txBody>
      </p:sp>
      <p:sp>
        <p:nvSpPr>
          <p:cNvPr id="3443" name="Google Shape;3443;p2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$15,612</a:t>
            </a:r>
            <a:endParaRPr/>
          </a:p>
        </p:txBody>
      </p:sp>
      <p:sp>
        <p:nvSpPr>
          <p:cNvPr id="3444" name="Google Shape;3444;p2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$-41,247</a:t>
            </a:r>
            <a:endParaRPr/>
          </a:p>
        </p:txBody>
      </p:sp>
      <p:sp>
        <p:nvSpPr>
          <p:cNvPr id="3445" name="Google Shape;3445;p2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6" name="Google Shape;3446;p2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447" name="Google Shape;3447;p2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$7,156</a:t>
            </a:r>
            <a:endParaRPr/>
          </a:p>
        </p:txBody>
      </p:sp>
      <p:sp>
        <p:nvSpPr>
          <p:cNvPr id="3448" name="Google Shape;3448;p2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$7,156</a:t>
            </a:r>
            <a:endParaRPr/>
          </a:p>
        </p:txBody>
      </p:sp>
      <p:sp>
        <p:nvSpPr>
          <p:cNvPr id="3449" name="Google Shape;3449;p2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0" name="Google Shape;3450;p2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1" name="Google Shape;3451;p2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2" name="Google Shape;3452;p2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3" name="Google Shape;3453;p2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454" name="Google Shape;3454;p2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$51,293</a:t>
            </a:r>
            <a:endParaRPr/>
          </a:p>
        </p:txBody>
      </p:sp>
      <p:sp>
        <p:nvSpPr>
          <p:cNvPr id="3455" name="Google Shape;3455;p2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$51,322</a:t>
            </a:r>
            <a:endParaRPr/>
          </a:p>
        </p:txBody>
      </p:sp>
      <p:sp>
        <p:nvSpPr>
          <p:cNvPr id="3456" name="Google Shape;3456;p2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7" name="Google Shape;3457;p2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$-29</a:t>
            </a:r>
            <a:endParaRPr/>
          </a:p>
        </p:txBody>
      </p:sp>
      <p:sp>
        <p:nvSpPr>
          <p:cNvPr id="3458" name="Google Shape;3458;p2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$-24,398</a:t>
            </a:r>
            <a:endParaRPr/>
          </a:p>
        </p:txBody>
      </p:sp>
      <p:sp>
        <p:nvSpPr>
          <p:cNvPr id="3459" name="Google Shape;3459;p2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0" name="Google Shape;3460;p2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461" name="Google Shape;3461;p2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$30,972</a:t>
            </a:r>
            <a:endParaRPr/>
          </a:p>
        </p:txBody>
      </p:sp>
      <p:sp>
        <p:nvSpPr>
          <p:cNvPr id="3462" name="Google Shape;3462;p2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$30,577</a:t>
            </a:r>
            <a:endParaRPr/>
          </a:p>
        </p:txBody>
      </p:sp>
      <p:sp>
        <p:nvSpPr>
          <p:cNvPr id="3463" name="Google Shape;3463;p2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4" name="Google Shape;3464;p2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$395</a:t>
            </a:r>
            <a:endParaRPr/>
          </a:p>
        </p:txBody>
      </p:sp>
      <p:sp>
        <p:nvSpPr>
          <p:cNvPr id="3465" name="Google Shape;3465;p2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6" name="Google Shape;3466;p2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7" name="Google Shape;3467;p2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468" name="Google Shape;3468;p2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$74,309</a:t>
            </a:r>
            <a:endParaRPr/>
          </a:p>
        </p:txBody>
      </p:sp>
      <p:sp>
        <p:nvSpPr>
          <p:cNvPr id="3469" name="Google Shape;3469;p2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0" name="Google Shape;3470;p2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$47,639</a:t>
            </a:r>
            <a:endParaRPr/>
          </a:p>
        </p:txBody>
      </p:sp>
      <p:sp>
        <p:nvSpPr>
          <p:cNvPr id="3471" name="Google Shape;3471;p2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$26,669</a:t>
            </a:r>
            <a:endParaRPr/>
          </a:p>
        </p:txBody>
      </p:sp>
      <p:sp>
        <p:nvSpPr>
          <p:cNvPr id="3472" name="Google Shape;3472;p2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3" name="Google Shape;3473;p2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4" name="Google Shape;3474;p2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475" name="Google Shape;3475;p2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$226,868</a:t>
            </a:r>
            <a:endParaRPr/>
          </a:p>
        </p:txBody>
      </p:sp>
      <p:sp>
        <p:nvSpPr>
          <p:cNvPr id="3476" name="Google Shape;3476;p2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$116,554</a:t>
            </a:r>
            <a:endParaRPr/>
          </a:p>
        </p:txBody>
      </p:sp>
      <p:sp>
        <p:nvSpPr>
          <p:cNvPr id="3477" name="Google Shape;3477;p2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$67,666</a:t>
            </a:r>
            <a:endParaRPr/>
          </a:p>
        </p:txBody>
      </p:sp>
      <p:sp>
        <p:nvSpPr>
          <p:cNvPr id="3478" name="Google Shape;3478;p2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$42,648</a:t>
            </a:r>
            <a:endParaRPr/>
          </a:p>
        </p:txBody>
      </p:sp>
      <p:sp>
        <p:nvSpPr>
          <p:cNvPr id="3479" name="Google Shape;3479;p2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$-65,645</a:t>
            </a:r>
            <a:endParaRPr/>
          </a:p>
        </p:txBody>
      </p:sp>
      <p:sp>
        <p:nvSpPr>
          <p:cNvPr id="3480" name="Google Shape;3480;p2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1" name="Google Shape;3481;p2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482" name="Google Shape;3482;p2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83" name="Google Shape;3483;p2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484" name="Google Shape;3484;p2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485" name="Google Shape;3485;p2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486" name="Google Shape;3486;p2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487" name="Google Shape;3487;p2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488" name="Google Shape;3488;p2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9" name="Google Shape;3489;p2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490" name="Google Shape;3490;p2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491" name="Google Shape;3491;p2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492" name="Google Shape;3492;p2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493" name="Google Shape;3493;p2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94" name="Google Shape;3494;p2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3495" name="Google Shape;3495;p2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6" name="Google Shape;3496;p2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497" name="Google Shape;3497;p2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498" name="Google Shape;3498;p2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499" name="Google Shape;3499;p2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500" name="Google Shape;3500;p2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501" name="Google Shape;3501;p2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17.4%</a:t>
            </a:r>
            <a:endParaRPr/>
          </a:p>
        </p:txBody>
      </p:sp>
      <p:sp>
        <p:nvSpPr>
          <p:cNvPr id="3502" name="Google Shape;3502;p2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3" name="Google Shape;3503;p2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504" name="Google Shape;3504;p2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3505" name="Google Shape;3505;p2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506" name="Google Shape;3506;p2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3507" name="Google Shape;3507;p2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08" name="Google Shape;3508;p2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3509" name="Google Shape;3509;p2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0" name="Google Shape;3510;p2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511" name="Google Shape;3511;p2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3512" name="Google Shape;3512;p2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513" name="Google Shape;3513;p2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3514" name="Google Shape;3514;p2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515" name="Google Shape;3515;p2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3516" name="Google Shape;3516;p2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7" name="Google Shape;3517;p2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18" name="Google Shape;3518;p2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3519" name="Google Shape;3519;p2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20" name="Google Shape;3520;p2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3521" name="Google Shape;3521;p2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522" name="Google Shape;3522;p2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8.6%</a:t>
            </a:r>
            <a:endParaRPr/>
          </a:p>
        </p:txBody>
      </p:sp>
      <p:sp>
        <p:nvSpPr>
          <p:cNvPr id="3523" name="Google Shape;3523;p2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4" name="Google Shape;3524;p2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25" name="Google Shape;3525;p2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181</a:t>
            </a:r>
            <a:endParaRPr/>
          </a:p>
        </p:txBody>
      </p:sp>
      <p:sp>
        <p:nvSpPr>
          <p:cNvPr id="3526" name="Google Shape;3526;p2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527" name="Google Shape;3527;p2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</a:t>
            </a:r>
            <a:endParaRPr/>
          </a:p>
        </p:txBody>
      </p:sp>
      <p:sp>
        <p:nvSpPr>
          <p:cNvPr id="3528" name="Google Shape;3528;p2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529" name="Google Shape;3529;p2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3530" name="Google Shape;3530;p2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1" name="Google Shape;3531;p2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532" name="Google Shape;3532;p2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533" name="Google Shape;3533;p2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534" name="Google Shape;3534;p2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535" name="Google Shape;3535;p2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536" name="Google Shape;3536;p2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537" name="Google Shape;3537;p2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538" name="Google Shape;3538;p2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539" name="Google Shape;3539;p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540" name="Google Shape;3540;p2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541" name="Google Shape;3541;p2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542" name="Google Shape;3542;p2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543" name="Google Shape;3543;p2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544" name="Google Shape;3544;p2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545" name="Google Shape;3545;p2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546" name="Google Shape;3546;p2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3547" name="Google Shape;3547;p2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548" name="Google Shape;3548;p2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3549" name="Google Shape;3549;p2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550" name="Google Shape;3550;p2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3551" name="Google Shape;3551;p2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3552" name="Google Shape;3552;p2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3553" name="Google Shape;3553;p2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3554" name="Google Shape;3554;p2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555" name="Google Shape;3555;p2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3556" name="Google Shape;3556;p2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241</a:t>
            </a:r>
            <a:endParaRPr/>
          </a:p>
        </p:txBody>
      </p:sp>
      <p:sp>
        <p:nvSpPr>
          <p:cNvPr id="3557" name="Google Shape;3557;p2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190</a:t>
            </a:r>
            <a:endParaRPr/>
          </a:p>
        </p:txBody>
      </p:sp>
      <p:sp>
        <p:nvSpPr>
          <p:cNvPr id="3558" name="Google Shape;3558;p2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559" name="Google Shape;3559;p2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$107K</a:t>
            </a:r>
            <a:endParaRPr/>
          </a:p>
        </p:txBody>
      </p:sp>
      <p:sp>
        <p:nvSpPr>
          <p:cNvPr id="3560" name="Google Shape;3560;p2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$63K</a:t>
            </a:r>
            <a:endParaRPr/>
          </a:p>
        </p:txBody>
      </p:sp>
      <p:sp>
        <p:nvSpPr>
          <p:cNvPr id="3561" name="Google Shape;3561;p2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3562" name="Google Shape;3562;p2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3563" name="Google Shape;3563;p2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$178K</a:t>
            </a:r>
            <a:endParaRPr/>
          </a:p>
        </p:txBody>
      </p:sp>
      <p:sp>
        <p:nvSpPr>
          <p:cNvPr id="3564" name="Google Shape;3564;p2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$51K</a:t>
            </a:r>
            <a:endParaRPr/>
          </a:p>
        </p:txBody>
      </p:sp>
      <p:sp>
        <p:nvSpPr>
          <p:cNvPr id="3565" name="Google Shape;3565;p2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$66K</a:t>
            </a:r>
            <a:endParaRPr/>
          </a:p>
        </p:txBody>
      </p:sp>
      <p:sp>
        <p:nvSpPr>
          <p:cNvPr id="3566" name="Google Shape;3566;p2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3567" name="Google Shape;3567;p2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$166K</a:t>
            </a:r>
            <a:endParaRPr/>
          </a:p>
        </p:txBody>
      </p:sp>
      <p:sp>
        <p:nvSpPr>
          <p:cNvPr id="3568" name="Google Shape;3568;p2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$74K</a:t>
            </a:r>
            <a:endParaRPr/>
          </a:p>
        </p:txBody>
      </p:sp>
      <p:sp>
        <p:nvSpPr>
          <p:cNvPr id="3569" name="Google Shape;3569;p2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$523K</a:t>
            </a:r>
            <a:endParaRPr/>
          </a:p>
        </p:txBody>
      </p:sp>
      <p:sp>
        <p:nvSpPr>
          <p:cNvPr id="3570" name="Google Shape;3570;p2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$227K</a:t>
            </a:r>
            <a:endParaRPr/>
          </a:p>
        </p:txBody>
      </p:sp>
      <p:sp>
        <p:nvSpPr>
          <p:cNvPr id="3571" name="Google Shape;3571;p2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2" name="Google Shape;3572;p2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573" name="Google Shape;3573;p2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574" name="Google Shape;3574;p2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$226,868 YTD gross written premium</a:t>
            </a:r>
            <a:endParaRPr/>
          </a:p>
        </p:txBody>
      </p:sp>
      <p:sp>
        <p:nvSpPr>
          <p:cNvPr id="3575" name="Google Shape;3575;p2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576" name="Google Shape;3576;p2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$116,554 in new business production</a:t>
            </a:r>
            <a:endParaRPr/>
          </a:p>
        </p:txBody>
      </p:sp>
      <p:sp>
        <p:nvSpPr>
          <p:cNvPr id="3577" name="Google Shape;3577;p2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8" name="Google Shape;3578;p2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579" name="Google Shape;3579;p2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580" name="Google Shape;3580;p2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56% of new business ($65,645)</a:t>
            </a:r>
            <a:endParaRPr/>
          </a:p>
        </p:txBody>
      </p:sp>
      <p:sp>
        <p:nvSpPr>
          <p:cNvPr id="3581" name="Google Shape;3581;p2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2" name="Google Shape;3582;p2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583" name="Google Shape;3583;p2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584" name="Google Shape;3584;p2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$116,554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585" name="Google Shape;3585;p2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586" name="Google Shape;3586;p2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$65,645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90" name="Shape 3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1" name="Google Shape;3591;p2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2" name="Google Shape;3592;p2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Walker Insurance Agency, Inc.</a:t>
            </a:r>
            <a:endParaRPr/>
          </a:p>
        </p:txBody>
      </p:sp>
      <p:sp>
        <p:nvSpPr>
          <p:cNvPr id="3593" name="Google Shape;3593;p2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Pacific Northwest  |  State: WA  |  City: Longview</a:t>
            </a:r>
            <a:endParaRPr/>
          </a:p>
        </p:txBody>
      </p:sp>
      <p:sp>
        <p:nvSpPr>
          <p:cNvPr id="3594" name="Google Shape;3594;p2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$207,492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595" name="Google Shape;3595;p2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$131,466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596" name="Google Shape;3596;p2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$88,750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597" name="Google Shape;3597;p2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$-12,723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598" name="Google Shape;3598;p2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$-47,431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599" name="Google Shape;3599;p2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$235,693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600" name="Google Shape;3600;p2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$357,769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601" name="Google Shape;3601;p2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602" name="Google Shape;3602;p2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603" name="Google Shape;3603;p2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04" name="Google Shape;3604;p2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05" name="Google Shape;3605;p2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$131,924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606" name="Google Shape;3606;p2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$161,841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607" name="Google Shape;3607;p2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8" name="Google Shape;3608;p2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609" name="Google Shape;3609;p2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10" name="Google Shape;3610;p2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611" name="Google Shape;3611;p2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12" name="Google Shape;3612;p2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13" name="Google Shape;3613;p2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14" name="Google Shape;3614;p2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15" name="Google Shape;3615;p2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6" name="Google Shape;3616;p2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17" name="Google Shape;3617;p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</a:t>
            </a:r>
            <a:endParaRPr/>
          </a:p>
        </p:txBody>
      </p:sp>
      <p:sp>
        <p:nvSpPr>
          <p:cNvPr id="3618" name="Google Shape;3618;p2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9" name="Google Shape;3619;p2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0" name="Google Shape;3620;p2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</a:t>
            </a:r>
            <a:endParaRPr/>
          </a:p>
        </p:txBody>
      </p:sp>
      <p:sp>
        <p:nvSpPr>
          <p:cNvPr id="3621" name="Google Shape;3621;p2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$-14,593</a:t>
            </a:r>
            <a:endParaRPr/>
          </a:p>
        </p:txBody>
      </p:sp>
      <p:sp>
        <p:nvSpPr>
          <p:cNvPr id="3622" name="Google Shape;3622;p2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3" name="Google Shape;3623;p2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24" name="Google Shape;3624;p2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$4,928</a:t>
            </a:r>
            <a:endParaRPr/>
          </a:p>
        </p:txBody>
      </p:sp>
      <p:sp>
        <p:nvSpPr>
          <p:cNvPr id="3625" name="Google Shape;3625;p2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6" name="Google Shape;3626;p2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7" name="Google Shape;3627;p2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$4,928</a:t>
            </a:r>
            <a:endParaRPr/>
          </a:p>
        </p:txBody>
      </p:sp>
      <p:sp>
        <p:nvSpPr>
          <p:cNvPr id="3628" name="Google Shape;3628;p2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9" name="Google Shape;3629;p2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0" name="Google Shape;3630;p2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31" name="Google Shape;3631;p2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$98,333</a:t>
            </a:r>
            <a:endParaRPr/>
          </a:p>
        </p:txBody>
      </p:sp>
      <p:sp>
        <p:nvSpPr>
          <p:cNvPr id="3632" name="Google Shape;3632;p2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3" name="Google Shape;3633;p2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$88,750</a:t>
            </a:r>
            <a:endParaRPr/>
          </a:p>
        </p:txBody>
      </p:sp>
      <p:sp>
        <p:nvSpPr>
          <p:cNvPr id="3634" name="Google Shape;3634;p2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$9,583</a:t>
            </a:r>
            <a:endParaRPr/>
          </a:p>
        </p:txBody>
      </p:sp>
      <p:sp>
        <p:nvSpPr>
          <p:cNvPr id="3635" name="Google Shape;3635;p2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$-32,838</a:t>
            </a:r>
            <a:endParaRPr/>
          </a:p>
        </p:txBody>
      </p:sp>
      <p:sp>
        <p:nvSpPr>
          <p:cNvPr id="3636" name="Google Shape;3636;p2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7" name="Google Shape;3637;p2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638" name="Google Shape;3638;p2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$38,586</a:t>
            </a:r>
            <a:endParaRPr/>
          </a:p>
        </p:txBody>
      </p:sp>
      <p:sp>
        <p:nvSpPr>
          <p:cNvPr id="3639" name="Google Shape;3639;p2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$64,225</a:t>
            </a:r>
            <a:endParaRPr/>
          </a:p>
        </p:txBody>
      </p:sp>
      <p:sp>
        <p:nvSpPr>
          <p:cNvPr id="3640" name="Google Shape;3640;p2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1" name="Google Shape;3641;p2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$-25,639</a:t>
            </a:r>
            <a:endParaRPr/>
          </a:p>
        </p:txBody>
      </p:sp>
      <p:sp>
        <p:nvSpPr>
          <p:cNvPr id="3642" name="Google Shape;3642;p2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3" name="Google Shape;3643;p2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4" name="Google Shape;3644;p2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645" name="Google Shape;3645;p2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$65,659</a:t>
            </a:r>
            <a:endParaRPr/>
          </a:p>
        </p:txBody>
      </p:sp>
      <p:sp>
        <p:nvSpPr>
          <p:cNvPr id="3646" name="Google Shape;3646;p2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$67,241</a:t>
            </a:r>
            <a:endParaRPr/>
          </a:p>
        </p:txBody>
      </p:sp>
      <p:sp>
        <p:nvSpPr>
          <p:cNvPr id="3647" name="Google Shape;3647;p2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8" name="Google Shape;3648;p2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$-1,582</a:t>
            </a:r>
            <a:endParaRPr/>
          </a:p>
        </p:txBody>
      </p:sp>
      <p:sp>
        <p:nvSpPr>
          <p:cNvPr id="3649" name="Google Shape;3649;p2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0" name="Google Shape;3650;p2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1" name="Google Shape;3651;p2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652" name="Google Shape;3652;p2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$207,492</a:t>
            </a:r>
            <a:endParaRPr/>
          </a:p>
        </p:txBody>
      </p:sp>
      <p:sp>
        <p:nvSpPr>
          <p:cNvPr id="3653" name="Google Shape;3653;p2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$131,466</a:t>
            </a:r>
            <a:endParaRPr/>
          </a:p>
        </p:txBody>
      </p:sp>
      <p:sp>
        <p:nvSpPr>
          <p:cNvPr id="3654" name="Google Shape;3654;p2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$88,750</a:t>
            </a:r>
            <a:endParaRPr/>
          </a:p>
        </p:txBody>
      </p:sp>
      <p:sp>
        <p:nvSpPr>
          <p:cNvPr id="3655" name="Google Shape;3655;p2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$-12,723</a:t>
            </a:r>
            <a:endParaRPr/>
          </a:p>
        </p:txBody>
      </p:sp>
      <p:sp>
        <p:nvSpPr>
          <p:cNvPr id="3656" name="Google Shape;3656;p2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$-47,431</a:t>
            </a:r>
            <a:endParaRPr/>
          </a:p>
        </p:txBody>
      </p:sp>
      <p:sp>
        <p:nvSpPr>
          <p:cNvPr id="3657" name="Google Shape;3657;p2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8" name="Google Shape;3658;p2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659" name="Google Shape;3659;p2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60" name="Google Shape;3660;p2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661" name="Google Shape;3661;p2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662" name="Google Shape;3662;p2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663" name="Google Shape;3663;p2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64" name="Google Shape;3664;p2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65" name="Google Shape;3665;p2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6" name="Google Shape;3666;p2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67" name="Google Shape;3667;p2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668" name="Google Shape;3668;p2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69" name="Google Shape;3669;p2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670" name="Google Shape;3670;p2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71" name="Google Shape;3671;p2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3672" name="Google Shape;3672;p2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3" name="Google Shape;3673;p2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74" name="Google Shape;3674;p2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675" name="Google Shape;3675;p2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76" name="Google Shape;3676;p2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677" name="Google Shape;3677;p2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78" name="Google Shape;3678;p2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3679" name="Google Shape;3679;p2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0" name="Google Shape;3680;p2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81" name="Google Shape;3681;p2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682" name="Google Shape;3682;p2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83" name="Google Shape;3683;p2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684" name="Google Shape;3684;p2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685" name="Google Shape;3685;p2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30.8%</a:t>
            </a:r>
            <a:endParaRPr/>
          </a:p>
        </p:txBody>
      </p:sp>
      <p:sp>
        <p:nvSpPr>
          <p:cNvPr id="3686" name="Google Shape;3686;p2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7" name="Google Shape;3687;p2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688" name="Google Shape;3688;p2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689" name="Google Shape;3689;p2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90" name="Google Shape;3690;p2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691" name="Google Shape;3691;p2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692" name="Google Shape;3692;p2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3693" name="Google Shape;3693;p2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4" name="Google Shape;3694;p2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695" name="Google Shape;3695;p2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696" name="Google Shape;3696;p2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97" name="Google Shape;3697;p2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698" name="Google Shape;3698;p2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699" name="Google Shape;3699;p2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3700" name="Google Shape;3700;p2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1" name="Google Shape;3701;p2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702" name="Google Shape;3702;p2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3703" name="Google Shape;3703;p2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04" name="Google Shape;3704;p2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3705" name="Google Shape;3705;p2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706" name="Google Shape;3706;p2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</p:txBody>
      </p:sp>
      <p:sp>
        <p:nvSpPr>
          <p:cNvPr id="3707" name="Google Shape;3707;p2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8" name="Google Shape;3708;p2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709" name="Google Shape;3709;p2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10" name="Google Shape;3710;p2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711" name="Google Shape;3711;p2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712" name="Google Shape;3712;p2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713" name="Google Shape;3713;p2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714" name="Google Shape;3714;p2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715" name="Google Shape;3715;p2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716" name="Google Shape;3716;p2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717" name="Google Shape;3717;p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718" name="Google Shape;3718;p2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719" name="Google Shape;3719;p2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720" name="Google Shape;3720;p2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721" name="Google Shape;3721;p2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722" name="Google Shape;3722;p2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23" name="Google Shape;3723;p2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724" name="Google Shape;3724;p2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725" name="Google Shape;3725;p2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26" name="Google Shape;3726;p2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727" name="Google Shape;3727;p2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728" name="Google Shape;3728;p2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729" name="Google Shape;3729;p2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730" name="Google Shape;3730;p2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731" name="Google Shape;3731;p2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732" name="Google Shape;3732;p2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733" name="Google Shape;3733;p2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3734" name="Google Shape;3734;p2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3735" name="Google Shape;3735;p2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736" name="Google Shape;3736;p2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3737" name="Google Shape;3737;p2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</a:t>
            </a:r>
            <a:endParaRPr/>
          </a:p>
        </p:txBody>
      </p:sp>
      <p:sp>
        <p:nvSpPr>
          <p:cNvPr id="3738" name="Google Shape;3738;p2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9" name="Google Shape;3739;p2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3740" name="Google Shape;3740;p2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3741" name="Google Shape;3741;p2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$98K</a:t>
            </a:r>
            <a:endParaRPr/>
          </a:p>
        </p:txBody>
      </p:sp>
      <p:sp>
        <p:nvSpPr>
          <p:cNvPr id="3742" name="Google Shape;3742;p2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3743" name="Google Shape;3743;p2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$39K</a:t>
            </a:r>
            <a:endParaRPr/>
          </a:p>
        </p:txBody>
      </p:sp>
      <p:sp>
        <p:nvSpPr>
          <p:cNvPr id="3744" name="Google Shape;3744;p2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45" name="Google Shape;3745;p2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$66K</a:t>
            </a:r>
            <a:endParaRPr/>
          </a:p>
        </p:txBody>
      </p:sp>
      <p:sp>
        <p:nvSpPr>
          <p:cNvPr id="3746" name="Google Shape;3746;p2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$85K</a:t>
            </a:r>
            <a:endParaRPr/>
          </a:p>
        </p:txBody>
      </p:sp>
      <p:sp>
        <p:nvSpPr>
          <p:cNvPr id="3747" name="Google Shape;3747;p2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$207K</a:t>
            </a:r>
            <a:endParaRPr/>
          </a:p>
        </p:txBody>
      </p:sp>
      <p:sp>
        <p:nvSpPr>
          <p:cNvPr id="3748" name="Google Shape;3748;p2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9" name="Google Shape;3749;p2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750" name="Google Shape;3750;p2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751" name="Google Shape;3751;p2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$207,492 YTD gross written premium</a:t>
            </a:r>
            <a:endParaRPr/>
          </a:p>
        </p:txBody>
      </p:sp>
      <p:sp>
        <p:nvSpPr>
          <p:cNvPr id="3752" name="Google Shape;3752;p2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753" name="Google Shape;3753;p2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$131,466 in new business production</a:t>
            </a:r>
            <a:endParaRPr/>
          </a:p>
        </p:txBody>
      </p:sp>
      <p:sp>
        <p:nvSpPr>
          <p:cNvPr id="3754" name="Google Shape;3754;p2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5" name="Google Shape;3755;p2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756" name="Google Shape;3756;p2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757" name="Google Shape;3757;p2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24 to 7 MoM</a:t>
            </a:r>
            <a:endParaRPr/>
          </a:p>
        </p:txBody>
      </p:sp>
      <p:sp>
        <p:nvSpPr>
          <p:cNvPr id="3758" name="Google Shape;3758;p2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9" name="Google Shape;3759;p2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760" name="Google Shape;3760;p2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761" name="Google Shape;3761;p2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$131,466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762" name="Google Shape;3762;p2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763" name="Google Shape;3763;p2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$47,431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67" name="Shape 3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8" name="Google Shape;3768;p2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9" name="Google Shape;3769;p2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Amerigo Insurance Agency</a:t>
            </a:r>
            <a:endParaRPr/>
          </a:p>
        </p:txBody>
      </p:sp>
      <p:sp>
        <p:nvSpPr>
          <p:cNvPr id="3770" name="Google Shape;3770;p2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Pacific Northwest  |  State: CA  |  City: Yuba City</a:t>
            </a:r>
            <a:endParaRPr/>
          </a:p>
        </p:txBody>
      </p:sp>
      <p:sp>
        <p:nvSpPr>
          <p:cNvPr id="3771" name="Google Shape;3771;p2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$194,350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772" name="Google Shape;3772;p2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$185,109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773" name="Google Shape;3773;p2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774" name="Google Shape;3774;p2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775" name="Google Shape;3775;p2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$-35,608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776" name="Google Shape;3776;p2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$1,464,780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777" name="Google Shape;3777;p2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$1,027,624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778" name="Google Shape;3778;p2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779" name="Google Shape;3779;p2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80" name="Google Shape;3780;p2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781" name="Google Shape;3781;p2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782" name="Google Shape;3782;p2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$450,043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783" name="Google Shape;3783;p2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$60,385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784" name="Google Shape;3784;p2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5" name="Google Shape;3785;p2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786" name="Google Shape;3786;p2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787" name="Google Shape;3787;p2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788" name="Google Shape;3788;p2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789" name="Google Shape;3789;p2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790" name="Google Shape;3790;p2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791" name="Google Shape;3791;p2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792" name="Google Shape;3792;p2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3" name="Google Shape;3793;p2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794" name="Google Shape;3794;p2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$9,961</a:t>
            </a:r>
            <a:endParaRPr/>
          </a:p>
        </p:txBody>
      </p:sp>
      <p:sp>
        <p:nvSpPr>
          <p:cNvPr id="3795" name="Google Shape;3795;p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6" name="Google Shape;3796;p2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7" name="Google Shape;3797;p2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$9,961</a:t>
            </a:r>
            <a:endParaRPr/>
          </a:p>
        </p:txBody>
      </p:sp>
      <p:sp>
        <p:nvSpPr>
          <p:cNvPr id="3798" name="Google Shape;3798;p2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$-24,573</a:t>
            </a:r>
            <a:endParaRPr/>
          </a:p>
        </p:txBody>
      </p:sp>
      <p:sp>
        <p:nvSpPr>
          <p:cNvPr id="3799" name="Google Shape;3799;p2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0" name="Google Shape;3800;p2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01" name="Google Shape;3801;p2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$8,040</a:t>
            </a:r>
            <a:endParaRPr/>
          </a:p>
        </p:txBody>
      </p:sp>
      <p:sp>
        <p:nvSpPr>
          <p:cNvPr id="3802" name="Google Shape;3802;p2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3" name="Google Shape;3803;p2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4" name="Google Shape;3804;p2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$8,040</a:t>
            </a:r>
            <a:endParaRPr/>
          </a:p>
        </p:txBody>
      </p:sp>
      <p:sp>
        <p:nvSpPr>
          <p:cNvPr id="3805" name="Google Shape;3805;p2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$-3,712</a:t>
            </a:r>
            <a:endParaRPr/>
          </a:p>
        </p:txBody>
      </p:sp>
      <p:sp>
        <p:nvSpPr>
          <p:cNvPr id="3806" name="Google Shape;3806;p2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7" name="Google Shape;3807;p2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08" name="Google Shape;3808;p2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$-59,250</a:t>
            </a:r>
            <a:endParaRPr/>
          </a:p>
        </p:txBody>
      </p:sp>
      <p:sp>
        <p:nvSpPr>
          <p:cNvPr id="3809" name="Google Shape;3809;p2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0" name="Google Shape;3810;p2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1" name="Google Shape;3811;p2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$-59,250</a:t>
            </a:r>
            <a:endParaRPr/>
          </a:p>
        </p:txBody>
      </p:sp>
      <p:sp>
        <p:nvSpPr>
          <p:cNvPr id="3812" name="Google Shape;3812;p2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$-4,942</a:t>
            </a:r>
            <a:endParaRPr/>
          </a:p>
        </p:txBody>
      </p:sp>
      <p:sp>
        <p:nvSpPr>
          <p:cNvPr id="3813" name="Google Shape;3813;p2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4" name="Google Shape;3814;p2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15" name="Google Shape;3815;p2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$235,158</a:t>
            </a:r>
            <a:endParaRPr/>
          </a:p>
        </p:txBody>
      </p:sp>
      <p:sp>
        <p:nvSpPr>
          <p:cNvPr id="3816" name="Google Shape;3816;p2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$185,109</a:t>
            </a:r>
            <a:endParaRPr/>
          </a:p>
        </p:txBody>
      </p:sp>
      <p:sp>
        <p:nvSpPr>
          <p:cNvPr id="3817" name="Google Shape;3817;p2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8" name="Google Shape;3818;p2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$50,049</a:t>
            </a:r>
            <a:endParaRPr/>
          </a:p>
        </p:txBody>
      </p:sp>
      <p:sp>
        <p:nvSpPr>
          <p:cNvPr id="3819" name="Google Shape;3819;p2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0" name="Google Shape;3820;p2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1" name="Google Shape;3821;p2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22" name="Google Shape;3822;p2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$440</a:t>
            </a:r>
            <a:endParaRPr/>
          </a:p>
        </p:txBody>
      </p:sp>
      <p:sp>
        <p:nvSpPr>
          <p:cNvPr id="3823" name="Google Shape;3823;p2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4" name="Google Shape;3824;p2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5" name="Google Shape;3825;p2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$440</a:t>
            </a:r>
            <a:endParaRPr/>
          </a:p>
        </p:txBody>
      </p:sp>
      <p:sp>
        <p:nvSpPr>
          <p:cNvPr id="3826" name="Google Shape;3826;p2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$-2,380</a:t>
            </a:r>
            <a:endParaRPr/>
          </a:p>
        </p:txBody>
      </p:sp>
      <p:sp>
        <p:nvSpPr>
          <p:cNvPr id="3827" name="Google Shape;3827;p2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8" name="Google Shape;3828;p2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29" name="Google Shape;3829;p2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$194,350</a:t>
            </a:r>
            <a:endParaRPr/>
          </a:p>
        </p:txBody>
      </p:sp>
      <p:sp>
        <p:nvSpPr>
          <p:cNvPr id="3830" name="Google Shape;3830;p2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$185,109</a:t>
            </a:r>
            <a:endParaRPr/>
          </a:p>
        </p:txBody>
      </p:sp>
      <p:sp>
        <p:nvSpPr>
          <p:cNvPr id="3831" name="Google Shape;3831;p2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32" name="Google Shape;3832;p2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$9,241</a:t>
            </a:r>
            <a:endParaRPr/>
          </a:p>
        </p:txBody>
      </p:sp>
      <p:sp>
        <p:nvSpPr>
          <p:cNvPr id="3833" name="Google Shape;3833;p2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$-35,608</a:t>
            </a:r>
            <a:endParaRPr/>
          </a:p>
        </p:txBody>
      </p:sp>
      <p:sp>
        <p:nvSpPr>
          <p:cNvPr id="3834" name="Google Shape;3834;p2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5" name="Google Shape;3835;p2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836" name="Google Shape;3836;p2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37" name="Google Shape;3837;p2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838" name="Google Shape;3838;p2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839" name="Google Shape;3839;p2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840" name="Google Shape;3840;p2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841" name="Google Shape;3841;p2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842" name="Google Shape;3842;p2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3" name="Google Shape;3843;p2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44" name="Google Shape;3844;p2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3845" name="Google Shape;3845;p2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846" name="Google Shape;3846;p2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3847" name="Google Shape;3847;p2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48" name="Google Shape;3848;p2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3849" name="Google Shape;3849;p2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0" name="Google Shape;3850;p2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51" name="Google Shape;3851;p2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852" name="Google Shape;3852;p2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853" name="Google Shape;3853;p2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3854" name="Google Shape;3854;p2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55" name="Google Shape;3855;p2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12.8%</a:t>
            </a:r>
            <a:endParaRPr/>
          </a:p>
        </p:txBody>
      </p:sp>
      <p:sp>
        <p:nvSpPr>
          <p:cNvPr id="3856" name="Google Shape;3856;p2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7" name="Google Shape;3857;p2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58" name="Google Shape;3858;p2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3859" name="Google Shape;3859;p2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860" name="Google Shape;3860;p2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3861" name="Google Shape;3861;p2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862" name="Google Shape;3862;p2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3863" name="Google Shape;3863;p2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4" name="Google Shape;3864;p2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65" name="Google Shape;3865;p2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</a:t>
            </a:r>
            <a:endParaRPr/>
          </a:p>
        </p:txBody>
      </p:sp>
      <p:sp>
        <p:nvSpPr>
          <p:cNvPr id="3866" name="Google Shape;3866;p2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867" name="Google Shape;3867;p2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91</a:t>
            </a:r>
            <a:endParaRPr/>
          </a:p>
        </p:txBody>
      </p:sp>
      <p:sp>
        <p:nvSpPr>
          <p:cNvPr id="3868" name="Google Shape;3868;p2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869" name="Google Shape;3869;p2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3870" name="Google Shape;3870;p2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1" name="Google Shape;3871;p2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72" name="Google Shape;3872;p2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3873" name="Google Shape;3873;p2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874" name="Google Shape;3874;p2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3875" name="Google Shape;3875;p2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876" name="Google Shape;3876;p2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3877" name="Google Shape;3877;p2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8" name="Google Shape;3878;p2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79" name="Google Shape;3879;p2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312</a:t>
            </a:r>
            <a:endParaRPr/>
          </a:p>
        </p:txBody>
      </p:sp>
      <p:sp>
        <p:nvSpPr>
          <p:cNvPr id="3880" name="Google Shape;3880;p2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3881" name="Google Shape;3881;p2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274</a:t>
            </a:r>
            <a:endParaRPr/>
          </a:p>
        </p:txBody>
      </p:sp>
      <p:sp>
        <p:nvSpPr>
          <p:cNvPr id="3882" name="Google Shape;3882;p2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883" name="Google Shape;3883;p2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3884" name="Google Shape;3884;p2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5" name="Google Shape;3885;p2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886" name="Google Shape;3886;p2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887" name="Google Shape;3887;p2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888" name="Google Shape;3888;p2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889" name="Google Shape;3889;p2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890" name="Google Shape;3890;p2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891" name="Google Shape;3891;p2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892" name="Google Shape;3892;p2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893" name="Google Shape;3893;p2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894" name="Google Shape;3894;p2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895" name="Google Shape;3895;p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896" name="Google Shape;3896;p2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897" name="Google Shape;3897;p2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898" name="Google Shape;3898;p2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899" name="Google Shape;3899;p2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00" name="Google Shape;3900;p2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107</a:t>
            </a:r>
            <a:endParaRPr/>
          </a:p>
        </p:txBody>
      </p:sp>
      <p:sp>
        <p:nvSpPr>
          <p:cNvPr id="3901" name="Google Shape;3901;p2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3902" name="Google Shape;3902;p2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3903" name="Google Shape;3903;p2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904" name="Google Shape;3904;p2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111</a:t>
            </a:r>
            <a:endParaRPr/>
          </a:p>
        </p:txBody>
      </p:sp>
      <p:sp>
        <p:nvSpPr>
          <p:cNvPr id="3905" name="Google Shape;3905;p2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3906" name="Google Shape;3906;p2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110</a:t>
            </a:r>
            <a:endParaRPr/>
          </a:p>
        </p:txBody>
      </p:sp>
      <p:sp>
        <p:nvSpPr>
          <p:cNvPr id="3907" name="Google Shape;3907;p2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</a:t>
            </a:r>
            <a:endParaRPr/>
          </a:p>
        </p:txBody>
      </p:sp>
      <p:sp>
        <p:nvSpPr>
          <p:cNvPr id="3908" name="Google Shape;3908;p2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3909" name="Google Shape;3909;p2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3910" name="Google Shape;3910;p2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509</a:t>
            </a:r>
            <a:endParaRPr/>
          </a:p>
        </p:txBody>
      </p:sp>
      <p:sp>
        <p:nvSpPr>
          <p:cNvPr id="3911" name="Google Shape;3911;p2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331</a:t>
            </a:r>
            <a:endParaRPr/>
          </a:p>
        </p:txBody>
      </p:sp>
      <p:sp>
        <p:nvSpPr>
          <p:cNvPr id="3912" name="Google Shape;3912;p2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913" name="Google Shape;3913;p2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$53K</a:t>
            </a:r>
            <a:endParaRPr/>
          </a:p>
        </p:txBody>
      </p:sp>
      <p:sp>
        <p:nvSpPr>
          <p:cNvPr id="3914" name="Google Shape;3914;p2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3915" name="Google Shape;3915;p2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$187K</a:t>
            </a:r>
            <a:endParaRPr/>
          </a:p>
        </p:txBody>
      </p:sp>
      <p:sp>
        <p:nvSpPr>
          <p:cNvPr id="3916" name="Google Shape;3916;p2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3917" name="Google Shape;3917;p2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3918" name="Google Shape;3918;p2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$-59,250</a:t>
            </a:r>
            <a:endParaRPr/>
          </a:p>
        </p:txBody>
      </p:sp>
      <p:sp>
        <p:nvSpPr>
          <p:cNvPr id="3919" name="Google Shape;3919;p2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$213K</a:t>
            </a:r>
            <a:endParaRPr/>
          </a:p>
        </p:txBody>
      </p:sp>
      <p:sp>
        <p:nvSpPr>
          <p:cNvPr id="3920" name="Google Shape;3920;p2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$235K</a:t>
            </a:r>
            <a:endParaRPr/>
          </a:p>
        </p:txBody>
      </p:sp>
      <p:sp>
        <p:nvSpPr>
          <p:cNvPr id="3921" name="Google Shape;3921;p2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$120K</a:t>
            </a:r>
            <a:endParaRPr/>
          </a:p>
        </p:txBody>
      </p:sp>
      <p:sp>
        <p:nvSpPr>
          <p:cNvPr id="3922" name="Google Shape;3922;p2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$440</a:t>
            </a:r>
            <a:endParaRPr/>
          </a:p>
        </p:txBody>
      </p:sp>
      <p:sp>
        <p:nvSpPr>
          <p:cNvPr id="3923" name="Google Shape;3923;p2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$632K</a:t>
            </a:r>
            <a:endParaRPr/>
          </a:p>
        </p:txBody>
      </p:sp>
      <p:sp>
        <p:nvSpPr>
          <p:cNvPr id="3924" name="Google Shape;3924;p2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$194K</a:t>
            </a:r>
            <a:endParaRPr/>
          </a:p>
        </p:txBody>
      </p:sp>
      <p:sp>
        <p:nvSpPr>
          <p:cNvPr id="3925" name="Google Shape;3925;p2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6" name="Google Shape;3926;p2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927" name="Google Shape;3927;p2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28" name="Google Shape;3928;p2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$194,350 YTD gross written premium</a:t>
            </a:r>
            <a:endParaRPr/>
          </a:p>
        </p:txBody>
      </p:sp>
      <p:sp>
        <p:nvSpPr>
          <p:cNvPr id="3929" name="Google Shape;3929;p2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30" name="Google Shape;3930;p2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$185,109 in new business production</a:t>
            </a:r>
            <a:endParaRPr/>
          </a:p>
        </p:txBody>
      </p:sp>
      <p:sp>
        <p:nvSpPr>
          <p:cNvPr id="3931" name="Google Shape;3931;p2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2" name="Google Shape;3932;p2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933" name="Google Shape;3933;p2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34" name="Google Shape;3934;p2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1.9% hit ratio on 312 subs - needs coaching</a:t>
            </a:r>
            <a:endParaRPr/>
          </a:p>
        </p:txBody>
      </p:sp>
      <p:sp>
        <p:nvSpPr>
          <p:cNvPr id="3935" name="Google Shape;3935;p2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36" name="Google Shape;3936;p2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3937" name="Google Shape;3937;p2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8" name="Google Shape;3938;p2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939" name="Google Shape;3939;p2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940" name="Google Shape;3940;p2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(312 subs, only 6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941" name="Google Shape;3941;p2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942" name="Google Shape;3942;p2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$185,109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46" name="Shape 3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7" name="Google Shape;3947;p2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8" name="Google Shape;3948;p2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Grant Line Insurance Agency, Inc.</a:t>
            </a:r>
            <a:endParaRPr/>
          </a:p>
        </p:txBody>
      </p:sp>
      <p:sp>
        <p:nvSpPr>
          <p:cNvPr id="3949" name="Google Shape;3949;p2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Pacific Northwest  |  State: CA  |  City: Tracy</a:t>
            </a:r>
            <a:endParaRPr/>
          </a:p>
        </p:txBody>
      </p:sp>
      <p:sp>
        <p:nvSpPr>
          <p:cNvPr id="3950" name="Google Shape;3950;p2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$192,358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951" name="Google Shape;3951;p2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$164,646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52" name="Google Shape;3952;p2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953" name="Google Shape;3953;p2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$27,712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54" name="Google Shape;3954;p2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$-56,053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55" name="Google Shape;3955;p2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$375,490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956" name="Google Shape;3956;p2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$486,748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957" name="Google Shape;3957;p2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958" name="Google Shape;3958;p2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59" name="Google Shape;3959;p2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960" name="Google Shape;3960;p2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961" name="Google Shape;3961;p2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962" name="Google Shape;3962;p2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$162,391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963" name="Google Shape;3963;p2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4" name="Google Shape;3964;p2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965" name="Google Shape;3965;p2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966" name="Google Shape;3966;p2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967" name="Google Shape;3967;p2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68" name="Google Shape;3968;p2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969" name="Google Shape;3969;p2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70" name="Google Shape;3970;p2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71" name="Google Shape;3971;p2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2" name="Google Shape;3972;p2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973" name="Google Shape;3973;p2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$138,127</a:t>
            </a:r>
            <a:endParaRPr/>
          </a:p>
        </p:txBody>
      </p:sp>
      <p:sp>
        <p:nvSpPr>
          <p:cNvPr id="3974" name="Google Shape;3974;p2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$100,027</a:t>
            </a:r>
            <a:endParaRPr/>
          </a:p>
        </p:txBody>
      </p:sp>
      <p:sp>
        <p:nvSpPr>
          <p:cNvPr id="3975" name="Google Shape;3975;p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76" name="Google Shape;3976;p2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$38,100</a:t>
            </a:r>
            <a:endParaRPr/>
          </a:p>
        </p:txBody>
      </p:sp>
      <p:sp>
        <p:nvSpPr>
          <p:cNvPr id="3977" name="Google Shape;3977;p2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$-21,312</a:t>
            </a:r>
            <a:endParaRPr/>
          </a:p>
        </p:txBody>
      </p:sp>
      <p:sp>
        <p:nvSpPr>
          <p:cNvPr id="3978" name="Google Shape;3978;p2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9" name="Google Shape;3979;p2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980" name="Google Shape;3980;p2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$33,887</a:t>
            </a:r>
            <a:endParaRPr/>
          </a:p>
        </p:txBody>
      </p:sp>
      <p:sp>
        <p:nvSpPr>
          <p:cNvPr id="3981" name="Google Shape;3981;p2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$20,548</a:t>
            </a:r>
            <a:endParaRPr/>
          </a:p>
        </p:txBody>
      </p:sp>
      <p:sp>
        <p:nvSpPr>
          <p:cNvPr id="3982" name="Google Shape;3982;p2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3" name="Google Shape;3983;p2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$13,339</a:t>
            </a:r>
            <a:endParaRPr/>
          </a:p>
        </p:txBody>
      </p:sp>
      <p:sp>
        <p:nvSpPr>
          <p:cNvPr id="3984" name="Google Shape;3984;p2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5" name="Google Shape;3985;p2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6" name="Google Shape;3986;p2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987" name="Google Shape;3987;p2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$15,397</a:t>
            </a:r>
            <a:endParaRPr/>
          </a:p>
        </p:txBody>
      </p:sp>
      <p:sp>
        <p:nvSpPr>
          <p:cNvPr id="3988" name="Google Shape;3988;p2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$21,428</a:t>
            </a:r>
            <a:endParaRPr/>
          </a:p>
        </p:txBody>
      </p:sp>
      <p:sp>
        <p:nvSpPr>
          <p:cNvPr id="3989" name="Google Shape;3989;p2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0" name="Google Shape;3990;p2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$-6,031</a:t>
            </a:r>
            <a:endParaRPr/>
          </a:p>
        </p:txBody>
      </p:sp>
      <p:sp>
        <p:nvSpPr>
          <p:cNvPr id="3991" name="Google Shape;3991;p2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$-18,246</a:t>
            </a:r>
            <a:endParaRPr/>
          </a:p>
        </p:txBody>
      </p:sp>
      <p:sp>
        <p:nvSpPr>
          <p:cNvPr id="3992" name="Google Shape;3992;p2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3" name="Google Shape;3993;p2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994" name="Google Shape;3994;p2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$4,948</a:t>
            </a:r>
            <a:endParaRPr/>
          </a:p>
        </p:txBody>
      </p:sp>
      <p:sp>
        <p:nvSpPr>
          <p:cNvPr id="3995" name="Google Shape;3995;p2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$22,644</a:t>
            </a:r>
            <a:endParaRPr/>
          </a:p>
        </p:txBody>
      </p:sp>
      <p:sp>
        <p:nvSpPr>
          <p:cNvPr id="3996" name="Google Shape;3996;p2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7" name="Google Shape;3997;p2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$-17,696</a:t>
            </a:r>
            <a:endParaRPr/>
          </a:p>
        </p:txBody>
      </p:sp>
      <p:sp>
        <p:nvSpPr>
          <p:cNvPr id="3998" name="Google Shape;3998;p2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$-16,494</a:t>
            </a:r>
            <a:endParaRPr/>
          </a:p>
        </p:txBody>
      </p:sp>
      <p:sp>
        <p:nvSpPr>
          <p:cNvPr id="3999" name="Google Shape;3999;p2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0" name="Google Shape;4000;p2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01" name="Google Shape;4001;p2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2" name="Google Shape;4002;p2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3" name="Google Shape;4003;p2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4" name="Google Shape;4004;p2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5" name="Google Shape;4005;p2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6" name="Google Shape;4006;p2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7" name="Google Shape;4007;p2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08" name="Google Shape;4008;p2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$192,358</a:t>
            </a:r>
            <a:endParaRPr/>
          </a:p>
        </p:txBody>
      </p:sp>
      <p:sp>
        <p:nvSpPr>
          <p:cNvPr id="4009" name="Google Shape;4009;p2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$164,646</a:t>
            </a:r>
            <a:endParaRPr/>
          </a:p>
        </p:txBody>
      </p:sp>
      <p:sp>
        <p:nvSpPr>
          <p:cNvPr id="4010" name="Google Shape;4010;p2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1" name="Google Shape;4011;p2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$27,712</a:t>
            </a:r>
            <a:endParaRPr/>
          </a:p>
        </p:txBody>
      </p:sp>
      <p:sp>
        <p:nvSpPr>
          <p:cNvPr id="4012" name="Google Shape;4012;p2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$-56,053</a:t>
            </a:r>
            <a:endParaRPr/>
          </a:p>
        </p:txBody>
      </p:sp>
      <p:sp>
        <p:nvSpPr>
          <p:cNvPr id="4013" name="Google Shape;4013;p2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4" name="Google Shape;4014;p2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015" name="Google Shape;4015;p2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16" name="Google Shape;4016;p2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017" name="Google Shape;4017;p2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018" name="Google Shape;4018;p2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019" name="Google Shape;4019;p2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020" name="Google Shape;4020;p2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021" name="Google Shape;4021;p2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2" name="Google Shape;4022;p2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23" name="Google Shape;4023;p2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4024" name="Google Shape;4024;p2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25" name="Google Shape;4025;p2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026" name="Google Shape;4026;p2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27" name="Google Shape;4027;p2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13.6%</a:t>
            </a:r>
            <a:endParaRPr/>
          </a:p>
        </p:txBody>
      </p:sp>
      <p:sp>
        <p:nvSpPr>
          <p:cNvPr id="4028" name="Google Shape;4028;p2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9" name="Google Shape;4029;p2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030" name="Google Shape;4030;p2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031" name="Google Shape;4031;p2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32" name="Google Shape;4032;p2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033" name="Google Shape;4033;p2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34" name="Google Shape;4034;p2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4035" name="Google Shape;4035;p2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6" name="Google Shape;4036;p2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37" name="Google Shape;4037;p2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038" name="Google Shape;4038;p2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039" name="Google Shape;4039;p2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040" name="Google Shape;4040;p2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41" name="Google Shape;4041;p2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4042" name="Google Shape;4042;p2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3" name="Google Shape;4043;p2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44" name="Google Shape;4044;p2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045" name="Google Shape;4045;p2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046" name="Google Shape;4046;p2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047" name="Google Shape;4047;p2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48" name="Google Shape;4048;p2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4049" name="Google Shape;4049;p2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0" name="Google Shape;4050;p2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51" name="Google Shape;4051;p2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052" name="Google Shape;4052;p2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53" name="Google Shape;4053;p2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054" name="Google Shape;4054;p2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55" name="Google Shape;4055;p2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56" name="Google Shape;4056;p2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7" name="Google Shape;4057;p2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58" name="Google Shape;4058;p2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4059" name="Google Shape;4059;p2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060" name="Google Shape;4060;p2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4061" name="Google Shape;4061;p2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062" name="Google Shape;4062;p2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4063" name="Google Shape;4063;p2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4" name="Google Shape;4064;p2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065" name="Google Shape;4065;p2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66" name="Google Shape;4066;p2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067" name="Google Shape;4067;p2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068" name="Google Shape;4068;p2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069" name="Google Shape;4069;p2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070" name="Google Shape;4070;p2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071" name="Google Shape;4071;p2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072" name="Google Shape;4072;p2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073" name="Google Shape;4073;p2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074" name="Google Shape;4074;p2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075" name="Google Shape;4075;p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076" name="Google Shape;4076;p2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077" name="Google Shape;4077;p2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078" name="Google Shape;4078;p2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079" name="Google Shape;4079;p2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080" name="Google Shape;4080;p2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4081" name="Google Shape;4081;p2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082" name="Google Shape;4082;p2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083" name="Google Shape;4083;p2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084" name="Google Shape;4084;p2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085" name="Google Shape;4085;p2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86" name="Google Shape;4086;p2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087" name="Google Shape;4087;p2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088" name="Google Shape;4088;p2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089" name="Google Shape;4089;p2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090" name="Google Shape;4090;p2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</a:t>
            </a:r>
            <a:endParaRPr/>
          </a:p>
        </p:txBody>
      </p:sp>
      <p:sp>
        <p:nvSpPr>
          <p:cNvPr id="4091" name="Google Shape;4091;p2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092" name="Google Shape;4092;p2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93" name="Google Shape;4093;p2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$138K</a:t>
            </a:r>
            <a:endParaRPr/>
          </a:p>
        </p:txBody>
      </p:sp>
      <p:sp>
        <p:nvSpPr>
          <p:cNvPr id="4094" name="Google Shape;4094;p2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$81K</a:t>
            </a:r>
            <a:endParaRPr/>
          </a:p>
        </p:txBody>
      </p:sp>
      <p:sp>
        <p:nvSpPr>
          <p:cNvPr id="4095" name="Google Shape;4095;p2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$34K</a:t>
            </a:r>
            <a:endParaRPr/>
          </a:p>
        </p:txBody>
      </p:sp>
      <p:sp>
        <p:nvSpPr>
          <p:cNvPr id="4096" name="Google Shape;4096;p2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97" name="Google Shape;4097;p2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4098" name="Google Shape;4098;p2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99" name="Google Shape;4099;p2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4100" name="Google Shape;4100;p2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01" name="Google Shape;4101;p2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02" name="Google Shape;4102;p2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$81K</a:t>
            </a:r>
            <a:endParaRPr/>
          </a:p>
        </p:txBody>
      </p:sp>
      <p:sp>
        <p:nvSpPr>
          <p:cNvPr id="4103" name="Google Shape;4103;p2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$192K</a:t>
            </a:r>
            <a:endParaRPr/>
          </a:p>
        </p:txBody>
      </p:sp>
      <p:sp>
        <p:nvSpPr>
          <p:cNvPr id="4104" name="Google Shape;4104;p2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5" name="Google Shape;4105;p2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106" name="Google Shape;4106;p2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107" name="Google Shape;4107;p2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$192,358 YTD gross written premium</a:t>
            </a:r>
            <a:endParaRPr/>
          </a:p>
        </p:txBody>
      </p:sp>
      <p:sp>
        <p:nvSpPr>
          <p:cNvPr id="4108" name="Google Shape;4108;p2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109" name="Google Shape;4109;p2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$164,646 in new business production</a:t>
            </a:r>
            <a:endParaRPr/>
          </a:p>
        </p:txBody>
      </p:sp>
      <p:sp>
        <p:nvSpPr>
          <p:cNvPr id="4110" name="Google Shape;4110;p2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1" name="Google Shape;4111;p2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112" name="Google Shape;4112;p2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113" name="Google Shape;4113;p2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68% month-over-month</a:t>
            </a:r>
            <a:endParaRPr/>
          </a:p>
        </p:txBody>
      </p:sp>
      <p:sp>
        <p:nvSpPr>
          <p:cNvPr id="4114" name="Google Shape;4114;p2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115" name="Google Shape;4115;p2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31 to 11 MoM</a:t>
            </a:r>
            <a:endParaRPr/>
          </a:p>
        </p:txBody>
      </p:sp>
      <p:sp>
        <p:nvSpPr>
          <p:cNvPr id="4116" name="Google Shape;4116;p2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7" name="Google Shape;4117;p2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118" name="Google Shape;4118;p2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119" name="Google Shape;4119;p2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$164,646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120" name="Google Shape;4120;p2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121" name="Google Shape;4121;p2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$56,053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25" name="Shape 4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6" name="Google Shape;4126;p3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7" name="Google Shape;4127;p3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Soho Insurance Brokerage, Inc.</a:t>
            </a:r>
            <a:endParaRPr/>
          </a:p>
        </p:txBody>
      </p:sp>
      <p:sp>
        <p:nvSpPr>
          <p:cNvPr id="4128" name="Google Shape;4128;p3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Pacific Northwest  |  State: CA  |  City: Dublin</a:t>
            </a:r>
            <a:endParaRPr/>
          </a:p>
        </p:txBody>
      </p:sp>
      <p:sp>
        <p:nvSpPr>
          <p:cNvPr id="4129" name="Google Shape;4129;p3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$183,854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130" name="Google Shape;4130;p3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$71,427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31" name="Google Shape;4131;p3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32" name="Google Shape;4132;p3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$112,427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33" name="Google Shape;4133;p3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$-86,414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34" name="Google Shape;4134;p3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$216,667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135" name="Google Shape;4135;p3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$325,982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136" name="Google Shape;4136;p3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137" name="Google Shape;4137;p3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138" name="Google Shape;4138;p3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39" name="Google Shape;4139;p3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40" name="Google Shape;4140;p3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$97,277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141" name="Google Shape;4141;p3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142" name="Google Shape;4142;p3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3" name="Google Shape;4143;p3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144" name="Google Shape;4144;p3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45" name="Google Shape;4145;p3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146" name="Google Shape;4146;p3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47" name="Google Shape;4147;p3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48" name="Google Shape;4148;p3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49" name="Google Shape;4149;p3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50" name="Google Shape;4150;p3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1" name="Google Shape;4151;p3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152" name="Google Shape;4152;p3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3" name="Google Shape;4153;p3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4" name="Google Shape;4154;p3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5" name="Google Shape;4155;p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6" name="Google Shape;4156;p3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7" name="Google Shape;4157;p3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8" name="Google Shape;4158;p3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59" name="Google Shape;4159;p3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$82,699</a:t>
            </a:r>
            <a:endParaRPr/>
          </a:p>
        </p:txBody>
      </p:sp>
      <p:sp>
        <p:nvSpPr>
          <p:cNvPr id="4160" name="Google Shape;4160;p3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$71,427</a:t>
            </a:r>
            <a:endParaRPr/>
          </a:p>
        </p:txBody>
      </p:sp>
      <p:sp>
        <p:nvSpPr>
          <p:cNvPr id="4161" name="Google Shape;4161;p3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2" name="Google Shape;4162;p3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$11,272</a:t>
            </a:r>
            <a:endParaRPr/>
          </a:p>
        </p:txBody>
      </p:sp>
      <p:sp>
        <p:nvSpPr>
          <p:cNvPr id="4163" name="Google Shape;4163;p3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4" name="Google Shape;4164;p3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5" name="Google Shape;4165;p3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166" name="Google Shape;4166;p3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$102,416</a:t>
            </a:r>
            <a:endParaRPr/>
          </a:p>
        </p:txBody>
      </p:sp>
      <p:sp>
        <p:nvSpPr>
          <p:cNvPr id="4167" name="Google Shape;4167;p3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8" name="Google Shape;4168;p3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9" name="Google Shape;4169;p3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$102,416</a:t>
            </a:r>
            <a:endParaRPr/>
          </a:p>
        </p:txBody>
      </p:sp>
      <p:sp>
        <p:nvSpPr>
          <p:cNvPr id="4170" name="Google Shape;4170;p3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$-86,414</a:t>
            </a:r>
            <a:endParaRPr/>
          </a:p>
        </p:txBody>
      </p:sp>
      <p:sp>
        <p:nvSpPr>
          <p:cNvPr id="4171" name="Google Shape;4171;p3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2" name="Google Shape;4172;p3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173" name="Google Shape;4173;p3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$-1,261</a:t>
            </a:r>
            <a:endParaRPr/>
          </a:p>
        </p:txBody>
      </p:sp>
      <p:sp>
        <p:nvSpPr>
          <p:cNvPr id="4174" name="Google Shape;4174;p3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5" name="Google Shape;4175;p3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6" name="Google Shape;4176;p3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$-1,261</a:t>
            </a:r>
            <a:endParaRPr/>
          </a:p>
        </p:txBody>
      </p:sp>
      <p:sp>
        <p:nvSpPr>
          <p:cNvPr id="4177" name="Google Shape;4177;p3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8" name="Google Shape;4178;p3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9" name="Google Shape;4179;p3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180" name="Google Shape;4180;p3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1" name="Google Shape;4181;p3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2" name="Google Shape;4182;p3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3" name="Google Shape;4183;p3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4" name="Google Shape;4184;p3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5" name="Google Shape;4185;p3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6" name="Google Shape;4186;p3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187" name="Google Shape;4187;p3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$183,854</a:t>
            </a:r>
            <a:endParaRPr/>
          </a:p>
        </p:txBody>
      </p:sp>
      <p:sp>
        <p:nvSpPr>
          <p:cNvPr id="4188" name="Google Shape;4188;p3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$71,427</a:t>
            </a:r>
            <a:endParaRPr/>
          </a:p>
        </p:txBody>
      </p:sp>
      <p:sp>
        <p:nvSpPr>
          <p:cNvPr id="4189" name="Google Shape;4189;p3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90" name="Google Shape;4190;p3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$112,427</a:t>
            </a:r>
            <a:endParaRPr/>
          </a:p>
        </p:txBody>
      </p:sp>
      <p:sp>
        <p:nvSpPr>
          <p:cNvPr id="4191" name="Google Shape;4191;p3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$-86,414</a:t>
            </a:r>
            <a:endParaRPr/>
          </a:p>
        </p:txBody>
      </p:sp>
      <p:sp>
        <p:nvSpPr>
          <p:cNvPr id="4192" name="Google Shape;4192;p3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3" name="Google Shape;4193;p3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194" name="Google Shape;4194;p3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95" name="Google Shape;4195;p3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196" name="Google Shape;4196;p3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197" name="Google Shape;4197;p3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198" name="Google Shape;4198;p3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99" name="Google Shape;4199;p3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200" name="Google Shape;4200;p3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1" name="Google Shape;4201;p3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202" name="Google Shape;4202;p3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03" name="Google Shape;4203;p3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04" name="Google Shape;4204;p3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05" name="Google Shape;4205;p3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06" name="Google Shape;4206;p3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07" name="Google Shape;4207;p3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8" name="Google Shape;4208;p3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209" name="Google Shape;4209;p3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210" name="Google Shape;4210;p3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11" name="Google Shape;4211;p3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212" name="Google Shape;4212;p3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13" name="Google Shape;4213;p3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4214" name="Google Shape;4214;p3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5" name="Google Shape;4215;p3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216" name="Google Shape;4216;p3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17" name="Google Shape;4217;p3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18" name="Google Shape;4218;p3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19" name="Google Shape;4219;p3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20" name="Google Shape;4220;p3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4221" name="Google Shape;4221;p3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2" name="Google Shape;4222;p3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23" name="Google Shape;4223;p3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224" name="Google Shape;4224;p3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25" name="Google Shape;4225;p3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26" name="Google Shape;4226;p3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27" name="Google Shape;4227;p3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4228" name="Google Shape;4228;p3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9" name="Google Shape;4229;p3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30" name="Google Shape;4230;p3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31" name="Google Shape;4231;p3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32" name="Google Shape;4232;p3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33" name="Google Shape;4233;p3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34" name="Google Shape;4234;p3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4235" name="Google Shape;4235;p3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6" name="Google Shape;4236;p3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37" name="Google Shape;4237;p3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238" name="Google Shape;4238;p3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239" name="Google Shape;4239;p3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240" name="Google Shape;4240;p3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41" name="Google Shape;4241;p3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4242" name="Google Shape;4242;p3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3" name="Google Shape;4243;p3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244" name="Google Shape;4244;p3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245" name="Google Shape;4245;p3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246" name="Google Shape;4246;p3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247" name="Google Shape;4247;p3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248" name="Google Shape;4248;p3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249" name="Google Shape;4249;p3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250" name="Google Shape;4250;p3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251" name="Google Shape;4251;p3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252" name="Google Shape;4252;p3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253" name="Google Shape;4253;p3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254" name="Google Shape;4254;p3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255" name="Google Shape;4255;p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256" name="Google Shape;4256;p3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257" name="Google Shape;4257;p3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258" name="Google Shape;4258;p3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259" name="Google Shape;4259;p3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60" name="Google Shape;4260;p3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261" name="Google Shape;4261;p3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262" name="Google Shape;4262;p3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263" name="Google Shape;4263;p3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64" name="Google Shape;4264;p3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265" name="Google Shape;4265;p3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266" name="Google Shape;4266;p3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67" name="Google Shape;4267;p3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68" name="Google Shape;4268;p3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269" name="Google Shape;4269;p3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4270" name="Google Shape;4270;p3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271" name="Google Shape;4271;p3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72" name="Google Shape;4272;p3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73" name="Google Shape;4273;p3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$826</a:t>
            </a:r>
            <a:endParaRPr/>
          </a:p>
        </p:txBody>
      </p:sp>
      <p:sp>
        <p:nvSpPr>
          <p:cNvPr id="4274" name="Google Shape;4274;p3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$83K</a:t>
            </a:r>
            <a:endParaRPr/>
          </a:p>
        </p:txBody>
      </p:sp>
      <p:sp>
        <p:nvSpPr>
          <p:cNvPr id="4275" name="Google Shape;4275;p3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$40K</a:t>
            </a:r>
            <a:endParaRPr/>
          </a:p>
        </p:txBody>
      </p:sp>
      <p:sp>
        <p:nvSpPr>
          <p:cNvPr id="4276" name="Google Shape;4276;p3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$102K</a:t>
            </a:r>
            <a:endParaRPr/>
          </a:p>
        </p:txBody>
      </p:sp>
      <p:sp>
        <p:nvSpPr>
          <p:cNvPr id="4277" name="Google Shape;4277;p3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4278" name="Google Shape;4278;p3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$-1,261</a:t>
            </a:r>
            <a:endParaRPr/>
          </a:p>
        </p:txBody>
      </p:sp>
      <p:sp>
        <p:nvSpPr>
          <p:cNvPr id="4279" name="Google Shape;4279;p3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80" name="Google Shape;4280;p3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81" name="Google Shape;4281;p3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$75K</a:t>
            </a:r>
            <a:endParaRPr/>
          </a:p>
        </p:txBody>
      </p:sp>
      <p:sp>
        <p:nvSpPr>
          <p:cNvPr id="4282" name="Google Shape;4282;p3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$184K</a:t>
            </a:r>
            <a:endParaRPr/>
          </a:p>
        </p:txBody>
      </p:sp>
      <p:sp>
        <p:nvSpPr>
          <p:cNvPr id="4283" name="Google Shape;4283;p3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4" name="Google Shape;4284;p3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285" name="Google Shape;4285;p3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286" name="Google Shape;4286;p3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$183,854 YTD gross written premium</a:t>
            </a:r>
            <a:endParaRPr/>
          </a:p>
        </p:txBody>
      </p:sp>
      <p:sp>
        <p:nvSpPr>
          <p:cNvPr id="4287" name="Google Shape;4287;p3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288" name="Google Shape;4288;p3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$71,427 in new business production</a:t>
            </a:r>
            <a:endParaRPr/>
          </a:p>
        </p:txBody>
      </p:sp>
      <p:sp>
        <p:nvSpPr>
          <p:cNvPr id="4289" name="Google Shape;4289;p3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0" name="Google Shape;4290;p3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291" name="Google Shape;4291;p3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292" name="Google Shape;4292;p3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121% of new business ($86,414)</a:t>
            </a:r>
            <a:endParaRPr/>
          </a:p>
        </p:txBody>
      </p:sp>
      <p:sp>
        <p:nvSpPr>
          <p:cNvPr id="4293" name="Google Shape;4293;p3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294" name="Google Shape;4294;p3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101% month-over-month</a:t>
            </a:r>
            <a:endParaRPr/>
          </a:p>
        </p:txBody>
      </p:sp>
      <p:sp>
        <p:nvSpPr>
          <p:cNvPr id="4295" name="Google Shape;4295;p3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6" name="Google Shape;4296;p3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297" name="Google Shape;4297;p3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298" name="Google Shape;4298;p3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$71,427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299" name="Google Shape;4299;p3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300" name="Google Shape;4300;p3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$86,414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04" name="Shape 4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5" name="Google Shape;4305;p3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6" name="Google Shape;4306;p3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Key Insurance</a:t>
            </a:r>
            <a:endParaRPr/>
          </a:p>
        </p:txBody>
      </p:sp>
      <p:sp>
        <p:nvSpPr>
          <p:cNvPr id="4307" name="Google Shape;4307;p3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Pacific Northwest  |  State: WA  |  City: Kent</a:t>
            </a:r>
            <a:endParaRPr/>
          </a:p>
        </p:txBody>
      </p:sp>
      <p:sp>
        <p:nvSpPr>
          <p:cNvPr id="4308" name="Google Shape;4308;p3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$134,310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309" name="Google Shape;4309;p3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$93,992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10" name="Google Shape;4310;p3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11" name="Google Shape;4311;p3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$40,318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12" name="Google Shape;4312;p3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$-141,425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13" name="Google Shape;4313;p3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314" name="Google Shape;4314;p3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$134,310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315" name="Google Shape;4315;p3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316" name="Google Shape;4316;p3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317" name="Google Shape;4317;p3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18" name="Google Shape;4318;p3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19" name="Google Shape;4319;p3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$93,992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320" name="Google Shape;4320;p3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$226,633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321" name="Google Shape;4321;p3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2" name="Google Shape;4322;p3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323" name="Google Shape;4323;p3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24" name="Google Shape;4324;p3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325" name="Google Shape;4325;p3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26" name="Google Shape;4326;p3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27" name="Google Shape;4327;p3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28" name="Google Shape;4328;p3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29" name="Google Shape;4329;p3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0" name="Google Shape;4330;p3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31" name="Google Shape;4331;p3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$79,917</a:t>
            </a:r>
            <a:endParaRPr/>
          </a:p>
        </p:txBody>
      </p:sp>
      <p:sp>
        <p:nvSpPr>
          <p:cNvPr id="4332" name="Google Shape;4332;p3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$93,992</a:t>
            </a:r>
            <a:endParaRPr/>
          </a:p>
        </p:txBody>
      </p:sp>
      <p:sp>
        <p:nvSpPr>
          <p:cNvPr id="4333" name="Google Shape;4333;p3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4" name="Google Shape;4334;p3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$-14,075</a:t>
            </a:r>
            <a:endParaRPr/>
          </a:p>
        </p:txBody>
      </p:sp>
      <p:sp>
        <p:nvSpPr>
          <p:cNvPr id="4335" name="Google Shape;4335;p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6" name="Google Shape;4336;p3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7" name="Google Shape;4337;p3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38" name="Google Shape;4338;p3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$22,898</a:t>
            </a:r>
            <a:endParaRPr/>
          </a:p>
        </p:txBody>
      </p:sp>
      <p:sp>
        <p:nvSpPr>
          <p:cNvPr id="4339" name="Google Shape;4339;p3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0" name="Google Shape;4340;p3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1" name="Google Shape;4341;p3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$22,898</a:t>
            </a:r>
            <a:endParaRPr/>
          </a:p>
        </p:txBody>
      </p:sp>
      <p:sp>
        <p:nvSpPr>
          <p:cNvPr id="4342" name="Google Shape;4342;p3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$-15,081</a:t>
            </a:r>
            <a:endParaRPr/>
          </a:p>
        </p:txBody>
      </p:sp>
      <p:sp>
        <p:nvSpPr>
          <p:cNvPr id="4343" name="Google Shape;4343;p3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4" name="Google Shape;4344;p3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45" name="Google Shape;4345;p3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$13,104</a:t>
            </a:r>
            <a:endParaRPr/>
          </a:p>
        </p:txBody>
      </p:sp>
      <p:sp>
        <p:nvSpPr>
          <p:cNvPr id="4346" name="Google Shape;4346;p3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7" name="Google Shape;4347;p3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8" name="Google Shape;4348;p3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$13,104</a:t>
            </a:r>
            <a:endParaRPr/>
          </a:p>
        </p:txBody>
      </p:sp>
      <p:sp>
        <p:nvSpPr>
          <p:cNvPr id="4349" name="Google Shape;4349;p3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$-102,949</a:t>
            </a:r>
            <a:endParaRPr/>
          </a:p>
        </p:txBody>
      </p:sp>
      <p:sp>
        <p:nvSpPr>
          <p:cNvPr id="4350" name="Google Shape;4350;p3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1" name="Google Shape;4351;p3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352" name="Google Shape;4352;p3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</a:t>
            </a:r>
            <a:endParaRPr/>
          </a:p>
        </p:txBody>
      </p:sp>
      <p:sp>
        <p:nvSpPr>
          <p:cNvPr id="4353" name="Google Shape;4353;p3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4" name="Google Shape;4354;p3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5" name="Google Shape;4355;p3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</a:t>
            </a:r>
            <a:endParaRPr/>
          </a:p>
        </p:txBody>
      </p:sp>
      <p:sp>
        <p:nvSpPr>
          <p:cNvPr id="4356" name="Google Shape;4356;p3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7" name="Google Shape;4357;p3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8" name="Google Shape;4358;p3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359" name="Google Shape;4359;p3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$18,442</a:t>
            </a:r>
            <a:endParaRPr/>
          </a:p>
        </p:txBody>
      </p:sp>
      <p:sp>
        <p:nvSpPr>
          <p:cNvPr id="4360" name="Google Shape;4360;p3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1" name="Google Shape;4361;p3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2" name="Google Shape;4362;p3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$18,442</a:t>
            </a:r>
            <a:endParaRPr/>
          </a:p>
        </p:txBody>
      </p:sp>
      <p:sp>
        <p:nvSpPr>
          <p:cNvPr id="4363" name="Google Shape;4363;p3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$-23,395</a:t>
            </a:r>
            <a:endParaRPr/>
          </a:p>
        </p:txBody>
      </p:sp>
      <p:sp>
        <p:nvSpPr>
          <p:cNvPr id="4364" name="Google Shape;4364;p3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5" name="Google Shape;4365;p3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366" name="Google Shape;4366;p3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$134,310</a:t>
            </a:r>
            <a:endParaRPr/>
          </a:p>
        </p:txBody>
      </p:sp>
      <p:sp>
        <p:nvSpPr>
          <p:cNvPr id="4367" name="Google Shape;4367;p3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$93,992</a:t>
            </a:r>
            <a:endParaRPr/>
          </a:p>
        </p:txBody>
      </p:sp>
      <p:sp>
        <p:nvSpPr>
          <p:cNvPr id="4368" name="Google Shape;4368;p3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9" name="Google Shape;4369;p3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$40,318</a:t>
            </a:r>
            <a:endParaRPr/>
          </a:p>
        </p:txBody>
      </p:sp>
      <p:sp>
        <p:nvSpPr>
          <p:cNvPr id="4370" name="Google Shape;4370;p3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$-141,425</a:t>
            </a:r>
            <a:endParaRPr/>
          </a:p>
        </p:txBody>
      </p:sp>
      <p:sp>
        <p:nvSpPr>
          <p:cNvPr id="4371" name="Google Shape;4371;p3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2" name="Google Shape;4372;p3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373" name="Google Shape;4373;p3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74" name="Google Shape;4374;p3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375" name="Google Shape;4375;p3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376" name="Google Shape;4376;p3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377" name="Google Shape;4377;p3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78" name="Google Shape;4378;p3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79" name="Google Shape;4379;p3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0" name="Google Shape;4380;p3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81" name="Google Shape;4381;p3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382" name="Google Shape;4382;p3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383" name="Google Shape;4383;p3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384" name="Google Shape;4384;p3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385" name="Google Shape;4385;p3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12.0%</a:t>
            </a:r>
            <a:endParaRPr/>
          </a:p>
        </p:txBody>
      </p:sp>
      <p:sp>
        <p:nvSpPr>
          <p:cNvPr id="4386" name="Google Shape;4386;p3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7" name="Google Shape;4387;p3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88" name="Google Shape;4388;p3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389" name="Google Shape;4389;p3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90" name="Google Shape;4390;p3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391" name="Google Shape;4391;p3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392" name="Google Shape;4392;p3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4393" name="Google Shape;4393;p3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4" name="Google Shape;4394;p3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95" name="Google Shape;4395;p3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396" name="Google Shape;4396;p3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97" name="Google Shape;4397;p3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398" name="Google Shape;4398;p3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399" name="Google Shape;4399;p3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4400" name="Google Shape;4400;p3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1" name="Google Shape;4401;p3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402" name="Google Shape;4402;p3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403" name="Google Shape;4403;p3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04" name="Google Shape;4404;p3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405" name="Google Shape;4405;p3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06" name="Google Shape;4406;p3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4407" name="Google Shape;4407;p3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8" name="Google Shape;4408;p3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409" name="Google Shape;4409;p3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410" name="Google Shape;4410;p3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1" name="Google Shape;4411;p3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412" name="Google Shape;4412;p3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413" name="Google Shape;4413;p3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57.1%</a:t>
            </a:r>
            <a:endParaRPr/>
          </a:p>
        </p:txBody>
      </p:sp>
      <p:sp>
        <p:nvSpPr>
          <p:cNvPr id="4414" name="Google Shape;4414;p3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5" name="Google Shape;4415;p3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416" name="Google Shape;4416;p3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417" name="Google Shape;4417;p3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418" name="Google Shape;4418;p3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4419" name="Google Shape;4419;p3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420" name="Google Shape;4420;p3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12.8%</a:t>
            </a:r>
            <a:endParaRPr/>
          </a:p>
        </p:txBody>
      </p:sp>
      <p:sp>
        <p:nvSpPr>
          <p:cNvPr id="4421" name="Google Shape;4421;p3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2" name="Google Shape;4422;p3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423" name="Google Shape;4423;p3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424" name="Google Shape;4424;p3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425" name="Google Shape;4425;p3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426" name="Google Shape;4426;p3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427" name="Google Shape;4427;p3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428" name="Google Shape;4428;p3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429" name="Google Shape;4429;p3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430" name="Google Shape;4430;p3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431" name="Google Shape;4431;p3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432" name="Google Shape;4432;p3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433" name="Google Shape;4433;p3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434" name="Google Shape;4434;p3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435" name="Google Shape;4435;p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436" name="Google Shape;4436;p3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37" name="Google Shape;4437;p3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438" name="Google Shape;4438;p3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439" name="Google Shape;4439;p3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440" name="Google Shape;4440;p3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441" name="Google Shape;4441;p3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442" name="Google Shape;4442;p3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443" name="Google Shape;4443;p3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444" name="Google Shape;4444;p3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445" name="Google Shape;4445;p3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446" name="Google Shape;4446;p3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447" name="Google Shape;4447;p3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4448" name="Google Shape;4448;p3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4449" name="Google Shape;4449;p3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450" name="Google Shape;4450;p3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51" name="Google Shape;4451;p3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$80K</a:t>
            </a:r>
            <a:endParaRPr/>
          </a:p>
        </p:txBody>
      </p:sp>
      <p:sp>
        <p:nvSpPr>
          <p:cNvPr id="4452" name="Google Shape;4452;p3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53" name="Google Shape;4453;p3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4454" name="Google Shape;4454;p3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55" name="Google Shape;4455;p3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4456" name="Google Shape;4456;p3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57" name="Google Shape;4457;p3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</a:t>
            </a:r>
            <a:endParaRPr/>
          </a:p>
        </p:txBody>
      </p:sp>
      <p:sp>
        <p:nvSpPr>
          <p:cNvPr id="4458" name="Google Shape;4458;p3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59" name="Google Shape;4459;p3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4460" name="Google Shape;4460;p3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61" name="Google Shape;4461;p3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$134K</a:t>
            </a:r>
            <a:endParaRPr/>
          </a:p>
        </p:txBody>
      </p:sp>
      <p:sp>
        <p:nvSpPr>
          <p:cNvPr id="4462" name="Google Shape;4462;p3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3" name="Google Shape;4463;p3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464" name="Google Shape;4464;p3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65" name="Google Shape;4465;p3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$134,310 YTD gross written premium</a:t>
            </a:r>
            <a:endParaRPr/>
          </a:p>
        </p:txBody>
      </p:sp>
      <p:sp>
        <p:nvSpPr>
          <p:cNvPr id="4466" name="Google Shape;4466;p3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67" name="Google Shape;4467;p3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$93,992 in new business production</a:t>
            </a:r>
            <a:endParaRPr/>
          </a:p>
        </p:txBody>
      </p:sp>
      <p:sp>
        <p:nvSpPr>
          <p:cNvPr id="4468" name="Google Shape;4468;p3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9" name="Google Shape;4469;p3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470" name="Google Shape;4470;p3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471" name="Google Shape;4471;p3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150% of new business ($141,425)</a:t>
            </a:r>
            <a:endParaRPr/>
          </a:p>
        </p:txBody>
      </p:sp>
      <p:sp>
        <p:nvSpPr>
          <p:cNvPr id="4472" name="Google Shape;4472;p3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3" name="Google Shape;4473;p3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474" name="Google Shape;4474;p3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475" name="Google Shape;4475;p3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$93,992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476" name="Google Shape;4476;p3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477" name="Google Shape;4477;p3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$141,425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81" name="Shape 4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2" name="Google Shape;4482;p3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3" name="Google Shape;4483;p3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West Reliance Insurance Brokerage</a:t>
            </a:r>
            <a:endParaRPr/>
          </a:p>
        </p:txBody>
      </p:sp>
      <p:sp>
        <p:nvSpPr>
          <p:cNvPr id="4484" name="Google Shape;4484;p3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Pacific Northwest  |  State: CA  |  City: N/A</a:t>
            </a:r>
            <a:endParaRPr/>
          </a:p>
        </p:txBody>
      </p:sp>
      <p:sp>
        <p:nvSpPr>
          <p:cNvPr id="4485" name="Google Shape;4485;p3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$118,995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486" name="Google Shape;4486;p3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$119,805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487" name="Google Shape;4487;p3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488" name="Google Shape;4488;p3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489" name="Google Shape;4489;p3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490" name="Google Shape;4490;p3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$568,283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491" name="Google Shape;4491;p3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$149,966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492" name="Google Shape;4492;p3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493" name="Google Shape;4493;p3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94" name="Google Shape;4494;p3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495" name="Google Shape;4495;p3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496" name="Google Shape;4496;p3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497" name="Google Shape;4497;p3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$74,965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498" name="Google Shape;4498;p3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9" name="Google Shape;4499;p3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500" name="Google Shape;4500;p3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01" name="Google Shape;4501;p3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502" name="Google Shape;4502;p3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503" name="Google Shape;4503;p3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504" name="Google Shape;4504;p3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505" name="Google Shape;4505;p3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506" name="Google Shape;4506;p3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7" name="Google Shape;4507;p3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08" name="Google Shape;4508;p3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$42,390</a:t>
            </a:r>
            <a:endParaRPr/>
          </a:p>
        </p:txBody>
      </p:sp>
      <p:sp>
        <p:nvSpPr>
          <p:cNvPr id="4509" name="Google Shape;4509;p3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$42,390</a:t>
            </a:r>
            <a:endParaRPr/>
          </a:p>
        </p:txBody>
      </p:sp>
      <p:sp>
        <p:nvSpPr>
          <p:cNvPr id="4510" name="Google Shape;4510;p3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1" name="Google Shape;4511;p3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2" name="Google Shape;4512;p3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3" name="Google Shape;4513;p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4" name="Google Shape;4514;p3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15" name="Google Shape;4515;p3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$43,261</a:t>
            </a:r>
            <a:endParaRPr/>
          </a:p>
        </p:txBody>
      </p:sp>
      <p:sp>
        <p:nvSpPr>
          <p:cNvPr id="4516" name="Google Shape;4516;p3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$38,961</a:t>
            </a:r>
            <a:endParaRPr/>
          </a:p>
        </p:txBody>
      </p:sp>
      <p:sp>
        <p:nvSpPr>
          <p:cNvPr id="4517" name="Google Shape;4517;p3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8" name="Google Shape;4518;p3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$4,300</a:t>
            </a:r>
            <a:endParaRPr/>
          </a:p>
        </p:txBody>
      </p:sp>
      <p:sp>
        <p:nvSpPr>
          <p:cNvPr id="4519" name="Google Shape;4519;p3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0" name="Google Shape;4520;p3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1" name="Google Shape;4521;p3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22" name="Google Shape;4522;p3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$-120</a:t>
            </a:r>
            <a:endParaRPr/>
          </a:p>
        </p:txBody>
      </p:sp>
      <p:sp>
        <p:nvSpPr>
          <p:cNvPr id="4523" name="Google Shape;4523;p3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4" name="Google Shape;4524;p3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5" name="Google Shape;4525;p3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$-120</a:t>
            </a:r>
            <a:endParaRPr/>
          </a:p>
        </p:txBody>
      </p:sp>
      <p:sp>
        <p:nvSpPr>
          <p:cNvPr id="4526" name="Google Shape;4526;p3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7" name="Google Shape;4527;p3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8" name="Google Shape;4528;p3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29" name="Google Shape;4529;p3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$32,968</a:t>
            </a:r>
            <a:endParaRPr/>
          </a:p>
        </p:txBody>
      </p:sp>
      <p:sp>
        <p:nvSpPr>
          <p:cNvPr id="4530" name="Google Shape;4530;p3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$38,455</a:t>
            </a:r>
            <a:endParaRPr/>
          </a:p>
        </p:txBody>
      </p:sp>
      <p:sp>
        <p:nvSpPr>
          <p:cNvPr id="4531" name="Google Shape;4531;p3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2" name="Google Shape;4532;p3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$-5,487</a:t>
            </a:r>
            <a:endParaRPr/>
          </a:p>
        </p:txBody>
      </p:sp>
      <p:sp>
        <p:nvSpPr>
          <p:cNvPr id="4533" name="Google Shape;4533;p3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4" name="Google Shape;4534;p3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5" name="Google Shape;4535;p3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36" name="Google Shape;4536;p3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$496</a:t>
            </a:r>
            <a:endParaRPr/>
          </a:p>
        </p:txBody>
      </p:sp>
      <p:sp>
        <p:nvSpPr>
          <p:cNvPr id="4537" name="Google Shape;4537;p3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8" name="Google Shape;4538;p3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9" name="Google Shape;4539;p3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$496</a:t>
            </a:r>
            <a:endParaRPr/>
          </a:p>
        </p:txBody>
      </p:sp>
      <p:sp>
        <p:nvSpPr>
          <p:cNvPr id="4540" name="Google Shape;4540;p3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1" name="Google Shape;4541;p3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2" name="Google Shape;4542;p3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543" name="Google Shape;4543;p3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$118,995</a:t>
            </a:r>
            <a:endParaRPr/>
          </a:p>
        </p:txBody>
      </p:sp>
      <p:sp>
        <p:nvSpPr>
          <p:cNvPr id="4544" name="Google Shape;4544;p3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$119,805</a:t>
            </a:r>
            <a:endParaRPr/>
          </a:p>
        </p:txBody>
      </p:sp>
      <p:sp>
        <p:nvSpPr>
          <p:cNvPr id="4545" name="Google Shape;4545;p3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6" name="Google Shape;4546;p3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$-811</a:t>
            </a:r>
            <a:endParaRPr/>
          </a:p>
        </p:txBody>
      </p:sp>
      <p:sp>
        <p:nvSpPr>
          <p:cNvPr id="4547" name="Google Shape;4547;p3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8" name="Google Shape;4548;p3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9" name="Google Shape;4549;p3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550" name="Google Shape;4550;p3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51" name="Google Shape;4551;p3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552" name="Google Shape;4552;p3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553" name="Google Shape;4553;p3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554" name="Google Shape;4554;p3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55" name="Google Shape;4555;p3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56" name="Google Shape;4556;p3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7" name="Google Shape;4557;p3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58" name="Google Shape;4558;p3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559" name="Google Shape;4559;p3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60" name="Google Shape;4560;p3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561" name="Google Shape;4561;p3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62" name="Google Shape;4562;p3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4563" name="Google Shape;4563;p3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4" name="Google Shape;4564;p3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65" name="Google Shape;4565;p3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566" name="Google Shape;4566;p3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67" name="Google Shape;4567;p3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568" name="Google Shape;4568;p3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569" name="Google Shape;4569;p3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30.0%</a:t>
            </a:r>
            <a:endParaRPr/>
          </a:p>
        </p:txBody>
      </p:sp>
      <p:sp>
        <p:nvSpPr>
          <p:cNvPr id="4570" name="Google Shape;4570;p3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1" name="Google Shape;4571;p3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72" name="Google Shape;4572;p3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573" name="Google Shape;4573;p3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74" name="Google Shape;4574;p3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575" name="Google Shape;4575;p3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576" name="Google Shape;4576;p3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37.5%</a:t>
            </a:r>
            <a:endParaRPr/>
          </a:p>
        </p:txBody>
      </p:sp>
      <p:sp>
        <p:nvSpPr>
          <p:cNvPr id="4577" name="Google Shape;4577;p3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8" name="Google Shape;4578;p3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79" name="Google Shape;4579;p3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580" name="Google Shape;4580;p3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81" name="Google Shape;4581;p3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582" name="Google Shape;4582;p3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83" name="Google Shape;4583;p3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4584" name="Google Shape;4584;p3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5" name="Google Shape;4585;p3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86" name="Google Shape;4586;p3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587" name="Google Shape;4587;p3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88" name="Google Shape;4588;p3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589" name="Google Shape;4589;p3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0" name="Google Shape;4590;p3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91" name="Google Shape;4591;p3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2" name="Google Shape;4592;p3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593" name="Google Shape;4593;p3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4594" name="Google Shape;4594;p3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595" name="Google Shape;4595;p3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4596" name="Google Shape;4596;p3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597" name="Google Shape;4597;p3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4598" name="Google Shape;4598;p3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9" name="Google Shape;4599;p3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600" name="Google Shape;4600;p3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01" name="Google Shape;4601;p3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602" name="Google Shape;4602;p3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603" name="Google Shape;4603;p3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604" name="Google Shape;4604;p3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605" name="Google Shape;4605;p3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606" name="Google Shape;4606;p3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607" name="Google Shape;4607;p3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608" name="Google Shape;4608;p3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609" name="Google Shape;4609;p3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610" name="Google Shape;4610;p3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611" name="Google Shape;4611;p3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612" name="Google Shape;4612;p3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613" name="Google Shape;4613;p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14" name="Google Shape;4614;p3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615" name="Google Shape;4615;p3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616" name="Google Shape;4616;p3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617" name="Google Shape;4617;p3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618" name="Google Shape;4618;p3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619" name="Google Shape;4619;p3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620" name="Google Shape;4620;p3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4621" name="Google Shape;4621;p3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622" name="Google Shape;4622;p3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623" name="Google Shape;4623;p3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624" name="Google Shape;4624;p3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</p:txBody>
      </p:sp>
      <p:sp>
        <p:nvSpPr>
          <p:cNvPr id="4625" name="Google Shape;4625;p3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626" name="Google Shape;4626;p3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627" name="Google Shape;4627;p3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$351K</a:t>
            </a:r>
            <a:endParaRPr/>
          </a:p>
        </p:txBody>
      </p:sp>
      <p:sp>
        <p:nvSpPr>
          <p:cNvPr id="4628" name="Google Shape;4628;p3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4629" name="Google Shape;4629;p3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4630" name="Google Shape;4630;p3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4631" name="Google Shape;4631;p3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$-7,575</a:t>
            </a:r>
            <a:endParaRPr/>
          </a:p>
        </p:txBody>
      </p:sp>
      <p:sp>
        <p:nvSpPr>
          <p:cNvPr id="4632" name="Google Shape;4632;p3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$-120</a:t>
            </a:r>
            <a:endParaRPr/>
          </a:p>
        </p:txBody>
      </p:sp>
      <p:sp>
        <p:nvSpPr>
          <p:cNvPr id="4633" name="Google Shape;4633;p3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$94K</a:t>
            </a:r>
            <a:endParaRPr/>
          </a:p>
        </p:txBody>
      </p:sp>
      <p:sp>
        <p:nvSpPr>
          <p:cNvPr id="4634" name="Google Shape;4634;p3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4635" name="Google Shape;4635;p3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$72K</a:t>
            </a:r>
            <a:endParaRPr/>
          </a:p>
        </p:txBody>
      </p:sp>
      <p:sp>
        <p:nvSpPr>
          <p:cNvPr id="4636" name="Google Shape;4636;p3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$496</a:t>
            </a:r>
            <a:endParaRPr/>
          </a:p>
        </p:txBody>
      </p:sp>
      <p:sp>
        <p:nvSpPr>
          <p:cNvPr id="4637" name="Google Shape;4637;p3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$537K</a:t>
            </a:r>
            <a:endParaRPr/>
          </a:p>
        </p:txBody>
      </p:sp>
      <p:sp>
        <p:nvSpPr>
          <p:cNvPr id="4638" name="Google Shape;4638;p3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$119K</a:t>
            </a:r>
            <a:endParaRPr/>
          </a:p>
        </p:txBody>
      </p:sp>
      <p:sp>
        <p:nvSpPr>
          <p:cNvPr id="4639" name="Google Shape;4639;p3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0" name="Google Shape;4640;p3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641" name="Google Shape;4641;p3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42" name="Google Shape;4642;p3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$118,995 YTD gross written premium</a:t>
            </a:r>
            <a:endParaRPr/>
          </a:p>
        </p:txBody>
      </p:sp>
      <p:sp>
        <p:nvSpPr>
          <p:cNvPr id="4643" name="Google Shape;4643;p3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44" name="Google Shape;4644;p3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$119,805 in new business production</a:t>
            </a:r>
            <a:endParaRPr/>
          </a:p>
        </p:txBody>
      </p:sp>
      <p:sp>
        <p:nvSpPr>
          <p:cNvPr id="4645" name="Google Shape;4645;p3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6" name="Google Shape;4646;p3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647" name="Google Shape;4647;p3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48" name="Google Shape;4648;p3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98% month-over-month</a:t>
            </a:r>
            <a:endParaRPr/>
          </a:p>
        </p:txBody>
      </p:sp>
      <p:sp>
        <p:nvSpPr>
          <p:cNvPr id="4649" name="Google Shape;4649;p3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50" name="Google Shape;4650;p3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13 to 4 MoM</a:t>
            </a:r>
            <a:endParaRPr/>
          </a:p>
        </p:txBody>
      </p:sp>
      <p:sp>
        <p:nvSpPr>
          <p:cNvPr id="4651" name="Google Shape;4651;p3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2" name="Google Shape;4652;p3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653" name="Google Shape;4653;p3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654" name="Google Shape;4654;p3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$119,805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655" name="Google Shape;4655;p3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656" name="Google Shape;4656;p3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60" name="Shape 4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1" name="Google Shape;4661;p3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2" name="Google Shape;4662;p3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Kavi.llc</a:t>
            </a:r>
            <a:endParaRPr/>
          </a:p>
        </p:txBody>
      </p:sp>
      <p:sp>
        <p:nvSpPr>
          <p:cNvPr id="4663" name="Google Shape;4663;p3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Pacific Northwest  |  State: CA  |  City: Stockton</a:t>
            </a:r>
            <a:endParaRPr/>
          </a:p>
        </p:txBody>
      </p:sp>
      <p:sp>
        <p:nvSpPr>
          <p:cNvPr id="4664" name="Google Shape;4664;p3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$118,275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665" name="Google Shape;4665;p3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66" name="Google Shape;4666;p3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$74,806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67" name="Google Shape;4667;p3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$43,468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68" name="Google Shape;4668;p3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$-87,172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69" name="Google Shape;4669;p3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$2,606,761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670" name="Google Shape;4670;p3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$1,369,811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671" name="Google Shape;4671;p3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672" name="Google Shape;4672;p3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73" name="Google Shape;4673;p3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674" name="Google Shape;4674;p3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675" name="Google Shape;4675;p3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$88,899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676" name="Google Shape;4676;p3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$269,955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677" name="Google Shape;4677;p3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8" name="Google Shape;4678;p3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679" name="Google Shape;4679;p3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680" name="Google Shape;4680;p3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681" name="Google Shape;4681;p3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82" name="Google Shape;4682;p3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83" name="Google Shape;4683;p3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84" name="Google Shape;4684;p3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85" name="Google Shape;4685;p3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6" name="Google Shape;4686;p3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687" name="Google Shape;4687;p3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$43,276</a:t>
            </a:r>
            <a:endParaRPr/>
          </a:p>
        </p:txBody>
      </p:sp>
      <p:sp>
        <p:nvSpPr>
          <p:cNvPr id="4688" name="Google Shape;4688;p3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9" name="Google Shape;4689;p3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$17,776</a:t>
            </a:r>
            <a:endParaRPr/>
          </a:p>
        </p:txBody>
      </p:sp>
      <p:sp>
        <p:nvSpPr>
          <p:cNvPr id="4690" name="Google Shape;4690;p3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$25,499</a:t>
            </a:r>
            <a:endParaRPr/>
          </a:p>
        </p:txBody>
      </p:sp>
      <p:sp>
        <p:nvSpPr>
          <p:cNvPr id="4691" name="Google Shape;4691;p3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$-55,318</a:t>
            </a:r>
            <a:endParaRPr/>
          </a:p>
        </p:txBody>
      </p:sp>
      <p:sp>
        <p:nvSpPr>
          <p:cNvPr id="4692" name="Google Shape;4692;p3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3" name="Google Shape;4693;p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694" name="Google Shape;4694;p3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$-2,838</a:t>
            </a:r>
            <a:endParaRPr/>
          </a:p>
        </p:txBody>
      </p:sp>
      <p:sp>
        <p:nvSpPr>
          <p:cNvPr id="4695" name="Google Shape;4695;p3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6" name="Google Shape;4696;p3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7" name="Google Shape;4697;p3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$-2,838</a:t>
            </a:r>
            <a:endParaRPr/>
          </a:p>
        </p:txBody>
      </p:sp>
      <p:sp>
        <p:nvSpPr>
          <p:cNvPr id="4698" name="Google Shape;4698;p3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9" name="Google Shape;4699;p3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0" name="Google Shape;4700;p3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01" name="Google Shape;4701;p3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$70,824</a:t>
            </a:r>
            <a:endParaRPr/>
          </a:p>
        </p:txBody>
      </p:sp>
      <p:sp>
        <p:nvSpPr>
          <p:cNvPr id="4702" name="Google Shape;4702;p3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3" name="Google Shape;4703;p3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$57,030</a:t>
            </a:r>
            <a:endParaRPr/>
          </a:p>
        </p:txBody>
      </p:sp>
      <p:sp>
        <p:nvSpPr>
          <p:cNvPr id="4704" name="Google Shape;4704;p3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$13,794</a:t>
            </a:r>
            <a:endParaRPr/>
          </a:p>
        </p:txBody>
      </p:sp>
      <p:sp>
        <p:nvSpPr>
          <p:cNvPr id="4705" name="Google Shape;4705;p3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$-31,854</a:t>
            </a:r>
            <a:endParaRPr/>
          </a:p>
        </p:txBody>
      </p:sp>
      <p:sp>
        <p:nvSpPr>
          <p:cNvPr id="4706" name="Google Shape;4706;p3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7" name="Google Shape;4707;p3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08" name="Google Shape;4708;p3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$7,013</a:t>
            </a:r>
            <a:endParaRPr/>
          </a:p>
        </p:txBody>
      </p:sp>
      <p:sp>
        <p:nvSpPr>
          <p:cNvPr id="4709" name="Google Shape;4709;p3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0" name="Google Shape;4710;p3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1" name="Google Shape;4711;p3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$7,013</a:t>
            </a:r>
            <a:endParaRPr/>
          </a:p>
        </p:txBody>
      </p:sp>
      <p:sp>
        <p:nvSpPr>
          <p:cNvPr id="4712" name="Google Shape;4712;p3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3" name="Google Shape;4713;p3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4" name="Google Shape;4714;p3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15" name="Google Shape;4715;p3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6" name="Google Shape;4716;p3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7" name="Google Shape;4717;p3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8" name="Google Shape;4718;p3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9" name="Google Shape;4719;p3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0" name="Google Shape;4720;p3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1" name="Google Shape;4721;p3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22" name="Google Shape;4722;p3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$118,275</a:t>
            </a:r>
            <a:endParaRPr/>
          </a:p>
        </p:txBody>
      </p:sp>
      <p:sp>
        <p:nvSpPr>
          <p:cNvPr id="4723" name="Google Shape;4723;p3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4" name="Google Shape;4724;p3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$74,806</a:t>
            </a:r>
            <a:endParaRPr/>
          </a:p>
        </p:txBody>
      </p:sp>
      <p:sp>
        <p:nvSpPr>
          <p:cNvPr id="4725" name="Google Shape;4725;p3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$43,468</a:t>
            </a:r>
            <a:endParaRPr/>
          </a:p>
        </p:txBody>
      </p:sp>
      <p:sp>
        <p:nvSpPr>
          <p:cNvPr id="4726" name="Google Shape;4726;p3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$-87,172</a:t>
            </a:r>
            <a:endParaRPr/>
          </a:p>
        </p:txBody>
      </p:sp>
      <p:sp>
        <p:nvSpPr>
          <p:cNvPr id="4727" name="Google Shape;4727;p3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8" name="Google Shape;4728;p3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729" name="Google Shape;4729;p3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30" name="Google Shape;4730;p3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731" name="Google Shape;4731;p3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732" name="Google Shape;4732;p3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733" name="Google Shape;4733;p3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34" name="Google Shape;4734;p3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35" name="Google Shape;4735;p3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6" name="Google Shape;4736;p3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37" name="Google Shape;4737;p3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738" name="Google Shape;4738;p3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39" name="Google Shape;4739;p3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740" name="Google Shape;4740;p3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41" name="Google Shape;4741;p3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4742" name="Google Shape;4742;p3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3" name="Google Shape;4743;p3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44" name="Google Shape;4744;p3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745" name="Google Shape;4745;p3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46" name="Google Shape;4746;p3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47" name="Google Shape;4747;p3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48" name="Google Shape;4748;p3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30.0%</a:t>
            </a:r>
            <a:endParaRPr/>
          </a:p>
        </p:txBody>
      </p:sp>
      <p:sp>
        <p:nvSpPr>
          <p:cNvPr id="4749" name="Google Shape;4749;p3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0" name="Google Shape;4750;p3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51" name="Google Shape;4751;p3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52" name="Google Shape;4752;p3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53" name="Google Shape;4753;p3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754" name="Google Shape;4754;p3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55" name="Google Shape;4755;p3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4756" name="Google Shape;4756;p3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7" name="Google Shape;4757;p3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58" name="Google Shape;4758;p3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759" name="Google Shape;4759;p3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60" name="Google Shape;4760;p3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61" name="Google Shape;4761;p3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62" name="Google Shape;4762;p3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63" name="Google Shape;4763;p3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4" name="Google Shape;4764;p3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65" name="Google Shape;4765;p3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66" name="Google Shape;4766;p3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67" name="Google Shape;4767;p3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68" name="Google Shape;4768;p3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69" name="Google Shape;4769;p3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70" name="Google Shape;4770;p3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1" name="Google Shape;4771;p3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72" name="Google Shape;4772;p3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4773" name="Google Shape;4773;p3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74" name="Google Shape;4774;p3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775" name="Google Shape;4775;p3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776" name="Google Shape;4776;p3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14.6%</a:t>
            </a:r>
            <a:endParaRPr/>
          </a:p>
        </p:txBody>
      </p:sp>
      <p:sp>
        <p:nvSpPr>
          <p:cNvPr id="4777" name="Google Shape;4777;p3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8" name="Google Shape;4778;p3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779" name="Google Shape;4779;p3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780" name="Google Shape;4780;p3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781" name="Google Shape;4781;p3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782" name="Google Shape;4782;p3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783" name="Google Shape;4783;p3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784" name="Google Shape;4784;p3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785" name="Google Shape;4785;p3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786" name="Google Shape;4786;p3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787" name="Google Shape;4787;p3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788" name="Google Shape;4788;p3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789" name="Google Shape;4789;p3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790" name="Google Shape;4790;p3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791" name="Google Shape;4791;p3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792" name="Google Shape;4792;p3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793" name="Google Shape;4793;p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4794" name="Google Shape;4794;p3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795" name="Google Shape;4795;p3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4796" name="Google Shape;4796;p3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797" name="Google Shape;4797;p3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4798" name="Google Shape;4798;p3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99" name="Google Shape;4799;p3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800" name="Google Shape;4800;p3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801" name="Google Shape;4801;p3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4802" name="Google Shape;4802;p3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03" name="Google Shape;4803;p3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184</a:t>
            </a:r>
            <a:endParaRPr/>
          </a:p>
        </p:txBody>
      </p:sp>
      <p:sp>
        <p:nvSpPr>
          <p:cNvPr id="4804" name="Google Shape;4804;p3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4805" name="Google Shape;4805;p3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806" name="Google Shape;4806;p3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$191K</a:t>
            </a:r>
            <a:endParaRPr/>
          </a:p>
        </p:txBody>
      </p:sp>
      <p:sp>
        <p:nvSpPr>
          <p:cNvPr id="4807" name="Google Shape;4807;p3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4808" name="Google Shape;4808;p3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$202K</a:t>
            </a:r>
            <a:endParaRPr/>
          </a:p>
        </p:txBody>
      </p:sp>
      <p:sp>
        <p:nvSpPr>
          <p:cNvPr id="4809" name="Google Shape;4809;p3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$-2,838</a:t>
            </a:r>
            <a:endParaRPr/>
          </a:p>
        </p:txBody>
      </p:sp>
      <p:sp>
        <p:nvSpPr>
          <p:cNvPr id="4810" name="Google Shape;4810;p3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$545K</a:t>
            </a:r>
            <a:endParaRPr/>
          </a:p>
        </p:txBody>
      </p:sp>
      <p:sp>
        <p:nvSpPr>
          <p:cNvPr id="4811" name="Google Shape;4811;p3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$71K</a:t>
            </a:r>
            <a:endParaRPr/>
          </a:p>
        </p:txBody>
      </p:sp>
      <p:sp>
        <p:nvSpPr>
          <p:cNvPr id="4812" name="Google Shape;4812;p3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$102K</a:t>
            </a:r>
            <a:endParaRPr/>
          </a:p>
        </p:txBody>
      </p:sp>
      <p:sp>
        <p:nvSpPr>
          <p:cNvPr id="4813" name="Google Shape;4813;p3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4814" name="Google Shape;4814;p3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$316K</a:t>
            </a:r>
            <a:endParaRPr/>
          </a:p>
        </p:txBody>
      </p:sp>
      <p:sp>
        <p:nvSpPr>
          <p:cNvPr id="4815" name="Google Shape;4815;p3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16" name="Google Shape;4816;p3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$1.4M</a:t>
            </a:r>
            <a:endParaRPr/>
          </a:p>
        </p:txBody>
      </p:sp>
      <p:sp>
        <p:nvSpPr>
          <p:cNvPr id="4817" name="Google Shape;4817;p3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$118K</a:t>
            </a:r>
            <a:endParaRPr/>
          </a:p>
        </p:txBody>
      </p:sp>
      <p:sp>
        <p:nvSpPr>
          <p:cNvPr id="4818" name="Google Shape;4818;p3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9" name="Google Shape;4819;p3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820" name="Google Shape;4820;p3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21" name="Google Shape;4821;p3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$118,275 YTD gross written premium</a:t>
            </a:r>
            <a:endParaRPr/>
          </a:p>
        </p:txBody>
      </p:sp>
      <p:sp>
        <p:nvSpPr>
          <p:cNvPr id="4822" name="Google Shape;4822;p3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23" name="Google Shape;4823;p3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$74,806 in renewals - strong retention</a:t>
            </a:r>
            <a:endParaRPr/>
          </a:p>
        </p:txBody>
      </p:sp>
      <p:sp>
        <p:nvSpPr>
          <p:cNvPr id="4824" name="Google Shape;4824;p3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5" name="Google Shape;4825;p3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826" name="Google Shape;4826;p3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27" name="Google Shape;4827;p3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90% month-over-month</a:t>
            </a:r>
            <a:endParaRPr/>
          </a:p>
        </p:txBody>
      </p:sp>
      <p:sp>
        <p:nvSpPr>
          <p:cNvPr id="4828" name="Google Shape;4828;p3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29" name="Google Shape;4829;p3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4830" name="Google Shape;4830;p3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1" name="Google Shape;4831;p3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832" name="Google Shape;4832;p3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833" name="Google Shape;4833;p3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Their $74,806 in renewals shows they trust our product. Ask: "What's holding back new submissions?" They may need updated appetite info or a refresher on our quoting process.</a:t>
            </a:r>
            <a:endParaRPr/>
          </a:p>
        </p:txBody>
      </p:sp>
      <p:sp>
        <p:nvSpPr>
          <p:cNvPr id="4834" name="Google Shape;4834;p3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835" name="Google Shape;4835;p3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39" name="Shape 4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0" name="Google Shape;4840;p3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1" name="Google Shape;4841;p3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Monumental Insurance Services, Llc</a:t>
            </a:r>
            <a:endParaRPr/>
          </a:p>
        </p:txBody>
      </p:sp>
      <p:sp>
        <p:nvSpPr>
          <p:cNvPr id="4842" name="Google Shape;4842;p3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Pacific Northwest  |  State: CA  |  City: Concord</a:t>
            </a:r>
            <a:endParaRPr/>
          </a:p>
        </p:txBody>
      </p:sp>
      <p:sp>
        <p:nvSpPr>
          <p:cNvPr id="4843" name="Google Shape;4843;p3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$69,299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844" name="Google Shape;4844;p3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$52,818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45" name="Google Shape;4845;p3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46" name="Google Shape;4846;p3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47" name="Google Shape;4847;p3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48" name="Google Shape;4848;p3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$171,781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849" name="Google Shape;4849;p3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$130,309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850" name="Google Shape;4850;p3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851" name="Google Shape;4851;p3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52" name="Google Shape;4852;p3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853" name="Google Shape;4853;p3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854" name="Google Shape;4854;p3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855" name="Google Shape;4855;p3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856" name="Google Shape;4856;p3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7" name="Google Shape;4857;p3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858" name="Google Shape;4858;p3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859" name="Google Shape;4859;p3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860" name="Google Shape;4860;p3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61" name="Google Shape;4861;p3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62" name="Google Shape;4862;p3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63" name="Google Shape;4863;p3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64" name="Google Shape;4864;p3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5" name="Google Shape;4865;p3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866" name="Google Shape;4866;p3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7" name="Google Shape;4867;p3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8" name="Google Shape;4868;p3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9" name="Google Shape;4869;p3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0" name="Google Shape;4870;p3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1" name="Google Shape;4871;p3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2" name="Google Shape;4872;p3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873" name="Google Shape;4873;p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4" name="Google Shape;4874;p3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5" name="Google Shape;4875;p3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6" name="Google Shape;4876;p3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7" name="Google Shape;4877;p3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8" name="Google Shape;4878;p3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9" name="Google Shape;4879;p3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880" name="Google Shape;4880;p3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$69,299</a:t>
            </a:r>
            <a:endParaRPr/>
          </a:p>
        </p:txBody>
      </p:sp>
      <p:sp>
        <p:nvSpPr>
          <p:cNvPr id="4881" name="Google Shape;4881;p3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$52,818</a:t>
            </a:r>
            <a:endParaRPr/>
          </a:p>
        </p:txBody>
      </p:sp>
      <p:sp>
        <p:nvSpPr>
          <p:cNvPr id="4882" name="Google Shape;4882;p3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$16,481</a:t>
            </a:r>
            <a:endParaRPr/>
          </a:p>
        </p:txBody>
      </p:sp>
      <p:sp>
        <p:nvSpPr>
          <p:cNvPr id="4883" name="Google Shape;4883;p3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4" name="Google Shape;4884;p3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5" name="Google Shape;4885;p3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6" name="Google Shape;4886;p3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887" name="Google Shape;4887;p3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8" name="Google Shape;4888;p3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9" name="Google Shape;4889;p3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0" name="Google Shape;4890;p3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1" name="Google Shape;4891;p3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2" name="Google Shape;4892;p3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3" name="Google Shape;4893;p3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894" name="Google Shape;4894;p3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5" name="Google Shape;4895;p3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6" name="Google Shape;4896;p3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7" name="Google Shape;4897;p3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8" name="Google Shape;4898;p3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9" name="Google Shape;4899;p3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0" name="Google Shape;4900;p3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01" name="Google Shape;4901;p3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$69,299</a:t>
            </a:r>
            <a:endParaRPr/>
          </a:p>
        </p:txBody>
      </p:sp>
      <p:sp>
        <p:nvSpPr>
          <p:cNvPr id="4902" name="Google Shape;4902;p3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$52,818</a:t>
            </a:r>
            <a:endParaRPr/>
          </a:p>
        </p:txBody>
      </p:sp>
      <p:sp>
        <p:nvSpPr>
          <p:cNvPr id="4903" name="Google Shape;4903;p3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$16,481</a:t>
            </a:r>
            <a:endParaRPr/>
          </a:p>
        </p:txBody>
      </p:sp>
      <p:sp>
        <p:nvSpPr>
          <p:cNvPr id="4904" name="Google Shape;4904;p3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5" name="Google Shape;4905;p3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6" name="Google Shape;4906;p3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7" name="Google Shape;4907;p3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908" name="Google Shape;4908;p3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909" name="Google Shape;4909;p3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910" name="Google Shape;4910;p3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911" name="Google Shape;4911;p3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912" name="Google Shape;4912;p3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913" name="Google Shape;4913;p3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914" name="Google Shape;4914;p3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5" name="Google Shape;4915;p3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916" name="Google Shape;4916;p3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17" name="Google Shape;4917;p3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18" name="Google Shape;4918;p3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19" name="Google Shape;4919;p3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20" name="Google Shape;4920;p3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21" name="Google Shape;4921;p3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2" name="Google Shape;4922;p3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23" name="Google Shape;4923;p3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24" name="Google Shape;4924;p3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25" name="Google Shape;4925;p3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26" name="Google Shape;4926;p3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27" name="Google Shape;4927;p3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28" name="Google Shape;4928;p3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9" name="Google Shape;4929;p3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30" name="Google Shape;4930;p3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31" name="Google Shape;4931;p3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32" name="Google Shape;4932;p3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33" name="Google Shape;4933;p3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34" name="Google Shape;4934;p3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4935" name="Google Shape;4935;p3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6" name="Google Shape;4936;p3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37" name="Google Shape;4937;p3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38" name="Google Shape;4938;p3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39" name="Google Shape;4939;p3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40" name="Google Shape;4940;p3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1" name="Google Shape;4941;p3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42" name="Google Shape;4942;p3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3" name="Google Shape;4943;p3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44" name="Google Shape;4944;p3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45" name="Google Shape;4945;p3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6" name="Google Shape;4946;p3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47" name="Google Shape;4947;p3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8" name="Google Shape;4948;p3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49" name="Google Shape;4949;p3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0" name="Google Shape;4950;p3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51" name="Google Shape;4951;p3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952" name="Google Shape;4952;p3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53" name="Google Shape;4953;p3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4954" name="Google Shape;4954;p3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5" name="Google Shape;4955;p3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56" name="Google Shape;4956;p3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7" name="Google Shape;4957;p3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958" name="Google Shape;4958;p3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59" name="Google Shape;4959;p3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960" name="Google Shape;4960;p3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961" name="Google Shape;4961;p3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962" name="Google Shape;4962;p3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963" name="Google Shape;4963;p3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964" name="Google Shape;4964;p3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965" name="Google Shape;4965;p3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966" name="Google Shape;4966;p3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967" name="Google Shape;4967;p3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968" name="Google Shape;4968;p3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969" name="Google Shape;4969;p3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970" name="Google Shape;4970;p3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971" name="Google Shape;4971;p3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972" name="Google Shape;4972;p3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73" name="Google Shape;4973;p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74" name="Google Shape;4974;p3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975" name="Google Shape;4975;p3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76" name="Google Shape;4976;p3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977" name="Google Shape;4977;p3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78" name="Google Shape;4978;p3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79" name="Google Shape;4979;p3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80" name="Google Shape;4980;p3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81" name="Google Shape;4981;p3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82" name="Google Shape;4982;p3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983" name="Google Shape;4983;p3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984" name="Google Shape;4984;p3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985" name="Google Shape;4985;p3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86" name="Google Shape;4986;p3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87" name="Google Shape;4987;p3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4988" name="Google Shape;4988;p3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89" name="Google Shape;4989;p3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$81K</a:t>
            </a:r>
            <a:endParaRPr/>
          </a:p>
        </p:txBody>
      </p:sp>
      <p:sp>
        <p:nvSpPr>
          <p:cNvPr id="4990" name="Google Shape;4990;p3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$69K</a:t>
            </a:r>
            <a:endParaRPr/>
          </a:p>
        </p:txBody>
      </p:sp>
      <p:sp>
        <p:nvSpPr>
          <p:cNvPr id="4991" name="Google Shape;4991;p3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2" name="Google Shape;4992;p3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3" name="Google Shape;4993;p3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4994" name="Google Shape;4994;p3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5" name="Google Shape;4995;p3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$111K</a:t>
            </a:r>
            <a:endParaRPr/>
          </a:p>
        </p:txBody>
      </p:sp>
      <p:sp>
        <p:nvSpPr>
          <p:cNvPr id="4996" name="Google Shape;4996;p3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$69K</a:t>
            </a:r>
            <a:endParaRPr/>
          </a:p>
        </p:txBody>
      </p:sp>
      <p:sp>
        <p:nvSpPr>
          <p:cNvPr id="4997" name="Google Shape;4997;p3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8" name="Google Shape;4998;p3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999" name="Google Shape;4999;p3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00" name="Google Shape;5000;p3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$69,299 YTD gross written premium</a:t>
            </a:r>
            <a:endParaRPr/>
          </a:p>
        </p:txBody>
      </p:sp>
      <p:sp>
        <p:nvSpPr>
          <p:cNvPr id="5001" name="Google Shape;5001;p3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02" name="Google Shape;5002;p3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$52,818 in new business production</a:t>
            </a:r>
            <a:endParaRPr/>
          </a:p>
        </p:txBody>
      </p:sp>
      <p:sp>
        <p:nvSpPr>
          <p:cNvPr id="5003" name="Google Shape;5003;p3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4" name="Google Shape;5004;p3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005" name="Google Shape;5005;p3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06" name="Google Shape;5006;p3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 submissions with zero binds - zero conversion</a:t>
            </a:r>
            <a:endParaRPr/>
          </a:p>
        </p:txBody>
      </p:sp>
      <p:sp>
        <p:nvSpPr>
          <p:cNvPr id="5007" name="Google Shape;5007;p3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08" name="Google Shape;5008;p3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 quotes but 0 binds - follow up on pricing/coverage gaps</a:t>
            </a:r>
            <a:endParaRPr/>
          </a:p>
        </p:txBody>
      </p:sp>
      <p:sp>
        <p:nvSpPr>
          <p:cNvPr id="5009" name="Google Shape;5009;p3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0" name="Google Shape;5010;p3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011" name="Google Shape;5011;p3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012" name="Google Shape;5012;p3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24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5013" name="Google Shape;5013;p3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014" name="Google Shape;5014;p3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$52,818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18" name="Shape 5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9" name="Google Shape;5019;p3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0" name="Google Shape;5020;p3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 &amp; S Insurance Agency Inc.</a:t>
            </a:r>
            <a:endParaRPr/>
          </a:p>
        </p:txBody>
      </p:sp>
      <p:sp>
        <p:nvSpPr>
          <p:cNvPr id="5021" name="Google Shape;5021;p3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Pacific Northwest  |  State: WA  |  City: Puyallup</a:t>
            </a:r>
            <a:endParaRPr/>
          </a:p>
        </p:txBody>
      </p:sp>
      <p:sp>
        <p:nvSpPr>
          <p:cNvPr id="5022" name="Google Shape;5022;p3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$51,411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023" name="Google Shape;5023;p3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$26,866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24" name="Google Shape;5024;p3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25" name="Google Shape;5025;p3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$24,545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26" name="Google Shape;5026;p3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$-63,999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27" name="Google Shape;5027;p3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$514,370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028" name="Google Shape;5028;p3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$421,138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029" name="Google Shape;5029;p3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030" name="Google Shape;5030;p3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31" name="Google Shape;5031;p3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32" name="Google Shape;5032;p3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33" name="Google Shape;5033;p3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034" name="Google Shape;5034;p3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$91,748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035" name="Google Shape;5035;p3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6" name="Google Shape;5036;p3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037" name="Google Shape;5037;p3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38" name="Google Shape;5038;p3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039" name="Google Shape;5039;p3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40" name="Google Shape;5040;p3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41" name="Google Shape;5041;p3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42" name="Google Shape;5042;p3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43" name="Google Shape;5043;p3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4" name="Google Shape;5044;p3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045" name="Google Shape;5045;p3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6" name="Google Shape;5046;p3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7" name="Google Shape;5047;p3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8" name="Google Shape;5048;p3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9" name="Google Shape;5049;p3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$-7,404</a:t>
            </a:r>
            <a:endParaRPr/>
          </a:p>
        </p:txBody>
      </p:sp>
      <p:sp>
        <p:nvSpPr>
          <p:cNvPr id="5050" name="Google Shape;5050;p3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1" name="Google Shape;5051;p3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052" name="Google Shape;5052;p3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$26,866</a:t>
            </a:r>
            <a:endParaRPr/>
          </a:p>
        </p:txBody>
      </p:sp>
      <p:sp>
        <p:nvSpPr>
          <p:cNvPr id="5053" name="Google Shape;5053;p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$26,866</a:t>
            </a:r>
            <a:endParaRPr/>
          </a:p>
        </p:txBody>
      </p:sp>
      <p:sp>
        <p:nvSpPr>
          <p:cNvPr id="5054" name="Google Shape;5054;p3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5" name="Google Shape;5055;p3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6" name="Google Shape;5056;p3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7" name="Google Shape;5057;p3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8" name="Google Shape;5058;p3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059" name="Google Shape;5059;p3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$6,531</a:t>
            </a:r>
            <a:endParaRPr/>
          </a:p>
        </p:txBody>
      </p:sp>
      <p:sp>
        <p:nvSpPr>
          <p:cNvPr id="5060" name="Google Shape;5060;p3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1" name="Google Shape;5061;p3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2" name="Google Shape;5062;p3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$6,531</a:t>
            </a:r>
            <a:endParaRPr/>
          </a:p>
        </p:txBody>
      </p:sp>
      <p:sp>
        <p:nvSpPr>
          <p:cNvPr id="5063" name="Google Shape;5063;p3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$-19,350</a:t>
            </a:r>
            <a:endParaRPr/>
          </a:p>
        </p:txBody>
      </p:sp>
      <p:sp>
        <p:nvSpPr>
          <p:cNvPr id="5064" name="Google Shape;5064;p3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5" name="Google Shape;5065;p3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066" name="Google Shape;5066;p3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$18,050</a:t>
            </a:r>
            <a:endParaRPr/>
          </a:p>
        </p:txBody>
      </p:sp>
      <p:sp>
        <p:nvSpPr>
          <p:cNvPr id="5067" name="Google Shape;5067;p3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8" name="Google Shape;5068;p3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9" name="Google Shape;5069;p3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$18,050</a:t>
            </a:r>
            <a:endParaRPr/>
          </a:p>
        </p:txBody>
      </p:sp>
      <p:sp>
        <p:nvSpPr>
          <p:cNvPr id="5070" name="Google Shape;5070;p3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1" name="Google Shape;5071;p3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2" name="Google Shape;5072;p3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073" name="Google Shape;5073;p3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</a:t>
            </a:r>
            <a:endParaRPr/>
          </a:p>
        </p:txBody>
      </p:sp>
      <p:sp>
        <p:nvSpPr>
          <p:cNvPr id="5074" name="Google Shape;5074;p3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5" name="Google Shape;5075;p3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6" name="Google Shape;5076;p3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</a:t>
            </a:r>
            <a:endParaRPr/>
          </a:p>
        </p:txBody>
      </p:sp>
      <p:sp>
        <p:nvSpPr>
          <p:cNvPr id="5077" name="Google Shape;5077;p3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$-37,245</a:t>
            </a:r>
            <a:endParaRPr/>
          </a:p>
        </p:txBody>
      </p:sp>
      <p:sp>
        <p:nvSpPr>
          <p:cNvPr id="5078" name="Google Shape;5078;p3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9" name="Google Shape;5079;p3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080" name="Google Shape;5080;p3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$51,411</a:t>
            </a:r>
            <a:endParaRPr/>
          </a:p>
        </p:txBody>
      </p:sp>
      <p:sp>
        <p:nvSpPr>
          <p:cNvPr id="5081" name="Google Shape;5081;p3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$26,866</a:t>
            </a:r>
            <a:endParaRPr/>
          </a:p>
        </p:txBody>
      </p:sp>
      <p:sp>
        <p:nvSpPr>
          <p:cNvPr id="5082" name="Google Shape;5082;p3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3" name="Google Shape;5083;p3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$24,545</a:t>
            </a:r>
            <a:endParaRPr/>
          </a:p>
        </p:txBody>
      </p:sp>
      <p:sp>
        <p:nvSpPr>
          <p:cNvPr id="5084" name="Google Shape;5084;p3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$-63,999</a:t>
            </a:r>
            <a:endParaRPr/>
          </a:p>
        </p:txBody>
      </p:sp>
      <p:sp>
        <p:nvSpPr>
          <p:cNvPr id="5085" name="Google Shape;5085;p3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6" name="Google Shape;5086;p3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087" name="Google Shape;5087;p3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88" name="Google Shape;5088;p3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089" name="Google Shape;5089;p3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090" name="Google Shape;5090;p3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091" name="Google Shape;5091;p3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92" name="Google Shape;5092;p3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93" name="Google Shape;5093;p3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4" name="Google Shape;5094;p3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095" name="Google Shape;5095;p3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096" name="Google Shape;5096;p3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97" name="Google Shape;5097;p3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098" name="Google Shape;5098;p3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99" name="Google Shape;5099;p3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00" name="Google Shape;5100;p3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1" name="Google Shape;5101;p3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102" name="Google Shape;5102;p3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103" name="Google Shape;5103;p3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04" name="Google Shape;5104;p3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105" name="Google Shape;5105;p3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06" name="Google Shape;5106;p3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5107" name="Google Shape;5107;p3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8" name="Google Shape;5108;p3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109" name="Google Shape;5109;p3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110" name="Google Shape;5110;p3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11" name="Google Shape;5111;p3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112" name="Google Shape;5112;p3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13" name="Google Shape;5113;p3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5114" name="Google Shape;5114;p3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5" name="Google Shape;5115;p3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116" name="Google Shape;5116;p3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117" name="Google Shape;5117;p3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18" name="Google Shape;5118;p3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119" name="Google Shape;5119;p3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20" name="Google Shape;5120;p3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5121" name="Google Shape;5121;p3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2" name="Google Shape;5122;p3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123" name="Google Shape;5123;p3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124" name="Google Shape;5124;p3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25" name="Google Shape;5125;p3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126" name="Google Shape;5126;p3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27" name="Google Shape;5127;p3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5128" name="Google Shape;5128;p3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9" name="Google Shape;5129;p3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30" name="Google Shape;5130;p3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5131" name="Google Shape;5131;p3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32" name="Google Shape;5132;p3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5133" name="Google Shape;5133;p3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34" name="Google Shape;5134;p3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5135" name="Google Shape;5135;p3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6" name="Google Shape;5136;p3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137" name="Google Shape;5137;p3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138" name="Google Shape;5138;p3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139" name="Google Shape;5139;p3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140" name="Google Shape;5140;p3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141" name="Google Shape;5141;p3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142" name="Google Shape;5142;p3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143" name="Google Shape;5143;p3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144" name="Google Shape;5144;p3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145" name="Google Shape;5145;p3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146" name="Google Shape;5146;p3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147" name="Google Shape;5147;p3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148" name="Google Shape;5148;p3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149" name="Google Shape;5149;p3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150" name="Google Shape;5150;p3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151" name="Google Shape;5151;p3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152" name="Google Shape;5152;p3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153" name="Google Shape;5153;p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154" name="Google Shape;5154;p3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155" name="Google Shape;5155;p3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156" name="Google Shape;5156;p3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157" name="Google Shape;5157;p3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158" name="Google Shape;5158;p3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159" name="Google Shape;5159;p3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160" name="Google Shape;5160;p3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161" name="Google Shape;5161;p3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5162" name="Google Shape;5162;p3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5163" name="Google Shape;5163;p3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164" name="Google Shape;5164;p3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65" name="Google Shape;5165;p3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66" name="Google Shape;5166;p3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67" name="Google Shape;5167;p3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5168" name="Google Shape;5168;p3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5169" name="Google Shape;5169;p3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5170" name="Google Shape;5170;p3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5171" name="Google Shape;5171;p3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5172" name="Google Shape;5172;p3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$57K</a:t>
            </a:r>
            <a:endParaRPr/>
          </a:p>
        </p:txBody>
      </p:sp>
      <p:sp>
        <p:nvSpPr>
          <p:cNvPr id="5173" name="Google Shape;5173;p3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</a:t>
            </a:r>
            <a:endParaRPr/>
          </a:p>
        </p:txBody>
      </p:sp>
      <p:sp>
        <p:nvSpPr>
          <p:cNvPr id="5174" name="Google Shape;5174;p3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$145K</a:t>
            </a:r>
            <a:endParaRPr/>
          </a:p>
        </p:txBody>
      </p:sp>
      <p:sp>
        <p:nvSpPr>
          <p:cNvPr id="5175" name="Google Shape;5175;p3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$51K</a:t>
            </a:r>
            <a:endParaRPr/>
          </a:p>
        </p:txBody>
      </p:sp>
      <p:sp>
        <p:nvSpPr>
          <p:cNvPr id="5176" name="Google Shape;5176;p3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7" name="Google Shape;5177;p3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178" name="Google Shape;5178;p3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179" name="Google Shape;5179;p3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$51,411 YTD gross written premium</a:t>
            </a:r>
            <a:endParaRPr/>
          </a:p>
        </p:txBody>
      </p:sp>
      <p:sp>
        <p:nvSpPr>
          <p:cNvPr id="5180" name="Google Shape;5180;p3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181" name="Google Shape;5181;p3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$26,866 in new business production</a:t>
            </a:r>
            <a:endParaRPr/>
          </a:p>
        </p:txBody>
      </p:sp>
      <p:sp>
        <p:nvSpPr>
          <p:cNvPr id="5182" name="Google Shape;5182;p3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3" name="Google Shape;5183;p3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184" name="Google Shape;5184;p3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185" name="Google Shape;5185;p3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238% of new business ($63,999)</a:t>
            </a:r>
            <a:endParaRPr/>
          </a:p>
        </p:txBody>
      </p:sp>
      <p:sp>
        <p:nvSpPr>
          <p:cNvPr id="5186" name="Google Shape;5186;p3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187" name="Google Shape;5187;p3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5188" name="Google Shape;5188;p3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9" name="Google Shape;5189;p3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190" name="Google Shape;5190;p3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191" name="Google Shape;5191;p3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$26,866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192" name="Google Shape;5192;p3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193" name="Google Shape;5193;p3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$63,999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97" name="Shape 5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8" name="Google Shape;5198;p3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9" name="Google Shape;5199;p3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American Continental Insurance Services Inc</a:t>
            </a:r>
            <a:endParaRPr/>
          </a:p>
        </p:txBody>
      </p:sp>
      <p:sp>
        <p:nvSpPr>
          <p:cNvPr id="5200" name="Google Shape;5200;p3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Pacific Northwest  |  State: CA  |  City: Tracy</a:t>
            </a:r>
            <a:endParaRPr/>
          </a:p>
        </p:txBody>
      </p:sp>
      <p:sp>
        <p:nvSpPr>
          <p:cNvPr id="5201" name="Google Shape;5201;p3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$48,613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202" name="Google Shape;5202;p3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$37,175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03" name="Google Shape;5203;p3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04" name="Google Shape;5204;p3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$-4,202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05" name="Google Shape;5205;p3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$-61,279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06" name="Google Shape;5206;p3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$417,245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207" name="Google Shape;5207;p3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$339,086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208" name="Google Shape;5208;p3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209" name="Google Shape;5209;p3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210" name="Google Shape;5210;p3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11" name="Google Shape;5211;p3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12" name="Google Shape;5212;p3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213" name="Google Shape;5213;p3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$114,240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214" name="Google Shape;5214;p3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5" name="Google Shape;5215;p3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216" name="Google Shape;5216;p3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17" name="Google Shape;5217;p3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218" name="Google Shape;5218;p3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19" name="Google Shape;5219;p3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20" name="Google Shape;5220;p3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21" name="Google Shape;5221;p3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22" name="Google Shape;5222;p3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3" name="Google Shape;5223;p3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24" name="Google Shape;5224;p3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$-0</a:t>
            </a:r>
            <a:endParaRPr/>
          </a:p>
        </p:txBody>
      </p:sp>
      <p:sp>
        <p:nvSpPr>
          <p:cNvPr id="5225" name="Google Shape;5225;p3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6" name="Google Shape;5226;p3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7" name="Google Shape;5227;p3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$-0</a:t>
            </a:r>
            <a:endParaRPr/>
          </a:p>
        </p:txBody>
      </p:sp>
      <p:sp>
        <p:nvSpPr>
          <p:cNvPr id="5228" name="Google Shape;5228;p3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9" name="Google Shape;5229;p3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0" name="Google Shape;5230;p3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31" name="Google Shape;5231;p3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2" name="Google Shape;5232;p3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3" name="Google Shape;5233;p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4" name="Google Shape;5234;p3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5" name="Google Shape;5235;p3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$-14,850</a:t>
            </a:r>
            <a:endParaRPr/>
          </a:p>
        </p:txBody>
      </p:sp>
      <p:sp>
        <p:nvSpPr>
          <p:cNvPr id="5236" name="Google Shape;5236;p3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7" name="Google Shape;5237;p3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238" name="Google Shape;5238;p3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9" name="Google Shape;5239;p3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0" name="Google Shape;5240;p3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1" name="Google Shape;5241;p3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2" name="Google Shape;5242;p3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$-46,429</a:t>
            </a:r>
            <a:endParaRPr/>
          </a:p>
        </p:txBody>
      </p:sp>
      <p:sp>
        <p:nvSpPr>
          <p:cNvPr id="5243" name="Google Shape;5243;p3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4" name="Google Shape;5244;p3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245" name="Google Shape;5245;p3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$11,438</a:t>
            </a:r>
            <a:endParaRPr/>
          </a:p>
        </p:txBody>
      </p:sp>
      <p:sp>
        <p:nvSpPr>
          <p:cNvPr id="5246" name="Google Shape;5246;p3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7" name="Google Shape;5247;p3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$15,640</a:t>
            </a:r>
            <a:endParaRPr/>
          </a:p>
        </p:txBody>
      </p:sp>
      <p:sp>
        <p:nvSpPr>
          <p:cNvPr id="5248" name="Google Shape;5248;p3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$-4,202</a:t>
            </a:r>
            <a:endParaRPr/>
          </a:p>
        </p:txBody>
      </p:sp>
      <p:sp>
        <p:nvSpPr>
          <p:cNvPr id="5249" name="Google Shape;5249;p3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0" name="Google Shape;5250;p3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1" name="Google Shape;5251;p3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252" name="Google Shape;5252;p3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$37,175</a:t>
            </a:r>
            <a:endParaRPr/>
          </a:p>
        </p:txBody>
      </p:sp>
      <p:sp>
        <p:nvSpPr>
          <p:cNvPr id="5253" name="Google Shape;5253;p3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$37,175</a:t>
            </a:r>
            <a:endParaRPr/>
          </a:p>
        </p:txBody>
      </p:sp>
      <p:sp>
        <p:nvSpPr>
          <p:cNvPr id="5254" name="Google Shape;5254;p3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5" name="Google Shape;5255;p3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6" name="Google Shape;5256;p3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7" name="Google Shape;5257;p3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8" name="Google Shape;5258;p3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259" name="Google Shape;5259;p3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$48,613</a:t>
            </a:r>
            <a:endParaRPr/>
          </a:p>
        </p:txBody>
      </p:sp>
      <p:sp>
        <p:nvSpPr>
          <p:cNvPr id="5260" name="Google Shape;5260;p3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$37,175</a:t>
            </a:r>
            <a:endParaRPr/>
          </a:p>
        </p:txBody>
      </p:sp>
      <p:sp>
        <p:nvSpPr>
          <p:cNvPr id="5261" name="Google Shape;5261;p3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$15,640</a:t>
            </a:r>
            <a:endParaRPr/>
          </a:p>
        </p:txBody>
      </p:sp>
      <p:sp>
        <p:nvSpPr>
          <p:cNvPr id="5262" name="Google Shape;5262;p3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$-4,202</a:t>
            </a:r>
            <a:endParaRPr/>
          </a:p>
        </p:txBody>
      </p:sp>
      <p:sp>
        <p:nvSpPr>
          <p:cNvPr id="5263" name="Google Shape;5263;p3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$-61,279</a:t>
            </a:r>
            <a:endParaRPr/>
          </a:p>
        </p:txBody>
      </p:sp>
      <p:sp>
        <p:nvSpPr>
          <p:cNvPr id="5264" name="Google Shape;5264;p3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5" name="Google Shape;5265;p3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266" name="Google Shape;5266;p3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67" name="Google Shape;5267;p3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268" name="Google Shape;5268;p3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269" name="Google Shape;5269;p3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270" name="Google Shape;5270;p3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71" name="Google Shape;5271;p3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72" name="Google Shape;5272;p3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3" name="Google Shape;5273;p3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74" name="Google Shape;5274;p3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5275" name="Google Shape;5275;p3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276" name="Google Shape;5276;p3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277" name="Google Shape;5277;p3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78" name="Google Shape;5278;p3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8.7%</a:t>
            </a:r>
            <a:endParaRPr/>
          </a:p>
        </p:txBody>
      </p:sp>
      <p:sp>
        <p:nvSpPr>
          <p:cNvPr id="5279" name="Google Shape;5279;p3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0" name="Google Shape;5280;p3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81" name="Google Shape;5281;p3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282" name="Google Shape;5282;p3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283" name="Google Shape;5283;p3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284" name="Google Shape;5284;p3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85" name="Google Shape;5285;p3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86" name="Google Shape;5286;p3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7" name="Google Shape;5287;p3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288" name="Google Shape;5288;p3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289" name="Google Shape;5289;p3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290" name="Google Shape;5290;p3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291" name="Google Shape;5291;p3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92" name="Google Shape;5292;p3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93" name="Google Shape;5293;p3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4" name="Google Shape;5294;p3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295" name="Google Shape;5295;p3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296" name="Google Shape;5296;p3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297" name="Google Shape;5297;p3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298" name="Google Shape;5298;p3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299" name="Google Shape;5299;p3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5300" name="Google Shape;5300;p3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1" name="Google Shape;5301;p3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302" name="Google Shape;5302;p3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03" name="Google Shape;5303;p3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4" name="Google Shape;5304;p3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05" name="Google Shape;5305;p3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06" name="Google Shape;5306;p3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5307" name="Google Shape;5307;p3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8" name="Google Shape;5308;p3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309" name="Google Shape;5309;p3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5310" name="Google Shape;5310;p3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311" name="Google Shape;5311;p3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5312" name="Google Shape;5312;p3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313" name="Google Shape;5313;p3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5314" name="Google Shape;5314;p3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5" name="Google Shape;5315;p3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316" name="Google Shape;5316;p3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17" name="Google Shape;5317;p3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318" name="Google Shape;5318;p3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319" name="Google Shape;5319;p3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320" name="Google Shape;5320;p3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321" name="Google Shape;5321;p3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322" name="Google Shape;5322;p3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323" name="Google Shape;5323;p3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324" name="Google Shape;5324;p3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325" name="Google Shape;5325;p3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326" name="Google Shape;5326;p3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327" name="Google Shape;5327;p3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328" name="Google Shape;5328;p3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329" name="Google Shape;5329;p3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330" name="Google Shape;5330;p3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331" name="Google Shape;5331;p3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5332" name="Google Shape;5332;p3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333" name="Google Shape;5333;p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334" name="Google Shape;5334;p3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335" name="Google Shape;5335;p3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336" name="Google Shape;5336;p3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337" name="Google Shape;5337;p3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338" name="Google Shape;5338;p3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339" name="Google Shape;5339;p3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40" name="Google Shape;5340;p3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5341" name="Google Shape;5341;p3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5342" name="Google Shape;5342;p3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343" name="Google Shape;5343;p3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$57K</a:t>
            </a:r>
            <a:endParaRPr/>
          </a:p>
        </p:txBody>
      </p:sp>
      <p:sp>
        <p:nvSpPr>
          <p:cNvPr id="5344" name="Google Shape;5344;p3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$-0</a:t>
            </a:r>
            <a:endParaRPr/>
          </a:p>
        </p:txBody>
      </p:sp>
      <p:sp>
        <p:nvSpPr>
          <p:cNvPr id="5345" name="Google Shape;5345;p3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5346" name="Google Shape;5346;p3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47" name="Google Shape;5347;p3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5348" name="Google Shape;5348;p3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49" name="Google Shape;5349;p3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5350" name="Google Shape;5350;p3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5351" name="Google Shape;5351;p3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52" name="Google Shape;5352;p3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5353" name="Google Shape;5353;p3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$127K</a:t>
            </a:r>
            <a:endParaRPr/>
          </a:p>
        </p:txBody>
      </p:sp>
      <p:sp>
        <p:nvSpPr>
          <p:cNvPr id="5354" name="Google Shape;5354;p3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5355" name="Google Shape;5355;p3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6" name="Google Shape;5356;p3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357" name="Google Shape;5357;p3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358" name="Google Shape;5358;p3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$48,613 YTD gross written premium</a:t>
            </a:r>
            <a:endParaRPr/>
          </a:p>
        </p:txBody>
      </p:sp>
      <p:sp>
        <p:nvSpPr>
          <p:cNvPr id="5359" name="Google Shape;5359;p3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360" name="Google Shape;5360;p3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$37,175 in new business production</a:t>
            </a:r>
            <a:endParaRPr/>
          </a:p>
        </p:txBody>
      </p:sp>
      <p:sp>
        <p:nvSpPr>
          <p:cNvPr id="5361" name="Google Shape;5361;p3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2" name="Google Shape;5362;p3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363" name="Google Shape;5363;p3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64" name="Google Shape;5364;p3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165% of new business ($61,279)</a:t>
            </a:r>
            <a:endParaRPr/>
          </a:p>
        </p:txBody>
      </p:sp>
      <p:sp>
        <p:nvSpPr>
          <p:cNvPr id="5365" name="Google Shape;5365;p3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66" name="Google Shape;5366;p3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19 to 6 MoM</a:t>
            </a:r>
            <a:endParaRPr/>
          </a:p>
        </p:txBody>
      </p:sp>
      <p:sp>
        <p:nvSpPr>
          <p:cNvPr id="5367" name="Google Shape;5367;p3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8" name="Google Shape;5368;p3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369" name="Google Shape;5369;p3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370" name="Google Shape;5370;p3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$37,175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371" name="Google Shape;5371;p3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372" name="Google Shape;5372;p3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$61,279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76" name="Shape 5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7" name="Google Shape;5377;p3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8" name="Google Shape;5378;p3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Grewal Insurance Group Llc</a:t>
            </a:r>
            <a:endParaRPr/>
          </a:p>
        </p:txBody>
      </p:sp>
      <p:sp>
        <p:nvSpPr>
          <p:cNvPr id="5379" name="Google Shape;5379;p3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West  |  State: N/A  |  City: Pacific</a:t>
            </a:r>
            <a:endParaRPr/>
          </a:p>
        </p:txBody>
      </p:sp>
      <p:sp>
        <p:nvSpPr>
          <p:cNvPr id="5380" name="Google Shape;5380;p3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$26,600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381" name="Google Shape;5381;p3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$26,600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382" name="Google Shape;5382;p3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383" name="Google Shape;5383;p3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384" name="Google Shape;5384;p3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$-25,142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385" name="Google Shape;5385;p3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386" name="Google Shape;5386;p3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$26,600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387" name="Google Shape;5387;p3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388" name="Google Shape;5388;p3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389" name="Google Shape;5389;p3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390" name="Google Shape;5390;p3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391" name="Google Shape;5391;p3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392" name="Google Shape;5392;p3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$26,600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393" name="Google Shape;5393;p3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4" name="Google Shape;5394;p3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395" name="Google Shape;5395;p3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396" name="Google Shape;5396;p3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397" name="Google Shape;5397;p3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398" name="Google Shape;5398;p3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399" name="Google Shape;5399;p3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400" name="Google Shape;5400;p3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01" name="Google Shape;5401;p3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2" name="Google Shape;5402;p3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03" name="Google Shape;5403;p3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4" name="Google Shape;5404;p3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5" name="Google Shape;5405;p3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6" name="Google Shape;5406;p3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7" name="Google Shape;5407;p3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8" name="Google Shape;5408;p3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9" name="Google Shape;5409;p3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10" name="Google Shape;5410;p3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1" name="Google Shape;5411;p3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2" name="Google Shape;5412;p3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3" name="Google Shape;5413;p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4" name="Google Shape;5414;p3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5" name="Google Shape;5415;p3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6" name="Google Shape;5416;p3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17" name="Google Shape;5417;p3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8" name="Google Shape;5418;p3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9" name="Google Shape;5419;p3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0" name="Google Shape;5420;p3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1" name="Google Shape;5421;p3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2" name="Google Shape;5422;p3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3" name="Google Shape;5423;p3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24" name="Google Shape;5424;p3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$26,600</a:t>
            </a:r>
            <a:endParaRPr/>
          </a:p>
        </p:txBody>
      </p:sp>
      <p:sp>
        <p:nvSpPr>
          <p:cNvPr id="5425" name="Google Shape;5425;p3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$26,600</a:t>
            </a:r>
            <a:endParaRPr/>
          </a:p>
        </p:txBody>
      </p:sp>
      <p:sp>
        <p:nvSpPr>
          <p:cNvPr id="5426" name="Google Shape;5426;p3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7" name="Google Shape;5427;p3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8" name="Google Shape;5428;p3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$-25,142</a:t>
            </a:r>
            <a:endParaRPr/>
          </a:p>
        </p:txBody>
      </p:sp>
      <p:sp>
        <p:nvSpPr>
          <p:cNvPr id="5429" name="Google Shape;5429;p3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0" name="Google Shape;5430;p3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31" name="Google Shape;5431;p3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2" name="Google Shape;5432;p3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3" name="Google Shape;5433;p3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4" name="Google Shape;5434;p3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5" name="Google Shape;5435;p3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6" name="Google Shape;5436;p3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7" name="Google Shape;5437;p3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38" name="Google Shape;5438;p3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$26,600</a:t>
            </a:r>
            <a:endParaRPr/>
          </a:p>
        </p:txBody>
      </p:sp>
      <p:sp>
        <p:nvSpPr>
          <p:cNvPr id="5439" name="Google Shape;5439;p3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$26,600</a:t>
            </a:r>
            <a:endParaRPr/>
          </a:p>
        </p:txBody>
      </p:sp>
      <p:sp>
        <p:nvSpPr>
          <p:cNvPr id="5440" name="Google Shape;5440;p3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1" name="Google Shape;5441;p3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2" name="Google Shape;5442;p3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$-25,142</a:t>
            </a:r>
            <a:endParaRPr/>
          </a:p>
        </p:txBody>
      </p:sp>
      <p:sp>
        <p:nvSpPr>
          <p:cNvPr id="5443" name="Google Shape;5443;p3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4" name="Google Shape;5444;p3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445" name="Google Shape;5445;p3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46" name="Google Shape;5446;p3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447" name="Google Shape;5447;p3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448" name="Google Shape;5448;p3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449" name="Google Shape;5449;p3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50" name="Google Shape;5450;p3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51" name="Google Shape;5451;p3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2" name="Google Shape;5452;p3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53" name="Google Shape;5453;p3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54" name="Google Shape;5454;p3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55" name="Google Shape;5455;p3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56" name="Google Shape;5456;p3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57" name="Google Shape;5457;p3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58" name="Google Shape;5458;p3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9" name="Google Shape;5459;p3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60" name="Google Shape;5460;p3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61" name="Google Shape;5461;p3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62" name="Google Shape;5462;p3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63" name="Google Shape;5463;p3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64" name="Google Shape;5464;p3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65" name="Google Shape;5465;p3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6" name="Google Shape;5466;p3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67" name="Google Shape;5467;p3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468" name="Google Shape;5468;p3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69" name="Google Shape;5469;p3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470" name="Google Shape;5470;p3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71" name="Google Shape;5471;p3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5472" name="Google Shape;5472;p3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3" name="Google Shape;5473;p3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74" name="Google Shape;5474;p3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475" name="Google Shape;5475;p3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76" name="Google Shape;5476;p3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477" name="Google Shape;5477;p3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78" name="Google Shape;5478;p3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79" name="Google Shape;5479;p3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0" name="Google Shape;5480;p3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81" name="Google Shape;5481;p3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82" name="Google Shape;5482;p3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83" name="Google Shape;5483;p3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84" name="Google Shape;5484;p3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85" name="Google Shape;5485;p3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86" name="Google Shape;5486;p3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7" name="Google Shape;5487;p3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88" name="Google Shape;5488;p3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489" name="Google Shape;5489;p3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90" name="Google Shape;5490;p3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491" name="Google Shape;5491;p3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92" name="Google Shape;5492;p3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5493" name="Google Shape;5493;p3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4" name="Google Shape;5494;p3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495" name="Google Shape;5495;p3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496" name="Google Shape;5496;p3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497" name="Google Shape;5497;p3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498" name="Google Shape;5498;p3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499" name="Google Shape;5499;p3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500" name="Google Shape;5500;p3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501" name="Google Shape;5501;p3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502" name="Google Shape;5502;p3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503" name="Google Shape;5503;p3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504" name="Google Shape;5504;p3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505" name="Google Shape;5505;p3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506" name="Google Shape;5506;p3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507" name="Google Shape;5507;p3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508" name="Google Shape;5508;p3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509" name="Google Shape;5509;p3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0" name="Google Shape;5510;p3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1" name="Google Shape;5511;p3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2" name="Google Shape;5512;p3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3" name="Google Shape;5513;p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4" name="Google Shape;5514;p3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15" name="Google Shape;5515;p3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6" name="Google Shape;5516;p3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17" name="Google Shape;5517;p3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8" name="Google Shape;5518;p3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19" name="Google Shape;5519;p3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20" name="Google Shape;5520;p3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521" name="Google Shape;5521;p3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522" name="Google Shape;5522;p3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23" name="Google Shape;5523;p3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24" name="Google Shape;5524;p3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25" name="Google Shape;5525;p3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26" name="Google Shape;5526;p3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27" name="Google Shape;5527;p3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28" name="Google Shape;5528;p3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29" name="Google Shape;5529;p3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5530" name="Google Shape;5530;p3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31" name="Google Shape;5531;p3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32" name="Google Shape;5532;p3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33" name="Google Shape;5533;p3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5534" name="Google Shape;5534;p3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5" name="Google Shape;5535;p3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536" name="Google Shape;5536;p3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37" name="Google Shape;5537;p3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$26,600 YTD gross written premium</a:t>
            </a:r>
            <a:endParaRPr/>
          </a:p>
        </p:txBody>
      </p:sp>
      <p:sp>
        <p:nvSpPr>
          <p:cNvPr id="5538" name="Google Shape;5538;p3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39" name="Google Shape;5539;p3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$26,600 in new business production</a:t>
            </a:r>
            <a:endParaRPr/>
          </a:p>
        </p:txBody>
      </p:sp>
      <p:sp>
        <p:nvSpPr>
          <p:cNvPr id="5540" name="Google Shape;5540;p3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1" name="Google Shape;5541;p3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542" name="Google Shape;5542;p3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543" name="Google Shape;5543;p3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95% of new business ($25,142)</a:t>
            </a:r>
            <a:endParaRPr/>
          </a:p>
        </p:txBody>
      </p:sp>
      <p:sp>
        <p:nvSpPr>
          <p:cNvPr id="5544" name="Google Shape;5544;p3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5" name="Google Shape;5545;p3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546" name="Google Shape;5546;p3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547" name="Google Shape;5547;p3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$26,600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548" name="Google Shape;5548;p3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549" name="Google Shape;5549;p3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$25,142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