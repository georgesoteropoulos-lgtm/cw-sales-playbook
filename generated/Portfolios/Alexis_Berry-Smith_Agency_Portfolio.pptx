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07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8B5CF6"/>
                </a:solidFill>
                <a:latin typeface="Segoe UI"/>
              </a:defRPr>
            </a:pPr>
            <a:r>
              <a:t>COVER WHALE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Alexis Berry-Smith - Agency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4B5FD"/>
                </a:solidFill>
                <a:latin typeface="Segoe UI"/>
              </a:defRPr>
            </a:pPr>
            <a:r>
              <a:t>Jan–May 2026  |  Generated May 26, 2026  |  22 Agencies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Alexis Berry-Smith - Portfolio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Jan–May 2026  |  22 Total Agencies  |  22 Active  |  0 Inactive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22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Agencies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47088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22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Active (YTD)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57016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$8,918,815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66944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$5,965,993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76872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$951,263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$2,001,560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96728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C2626"/>
                </a:solidFill>
                <a:latin typeface="Segoe UI"/>
              </a:defRPr>
            </a:pPr>
            <a:r>
              <a:t>$-4,155,926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4284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Submissions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47088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267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Binds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57016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6.2%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66944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464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Subs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76872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33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Binds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3820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Non-Fleet Subs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96728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234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Non-Fleet Binds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$18,061,408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47088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$19,806,984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57016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$21,673,689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Annual Goal (40%)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66944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C2626"/>
                </a:solidFill>
                <a:latin typeface="Segoe UI"/>
              </a:defRPr>
            </a:pPr>
            <a:r>
              <a:t>41%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76872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$3,535,885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0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$5,523,175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Non-Fleet Bound Prem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96728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18.6%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Retention Rate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514600"/>
            <a:ext cx="7863840" cy="292608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53288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TOP AGENCIES BY YTD GWP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2862072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79" y="2862072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2862072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New Biz $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2862072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Renewals $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286207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2862072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Quotes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2862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2862072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HR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026664"/>
            <a:ext cx="7498079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3081528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A.s.i.a Inc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79" y="30815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$2,124,989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0" y="30815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$1,281,263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0" y="308152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$19,881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0" y="308152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976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308152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548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308152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308152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6.8%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273552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328269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Roadways Commercial Insurance Servi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26079" y="3282696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$1,036,095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0" y="328269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$715,605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46320" y="3282696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$33,536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0" y="328269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328269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12280" y="328269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0" y="328269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14.9%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348386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Truckers Insurance Services Llc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26079" y="348386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$832,903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31920" y="348386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$692,043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46320" y="3483864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$29,398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0" y="3483864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360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7920" y="3483864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278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12280" y="3483864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0" y="3483864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7.8%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3675888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5760" y="368503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Alex Rue Insurance Agency, Inc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26079" y="368503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$711,343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31920" y="368503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$719,941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46320" y="368503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$49,093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69280" y="36850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17920" y="368503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12280" y="368503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0" y="368503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7.5%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" y="388620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Stellar Management, Inc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926079" y="388620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$706,072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931920" y="38862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$250,848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46320" y="388620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$337,650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9280" y="388620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913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17920" y="388620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608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12280" y="388620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15200" y="388620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2.8%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65760" y="4078224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65760" y="4087368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Aic Insurance Agency Llc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926079" y="408736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$660,989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931920" y="408736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$502,972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846320" y="408736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$27,253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669280" y="408736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413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217920" y="408736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287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812280" y="40873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315200" y="408736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6.3%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65760" y="428853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MST INSURANCE SERVICES INC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926079" y="4288536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$344,599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931920" y="428853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$169,304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846320" y="4288536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$25,796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669280" y="428853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217920" y="428853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812280" y="428853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315200" y="428853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10.3%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65760" y="4480560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65760" y="448970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Pacific Atlantic Insurance Services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926079" y="448970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$320,638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931920" y="448970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$228,837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846320" y="4489704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669280" y="4489704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217920" y="4489704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812280" y="4489704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315200" y="4489704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8.7%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65760" y="469087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Insurance Mobile Services, Inc.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926079" y="469087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$304,728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931920" y="469087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$183,956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846320" y="469087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$51,360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669280" y="469087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97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217920" y="469087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73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812280" y="469087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315200" y="469087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20.6%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65760" y="4882896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65760" y="489204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Berrier Insurance Agency, Inc.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926079" y="489204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$268,053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931920" y="48920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$173,856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846320" y="489204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$113,951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669280" y="489204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106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217920" y="489204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812280" y="489204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315200" y="489204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5.7%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65760" y="5093208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Walker Insurance Agency, Inc.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926079" y="509320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$228,400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931920" y="509320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$152,374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846320" y="509320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$88,750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669280" y="509320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61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217920" y="509320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812280" y="509320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315200" y="509320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11.5%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65760" y="5285232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365760" y="529437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Network Truck Insurance Services, I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926079" y="5294376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$226,868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931920" y="529437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$116,554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846320" y="5294376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$67,666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669280" y="529437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217920" y="529437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812280" y="529437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315200" y="529437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4.3%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229600" y="2514600"/>
            <a:ext cx="3749039" cy="292608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321040" y="253288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MONTHLY SUMMARY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275320" y="286207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732520" y="2862072"/>
            <a:ext cx="777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9509760" y="2862072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New Biz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241280" y="2862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744200" y="286207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1201400" y="2862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HR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275320" y="3026664"/>
            <a:ext cx="3566160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8275320" y="308152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732520" y="3081528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$4,281,928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509760" y="308152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$992,165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0241280" y="3081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900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744200" y="308152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99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1201400" y="3081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11.0%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275320" y="333756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732520" y="333756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$4,217,557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509760" y="333756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$1,185,913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0241280" y="333756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793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0744200" y="333756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96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1201400" y="333756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12.1%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275320" y="359359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732520" y="3593592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$4,503,642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9509760" y="359359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$1,372,342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241280" y="359359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1052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0744200" y="359359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107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1201400" y="359359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10.2%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8275320" y="384962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8732520" y="3849624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$4,128,821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9509760" y="384962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$1,636,669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0241280" y="3849624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1082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744200" y="384962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114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1201400" y="3849624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10.5%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8275320" y="410565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8732520" y="4105656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$2,125,800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9509760" y="410565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$778,904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0241280" y="4105656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834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744200" y="410565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63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1201400" y="4105656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7.6%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8275320" y="4325112"/>
            <a:ext cx="3566160" cy="1097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8275320" y="43616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8732520" y="4361688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$8,918,815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9509760" y="436168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$5,965,993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0241280" y="436168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4284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0744200" y="43616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267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1201400" y="436168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6.2%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OKR Scoreboard — Alexis Berry-Smith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BDM OKRs  |  Q2 measure (paced where applicable)  |  Matches BD Rep Scoreboard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0" y="960120"/>
            <a:ext cx="3200400" cy="1371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1033271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97706"/>
                </a:solidFill>
                <a:latin typeface="Segoe UI"/>
              </a:defRPr>
            </a:pPr>
            <a:r>
              <a:t>61.1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59105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B7280"/>
                </a:solidFill>
                <a:latin typeface="Segoe UI"/>
              </a:defRPr>
            </a:pPr>
            <a:r>
              <a:t>COMPOSITE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8653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Segoe UI"/>
              </a:defRPr>
            </a:pPr>
            <a:r>
              <a:t>Green ≥ 70  |  Amber 45-69  |  Red &lt; 45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960120"/>
            <a:ext cx="8138160" cy="11887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960120"/>
            <a:ext cx="91440" cy="1188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051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Segoe UI"/>
              </a:defRPr>
            </a:pPr>
            <a:r>
              <a:t>OKR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3075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Segoe UI"/>
              </a:defRPr>
            </a:pPr>
            <a:r>
              <a:t>Subs YoY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6733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Goal ≥+100%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1430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059669"/>
                </a:solidFill>
                <a:latin typeface="Segoe UI"/>
              </a:defRPr>
            </a:pPr>
            <a:r>
              <a:t>+141%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240280"/>
            <a:ext cx="8138160" cy="11887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240280"/>
            <a:ext cx="91440" cy="1188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331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Segoe UI"/>
              </a:defRPr>
            </a:pPr>
            <a:r>
              <a:t>OKR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5877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Segoe UI"/>
              </a:defRPr>
            </a:pPr>
            <a:r>
              <a:t>Activity Compliance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9535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Goal ≥ 100% (40/wk)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4231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DC2626"/>
                </a:solidFill>
                <a:latin typeface="Segoe UI"/>
              </a:defRPr>
            </a:pPr>
            <a:r>
              <a:t>44%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520440"/>
            <a:ext cx="8138160" cy="11887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520440"/>
            <a:ext cx="91440" cy="1188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611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Segoe UI"/>
              </a:defRPr>
            </a:pPr>
            <a:r>
              <a:t>OKR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86791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Segoe UI"/>
              </a:defRPr>
            </a:pPr>
            <a:r>
              <a:t>Portfolio Active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233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22 of 22 agencies  |  Goal 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7033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059669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800600"/>
            <a:ext cx="8138160" cy="11887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4800600"/>
            <a:ext cx="91440" cy="1188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892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Segoe UI"/>
              </a:defRPr>
            </a:pPr>
            <a:r>
              <a:t>OKR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1480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Segoe UI"/>
              </a:defRPr>
            </a:pPr>
            <a:r>
              <a:t>New Producing Agencies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5138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Q2 Activated Won  |  Goal ≥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9834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DC2626"/>
                </a:solidFill>
                <a:latin typeface="Segoe UI"/>
              </a:defRPr>
            </a:pPr>
            <a:r>
              <a:t>0 of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9224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Segoe UI"/>
              </a:defRPr>
            </a:pPr>
            <a:r>
              <a:t>OKR 1: Q2 paced subs YoY — current Q2-YTD subs ÷ days-elapsed × 91 vs prior full Q2 (Apr–Jun 2025)  |  OKR 2: Q2 avg weekly calls + meetings vs 40/wk goal (outbound calls + meetings only, matches scoreboard)  |  OKR 3: % of HubSpot book with ≥1 submission in 2026  |  OKR 4: Q2 Activated-Won NNA deals with `Appointed - ` prefix, owned by this BDM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BD Activity  —  Alexis Berry-Smith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Jan–May 2026  |  Calls + Meetings  |  Weekly goal: 40 activities  |  Colored arrow = month-over-month trend vs prior complete month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B7280"/>
                </a:solidFill>
                <a:latin typeface="Segoe UI"/>
              </a:defRPr>
            </a:pPr>
            <a:r>
              <a:t>109 →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Calls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2542580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B7280"/>
                </a:solidFill>
                <a:latin typeface="Segoe UI"/>
              </a:defRPr>
            </a:pPr>
            <a:r>
              <a:t>15 →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Meetings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4948001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B7280"/>
                </a:solidFill>
                <a:latin typeface="Segoe UI"/>
              </a:defRPr>
            </a:pPr>
            <a:r>
              <a:t>124 →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Activity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7353421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D28D9"/>
                </a:solidFill>
                <a:latin typeface="Segoe UI"/>
              </a:defRPr>
            </a:pPr>
            <a:r>
              <a:t>6.2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Avg / Week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8842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DC2626"/>
                </a:solidFill>
                <a:latin typeface="Segoe UI"/>
              </a:defRPr>
            </a:pPr>
            <a:r>
              <a:t>16%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 (40/wk)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" y="1600200"/>
            <a:ext cx="585216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" y="1636776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WEEKS 1–11  (Jan–Mar)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" y="193852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Week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92808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Calls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4328" y="1938528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Meetings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24528" y="1938528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% Goal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1768" y="1938528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Status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2112264"/>
            <a:ext cx="583387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" y="2167128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7160" y="2167128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8" y="218541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1/5–1/11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92808" y="218541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24328" y="218541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93008" y="218541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24528" y="218541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01768" y="218541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" y="2409444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7160" y="2409444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6888" y="242773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1/12–1/18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92808" y="242773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24328" y="242773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3008" y="242773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24528" y="2427732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01768" y="2427732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7160" y="2651760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37160" y="2651760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6888" y="267004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1/19–1/25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92808" y="267004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24328" y="267004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93008" y="267004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24528" y="267004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01768" y="267004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37160" y="2894076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37160" y="2894076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6888" y="291236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1/26–2/1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92808" y="29123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24328" y="2912364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93008" y="29123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24528" y="291236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01768" y="291236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37160" y="3136392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37160" y="3136392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46888" y="315468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2/2–2/8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92808" y="31546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24328" y="315468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93008" y="31546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24528" y="315468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01768" y="315468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37160" y="3378708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37160" y="3378708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46888" y="339699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2/9–2/15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92808" y="339699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624328" y="339699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93008" y="339699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24528" y="339699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01768" y="339699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37160" y="3621024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37160" y="3621024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46888" y="363931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2/16–2/22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892808" y="363931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24328" y="363931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93008" y="363931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224528" y="3639312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01768" y="3639312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37160" y="3863340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37160" y="3863340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46888" y="388162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2/23–3/1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892808" y="388162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24328" y="388162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93008" y="388162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24528" y="388162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001768" y="388162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37160" y="4105656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37160" y="4105656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46888" y="412394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3/2–3/8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892808" y="41239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624328" y="4123944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493008" y="41239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224528" y="412394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001768" y="412394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37160" y="4347972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37160" y="4347972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46888" y="436626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3/9–3/15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892808" y="436626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624328" y="436626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493008" y="436626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224528" y="436626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001768" y="436626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37160" y="4590288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37160" y="4590288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46888" y="460857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3/16–3/22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892808" y="460857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624328" y="460857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493008" y="460857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224528" y="460857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001768" y="460857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199632" y="1600200"/>
            <a:ext cx="585216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309360" y="1636776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WEEKS 12–21  (Mar–May)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309360" y="193852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Week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955280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Calls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686800" y="1938528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Meetings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555480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287000" y="1938528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% Goal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064240" y="1938528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Status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245352" y="2112264"/>
            <a:ext cx="583387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6199632" y="2167128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199632" y="2167128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309360" y="218541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3/23–3/29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955280" y="218541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686800" y="218541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555480" y="218541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287000" y="218541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1064240" y="218541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199632" y="2409444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6199632" y="2409444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309360" y="242773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3/30–4/5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955280" y="242773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686800" y="242773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555480" y="242773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287000" y="2427732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1064240" y="2427732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99632" y="2651760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6199632" y="2651760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309360" y="267004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4/6–4/12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955280" y="267004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686800" y="267004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555480" y="267004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287000" y="267004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1064240" y="267004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199632" y="2894076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6199632" y="2894076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309360" y="291236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4/13–4/19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955280" y="29123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686800" y="2912364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55480" y="29123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287000" y="291236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1064240" y="291236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6199632" y="3136392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6199632" y="3136392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309360" y="315468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4/20–4/26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7955280" y="31546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686800" y="315468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555480" y="31546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287000" y="315468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10%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1064240" y="315468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99632" y="3378708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199632" y="3378708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309360" y="339699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4/27–5/3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955280" y="339699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686800" y="339699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555480" y="339699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0287000" y="339699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1064240" y="339699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6199632" y="3621024"/>
            <a:ext cx="5852160" cy="242316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199632" y="3621024"/>
            <a:ext cx="50292" cy="24231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309360" y="363931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5/4–5/10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955280" y="363931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8686800" y="363931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9555480" y="363931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287000" y="3639312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80%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1064240" y="3639312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~ Near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6199632" y="3863340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6199632" y="3863340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6309360" y="388162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5/11–5/17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955280" y="388162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8686800" y="388162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9555480" y="388162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0287000" y="388162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112%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1064240" y="388162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✓ Met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6199632" y="4105656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6199632" y="4105656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6309360" y="412394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5/18–5/24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7955280" y="41239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8686800" y="4123944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9555480" y="41239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43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0287000" y="412394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108%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1064240" y="412394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✓ Met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6199632" y="4347972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6199632" y="4347972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6309360" y="436626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5/25–5/26*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7955280" y="436626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8686800" y="436626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9555480" y="436626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0287000" y="436626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1064240" y="436626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37160" y="6528816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Segoe UI"/>
              </a:defRPr>
            </a:pPr>
            <a:r>
              <a:t>Source: HubSpot CRM  |  Calls + meetings only (emails excluded)  |  * = current/partial week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Submission Growth  —  Alexis Berry-Smith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Jan–May 2026 vs 2025  |  Green = growth  |  Red = decline  |  Hit ratio = binds / submissions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59669"/>
                </a:solidFill>
                <a:latin typeface="Segoe UI"/>
              </a:defRPr>
            </a:pPr>
            <a:r>
              <a:t>1815 ▲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Submissions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542580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59669"/>
                </a:solidFill>
                <a:latin typeface="Segoe UI"/>
              </a:defRPr>
            </a:pPr>
            <a:r>
              <a:t>127 ▲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Binds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4948001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DC2626"/>
                </a:solidFill>
                <a:latin typeface="Segoe UI"/>
              </a:defRPr>
            </a:pPr>
            <a:r>
              <a:t>7.0% ▼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8" name="Rectangle 7"/>
          <p:cNvSpPr/>
          <p:nvPr/>
        </p:nvSpPr>
        <p:spPr>
          <a:xfrm>
            <a:off x="7353421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DC2626"/>
                </a:solidFill>
                <a:latin typeface="Segoe UI"/>
              </a:defRPr>
            </a:pPr>
            <a:r>
              <a:t>-40.3%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Subs YOY vs 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8842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DC2626"/>
                </a:solidFill>
                <a:latin typeface="Segoe UI"/>
              </a:defRPr>
            </a:pPr>
            <a:r>
              <a:t>-74.2%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 YOY vs 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" y="1600200"/>
            <a:ext cx="521208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" y="163677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MONTHLY BREAKDOWN  —  2026 vs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" y="1938528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19385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2026 Subs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9656" y="19385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2026 Binds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34056" y="1938528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Hit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19385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2025 Subs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0248" y="19385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YoY 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2112264"/>
            <a:ext cx="505663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" y="2157984"/>
            <a:ext cx="5212080" cy="33375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8" y="2203704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" y="220370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19656" y="22037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34056" y="2203704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5848" y="22037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606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0248" y="220370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-100%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" y="2519172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" y="25191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19656" y="251917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34056" y="2519172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55848" y="251917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536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0248" y="25191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-100%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" y="2788920"/>
            <a:ext cx="5212080" cy="33375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6888" y="2834640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" y="28346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19656" y="28346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34056" y="2834640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25.0%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55848" y="28346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676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70248" y="28346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-99%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888" y="3150108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" y="31501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1,007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19656" y="31501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34056" y="3150108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7.4%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55848" y="31501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617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70248" y="31501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+63%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7160" y="3419856"/>
            <a:ext cx="5212080" cy="33375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6888" y="3465576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816" y="346557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804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19656" y="346557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34056" y="3465576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6.3%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55848" y="346557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604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70248" y="346557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+33%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2880" y="3717036"/>
            <a:ext cx="5120640" cy="914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46888" y="3762756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YTD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3816" y="376275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1,815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19656" y="376275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34056" y="3762756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7.0%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55848" y="376275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3,039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70248" y="376275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-40%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23560" y="1600200"/>
            <a:ext cx="640080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733288" y="1636776"/>
            <a:ext cx="6217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TOP AGENCIES BY SUBMISSION VOLUME  —  YTD Ranked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33288" y="193852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67928" y="1938528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YTD Subs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36608" y="193852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59568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Hit 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991088" y="1938528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YOY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69280" y="2112264"/>
            <a:ext cx="597103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623560" y="2167128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733288" y="218541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A.s.i.a Inc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67928" y="218541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976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36608" y="218541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66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259568" y="218541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6.8%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991088" y="2185416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+804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733288" y="244144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Stellar Management, Inc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67928" y="2441448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913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436608" y="244144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259568" y="244144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2.8%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91088" y="2441448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+309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623560" y="2679192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733288" y="269748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Aic Insurance Agency Llc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67928" y="2697480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413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436608" y="269748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259568" y="2697480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6.3%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91088" y="2697480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+52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733288" y="2953512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Truckers Insurance Services Llc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567928" y="2953512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360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436608" y="295351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259568" y="295351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7.8%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991088" y="2953512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+360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623560" y="3191256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733288" y="3209544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Amerigo Insurance Agency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567928" y="3209544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326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436608" y="320954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259568" y="3209544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1.8%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991088" y="3209544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-183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733288" y="346557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Network Truck Insurance Services, Inc.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567928" y="346557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187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436608" y="346557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259568" y="346557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4.3%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991088" y="3465576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-54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623560" y="3703320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733288" y="372160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Alex Rue Insurance Agency, Inc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567928" y="3721608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159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436608" y="372160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259568" y="372160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7.5%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991088" y="3721608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+45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733288" y="397764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Roadways Commercial Insurance Services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567928" y="3977640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134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436608" y="397764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259568" y="3977640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14.9%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991088" y="3977640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-21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623560" y="4215384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733288" y="4233672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Berrier Insurance Agency, Inc.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567928" y="4233672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106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436608" y="423367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259568" y="423367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5.7%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991088" y="4233672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+31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733288" y="4489704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Insurance Mobile Services, Inc.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567928" y="4489704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97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436608" y="448970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259568" y="4489704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20.6%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991088" y="4489704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-23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623560" y="4727448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733288" y="474573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Grant Line Insurance Agency, Inc.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567928" y="474573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92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436608" y="474573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259568" y="474573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5.4%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991088" y="4745736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+49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733288" y="500176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Pacific Atlantic Insurance Services In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567928" y="5001768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92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436608" y="500176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259568" y="500176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8.7%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991088" y="5001768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+84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623560" y="5239512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733288" y="525780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American Continental Insurance Service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567928" y="5257800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70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436608" y="525780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0259568" y="5257800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4.3%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991088" y="5257800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733288" y="5513832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J &amp; S Insurance Agency Inc.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567928" y="5513832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61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436608" y="551383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259568" y="551383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4.9%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0991088" y="5513832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-23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5623560" y="5751576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5733288" y="5769864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Walker Insurance Agency, Inc.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567928" y="5769864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61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436608" y="576986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0259568" y="5769864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11.5%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0991088" y="5769864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+25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733288" y="60258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MST INSURANCE SERVICES INC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567928" y="602589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58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436608" y="602589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259568" y="602589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10.3%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991088" y="6025896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-1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37160" y="6528816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Segoe UI"/>
              </a:defRPr>
            </a:pPr>
            <a:r>
              <a:t>Source: Metabase  |  Totals match Sales Scoreboard: Q1 → Q1 owner, Q2+ → current owner, 2025 baseline → current owner  |  Hit ratio = binds / submissions  |  Right-panel agency table shows current portfolio  |  Green ≥ 8%  Red &lt; 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Alexis Berry-Smith  |  22 Total Agencies  |  Jan–May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0424160" cy="32918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14300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143000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New Biz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143000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79" y="11430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Cancel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599" y="11430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999" y="11430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Quotes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399" y="11430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799" y="114300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49961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1499616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$4,281,928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1499616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$992,165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1499616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$98,838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79" y="14996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$-851,930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599" y="14996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900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0999" y="14996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629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399" y="14996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99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799" y="1499616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11.0%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1773936"/>
            <a:ext cx="10424160" cy="32918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18288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182880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$4,217,557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1828800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$1,185,913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1828800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$200,414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97879" y="18288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$-751,030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599" y="18288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793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0999" y="18288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535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399" y="18288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96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799" y="182880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12.1%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215798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2157984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$4,503,642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37560" y="2157984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$1,372,342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2157984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$525,662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97879" y="215798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$-1,055,763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599" y="215798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1,052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0999" y="215798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689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15399" y="215798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107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29799" y="2157984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10.2%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2432303"/>
            <a:ext cx="10424160" cy="32918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24871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20240" y="248716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$4,128,821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37560" y="248716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$1,636,669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63440" y="2487168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$35,521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97879" y="24871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$-953,383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86599" y="2487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1,082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00999" y="2487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761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15399" y="2487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114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29799" y="2487168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10.5%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2816351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20240" y="2816351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$2,125,800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37560" y="2816351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$778,904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2816351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$90,827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97879" y="2816351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$-543,820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86599" y="2816351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834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00999" y="2816351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552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15399" y="2816351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63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29799" y="2816351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7.6%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3090671"/>
            <a:ext cx="10424160" cy="36576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3163823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YTD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20240" y="3163823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$19,257,748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37560" y="3163823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$5,965,993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63440" y="3163823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$951,263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897879" y="3163823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$-4,155,926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86599" y="3163823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4,661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00999" y="3163823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3,166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15399" y="3163823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479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829799" y="3163823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10.3%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5760" y="3611879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Green = up vs prior month  |  Red = down vs prior month or negative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DSG In My Portfolio — Alexis Berry-Smith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Dirt, Sand &amp; Gravel program performance across this bdm's agencies  |  2026 YTD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141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DSG SUBMISSIONS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BOUND ACCOUNTS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D28D9"/>
                </a:solidFill>
                <a:latin typeface="Segoe UI"/>
              </a:defRPr>
            </a:pPr>
            <a:r>
              <a:t>$126,384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GROSS WRITTEN PREM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59669"/>
                </a:solidFill>
                <a:latin typeface="Segoe UI"/>
              </a:defRPr>
            </a:pPr>
            <a:r>
              <a:t>4.3%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 RATE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1133856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322576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DSG ACTIVITY BY AGENCY (top 8 by submissions)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0048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6700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6700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Declined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6700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6700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Bind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26700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44368"/>
            <a:ext cx="11338559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980944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Network Truck Insurance Services, Inc.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9809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9809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9809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9809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298094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291839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Pacific Atlantic Insurance Services Inc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2918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32918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2918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2918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5.3%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329183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$15,509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566159"/>
            <a:ext cx="11338559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602735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Truckers Insurance Services LLC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360273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360273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360273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360273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7.7%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3602735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$14,583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913631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A.S.I.A Inc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39136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39136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39136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39136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0" y="391363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187951"/>
            <a:ext cx="11338559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224527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Alex Rue Insurance Agency, Inc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63440" y="42245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42245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0" y="42245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42245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11.1%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84080" y="4224527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$19,077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4535423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Berrier Insurance Agency, Inc.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63440" y="4535423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0" y="4535423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23760" y="4535423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3920" y="4535423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4080" y="4535423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809743"/>
            <a:ext cx="11338559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4846319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MST INSURANCE SERVICES INC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3440" y="484631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43600" y="484631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23760" y="484631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03920" y="484631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25.0%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84080" y="484631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$61,451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5157215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Amerigo Insurance Agency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63440" y="515721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43600" y="515721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23760" y="515721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03920" y="515721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84080" y="5157215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594360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Segoe UI"/>
              </a:defRPr>
            </a:pPr>
            <a:r>
              <a:t>States with DSG bound business in this book: CA, ID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Fleet In My Portfolio — Alexis Berry-Smith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Fleet business (4+ power units) across this bdm's agencies  |  2026 YTD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707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SUBMISSIONS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157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D28D9"/>
                </a:solidFill>
                <a:latin typeface="Segoe UI"/>
              </a:defRPr>
            </a:pPr>
            <a:r>
              <a:t>$20,724,680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GWP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AVG UNITS / SUB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694944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322576"/>
            <a:ext cx="67665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FLEET BY AGENCY (top 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004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6700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6700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26700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Bind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700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44368"/>
            <a:ext cx="69494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98094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Stellar Management, Inc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980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980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2980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8.1%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980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$1,674,908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29183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A.S.I.A Inc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32918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2918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32918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14.4%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2918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$1,476,925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566159"/>
            <a:ext cx="69494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602735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Aic Insurance Agency LLC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360273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360273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360273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24.0%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60273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$3,330,633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913631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Amerigo Insurance Agency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39" y="39136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39136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7840" y="39136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26.4%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39136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$4,199,135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187951"/>
            <a:ext cx="69494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22452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Alex Rue Insurance Agency, Inc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49039" y="42245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42245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77840" y="42245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28.8%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42245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$2,513,250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4535423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Roadways Commercial Insurance Services Inc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49039" y="453542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453542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77840" y="453542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51.4%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453542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$1,900,623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809743"/>
            <a:ext cx="69494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48463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MST INSURANCE SERVICES INC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49039" y="484631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484631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77840" y="484631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31.0%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484631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$1,547,695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5157215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Network Truck Insurance Services, Inc.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49039" y="515721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515721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77840" y="515721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92240" y="515721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589520" y="2286000"/>
            <a:ext cx="420624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99248" y="2322576"/>
            <a:ext cx="40233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FLEET SIZE MIX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80960" y="26700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4-5 units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98280" y="26700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338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04120" y="26700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(48%)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80960" y="30358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6-10 units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98280" y="30358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252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04120" y="30358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(36%)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80960" y="34015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11-25 units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98280" y="34015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113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04120" y="34015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(16%)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80960" y="37673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26-50 units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98280" y="37673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104120" y="37673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(0%)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80960" y="413308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51+ units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98280" y="413308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104120" y="4133087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(0%)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" y="612648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Segoe UI"/>
              </a:defRPr>
            </a:pPr>
            <a:r>
              <a:t>Bind rate on fleet: 22.2%  ·  Declined: 150  ·  Source: cw_rep.transportation_submissions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Agency Producers — Alexis Berry-Smith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Jan–May 2026  |  Individual agents ranked by YTD submissions  |  Agent = broker_contact on submission  |  Trend = MoM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4284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YTD Subs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9464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267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YTD Binds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6048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6.2%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Portfolio Hit Ratio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42631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60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Active Agents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29215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57%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Top 5 Agent Share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" y="1536192"/>
            <a:ext cx="576072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" y="1572768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TOP AGENTS BY SUBMISSIONS  —  Ranked 1–18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" y="1874519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Agent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1368" y="1874519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4528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8888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Hit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13248" y="187451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MoM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2048255"/>
            <a:ext cx="565099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" y="2103120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8" y="2121408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Raman Palta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01368" y="212140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Stellar Management, Inc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0168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913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24528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18888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13248" y="2121408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" y="236098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Shubham Kamra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01368" y="236098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A.s.i.a Inc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0168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461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24528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18888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7.6%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13248" y="236098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" y="2582265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6888" y="2600553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Deepak Goswami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01368" y="2600553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A.s.i.a Inc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30168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363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24528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18888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5.0%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13248" y="2600553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888" y="2840126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Angelica Puente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01368" y="284012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Truckers Insurance Services Ll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30168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360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24528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18888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7.8%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13248" y="2840126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7160" y="3061411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6888" y="3079699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Parmjit Dhami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01368" y="3079699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Amerigo Insurance Agency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30168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24528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18888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1.8%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13248" y="3079699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6888" y="3319272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Alexander Rue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01368" y="331927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Alex Rue Insurance Agency, Inc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30168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159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24528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18888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7.5%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13248" y="3319272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3540556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46888" y="3558844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Manjit Singh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01368" y="355884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Roadways Commercial Insurance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30168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134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24528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18888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14.9%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13248" y="3558844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46888" y="3798417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Dmitri Omelco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01368" y="3798417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Aic Insurance Agency Llc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30168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132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24528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18888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7.6%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13248" y="3798417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37160" y="4019702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46888" y="403799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Paul Metlenko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801368" y="403799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Insurance Mobile Services, Inc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630168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97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224528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18888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20.6%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13248" y="403799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46888" y="4277563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Jessie Ghangas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801368" y="4277563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Pacific Atlantic Insurance Ser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630168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92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24528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18888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8.7%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413248" y="4277563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37160" y="4498848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46888" y="4517136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Jasvir Kaur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801368" y="451713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Grant Line Insurance Agency, I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630168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92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224528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818888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5.4%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13248" y="4517136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46888" y="4756708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Veronica Buruian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801368" y="475670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Aic Insurance Agency Llc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630168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82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224528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818888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413248" y="4756708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37160" y="4977993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46888" y="4996281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Baldev Singh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801368" y="4996281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A.s.i.a Inc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630168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68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224528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818888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16.2%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413248" y="4996281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46888" y="5235854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Raman Kailey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801368" y="523585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American Continental Insurance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630168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67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224528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818888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3.0%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413248" y="5235854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37160" y="5457139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46888" y="5475427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Sandy Gill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801368" y="5475427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J &amp; S Insurance Agency Inc.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630168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61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224528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818888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4.9%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413248" y="5475427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46888" y="571500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Michael Erbes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801368" y="571500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Walker Insurance Agency, Inc.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630168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59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224528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818888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11.9%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413248" y="571500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37160" y="5936284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246888" y="5954572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Manmdeep Thiara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801368" y="595457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MST INSURANCE SERVICES INC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630168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58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224528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818888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10.3%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413248" y="5954572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46888" y="6194145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Nick Lobodiuk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801368" y="6194145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Aic Insurance Agency Llc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630168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52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224528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818888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9.6%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413248" y="6194145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6245352" y="1536192"/>
            <a:ext cx="576072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6355080" y="1572768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CONTINUED  —  Ranked 19–36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355080" y="1874519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Agent Name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909560" y="1874519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738360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332720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927080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Hit %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1521440" y="187451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MoM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291072" y="2048255"/>
            <a:ext cx="565099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6245352" y="2103120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355080" y="2121408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Veniamin Omelko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909560" y="212140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Aic Insurance Agency Llc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738360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0332720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0927080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1521440" y="2121408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355080" y="236098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Grigoriy Gasan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909560" y="236098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Aic Insurance Agency Llc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738360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0332720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0927080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1521440" y="236098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6245352" y="2582265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6355080" y="2600553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Sukhnek Bahia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909560" y="2600553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West Reliance Insurance Broker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738360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0332720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927080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7.9%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1521440" y="2600553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355080" y="2840126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Josh Thomas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7909560" y="284012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Network Truck Insurance Servic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9738360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0332720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0927080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1521440" y="2840126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6245352" y="3061411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6355080" y="3079699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No Given Name Rahul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909560" y="3079699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A.s.i.a Inc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9738360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0332720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927080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2.8%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1521440" y="3079699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6355080" y="3319272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Tanya Golovina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7909560" y="331927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Aic Insurance Agency Llc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9738360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0332720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0927080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20.0%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1521440" y="3319272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6245352" y="3540556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6355080" y="3558844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KAVI Singh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7909560" y="355884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Kavi.llc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9738360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0332720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0927080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17.6%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11521440" y="3558844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6355080" y="3798417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PABLO ROMAN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7909560" y="3798417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Berrier Insurance Agency, Inc.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9738360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0332720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0927080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8.8%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1521440" y="3798417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6245352" y="4019702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6355080" y="403799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Karmjit Bahia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7909560" y="403799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Key Insurance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9738360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0332720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10927080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3.1%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1521440" y="403799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6355080" y="4277563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Matthew Munoz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7909560" y="4277563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Berrier Insurance Agency, Inc.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9738360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0332720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10927080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1521440" y="4277563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6245352" y="4498848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6355080" y="4517136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Brandon Fagliano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7909560" y="451713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Network Truck Insurance Servic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9738360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10332720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10927080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3.6%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11521440" y="4517136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6355080" y="4756708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No Name Given Sandeep Ku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7909560" y="475670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A.s.i.a Inc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9738360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10332720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10927080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11521440" y="4756708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6245352" y="4977993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6355080" y="4996281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Brian Nicosia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7909560" y="4996281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Network Truck Insurance Servic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9738360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10332720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10927080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11521440" y="4996281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6355080" y="5235854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Omar Morquecho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7909560" y="523585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Monumental Insurance Services,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9738360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0332720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10927080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1521440" y="5235854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B72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6245352" y="5457139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6355080" y="5475427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Chris Del Pozzo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7909560" y="5475427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Network Truck Insurance Servic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9738360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0332720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10927080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11521440" y="5475427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6355080" y="571500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Andrei Omelco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7909560" y="571500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Aic Insurance Agency Llc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9738360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10332720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10927080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8.7%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11521440" y="571500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6245352" y="5936284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6355080" y="5954572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Parmpaul Thandi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909560" y="595457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Soho Insurance Brokerage, Inc.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9738360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10332720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10927080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5.0%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11521440" y="5954572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6355080" y="6194145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KRISHNA DAND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7909560" y="6194145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Berrier Insurance Agency, Inc.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9738360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10332720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10927080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5.6%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11521440" y="6194145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274320" y="6510528"/>
            <a:ext cx="1170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Segoe UI"/>
              </a:defRPr>
            </a:pPr>
            <a:r>
              <a:t>Source: Metabase  |  Agent = broker_contact_user_id on submission record  |  Hit ratio = binds / subs  |  MoM = month-over-month  |  2 subs had no agent mapped (broker_contact_user_id not set)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Top Performers vs Underperformers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Jan–May 2026  |  Standouts and agencies needing attention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5486400" cy="329184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5F46"/>
                </a:solidFill>
                <a:latin typeface="Segoe UI"/>
              </a:defRPr>
            </a:pPr>
            <a:r>
              <a:t>EXCEEDING — Top 5</a:t>
            </a:r>
          </a:p>
        </p:txBody>
      </p:sp>
      <p:sp>
        <p:nvSpPr>
          <p:cNvPr id="7" name="Rectangle 6"/>
          <p:cNvSpPr/>
          <p:nvPr/>
        </p:nvSpPr>
        <p:spPr>
          <a:xfrm>
            <a:off x="6336792" y="914400"/>
            <a:ext cx="5486400" cy="329184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96012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91B1B"/>
                </a:solidFill>
                <a:latin typeface="Segoe UI"/>
              </a:defRPr>
            </a:pPr>
            <a:r>
              <a:t>NEEDS ATTENTION — Bottom 5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7160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35331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A.s.i.a Inc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55448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$2,124,989  |  Subs 976  |  Binds 66  |  HR 6.8%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79222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Hit ratio 6.8% (portfolio avg: 6.2%)  |  $2,124,989 YTD GWP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37744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35915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Truckers Insurance Services Llc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56032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$832,903  |  Subs 360  |  Binds 28  |  HR 7.8%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79806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Hit ratio 7.8% (portfolio avg: 6.2%)  |  $832,903 YTD GWP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38328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36499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Roadways Commercial Insurance Services Inc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56616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$1,036,095  |  Subs 134  |  Binds 20  |  HR 14.9%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80390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Hit ratio 14.9% (portfolio avg: 6.2%)  |  $1,036,095 YTD GWP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38912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37083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Stellar Management, Inc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57200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$706,072  |  Subs 913  |  Binds 26  |  HR 2.8%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0974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$706,072 YTD GWP  |  26 binds in Q1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39496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37667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Aic Insurance Agency Llc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57784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$660,989  |  Subs 413  |  Binds 26  |  HR 6.3%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81558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Hit ratio 6.3% (portfolio avg: 6.2%)  |  $660,989 YTD GWP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82512" y="137160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135331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Monumental Insurance Services, Llc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9712" y="155448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$69,299  |  Subs 24  |  Binds 0  |  HR 0.0%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39712" y="179222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24 submissions with 0 binds - zero conversion  |  18 quotes generated but 0 converted to binds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82512" y="237744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9712" y="235915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Pacific Atlantic Insurance Services Inc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9712" y="256032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$320,638  |  Subs 92  |  Binds 8  |  HR 8.7%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9712" y="279806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Cancellations are 152% of new business ($348,359 vs $228,837)  |  Submissions dropped 65% MoM (34 -&gt; 12)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82512" y="338328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9712" y="336499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Amerigo Insurance Agency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9712" y="356616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$194,350  |  Subs 326  |  Binds 6  |  HR 1.8%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9712" y="380390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Hit ratio only 1.8% on 326 subs  |  New business dropped sharply MoM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82512" y="438912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39712" y="437083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J &amp; S Insurance Agency Inc.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9712" y="457200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$51,411  |  Subs 61  |  Binds 3  |  HR 4.9%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39712" y="480974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Cancellations are 238% of new business ($63,999 vs $26,866)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82512" y="539496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39712" y="537667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American Continental Insurance Services 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39712" y="557784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$48,613  |  Subs 70  |  Binds 3  |  HR 4.3%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39712" y="581558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Cancellations are 165% of new business ($61,279 vs $37,175)  |  Submissions dropped 58% MoM (19 -&gt; 8)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Agencies I Appointed — Alexis Berry-Smith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OKR 4 progress  |  Q2 goal: 4 new producing agencies  |  Source: HubSpot Net New Agency / Activated Won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C2626"/>
                </a:solidFill>
                <a:latin typeface="Segoe UI"/>
              </a:defRPr>
            </a:pPr>
            <a:r>
              <a:t>0 of 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Q2 OKR 4 PROGRESS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APPOINTED YTD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D28D9"/>
                </a:solidFill>
                <a:latin typeface="Segoe UI"/>
              </a:defRPr>
            </a:pPr>
            <a:r>
              <a:t>—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AVG TIME TO 1ST SUB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D28D9"/>
                </a:solidFill>
                <a:latin typeface="Segoe UI"/>
              </a:defRPr>
            </a:pPr>
            <a:r>
              <a:t>—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AVG TIME TO 1ST BIND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SUBS POST-APPT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11827"/>
                </a:solidFill>
                <a:latin typeface="Segoe UI"/>
              </a:defRPr>
            </a:pPr>
            <a:r>
              <a:t>Activation: 0/0 appointed agencies have submitted (0%)  •  0/0 have bound (0%)  •  Total bound: 0  •  Total GWP: $0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40280"/>
            <a:ext cx="1143000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2768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APPOINTED AGENCIES (newest first)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0604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60604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Appointed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60604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26060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Days to 1st Sub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260604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6060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Days to 1st Bind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6060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7280"/>
                </a:solidFill>
                <a:latin typeface="Segoe UI"/>
              </a:defRPr>
            </a:pPr>
            <a:r>
              <a:t>No Activated Won appointments in this book year-to-date.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9224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OKR 4 source: HubSpot Net New Agency Prospect Pipeline · Activated Won stage · only 'Appointed - ' prefix deals count (matches BD Rep Scoreboard). BDMs scored on count vs goal of 4/quarter.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Strategic Assessment &amp; Priorities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Alexis Berry-Smith Portfolio  |  Jan–May 2026  |  Strengths, gaps, and ranked action items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5486400" cy="36576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Top 3 (A.s.i.a Inc, Roadways Commercial Insur, Truckers Insurance Servic) drive $3,993,987 (45%) of portfolio YTD GWP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82496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8249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Strong hit ratios: Insurance Mobile Ser (20.6%), Roadways Commercial  (14.9%), Kavi.llc (14.6%)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9339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9339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21 agencies converting submissions to bound business in Jan–May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0428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30428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4,284 total submissions across 22 active agencies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914400"/>
            <a:ext cx="5486400" cy="36576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960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91B1B"/>
                </a:solidFill>
                <a:latin typeface="Segoe UI"/>
              </a:defRPr>
            </a:pPr>
            <a:r>
              <a:t>NEEDS ATTENTION - Areas for Improvement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13716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371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 agencies submitting but 0 binds (24 subs): Monumental Insurance (24)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1682496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68249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Low hit ratios need coaching: Amerigo Insurance Ag (1.8%), Stellar Management,  (2.8%)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926080"/>
            <a:ext cx="1143000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971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TOP STRATEGIC PRIORITIES — Ranked by Estimated Impact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42900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41071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Reduce Cancellation Rates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6393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13 agencies with cancellations &gt;40% of new biz: A.s.i.a Inc, Roadways Commercial Insur, Truckers Insurance Servic. $3,563,352 total cancellations - investigate retention.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06908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0507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Scale Top Performers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2793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Double down on high-converting agencies: A.s.i.a Inc, Roadways Commercial Insur, Truckers Insurance Servic. Increase submission volume 20% through marketing support and referral incentives.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70916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6908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Improve Low Hit Ratio Agencies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9194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2 agencies with 20+ subs but &lt;3% HR: Amerigo Insurance Ag (1.8%), Stellar Management,  (2.8%). Conduct submission quality training to lift conversion 2-3 points.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34924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33095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Develop High-Volume Growth Candidates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5595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5 agencies with 30+ subs and some binds but &lt;5% HR: Stellar Management,  (913s/26b), Amerigo Insurance Ag (326s/6b), Network Truck Insura (187s/8b). Small HR improvements on large volume = significant premium lift.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98932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97103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Protect Renewal Book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$951,263 in Q1 renewal premium. Proactively engage renewal agencies 60 days pre-expiration to maximize retention.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Recently Bound Submissions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Alexis Berry-Smith  |  Last 25 Bound Submissions  |  267 Total Bound in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#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05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 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005840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100584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Insured (Account)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00584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12680" y="100584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Premium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59" y="100584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Bind Date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207008"/>
            <a:ext cx="111556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2801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280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267829879438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128016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Grant Line Insurance Agency, Inc.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2801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BE SMART TRADE INC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12801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Jasvir Kaur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128016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$20,548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59" y="128016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22,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1463040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148132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14813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260795610663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148132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Roadways Commercial Insurance Serv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148132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DAKHA CARRIERS INC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148132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Manjit Singh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148132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$73,126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59" y="148132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21,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168249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16824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255307470618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168249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Insurance Mobile Services, Inc.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168249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UNITED TRANSPORTATION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168249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Paul Metlenko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168249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$6,700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59" y="168249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21, 2026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1865376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188366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18836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264048551080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188366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Walker Insurance Agency, Inc.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00600" y="188366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SENMEE LOADZ LLC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188366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Michael Erbes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12680" y="188366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$20,683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59" y="188366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21,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20848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208483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263340390858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0" y="208483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A.s.i.a Inc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00600" y="208483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MEHROK AND COMPANY INC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208483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Shubham Kamra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12680" y="208483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$85,761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59" y="208483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20, 2026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2267712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22860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22860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269600186080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28800" y="228600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Insurance Mobile Services, Inc.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00600" y="228600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Statewide Transportation LLc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22860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Paul Metlenko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12680" y="228600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$7,594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38559" y="228600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20, 2026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248716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" y="24871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256492140667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28800" y="248716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Berrier Insurance Agency, Inc.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00600" y="248716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CALPRIME LOGISTICS INC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35240" y="248716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KRISHNA DAND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12680" y="248716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$15,976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338559" y="248716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20, 2026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2670048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26883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4400" y="268833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259454135454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828800" y="268833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Stellar Management, Inc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00600" y="268833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ROYAL STAR LOGISTICS INC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35240" y="268833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Raman Palta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012680" y="268833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$190,394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338559" y="268833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20, 2026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" y="288950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4400" y="288950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268065250263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828800" y="288950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A.s.i.a Inc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00600" y="288950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HMG LOGISTICS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35240" y="288950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Shubham Kamra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012680" y="288950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$20,495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338559" y="288950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19, 2026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3072384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48640" y="309067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14400" y="309067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265574398893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828800" y="309067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A.s.i.a Inc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00600" y="309067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BMS TRUCKING INC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635240" y="309067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Deepak Goswami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012680" y="309067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$19,284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338559" y="309067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19, 2026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" y="32918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14400" y="32918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255351899555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828800" y="329184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Key Insurance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800600" y="329184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AB TRUCKLINES INC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635240" y="32918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Kristina Vasilchenko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012680" y="32918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$17,179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338559" y="32918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19, 2026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7200" y="3474720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48640" y="349300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14400" y="349300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260114960143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828800" y="349300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A.s.i.a Inc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800600" y="349300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ALL ROUTES TRUCKING INC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635240" y="349300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Shubham Kamra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012680" y="349300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1338559" y="349300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18, 2026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48640" y="369417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14400" y="369417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259907563344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828800" y="369417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Stellar Management, Inc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800600" y="369417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WARRAICH CARRIER INC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635240" y="369417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Raman Palta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012680" y="369417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$32,725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338559" y="369417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18, 2026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57200" y="3877056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48640" y="389534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14400" y="389534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269935153800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828800" y="389534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Amerigo Insurance Agency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800600" y="389534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PRIME POWER INC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635240" y="389534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Parmjit Dhami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012680" y="389534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$234,322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1338559" y="389534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18, 2026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48640" y="409651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14400" y="409651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251986217800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828800" y="409651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Key Insurance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800600" y="409651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BBJ TRUCKS INC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635240" y="409651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Kristina Vasilchenko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012680" y="409651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$81,068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1338559" y="409651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18, 2026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57200" y="4279392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48640" y="429768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14400" y="42976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256437447303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828800" y="429768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J &amp; S Insurance Agency Inc.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800600" y="429768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G N CARGO INC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2976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Sandy Gill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012680" y="429768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$13,192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1338559" y="429768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15, 2026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48640" y="449884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14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262744285579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828800" y="449884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A.s.i.a Inc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800600" y="449884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ROADRIDER TRANS INC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635240" y="449884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Shubham Kamra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012680" y="449884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$38,740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1338559" y="449884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14, 2026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457200" y="4681728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548640" y="470001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14400" y="470001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259492100429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828800" y="470001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Roadways Commercial Insurance Serv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800600" y="470001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KRISHNA TRANZ INC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7635240" y="470001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Manjit Singh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012680" y="470001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$30,243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1338559" y="470001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14, 2026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48640" y="490118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14400" y="490118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264763529347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828800" y="490118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Aic Insurance Agency Llc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800600" y="490118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KABLAN LLC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635240" y="490118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Dmitri Omelco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012680" y="490118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1338559" y="490118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14, 2026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457200" y="5084064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548640" y="51023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914400" y="51023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266619538571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828800" y="510235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A.s.i.a Inc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800600" y="510235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DSR ROADKING INC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635240" y="510235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Shubham Kamra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0012680" y="510235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$17,708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1338559" y="510235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13, 2026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548640" y="53035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914400" y="5303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256055325042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828800" y="530352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Roadways Commercial Insurance Serv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800600" y="530352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GURSHARAN TRANS INC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635240" y="53035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Manjit Singh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0012680" y="530352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$54,188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1338559" y="530352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13, 2026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457200" y="5486400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548640" y="55046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914400" y="550468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268004496164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828800" y="550468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A.s.i.a Inc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4800600" y="550468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AVI CARRIER INC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635240" y="550468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Shubham Kamra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012680" y="550468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$17,963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1338559" y="550468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12, 2026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548640" y="570585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914400" y="570585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268087832012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828800" y="570585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A.s.i.a Inc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4800600" y="570585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PAAK TRANSPORT INC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7635240" y="570585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Baldev Singh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0012680" y="570585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$22,485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1338559" y="570585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12, 2026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457200" y="5888736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548640" y="590702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914400" y="590702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261555840029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828800" y="590702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Soho Insurance Brokerage, Inc.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4800600" y="590702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SPS TRANS CARGO INC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7635240" y="590702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Parmpaul Thandi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10012680" y="590702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$97,277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11338559" y="590702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12, 2026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548640" y="610819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914400" y="610819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262601295613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828800" y="610819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Truckers Insurance Services Llc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4800600" y="610819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RANCHO ESTRELLA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7635240" y="610819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Angelica Puente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10012680" y="610819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$17,785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11338559" y="610819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11, 2026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548640" y="6345936"/>
            <a:ext cx="11155680" cy="1097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548640" y="6400800"/>
            <a:ext cx="7863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Total (Last 25 Submissions)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8412480" y="6400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$1,136,538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Renewal Watch — Next 90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Alexis Berry-Smith  |  Active in-force policies expiring through Aug 24,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74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POLICIES 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D28D9"/>
                </a:solidFill>
                <a:latin typeface="Segoe UI"/>
              </a:defRPr>
            </a:pPr>
            <a:r>
              <a:t>$1,364,391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PREMIUM AT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DC2626"/>
                </a:solidFill>
                <a:latin typeface="Segoe UI"/>
              </a:defRPr>
            </a:pPr>
            <a:r>
              <a:t>19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EXPIRE ≤30 DAYS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26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31-60 DAYS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29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61-90 DAYS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93392"/>
            <a:ext cx="1143000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029968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POLICIES EXPIRING (sorted by date — earliest first)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591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35915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 #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35915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Insured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35915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Exp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35915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35915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Coverage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5480" y="2359152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59" y="235915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State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633472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6700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Kavi.llc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267004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259325078093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26700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NEW SARAI TRUCKING INC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6700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267004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26700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267004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$15,374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59" y="267004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298094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A.s.i.a Inc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298094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258555155114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298094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SSA HAULERS LLC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298094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2026-05-28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298094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29809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2980944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59" y="298094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255263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329183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A.s.i.a Inc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329183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252037311719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31920" y="329183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JETBLUE LOGISTICS INC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329183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2026-05-29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79" y="329183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3d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329183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55480" y="3291839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$18,800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81359" y="329183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3602735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Kavi.llc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0" y="3602735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256955531582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0" y="3602735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ROAD HUNTER TRUCKERS INC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0" y="3602735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2026-05-29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5279" y="3602735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3d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58200" y="3602735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55480" y="3602735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$19,932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81359" y="3602735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77055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913631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Insurance Mobile Services, Inc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43200" y="3913631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258944420209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31920" y="391363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XOREZMIS INC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49440" y="3913631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2026-06-05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55279" y="3913631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10d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58200" y="3913631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55480" y="3913631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$2,223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81359" y="3913631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OH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" y="422452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Berrier Insurance Agency, Inc.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43200" y="4224527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259112955693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31920" y="4224527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NIRMAL SINGH SANGHA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49440" y="4224527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2026-06-05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55279" y="4224527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10d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58200" y="422452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555480" y="4224527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$20,892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881359" y="4224527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" y="4498847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5760" y="4535423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A.s.i.a Inc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43200" y="4535423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259275145407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931920" y="4535423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GRD TRUCKLINE INC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49440" y="4535423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2026-06-05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55279" y="4535423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10d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458200" y="4535423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555480" y="4535423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881359" y="4535423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65760" y="484631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Grant Line Insurance Agency, I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43200" y="484631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258718145941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931920" y="48463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N S T LLC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949440" y="484631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2026-06-06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955279" y="484631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11d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58200" y="484631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555480" y="4846319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$13,794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881359" y="484631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65760" y="5120639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65760" y="5157215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A.s.i.a Inc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743200" y="5157215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252901755001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931920" y="5157215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TESLA TRANSPORTATION INC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49440" y="5157215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2026-06-06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955279" y="5157215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11d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458200" y="5157215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555480" y="5157215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$14,805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881359" y="5157215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65760" y="5468111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Stellar Management, Inc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743200" y="5468111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258912692062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931920" y="546811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DASH TRANS LLC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949440" y="5468111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2026-06-07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955279" y="5468111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12d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458200" y="5468111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555480" y="5468111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$18,064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881359" y="5468111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WA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65760" y="5742431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65760" y="577900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Insurance Mobile Services, Inc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743200" y="5779007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252976698841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931920" y="5779007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Andrei Haholkin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949440" y="5779007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2026-06-09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955279" y="5779007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14d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458200" y="577900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555480" y="5779007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881359" y="5779007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65760" y="6089903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Stellar Management, Inc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743200" y="6089903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255784151503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931920" y="6089903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GMH TRANSPORT INC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949440" y="6089903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2026-06-10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955279" y="6089903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15d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458200" y="6089903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555480" y="6089903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$20,903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881359" y="6089903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65760" y="6364223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65760" y="640079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Stellar Management, Inc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743200" y="640079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256274799556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931920" y="640079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ITS BAJWA INC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949440" y="640079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2026-06-11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955279" y="640079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16d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458200" y="640079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555480" y="6400799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$17,276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881359" y="640079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65760" y="6492240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Showing 13 of 74 upcoming renewals  |  Source: dw_reader.policy_premium  |  Active in-force only  |  Sorted by expiration date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Pending Cancellations — Save List — Next 90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Alexis Berry-Smith  |  Policies with cancellation_date on or before Aug 24, 2026  |  Sorted by urgency — call these agencies first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POLICIES PENDING CANCEL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PREMIUM AT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5966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≤30 DAYS (URGENT)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≤30 DAY PREMIUM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D28D9"/>
                </a:solidFill>
                <a:latin typeface="Segoe UI"/>
              </a:defRPr>
            </a:pPr>
            <a:r>
              <a:t>—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TOP REASON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93392"/>
            <a:ext cx="1143000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029968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PENDING CANCELS (sorted by cancel date — earliest first)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5915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5915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Cancel 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235915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 #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359152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Insured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2359152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235915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LOB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235915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359152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3591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Reason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6576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59669"/>
                </a:solidFill>
                <a:latin typeface="Segoe UI"/>
              </a:defRPr>
            </a:pPr>
            <a:r>
              <a:t>No pending cancellations in the next 90 days for this book. 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92240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Showing 0 of 0 pending cancels  |  Source: dw_reader.policy_premium  |  Non-payment = green (most savable), Insured-requested = red, Days ≤14 = red  |  Action: contact agency, confirm reinstatement plan, escalate non-payment cases for billing fix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A.s.i.a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1  |  Region: Pacific Northwest  |  State: CA  |  City: Roseville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$2,124,989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$1,281,263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$19,881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$823,844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$-1,293,539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$2,385,932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$3,954,625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74%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976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6.8%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$145,894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$1,393,200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$154,626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$108,564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$46,062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$-46,278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$214,475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$82,383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$132,092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$-248,423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$564,150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$288,349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$275,800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$-277,377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$836,115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$574,702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$19,881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$241,532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$-411,892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$355,623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$227,265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$128,358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$-309,568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$2,124,989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$1,281,263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$19,881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$823,844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$-1,293,539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9.7%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8.3%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243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220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9.9%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254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237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13.8%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221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7.7%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976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890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6.8%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186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243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254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172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1048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$36K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$155K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$36K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$214K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$222K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$564K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$103K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$836K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$160K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$356K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$556K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$2.1M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$2,124,989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$1,281,263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101% of new business ($1,293,539)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57%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$1,281,263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$1,293,539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Roadways Commercial Insurance Services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1  |  Region: Pacific Northwest  |  State: CA  |  City: Sacramento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$1,036,095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$715,605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$33,536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$286,953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$-493,268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$737,616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$1,785,300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117%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134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14.9%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$506,832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$396,931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$306,192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$169,361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$136,831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$-104,966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$353,038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$233,140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$33,536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$86,362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$-140,238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$120,349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$78,610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$41,739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$-61,497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$156,264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$121,313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$34,951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$-186,568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$100,252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$113,182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$-12,930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$1,036,095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$715,605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$33,536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$286,953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$-493,268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36.4%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32.4%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17.1%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16.2%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15.6%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134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14.9%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155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171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$306K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$353K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$-15,932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$120K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$156K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$100K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$-11,589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$1.0M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$1,036,095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$715,605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69% of new business ($493,268)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$715,605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$493,268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Truckers Insurance Services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Pacific Northwest  |  State: N/A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$832,903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$692,043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$29,398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$111,462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$-375,250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$634,300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$1,467,203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109%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360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7.8%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$591,791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$231,418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$180,687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$50,732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$-131,712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$223,956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$192,570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$31,386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$-96,703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$170,535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$148,379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$22,156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$-39,508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$142,834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$120,883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$21,951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$-88,590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$64,160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$49,525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$29,398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$-14,763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$-18,738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$832,903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$692,043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$29,398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$111,462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$-375,250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11.2%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8.6%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14.5%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47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6.2%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360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353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7.8%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76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48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393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$231K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$224K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$171K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$143K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$64K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$833K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$832,903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$692,043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54% of new business ($375,250)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55%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$692,043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$375,250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Alex Rue Insurance Agency,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1  |  Region: Pacific Northwest  |  State: CA  |  City: Roseville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$711,343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$719,941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$49,093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$-57,691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$-267,742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$526,779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$937,512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113%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159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7.5%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$573,614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$142,910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$67,641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$37,909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$19,500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$10,232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$-2,172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$343,848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$387,828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$-43,980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$249,225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$220,246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$29,593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$-614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$-128,956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$-11,990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$5,092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$-17,082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$-135,964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$62,619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$68,867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$-6,248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$-650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$711,343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$719,941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$49,093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$-57,691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$-267,742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17.1%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12.8%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10.8%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15.6%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8.8%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159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133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7.5%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114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177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$37K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$68K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$43K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$344K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$103K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$249K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$39K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$-11,990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$79K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$63K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$301K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$711K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$711,343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$719,941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significant concerns identified this quarter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Continue monitoring performance metrics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$719,941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$267,742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Stellar Management,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1  |  Region: Pacific Northwest  |  State: WA  |  City: Seattle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$706,072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$250,848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$337,650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$117,574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$-245,545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$2,606,142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$2,142,412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23%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913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2.8%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$508,536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$566,073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$96,490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$65,566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$30,924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$-67,434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$53,528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$16,446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$18,765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$18,317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$-24,186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$437,395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$113,238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$318,885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$5,272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$-66,144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$66,054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$46,821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$19,232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$-57,681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$52,604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$8,776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$43,828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$-30,100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$706,072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$250,848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$337,650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$117,574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$-245,545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5.8%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5.7%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230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208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4.8%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5.3%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2.9%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913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805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2.8%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77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189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139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230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189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155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604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954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$96K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$168K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$54K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$467K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$437K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$290K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$66K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$236K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$53K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$1.2M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$706K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$706,072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$250,848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2.8% hit ratio on 913 subs - needs coaching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98% of new business ($245,545)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(913 subs, only 26 binds). Ask: "What are the top 2 reasons your clients go elsewhere?" Use answers to tailor appetite and pricing discussions.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$250,848 in new business. Ask: "What types of accounts are you seeing the most success with?" Use this to identify more of their book that fits our appetite.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Aic Insurance Agency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1  |  Region: Pacific Northwest  |  State: OR  |  City: Redmond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$660,989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$502,972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$27,253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$130,764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$-89,495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$1,633,938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$1,533,557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34%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413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6.3%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$345,080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$304,511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$85,643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$20,891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$18,752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$46,000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$-8,152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$48,913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$46,715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$2,198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$-10,822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$200,190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$136,953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$5,532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$57,705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$-36,388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$219,616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$218,540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$1,076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$-17,305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$106,628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$79,873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$2,970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$23,785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$-16,829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$660,989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$502,972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$27,253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$130,764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$-89,495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11.8%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11.8%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17.2%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87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10.6%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6.6%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413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349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6.3%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87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361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451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$89K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$86K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$-6,595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$49K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$136K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$200K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$422K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$220K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$121K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$107K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$761K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$661K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$660,989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$502,972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51% month-over-month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$502,972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Volume dropped significantly last month. Lead with curiosity, not concern: "I noticed things slowed down - anything going on I can help with?" Identify if it's seasonal, competitive, or operational.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MST INSURANCE SERVICES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Pacific Northwest  |  State: CA  |  City: Tracy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$344,599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$169,304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$25,796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$149,499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$-186,648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$250,880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$468,599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114%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10.3%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$174,900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$163,787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$146,079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$146,079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$-131,437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$45,009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$5,851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$25,796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$13,362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$18,567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$26,215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$-7,648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$-24,707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$134,944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$137,238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$-2,294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$-30,504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$344,599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$169,304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$25,796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$149,499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$-186,648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21.4%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7.1%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21.1%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10.3%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59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67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$146K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$80K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$45K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$19K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$26K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$135K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$395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$127K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$345K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$344,599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$169,304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110% of new business ($186,648)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100%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$169,304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$186,648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Pacific Atlantic Insurance Services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1  |  Region: Pacific Northwest  |  State: CA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$320,638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$228,837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$91,801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$-348,359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$645,355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$965,992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41%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92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8.7%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$191,340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$207,801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$38,490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$38,490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$-191,824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$50,509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$50,509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$-144,445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$200,371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$213,327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$-12,957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$31,268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$15,509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$15,758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$-12,090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$320,638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$228,837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$91,801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$-348,359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14.3%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14.8%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14.7%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8.7%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107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$38K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$51K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$200K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$31K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$321K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$320,638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$228,837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152% of new business ($348,359)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84%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$228,837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$348,359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Insurance Mobile Services,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Pacific Northwest  |  State: CA  |  City: Granite Bay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$304,728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$183,956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$51,360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$69,412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$-111,502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$678,966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$734,604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37%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97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20.6%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$27,890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$229,938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$22,735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$6,226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$22,784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$-6,274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$-3,510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$122,936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$56,022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$15,307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$51,607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$-52,571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$47,211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$21,457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$2,450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$23,304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$-53,765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$29,862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$28,961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$901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$-1,655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$81,984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$71,290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$10,819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$-126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$304,728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$183,956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$51,360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$69,412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$-111,502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28.0%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28.0%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23.8%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20.6%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120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115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$96K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$23K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$86K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$123K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$36K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$47K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$-7,915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$30K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$40K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$82K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$249K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$305K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$304,728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$183,956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61% of new business ($111,502)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$183,956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$111,502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Berrier Insurance Agency,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Pacific Northwest  |  State: CA  |  City: Auburn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$268,053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$173,856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$113,951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$-19,754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$629,080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$546,175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36%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106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5.7%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$199,663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$38,287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$139,883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$139,054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$829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$111,682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$107,009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$4,673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$-21,947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$6,942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$-28,889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$1,485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$1,485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$36,950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$34,802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$2,148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$268,053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$173,856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$113,951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$-19,754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18.8%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13.6%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9.4%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8.3%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5.7%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75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114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$140K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$112K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$112K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$181K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$-21,947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$36K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$37K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$351K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$268K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$268,053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$173,856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significant concerns identified this quarter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Continue monitoring performance metrics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$173,856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Strong $113,951 renewal book. Use this as proof of value: "Your retention shows we're delivering - let's find more accounts like these in your pipeline."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Walker Insurance Agency,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Pacific Northwest  |  State: WA  |  City: Longview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$228,400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$152,374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$88,750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$-12,723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$-50,581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$235,693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$378,676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81%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11.5%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$131,924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$182,524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$-14,593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$4,928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$4,928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$98,333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$88,750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$9,583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$-32,838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$38,586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$64,225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$-25,639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$86,566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$88,149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$-1,582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$-3,150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$228,400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$152,374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$88,750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$-12,723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$-50,581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7.1%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9.1%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30.8%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16.7%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11.5%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72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$-14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$26K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$98K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$44K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$39K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$87K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$85K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$228K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$228,400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$152,374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Submission volume dropped from 24 to 10 MoM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$152,374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$50,581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Network Truck Insurance Services,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Pacific Northwest  |  State: CA  |  City: Roseville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$226,868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$116,554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$67,666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$42,648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$-130,983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$761,350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$465,679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25%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187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4.3%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$278,505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$63,137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$27,498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$20,027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$15,612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$-41,247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$7,156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$7,156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$51,293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$51,322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$-24,398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$30,972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$30,577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$395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$74,309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$47,639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$26,669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$-65,338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$226,868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$116,554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$67,666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$42,648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$-130,983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3.3%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17.4%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3.6%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6.4%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7.3%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187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164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4.3%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47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241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196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$107K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$63K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$7K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$178K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$51K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$66K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$31K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$166K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$74K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$523K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$227K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$226,868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$116,554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112% of new business ($130,983)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$116,554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$130,983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Grant Line Insurance Agency,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Pacific Northwest  |  State: CA  |  City: Tracy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$208,853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$164,646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$44,206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$-56,053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$375,490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$503,243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46%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92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5.4%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$162,391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$138,127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$100,027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$38,100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$-21,312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$33,887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$20,548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$13,339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$15,397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$21,428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$-6,031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$-18,246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$21,442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$22,644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$-1,202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$-16,494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$208,853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$164,646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$44,206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$-56,053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13.6%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11.8%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13.3%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6.5%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5.9%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5.4%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43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102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$138K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$81K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$34K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$21K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$81K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$209K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$208,853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$164,646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significant concerns identified this quarter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Continue monitoring performance metrics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$164,646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$56,053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Amerigo Insurance Agency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Pacific Northwest  |  State: CA  |  City: Yuba City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$194,350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$185,109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$9,241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$-41,531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$1,464,780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$1,027,624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326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1.8%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$450,043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$60,385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$9,961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$9,961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$-24,573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$8,040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$8,040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$-3,712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$-59,250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$-59,250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$-4,942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$235,158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$185,109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$50,049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$440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$440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$-8,304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$194,350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$185,109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$9,241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$-41,531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12.8%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2.7%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57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3.5%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326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284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1.8%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107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111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98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57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509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345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$53K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$10K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$187K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$8K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$58K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$-59,250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$213K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$235K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$120K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$440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$632K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$194K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$194,350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$185,109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1.8% hit ratio on 326 subs - needs coaching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100%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(326 subs, only 6 binds). Ask: "What are the top 2 reasons your clients go elsewhere?" Use answers to tailor appetite and pricing discussions.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$185,109 in new business. Ask: "What types of accounts are you seeing the most success with?" Use this to identify more of their book that fits our appetite.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Soho Insurance Brokerage,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Pacific Northwest  |  State: CA  |  City: Dublin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$184,023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$71,427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$112,596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$-86,414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$216,667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$326,151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71%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$97,277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$82,699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$71,427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$11,272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$102,416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$102,416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$-86,414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$-1,261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$-1,261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$169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$169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$184,023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$71,427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$112,596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$-86,414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11.1%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16.7%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47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$826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$83K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$40K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$102K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$33K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$-1,261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$169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$75K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$184K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$184,023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$71,427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121% of new business ($86,414)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$71,427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$86,414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Key Insurance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Pacific Northwest  |  State: WA  |  City: Kent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$132,722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$93,992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$38,729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$-141,425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$132,722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12.5%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$93,992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$226,633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$79,917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$93,992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$-14,075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$22,898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$22,898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$-15,081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$13,104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$13,104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$-102,949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$16,853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$16,853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$-23,395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$132,722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$93,992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$38,729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$-141,425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22.2%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11.1%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12.5%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61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$80K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$23K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$-51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$133K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$132,722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$93,992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150% of new business ($141,425)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$93,992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$141,425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West Reliance Insurance Brokerage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Pacific Northwest  |  State: CA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$118,995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$119,805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$-811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$568,283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$149,966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7.9%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$74,965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$42,390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$42,390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$43,261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$38,961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$4,300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$-120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$32,968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$38,455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$-5,487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$496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$496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$118,995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$119,805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$-811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14.3%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37.5%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7.7%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7.9%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81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$351K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$42K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$28K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$43K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$-7,575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$-120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$94K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$33K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$72K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$496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$537K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$119K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$118,995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$119,805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98% month-over-month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Submission volume dropped from 13 to 5 MoM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$119,805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Volume dropped significantly last month. Lead with curiosity, not concern: "I noticed things slowed down - anything going on I can help with?" Identify if it's seasonal, competitive, or operational.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Kavi.llc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1  |  Region: Pacific Northwest  |  State: CA  |  City: Stockton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$118,275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$74,806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$43,468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$-87,172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$2,606,761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$1,369,811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14.6%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$88,899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$269,955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$43,276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$17,776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$25,499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$-55,318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$-2,838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$-2,838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$70,824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$57,030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$13,794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$-31,854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$7,013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$7,013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$118,275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$74,806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$43,468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$-87,172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5.9%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44.4%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14.6%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51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184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46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$191K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$43K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$202K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$-2,838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$545K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$71K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$102K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$7K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$316K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$1.4M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$118K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$118,275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$74,806 in renewals - strong retention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90% month-over-month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new business - all premium from renewals/endorsements only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Their $74,806 in renewals shows they trust our product. Ask: "What's holding back new submissions?" They may need updated appetite info or a refresher on our quoting process.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Volume dropped significantly last month. Lead with curiosity, not concern: "I noticed things slowed down - anything going on I can help with?" Identify if it's seasonal, competitive, or operational.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Monumental Insurance Services,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Pacific Northwest  |  State: CA  |  City: Concord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$69,299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$52,818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$16,481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$171,781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$130,309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34%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$69,299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$52,818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$16,481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$69,299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$52,818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$16,481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16.7%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$18K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$81K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$69K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$12K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$111K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$69K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$69,299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$52,818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24 submissions with zero binds - zero conversion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 quotes but 0 binds - follow up on pricing/coverage gaps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Review their 24 quoted-not-bound submissions together. Ask which quotes were close and what competitors offered - identifies specific pricing or appetite gaps to escalate internally.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$52,818 in new business. Ask: "What types of accounts are you seeing the most success with?" Use this to identify more of their book that fits our appetite.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J &amp; S Insurance Agency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Pacific Northwest  |  State: WA  |  City: Puyallup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$51,411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$26,866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$24,545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$-63,999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$514,370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$421,138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4.9%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$91,748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$-7,404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$26,866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$26,866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$6,531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$6,531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$-19,350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$18,050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$18,050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$-37,245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$51,411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$26,866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$24,545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$-63,999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5.6%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7.1%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14.3%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8.3%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4.9%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84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64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$27K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$31K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$7K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$56K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$18K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$57K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$-37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$145K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$51K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$51,411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$26,866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238% of new business ($63,999)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100%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$26,866 in new business. Ask what made those deals work and how you can help replicate that success with similar accounts in their pipeline.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$63,999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American Continental Insurance Services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Pacific Northwest  |  State: CA  |  City: Tracy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$48,613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$37,175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$15,640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$-4,202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$-61,279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$417,245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$339,086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4.3%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$114,240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$-14,850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$-46,429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$11,438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$15,640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$-4,202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$37,175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$37,175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$48,613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$37,175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$15,640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$-4,202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$-61,279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8.7%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5.3%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12.5%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4.3%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72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76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$57K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$29K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$24K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$11K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$37K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$127K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$49K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$48,613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$37,175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165% of new business ($61,279)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Submission volume dropped from 19 to 8 MoM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$37,175 in new business. Ask what made those deals work and how you can help replicate that success with similar accounts in their pipeline.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$61,279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Grewal Insurance Group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West  |  State: N/A  |  City: Pacific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$26,600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$26,600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$-25,142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$26,600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12.5%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$26,600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$26,600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$26,600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$-25,142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$26,600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$26,600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$-25,142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25.0%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12.5%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$27K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$27K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$26,600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$26,600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95% of new business ($25,142)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$26,600 in new business. Ask what made those deals work and how you can help replicate that success with similar accounts in their pipeline.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$25,142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