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07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8B5CF6"/>
                </a:solidFill>
                <a:latin typeface="Segoe UI"/>
              </a:defRPr>
            </a:pPr>
            <a:r>
              <a:t>COVER WHALE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Derrick Leroy - Agency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4B5FD"/>
                </a:solidFill>
                <a:latin typeface="Segoe UI"/>
              </a:defRPr>
            </a:pPr>
            <a:r>
              <a:t>Jan–May 2026  |  Generated May 29, 2026  |  28 Agencies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Derrick Leroy - Portfolio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Jan–May 2026  |  28 Total Agencies  |  27 Active  |  1 Inactive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28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Agencies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47088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27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Active (YTD)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57016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$12,912,685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66944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$9,045,108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76872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$1,552,633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$2,314,944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96728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DC2626"/>
                </a:solidFill>
                <a:latin typeface="Segoe UI"/>
              </a:defRPr>
            </a:pPr>
            <a:r>
              <a:t>$-6,033,311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9343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Submissions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47088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588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Binds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57016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6.3%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66944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773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Subs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76872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43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Binds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0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8570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Non-Fleet Subs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96728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545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Non-Fleet Binds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$35,113,318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47088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$34,892,032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57016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$42,135,981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Annual Goal (40%)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66944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DC2626"/>
                </a:solidFill>
                <a:latin typeface="Segoe UI"/>
              </a:defRPr>
            </a:pPr>
            <a:r>
              <a:t>31%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76872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$3,501,376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0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$9,537,356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Non-Fleet Bound Prem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396728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20.5%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Retention Rate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514600"/>
            <a:ext cx="7863840" cy="292608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53288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TOP AGENCIES BY YTD GWP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2862072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79" y="2862072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0" y="2862072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New Biz $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2862072"/>
            <a:ext cx="822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Renewals $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286207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2862072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Quotes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286207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2862072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HR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026664"/>
            <a:ext cx="7498079" cy="731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3081528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American Fleet Insurance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6079" y="308152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$4,053,812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31920" y="30815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$2,931,334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6320" y="308152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$567,563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0" y="308152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2686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308152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2108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12280" y="308152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308152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7.6%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3273552"/>
            <a:ext cx="7498079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3282696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AMC Agents LLC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26079" y="3282696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$3,729,482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31920" y="328269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$2,748,615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46320" y="3282696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$225,670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0" y="3282696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2509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0" y="3282696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1861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12280" y="3282696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0" y="3282696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6.3%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348386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Connect Insurance Agency, Inc.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26079" y="3483864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$818,544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31920" y="3483864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$339,980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46320" y="3483864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$149,555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69280" y="3483864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542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17920" y="3483864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394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12280" y="3483864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15200" y="3483864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10.1%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5760" y="3675888"/>
            <a:ext cx="7498079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65760" y="3685032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Protectgo Services LLC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26079" y="368503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$674,762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931920" y="368503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$448,159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46320" y="368503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$55,656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69280" y="36850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832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17920" y="368503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589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12280" y="368503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15200" y="368503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4.2%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5760" y="388620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Justin Wilson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926079" y="388620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$543,643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931920" y="388620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$394,723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846320" y="388620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$15,060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69280" y="388620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340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17920" y="388620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258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12280" y="388620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315200" y="388620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7.4%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65760" y="4078224"/>
            <a:ext cx="7498079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65760" y="4087368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InsurNorth Corp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926079" y="408736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$516,958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931920" y="408736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$398,606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846320" y="408736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669280" y="408736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170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217920" y="408736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127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812280" y="40873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315200" y="408736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7.6%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65760" y="4288536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Resolute Insurance Group LLC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926079" y="4288536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$399,065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931920" y="428853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$383,908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846320" y="4288536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$11,218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669280" y="4288536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329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217920" y="4288536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224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812280" y="4288536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315200" y="4288536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4.0%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65760" y="4480560"/>
            <a:ext cx="7498079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65760" y="448970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Convoy Trucking Insurance Agency, I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926079" y="4489704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$362,160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931920" y="4489704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$298,884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846320" y="4489704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$54,891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669280" y="4489704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217920" y="4489704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156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812280" y="4489704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315200" y="4489704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6.1%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65760" y="4690872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Lone Star Direct Insurance Agency L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926079" y="469087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$331,235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931920" y="469087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$176,862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846320" y="469087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$255,769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669280" y="469087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261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217920" y="469087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184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812280" y="469087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315200" y="469087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4.2%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65760" y="4882896"/>
            <a:ext cx="7498079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365760" y="489204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Insurance Leader Group, Inc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926079" y="489204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$225,008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931920" y="489204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$90,538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846320" y="489204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669280" y="489204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113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217920" y="489204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72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812280" y="489204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315200" y="489204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7.1%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65760" y="5093208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Agentruben.com Llc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926079" y="509320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$154,283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931920" y="509320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$96,575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846320" y="509320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$15,072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669280" y="509320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217920" y="509320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44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812280" y="509320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315200" y="509320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10.7%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365760" y="5285232"/>
            <a:ext cx="7498079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365760" y="5294376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Dream Assurance Llc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926079" y="5294376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$138,150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931920" y="529437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$135,859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846320" y="5294376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669280" y="5294376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482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217920" y="5294376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327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812280" y="5294376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7315200" y="5294376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1.9%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8229600" y="2514600"/>
            <a:ext cx="3749039" cy="292608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8321040" y="253288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MONTHLY SUMMARY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8275320" y="286207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8732520" y="2862072"/>
            <a:ext cx="777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9509760" y="2862072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New Biz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0241280" y="286207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0744200" y="286207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1201400" y="286207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HR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8275320" y="3026664"/>
            <a:ext cx="3566160" cy="731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8275320" y="308152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8732520" y="3081528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$6,307,755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9509760" y="308152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$1,680,570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0241280" y="30815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2019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0744200" y="308152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226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1201400" y="30815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11.2%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8275320" y="333756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732520" y="3337560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$5,649,156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9509760" y="333756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$1,525,018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0241280" y="333756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1868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0744200" y="333756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212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1201400" y="333756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11.3%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275320" y="359359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8732520" y="3593592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$7,198,651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9509760" y="3593592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$2,215,415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241280" y="359359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2299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0744200" y="359359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249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1201400" y="359359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10.8%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8275320" y="384962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8732520" y="3849624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$5,851,909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9509760" y="3849624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$1,824,019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0241280" y="3849624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2182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0744200" y="384962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218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1201400" y="3849624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10.0%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8275320" y="4105656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8732520" y="4105656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$4,397,112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9509760" y="4105656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$1,800,086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0241280" y="4105656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1928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0744200" y="4105656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175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1201400" y="4105656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9.1%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8275320" y="4325112"/>
            <a:ext cx="3566160" cy="1097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8275320" y="43616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8732520" y="4361688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$12,912,685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9509760" y="436168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$9,045,108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0241280" y="436168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9343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0744200" y="43616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588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1201400" y="436168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6.3%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8229600" y="4773168"/>
            <a:ext cx="3749039" cy="292608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8321040" y="479145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C2626"/>
                </a:solidFill>
                <a:latin typeface="Segoe UI"/>
              </a:defRPr>
            </a:pPr>
            <a:r>
              <a:t>INACTIVE AGENCIES (1)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8321040" y="5120640"/>
            <a:ext cx="3474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Eagles Insurnace Agency Llc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OKR Scoreboard — Derrick Leroy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BDM OKRs  |  Q2 measure (paced where applicable)  |  Matches BD Rep Scoreboard numbers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0" y="960120"/>
            <a:ext cx="3200400" cy="1371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1033271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97706"/>
                </a:solidFill>
                <a:latin typeface="Segoe UI"/>
              </a:defRPr>
            </a:pPr>
            <a:r>
              <a:t>66.9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59105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B7280"/>
                </a:solidFill>
                <a:latin typeface="Segoe UI"/>
              </a:defRPr>
            </a:pPr>
            <a:r>
              <a:t>COMPOSITE 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86537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7280"/>
                </a:solidFill>
                <a:latin typeface="Segoe UI"/>
              </a:defRPr>
            </a:pPr>
            <a:r>
              <a:t>Green ≥ 70  |  Amber 45-69  |  Red &lt; 45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960120"/>
            <a:ext cx="8138160" cy="11887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960120"/>
            <a:ext cx="91440" cy="1188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051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  <a:latin typeface="Segoe UI"/>
              </a:defRPr>
            </a:pPr>
            <a:r>
              <a:t>OKR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3075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Segoe UI"/>
              </a:defRPr>
            </a:pPr>
            <a:r>
              <a:t>Subs YoY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6733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Goal ≥+100%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1430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DC2626"/>
                </a:solidFill>
                <a:latin typeface="Segoe UI"/>
              </a:defRPr>
            </a:pPr>
            <a:r>
              <a:t>+46%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240280"/>
            <a:ext cx="8138160" cy="11887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240280"/>
            <a:ext cx="91440" cy="1188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331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  <a:latin typeface="Segoe UI"/>
              </a:defRPr>
            </a:pPr>
            <a:r>
              <a:t>OKR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25877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Segoe UI"/>
              </a:defRPr>
            </a:pPr>
            <a:r>
              <a:t>Activity Compliance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295351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Goal ≥ 100% (40/wk)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4231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059669"/>
                </a:solidFill>
                <a:latin typeface="Segoe UI"/>
              </a:defRPr>
            </a:pPr>
            <a:r>
              <a:t>132%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520440"/>
            <a:ext cx="8138160" cy="11887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520440"/>
            <a:ext cx="91440" cy="1188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611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  <a:latin typeface="Segoe UI"/>
              </a:defRPr>
            </a:pPr>
            <a:r>
              <a:t>OKR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86791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Segoe UI"/>
              </a:defRPr>
            </a:pPr>
            <a:r>
              <a:t>Portfolio Active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2336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27 of 28 agencies  |  Goal 100%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7033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D97706"/>
                </a:solidFill>
                <a:latin typeface="Segoe UI"/>
              </a:defRPr>
            </a:pPr>
            <a:r>
              <a:t>96%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800600"/>
            <a:ext cx="8138160" cy="11887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4800600"/>
            <a:ext cx="91440" cy="1188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4892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  <a:latin typeface="Segoe UI"/>
              </a:defRPr>
            </a:pPr>
            <a:r>
              <a:t>OKR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51480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Segoe UI"/>
              </a:defRPr>
            </a:pPr>
            <a:r>
              <a:t>New Producing Agencies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55138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Q2 Activated Won  |  Goal ≥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49834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DC2626"/>
                </a:solidFill>
                <a:latin typeface="Segoe UI"/>
              </a:defRPr>
            </a:pPr>
            <a:r>
              <a:t>1 of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9224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Segoe UI"/>
              </a:defRPr>
            </a:pPr>
            <a:r>
              <a:t>OKR 1: Q2 paced subs YoY — current Q2-YTD subs ÷ days-elapsed × 91 vs prior full Q2 (Apr–Jun 2025)  |  OKR 2: Q2 avg weekly calls + meetings vs 40/wk goal (outbound calls + meetings only, matches scoreboard)  |  OKR 3: % of HubSpot book with ≥1 submission in 2026  |  OKR 4: Q2 Activated-Won NNA deals with `Appointed - ` prefix, owned by this BDM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BD Activity  —  Derrick Leroy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Jan–May 2026  |  Calls + Meetings  |  Weekly goal: 40 activities  |  Colored arrow = month-over-month trend vs prior complete month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59669"/>
                </a:solidFill>
                <a:latin typeface="Segoe UI"/>
              </a:defRPr>
            </a:pPr>
            <a:r>
              <a:t>790 ▲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Calls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2542580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DC2626"/>
                </a:solidFill>
                <a:latin typeface="Segoe UI"/>
              </a:defRPr>
            </a:pPr>
            <a:r>
              <a:t>51 ▼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Meetings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4948001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59669"/>
                </a:solidFill>
                <a:latin typeface="Segoe UI"/>
              </a:defRPr>
            </a:pPr>
            <a:r>
              <a:t>841 ▲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Activity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7353421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D28D9"/>
                </a:solidFill>
                <a:latin typeface="Segoe UI"/>
              </a:defRPr>
            </a:pPr>
            <a:r>
              <a:t>39.3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Avg / Week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8842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D97706"/>
                </a:solidFill>
                <a:latin typeface="Segoe UI"/>
              </a:defRPr>
            </a:pPr>
            <a:r>
              <a:t>98%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 (40/wk)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" y="1600200"/>
            <a:ext cx="585216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" y="1636776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WEEKS 1–11  (Jan–Mar)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" y="193852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Week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92808" y="193852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Calls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24328" y="1938528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Meetings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3008" y="193852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Total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24528" y="1938528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% Goal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1768" y="1938528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Status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2112264"/>
            <a:ext cx="5833872" cy="548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7160" y="2167128"/>
            <a:ext cx="5852160" cy="242316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7160" y="2167128"/>
            <a:ext cx="50292" cy="24231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8" y="218541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1/5–1/11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92808" y="218541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24328" y="218541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93008" y="218541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24528" y="2185416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78%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01768" y="2185416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~ Near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7160" y="2409444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7160" y="2409444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6888" y="2427732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1/12–1/18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92808" y="242773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24328" y="2427732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3008" y="242773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24528" y="2427732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55%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01768" y="2427732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37160" y="2651760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37160" y="2651760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6888" y="267004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1/19–1/25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92808" y="267004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24328" y="2670048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93008" y="267004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24528" y="2670048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35%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01768" y="2670048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37160" y="2894076"/>
            <a:ext cx="5852160" cy="242316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37160" y="2894076"/>
            <a:ext cx="50292" cy="24231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46888" y="2912364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1/26–2/1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92808" y="291236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24328" y="2912364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93008" y="291236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36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24528" y="2912364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90%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01768" y="2912364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~ Near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37160" y="3136392"/>
            <a:ext cx="5852160" cy="242316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37160" y="3136392"/>
            <a:ext cx="50292" cy="24231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46888" y="3154680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2/2–2/8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892808" y="315468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24328" y="3154680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93008" y="315468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24528" y="3154680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80%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01768" y="3154680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~ Near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37160" y="3378708"/>
            <a:ext cx="5852160" cy="242316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37160" y="3378708"/>
            <a:ext cx="50292" cy="24231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46888" y="339699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2/9–2/15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892808" y="339699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624328" y="339699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93008" y="339699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24528" y="3396996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78%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01768" y="3396996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~ Near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37160" y="3621024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37160" y="3621024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46888" y="3639312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2/16–2/22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892808" y="363931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624328" y="3639312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493008" y="363931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224528" y="3639312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32%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001768" y="3639312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37160" y="3863340"/>
            <a:ext cx="5852160" cy="242316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37160" y="3863340"/>
            <a:ext cx="50292" cy="24231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46888" y="388162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2/23–3/1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892808" y="388162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624328" y="3881628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493008" y="388162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46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24528" y="3881628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115%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001768" y="3881628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✓ Met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37160" y="4105656"/>
            <a:ext cx="5852160" cy="242316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37160" y="4105656"/>
            <a:ext cx="50292" cy="24231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46888" y="4123944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3/2–3/8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892808" y="412394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624328" y="4123944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493008" y="412394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47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224528" y="4123944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118%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001768" y="4123944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✓ Met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37160" y="4347972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37160" y="4347972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46888" y="4366260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3/9–3/15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892808" y="436626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624328" y="4366260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493008" y="436626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224528" y="4366260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57%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001768" y="4366260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37160" y="4590288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37160" y="4590288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46888" y="460857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3/16–3/22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892808" y="460857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624328" y="460857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493008" y="460857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224528" y="4608576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60%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001768" y="4608576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199632" y="1600200"/>
            <a:ext cx="585216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309360" y="1636776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WEEKS 12–21  (Mar–May)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309360" y="193852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Week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955280" y="193852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Calls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686800" y="1938528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Meetings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555480" y="193852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287000" y="1938528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% Goal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1064240" y="1938528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Status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245352" y="2112264"/>
            <a:ext cx="5833872" cy="548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6199632" y="2167128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6199632" y="2167128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309360" y="218541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3/23–3/29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955280" y="218541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686800" y="218541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555480" y="218541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28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287000" y="2185416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70%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1064240" y="2185416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6199632" y="2409444"/>
            <a:ext cx="5852160" cy="242316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6199632" y="2409444"/>
            <a:ext cx="50292" cy="24231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309360" y="2427732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3/30–4/5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955280" y="242773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69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686800" y="2427732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555480" y="242773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70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287000" y="2427732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175%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1064240" y="2427732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✓ Met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199632" y="2651760"/>
            <a:ext cx="5852160" cy="242316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6199632" y="2651760"/>
            <a:ext cx="50292" cy="24231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309360" y="267004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4/6–4/12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955280" y="267004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49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686800" y="2670048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555480" y="267004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50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287000" y="2670048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125%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1064240" y="2670048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✓ Met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6199632" y="2894076"/>
            <a:ext cx="5852160" cy="242316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6199632" y="2894076"/>
            <a:ext cx="50292" cy="24231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309360" y="2912364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4/13–4/19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955280" y="291236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44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686800" y="2912364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55480" y="291236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48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0287000" y="2912364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120%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1064240" y="2912364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✓ Met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6199632" y="3136392"/>
            <a:ext cx="5852160" cy="242316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6199632" y="3136392"/>
            <a:ext cx="50292" cy="24231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6309360" y="3154680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4/20–4/26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7955280" y="315468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62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8686800" y="3154680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555480" y="315468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64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0287000" y="3154680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160%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1064240" y="3154680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✓ Met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99632" y="3378708"/>
            <a:ext cx="5852160" cy="242316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199632" y="3378708"/>
            <a:ext cx="50292" cy="24231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6309360" y="339699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4/27–5/3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955280" y="339699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50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686800" y="339699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9555480" y="339699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51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0287000" y="3396996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127%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1064240" y="3396996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✓ Met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6199632" y="3621024"/>
            <a:ext cx="5852160" cy="242316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199632" y="3621024"/>
            <a:ext cx="50292" cy="24231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309360" y="3639312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5/4–5/10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7955280" y="363931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52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8686800" y="3639312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9555480" y="363931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54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0287000" y="3639312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135%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1064240" y="3639312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✓ Met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6199632" y="3863340"/>
            <a:ext cx="5852160" cy="242316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6199632" y="3863340"/>
            <a:ext cx="50292" cy="24231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6309360" y="388162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5/11–5/17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7955280" y="388162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59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8686800" y="3881628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9555480" y="388162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60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0287000" y="3881628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150%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11064240" y="3881628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✓ Met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6199632" y="4105656"/>
            <a:ext cx="5852160" cy="242316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6199632" y="4105656"/>
            <a:ext cx="50292" cy="24231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6309360" y="4123944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5/18–5/24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7955280" y="412394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34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8686800" y="4123944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9555480" y="412394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42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0287000" y="4123944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105%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11064240" y="4123944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✓ Met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6199632" y="4347972"/>
            <a:ext cx="5852160" cy="242316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6199632" y="4347972"/>
            <a:ext cx="50292" cy="24231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6309360" y="4366260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5/25–5/29*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7955280" y="436626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54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8686800" y="4366260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9555480" y="436626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55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10287000" y="4366260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138%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1064240" y="4366260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✓ Met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137160" y="6528816"/>
            <a:ext cx="1179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Segoe UI"/>
              </a:defRPr>
            </a:pPr>
            <a:r>
              <a:t>Source: HubSpot CRM  |  Calls + meetings only (emails excluded)  |  * = current/partial week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Submission Growth  —  Derrick Leroy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Jan–May 2026 vs 2025  |  Green = growth  |  Red = decline  |  Hit ratio = binds / submissions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59669"/>
                </a:solidFill>
                <a:latin typeface="Segoe UI"/>
              </a:defRPr>
            </a:pPr>
            <a:r>
              <a:t>8326 ▲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Submissions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542580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59669"/>
                </a:solidFill>
                <a:latin typeface="Segoe UI"/>
              </a:defRPr>
            </a:pPr>
            <a:r>
              <a:t>555 ▲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Binds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4948001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DC2626"/>
                </a:solidFill>
                <a:latin typeface="Segoe UI"/>
              </a:defRPr>
            </a:pPr>
            <a:r>
              <a:t>6.7% ▼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8" name="Rectangle 7"/>
          <p:cNvSpPr/>
          <p:nvPr/>
        </p:nvSpPr>
        <p:spPr>
          <a:xfrm>
            <a:off x="7353421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DC2626"/>
                </a:solidFill>
                <a:latin typeface="Segoe UI"/>
              </a:defRPr>
            </a:pPr>
            <a:r>
              <a:t>-9.4%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Subs YOY vs 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8842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DC2626"/>
                </a:solidFill>
                <a:latin typeface="Segoe UI"/>
              </a:defRPr>
            </a:pPr>
            <a:r>
              <a:t>-49.1%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 YOY vs 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" y="1600200"/>
            <a:ext cx="521208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" y="163677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MONTHLY BREAKDOWN  —  2026 vs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" y="1938528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" y="193852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2026 Subs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19656" y="19385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2026 Binds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34056" y="1938528"/>
            <a:ext cx="621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Hit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5848" y="19385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2025 Subs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0248" y="193852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YoY 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2112264"/>
            <a:ext cx="5056632" cy="548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7160" y="2157984"/>
            <a:ext cx="5212080" cy="33375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6888" y="2203704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" y="220370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1,540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19656" y="220370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34056" y="2203704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5.6%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55848" y="220370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1,608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0248" y="220370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-4%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" y="2519172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" y="251917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1,338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19656" y="251917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34056" y="2519172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5.7%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55848" y="251917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1,508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70248" y="251917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-11%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7160" y="2788920"/>
            <a:ext cx="5212080" cy="33375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6888" y="2834640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" y="28346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1,579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19656" y="28346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34056" y="2834640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7.2%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55848" y="28346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1,989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70248" y="28346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-21%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6888" y="3150108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" y="315010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1,996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19656" y="315010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34056" y="3150108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6.3%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55848" y="315010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2,152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70248" y="315010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-7%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37160" y="3419856"/>
            <a:ext cx="5212080" cy="33375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46888" y="3465576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3816" y="346557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1,873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819656" y="346557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34056" y="3465576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8.2%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55848" y="346557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1,936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70248" y="346557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-3%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82880" y="3717036"/>
            <a:ext cx="5120640" cy="914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46888" y="3762756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YTD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3816" y="376275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8,326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819656" y="376275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555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34056" y="3762756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6.7%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55848" y="376275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9,193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70248" y="376275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-9%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23560" y="1600200"/>
            <a:ext cx="640080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733288" y="1636776"/>
            <a:ext cx="6217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TOP AGENCIES BY SUBMISSION VOLUME  —  YTD Ranked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733288" y="1938528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67928" y="1938528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YTD Subs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436608" y="193852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259568" y="193852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Hit 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991088" y="1938528"/>
            <a:ext cx="685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YOY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669280" y="2112264"/>
            <a:ext cx="5971032" cy="548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623560" y="2167128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733288" y="218541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American Fleet Insurance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67928" y="2185416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2,686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436608" y="2185416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203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259568" y="218541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7.6%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991088" y="2185416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-489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733288" y="2441448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AMC Agents LLC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567928" y="2441448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2,509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436608" y="2441448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157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259568" y="2441448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6.3%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91088" y="2441448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+1,129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623560" y="2679192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733288" y="2697480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Protectgo Services LLC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567928" y="2697480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832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436608" y="269748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259568" y="2697480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4.2%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991088" y="2697480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+316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733288" y="2953512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Connect Insurance Agency, Inc.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567928" y="2953512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542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436608" y="2953512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55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259568" y="2953512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10.1%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991088" y="2953512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-459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623560" y="3191256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733288" y="3209544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Dream Assurance Llc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567928" y="3209544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482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436608" y="3209544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259568" y="3209544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1.9%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991088" y="3209544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-477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733288" y="346557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Justin Wilson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567928" y="3465576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340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436608" y="3465576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259568" y="346557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7.4%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991088" y="3465576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-191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623560" y="3703320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733288" y="3721608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Resolute Insurance Group LLC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567928" y="3721608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329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436608" y="3721608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259568" y="3721608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4.0%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991088" y="3721608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-7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733288" y="3977640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Lone Star Direct Insurance Agency Llc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567928" y="3977640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261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436608" y="397764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259568" y="3977640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4.2%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991088" y="3977640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+202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623560" y="4215384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733288" y="4233672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Convoy Trucking Insurance Agency, Inc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567928" y="4233672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181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436608" y="4233672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259568" y="4233672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6.1%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991088" y="4233672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+60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733288" y="4489704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InsurNorth Corp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567928" y="4489704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170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436608" y="4489704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259568" y="4489704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7.6%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991088" y="4489704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+18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5623560" y="4727448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5733288" y="474573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Xgen Insurance Group Llc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567928" y="4745736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154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436608" y="4745736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259568" y="474573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1.3%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991088" y="4745736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+153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733288" y="5001768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Mickey Scott Insurance Agencies Inc.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567928" y="5001768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119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9436608" y="5001768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259568" y="5001768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7.6%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0991088" y="5001768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-222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5623560" y="5239512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5733288" y="5257800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Insurance Leader Group, Inc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567928" y="5257800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113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436608" y="525780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0259568" y="5257800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7.1%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991088" y="5257800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-4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5733288" y="5513832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ECO INSURANCE SERVICES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8567928" y="5513832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111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436608" y="5513832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259568" y="5513832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2.7%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0991088" y="5513832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+79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5623560" y="5751576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5733288" y="5769864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Global Risk Office LLC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8567928" y="5769864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100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9436608" y="5769864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0259568" y="5769864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4.0%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0991088" y="5769864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+22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5733288" y="60258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Tremach Inc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567928" y="6025896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65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9436608" y="6025896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0259568" y="602589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9.2%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0991088" y="6025896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+48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37160" y="6528816"/>
            <a:ext cx="1179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Segoe UI"/>
              </a:defRPr>
            </a:pPr>
            <a:r>
              <a:t>Source: Metabase  |  Totals match Sales Scoreboard: Q1 → Q1 owner, Q2+ → current owner, 2025 baseline → current owner  |  Hit ratio = binds / submissions  |  Right-panel agency table shows current portfolio  |  Green ≥ 8%  Red &lt; 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Derrick Leroy  |  28 Total Agencies  |  Jan–May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0424160" cy="32918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143000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1143000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New Biz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143000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79" y="114300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Cancel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599" y="11430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0999" y="11430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Quotes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399" y="11430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9799" y="1143000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49961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1499616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$6,307,755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1499616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$1,680,570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1499616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$138,061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79" y="149961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2626"/>
                </a:solidFill>
                <a:latin typeface="Segoe UI"/>
              </a:defRPr>
            </a:pPr>
            <a:r>
              <a:t>$-1,005,088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599" y="149961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2,019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0999" y="149961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1,508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399" y="149961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226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799" y="1499616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11.2%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1773936"/>
            <a:ext cx="10424160" cy="32918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18288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1828800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$5,649,156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1828800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$1,525,018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1828800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$138,964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97879" y="182880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2626"/>
                </a:solidFill>
                <a:latin typeface="Segoe UI"/>
              </a:defRPr>
            </a:pPr>
            <a:r>
              <a:t>$-961,674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599" y="18288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1,868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0999" y="18288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1,398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15399" y="18288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212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9799" y="1828800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11.3%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215798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2157984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$7,198,651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37560" y="2157984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$2,215,415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2157984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$497,267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97879" y="215798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2626"/>
                </a:solidFill>
                <a:latin typeface="Segoe UI"/>
              </a:defRPr>
            </a:pPr>
            <a:r>
              <a:t>$-1,943,538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599" y="215798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2,299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00999" y="215798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1,612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15399" y="215798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249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29799" y="2157984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10.8%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2432303"/>
            <a:ext cx="10424160" cy="32918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24871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20240" y="2487168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$5,851,909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37560" y="2487168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$1,824,019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63440" y="2487168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$381,006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97879" y="248716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2626"/>
                </a:solidFill>
                <a:latin typeface="Segoe UI"/>
              </a:defRPr>
            </a:pPr>
            <a:r>
              <a:t>$-1,180,193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86599" y="24871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2,182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00999" y="24871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1,695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15399" y="24871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218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29799" y="2487168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10.0%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2816351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20240" y="2816351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$4,397,112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37560" y="2816351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$1,800,086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3440" y="2816351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$397,336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97879" y="2816351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2626"/>
                </a:solidFill>
                <a:latin typeface="Segoe UI"/>
              </a:defRPr>
            </a:pPr>
            <a:r>
              <a:t>$-942,818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86599" y="2816351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1,928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00999" y="2816351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1,463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15399" y="2816351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175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29799" y="2816351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9.1%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5760" y="3090671"/>
            <a:ext cx="10424160" cy="36576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" y="3163823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YTD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920240" y="3163823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$29,404,584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37560" y="3163823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$9,045,108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663440" y="3163823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$1,552,633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897879" y="3163823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$-6,033,311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086599" y="3163823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10,296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000999" y="3163823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7,676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15399" y="3163823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1,080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829799" y="3163823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10.5%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65760" y="3611879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Green = up vs prior month  |  Red = down vs prior month or negative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DSG In My Portfolio — Derrick Leroy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Dirt, Sand &amp; Gravel program performance across this bdm's agencies  |  2026 YTD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618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DSG SUBMISSIONS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24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BOUND ACCOUNTS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D28D9"/>
                </a:solidFill>
                <a:latin typeface="Segoe UI"/>
              </a:defRPr>
            </a:pPr>
            <a:r>
              <a:t>$532,605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GROSS WRITTEN PREM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1540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59669"/>
                </a:solidFill>
                <a:latin typeface="Segoe UI"/>
              </a:defRPr>
            </a:pPr>
            <a:r>
              <a:t>3.9%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 RATE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1133856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322576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DSG ACTIVITY BY AGENCY (top 8 by submissions)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70048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6700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6700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Declined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6700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Bound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6700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Bind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267004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944368"/>
            <a:ext cx="11338559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980944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AMC Agents LLC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98094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98094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98094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98094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298094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$343,293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291839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American Fleet Insurance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29183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329183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329183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329183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329183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566159"/>
            <a:ext cx="11338559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602735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Protectgo Services LLC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360273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360273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360273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360273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3602735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913631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ECO INSURANCE SERVICES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391363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391363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0" y="391363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391363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4.9%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84080" y="3913631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$50,317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187951"/>
            <a:ext cx="11338559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4224527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Dream Assurance LLC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63440" y="4224527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0" y="4224527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23760" y="4224527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920" y="4224527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3.6%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84080" y="4224527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$37,494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4535423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Danaco Group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63440" y="4535423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0" y="4535423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23760" y="4535423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03920" y="4535423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84080" y="4535423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4809743"/>
            <a:ext cx="11338559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4846319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Resolute Insurance Group LLC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63440" y="484631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43600" y="484631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23760" y="484631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03920" y="484631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5.3%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784080" y="484631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$22,421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" y="5157215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Tremach Inc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63440" y="515721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43600" y="515721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23760" y="515721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03920" y="515721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11.8%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784080" y="5157215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$27,258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" y="594360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Segoe UI"/>
              </a:defRPr>
            </a:pPr>
            <a:r>
              <a:t>States with DSG bound business in this book: CA, CO, ND, NM, TX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Fleet In My Portfolio — Derrick Leroy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Fleet business (4+ power units) across this bdm's agencies  |  2026 YTD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1,177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SUBMISSIONS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292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D28D9"/>
                </a:solidFill>
                <a:latin typeface="Segoe UI"/>
              </a:defRPr>
            </a:pPr>
            <a:r>
              <a:t>$28,116,956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GWP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1540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AVG UNITS / SUB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694944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322576"/>
            <a:ext cx="67665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FLEET BY AGENCY (top 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7004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6700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6700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Bound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26700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Bind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6700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944368"/>
            <a:ext cx="694944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98094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AMC Agents LLC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29809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9809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29809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22.8%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9809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$3,298,701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29183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American Fleet Insurance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32918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187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2918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32918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25.1%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2918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$3,031,847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566159"/>
            <a:ext cx="694944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602735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Resolute Insurance Group LLC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39" y="360273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184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360273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360273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13.0%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60273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$3,608,901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913631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Lone Star Direct Insurance Agency LLC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49039" y="391363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391363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77840" y="391363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30.7%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391363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$6,532,481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187951"/>
            <a:ext cx="694944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224527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Protectgo Services LLC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49039" y="422452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63440" y="422452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77840" y="422452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19.0%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422452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$1,541,312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4535423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Connect Insurance Agency, Inc.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49039" y="4535423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63440" y="4535423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77840" y="4535423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48.4%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4535423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$1,841,248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4809743"/>
            <a:ext cx="694944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484631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InsurNorth Corp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49039" y="484631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63440" y="484631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77840" y="484631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25.9%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2240" y="484631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$1,346,284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5157215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Justin Wilson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49039" y="515721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3440" y="515721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77840" y="515721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39.2%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92240" y="515721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$2,876,949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589520" y="2286000"/>
            <a:ext cx="420624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699248" y="2322576"/>
            <a:ext cx="40233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FLEET SIZE MIX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80960" y="26700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4-5 units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98280" y="26700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599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04120" y="267004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(51%)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80960" y="30358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6-10 units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98280" y="30358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425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04120" y="30358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(36%)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680960" y="34015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11-25 units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98280" y="34015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153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104120" y="340156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(13%)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80960" y="37673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26-50 units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98280" y="37673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104120" y="37673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(0%)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80960" y="4133087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51+ units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098280" y="413308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104120" y="4133087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(0%)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" y="612648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Segoe UI"/>
              </a:defRPr>
            </a:pPr>
            <a:r>
              <a:t>Bind rate on fleet: 24.8%  ·  Declined: 278  ·  Source: cw_rep.transportation_submissions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Agency Producers — Derrick Leroy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Jan–May 2026  |  Individual agents ranked by YTD submissions  |  Agent = broker_contact on submission  |  Trend = MoM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" y="841248"/>
            <a:ext cx="2249424" cy="56692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D28D9"/>
                </a:solidFill>
                <a:latin typeface="Segoe UI"/>
              </a:defRPr>
            </a:pPr>
            <a:r>
              <a:t>9343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YTD Subs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9464" y="841248"/>
            <a:ext cx="2249424" cy="56692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D28D9"/>
                </a:solidFill>
                <a:latin typeface="Segoe UI"/>
              </a:defRPr>
            </a:pPr>
            <a:r>
              <a:t>588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YTD Binds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6048" y="841248"/>
            <a:ext cx="2249424" cy="56692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D28D9"/>
                </a:solidFill>
                <a:latin typeface="Segoe UI"/>
              </a:defRPr>
            </a:pPr>
            <a:r>
              <a:t>6.3%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Portfolio Hit Ratio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42631" y="841248"/>
            <a:ext cx="2249424" cy="56692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D28D9"/>
                </a:solidFill>
                <a:latin typeface="Segoe UI"/>
              </a:defRPr>
            </a:pPr>
            <a:r>
              <a:t>50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Active Agents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29215" y="841248"/>
            <a:ext cx="2249424" cy="56692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D28D9"/>
                </a:solidFill>
                <a:latin typeface="Segoe UI"/>
              </a:defRPr>
            </a:pPr>
            <a:r>
              <a:t>69%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Top 5 Agent Share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" y="1536192"/>
            <a:ext cx="576072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" y="1572768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TOP AGENTS BY SUBMISSIONS  —  Ranked 1–18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" y="1874519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Agent 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1368" y="1874519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1874519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24528" y="1874519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18888" y="1874519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Hit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13248" y="1874519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MoM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2048255"/>
            <a:ext cx="5650992" cy="548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7160" y="2103120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6888" y="2121408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Justin Feaster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01368" y="2121408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American Fleet Insurance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0168" y="21214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2684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24528" y="21214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18888" y="21214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7.6%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13248" y="2121408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" y="2360980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Carlos Ochoa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01368" y="236098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AMC Agents LLC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30168" y="236098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1804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24528" y="236098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18888" y="236098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5.7%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13248" y="2360980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B728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7160" y="2582265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6888" y="2600553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Christopher Salazar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01368" y="2600553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Protectgo Services LLC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30168" y="260055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832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24528" y="260055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18888" y="260055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4.2%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13248" y="2600553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6888" y="2840126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Andres Piedrahita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01368" y="2840126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AMC Agents LLC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30168" y="284012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551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24528" y="284012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42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18888" y="284012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7.6%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13248" y="2840126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37160" y="3061411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46888" y="3079699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Jeremy Huddleston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01368" y="3079699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Connect Insurance Agency, Inc.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30168" y="3079699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542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24528" y="3079699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55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18888" y="3079699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10.1%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13248" y="3079699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6888" y="3319272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Amy Vaja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01368" y="3319272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Dream Assurance Llc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30168" y="33192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329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24528" y="33192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18888" y="33192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0.6%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13248" y="3319272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3540556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46888" y="3558844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Zafarjon Khonkeldiev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801368" y="3558844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Lone Star Direct Insurance Age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30168" y="355884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260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24528" y="355884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18888" y="355884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4.2%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13248" y="3558844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46888" y="3798417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Justin Wilson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801368" y="3798417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Justin Wilson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30168" y="379841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239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24528" y="379841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818888" y="379841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10.5%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13248" y="3798417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37160" y="4019702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46888" y="4037990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Shanveer Singh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801368" y="403799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Convoy Trucking Insurance Agen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630168" y="403799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181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224528" y="403799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818888" y="403799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6.1%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413248" y="4037990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46888" y="4277563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Juan Piedrahita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801368" y="4277563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AMC Agents LLC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630168" y="427756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154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24528" y="427756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818888" y="427756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8.4%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413248" y="4277563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37160" y="4498848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46888" y="4517136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Jaxon Alley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801368" y="4517136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Xgen Insurance Group Llc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630168" y="451713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154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224528" y="451713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818888" y="451713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1.3%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413248" y="4517136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46888" y="4756708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Kevin Patrick Morrissy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801368" y="4756708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Dream Assurance Llc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630168" y="47567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142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224528" y="47567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818888" y="47567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4.9%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413248" y="4756708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37160" y="4977993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46888" y="4996281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Ivanoi Soto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801368" y="4996281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Insurance Leader Group, Inc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630168" y="4996281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113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224528" y="4996281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818888" y="4996281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7.1%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413248" y="4996281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46888" y="5235854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Mirna Mejia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801368" y="5235854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ECO INSURANCE SERVICES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630168" y="523585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111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224528" y="523585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818888" y="523585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2.7%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413248" y="5235854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37160" y="5457139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46888" y="5475427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Valeria Quintana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801368" y="5475427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Justin Wilson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630168" y="547542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101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224528" y="547542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818888" y="547542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413248" y="5475427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46888" y="5715000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Will Talib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801368" y="571500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Global Risk Office LLC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630168" y="571500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100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224528" y="571500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818888" y="571500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4.0%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413248" y="5715000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37160" y="5936284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246888" y="5954572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Kyle Duty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801368" y="5954572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Resolute Insurance Group LLC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630168" y="59545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88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224528" y="59545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818888" y="59545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413248" y="5954572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46888" y="6194145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Josh Connor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801368" y="6194145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Resolute Insurance Group LLC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630168" y="6194145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84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224528" y="6194145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818888" y="6194145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3.6%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413248" y="6194145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6245352" y="1536192"/>
            <a:ext cx="576072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6355080" y="1572768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CONTINUED  —  Ranked 19–36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355080" y="1874519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Agent Name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7909560" y="1874519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9738360" y="1874519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0332720" y="1874519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927080" y="1874519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Hit %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1521440" y="1874519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MoM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291072" y="2048255"/>
            <a:ext cx="5650992" cy="548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6245352" y="2103120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355080" y="2121408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Ali Boyko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909560" y="2121408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InsurNorth Corp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9738360" y="21214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68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0332720" y="21214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0927080" y="21214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7.4%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1521440" y="2121408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355080" y="2360980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Daniel Hernandez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7909560" y="236098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Danaco Group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9738360" y="236098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62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0332720" y="236098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0927080" y="236098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1.6%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1521440" y="2360980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6245352" y="2582265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6355080" y="2600553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Brittany Sanders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7909560" y="2600553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Mickey Scott Insurance Agencie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9738360" y="260055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58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0332720" y="260055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927080" y="260055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3.4%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1521440" y="2600553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B728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355080" y="2840126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Angie Del Toro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7909560" y="2840126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Tremach Inc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9738360" y="284012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58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0332720" y="284012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0927080" y="284012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10.3%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1521440" y="2840126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6245352" y="3061411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6355080" y="3079699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Colton Duty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7909560" y="3079699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Resolute Insurance Group LLC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9738360" y="3079699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57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0332720" y="3079699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0927080" y="3079699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8.8%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1521440" y="3079699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6355080" y="3319272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RUBEN Saucedo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7909560" y="3319272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Agentruben.com Llc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9738360" y="33192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56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10332720" y="33192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0927080" y="33192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10.7%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1521440" y="3319272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6245352" y="3540556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6355080" y="3558844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Adiam G Hagos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7909560" y="3558844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Tigers Insurance Group LLC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9738360" y="355884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56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0332720" y="355884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10927080" y="355884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3.6%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11521440" y="3558844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6355080" y="3798417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Duncan Furrh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7909560" y="3798417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Greenlite Insurance Agency LLC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9738360" y="379841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53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10332720" y="379841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0927080" y="379841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3.8%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11521440" y="3798417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6245352" y="4019702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6355080" y="4037990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Mark Fabyanchuk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7909560" y="403799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InsurNorth Corp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9738360" y="403799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46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10332720" y="403799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10927080" y="403799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8.7%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11521440" y="4037990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B728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6355080" y="4277563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Samuel Dunlap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7909560" y="4277563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Resolute Insurance Group LLC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9738360" y="427756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39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10332720" y="427756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10927080" y="427756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5.1%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1521440" y="4277563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6245352" y="4498848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6355080" y="4517136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Jarron Brown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7909560" y="4517136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Resolute Insurance Group LLC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9738360" y="451713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39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10332720" y="451713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10927080" y="451713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7.7%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11521440" y="4517136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6355080" y="4756708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Mickey Scott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7909560" y="4756708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Mickey Scott Insurance Agencie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9738360" y="47567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10332720" y="47567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10927080" y="47567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18.9%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11521440" y="4756708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6245352" y="4977993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6355080" y="4996281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Yurisay Gomez Fuenmayor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7909560" y="4996281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Twins Insurance Group Llc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9738360" y="4996281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33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10332720" y="4996281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10927080" y="4996281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3.0%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11521440" y="4996281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6355080" y="5235854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Vlad Ploshchinskiy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7909560" y="5235854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InsurNorth Corp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9738360" y="523585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10332720" y="523585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10927080" y="523585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6.5%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1521440" y="5235854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6245352" y="5457139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6355080" y="5475427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Gabriela Jimenez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7909560" y="5475427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Gabriela Jimenez Dba First Con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9738360" y="547542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10332720" y="547542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10927080" y="547542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23.1%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11521440" y="5475427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6355080" y="5715000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Daniel Abbott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7909560" y="571500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Resolute Insurance Group LLC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9738360" y="571500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10332720" y="571500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10927080" y="571500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11521440" y="5715000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6245352" y="5936284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6355080" y="5954572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Jimmy Martinez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7909560" y="5954572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Legacy Truck Insurance Agency 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9738360" y="59545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10332720" y="59545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10927080" y="59545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22.2%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11521440" y="5954572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6355080" y="6194145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SUSAN HEDARY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7909560" y="6194145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Rainbow Insurance Agency, Inc.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9738360" y="6194145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10332720" y="6194145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10927080" y="6194145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11521440" y="6194145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274320" y="6510528"/>
            <a:ext cx="1170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Segoe UI"/>
              </a:defRPr>
            </a:pPr>
            <a:r>
              <a:t>Source: Metabase  |  Agent = broker_contact_user_id on submission record  |  Hit ratio = binds / subs  |  MoM = month-over-month  |  7 subs had no agent mapped (broker_contact_user_id not set)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Top Performers vs Underperformers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Jan–May 2026  |  Standouts and agencies needing attention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5486400" cy="329184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5F46"/>
                </a:solidFill>
                <a:latin typeface="Segoe UI"/>
              </a:defRPr>
            </a:pPr>
            <a:r>
              <a:t>EXCEEDING — Top 5</a:t>
            </a:r>
          </a:p>
        </p:txBody>
      </p:sp>
      <p:sp>
        <p:nvSpPr>
          <p:cNvPr id="7" name="Rectangle 6"/>
          <p:cNvSpPr/>
          <p:nvPr/>
        </p:nvSpPr>
        <p:spPr>
          <a:xfrm>
            <a:off x="6336792" y="914400"/>
            <a:ext cx="5486400" cy="329184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2" y="96012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91B1B"/>
                </a:solidFill>
                <a:latin typeface="Segoe UI"/>
              </a:defRPr>
            </a:pPr>
            <a:r>
              <a:t>NEEDS ATTENTION — Bottom 5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371600"/>
            <a:ext cx="36576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35331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American Fleet Insurance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55448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$4,053,812  |  Subs 2686  |  Binds 203  |  HR 7.6%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79222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65F46"/>
                </a:solidFill>
                <a:latin typeface="Segoe UI"/>
              </a:defRPr>
            </a:pPr>
            <a:r>
              <a:t>Hit ratio 7.6% (portfolio avg: 6.3%)  |  $4,053,812 YTD GWP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377440"/>
            <a:ext cx="36576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35915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AMC Agents LLC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56032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$3,729,482  |  Subs 2509  |  Binds 157  |  HR 6.3%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79806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65F46"/>
                </a:solidFill>
                <a:latin typeface="Segoe UI"/>
              </a:defRPr>
            </a:pPr>
            <a:r>
              <a:t>$3,729,482 YTD GWP  |  157 binds in Q1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383280"/>
            <a:ext cx="36576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36499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Connect Insurance Agency, Inc.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56616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$818,544  |  Subs 542  |  Binds 55  |  HR 10.1%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80390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65F46"/>
                </a:solidFill>
                <a:latin typeface="Segoe UI"/>
              </a:defRPr>
            </a:pPr>
            <a:r>
              <a:t>Hit ratio 10.1% (portfolio avg: 6.3%)  |  $818,544 YTD GWP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389120"/>
            <a:ext cx="36576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37083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Protectgo Services LLC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57200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$674,762  |  Subs 832  |  Binds 35  |  HR 4.2%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80974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65F46"/>
                </a:solidFill>
                <a:latin typeface="Segoe UI"/>
              </a:defRPr>
            </a:pPr>
            <a:r>
              <a:t>$674,762 YTD GWP  |  35 binds in Q1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5394960"/>
            <a:ext cx="36576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37667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Justin Wilson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57784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$543,643  |  Subs 340  |  Binds 25  |  HR 7.4%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81558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65F46"/>
                </a:solidFill>
                <a:latin typeface="Segoe UI"/>
              </a:defRPr>
            </a:pPr>
            <a:r>
              <a:t>Hit ratio 7.4% (portfolio avg: 6.3%)  |  $543,643 YTD GWP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82512" y="1371600"/>
            <a:ext cx="36576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135331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Mickey Scott Insurance Agencies Inc.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9712" y="155448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$61,340  |  Subs 119  |  Binds 9  |  HR 7.6%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39712" y="179222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1B1B"/>
                </a:solidFill>
                <a:latin typeface="Segoe UI"/>
              </a:defRPr>
            </a:pPr>
            <a:r>
              <a:t>Cancellations are 2771% of new business ($52,603 vs $1,898)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82512" y="2377440"/>
            <a:ext cx="36576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39712" y="235915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Xgen Insurance Group Llc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9712" y="256032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$131,844  |  Subs 154  |  Binds 2  |  HR 1.3%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39712" y="279806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1B1B"/>
                </a:solidFill>
                <a:latin typeface="Segoe UI"/>
              </a:defRPr>
            </a:pPr>
            <a:r>
              <a:t>Hit ratio only 1.3% on 154 subs  |  New business dropped sharply MoM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82512" y="3383280"/>
            <a:ext cx="36576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39712" y="336499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Rainbow Insurance Agency, Inc.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9712" y="356616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$4,789  |  Subs 17  |  Binds 0  |  HR 0.0%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39712" y="380390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1B1B"/>
                </a:solidFill>
                <a:latin typeface="Segoe UI"/>
              </a:defRPr>
            </a:pPr>
            <a:r>
              <a:t>17 submissions with 0 binds - zero conversion  |  8 quotes generated but 0 converted to binds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82512" y="4389120"/>
            <a:ext cx="36576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39712" y="437083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Tigers Insurance Group LLC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9712" y="457200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$3,249  |  Subs 56  |  Binds 2  |  HR 3.6%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39712" y="480974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1B1B"/>
                </a:solidFill>
                <a:latin typeface="Segoe UI"/>
              </a:defRPr>
            </a:pPr>
            <a:r>
              <a:t>Cancellations are 286% of new business ($9,281 vs $3,249)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82512" y="5394960"/>
            <a:ext cx="36576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39712" y="537667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Dream Assurance Llc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39712" y="557784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$138,150  |  Subs 482  |  Binds 9  |  HR 1.9%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39712" y="581558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1B1B"/>
                </a:solidFill>
                <a:latin typeface="Segoe UI"/>
              </a:defRPr>
            </a:pPr>
            <a:r>
              <a:t>Hit ratio only 1.9% on 482 subs  |  Cancellations are 100% of new business ($136,269 vs $135,859)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Agencies I Appointed — Derrick Leroy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OKR 4 progress  |  Q2 goal: 4 new producing agencies  |  Source: HubSpot Net New Agency / Activated Won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DC2626"/>
                </a:solidFill>
                <a:latin typeface="Segoe UI"/>
              </a:defRPr>
            </a:pPr>
            <a:r>
              <a:t>1 of 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Q2 OKR 4 PROGRESS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APPOINTED YTD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D28D9"/>
                </a:solidFill>
                <a:latin typeface="Segoe UI"/>
              </a:defRPr>
            </a:pPr>
            <a:r>
              <a:t>—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AVG TIME TO 1ST SUB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D28D9"/>
                </a:solidFill>
                <a:latin typeface="Segoe UI"/>
              </a:defRPr>
            </a:pPr>
            <a:r>
              <a:t>—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AVG TIME TO 1ST BIND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SUBS POST-APPT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11827"/>
                </a:solidFill>
                <a:latin typeface="Segoe UI"/>
              </a:defRPr>
            </a:pPr>
            <a:r>
              <a:t>Activation: 0/6 appointed agencies have submitted (0%)  •  0/6 have bound (0%)  •  Total bound: 0  •  Total GWP: $0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40280"/>
            <a:ext cx="1143000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2768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APPOINTED AGENCIES (newest first)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60604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60604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Appointed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606040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60" y="260604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Days to 1st Sub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2606040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260604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Days to 1st Bind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60604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880360"/>
            <a:ext cx="1014984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91693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Aea Insurance Agency, Inc.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91693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2916936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60" y="291693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1B1B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2916936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29169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9169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322783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BTC Insurance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322783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3227832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60" y="322783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1B1B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3227832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32278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278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502151"/>
            <a:ext cx="1014984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3538727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Leonard R Amell Ins Agency Inc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0" y="3538727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0" y="3538727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23560" y="3538727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1B1B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3538727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3538727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3538727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384962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Marketers General Ins Agency Inc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0" y="384962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2026-05-04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54880" y="3849624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23560" y="384962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1B1B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03720" y="3849624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0" y="38496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0" y="38496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4123944"/>
            <a:ext cx="1014984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" y="41605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A&amp;e Insurance Service, Inc Dba Arrow Insurance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0" y="4160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2026-05-04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54880" y="416052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23560" y="4160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1B1B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03720" y="416052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72400" y="4160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0" y="4160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447141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Crawford-Phillips Truck Insurance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57600" y="447141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2026-03-31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754880" y="4471416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23560" y="447141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1B1B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03720" y="4471416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72400" y="44714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44000" y="44714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5760" y="649224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OKR 4 source: HubSpot Net New Agency Prospect Pipeline · Activated Won stage · only 'Appointed - ' prefix deals count (matches BD Rep Scoreboard). BDMs scored on count vs goal of 4/quarter.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Strategic Assessment &amp; Priorities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Derrick Leroy Portfolio  |  Jan–May 2026  |  Strengths, gaps, and ranked action items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5486400" cy="36576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Top 3 (American Fleet Insurance, AMC Agents LLC, Connect Insurance Agency,) drive $8,601,839 (67%) of portfolio YTD GWP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82496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8249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Strong hit ratios: Gabriela Jimenez Dba (23.1%), Legacy Truck Insuran (22.2%), David Sandoz (15.4%)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9339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9339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24 agencies converting submissions to bound business in Jan–May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304288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30428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9,343 total submissions across 27 active agencies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914400"/>
            <a:ext cx="5486400" cy="36576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960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91B1B"/>
                </a:solidFill>
                <a:latin typeface="Segoe UI"/>
              </a:defRPr>
            </a:pPr>
            <a:r>
              <a:t>NEEDS ATTENTION - Areas for Improvement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13716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3716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 agencies with zero Jan–May 2026 activity: Eagles Insurnace 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1682496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68249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 agencies submitting but 0 binds (30 subs): Rainbow Insurance Ag (17), Marketers General In (8)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59" y="199339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199339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Low hit ratios need coaching: Xgen Insurance Group (1.3%), Danaco Group (1.6%), Dream Assurance Llc (1.9%)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926080"/>
            <a:ext cx="11430000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971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TOP STRATEGIC PRIORITIES — Ranked by Estimated Impact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429000"/>
            <a:ext cx="365760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41071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Reduce Cancellation Rates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363931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Segoe UI"/>
              </a:defRPr>
            </a:pPr>
            <a:r>
              <a:t>17 agencies with cancellations &gt;40% of new biz: AMC Agents LLC, American Fleet Insurance, Connect Insurance Agency,. $5,784,348 total cancellations - investigate retention.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069080"/>
            <a:ext cx="365760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0507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Diversify Revenue Base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2793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Segoe UI"/>
              </a:defRPr>
            </a:pPr>
            <a:r>
              <a:t>Top 3 agencies drive 67% of premium. Develop mid-tier: Protectgo Services LLC, Justin Wilson, InsurNorth Corp. Target 25-50% growth each.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709160"/>
            <a:ext cx="365760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69087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Scale Top Performers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49194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Segoe UI"/>
              </a:defRPr>
            </a:pPr>
            <a:r>
              <a:t>Double down on high-converting agencies: American Fleet Insurance, AMC Agents LLC, Connect Insurance Agency,. Increase submission volume 20% through marketing support and referral incentives.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5349240"/>
            <a:ext cx="365760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33095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Develop High-Volume Growth Candidates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5595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Segoe UI"/>
              </a:defRPr>
            </a:pPr>
            <a:r>
              <a:t>11 agencies with 30+ subs and some binds but &lt;5% HR: Protectgo Services L (832s/35b), Dream Assurance Llc (482s/9b), Resolute Insurance G (329s/13b). Small HR improvements on large volume = significant premium lift.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5989320"/>
            <a:ext cx="365760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597103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Improve Low Hit Ratio Agencies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61996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Segoe UI"/>
              </a:defRPr>
            </a:pPr>
            <a:r>
              <a:t>4 agencies with 20+ subs but &lt;3% HR: Xgen Insurance Group (1.3%), Danaco Group (1.6%), Dream Assurance Llc (1.9%). Conduct submission quality training to lift conversion 2-3 points.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Recently Bound Submissions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Derrick Leroy  |  Last 25 Bound Submissions  |  587 Total Bound in 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#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05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Sub #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005840"/>
            <a:ext cx="2971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1005840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Insured (Account)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100584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12680" y="100584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Premium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59" y="100584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Bind Date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207008"/>
            <a:ext cx="111556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28016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2801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263137652233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128016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InsurNorth Corp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28016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KYS EXPEDITED INC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128016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Vitaliy Kononenko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12680" y="128016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$28,741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59" y="128016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29, 2026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1463040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148132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148132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252212605401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1481328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American Fleet Insurance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148132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THE ROLLING LOAD LLC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148132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Justin Feaster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2680" y="148132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$49,140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59" y="148132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28,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168249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16824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251372246718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1682496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American Fleet Insurance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1682496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DLCJ LLC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1682496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Justin Feaster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12680" y="168249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$19,593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59" y="168249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28, 2026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1865376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1883664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188366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260432766446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28800" y="1883664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American Fleet Insurance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00600" y="1883664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GTO CARRIER LLC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188366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Justin Feaster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12680" y="188366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$14,898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59" y="188366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28, 2026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20848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208483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267018975626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0" y="2084832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American Fleet Insurance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00600" y="208483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CTS TRUCKING LLC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208483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Justin Feaster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12680" y="208483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59" y="208483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28, 2026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2267712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22860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" y="22860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261088261452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28800" y="228600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AMC Agents LLC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00600" y="228600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OSCAR DANILO PORTILLO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35240" y="22860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Carlos Ochoa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12680" y="228600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$2,347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338559" y="228600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28, 2026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248716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4400" y="24871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268615595355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828800" y="2487168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AMC Agents LLC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800600" y="248716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GUZMAN LOGISTICS &amp; SERVICES LLC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35240" y="248716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Carlos Ochoa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12680" y="248716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$2,276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338559" y="248716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28, 2026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2670048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8640" y="26883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4400" y="268833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255774231628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828800" y="2688336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Lone Star Direct Insurance Agency 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800600" y="2688336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MIROTRANS LLC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35240" y="2688336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Zafarjon Khonkeldiev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012680" y="268833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$28,983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338559" y="268833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28, 2026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8640" y="2889504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14400" y="288950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258587285435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828800" y="2889504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Lone Star Direct Insurance Agency 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800600" y="2889504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XXB LLC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635240" y="288950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Zafarjon Khonkeldiev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012680" y="288950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$53,684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338559" y="288950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28, 2026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57200" y="3072384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48640" y="309067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14400" y="309067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264503349173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828800" y="3090672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Resolute Insurance Group LLC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800600" y="309067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NFT TEAM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635240" y="309067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Josh Connor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012680" y="309067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$22,892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338559" y="309067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28, 2026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8640" y="32918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14400" y="32918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269418915970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828800" y="329184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American Fleet Insurance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800600" y="329184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NEW POWER 77 LLC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635240" y="32918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Justin Feaster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012680" y="32918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$18,980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1338559" y="32918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27, 2026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57200" y="3474720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48640" y="349300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14400" y="349300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263280567385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828800" y="3493008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American Fleet Insurance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800600" y="349300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AMERICAN MOTOR COMPANY INC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635240" y="349300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Justin Feaster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012680" y="349300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1338559" y="349300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27, 2026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48640" y="369417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14400" y="369417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269314467463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828800" y="3694176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American Fleet Insurance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800600" y="3694176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CTS TRUCKING LLC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635240" y="3694176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Justin Feaster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012680" y="369417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$30,639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1338559" y="369417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27, 2026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57200" y="3877056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48640" y="3895344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14400" y="389534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268766681952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828800" y="3895344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AMC Agents LLC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800600" y="3895344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MGL Transport LLC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635240" y="389534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Carlos Ochoa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012680" y="389534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$1,650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1338559" y="389534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27, 2026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48640" y="409651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14400" y="409651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264929084834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828800" y="4096512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AMC Agents LLC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800600" y="409651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DHA LOGISTICS LLC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635240" y="409651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Carlos Ochoa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012680" y="409651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$13,324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1338559" y="409651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27, 2026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57200" y="4279392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48640" y="429768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14400" y="42976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251073851778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828800" y="429768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Connect Insurance Agency, Inc.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800600" y="429768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KWILL INVESTMENTS LLC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2976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Jeremy Huddleston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012680" y="429768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$44,516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1338559" y="429768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27, 2026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48640" y="449884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14400" y="44988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250702727424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828800" y="4498848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Connect Insurance Agency, Inc.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800600" y="449884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SMS LOGISTICS LLC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635240" y="449884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Jeremy Huddleston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012680" y="449884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$48,508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1338559" y="449884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27, 2026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457200" y="4681728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548640" y="470001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914400" y="470001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252563214414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828800" y="4700016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American Fleet Insurance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800600" y="4700016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BENDER EXPRESS INC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7635240" y="4700016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Justin Feaster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0012680" y="470001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$2,847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1338559" y="470001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26, 2026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48640" y="4901184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914400" y="490118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257497534460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828800" y="4901184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American Fleet Insurance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800600" y="4901184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Road Alliance Network LLC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7635240" y="490118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Justin Feaster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0012680" y="490118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$49,260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1338559" y="490118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26, 2026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457200" y="5084064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548640" y="51023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914400" y="51023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264299619684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828800" y="5102352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American Fleet Insurance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800600" y="510235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WOMEN WITH EMPOWERMENT LLC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7635240" y="510235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Justin Feaster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0012680" y="510235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1338559" y="510235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26, 2026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548640" y="530352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914400" y="5303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267736487031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828800" y="530352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American Fleet Insurance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800600" y="530352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 R TRANSPORTING LLC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7635240" y="53035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Justin Feaster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0012680" y="530352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$16,256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1338559" y="530352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26, 2026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457200" y="5486400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548640" y="550468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914400" y="550468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264125060075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828800" y="5504688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AMC Agents LLC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4800600" y="550468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SCAIFE LOGISTICS LLC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7635240" y="550468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Carlos Ochoa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0012680" y="550468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$17,455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1338559" y="550468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26, 2026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548640" y="570585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914400" y="570585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265426025641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1828800" y="5705856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AMC Agents LLC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4800600" y="5705856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PR TRUCKING LLC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7635240" y="5705856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Carlos Ochoa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0012680" y="570585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$16,182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1338559" y="570585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26, 2026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457200" y="5888736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548640" y="5907024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914400" y="590702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252549371915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828800" y="5907024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Connect Insurance Agency, Inc.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4800600" y="5907024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MWV LOGISTICS LLC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7635240" y="590702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Jeremy Huddleston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10012680" y="590702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$2,595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11338559" y="590702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26, 2026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548640" y="610819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914400" y="610819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254802517024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828800" y="6108192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Convoy Trucking Insurance Agency, 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4800600" y="610819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KANG EXPRESS LLC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7635240" y="610819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Shanveer Singh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10012680" y="610819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$22,037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11338559" y="610819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26, 2026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548640" y="6345936"/>
            <a:ext cx="11155680" cy="1097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548640" y="6400800"/>
            <a:ext cx="7863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Total (Last 25 Submissions)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8412480" y="64008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$508,451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Renewal Watch — Next 90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Derrick Leroy  |  Active in-force policies expiring through Aug 27,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234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POLICIES 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D28D9"/>
                </a:solidFill>
                <a:latin typeface="Segoe UI"/>
              </a:defRPr>
            </a:pPr>
            <a:r>
              <a:t>$2,674,133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PREMIUM AT RISK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DC2626"/>
                </a:solidFill>
                <a:latin typeface="Segoe UI"/>
              </a:defRPr>
            </a:pPr>
            <a:r>
              <a:t>97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EXPIRE ≤30 DAYS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68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31-60 DAYS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69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61-90 DAYS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93392"/>
            <a:ext cx="1143000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2029968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POLICIES EXPIRING (sorted by date — earliest first)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5915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35915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Sub #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35915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Insured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35915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Exp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2359152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35915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Coverage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55480" y="2359152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59" y="2359152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State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633472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67004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American Fleet Insurance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267004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254578233124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267004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FINALLYA TRUCKING LLC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267004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267004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1d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26700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MTC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2670048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$1,012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59" y="267004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NC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298094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Lone Star Direct Insurance 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298094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257752255990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1920" y="298094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GREAT JOURNEY TRANS INC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298094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2026-05-30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298094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1d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29809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TGL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55480" y="2980944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$650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81359" y="298094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GA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255263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329183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AMC Agents LLC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329183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254540463164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31920" y="329183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TRANSPORTATION SERVICES A&amp;E LLC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0" y="3291839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2026-05-30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55279" y="329183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1d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58200" y="329183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MTC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55480" y="3291839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$1,012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81359" y="329183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GA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3602735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Insurance Leader Group, Inc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0" y="3602735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256916722426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31920" y="3602735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SILVERMEN MOTOR FREIGHT INC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49440" y="3602735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2026-05-30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55279" y="3602735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1d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58200" y="3602735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55480" y="3602735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$76,587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881359" y="3602735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TX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77055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913631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American Fleet Insurance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43200" y="3913631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253370953439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31920" y="3913631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SLINGSHOT RENTAL LOS ANGELES LLC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49440" y="3913631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2026-05-30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55279" y="3913631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1d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58200" y="3913631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APD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55480" y="3913631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$6,169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881359" y="3913631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CA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5760" y="4224527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AMC Agents LLC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743200" y="4224527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251917323089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931920" y="4224527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MJCAR TRANSPORTATION LLC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49440" y="4224527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2026-05-30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955279" y="4224527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1d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58200" y="4224527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APD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555480" y="4224527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$5,118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881359" y="4224527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PA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5760" y="4498847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5760" y="4535423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AMC Agents LLC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743200" y="4535423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258644307501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931920" y="4535423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PALOMO'S TRANSPORT LLC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949440" y="4535423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2026-05-30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55279" y="4535423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1d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458200" y="4535423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555480" y="4535423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$16,031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881359" y="4535423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TX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65760" y="484631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Justin Wilson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743200" y="484631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258974634578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931920" y="48463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SAVANH EXPRESS LLC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949440" y="4846319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2026-05-31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955279" y="484631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2d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458200" y="484631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APD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555480" y="4846319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$2,280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881359" y="484631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TX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65760" y="5120639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65760" y="5157215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Resolute Insurance Group LLC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743200" y="5157215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257321364354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931920" y="5157215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ACHIEVE TRANSPORTATION LLC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949440" y="5157215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2026-06-02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955279" y="5157215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4d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458200" y="5157215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NTL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555480" y="5157215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$750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881359" y="5157215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TX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65760" y="5468111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American Fleet Insurance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743200" y="5468111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256197497553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931920" y="5468111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B &amp; F HAULING LLC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949440" y="5468111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2026-06-02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955279" y="5468111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4d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458200" y="5468111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TGL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555480" y="5468111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$650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881359" y="5468111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GA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65760" y="5742431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65760" y="5779007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Convoy Trucking Insurance Agen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743200" y="5779007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256963127112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931920" y="5779007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APR TRANSPORTS LLC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949440" y="5779007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2026-06-02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955279" y="5779007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4d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458200" y="5779007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555480" y="5779007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$21,988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881359" y="5779007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MI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65760" y="6089903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AMC Agents LLC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743200" y="6089903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257119212697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931920" y="6089903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IDEAL XPRESS LLC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949440" y="6089903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2026-06-02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955279" y="6089903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4d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458200" y="6089903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MTC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555480" y="6089903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$2,994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881359" y="6089903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NC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365760" y="6364223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365760" y="640079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American Fleet Insurance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743200" y="640079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257603223322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931920" y="640079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JONATHAN PEROZZI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949440" y="6400799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2026-06-02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955279" y="640079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4d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458200" y="640079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APD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555480" y="6400799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$6,414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881359" y="640079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MD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65760" y="6492240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Showing 13 of 234 upcoming renewals  |  Source: dw_reader.policy_premium  |  Active in-force only  |  Sorted by expiration date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Pending Cancellations — Save List — Next 90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Derrick Leroy  |  Policies with cancellation_date on or before Aug 27, 2026  |  Sorted by urgency — call these agencies first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POLICIES PENDING CANCEL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D28D9"/>
                </a:solidFill>
                <a:latin typeface="Segoe UI"/>
              </a:defRPr>
            </a:pPr>
            <a:r>
              <a:t>$40,478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PREMIUM AT RISK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DC2626"/>
                </a:solidFill>
                <a:latin typeface="Segoe UI"/>
              </a:defRPr>
            </a:pPr>
            <a:r>
              <a:t>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≤30 DAYS (URGENT)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DC2626"/>
                </a:solidFill>
                <a:latin typeface="Segoe UI"/>
              </a:defRPr>
            </a:pPr>
            <a:r>
              <a:t>$40,478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≤30 DAY PREMIUM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6D28D9"/>
                </a:solidFill>
                <a:latin typeface="Segoe UI"/>
              </a:defRPr>
            </a:pPr>
            <a:r>
              <a:t>Non Payment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TOP REASON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93392"/>
            <a:ext cx="1143000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2029968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PENDING CANCELS (sorted by cancel date — earliest first)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59152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5915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Cancel 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235915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Sub #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359152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Insured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2359152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235915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LOB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235915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359152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35915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Reason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633472"/>
            <a:ext cx="1143000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267004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26700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267004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253029463516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20" y="2670048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MARY JANE MARTINEZ-MENDOZA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2670048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American Fleet Insurance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26700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9560" y="26700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TX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2670048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$23,588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267004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Non Payment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298094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29809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2026-05-29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83080" y="298094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258807682719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88920" y="2980944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FRYER ENTERPRISE LLC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4960" y="2980944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Greenlite Insurance Agency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52360" y="298094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09560" y="298094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2980944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$11,930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20" y="298094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Non Payment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55263"/>
            <a:ext cx="1143000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3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32918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2026-05-29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83080" y="3291839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262810890223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88920" y="3291839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MADE TO COMPETE TRANSPORT LLC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94960" y="3291839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Insurance Leader Group, Inc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52360" y="3291839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09560" y="3291839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TX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66760" y="3291839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18320" y="329183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Non Payment Internal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3602735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" y="360273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2026-05-29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783080" y="3602735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253029463516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88920" y="3602735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MARY JANE MARTINEZ-MENDOZA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94960" y="3602735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American Fleet Insurance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52360" y="3602735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MTC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09560" y="3602735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TX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66760" y="3602735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$1,118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418320" y="3602735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Non Payment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5760" y="3877055"/>
            <a:ext cx="1143000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5760" y="3913631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" y="391363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2026-05-29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783080" y="3913631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253029463516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88920" y="3913631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MARY JANE MARTINEZ-MENDOZA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394960" y="3913631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American Fleet Insurance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52360" y="3913631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TGL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909560" y="3913631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TX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66760" y="3913631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$203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418320" y="3913631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Non Payment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5760" y="4224527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68680" y="422452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2026-05-29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783080" y="4224527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262810890223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788920" y="4224527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MADE TO COMPETE TRANSPORT LLC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94960" y="4224527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Insurance Leader Group, Inc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452360" y="4224527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TGL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909560" y="4224527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TX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366760" y="4224527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418320" y="4224527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Non Payment Internal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65760" y="4498847"/>
            <a:ext cx="1143000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65760" y="4535423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68680" y="4535423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2026-05-29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783080" y="4535423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258807682719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788920" y="4535423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FRYER ENTERPRISE LLC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394960" y="4535423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Greenlite Insurance Agency 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452360" y="4535423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MTC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909560" y="4535423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366760" y="4535423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$478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418320" y="4535423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Non Payment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65760" y="484631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0d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68680" y="484631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2026-05-29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783080" y="4846319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253029463516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788920" y="4846319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MARY JANE MARTINEZ-MENDOZA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394960" y="4846319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American Fleet Insurance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452360" y="4846319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APD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909560" y="4846319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TX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366760" y="4846319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$3,160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418320" y="484631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Non Payment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65760" y="6492240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Showing 8 of 8 pending cancels  |  Source: dw_reader.policy_premium  |  Non-payment = green (most savable), Insured-requested = red, Days ≤14 = red  |  Action: contact agency, confirm reinstatement plan, escalate non-payment cases for billing fix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American Fleet Insurance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1  |  Region: South Central  |  State: TX  |  City: Ft. Worth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$4,053,812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$2,931,334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$567,563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$554,915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$-1,610,067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$10,036,378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$10,230,887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34%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2686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203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7.6%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$344,062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$3,203,777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$654,416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$479,546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$87,375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$87,495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$-145,816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$866,892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$600,573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$65,080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$201,239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$-394,900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$956,518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$828,068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$35,769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$92,681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$-564,226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$577,000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$416,184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$131,929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$28,887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$-267,659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$998,985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$606,963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$247,409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$144,613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$-237,466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$4,053,812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$2,931,334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$567,563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$554,915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$-1,610,067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613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571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79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12.9%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621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595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13.5%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601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583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83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13.8%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633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601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69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10.9%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534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502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9.4%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2686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132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2554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203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7.6%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517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613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579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621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727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601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765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633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587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534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3175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3002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$670K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$654K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$425K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$867K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$643K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$957K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$1.1M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$577K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$1.0M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$999K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$3.9M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$4.1M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$4,053,812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$2,931,334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55% of new business ($1,610,067)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$2,931,334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$1,610,067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AMC Agents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1  |  Region: South Central  |  State: TX  |  City: Abilene TX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$3,729,482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$2,748,615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$225,670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$755,198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$-1,774,486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$5,217,115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$7,076,569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60%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2509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157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6.3%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$685,918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$2,048,422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$554,413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$489,355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$65,058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$-199,443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$400,407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$311,034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$30,608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$58,765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$-146,893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$1,160,900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$685,269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$67,812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$407,819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$-821,485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$956,467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$693,891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$104,067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$158,509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$-313,944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$657,296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$569,067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$23,183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$65,046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$-292,721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$3,729,482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$2,748,615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$225,670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$755,198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$-1,774,486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510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486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49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9.6%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462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433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8.7%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609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38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571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10.2%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569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542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58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10.2%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578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548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54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9.3%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2509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132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2377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157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6.3%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259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510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228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462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309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609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295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569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289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578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1380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2728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$135K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$554K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$358K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$400K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$285K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$1.2M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$557K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$956K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$535K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$657K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$1.9M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$3.7M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$3,729,482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$2,748,615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65% of new business ($1,774,486)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$2,748,615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$1,774,486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Connect Insurance Agency,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1  |  Region: South Central  |  State: Texas  |  City: Mansfield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$818,544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$339,980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$149,555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$329,009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$-598,726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$5,597,887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$5,241,145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12%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542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10.1%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$444,185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$1,014,137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$282,948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$190,387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$92,562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$-219,799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$149,399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$40,120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$20,586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$88,694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$-178,319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$176,997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$58,911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$48,922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$69,163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$-122,061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$108,544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$50,562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$30,692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$27,290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$-47,369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$100,655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$49,355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$51,300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$-31,178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$818,544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$339,980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$149,555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$329,009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$-598,726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228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213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10.1%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16.9%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25.5%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96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21.7%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77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69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24.7%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542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511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55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10.1%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188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228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116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124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196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102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249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106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252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77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1001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637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$165K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$283K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$57K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$149K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$256K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$177K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$364K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$109K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$333K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$101K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$1.2M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$819K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$818,544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$339,980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176% of new business ($598,726)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$339,980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$598,726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Protectgo Services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South Central  |  State: TX  |  City: San Antonio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$674,762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$448,159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$55,656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$170,948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$-360,447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$2,316,280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$2,042,598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24%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832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4.2%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$470,350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$694,626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$107,337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$32,679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$74,658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$-80,228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$110,798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$77,437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$22,690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$10,672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$-18,292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$139,452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$67,038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$72,414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$-76,251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$182,176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$133,601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$11,666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$36,909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$-76,246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$135,000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$137,404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$21,300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$-23,705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$-109,429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$674,762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$448,159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$55,656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$170,948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$-360,447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10.5%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7.9%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226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213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7.1%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182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6.6%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178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5.1%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832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66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766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4.2%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172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139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226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134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182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105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178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516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897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$118K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$107K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$169K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$111K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$303K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$139K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$283K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$182K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$75K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$135K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$948K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$675K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$674,762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$448,159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80% of new business ($360,447)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$448,159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$360,447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Justin Wilson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1  |  Region: South Central  |  State: TX  |  City: DeSoto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$543,643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$394,723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$15,060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$133,860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$-417,467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$1,960,019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$1,956,678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23%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340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7.4%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$353,335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$415,041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$202,050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$162,010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$40,039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$-134,262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$29,530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$15,521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$14,009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$-74,841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$109,820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$66,505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$43,315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$-48,466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$184,819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$146,270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$38,549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$-133,364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$17,425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$4,418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$15,060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$-2,053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$-26,535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$543,643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$394,723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$15,060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$133,860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$-417,467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16.9%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11.7%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13.9%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18.5%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68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67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7.4%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340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327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7.4%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115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103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117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72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99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79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68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531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395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$72K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$202K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$101K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$30K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$49K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$110K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$258K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$185K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$68K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$17K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$547K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$544K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$543,643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$394,723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106% of new business ($417,467)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91% month-over-month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$394,723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$417,467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InsurNorth Corp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1  |  Region: South Central  |  State: TX  |  City: Granbury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$516,958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$398,606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$118,352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$-176,428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$1,276,105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$838,486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34%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170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7.6%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$109,590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$315,693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$50,095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$37,357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$12,738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$120,870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$67,578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$53,292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$-37,733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$50,381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$23,366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$27,015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$-45,122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$139,860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$128,778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$11,082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$-35,880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$155,752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$141,527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$14,225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$-57,693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$516,958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$398,606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$118,352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$-176,428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13.5%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38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10.5%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12.5%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15.6%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170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132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7.6%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38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33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38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64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33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152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196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$49K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$50K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$22K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$121K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$164K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$50K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$270K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$140K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$450K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$156K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$955K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$517K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$516,958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$398,606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44% of new business ($176,428)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$398,606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$176,428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Resolute Insurance Group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1  |  Region: South Central  |  State: Arkansas  |  City: Little Rock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$399,065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$383,908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$11,218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$3,939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$-123,387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$1,269,492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$1,236,201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26%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329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$84,686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$343,702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$194,791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$193,202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$1,590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$-23,060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$750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$10,668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$-9,917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$147,385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$144,999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$2,386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$-100,328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$55,588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$45,708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$9,881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$399,065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$383,908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$11,218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$3,939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$-123,387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4.1%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8.6%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99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46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36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7.8%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49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6.1%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329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138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191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59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49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58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82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99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73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49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336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345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$133K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$29K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$195K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$64K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$750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$198K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$147K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$9K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$56K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$432K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$399K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$399,065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$383,908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62% month-over-month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$383,908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$123,387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Convoy Trucking Insurance Agency,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1  |  Region: South Central  |  State: MI  |  City: N/A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$362,160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$298,884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$54,891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$8,384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$-175,495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$713,272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$858,350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42%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181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6.1%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$236,607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$236,218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$208,028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$28,190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$-119,101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$78,821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$70,406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$8,415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$-6,915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$12,779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$12,779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$-49,479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$-18,830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$18,370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$-37,200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$53,171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$20,450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$36,521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$-3,800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$362,160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$298,884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$54,891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$8,384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$-175,495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17.8%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6.5%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49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4.1%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38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7.9%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181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164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6.1%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45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28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49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38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121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203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$16K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$236K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$44K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$79K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$94K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$13K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$26K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$-18,830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$38K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$53K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$217K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$362K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$362,160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$298,884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59% of new business ($175,495)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$298,884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$175,495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Lone Star Direct Insurance Agency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1  |  Region: South Central  |  State: TX  |  City: N/A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$331,235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$176,862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$255,769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$-101,396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$-19,201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$1,268,463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$738,545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22%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261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4.2%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$577,148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$186,283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$-108,736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$-108,736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$4,445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$4,445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$-4,176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$362,175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$105,425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$251,261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$5,488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$-15,025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$-438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$-438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$73,790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$71,436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$4,508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$-2,154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$331,235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$176,862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$255,769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$-101,396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$-19,201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12.5%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9.8%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10.6%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6.3%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55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12.7%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261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189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4.2%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85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63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55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59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284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$-108,736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$147K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$362K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$355K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$-438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$360K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$74K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$861K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$331K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$331,235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$176,862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significant concerns identified this quarter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Continue monitoring performance metrics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$176,862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Strong $255,769 renewal book. Use this as proof of value: "Your retention shows we're delivering - let's find more accounts like these in your pipeline."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Insurance Leader Group,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South Central  |  State: TX  |  City: Houston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$225,008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$90,538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$134,470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$-165,293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$705,558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$709,653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27%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113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7.1%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$103,429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$62,886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$39,911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$39,361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$-17,478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$23,374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$15,500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$7,874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$-42,578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$75,886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$57,081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$18,804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$-19,083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$68,936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$68,386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$-70,262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$16,902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$16,857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$-15,892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$225,008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$90,538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$134,470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$-165,293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11.1%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11.1%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28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17.9%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21.1%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28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7.1%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113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99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7.1%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36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28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28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117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138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$40K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$56K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$23K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$44K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$76K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$34K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$69K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$88K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$17K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$221K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$225K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$225,008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$90,538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183% of new business ($165,293)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75% month-over-month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$90,538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$165,293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Agentruben.com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South Central  |  State: TX  |  City: San Antonio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$154,283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$96,575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$15,072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$42,636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$-41,647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$263,610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$296,119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49%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10.7%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$163,859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$25,554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$46,625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$31,370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$15,072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$182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$70,072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$65,205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$4,867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$-41,647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$22,277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$22,277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$15,309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$15,309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$154,283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$96,575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$15,072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$42,636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$-41,647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22.2%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18.2%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30.8%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18.8%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14.3%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56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10.7%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63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$49K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$47K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$25K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$70K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$22K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$44K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$15K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$122K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$154K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$154,283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$96,575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43% of new business ($41,647)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$96,575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$41,647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Dream Assurance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3  |  Region: South Central  |  State: KS  |  City: Overland Park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$138,150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$135,859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$2,291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$-136,269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$1,922,060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$1,063,313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6%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482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1.9%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$140,441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$48,155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$37,317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$10,838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$-23,489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$317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$317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$31,574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$33,138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$-1,564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$-19,027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$20,970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$27,910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$-6,939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$-26,211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$37,134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$37,494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$-360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$-67,541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$138,150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$135,859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$2,291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$-136,269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79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3.8%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6.4%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163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151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4.3%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88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3.4%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1.9%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482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462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1.9%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135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79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78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171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163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270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88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243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103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959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511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$118K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$48K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$46K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$317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$347K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$32K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$350K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$21K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$137K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$37K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$997K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$138K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$138,150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$135,859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Low 1.9% hit ratio on 482 subs - needs coaching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100% of new business ($136,269)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Walk through recent lost quotes (482 subs, only 9 binds). Ask: "What are the top 2 reasons your clients go elsewhere?" Use answers to tailor appetite and pricing discussions.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$135,859 in new business. Ask: "What types of accounts are you seeing the most success with?" Use this to identify more of their book that fits our appetite.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Legacy Truck Insurance Agency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South Central  |  State: TX  |  City: Pinehurst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$133,558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$133,008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$550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$-109,777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$266,359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$244,665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42%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22.2%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$101,122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$50,307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$50,307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$-47,137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$82,701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$82,701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$-62,640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$133,558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$133,008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$-109,777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12.5%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22.2%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$55K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$50K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$45K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$27K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$28K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$83K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$155K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$134K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$133,558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$133,008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83% of new business ($109,777)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$133,008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$109,777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Xgen Insurance Group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3  |  Region: South Central  |  State: TX  |  City: Northlake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$131,844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$103,874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$27,970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$-23,184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$99,755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$231,599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110%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154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1.3%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$64,971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$21,970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$21,970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$69,057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$58,720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$10,336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$23,184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$23,184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$-23,184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$17,633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$17,633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$131,844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$103,874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$27,970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$-23,184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7.1%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49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4.1%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59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1.7%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3.2%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154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117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1.3%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49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59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158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$22K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$69K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$23K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$18K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$132K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$131,844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$103,874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Low 1.3% hit ratio on 154 subs - needs coaching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Walk through recent lost quotes (154 subs, only 2 binds). Ask: "What are the top 2 reasons your clients go elsewhere?" Use answers to tailor appetite and pricing discussions.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$103,874 in new business. Ask: "What types of accounts are you seeing the most success with?" Use this to identify more of their book that fits our appetite.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Gabriela Jimenez Dba First Contempo Insurance Agency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South Central  |  State: TX  |  City: Arlington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$126,669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$126,034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$635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$-66,131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$202,810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$290,262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52%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23.1%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$67,173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$70,581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$-2,775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$11,023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$-13,797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$21,794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$21,794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$-19,091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$75,677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$61,156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$14,521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$-28,753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$19,017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$19,017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$-18,287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$12,956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$13,045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$-89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$126,669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$126,034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$635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$-66,131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33.3%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14.3%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23.1%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33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$12K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$-2,775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$11K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$22K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$76K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$16K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$19K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$13K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$39K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$127K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$126,669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$126,034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52% of new business ($66,131)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$126,034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$66,131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Greenlite Insurance Agency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South Central  |  State: TX  |  City: N/A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$104,880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$79,758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$550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$24,572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$-42,203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$172,386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$229,131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51%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3.6%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$92,273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$-1,567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$-1,567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$11,350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$11,350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$96,425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$79,758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$16,117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$-16,117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$-1,328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$-1,328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$-13,880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$-12,206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$104,880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$79,758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$24,572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$-42,203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39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2.6%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14.3%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55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49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3.6%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39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48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61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$-1,567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$11K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$11K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$96K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$13K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$-1,328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$15K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$48K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$105K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$104,880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$79,758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53% of new business ($42,203)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$79,758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$42,203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Tremach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South Central  |  State: TX  |  City: Amarillo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$93,109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$78,864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$14,245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$-37,510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$159,943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$241,492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49%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65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9.2%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$94,781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$-11,066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$38,099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$38,079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$25,933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$25,773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$160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$15,011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$15,011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$-12,378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$14,066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$14,066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$-14,066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$93,109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$78,864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$14,245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$-37,510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8.3%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11.1%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33.3%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65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9.2%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68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$-1,167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$13K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$38K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$-24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$26K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$15K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$14K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$12K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$93K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$93,109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$78,864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48% of new business ($37,510)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Submission volume dropped from 10 to 3 MoM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$78,864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$37,510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Global Risk Office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South Central  |  State: AR  |  City: Jonesboro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$85,691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$24,063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$58,450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$3,178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$-10,518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$257,496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$219,353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28%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100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$116,096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$27,163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$16,646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$10,518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$-10,518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$-7,935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$-7,935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$66,462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$24,063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$41,804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$595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$85,691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$24,063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$58,450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$3,178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$-10,518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14.3%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6.7%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28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3.6%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100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28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78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105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$13K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$27K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$27K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$40K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$-7,935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$43K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$66K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$124K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$86K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$85,691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$24,063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44% of new business ($10,518)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$24,063 in new business. Ask what made those deals work and how you can help replicate that success with similar accounts in their pipeline.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$10,518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ECO INSURANCE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 Central  |  State: TX  |  City: Houston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$83,081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$50,317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$17,665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$15,100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$-15,100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$55,140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$77,728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126%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111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2.7%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$54,900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$17,665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$17,665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$65,416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$50,317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$15,100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$-15,100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$83,081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$50,317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$17,665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$15,100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$-15,100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3.7%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28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11.5%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111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102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2.7%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112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$31K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$18K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$29K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$65K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$60K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$83K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$83,081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$50,317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Low 2.7% hit ratio on 111 subs - needs coaching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Walk through recent lost quotes (111 subs, only 3 binds). Ask: "What are the top 2 reasons your clients go elsewhere?" Use answers to tailor appetite and pricing discussions.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$50,317 in new business. Ask: "What types of accounts are you seeing the most success with?" Use this to identify more of their book that fits our appetite.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Twins Insurance Group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N/A  |  Region: South Central  |  State: NA  |  City: N/A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$64,034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$64,070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$-36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$-17,763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$158,268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$96,862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34%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$41,438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$-17,763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$64,070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$64,070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$64,034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$64,070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$-36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$-17,763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39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78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34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$21K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$-36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$-59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$82K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$64K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$-3,692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$26K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$125K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$64K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$64,034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$64,070 in renewals - strong retention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new business - all premium from renewals/endorsements only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Their $64,070 in renewals shows they trust our product. Ask: "What's holding back new submissions?" They may need updated appetite info or a refresher on our quoting process.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Mickey Scott Insurance Agencies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South Central  |  State: TX  |  City: Arlington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$61,340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$1,898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$550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$58,892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$-52,603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$441,561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$403,357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12%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119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7.6%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$148,804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$20,914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$949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$19,965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$-20,305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$-445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$949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$-1,394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$38,727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$38,727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$-29,659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$549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$-2,287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$1,596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$1,596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$-352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$61,340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$1,898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$58,892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$-52,603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7.3%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23.1%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30.4%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6.1%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119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114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7.6%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108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54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55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33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64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341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131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$650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$21K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$31K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$-445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$43K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$39K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$650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$549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$24K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$2K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$100K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$61K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$61,340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$1,898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2771% of new business ($52,603)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$1,898 in new business. Ask what made those deals work and how you can help replicate that success with similar accounts in their pipeline.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$52,603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David Sandoz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South Central  |  State: TX  |  City: Rusk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$58,802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$41,928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$16,874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$-29,632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$218,212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$218,020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22%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15.4%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$63,031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$443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$443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$133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$133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$327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$327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$58,776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$41,928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$16,849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$-29,632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$-877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$-877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$58,802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$41,928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$16,874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$-29,632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33.3%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33.3%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15.4%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$443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$133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$327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$16K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$59K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$41K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$-877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$59K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$59K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$58,802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$41,928 in renewals - strong retention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101% month-over-month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new business - all premium from renewals/endorsements only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Volume dropped significantly last month. Lead with curiosity, not concern: "I noticed things slowed down - anything going on I can help with?" Identify if it's seasonal, competitive, or operational.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Danaco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3  |  Region: South Central  |  State: TX  |  City: Dallas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$14,537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$18,418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$-3,881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$-5,819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$234,735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$183,346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62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1.6%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$97,642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$19,537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$18,418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$1,119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$-5,819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$-77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$-77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$-205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$-205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$-4,717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$-4,717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$14,537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$18,418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$-3,881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$-5,819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18.2%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5.6%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9.1%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7.1%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62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1.6%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101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67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$19K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$20K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$-77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$47K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$-205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$-4,717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$66K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$15K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$14,537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$18,418 in renewals - strong retention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Low 1.6% hit ratio on 62 subs - needs coaching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new business - all premium from renewals/endorsements only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Walk through recent lost quotes (62 subs, only 1 binds). Ask: "What are the top 2 reasons your clients go elsewhere?" Use answers to tailor appetite and pricing discussions.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Rainbow Insurance Agency,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South Central  |  State: TX  |  City: Fort Worth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$4,789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$4,789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$-14,877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$188,288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$98,625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2%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$195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$195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$-14,877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$4,630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$4,630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$4,789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$4,789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$-14,877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36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$-384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$-36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$195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$95K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$94K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$5K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$4,789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up 2276% month-over-month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17 submissions with zero binds - zero conversion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 quotes but 0 binds - follow up on pricing/coverage gaps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Review their 17 quoted-not-bound submissions together. Ask which quotes were close and what competitors offered - identifies specific pricing or appetite gaps to escalate internally.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Pull up their 8 recent quotes and review together. Ask: "Which of these were closest to binding?" Offer to re-quote or adjust terms on the most promising ones.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Tigers Insurance Group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South Central  |  State: TX  |  City: N/A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$3,249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$3,249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$-9,281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$112,124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$69,050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2%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3.6%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$2,191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$-9,281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$2,699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$2,699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$3,249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$3,249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$-9,281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7.1%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56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3.6%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59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$46K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$46K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$3K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$3,249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$3,249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286% of new business ($9,281)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$3,249 in new business. Ask what made those deals work and how you can help replicate that success with similar accounts in their pipeline.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$9,281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Cobic Inc. Dba Cm Insurance Agency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N/A  |  Region: N/A  |  State: N/A  |  City: N/A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 quotes generated - active in pipeline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5 submissions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 submissions with zero binds - zero conversion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Open with a value-add: share a recent market update or new appetite expansion relevant to their book. Position yourself as a resource, not just a follow-up call.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Ask: "What's the biggest challenge in your trucking book right now?" Use their answer to tailor your next outreach with specific solutions.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Marketers General Insurance Agency,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5  |  Region: South Central  |  State: N/A  |  City: Norman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 quotes generated - active in pipeline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8 submissions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 submissions with zero binds - zero conversion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Pull up their 6 recent quotes and review together. Ask: "Which of these were closest to binding?" Offer to re-quote or adjust terms on the most promising ones.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