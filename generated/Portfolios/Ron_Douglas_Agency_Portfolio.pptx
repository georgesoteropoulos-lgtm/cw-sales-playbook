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</p:sldIdLst>
  <p:sldSz cy="6858000" cx="12191675"/>
  <p:notesSz cx="6858000" cy="9144000"/>
  <p:embeddedFontLst>
    <p:embeddedFont>
      <p:font typeface="Quattrocento Sans"/>
      <p:regular r:id="rId55"/>
      <p:bold r:id="rId56"/>
      <p:italic r:id="rId57"/>
      <p:boldItalic r:id="rId5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59" roundtripDataSignature="AMtx7mjDn892M9qXpwA61/vQbSCpsEqpT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font" Target="fonts/QuattrocentoSans-regular.fntdata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font" Target="fonts/QuattrocentoSans-italic.fntdata"/><Relationship Id="rId12" Type="http://schemas.openxmlformats.org/officeDocument/2006/relationships/slide" Target="slides/slide7.xml"/><Relationship Id="rId56" Type="http://schemas.openxmlformats.org/officeDocument/2006/relationships/font" Target="fonts/QuattrocentoSans-bold.fntdata"/><Relationship Id="rId15" Type="http://schemas.openxmlformats.org/officeDocument/2006/relationships/slide" Target="slides/slide10.xml"/><Relationship Id="rId59" Type="http://customschemas.google.com/relationships/presentationmetadata" Target="metadata"/><Relationship Id="rId14" Type="http://schemas.openxmlformats.org/officeDocument/2006/relationships/slide" Target="slides/slide9.xml"/><Relationship Id="rId58" Type="http://schemas.openxmlformats.org/officeDocument/2006/relationships/font" Target="fonts/QuattrocentoSans-boldItalic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1" name="Google Shape;66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6" name="Google Shape;73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5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7" name="Google Shape;80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6" name="Google Shape;88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9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Google Shape;115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1" name="Google Shape;115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0" name="Shape 1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Google Shape;120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2" name="Google Shape;120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8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0" name="Google Shape;1270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0" name="Shape 1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1" name="Google Shape;1311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2" name="Google Shape;1312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5" name="Shape 1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6" name="Google Shape;151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7" name="Google Shape;1517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9" name="Shape 1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0" name="Google Shape;1650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1" name="Google Shape;1651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4" name="Shape 1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5" name="Google Shape;1675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6" name="Google Shape;1676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3" name="Shape 1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4" name="Google Shape;1854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5" name="Google Shape;1855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2" name="Shape 2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3" name="Google Shape;2033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4" name="Google Shape;2034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9" name="Shape 2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0" name="Google Shape;2210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1" name="Google Shape;2211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8" name="Shape 2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9" name="Google Shape;2389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7" name="Shape 2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8" name="Google Shape;2568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9" name="Google Shape;2569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4" name="Shape 2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5" name="Google Shape;2745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6" name="Google Shape;2746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3" name="Shape 2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4" name="Google Shape;2924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5" name="Google Shape;2925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2" name="Shape 3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3" name="Google Shape;3103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4" name="Google Shape;3104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9" name="Shape 3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0" name="Google Shape;3280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1" name="Google Shape;3281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6" name="Shape 3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7" name="Google Shape;3457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8" name="Google Shape;3458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5" name="Shape 3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6" name="Google Shape;3636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7" name="Google Shape;3637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4" name="Shape 3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5" name="Google Shape;3815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6" name="Google Shape;3816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3" name="Shape 3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4" name="Google Shape;3994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5" name="Google Shape;3995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2" name="Shape 4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3" name="Google Shape;4173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4" name="Google Shape;4174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9" name="Shape 4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0" name="Google Shape;4350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1" name="Google Shape;4351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6" name="Shape 4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7" name="Google Shape;4527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8" name="Google Shape;4528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5" name="Shape 4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6" name="Google Shape;4706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7" name="Google Shape;4707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2" name="Shape 4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3" name="Google Shape;4883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4" name="Google Shape;4884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1" name="Shape 5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2" name="Google Shape;5062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3" name="Google Shape;5063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40" name="Shape 5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1" name="Google Shape;5241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2" name="Google Shape;5242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19" name="Shape 5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0" name="Google Shape;5420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1" name="Google Shape;5421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8" name="Shape 5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9" name="Google Shape;5599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0" name="Google Shape;5600;p3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75" name="Shape 5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6" name="Google Shape;5776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77" name="Google Shape;5777;p3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4" name="Shape 5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5" name="Google Shape;5955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56" name="Google Shape;5956;p4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31" name="Shape 6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2" name="Google Shape;6132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33" name="Google Shape;6133;p4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0" name="Shape 6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1" name="Google Shape;6311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2" name="Google Shape;6312;p4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87" name="Shape 6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8" name="Google Shape;6488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89" name="Google Shape;6489;p4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66" name="Shape 6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7" name="Google Shape;6667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8" name="Google Shape;6668;p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45" name="Shape 6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6" name="Google Shape;6846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7" name="Google Shape;6847;p4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24" name="Shape 7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5" name="Google Shape;7025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26" name="Google Shape;7026;p4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1" name="Shape 7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2" name="Google Shape;7202;p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03" name="Google Shape;7203;p4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78" name="Shape 7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9" name="Google Shape;7379;p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80" name="Google Shape;7380;p4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53" name="Shape 7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4" name="Google Shape;7554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55" name="Google Shape;7555;p4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5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5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2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52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5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5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5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5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4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4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5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55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5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6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56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56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56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5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5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5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5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5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5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8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58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58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5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5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5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9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59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59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5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5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5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60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6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6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6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61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61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6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6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6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5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5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5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5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07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8B5C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 WHALE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Ron Douglas - Agency Portfolio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Generated May 20, 2026  |  34 Agencies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Ron Douglas - Portfolio Overview</a:t>
            </a:r>
            <a:endParaRPr/>
          </a:p>
        </p:txBody>
      </p:sp>
      <p:sp>
        <p:nvSpPr>
          <p:cNvPr id="93" name="Google Shape;93;p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34 Total Agencies  |  34 Active  |  0 Inactive</a:t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13716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Agencies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184708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(YTD)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3557016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$17,056,173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5266944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$12,090,668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6976872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$2,029,913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868680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$2,935,592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1039672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$-7,638,942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13716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13697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Submissions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184708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Binds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3557016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5266944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Subs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6976872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Binds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868680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Subs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1039672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Binds</a:t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13716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$40,451,444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184708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$42,925,781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3557016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$48,541,733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Annual Goal (40%)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5266944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6976872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$5,215,140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868680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$12,504,670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Bound Prem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1039672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Retention Rate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YTD GWP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 $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 $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4" name="Google Shape;124;p2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Prevent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$7,123,880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$5,644,529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$418,104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2906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2091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241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$2,636,218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$1,805,931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$333,370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5199</a:t>
            </a:r>
            <a:endParaRPr/>
          </a:p>
        </p:txBody>
      </p:sp>
      <p:sp>
        <p:nvSpPr>
          <p:cNvPr id="140" name="Google Shape;140;p2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3620</a:t>
            </a:r>
            <a:endParaRPr/>
          </a:p>
        </p:txBody>
      </p:sp>
      <p:sp>
        <p:nvSpPr>
          <p:cNvPr id="141" name="Google Shape;141;p2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142" name="Google Shape;142;p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143" name="Google Shape;143;p2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144" name="Google Shape;144;p2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$2,178,610</a:t>
            </a:r>
            <a:endParaRPr/>
          </a:p>
        </p:txBody>
      </p:sp>
      <p:sp>
        <p:nvSpPr>
          <p:cNvPr id="145" name="Google Shape;145;p2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$1,584,680</a:t>
            </a:r>
            <a:endParaRPr/>
          </a:p>
        </p:txBody>
      </p:sp>
      <p:sp>
        <p:nvSpPr>
          <p:cNvPr id="146" name="Google Shape;146;p2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$205,019</a:t>
            </a:r>
            <a:endParaRPr/>
          </a:p>
        </p:txBody>
      </p:sp>
      <p:sp>
        <p:nvSpPr>
          <p:cNvPr id="147" name="Google Shape;147;p2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496</a:t>
            </a:r>
            <a:endParaRPr/>
          </a:p>
        </p:txBody>
      </p:sp>
      <p:sp>
        <p:nvSpPr>
          <p:cNvPr id="148" name="Google Shape;148;p2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377</a:t>
            </a:r>
            <a:endParaRPr/>
          </a:p>
        </p:txBody>
      </p:sp>
      <p:sp>
        <p:nvSpPr>
          <p:cNvPr id="149" name="Google Shape;149;p2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150" name="Google Shape;150;p2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14.9%</a:t>
            </a:r>
            <a:endParaRPr/>
          </a:p>
        </p:txBody>
      </p:sp>
      <p:sp>
        <p:nvSpPr>
          <p:cNvPr id="151" name="Google Shape;151;p2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Insurance Gr</a:t>
            </a:r>
            <a:endParaRPr/>
          </a:p>
        </p:txBody>
      </p:sp>
      <p:sp>
        <p:nvSpPr>
          <p:cNvPr id="153" name="Google Shape;153;p2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$1,332,127</a:t>
            </a:r>
            <a:endParaRPr/>
          </a:p>
        </p:txBody>
      </p:sp>
      <p:sp>
        <p:nvSpPr>
          <p:cNvPr id="154" name="Google Shape;154;p2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$687,443</a:t>
            </a:r>
            <a:endParaRPr/>
          </a:p>
        </p:txBody>
      </p:sp>
      <p:sp>
        <p:nvSpPr>
          <p:cNvPr id="155" name="Google Shape;155;p2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$313,451</a:t>
            </a:r>
            <a:endParaRPr/>
          </a:p>
        </p:txBody>
      </p:sp>
      <p:sp>
        <p:nvSpPr>
          <p:cNvPr id="156" name="Google Shape;156;p2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1393</a:t>
            </a:r>
            <a:endParaRPr/>
          </a:p>
        </p:txBody>
      </p:sp>
      <p:sp>
        <p:nvSpPr>
          <p:cNvPr id="157" name="Google Shape;157;p2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831</a:t>
            </a:r>
            <a:endParaRPr/>
          </a:p>
        </p:txBody>
      </p:sp>
      <p:sp>
        <p:nvSpPr>
          <p:cNvPr id="158" name="Google Shape;158;p2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159" name="Google Shape;159;p2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160" name="Google Shape;160;p2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$666,285</a:t>
            </a:r>
            <a:endParaRPr/>
          </a:p>
        </p:txBody>
      </p:sp>
      <p:sp>
        <p:nvSpPr>
          <p:cNvPr id="162" name="Google Shape;162;p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$469,323</a:t>
            </a:r>
            <a:endParaRPr/>
          </a:p>
        </p:txBody>
      </p:sp>
      <p:sp>
        <p:nvSpPr>
          <p:cNvPr id="163" name="Google Shape;163;p2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$44,107</a:t>
            </a:r>
            <a:endParaRPr/>
          </a:p>
        </p:txBody>
      </p:sp>
      <p:sp>
        <p:nvSpPr>
          <p:cNvPr id="164" name="Google Shape;164;p2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747</a:t>
            </a:r>
            <a:endParaRPr/>
          </a:p>
        </p:txBody>
      </p:sp>
      <p:sp>
        <p:nvSpPr>
          <p:cNvPr id="165" name="Google Shape;165;p2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595</a:t>
            </a:r>
            <a:endParaRPr/>
          </a:p>
        </p:txBody>
      </p:sp>
      <p:sp>
        <p:nvSpPr>
          <p:cNvPr id="166" name="Google Shape;166;p2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2.4%</a:t>
            </a:r>
            <a:endParaRPr/>
          </a:p>
        </p:txBody>
      </p:sp>
      <p:sp>
        <p:nvSpPr>
          <p:cNvPr id="168" name="Google Shape;168;p2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Planet</a:t>
            </a:r>
            <a:endParaRPr/>
          </a:p>
        </p:txBody>
      </p:sp>
      <p:sp>
        <p:nvSpPr>
          <p:cNvPr id="170" name="Google Shape;170;p2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$509,792</a:t>
            </a:r>
            <a:endParaRPr/>
          </a:p>
        </p:txBody>
      </p:sp>
      <p:sp>
        <p:nvSpPr>
          <p:cNvPr id="171" name="Google Shape;171;p2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$388,808</a:t>
            </a:r>
            <a:endParaRPr/>
          </a:p>
        </p:txBody>
      </p:sp>
      <p:sp>
        <p:nvSpPr>
          <p:cNvPr id="172" name="Google Shape;172;p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3" name="Google Shape;173;p2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280</a:t>
            </a:r>
            <a:endParaRPr/>
          </a:p>
        </p:txBody>
      </p:sp>
      <p:sp>
        <p:nvSpPr>
          <p:cNvPr id="174" name="Google Shape;174;p2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184</a:t>
            </a:r>
            <a:endParaRPr/>
          </a:p>
        </p:txBody>
      </p:sp>
      <p:sp>
        <p:nvSpPr>
          <p:cNvPr id="175" name="Google Shape;175;p2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76" name="Google Shape;176;p2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177" name="Google Shape;177;p2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Stone Era Insurance Agency</a:t>
            </a:r>
            <a:endParaRPr/>
          </a:p>
        </p:txBody>
      </p:sp>
      <p:sp>
        <p:nvSpPr>
          <p:cNvPr id="178" name="Google Shape;178;p2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$417,999</a:t>
            </a:r>
            <a:endParaRPr/>
          </a:p>
        </p:txBody>
      </p:sp>
      <p:sp>
        <p:nvSpPr>
          <p:cNvPr id="179" name="Google Shape;179;p2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$343,460</a:t>
            </a:r>
            <a:endParaRPr/>
          </a:p>
        </p:txBody>
      </p:sp>
      <p:sp>
        <p:nvSpPr>
          <p:cNvPr id="180" name="Google Shape;180;p2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$96,326</a:t>
            </a:r>
            <a:endParaRPr/>
          </a:p>
        </p:txBody>
      </p:sp>
      <p:sp>
        <p:nvSpPr>
          <p:cNvPr id="181" name="Google Shape;181;p2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115</a:t>
            </a:r>
            <a:endParaRPr/>
          </a:p>
        </p:txBody>
      </p:sp>
      <p:sp>
        <p:nvSpPr>
          <p:cNvPr id="182" name="Google Shape;182;p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</a:t>
            </a:r>
            <a:endParaRPr/>
          </a:p>
        </p:txBody>
      </p:sp>
      <p:sp>
        <p:nvSpPr>
          <p:cNvPr id="183" name="Google Shape;183;p2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84" name="Google Shape;184;p2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185" name="Google Shape;185;p2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Peco Insurance LLC</a:t>
            </a:r>
            <a:endParaRPr/>
          </a:p>
        </p:txBody>
      </p:sp>
      <p:sp>
        <p:nvSpPr>
          <p:cNvPr id="187" name="Google Shape;187;p2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$351,731</a:t>
            </a:r>
            <a:endParaRPr/>
          </a:p>
        </p:txBody>
      </p:sp>
      <p:sp>
        <p:nvSpPr>
          <p:cNvPr id="188" name="Google Shape;188;p2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$82,561</a:t>
            </a:r>
            <a:endParaRPr/>
          </a:p>
        </p:txBody>
      </p:sp>
      <p:sp>
        <p:nvSpPr>
          <p:cNvPr id="189" name="Google Shape;189;p2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$101,971</a:t>
            </a:r>
            <a:endParaRPr/>
          </a:p>
        </p:txBody>
      </p:sp>
      <p:sp>
        <p:nvSpPr>
          <p:cNvPr id="190" name="Google Shape;190;p2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</p:txBody>
      </p:sp>
      <p:sp>
        <p:nvSpPr>
          <p:cNvPr id="191" name="Google Shape;191;p2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</a:t>
            </a:r>
            <a:endParaRPr/>
          </a:p>
        </p:txBody>
      </p:sp>
      <p:sp>
        <p:nvSpPr>
          <p:cNvPr id="192" name="Google Shape;192;p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93" name="Google Shape;193;p2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194" name="Google Shape;194;p2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Charles Cain Group</a:t>
            </a:r>
            <a:endParaRPr/>
          </a:p>
        </p:txBody>
      </p:sp>
      <p:sp>
        <p:nvSpPr>
          <p:cNvPr id="195" name="Google Shape;195;p2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</p:txBody>
      </p:sp>
      <p:sp>
        <p:nvSpPr>
          <p:cNvPr id="196" name="Google Shape;196;p2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</p:txBody>
      </p:sp>
      <p:sp>
        <p:nvSpPr>
          <p:cNvPr id="197" name="Google Shape;197;p2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8" name="Google Shape;198;p2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99" name="Google Shape;199;p2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00" name="Google Shape;200;p2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01" name="Google Shape;201;p2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202" name="Google Shape;202;p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Eagle National Insurance Services, </a:t>
            </a:r>
            <a:endParaRPr/>
          </a:p>
        </p:txBody>
      </p:sp>
      <p:sp>
        <p:nvSpPr>
          <p:cNvPr id="204" name="Google Shape;204;p2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$206,809</a:t>
            </a:r>
            <a:endParaRPr/>
          </a:p>
        </p:txBody>
      </p:sp>
      <p:sp>
        <p:nvSpPr>
          <p:cNvPr id="205" name="Google Shape;205;p2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$118,947</a:t>
            </a:r>
            <a:endParaRPr/>
          </a:p>
        </p:txBody>
      </p:sp>
      <p:sp>
        <p:nvSpPr>
          <p:cNvPr id="206" name="Google Shape;206;p2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$61,108</a:t>
            </a:r>
            <a:endParaRPr/>
          </a:p>
        </p:txBody>
      </p:sp>
      <p:sp>
        <p:nvSpPr>
          <p:cNvPr id="207" name="Google Shape;207;p2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208" name="Google Shape;208;p2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209" name="Google Shape;209;p2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10" name="Google Shape;210;p2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211" name="Google Shape;211;p2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Talis Insurance Group, Inc</a:t>
            </a:r>
            <a:endParaRPr/>
          </a:p>
        </p:txBody>
      </p:sp>
      <p:sp>
        <p:nvSpPr>
          <p:cNvPr id="212" name="Google Shape;212;p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$180,751</a:t>
            </a:r>
            <a:endParaRPr/>
          </a:p>
        </p:txBody>
      </p:sp>
      <p:sp>
        <p:nvSpPr>
          <p:cNvPr id="213" name="Google Shape;213;p2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$17,135</a:t>
            </a:r>
            <a:endParaRPr/>
          </a:p>
        </p:txBody>
      </p:sp>
      <p:sp>
        <p:nvSpPr>
          <p:cNvPr id="214" name="Google Shape;214;p2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$162,876</a:t>
            </a:r>
            <a:endParaRPr/>
          </a:p>
        </p:txBody>
      </p:sp>
      <p:sp>
        <p:nvSpPr>
          <p:cNvPr id="215" name="Google Shape;215;p2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</p:txBody>
      </p:sp>
      <p:sp>
        <p:nvSpPr>
          <p:cNvPr id="216" name="Google Shape;216;p2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</a:t>
            </a:r>
            <a:endParaRPr/>
          </a:p>
        </p:txBody>
      </p:sp>
      <p:sp>
        <p:nvSpPr>
          <p:cNvPr id="217" name="Google Shape;217;p2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18" name="Google Shape;218;p2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7.8%</a:t>
            </a:r>
            <a:endParaRPr/>
          </a:p>
        </p:txBody>
      </p:sp>
      <p:sp>
        <p:nvSpPr>
          <p:cNvPr id="219" name="Google Shape;219;p2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 &amp; R Agency LLC</a:t>
            </a:r>
            <a:endParaRPr/>
          </a:p>
        </p:txBody>
      </p:sp>
      <p:sp>
        <p:nvSpPr>
          <p:cNvPr id="221" name="Google Shape;221;p2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$168,967</a:t>
            </a:r>
            <a:endParaRPr/>
          </a:p>
        </p:txBody>
      </p:sp>
      <p:sp>
        <p:nvSpPr>
          <p:cNvPr id="222" name="Google Shape;222;p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$145,252</a:t>
            </a:r>
            <a:endParaRPr/>
          </a:p>
        </p:txBody>
      </p:sp>
      <p:sp>
        <p:nvSpPr>
          <p:cNvPr id="223" name="Google Shape;223;p2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4" name="Google Shape;224;p2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</a:t>
            </a:r>
            <a:endParaRPr/>
          </a:p>
        </p:txBody>
      </p:sp>
      <p:sp>
        <p:nvSpPr>
          <p:cNvPr id="225" name="Google Shape;225;p2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169</a:t>
            </a:r>
            <a:endParaRPr/>
          </a:p>
        </p:txBody>
      </p:sp>
      <p:sp>
        <p:nvSpPr>
          <p:cNvPr id="226" name="Google Shape;226;p2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27" name="Google Shape;227;p2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228" name="Google Shape;228;p2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SUMMARY</a:t>
            </a:r>
            <a:endParaRPr/>
          </a:p>
        </p:txBody>
      </p:sp>
      <p:sp>
        <p:nvSpPr>
          <p:cNvPr id="230" name="Google Shape;230;p2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1" name="Google Shape;231;p2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232" name="Google Shape;232;p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233" name="Google Shape;233;p2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4" name="Google Shape;234;p2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5" name="Google Shape;235;p2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236" name="Google Shape;236;p2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238" name="Google Shape;238;p2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$8,297,379</a:t>
            </a:r>
            <a:endParaRPr/>
          </a:p>
        </p:txBody>
      </p:sp>
      <p:sp>
        <p:nvSpPr>
          <p:cNvPr id="239" name="Google Shape;239;p2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$2,404,787</a:t>
            </a:r>
            <a:endParaRPr/>
          </a:p>
        </p:txBody>
      </p:sp>
      <p:sp>
        <p:nvSpPr>
          <p:cNvPr id="240" name="Google Shape;240;p2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3018</a:t>
            </a:r>
            <a:endParaRPr/>
          </a:p>
        </p:txBody>
      </p:sp>
      <p:sp>
        <p:nvSpPr>
          <p:cNvPr id="241" name="Google Shape;241;p2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</a:t>
            </a:r>
            <a:endParaRPr/>
          </a:p>
        </p:txBody>
      </p:sp>
      <p:sp>
        <p:nvSpPr>
          <p:cNvPr id="242" name="Google Shape;242;p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8.8%</a:t>
            </a:r>
            <a:endParaRPr/>
          </a:p>
        </p:txBody>
      </p:sp>
      <p:sp>
        <p:nvSpPr>
          <p:cNvPr id="243" name="Google Shape;243;p2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244" name="Google Shape;244;p2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$8,185,289</a:t>
            </a:r>
            <a:endParaRPr/>
          </a:p>
        </p:txBody>
      </p:sp>
      <p:sp>
        <p:nvSpPr>
          <p:cNvPr id="245" name="Google Shape;245;p2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$2,141,010</a:t>
            </a:r>
            <a:endParaRPr/>
          </a:p>
        </p:txBody>
      </p:sp>
      <p:sp>
        <p:nvSpPr>
          <p:cNvPr id="246" name="Google Shape;246;p2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3070</a:t>
            </a:r>
            <a:endParaRPr/>
          </a:p>
        </p:txBody>
      </p:sp>
      <p:sp>
        <p:nvSpPr>
          <p:cNvPr id="247" name="Google Shape;247;p2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</a:t>
            </a:r>
            <a:endParaRPr/>
          </a:p>
        </p:txBody>
      </p:sp>
      <p:sp>
        <p:nvSpPr>
          <p:cNvPr id="248" name="Google Shape;248;p2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249" name="Google Shape;249;p2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250" name="Google Shape;250;p2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$8,731,368</a:t>
            </a:r>
            <a:endParaRPr/>
          </a:p>
        </p:txBody>
      </p:sp>
      <p:sp>
        <p:nvSpPr>
          <p:cNvPr id="251" name="Google Shape;251;p2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$2,876,868</a:t>
            </a:r>
            <a:endParaRPr/>
          </a:p>
        </p:txBody>
      </p:sp>
      <p:sp>
        <p:nvSpPr>
          <p:cNvPr id="252" name="Google Shape;252;p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3207</a:t>
            </a:r>
            <a:endParaRPr/>
          </a:p>
        </p:txBody>
      </p:sp>
      <p:sp>
        <p:nvSpPr>
          <p:cNvPr id="253" name="Google Shape;253;p2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284</a:t>
            </a:r>
            <a:endParaRPr/>
          </a:p>
        </p:txBody>
      </p:sp>
      <p:sp>
        <p:nvSpPr>
          <p:cNvPr id="254" name="Google Shape;254;p2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8.9%</a:t>
            </a:r>
            <a:endParaRPr/>
          </a:p>
        </p:txBody>
      </p:sp>
      <p:sp>
        <p:nvSpPr>
          <p:cNvPr id="255" name="Google Shape;255;p2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256" name="Google Shape;256;p2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$8,353,773</a:t>
            </a:r>
            <a:endParaRPr/>
          </a:p>
        </p:txBody>
      </p:sp>
      <p:sp>
        <p:nvSpPr>
          <p:cNvPr id="257" name="Google Shape;257;p2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$2,859,782</a:t>
            </a:r>
            <a:endParaRPr/>
          </a:p>
        </p:txBody>
      </p:sp>
      <p:sp>
        <p:nvSpPr>
          <p:cNvPr id="258" name="Google Shape;258;p2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3626</a:t>
            </a:r>
            <a:endParaRPr/>
          </a:p>
        </p:txBody>
      </p:sp>
      <p:sp>
        <p:nvSpPr>
          <p:cNvPr id="259" name="Google Shape;259;p2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288</a:t>
            </a:r>
            <a:endParaRPr/>
          </a:p>
        </p:txBody>
      </p:sp>
      <p:sp>
        <p:nvSpPr>
          <p:cNvPr id="260" name="Google Shape;260;p2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7.9%</a:t>
            </a:r>
            <a:endParaRPr/>
          </a:p>
        </p:txBody>
      </p:sp>
      <p:sp>
        <p:nvSpPr>
          <p:cNvPr id="261" name="Google Shape;261;p2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2" name="Google Shape;262;p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$4,553,783</a:t>
            </a:r>
            <a:endParaRPr/>
          </a:p>
        </p:txBody>
      </p:sp>
      <p:sp>
        <p:nvSpPr>
          <p:cNvPr id="263" name="Google Shape;263;p2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$1,808,221</a:t>
            </a:r>
            <a:endParaRPr/>
          </a:p>
        </p:txBody>
      </p:sp>
      <p:sp>
        <p:nvSpPr>
          <p:cNvPr id="264" name="Google Shape;264;p2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1954</a:t>
            </a:r>
            <a:endParaRPr/>
          </a:p>
        </p:txBody>
      </p:sp>
      <p:sp>
        <p:nvSpPr>
          <p:cNvPr id="265" name="Google Shape;265;p2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138</a:t>
            </a:r>
            <a:endParaRPr/>
          </a:p>
        </p:txBody>
      </p:sp>
      <p:sp>
        <p:nvSpPr>
          <p:cNvPr id="266" name="Google Shape;266;p2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267" name="Google Shape;267;p2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</a:t>
            </a:r>
            <a:endParaRPr/>
          </a:p>
        </p:txBody>
      </p:sp>
      <p:sp>
        <p:nvSpPr>
          <p:cNvPr id="269" name="Google Shape;269;p2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$17,056,173</a:t>
            </a:r>
            <a:endParaRPr/>
          </a:p>
        </p:txBody>
      </p:sp>
      <p:sp>
        <p:nvSpPr>
          <p:cNvPr id="270" name="Google Shape;270;p2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$12,090,668</a:t>
            </a:r>
            <a:endParaRPr/>
          </a:p>
        </p:txBody>
      </p:sp>
      <p:sp>
        <p:nvSpPr>
          <p:cNvPr id="271" name="Google Shape;271;p2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13697</a:t>
            </a:r>
            <a:endParaRPr/>
          </a:p>
        </p:txBody>
      </p:sp>
      <p:sp>
        <p:nvSpPr>
          <p:cNvPr id="272" name="Google Shape;272;p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649</a:t>
            </a:r>
            <a:endParaRPr/>
          </a:p>
        </p:txBody>
      </p:sp>
      <p:sp>
        <p:nvSpPr>
          <p:cNvPr id="273" name="Google Shape;273;p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3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Scoreboard — Ron Douglas</a:t>
            </a:r>
            <a:endParaRPr/>
          </a:p>
        </p:txBody>
      </p:sp>
      <p:sp>
        <p:nvSpPr>
          <p:cNvPr id="280" name="Google Shape;280;p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BDM OKRs  |  Q2 measure (paced where applicable)  |  Matches BD Rep Scoreboard numbers</a:t>
            </a:r>
            <a:endParaRPr/>
          </a:p>
        </p:txBody>
      </p:sp>
      <p:sp>
        <p:nvSpPr>
          <p:cNvPr id="281" name="Google Shape;281;p3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3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72.8</a:t>
            </a:r>
            <a:endParaRPr/>
          </a:p>
        </p:txBody>
      </p:sp>
      <p:sp>
        <p:nvSpPr>
          <p:cNvPr id="283" name="Google Shape;283;p3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COMPOSITE SCORE</a:t>
            </a:r>
            <a:endParaRPr/>
          </a:p>
        </p:txBody>
      </p:sp>
      <p:sp>
        <p:nvSpPr>
          <p:cNvPr id="284" name="Google Shape;284;p3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≥ 70  |  Amber 45-69  |  Red &lt; 45</a:t>
            </a:r>
            <a:endParaRPr/>
          </a:p>
        </p:txBody>
      </p:sp>
      <p:sp>
        <p:nvSpPr>
          <p:cNvPr id="285" name="Google Shape;285;p3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3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3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</a:t>
            </a:r>
            <a:endParaRPr/>
          </a:p>
        </p:txBody>
      </p:sp>
      <p:sp>
        <p:nvSpPr>
          <p:cNvPr id="288" name="Google Shape;288;p3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%</a:t>
            </a:r>
            <a:endParaRPr/>
          </a:p>
        </p:txBody>
      </p:sp>
      <p:sp>
        <p:nvSpPr>
          <p:cNvPr id="289" name="Google Shape;289;p3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≥+100%</a:t>
            </a:r>
            <a:endParaRPr/>
          </a:p>
        </p:txBody>
      </p:sp>
      <p:sp>
        <p:nvSpPr>
          <p:cNvPr id="290" name="Google Shape;290;p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+84%</a:t>
            </a:r>
            <a:endParaRPr/>
          </a:p>
        </p:txBody>
      </p:sp>
      <p:sp>
        <p:nvSpPr>
          <p:cNvPr id="291" name="Google Shape;291;p3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3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2</a:t>
            </a:r>
            <a:endParaRPr/>
          </a:p>
        </p:txBody>
      </p:sp>
      <p:sp>
        <p:nvSpPr>
          <p:cNvPr id="294" name="Google Shape;294;p3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Activity Compliance</a:t>
            </a:r>
            <a:endParaRPr/>
          </a:p>
        </p:txBody>
      </p:sp>
      <p:sp>
        <p:nvSpPr>
          <p:cNvPr id="295" name="Google Shape;295;p3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 100% (40/wk)</a:t>
            </a:r>
            <a:endParaRPr/>
          </a:p>
        </p:txBody>
      </p:sp>
      <p:sp>
        <p:nvSpPr>
          <p:cNvPr id="296" name="Google Shape;296;p3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82%</a:t>
            </a:r>
            <a:endParaRPr/>
          </a:p>
        </p:txBody>
      </p:sp>
      <p:sp>
        <p:nvSpPr>
          <p:cNvPr id="297" name="Google Shape;297;p3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3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3</a:t>
            </a:r>
            <a:endParaRPr/>
          </a:p>
        </p:txBody>
      </p:sp>
      <p:sp>
        <p:nvSpPr>
          <p:cNvPr id="300" name="Google Shape;300;p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Active %</a:t>
            </a:r>
            <a:endParaRPr/>
          </a:p>
        </p:txBody>
      </p:sp>
      <p:sp>
        <p:nvSpPr>
          <p:cNvPr id="301" name="Google Shape;301;p3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 of 34 agencies  |  Goal 100%</a:t>
            </a:r>
            <a:endParaRPr/>
          </a:p>
        </p:txBody>
      </p:sp>
      <p:sp>
        <p:nvSpPr>
          <p:cNvPr id="302" name="Google Shape;302;p3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100%</a:t>
            </a:r>
            <a:endParaRPr/>
          </a:p>
        </p:txBody>
      </p:sp>
      <p:sp>
        <p:nvSpPr>
          <p:cNvPr id="303" name="Google Shape;303;p3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3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3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4</a:t>
            </a:r>
            <a:endParaRPr/>
          </a:p>
        </p:txBody>
      </p:sp>
      <p:sp>
        <p:nvSpPr>
          <p:cNvPr id="306" name="Google Shape;306;p3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Producing Agencies</a:t>
            </a:r>
            <a:endParaRPr/>
          </a:p>
        </p:txBody>
      </p:sp>
      <p:sp>
        <p:nvSpPr>
          <p:cNvPr id="307" name="Google Shape;307;p3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Q2 Activated Won  |  Goal ≥ 4</a:t>
            </a:r>
            <a:endParaRPr/>
          </a:p>
        </p:txBody>
      </p:sp>
      <p:sp>
        <p:nvSpPr>
          <p:cNvPr id="308" name="Google Shape;308;p3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of 4</a:t>
            </a:r>
            <a:endParaRPr/>
          </a:p>
        </p:txBody>
      </p:sp>
      <p:sp>
        <p:nvSpPr>
          <p:cNvPr id="309" name="Google Shape;309;p3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4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 Activity  —  Ron Douglas</a:t>
            </a:r>
            <a:endParaRPr/>
          </a:p>
        </p:txBody>
      </p:sp>
      <p:sp>
        <p:nvSpPr>
          <p:cNvPr id="316" name="Google Shape;316;p4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Calls + Meetings  |  Weekly goal: 40 activities  |  Colored arrow = month-over-month trend vs prior complete month</a:t>
            </a:r>
            <a:endParaRPr/>
          </a:p>
        </p:txBody>
      </p:sp>
      <p:sp>
        <p:nvSpPr>
          <p:cNvPr id="317" name="Google Shape;317;p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392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Calls</a:t>
            </a:r>
            <a:endParaRPr/>
          </a:p>
        </p:txBody>
      </p:sp>
      <p:sp>
        <p:nvSpPr>
          <p:cNvPr id="318" name="Google Shape;318;p4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 ▼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Meetings</a:t>
            </a:r>
            <a:endParaRPr/>
          </a:p>
        </p:txBody>
      </p:sp>
      <p:sp>
        <p:nvSpPr>
          <p:cNvPr id="319" name="Google Shape;319;p4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484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Activity</a:t>
            </a:r>
            <a:endParaRPr/>
          </a:p>
        </p:txBody>
      </p:sp>
      <p:sp>
        <p:nvSpPr>
          <p:cNvPr id="320" name="Google Shape;320;p4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24.1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/ Week</a:t>
            </a:r>
            <a:endParaRPr/>
          </a:p>
        </p:txBody>
      </p:sp>
      <p:sp>
        <p:nvSpPr>
          <p:cNvPr id="321" name="Google Shape;321;p4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 (40/wk)</a:t>
            </a:r>
            <a:endParaRPr/>
          </a:p>
        </p:txBody>
      </p:sp>
      <p:sp>
        <p:nvSpPr>
          <p:cNvPr id="322" name="Google Shape;322;p4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4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1–10  (Jan–Mar)</a:t>
            </a:r>
            <a:endParaRPr/>
          </a:p>
        </p:txBody>
      </p:sp>
      <p:sp>
        <p:nvSpPr>
          <p:cNvPr id="324" name="Google Shape;324;p4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325" name="Google Shape;325;p4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326" name="Google Shape;326;p4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327" name="Google Shape;327;p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328" name="Google Shape;328;p4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329" name="Google Shape;329;p4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330" name="Google Shape;330;p4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4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4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4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1/5–1/11</a:t>
            </a:r>
            <a:endParaRPr/>
          </a:p>
        </p:txBody>
      </p:sp>
      <p:sp>
        <p:nvSpPr>
          <p:cNvPr id="334" name="Google Shape;334;p4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35" name="Google Shape;335;p4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36" name="Google Shape;336;p4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37" name="Google Shape;337;p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40%</a:t>
            </a:r>
            <a:endParaRPr/>
          </a:p>
        </p:txBody>
      </p:sp>
      <p:sp>
        <p:nvSpPr>
          <p:cNvPr id="338" name="Google Shape;338;p4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39" name="Google Shape;339;p4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4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4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1/12–1/18</a:t>
            </a:r>
            <a:endParaRPr/>
          </a:p>
        </p:txBody>
      </p:sp>
      <p:sp>
        <p:nvSpPr>
          <p:cNvPr id="342" name="Google Shape;342;p4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43" name="Google Shape;343;p4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44" name="Google Shape;344;p4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45" name="Google Shape;345;p4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28%</a:t>
            </a:r>
            <a:endParaRPr/>
          </a:p>
        </p:txBody>
      </p:sp>
      <p:sp>
        <p:nvSpPr>
          <p:cNvPr id="346" name="Google Shape;346;p4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47" name="Google Shape;347;p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4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4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1/19–1/25</a:t>
            </a:r>
            <a:endParaRPr/>
          </a:p>
        </p:txBody>
      </p:sp>
      <p:sp>
        <p:nvSpPr>
          <p:cNvPr id="350" name="Google Shape;350;p4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51" name="Google Shape;351;p4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2" name="Google Shape;352;p4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53" name="Google Shape;353;p4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48%</a:t>
            </a:r>
            <a:endParaRPr/>
          </a:p>
        </p:txBody>
      </p:sp>
      <p:sp>
        <p:nvSpPr>
          <p:cNvPr id="354" name="Google Shape;354;p4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55" name="Google Shape;355;p4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4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1/26–2/1</a:t>
            </a:r>
            <a:endParaRPr/>
          </a:p>
        </p:txBody>
      </p:sp>
      <p:sp>
        <p:nvSpPr>
          <p:cNvPr id="358" name="Google Shape;358;p4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59" name="Google Shape;359;p4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60" name="Google Shape;360;p4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61" name="Google Shape;361;p4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35%</a:t>
            </a:r>
            <a:endParaRPr/>
          </a:p>
        </p:txBody>
      </p:sp>
      <p:sp>
        <p:nvSpPr>
          <p:cNvPr id="362" name="Google Shape;362;p4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63" name="Google Shape;363;p4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4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4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2/2–2/8</a:t>
            </a:r>
            <a:endParaRPr/>
          </a:p>
        </p:txBody>
      </p:sp>
      <p:sp>
        <p:nvSpPr>
          <p:cNvPr id="366" name="Google Shape;366;p4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67" name="Google Shape;367;p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8" name="Google Shape;368;p4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69" name="Google Shape;369;p4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20%</a:t>
            </a:r>
            <a:endParaRPr/>
          </a:p>
        </p:txBody>
      </p:sp>
      <p:sp>
        <p:nvSpPr>
          <p:cNvPr id="370" name="Google Shape;370;p4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71" name="Google Shape;371;p4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4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4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2/9–2/15</a:t>
            </a:r>
            <a:endParaRPr/>
          </a:p>
        </p:txBody>
      </p:sp>
      <p:sp>
        <p:nvSpPr>
          <p:cNvPr id="374" name="Google Shape;374;p4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5" name="Google Shape;375;p4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76" name="Google Shape;376;p4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77" name="Google Shape;377;p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35%</a:t>
            </a:r>
            <a:endParaRPr/>
          </a:p>
        </p:txBody>
      </p:sp>
      <p:sp>
        <p:nvSpPr>
          <p:cNvPr id="378" name="Google Shape;378;p4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79" name="Google Shape;379;p4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4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4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2/16–2/22</a:t>
            </a:r>
            <a:endParaRPr/>
          </a:p>
        </p:txBody>
      </p:sp>
      <p:sp>
        <p:nvSpPr>
          <p:cNvPr id="382" name="Google Shape;382;p4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83" name="Google Shape;383;p4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4" name="Google Shape;384;p4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85" name="Google Shape;385;p4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32%</a:t>
            </a:r>
            <a:endParaRPr/>
          </a:p>
        </p:txBody>
      </p:sp>
      <p:sp>
        <p:nvSpPr>
          <p:cNvPr id="386" name="Google Shape;386;p4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87" name="Google Shape;387;p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4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4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2/23–3/1</a:t>
            </a:r>
            <a:endParaRPr/>
          </a:p>
        </p:txBody>
      </p:sp>
      <p:sp>
        <p:nvSpPr>
          <p:cNvPr id="390" name="Google Shape;390;p4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391" name="Google Shape;391;p4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92" name="Google Shape;392;p4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393" name="Google Shape;393;p4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152%</a:t>
            </a:r>
            <a:endParaRPr/>
          </a:p>
        </p:txBody>
      </p:sp>
      <p:sp>
        <p:nvSpPr>
          <p:cNvPr id="394" name="Google Shape;394;p4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395" name="Google Shape;395;p4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4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3/2–3/8</a:t>
            </a:r>
            <a:endParaRPr/>
          </a:p>
        </p:txBody>
      </p:sp>
      <p:sp>
        <p:nvSpPr>
          <p:cNvPr id="398" name="Google Shape;398;p4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99" name="Google Shape;399;p4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0" name="Google Shape;400;p4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01" name="Google Shape;401;p4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65%</a:t>
            </a:r>
            <a:endParaRPr/>
          </a:p>
        </p:txBody>
      </p:sp>
      <p:sp>
        <p:nvSpPr>
          <p:cNvPr id="402" name="Google Shape;402;p4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03" name="Google Shape;403;p4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4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4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3/9–3/15</a:t>
            </a:r>
            <a:endParaRPr/>
          </a:p>
        </p:txBody>
      </p:sp>
      <p:sp>
        <p:nvSpPr>
          <p:cNvPr id="406" name="Google Shape;406;p4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7" name="Google Shape;407;p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08" name="Google Shape;408;p4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09" name="Google Shape;409;p4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35%</a:t>
            </a:r>
            <a:endParaRPr/>
          </a:p>
        </p:txBody>
      </p:sp>
      <p:sp>
        <p:nvSpPr>
          <p:cNvPr id="410" name="Google Shape;410;p4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11" name="Google Shape;411;p4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4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11–20  (Mar–May)</a:t>
            </a:r>
            <a:endParaRPr/>
          </a:p>
        </p:txBody>
      </p:sp>
      <p:sp>
        <p:nvSpPr>
          <p:cNvPr id="413" name="Google Shape;413;p4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414" name="Google Shape;414;p4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415" name="Google Shape;415;p4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416" name="Google Shape;416;p4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417" name="Google Shape;417;p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418" name="Google Shape;418;p4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419" name="Google Shape;419;p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4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4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4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3/16–3/22</a:t>
            </a:r>
            <a:endParaRPr/>
          </a:p>
        </p:txBody>
      </p:sp>
      <p:sp>
        <p:nvSpPr>
          <p:cNvPr id="423" name="Google Shape;423;p4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24" name="Google Shape;424;p4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25" name="Google Shape;425;p4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26" name="Google Shape;426;p4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48%</a:t>
            </a:r>
            <a:endParaRPr/>
          </a:p>
        </p:txBody>
      </p:sp>
      <p:sp>
        <p:nvSpPr>
          <p:cNvPr id="427" name="Google Shape;427;p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28" name="Google Shape;428;p4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4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3/23–3/29</a:t>
            </a:r>
            <a:endParaRPr/>
          </a:p>
        </p:txBody>
      </p:sp>
      <p:sp>
        <p:nvSpPr>
          <p:cNvPr id="431" name="Google Shape;431;p4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32" name="Google Shape;432;p4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33" name="Google Shape;433;p4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34" name="Google Shape;434;p4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32%</a:t>
            </a:r>
            <a:endParaRPr/>
          </a:p>
        </p:txBody>
      </p:sp>
      <p:sp>
        <p:nvSpPr>
          <p:cNvPr id="435" name="Google Shape;435;p4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36" name="Google Shape;436;p4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4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3/30–4/5</a:t>
            </a:r>
            <a:endParaRPr/>
          </a:p>
        </p:txBody>
      </p:sp>
      <p:sp>
        <p:nvSpPr>
          <p:cNvPr id="439" name="Google Shape;439;p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40" name="Google Shape;440;p4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1" name="Google Shape;441;p4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42" name="Google Shape;442;p4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78%</a:t>
            </a:r>
            <a:endParaRPr/>
          </a:p>
        </p:txBody>
      </p:sp>
      <p:sp>
        <p:nvSpPr>
          <p:cNvPr id="443" name="Google Shape;443;p4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44" name="Google Shape;444;p4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4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4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4/6–4/12</a:t>
            </a:r>
            <a:endParaRPr/>
          </a:p>
        </p:txBody>
      </p:sp>
      <p:sp>
        <p:nvSpPr>
          <p:cNvPr id="447" name="Google Shape;447;p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48" name="Google Shape;448;p4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49" name="Google Shape;449;p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50" name="Google Shape;450;p4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42%</a:t>
            </a:r>
            <a:endParaRPr/>
          </a:p>
        </p:txBody>
      </p:sp>
      <p:sp>
        <p:nvSpPr>
          <p:cNvPr id="451" name="Google Shape;451;p4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52" name="Google Shape;452;p4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4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4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4/13–4/19</a:t>
            </a:r>
            <a:endParaRPr/>
          </a:p>
        </p:txBody>
      </p:sp>
      <p:sp>
        <p:nvSpPr>
          <p:cNvPr id="455" name="Google Shape;455;p4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456" name="Google Shape;456;p4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57" name="Google Shape;457;p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58" name="Google Shape;458;p4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108%</a:t>
            </a:r>
            <a:endParaRPr/>
          </a:p>
        </p:txBody>
      </p:sp>
      <p:sp>
        <p:nvSpPr>
          <p:cNvPr id="459" name="Google Shape;459;p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60" name="Google Shape;460;p4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4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4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4/20–4/26</a:t>
            </a:r>
            <a:endParaRPr/>
          </a:p>
        </p:txBody>
      </p:sp>
      <p:sp>
        <p:nvSpPr>
          <p:cNvPr id="463" name="Google Shape;463;p4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464" name="Google Shape;464;p4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65" name="Google Shape;465;p4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466" name="Google Shape;466;p4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85%</a:t>
            </a:r>
            <a:endParaRPr/>
          </a:p>
        </p:txBody>
      </p:sp>
      <p:sp>
        <p:nvSpPr>
          <p:cNvPr id="467" name="Google Shape;467;p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68" name="Google Shape;468;p4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4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4/27–5/3</a:t>
            </a:r>
            <a:endParaRPr/>
          </a:p>
        </p:txBody>
      </p:sp>
      <p:sp>
        <p:nvSpPr>
          <p:cNvPr id="471" name="Google Shape;471;p4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72" name="Google Shape;472;p4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73" name="Google Shape;473;p4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74" name="Google Shape;474;p4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118%</a:t>
            </a:r>
            <a:endParaRPr/>
          </a:p>
        </p:txBody>
      </p:sp>
      <p:sp>
        <p:nvSpPr>
          <p:cNvPr id="475" name="Google Shape;475;p4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76" name="Google Shape;476;p4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4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5/4–5/10</a:t>
            </a:r>
            <a:endParaRPr/>
          </a:p>
        </p:txBody>
      </p:sp>
      <p:sp>
        <p:nvSpPr>
          <p:cNvPr id="479" name="Google Shape;479;p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0" name="Google Shape;480;p4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1" name="Google Shape;481;p4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2" name="Google Shape;482;p4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83" name="Google Shape;483;p4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84" name="Google Shape;484;p4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4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4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5/11–5/17</a:t>
            </a:r>
            <a:endParaRPr/>
          </a:p>
        </p:txBody>
      </p:sp>
      <p:sp>
        <p:nvSpPr>
          <p:cNvPr id="487" name="Google Shape;487;p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488" name="Google Shape;488;p4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9" name="Google Shape;489;p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490" name="Google Shape;490;p4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142%</a:t>
            </a:r>
            <a:endParaRPr/>
          </a:p>
        </p:txBody>
      </p:sp>
      <p:sp>
        <p:nvSpPr>
          <p:cNvPr id="491" name="Google Shape;491;p4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92" name="Google Shape;492;p4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4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4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5/18–5/20*</a:t>
            </a:r>
            <a:endParaRPr/>
          </a:p>
        </p:txBody>
      </p:sp>
      <p:sp>
        <p:nvSpPr>
          <p:cNvPr id="495" name="Google Shape;495;p4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96" name="Google Shape;496;p4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7" name="Google Shape;497;p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98" name="Google Shape;498;p4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68%</a:t>
            </a:r>
            <a:endParaRPr/>
          </a:p>
        </p:txBody>
      </p:sp>
      <p:sp>
        <p:nvSpPr>
          <p:cNvPr id="499" name="Google Shape;499;p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500" name="Google Shape;500;p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CRM  |  Calls + meetings only (emails excluded)  |  * = current/partial week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5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Growth  —  Ron Douglas</a:t>
            </a:r>
            <a:endParaRPr/>
          </a:p>
        </p:txBody>
      </p:sp>
      <p:sp>
        <p:nvSpPr>
          <p:cNvPr id="507" name="Google Shape;507;p5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vs 2025  |  Green = growth  |  Red = decline  |  Hit ratio = binds / submissions</a:t>
            </a:r>
            <a:endParaRPr/>
          </a:p>
        </p:txBody>
      </p:sp>
      <p:sp>
        <p:nvSpPr>
          <p:cNvPr id="508" name="Google Shape;508;p5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12618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Submissions</a:t>
            </a:r>
            <a:endParaRPr/>
          </a:p>
        </p:txBody>
      </p:sp>
      <p:sp>
        <p:nvSpPr>
          <p:cNvPr id="509" name="Google Shape;509;p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618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Binds</a:t>
            </a:r>
            <a:endParaRPr/>
          </a:p>
        </p:txBody>
      </p:sp>
      <p:sp>
        <p:nvSpPr>
          <p:cNvPr id="510" name="Google Shape;510;p5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1" name="Google Shape;511;p5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vs 2025</a:t>
            </a:r>
            <a:endParaRPr/>
          </a:p>
        </p:txBody>
      </p:sp>
      <p:sp>
        <p:nvSpPr>
          <p:cNvPr id="512" name="Google Shape;512;p5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-53.8%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 YOY vs 2025</a:t>
            </a:r>
            <a:endParaRPr/>
          </a:p>
        </p:txBody>
      </p:sp>
      <p:sp>
        <p:nvSpPr>
          <p:cNvPr id="513" name="Google Shape;513;p5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5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BREAKDOWN  —  2026 vs 2025</a:t>
            </a:r>
            <a:endParaRPr/>
          </a:p>
        </p:txBody>
      </p:sp>
      <p:sp>
        <p:nvSpPr>
          <p:cNvPr id="515" name="Google Shape;515;p5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6" name="Google Shape;516;p5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Subs</a:t>
            </a:r>
            <a:endParaRPr/>
          </a:p>
        </p:txBody>
      </p:sp>
      <p:sp>
        <p:nvSpPr>
          <p:cNvPr id="517" name="Google Shape;517;p5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Binds</a:t>
            </a:r>
            <a:endParaRPr/>
          </a:p>
        </p:txBody>
      </p:sp>
      <p:sp>
        <p:nvSpPr>
          <p:cNvPr id="518" name="Google Shape;518;p5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19" name="Google Shape;519;p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Subs</a:t>
            </a:r>
            <a:endParaRPr/>
          </a:p>
        </p:txBody>
      </p:sp>
      <p:sp>
        <p:nvSpPr>
          <p:cNvPr id="520" name="Google Shape;520;p5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%</a:t>
            </a:r>
            <a:endParaRPr/>
          </a:p>
        </p:txBody>
      </p:sp>
      <p:sp>
        <p:nvSpPr>
          <p:cNvPr id="521" name="Google Shape;521;p5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5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5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524" name="Google Shape;524;p5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2,376</a:t>
            </a:r>
            <a:endParaRPr/>
          </a:p>
        </p:txBody>
      </p:sp>
      <p:sp>
        <p:nvSpPr>
          <p:cNvPr id="525" name="Google Shape;525;p5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</a:t>
            </a:r>
            <a:endParaRPr/>
          </a:p>
        </p:txBody>
      </p:sp>
      <p:sp>
        <p:nvSpPr>
          <p:cNvPr id="526" name="Google Shape;526;p5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527" name="Google Shape;527;p5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2,422</a:t>
            </a:r>
            <a:endParaRPr/>
          </a:p>
        </p:txBody>
      </p:sp>
      <p:sp>
        <p:nvSpPr>
          <p:cNvPr id="528" name="Google Shape;528;p5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-2%</a:t>
            </a:r>
            <a:endParaRPr/>
          </a:p>
        </p:txBody>
      </p:sp>
      <p:sp>
        <p:nvSpPr>
          <p:cNvPr id="529" name="Google Shape;529;p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530" name="Google Shape;530;p5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2,442</a:t>
            </a:r>
            <a:endParaRPr/>
          </a:p>
        </p:txBody>
      </p:sp>
      <p:sp>
        <p:nvSpPr>
          <p:cNvPr id="531" name="Google Shape;531;p5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111</a:t>
            </a:r>
            <a:endParaRPr/>
          </a:p>
        </p:txBody>
      </p:sp>
      <p:sp>
        <p:nvSpPr>
          <p:cNvPr id="532" name="Google Shape;532;p5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533" name="Google Shape;533;p5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2,109</a:t>
            </a:r>
            <a:endParaRPr/>
          </a:p>
        </p:txBody>
      </p:sp>
      <p:sp>
        <p:nvSpPr>
          <p:cNvPr id="534" name="Google Shape;534;p5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+16%</a:t>
            </a:r>
            <a:endParaRPr/>
          </a:p>
        </p:txBody>
      </p:sp>
      <p:sp>
        <p:nvSpPr>
          <p:cNvPr id="535" name="Google Shape;535;p5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5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537" name="Google Shape;537;p5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2,547</a:t>
            </a:r>
            <a:endParaRPr/>
          </a:p>
        </p:txBody>
      </p:sp>
      <p:sp>
        <p:nvSpPr>
          <p:cNvPr id="538" name="Google Shape;538;p5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118</a:t>
            </a:r>
            <a:endParaRPr/>
          </a:p>
        </p:txBody>
      </p:sp>
      <p:sp>
        <p:nvSpPr>
          <p:cNvPr id="539" name="Google Shape;539;p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540" name="Google Shape;540;p5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2,452</a:t>
            </a:r>
            <a:endParaRPr/>
          </a:p>
        </p:txBody>
      </p:sp>
      <p:sp>
        <p:nvSpPr>
          <p:cNvPr id="541" name="Google Shape;541;p5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+4%</a:t>
            </a:r>
            <a:endParaRPr/>
          </a:p>
        </p:txBody>
      </p:sp>
      <p:sp>
        <p:nvSpPr>
          <p:cNvPr id="542" name="Google Shape;542;p5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543" name="Google Shape;543;p5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3,392</a:t>
            </a:r>
            <a:endParaRPr/>
          </a:p>
        </p:txBody>
      </p:sp>
      <p:sp>
        <p:nvSpPr>
          <p:cNvPr id="544" name="Google Shape;544;p5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172</a:t>
            </a:r>
            <a:endParaRPr/>
          </a:p>
        </p:txBody>
      </p:sp>
      <p:sp>
        <p:nvSpPr>
          <p:cNvPr id="545" name="Google Shape;545;p5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5.1%</a:t>
            </a:r>
            <a:endParaRPr/>
          </a:p>
        </p:txBody>
      </p:sp>
      <p:sp>
        <p:nvSpPr>
          <p:cNvPr id="546" name="Google Shape;546;p5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2,548</a:t>
            </a:r>
            <a:endParaRPr/>
          </a:p>
        </p:txBody>
      </p:sp>
      <p:sp>
        <p:nvSpPr>
          <p:cNvPr id="547" name="Google Shape;547;p5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+33%</a:t>
            </a:r>
            <a:endParaRPr/>
          </a:p>
        </p:txBody>
      </p:sp>
      <p:sp>
        <p:nvSpPr>
          <p:cNvPr id="548" name="Google Shape;548;p5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0" name="Google Shape;550;p5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1,861</a:t>
            </a:r>
            <a:endParaRPr/>
          </a:p>
        </p:txBody>
      </p:sp>
      <p:sp>
        <p:nvSpPr>
          <p:cNvPr id="551" name="Google Shape;551;p5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113</a:t>
            </a:r>
            <a:endParaRPr/>
          </a:p>
        </p:txBody>
      </p:sp>
      <p:sp>
        <p:nvSpPr>
          <p:cNvPr id="552" name="Google Shape;552;p5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6.1%</a:t>
            </a:r>
            <a:endParaRPr/>
          </a:p>
        </p:txBody>
      </p:sp>
      <p:sp>
        <p:nvSpPr>
          <p:cNvPr id="553" name="Google Shape;553;p5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2,658</a:t>
            </a:r>
            <a:endParaRPr/>
          </a:p>
        </p:txBody>
      </p:sp>
      <p:sp>
        <p:nvSpPr>
          <p:cNvPr id="554" name="Google Shape;554;p5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-30%</a:t>
            </a:r>
            <a:endParaRPr/>
          </a:p>
        </p:txBody>
      </p:sp>
      <p:sp>
        <p:nvSpPr>
          <p:cNvPr id="555" name="Google Shape;555;p5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5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557" name="Google Shape;557;p5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12,618</a:t>
            </a:r>
            <a:endParaRPr/>
          </a:p>
        </p:txBody>
      </p:sp>
      <p:sp>
        <p:nvSpPr>
          <p:cNvPr id="558" name="Google Shape;558;p5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618</a:t>
            </a:r>
            <a:endParaRPr/>
          </a:p>
        </p:txBody>
      </p:sp>
      <p:sp>
        <p:nvSpPr>
          <p:cNvPr id="559" name="Google Shape;559;p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</p:txBody>
      </p:sp>
      <p:sp>
        <p:nvSpPr>
          <p:cNvPr id="560" name="Google Shape;560;p5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12,189</a:t>
            </a:r>
            <a:endParaRPr/>
          </a:p>
        </p:txBody>
      </p:sp>
      <p:sp>
        <p:nvSpPr>
          <p:cNvPr id="561" name="Google Shape;561;p5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+4%</a:t>
            </a:r>
            <a:endParaRPr/>
          </a:p>
        </p:txBody>
      </p:sp>
      <p:sp>
        <p:nvSpPr>
          <p:cNvPr id="562" name="Google Shape;562;p5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SUBMISSION VOLUME  —  YTD Ranked</a:t>
            </a:r>
            <a:endParaRPr/>
          </a:p>
        </p:txBody>
      </p:sp>
      <p:sp>
        <p:nvSpPr>
          <p:cNvPr id="564" name="Google Shape;564;p5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565" name="Google Shape;565;p5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Subs</a:t>
            </a:r>
            <a:endParaRPr/>
          </a:p>
        </p:txBody>
      </p:sp>
      <p:sp>
        <p:nvSpPr>
          <p:cNvPr id="566" name="Google Shape;566;p5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7" name="Google Shape;567;p5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68" name="Google Shape;568;p5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</a:t>
            </a:r>
            <a:endParaRPr/>
          </a:p>
        </p:txBody>
      </p:sp>
      <p:sp>
        <p:nvSpPr>
          <p:cNvPr id="569" name="Google Shape;569;p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5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5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572" name="Google Shape;572;p5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5,199</a:t>
            </a:r>
            <a:endParaRPr/>
          </a:p>
        </p:txBody>
      </p:sp>
      <p:sp>
        <p:nvSpPr>
          <p:cNvPr id="573" name="Google Shape;573;p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574" name="Google Shape;574;p5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575" name="Google Shape;575;p5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+1,771</a:t>
            </a:r>
            <a:endParaRPr/>
          </a:p>
        </p:txBody>
      </p:sp>
      <p:sp>
        <p:nvSpPr>
          <p:cNvPr id="576" name="Google Shape;576;p5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Preventty</a:t>
            </a:r>
            <a:endParaRPr/>
          </a:p>
        </p:txBody>
      </p:sp>
      <p:sp>
        <p:nvSpPr>
          <p:cNvPr id="577" name="Google Shape;577;p5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2,906</a:t>
            </a:r>
            <a:endParaRPr/>
          </a:p>
        </p:txBody>
      </p:sp>
      <p:sp>
        <p:nvSpPr>
          <p:cNvPr id="578" name="Google Shape;578;p5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241</a:t>
            </a:r>
            <a:endParaRPr/>
          </a:p>
        </p:txBody>
      </p:sp>
      <p:sp>
        <p:nvSpPr>
          <p:cNvPr id="579" name="Google Shape;579;p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580" name="Google Shape;580;p5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-344</a:t>
            </a:r>
            <a:endParaRPr/>
          </a:p>
        </p:txBody>
      </p:sp>
      <p:sp>
        <p:nvSpPr>
          <p:cNvPr id="581" name="Google Shape;581;p5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5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Insurance Group</a:t>
            </a:r>
            <a:endParaRPr/>
          </a:p>
        </p:txBody>
      </p:sp>
      <p:sp>
        <p:nvSpPr>
          <p:cNvPr id="583" name="Google Shape;583;p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1,393</a:t>
            </a:r>
            <a:endParaRPr/>
          </a:p>
        </p:txBody>
      </p:sp>
      <p:sp>
        <p:nvSpPr>
          <p:cNvPr id="584" name="Google Shape;584;p5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585" name="Google Shape;585;p5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586" name="Google Shape;586;p5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+288</a:t>
            </a:r>
            <a:endParaRPr/>
          </a:p>
        </p:txBody>
      </p:sp>
      <p:sp>
        <p:nvSpPr>
          <p:cNvPr id="587" name="Google Shape;587;p5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588" name="Google Shape;588;p5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747</a:t>
            </a:r>
            <a:endParaRPr/>
          </a:p>
        </p:txBody>
      </p:sp>
      <p:sp>
        <p:nvSpPr>
          <p:cNvPr id="589" name="Google Shape;589;p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90" name="Google Shape;590;p5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2.4%</a:t>
            </a:r>
            <a:endParaRPr/>
          </a:p>
        </p:txBody>
      </p:sp>
      <p:sp>
        <p:nvSpPr>
          <p:cNvPr id="591" name="Google Shape;591;p5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+528</a:t>
            </a:r>
            <a:endParaRPr/>
          </a:p>
        </p:txBody>
      </p:sp>
      <p:sp>
        <p:nvSpPr>
          <p:cNvPr id="592" name="Google Shape;592;p5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594" name="Google Shape;594;p5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496</a:t>
            </a:r>
            <a:endParaRPr/>
          </a:p>
        </p:txBody>
      </p:sp>
      <p:sp>
        <p:nvSpPr>
          <p:cNvPr id="595" name="Google Shape;595;p5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596" name="Google Shape;596;p5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14.9%</a:t>
            </a:r>
            <a:endParaRPr/>
          </a:p>
        </p:txBody>
      </p:sp>
      <p:sp>
        <p:nvSpPr>
          <p:cNvPr id="597" name="Google Shape;597;p5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+341</a:t>
            </a:r>
            <a:endParaRPr/>
          </a:p>
        </p:txBody>
      </p:sp>
      <p:sp>
        <p:nvSpPr>
          <p:cNvPr id="598" name="Google Shape;598;p5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Planet</a:t>
            </a:r>
            <a:endParaRPr/>
          </a:p>
        </p:txBody>
      </p:sp>
      <p:sp>
        <p:nvSpPr>
          <p:cNvPr id="599" name="Google Shape;599;p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280</a:t>
            </a:r>
            <a:endParaRPr/>
          </a:p>
        </p:txBody>
      </p:sp>
      <p:sp>
        <p:nvSpPr>
          <p:cNvPr id="600" name="Google Shape;600;p5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01" name="Google Shape;601;p5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602" name="Google Shape;602;p5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+7</a:t>
            </a:r>
            <a:endParaRPr/>
          </a:p>
        </p:txBody>
      </p:sp>
      <p:sp>
        <p:nvSpPr>
          <p:cNvPr id="603" name="Google Shape;603;p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5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COASTAL TRUCKING INSURANCE LLC</a:t>
            </a:r>
            <a:endParaRPr/>
          </a:p>
        </p:txBody>
      </p:sp>
      <p:sp>
        <p:nvSpPr>
          <p:cNvPr id="605" name="Google Shape;605;p5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277</a:t>
            </a:r>
            <a:endParaRPr/>
          </a:p>
        </p:txBody>
      </p:sp>
      <p:sp>
        <p:nvSpPr>
          <p:cNvPr id="606" name="Google Shape;606;p5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7" name="Google Shape;607;p5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</p:txBody>
      </p:sp>
      <p:sp>
        <p:nvSpPr>
          <p:cNvPr id="608" name="Google Shape;608;p5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-74</a:t>
            </a:r>
            <a:endParaRPr/>
          </a:p>
        </p:txBody>
      </p:sp>
      <p:sp>
        <p:nvSpPr>
          <p:cNvPr id="609" name="Google Shape;609;p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 &amp; R Agency LLC</a:t>
            </a:r>
            <a:endParaRPr/>
          </a:p>
        </p:txBody>
      </p:sp>
      <p:sp>
        <p:nvSpPr>
          <p:cNvPr id="610" name="Google Shape;610;p5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</a:t>
            </a:r>
            <a:endParaRPr/>
          </a:p>
        </p:txBody>
      </p:sp>
      <p:sp>
        <p:nvSpPr>
          <p:cNvPr id="611" name="Google Shape;611;p5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12" name="Google Shape;612;p5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613" name="Google Shape;613;p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+87</a:t>
            </a:r>
            <a:endParaRPr/>
          </a:p>
        </p:txBody>
      </p:sp>
      <p:sp>
        <p:nvSpPr>
          <p:cNvPr id="614" name="Google Shape;614;p5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5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Marble City Insurance</a:t>
            </a:r>
            <a:endParaRPr/>
          </a:p>
        </p:txBody>
      </p:sp>
      <p:sp>
        <p:nvSpPr>
          <p:cNvPr id="616" name="Google Shape;616;p5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228</a:t>
            </a:r>
            <a:endParaRPr/>
          </a:p>
        </p:txBody>
      </p:sp>
      <p:sp>
        <p:nvSpPr>
          <p:cNvPr id="617" name="Google Shape;617;p5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18" name="Google Shape;618;p5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619" name="Google Shape;619;p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+105</a:t>
            </a:r>
            <a:endParaRPr/>
          </a:p>
        </p:txBody>
      </p:sp>
      <p:sp>
        <p:nvSpPr>
          <p:cNvPr id="620" name="Google Shape;620;p5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925 Partners, Llc</a:t>
            </a:r>
            <a:endParaRPr/>
          </a:p>
        </p:txBody>
      </p:sp>
      <p:sp>
        <p:nvSpPr>
          <p:cNvPr id="621" name="Google Shape;621;p5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214</a:t>
            </a:r>
            <a:endParaRPr/>
          </a:p>
        </p:txBody>
      </p:sp>
      <p:sp>
        <p:nvSpPr>
          <p:cNvPr id="622" name="Google Shape;622;p5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3" name="Google Shape;623;p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624" name="Google Shape;624;p5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+32</a:t>
            </a:r>
            <a:endParaRPr/>
          </a:p>
        </p:txBody>
      </p:sp>
      <p:sp>
        <p:nvSpPr>
          <p:cNvPr id="625" name="Google Shape;625;p5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5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Sebanda Franchise #42 - M&amp;o Insurance </a:t>
            </a:r>
            <a:endParaRPr/>
          </a:p>
        </p:txBody>
      </p:sp>
      <p:sp>
        <p:nvSpPr>
          <p:cNvPr id="627" name="Google Shape;627;p5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203</a:t>
            </a:r>
            <a:endParaRPr/>
          </a:p>
        </p:txBody>
      </p:sp>
      <p:sp>
        <p:nvSpPr>
          <p:cNvPr id="628" name="Google Shape;628;p5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29" name="Google Shape;629;p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630" name="Google Shape;630;p5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-67</a:t>
            </a:r>
            <a:endParaRPr/>
          </a:p>
        </p:txBody>
      </p:sp>
      <p:sp>
        <p:nvSpPr>
          <p:cNvPr id="631" name="Google Shape;631;p5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Interglobal Insurance Company</a:t>
            </a:r>
            <a:endParaRPr/>
          </a:p>
        </p:txBody>
      </p:sp>
      <p:sp>
        <p:nvSpPr>
          <p:cNvPr id="632" name="Google Shape;632;p5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174</a:t>
            </a:r>
            <a:endParaRPr/>
          </a:p>
        </p:txBody>
      </p:sp>
      <p:sp>
        <p:nvSpPr>
          <p:cNvPr id="633" name="Google Shape;633;p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4" name="Google Shape;634;p5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635" name="Google Shape;635;p5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-53</a:t>
            </a:r>
            <a:endParaRPr/>
          </a:p>
        </p:txBody>
      </p:sp>
      <p:sp>
        <p:nvSpPr>
          <p:cNvPr id="636" name="Google Shape;636;p5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5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Peco Insurance LLC</a:t>
            </a:r>
            <a:endParaRPr/>
          </a:p>
        </p:txBody>
      </p:sp>
      <p:sp>
        <p:nvSpPr>
          <p:cNvPr id="638" name="Google Shape;638;p5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</p:txBody>
      </p:sp>
      <p:sp>
        <p:nvSpPr>
          <p:cNvPr id="639" name="Google Shape;639;p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40" name="Google Shape;640;p5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641" name="Google Shape;641;p5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-515</a:t>
            </a:r>
            <a:endParaRPr/>
          </a:p>
        </p:txBody>
      </p:sp>
      <p:sp>
        <p:nvSpPr>
          <p:cNvPr id="642" name="Google Shape;642;p5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Waypoint Agency LLC</a:t>
            </a:r>
            <a:endParaRPr/>
          </a:p>
        </p:txBody>
      </p:sp>
      <p:sp>
        <p:nvSpPr>
          <p:cNvPr id="643" name="Google Shape;643;p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156</a:t>
            </a:r>
            <a:endParaRPr/>
          </a:p>
        </p:txBody>
      </p:sp>
      <p:sp>
        <p:nvSpPr>
          <p:cNvPr id="644" name="Google Shape;644;p5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45" name="Google Shape;645;p5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5.1%</a:t>
            </a:r>
            <a:endParaRPr/>
          </a:p>
        </p:txBody>
      </p:sp>
      <p:sp>
        <p:nvSpPr>
          <p:cNvPr id="646" name="Google Shape;646;p5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+57</a:t>
            </a:r>
            <a:endParaRPr/>
          </a:p>
        </p:txBody>
      </p:sp>
      <p:sp>
        <p:nvSpPr>
          <p:cNvPr id="647" name="Google Shape;647;p5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5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Talis Insurance Group, Inc</a:t>
            </a:r>
            <a:endParaRPr/>
          </a:p>
        </p:txBody>
      </p:sp>
      <p:sp>
        <p:nvSpPr>
          <p:cNvPr id="649" name="Google Shape;649;p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</p:txBody>
      </p:sp>
      <p:sp>
        <p:nvSpPr>
          <p:cNvPr id="650" name="Google Shape;650;p5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51" name="Google Shape;651;p5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7.8%</a:t>
            </a:r>
            <a:endParaRPr/>
          </a:p>
        </p:txBody>
      </p:sp>
      <p:sp>
        <p:nvSpPr>
          <p:cNvPr id="652" name="Google Shape;652;p5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</a:t>
            </a:r>
            <a:endParaRPr/>
          </a:p>
        </p:txBody>
      </p:sp>
      <p:sp>
        <p:nvSpPr>
          <p:cNvPr id="653" name="Google Shape;653;p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Stone Era Insurance Agency</a:t>
            </a:r>
            <a:endParaRPr/>
          </a:p>
        </p:txBody>
      </p:sp>
      <p:sp>
        <p:nvSpPr>
          <p:cNvPr id="654" name="Google Shape;654;p5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115</a:t>
            </a:r>
            <a:endParaRPr/>
          </a:p>
        </p:txBody>
      </p:sp>
      <p:sp>
        <p:nvSpPr>
          <p:cNvPr id="655" name="Google Shape;655;p5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56" name="Google Shape;656;p5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657" name="Google Shape;657;p5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+115</a:t>
            </a:r>
            <a:endParaRPr/>
          </a:p>
        </p:txBody>
      </p:sp>
      <p:sp>
        <p:nvSpPr>
          <p:cNvPr id="658" name="Google Shape;658;p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6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Trend</a:t>
            </a:r>
            <a:endParaRPr/>
          </a:p>
        </p:txBody>
      </p:sp>
      <p:sp>
        <p:nvSpPr>
          <p:cNvPr id="665" name="Google Shape;665;p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Ron Douglas  |  34 Total Agencies  |  Jan–May 2026</a:t>
            </a:r>
            <a:endParaRPr/>
          </a:p>
        </p:txBody>
      </p:sp>
      <p:sp>
        <p:nvSpPr>
          <p:cNvPr id="666" name="Google Shape;666;p6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6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68" name="Google Shape;668;p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669" name="Google Shape;669;p6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670" name="Google Shape;670;p6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71" name="Google Shape;671;p6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</a:t>
            </a:r>
            <a:endParaRPr/>
          </a:p>
        </p:txBody>
      </p:sp>
      <p:sp>
        <p:nvSpPr>
          <p:cNvPr id="672" name="Google Shape;672;p6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73" name="Google Shape;673;p6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674" name="Google Shape;674;p6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75" name="Google Shape;675;p6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6" name="Google Shape;676;p6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77" name="Google Shape;677;p6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$8,297,379</a:t>
            </a:r>
            <a:endParaRPr/>
          </a:p>
        </p:txBody>
      </p:sp>
      <p:sp>
        <p:nvSpPr>
          <p:cNvPr id="678" name="Google Shape;678;p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$2,404,787</a:t>
            </a:r>
            <a:endParaRPr/>
          </a:p>
        </p:txBody>
      </p:sp>
      <p:sp>
        <p:nvSpPr>
          <p:cNvPr id="679" name="Google Shape;679;p6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$237,395</a:t>
            </a:r>
            <a:endParaRPr/>
          </a:p>
        </p:txBody>
      </p:sp>
      <p:sp>
        <p:nvSpPr>
          <p:cNvPr id="680" name="Google Shape;680;p6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$-1,403,973</a:t>
            </a:r>
            <a:endParaRPr/>
          </a:p>
        </p:txBody>
      </p:sp>
      <p:sp>
        <p:nvSpPr>
          <p:cNvPr id="681" name="Google Shape;681;p6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3,018</a:t>
            </a:r>
            <a:endParaRPr/>
          </a:p>
        </p:txBody>
      </p:sp>
      <p:sp>
        <p:nvSpPr>
          <p:cNvPr id="682" name="Google Shape;682;p6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2,184</a:t>
            </a:r>
            <a:endParaRPr/>
          </a:p>
        </p:txBody>
      </p:sp>
      <p:sp>
        <p:nvSpPr>
          <p:cNvPr id="683" name="Google Shape;683;p6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</a:t>
            </a:r>
            <a:endParaRPr/>
          </a:p>
        </p:txBody>
      </p:sp>
      <p:sp>
        <p:nvSpPr>
          <p:cNvPr id="684" name="Google Shape;684;p6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8.8%</a:t>
            </a:r>
            <a:endParaRPr/>
          </a:p>
        </p:txBody>
      </p:sp>
      <p:sp>
        <p:nvSpPr>
          <p:cNvPr id="685" name="Google Shape;685;p6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6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7" name="Google Shape;687;p6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$8,185,289</a:t>
            </a:r>
            <a:endParaRPr/>
          </a:p>
        </p:txBody>
      </p:sp>
      <p:sp>
        <p:nvSpPr>
          <p:cNvPr id="688" name="Google Shape;688;p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$2,141,010</a:t>
            </a:r>
            <a:endParaRPr/>
          </a:p>
        </p:txBody>
      </p:sp>
      <p:sp>
        <p:nvSpPr>
          <p:cNvPr id="689" name="Google Shape;689;p6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$368,718</a:t>
            </a:r>
            <a:endParaRPr/>
          </a:p>
        </p:txBody>
      </p:sp>
      <p:sp>
        <p:nvSpPr>
          <p:cNvPr id="690" name="Google Shape;690;p6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$-1,186,958</a:t>
            </a:r>
            <a:endParaRPr/>
          </a:p>
        </p:txBody>
      </p:sp>
      <p:sp>
        <p:nvSpPr>
          <p:cNvPr id="691" name="Google Shape;691;p6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3,070</a:t>
            </a:r>
            <a:endParaRPr/>
          </a:p>
        </p:txBody>
      </p:sp>
      <p:sp>
        <p:nvSpPr>
          <p:cNvPr id="692" name="Google Shape;692;p6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2,176</a:t>
            </a:r>
            <a:endParaRPr/>
          </a:p>
        </p:txBody>
      </p:sp>
      <p:sp>
        <p:nvSpPr>
          <p:cNvPr id="693" name="Google Shape;693;p6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</a:t>
            </a:r>
            <a:endParaRPr/>
          </a:p>
        </p:txBody>
      </p:sp>
      <p:sp>
        <p:nvSpPr>
          <p:cNvPr id="694" name="Google Shape;694;p6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695" name="Google Shape;695;p6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6" name="Google Shape;696;p6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$8,731,368</a:t>
            </a:r>
            <a:endParaRPr/>
          </a:p>
        </p:txBody>
      </p:sp>
      <p:sp>
        <p:nvSpPr>
          <p:cNvPr id="697" name="Google Shape;697;p6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$2,876,868</a:t>
            </a:r>
            <a:endParaRPr/>
          </a:p>
        </p:txBody>
      </p:sp>
      <p:sp>
        <p:nvSpPr>
          <p:cNvPr id="698" name="Google Shape;698;p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$256,034</a:t>
            </a:r>
            <a:endParaRPr/>
          </a:p>
        </p:txBody>
      </p:sp>
      <p:sp>
        <p:nvSpPr>
          <p:cNvPr id="699" name="Google Shape;699;p6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$-1,575,007</a:t>
            </a:r>
            <a:endParaRPr/>
          </a:p>
        </p:txBody>
      </p:sp>
      <p:sp>
        <p:nvSpPr>
          <p:cNvPr id="700" name="Google Shape;700;p6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3,207</a:t>
            </a:r>
            <a:endParaRPr/>
          </a:p>
        </p:txBody>
      </p:sp>
      <p:sp>
        <p:nvSpPr>
          <p:cNvPr id="701" name="Google Shape;701;p6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2,204</a:t>
            </a:r>
            <a:endParaRPr/>
          </a:p>
        </p:txBody>
      </p:sp>
      <p:sp>
        <p:nvSpPr>
          <p:cNvPr id="702" name="Google Shape;702;p6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284</a:t>
            </a:r>
            <a:endParaRPr/>
          </a:p>
        </p:txBody>
      </p:sp>
      <p:sp>
        <p:nvSpPr>
          <p:cNvPr id="703" name="Google Shape;703;p6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8.9%</a:t>
            </a:r>
            <a:endParaRPr/>
          </a:p>
        </p:txBody>
      </p:sp>
      <p:sp>
        <p:nvSpPr>
          <p:cNvPr id="704" name="Google Shape;704;p6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6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6" name="Google Shape;706;p6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$8,353,773</a:t>
            </a:r>
            <a:endParaRPr/>
          </a:p>
        </p:txBody>
      </p:sp>
      <p:sp>
        <p:nvSpPr>
          <p:cNvPr id="707" name="Google Shape;707;p6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$2,859,782</a:t>
            </a:r>
            <a:endParaRPr/>
          </a:p>
        </p:txBody>
      </p:sp>
      <p:sp>
        <p:nvSpPr>
          <p:cNvPr id="708" name="Google Shape;708;p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$726,984</a:t>
            </a:r>
            <a:endParaRPr/>
          </a:p>
        </p:txBody>
      </p:sp>
      <p:sp>
        <p:nvSpPr>
          <p:cNvPr id="709" name="Google Shape;709;p6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$-2,096,993</a:t>
            </a:r>
            <a:endParaRPr/>
          </a:p>
        </p:txBody>
      </p:sp>
      <p:sp>
        <p:nvSpPr>
          <p:cNvPr id="710" name="Google Shape;710;p6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3,626</a:t>
            </a:r>
            <a:endParaRPr/>
          </a:p>
        </p:txBody>
      </p:sp>
      <p:sp>
        <p:nvSpPr>
          <p:cNvPr id="711" name="Google Shape;711;p6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2,562</a:t>
            </a:r>
            <a:endParaRPr/>
          </a:p>
        </p:txBody>
      </p:sp>
      <p:sp>
        <p:nvSpPr>
          <p:cNvPr id="712" name="Google Shape;712;p6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288</a:t>
            </a:r>
            <a:endParaRPr/>
          </a:p>
        </p:txBody>
      </p:sp>
      <p:sp>
        <p:nvSpPr>
          <p:cNvPr id="713" name="Google Shape;713;p6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7.9%</a:t>
            </a:r>
            <a:endParaRPr/>
          </a:p>
        </p:txBody>
      </p:sp>
      <p:sp>
        <p:nvSpPr>
          <p:cNvPr id="714" name="Google Shape;714;p6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15" name="Google Shape;715;p6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$4,553,783</a:t>
            </a:r>
            <a:endParaRPr/>
          </a:p>
        </p:txBody>
      </p:sp>
      <p:sp>
        <p:nvSpPr>
          <p:cNvPr id="716" name="Google Shape;716;p6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$1,808,221</a:t>
            </a:r>
            <a:endParaRPr/>
          </a:p>
        </p:txBody>
      </p:sp>
      <p:sp>
        <p:nvSpPr>
          <p:cNvPr id="717" name="Google Shape;717;p6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$440,783</a:t>
            </a:r>
            <a:endParaRPr/>
          </a:p>
        </p:txBody>
      </p:sp>
      <p:sp>
        <p:nvSpPr>
          <p:cNvPr id="718" name="Google Shape;718;p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$-1,376,011</a:t>
            </a:r>
            <a:endParaRPr/>
          </a:p>
        </p:txBody>
      </p:sp>
      <p:sp>
        <p:nvSpPr>
          <p:cNvPr id="719" name="Google Shape;719;p6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1,954</a:t>
            </a:r>
            <a:endParaRPr/>
          </a:p>
        </p:txBody>
      </p:sp>
      <p:sp>
        <p:nvSpPr>
          <p:cNvPr id="720" name="Google Shape;720;p6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1,396</a:t>
            </a:r>
            <a:endParaRPr/>
          </a:p>
        </p:txBody>
      </p:sp>
      <p:sp>
        <p:nvSpPr>
          <p:cNvPr id="721" name="Google Shape;721;p6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138</a:t>
            </a:r>
            <a:endParaRPr/>
          </a:p>
        </p:txBody>
      </p:sp>
      <p:sp>
        <p:nvSpPr>
          <p:cNvPr id="722" name="Google Shape;722;p6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723" name="Google Shape;723;p6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6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725" name="Google Shape;725;p6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$38,121,592</a:t>
            </a:r>
            <a:endParaRPr/>
          </a:p>
        </p:txBody>
      </p:sp>
      <p:sp>
        <p:nvSpPr>
          <p:cNvPr id="726" name="Google Shape;726;p6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$12,090,668</a:t>
            </a:r>
            <a:endParaRPr/>
          </a:p>
        </p:txBody>
      </p:sp>
      <p:sp>
        <p:nvSpPr>
          <p:cNvPr id="727" name="Google Shape;727;p6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$2,029,913</a:t>
            </a:r>
            <a:endParaRPr/>
          </a:p>
        </p:txBody>
      </p:sp>
      <p:sp>
        <p:nvSpPr>
          <p:cNvPr id="728" name="Google Shape;728;p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$-7,638,942</a:t>
            </a:r>
            <a:endParaRPr/>
          </a:p>
        </p:txBody>
      </p:sp>
      <p:sp>
        <p:nvSpPr>
          <p:cNvPr id="729" name="Google Shape;729;p6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14,875</a:t>
            </a:r>
            <a:endParaRPr/>
          </a:p>
        </p:txBody>
      </p:sp>
      <p:sp>
        <p:nvSpPr>
          <p:cNvPr id="730" name="Google Shape;730;p6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10,522</a:t>
            </a:r>
            <a:endParaRPr/>
          </a:p>
        </p:txBody>
      </p:sp>
      <p:sp>
        <p:nvSpPr>
          <p:cNvPr id="731" name="Google Shape;731;p6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1,230</a:t>
            </a:r>
            <a:endParaRPr/>
          </a:p>
        </p:txBody>
      </p:sp>
      <p:sp>
        <p:nvSpPr>
          <p:cNvPr id="732" name="Google Shape;732;p6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733" name="Google Shape;733;p6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= up vs prior month  |  Red = down vs prior month or negative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7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In My Portfolio — Ron Douglas</a:t>
            </a:r>
            <a:endParaRPr/>
          </a:p>
        </p:txBody>
      </p:sp>
      <p:sp>
        <p:nvSpPr>
          <p:cNvPr id="739" name="Google Shape;739;p7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Dirt, Sand &amp; Gravel program performance across this bdm's agencies  |  2026 YTD</a:t>
            </a:r>
            <a:endParaRPr/>
          </a:p>
        </p:txBody>
      </p:sp>
      <p:sp>
        <p:nvSpPr>
          <p:cNvPr id="740" name="Google Shape;740;p7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SUBMISSIONS</a:t>
            </a:r>
            <a:endParaRPr/>
          </a:p>
        </p:txBody>
      </p:sp>
      <p:sp>
        <p:nvSpPr>
          <p:cNvPr id="741" name="Google Shape;741;p7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ACCOUNTS</a:t>
            </a:r>
            <a:endParaRPr/>
          </a:p>
        </p:txBody>
      </p:sp>
      <p:sp>
        <p:nvSpPr>
          <p:cNvPr id="742" name="Google Shape;742;p7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$299,457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GROSS WRITTEN PREM</a:t>
            </a:r>
            <a:endParaRPr/>
          </a:p>
        </p:txBody>
      </p:sp>
      <p:sp>
        <p:nvSpPr>
          <p:cNvPr id="743" name="Google Shape;743;p7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</a:t>
            </a:r>
            <a:endParaRPr/>
          </a:p>
        </p:txBody>
      </p:sp>
      <p:sp>
        <p:nvSpPr>
          <p:cNvPr id="744" name="Google Shape;744;p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7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ACTIVITY BY AGENCY (top 8 by submissions)</a:t>
            </a:r>
            <a:endParaRPr/>
          </a:p>
        </p:txBody>
      </p:sp>
      <p:sp>
        <p:nvSpPr>
          <p:cNvPr id="746" name="Google Shape;746;p7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747" name="Google Shape;747;p7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48" name="Google Shape;748;p7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Declined</a:t>
            </a:r>
            <a:endParaRPr/>
          </a:p>
        </p:txBody>
      </p:sp>
      <p:sp>
        <p:nvSpPr>
          <p:cNvPr id="749" name="Google Shape;749;p7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750" name="Google Shape;750;p7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751" name="Google Shape;751;p7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752" name="Google Shape;752;p7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7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754" name="Google Shape;754;p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755" name="Google Shape;755;p7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756" name="Google Shape;756;p7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57" name="Google Shape;757;p7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758" name="Google Shape;758;p7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$48,575</a:t>
            </a:r>
            <a:endParaRPr/>
          </a:p>
        </p:txBody>
      </p:sp>
      <p:sp>
        <p:nvSpPr>
          <p:cNvPr id="759" name="Google Shape;759;p7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PREVENTTY</a:t>
            </a:r>
            <a:endParaRPr/>
          </a:p>
        </p:txBody>
      </p:sp>
      <p:sp>
        <p:nvSpPr>
          <p:cNvPr id="760" name="Google Shape;760;p7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</a:t>
            </a:r>
            <a:endParaRPr/>
          </a:p>
        </p:txBody>
      </p:sp>
      <p:sp>
        <p:nvSpPr>
          <p:cNvPr id="761" name="Google Shape;761;p7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762" name="Google Shape;762;p7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3" name="Google Shape;763;p7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764" name="Google Shape;764;p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$61,459</a:t>
            </a:r>
            <a:endParaRPr/>
          </a:p>
        </p:txBody>
      </p:sp>
      <p:sp>
        <p:nvSpPr>
          <p:cNvPr id="765" name="Google Shape;765;p7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7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767" name="Google Shape;767;p7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768" name="Google Shape;768;p7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69" name="Google Shape;769;p7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70" name="Google Shape;770;p7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771" name="Google Shape;771;p7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$26,295</a:t>
            </a:r>
            <a:endParaRPr/>
          </a:p>
        </p:txBody>
      </p:sp>
      <p:sp>
        <p:nvSpPr>
          <p:cNvPr id="772" name="Google Shape;772;p7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773" name="Google Shape;773;p7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774" name="Google Shape;774;p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75" name="Google Shape;775;p7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76" name="Google Shape;776;p7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777" name="Google Shape;777;p7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$107,975</a:t>
            </a:r>
            <a:endParaRPr/>
          </a:p>
        </p:txBody>
      </p:sp>
      <p:sp>
        <p:nvSpPr>
          <p:cNvPr id="778" name="Google Shape;778;p7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7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Insurance Group Inc Dba Prestige</a:t>
            </a:r>
            <a:endParaRPr/>
          </a:p>
        </p:txBody>
      </p:sp>
      <p:sp>
        <p:nvSpPr>
          <p:cNvPr id="780" name="Google Shape;780;p7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81" name="Google Shape;781;p7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782" name="Google Shape;782;p7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" name="Google Shape;783;p7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4" name="Google Shape;784;p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85" name="Google Shape;785;p7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Sebanda Franchise #42 - M&amp;O Insurance Agency LLC</a:t>
            </a:r>
            <a:endParaRPr/>
          </a:p>
        </p:txBody>
      </p:sp>
      <p:sp>
        <p:nvSpPr>
          <p:cNvPr id="786" name="Google Shape;786;p7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787" name="Google Shape;787;p7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88" name="Google Shape;788;p7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89" name="Google Shape;789;p7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790" name="Google Shape;790;p7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$15,853</a:t>
            </a:r>
            <a:endParaRPr/>
          </a:p>
        </p:txBody>
      </p:sp>
      <p:sp>
        <p:nvSpPr>
          <p:cNvPr id="791" name="Google Shape;791;p7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7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 &amp; R Agency LLC</a:t>
            </a:r>
            <a:endParaRPr/>
          </a:p>
        </p:txBody>
      </p:sp>
      <p:sp>
        <p:nvSpPr>
          <p:cNvPr id="793" name="Google Shape;793;p7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794" name="Google Shape;794;p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95" name="Google Shape;795;p7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6" name="Google Shape;796;p7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797" name="Google Shape;797;p7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$12,488</a:t>
            </a:r>
            <a:endParaRPr/>
          </a:p>
        </p:txBody>
      </p:sp>
      <p:sp>
        <p:nvSpPr>
          <p:cNvPr id="798" name="Google Shape;798;p7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Waypoint Agency LLC</a:t>
            </a:r>
            <a:endParaRPr/>
          </a:p>
        </p:txBody>
      </p:sp>
      <p:sp>
        <p:nvSpPr>
          <p:cNvPr id="799" name="Google Shape;799;p7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800" name="Google Shape;800;p7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01" name="Google Shape;801;p7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2" name="Google Shape;802;p7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803" name="Google Shape;803;p7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$26,812</a:t>
            </a:r>
            <a:endParaRPr/>
          </a:p>
        </p:txBody>
      </p:sp>
      <p:sp>
        <p:nvSpPr>
          <p:cNvPr id="804" name="Google Shape;804;p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States with DSG bound business in this book: CA, MS, NH, TX, VA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8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p8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In My Portfolio — Ron Douglas</a:t>
            </a:r>
            <a:endParaRPr/>
          </a:p>
        </p:txBody>
      </p:sp>
      <p:sp>
        <p:nvSpPr>
          <p:cNvPr id="810" name="Google Shape;810;p8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business (4+ power units) across this bdm's agencies  |  2026 YTD</a:t>
            </a:r>
            <a:endParaRPr/>
          </a:p>
        </p:txBody>
      </p:sp>
      <p:sp>
        <p:nvSpPr>
          <p:cNvPr id="811" name="Google Shape;811;p8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1,516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SUBMISSIONS</a:t>
            </a:r>
            <a:endParaRPr/>
          </a:p>
        </p:txBody>
      </p:sp>
      <p:sp>
        <p:nvSpPr>
          <p:cNvPr id="812" name="Google Shape;812;p8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</a:t>
            </a:r>
            <a:endParaRPr/>
          </a:p>
        </p:txBody>
      </p:sp>
      <p:sp>
        <p:nvSpPr>
          <p:cNvPr id="813" name="Google Shape;813;p8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$32,116,130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GWP</a:t>
            </a:r>
            <a:endParaRPr/>
          </a:p>
        </p:txBody>
      </p:sp>
      <p:sp>
        <p:nvSpPr>
          <p:cNvPr id="814" name="Google Shape;814;p8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UNITS / SUB</a:t>
            </a:r>
            <a:endParaRPr/>
          </a:p>
        </p:txBody>
      </p:sp>
      <p:sp>
        <p:nvSpPr>
          <p:cNvPr id="815" name="Google Shape;815;p8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BY AGENCY (top 8)</a:t>
            </a:r>
            <a:endParaRPr/>
          </a:p>
        </p:txBody>
      </p:sp>
      <p:sp>
        <p:nvSpPr>
          <p:cNvPr id="817" name="Google Shape;817;p8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818" name="Google Shape;818;p8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19" name="Google Shape;819;p8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820" name="Google Shape;820;p8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821" name="Google Shape;821;p8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822" name="Google Shape;822;p8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8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PREVENTTY</a:t>
            </a:r>
            <a:endParaRPr/>
          </a:p>
        </p:txBody>
      </p:sp>
      <p:sp>
        <p:nvSpPr>
          <p:cNvPr id="824" name="Google Shape;824;p8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394</a:t>
            </a:r>
            <a:endParaRPr/>
          </a:p>
        </p:txBody>
      </p:sp>
      <p:sp>
        <p:nvSpPr>
          <p:cNvPr id="825" name="Google Shape;825;p8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826" name="Google Shape;826;p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15.0%</a:t>
            </a:r>
            <a:endParaRPr/>
          </a:p>
        </p:txBody>
      </p:sp>
      <p:sp>
        <p:nvSpPr>
          <p:cNvPr id="827" name="Google Shape;827;p8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$5,091,443</a:t>
            </a:r>
            <a:endParaRPr/>
          </a:p>
        </p:txBody>
      </p:sp>
      <p:sp>
        <p:nvSpPr>
          <p:cNvPr id="828" name="Google Shape;828;p8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829" name="Google Shape;829;p8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318</a:t>
            </a:r>
            <a:endParaRPr/>
          </a:p>
        </p:txBody>
      </p:sp>
      <p:sp>
        <p:nvSpPr>
          <p:cNvPr id="830" name="Google Shape;830;p8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831" name="Google Shape;831;p8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16.4%</a:t>
            </a:r>
            <a:endParaRPr/>
          </a:p>
        </p:txBody>
      </p:sp>
      <p:sp>
        <p:nvSpPr>
          <p:cNvPr id="832" name="Google Shape;832;p8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$2,755,228</a:t>
            </a:r>
            <a:endParaRPr/>
          </a:p>
        </p:txBody>
      </p:sp>
      <p:sp>
        <p:nvSpPr>
          <p:cNvPr id="833" name="Google Shape;833;p8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" name="Google Shape;834;p8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Insurance Group Inc</a:t>
            </a:r>
            <a:endParaRPr/>
          </a:p>
        </p:txBody>
      </p:sp>
      <p:sp>
        <p:nvSpPr>
          <p:cNvPr id="835" name="Google Shape;835;p8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213</a:t>
            </a:r>
            <a:endParaRPr/>
          </a:p>
        </p:txBody>
      </p:sp>
      <p:sp>
        <p:nvSpPr>
          <p:cNvPr id="836" name="Google Shape;836;p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837" name="Google Shape;837;p8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34.7%</a:t>
            </a:r>
            <a:endParaRPr/>
          </a:p>
        </p:txBody>
      </p:sp>
      <p:sp>
        <p:nvSpPr>
          <p:cNvPr id="838" name="Google Shape;838;p8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$8,974,805</a:t>
            </a:r>
            <a:endParaRPr/>
          </a:p>
        </p:txBody>
      </p:sp>
      <p:sp>
        <p:nvSpPr>
          <p:cNvPr id="839" name="Google Shape;839;p8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840" name="Google Shape;840;p8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117</a:t>
            </a:r>
            <a:endParaRPr/>
          </a:p>
        </p:txBody>
      </p:sp>
      <p:sp>
        <p:nvSpPr>
          <p:cNvPr id="841" name="Google Shape;841;p8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842" name="Google Shape;842;p8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27.4%</a:t>
            </a:r>
            <a:endParaRPr/>
          </a:p>
        </p:txBody>
      </p:sp>
      <p:sp>
        <p:nvSpPr>
          <p:cNvPr id="843" name="Google Shape;843;p8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$1,794,936</a:t>
            </a:r>
            <a:endParaRPr/>
          </a:p>
        </p:txBody>
      </p:sp>
      <p:sp>
        <p:nvSpPr>
          <p:cNvPr id="844" name="Google Shape;844;p8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" name="Google Shape;845;p8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846" name="Google Shape;846;p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101</a:t>
            </a:r>
            <a:endParaRPr/>
          </a:p>
        </p:txBody>
      </p:sp>
      <p:sp>
        <p:nvSpPr>
          <p:cNvPr id="847" name="Google Shape;847;p8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848" name="Google Shape;848;p8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21.8%</a:t>
            </a:r>
            <a:endParaRPr/>
          </a:p>
        </p:txBody>
      </p:sp>
      <p:sp>
        <p:nvSpPr>
          <p:cNvPr id="849" name="Google Shape;849;p8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$964,820</a:t>
            </a:r>
            <a:endParaRPr/>
          </a:p>
        </p:txBody>
      </p:sp>
      <p:sp>
        <p:nvSpPr>
          <p:cNvPr id="850" name="Google Shape;850;p8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925 Partners, LLC</a:t>
            </a:r>
            <a:endParaRPr/>
          </a:p>
        </p:txBody>
      </p:sp>
      <p:sp>
        <p:nvSpPr>
          <p:cNvPr id="851" name="Google Shape;851;p8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852" name="Google Shape;852;p8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53" name="Google Shape;853;p8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23.1%</a:t>
            </a:r>
            <a:endParaRPr/>
          </a:p>
        </p:txBody>
      </p:sp>
      <p:sp>
        <p:nvSpPr>
          <p:cNvPr id="854" name="Google Shape;854;p8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$805,334</a:t>
            </a:r>
            <a:endParaRPr/>
          </a:p>
        </p:txBody>
      </p:sp>
      <p:sp>
        <p:nvSpPr>
          <p:cNvPr id="855" name="Google Shape;855;p8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" name="Google Shape;856;p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Planet</a:t>
            </a:r>
            <a:endParaRPr/>
          </a:p>
        </p:txBody>
      </p:sp>
      <p:sp>
        <p:nvSpPr>
          <p:cNvPr id="857" name="Google Shape;857;p8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858" name="Google Shape;858;p8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59" name="Google Shape;859;p8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860" name="Google Shape;860;p8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$601,348</a:t>
            </a:r>
            <a:endParaRPr/>
          </a:p>
        </p:txBody>
      </p:sp>
      <p:sp>
        <p:nvSpPr>
          <p:cNvPr id="861" name="Google Shape;861;p8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Martin Noone Agency, LLC</a:t>
            </a:r>
            <a:endParaRPr/>
          </a:p>
        </p:txBody>
      </p:sp>
      <p:sp>
        <p:nvSpPr>
          <p:cNvPr id="862" name="Google Shape;862;p8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863" name="Google Shape;863;p8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64" name="Google Shape;864;p8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31.2%</a:t>
            </a:r>
            <a:endParaRPr/>
          </a:p>
        </p:txBody>
      </p:sp>
      <p:sp>
        <p:nvSpPr>
          <p:cNvPr id="865" name="Google Shape;865;p8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$1,162,323</a:t>
            </a:r>
            <a:endParaRPr/>
          </a:p>
        </p:txBody>
      </p:sp>
      <p:sp>
        <p:nvSpPr>
          <p:cNvPr id="866" name="Google Shape;866;p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" name="Google Shape;867;p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SIZE MIX</a:t>
            </a:r>
            <a:endParaRPr/>
          </a:p>
        </p:txBody>
      </p:sp>
      <p:sp>
        <p:nvSpPr>
          <p:cNvPr id="868" name="Google Shape;868;p8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4-5 units</a:t>
            </a:r>
            <a:endParaRPr/>
          </a:p>
        </p:txBody>
      </p:sp>
      <p:sp>
        <p:nvSpPr>
          <p:cNvPr id="869" name="Google Shape;869;p8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967</a:t>
            </a:r>
            <a:endParaRPr/>
          </a:p>
        </p:txBody>
      </p:sp>
      <p:sp>
        <p:nvSpPr>
          <p:cNvPr id="870" name="Google Shape;870;p8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(64%)</a:t>
            </a:r>
            <a:endParaRPr/>
          </a:p>
        </p:txBody>
      </p:sp>
      <p:sp>
        <p:nvSpPr>
          <p:cNvPr id="871" name="Google Shape;871;p8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6-10 units</a:t>
            </a:r>
            <a:endParaRPr/>
          </a:p>
        </p:txBody>
      </p:sp>
      <p:sp>
        <p:nvSpPr>
          <p:cNvPr id="872" name="Google Shape;872;p8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449</a:t>
            </a:r>
            <a:endParaRPr/>
          </a:p>
        </p:txBody>
      </p:sp>
      <p:sp>
        <p:nvSpPr>
          <p:cNvPr id="873" name="Google Shape;873;p8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(30%)</a:t>
            </a:r>
            <a:endParaRPr/>
          </a:p>
        </p:txBody>
      </p:sp>
      <p:sp>
        <p:nvSpPr>
          <p:cNvPr id="874" name="Google Shape;874;p8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11-25 units</a:t>
            </a:r>
            <a:endParaRPr/>
          </a:p>
        </p:txBody>
      </p:sp>
      <p:sp>
        <p:nvSpPr>
          <p:cNvPr id="875" name="Google Shape;875;p8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91</a:t>
            </a:r>
            <a:endParaRPr/>
          </a:p>
        </p:txBody>
      </p:sp>
      <p:sp>
        <p:nvSpPr>
          <p:cNvPr id="876" name="Google Shape;876;p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(6%)</a:t>
            </a:r>
            <a:endParaRPr/>
          </a:p>
        </p:txBody>
      </p:sp>
      <p:sp>
        <p:nvSpPr>
          <p:cNvPr id="877" name="Google Shape;877;p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26-50 units</a:t>
            </a:r>
            <a:endParaRPr/>
          </a:p>
        </p:txBody>
      </p:sp>
      <p:sp>
        <p:nvSpPr>
          <p:cNvPr id="878" name="Google Shape;878;p8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79" name="Google Shape;879;p8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(1%)</a:t>
            </a:r>
            <a:endParaRPr/>
          </a:p>
        </p:txBody>
      </p:sp>
      <p:sp>
        <p:nvSpPr>
          <p:cNvPr id="880" name="Google Shape;880;p8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51+ units</a:t>
            </a:r>
            <a:endParaRPr/>
          </a:p>
        </p:txBody>
      </p:sp>
      <p:sp>
        <p:nvSpPr>
          <p:cNvPr id="881" name="Google Shape;881;p8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2" name="Google Shape;882;p8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883" name="Google Shape;883;p8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 on fleet: 23.3%  ·  Declined: 303  ·  Source: cw_rep.transportation_submissions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p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9" name="Google Shape;889;p9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Producers — Ron Douglas</a:t>
            </a:r>
            <a:endParaRPr/>
          </a:p>
        </p:txBody>
      </p:sp>
      <p:sp>
        <p:nvSpPr>
          <p:cNvPr id="890" name="Google Shape;890;p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Individual agents ranked by YTD submissions  |  Agent = broker_contact on submission  |  Trend = MoM</a:t>
            </a:r>
            <a:endParaRPr/>
          </a:p>
        </p:txBody>
      </p:sp>
      <p:sp>
        <p:nvSpPr>
          <p:cNvPr id="891" name="Google Shape;891;p9"/>
          <p:cNvSpPr/>
          <p:nvPr/>
        </p:nvSpPr>
        <p:spPr>
          <a:xfrm>
            <a:off x="182880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13697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Subs</a:t>
            </a:r>
            <a:endParaRPr/>
          </a:p>
        </p:txBody>
      </p:sp>
      <p:sp>
        <p:nvSpPr>
          <p:cNvPr id="892" name="Google Shape;892;p9"/>
          <p:cNvSpPr/>
          <p:nvPr/>
        </p:nvSpPr>
        <p:spPr>
          <a:xfrm>
            <a:off x="2569464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Binds</a:t>
            </a:r>
            <a:endParaRPr/>
          </a:p>
        </p:txBody>
      </p:sp>
      <p:sp>
        <p:nvSpPr>
          <p:cNvPr id="893" name="Google Shape;893;p9"/>
          <p:cNvSpPr/>
          <p:nvPr/>
        </p:nvSpPr>
        <p:spPr>
          <a:xfrm>
            <a:off x="4956048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Hit Ratio</a:t>
            </a:r>
            <a:endParaRPr/>
          </a:p>
        </p:txBody>
      </p:sp>
      <p:sp>
        <p:nvSpPr>
          <p:cNvPr id="894" name="Google Shape;894;p9"/>
          <p:cNvSpPr/>
          <p:nvPr/>
        </p:nvSpPr>
        <p:spPr>
          <a:xfrm>
            <a:off x="7342631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Agents</a:t>
            </a:r>
            <a:endParaRPr/>
          </a:p>
        </p:txBody>
      </p:sp>
      <p:sp>
        <p:nvSpPr>
          <p:cNvPr id="895" name="Google Shape;895;p9"/>
          <p:cNvSpPr/>
          <p:nvPr/>
        </p:nvSpPr>
        <p:spPr>
          <a:xfrm>
            <a:off x="9729215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5 Agent Share</a:t>
            </a:r>
            <a:endParaRPr/>
          </a:p>
        </p:txBody>
      </p:sp>
      <p:sp>
        <p:nvSpPr>
          <p:cNvPr id="896" name="Google Shape;896;p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" name="Google Shape;897;p9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AGENTS BY SUBMISSIONS  —  Ranked 1–18</a:t>
            </a:r>
            <a:endParaRPr/>
          </a:p>
        </p:txBody>
      </p:sp>
      <p:sp>
        <p:nvSpPr>
          <p:cNvPr id="898" name="Google Shape;898;p9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899" name="Google Shape;899;p9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900" name="Google Shape;900;p9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01" name="Google Shape;901;p9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02" name="Google Shape;902;p9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903" name="Google Shape;903;p9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904" name="Google Shape;904;p9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9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" name="Google Shape;906;p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API_USER API_USER</a:t>
            </a:r>
            <a:endParaRPr/>
          </a:p>
        </p:txBody>
      </p:sp>
      <p:sp>
        <p:nvSpPr>
          <p:cNvPr id="907" name="Google Shape;907;p9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 +1</a:t>
            </a:r>
            <a:endParaRPr/>
          </a:p>
        </p:txBody>
      </p:sp>
      <p:sp>
        <p:nvSpPr>
          <p:cNvPr id="908" name="Google Shape;908;p9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4334</a:t>
            </a:r>
            <a:endParaRPr/>
          </a:p>
        </p:txBody>
      </p:sp>
      <p:sp>
        <p:nvSpPr>
          <p:cNvPr id="909" name="Google Shape;909;p9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910" name="Google Shape;910;p9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0.8%</a:t>
            </a:r>
            <a:endParaRPr/>
          </a:p>
        </p:txBody>
      </p:sp>
      <p:sp>
        <p:nvSpPr>
          <p:cNvPr id="911" name="Google Shape;911;p9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12" name="Google Shape;912;p9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913" name="Google Shape;913;p9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</a:t>
            </a:r>
            <a:endParaRPr/>
          </a:p>
        </p:txBody>
      </p:sp>
      <p:sp>
        <p:nvSpPr>
          <p:cNvPr id="914" name="Google Shape;914;p9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2888</a:t>
            </a:r>
            <a:endParaRPr/>
          </a:p>
        </p:txBody>
      </p:sp>
      <p:sp>
        <p:nvSpPr>
          <p:cNvPr id="915" name="Google Shape;915;p9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239</a:t>
            </a:r>
            <a:endParaRPr/>
          </a:p>
        </p:txBody>
      </p:sp>
      <p:sp>
        <p:nvSpPr>
          <p:cNvPr id="916" name="Google Shape;916;p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917" name="Google Shape;917;p9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18" name="Google Shape;918;p9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" name="Google Shape;919;p9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920" name="Google Shape;920;p9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921" name="Google Shape;921;p9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747</a:t>
            </a:r>
            <a:endParaRPr/>
          </a:p>
        </p:txBody>
      </p:sp>
      <p:sp>
        <p:nvSpPr>
          <p:cNvPr id="922" name="Google Shape;922;p9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923" name="Google Shape;923;p9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2.4%</a:t>
            </a:r>
            <a:endParaRPr/>
          </a:p>
        </p:txBody>
      </p:sp>
      <p:sp>
        <p:nvSpPr>
          <p:cNvPr id="924" name="Google Shape;924;p9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25" name="Google Shape;925;p9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Mary Davis-Spivak</a:t>
            </a:r>
            <a:endParaRPr/>
          </a:p>
        </p:txBody>
      </p:sp>
      <p:sp>
        <p:nvSpPr>
          <p:cNvPr id="926" name="Google Shape;926;p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927" name="Google Shape;927;p9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426</a:t>
            </a:r>
            <a:endParaRPr/>
          </a:p>
        </p:txBody>
      </p:sp>
      <p:sp>
        <p:nvSpPr>
          <p:cNvPr id="928" name="Google Shape;928;p9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929" name="Google Shape;929;p9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12.0%</a:t>
            </a:r>
            <a:endParaRPr/>
          </a:p>
        </p:txBody>
      </p:sp>
      <p:sp>
        <p:nvSpPr>
          <p:cNvPr id="930" name="Google Shape;930;p9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31" name="Google Shape;931;p9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" name="Google Shape;932;p9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Vladimir Tesler</a:t>
            </a:r>
            <a:endParaRPr/>
          </a:p>
        </p:txBody>
      </p:sp>
      <p:sp>
        <p:nvSpPr>
          <p:cNvPr id="933" name="Google Shape;933;p9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Planet</a:t>
            </a:r>
            <a:endParaRPr/>
          </a:p>
        </p:txBody>
      </p:sp>
      <p:sp>
        <p:nvSpPr>
          <p:cNvPr id="934" name="Google Shape;934;p9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280</a:t>
            </a:r>
            <a:endParaRPr/>
          </a:p>
        </p:txBody>
      </p:sp>
      <p:sp>
        <p:nvSpPr>
          <p:cNvPr id="935" name="Google Shape;935;p9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936" name="Google Shape;936;p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937" name="Google Shape;937;p9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38" name="Google Shape;938;p9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KIMBERLY FEAR</a:t>
            </a:r>
            <a:endParaRPr/>
          </a:p>
        </p:txBody>
      </p:sp>
      <p:sp>
        <p:nvSpPr>
          <p:cNvPr id="939" name="Google Shape;939;p9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COASTAL TRUCKING INSURANCE LLC</a:t>
            </a:r>
            <a:endParaRPr/>
          </a:p>
        </p:txBody>
      </p:sp>
      <p:sp>
        <p:nvSpPr>
          <p:cNvPr id="940" name="Google Shape;940;p9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</a:t>
            </a:r>
            <a:endParaRPr/>
          </a:p>
        </p:txBody>
      </p:sp>
      <p:sp>
        <p:nvSpPr>
          <p:cNvPr id="941" name="Google Shape;941;p9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2" name="Google Shape;942;p9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43" name="Google Shape;943;p9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44" name="Google Shape;944;p9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" name="Google Shape;945;p9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William Brown</a:t>
            </a:r>
            <a:endParaRPr/>
          </a:p>
        </p:txBody>
      </p:sp>
      <p:sp>
        <p:nvSpPr>
          <p:cNvPr id="946" name="Google Shape;946;p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 &amp; R Agency LLC</a:t>
            </a:r>
            <a:endParaRPr/>
          </a:p>
        </p:txBody>
      </p:sp>
      <p:sp>
        <p:nvSpPr>
          <p:cNvPr id="947" name="Google Shape;947;p9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225</a:t>
            </a:r>
            <a:endParaRPr/>
          </a:p>
        </p:txBody>
      </p:sp>
      <p:sp>
        <p:nvSpPr>
          <p:cNvPr id="948" name="Google Shape;948;p9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49" name="Google Shape;949;p9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950" name="Google Shape;950;p9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51" name="Google Shape;951;p9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Migdiel Garcia</a:t>
            </a:r>
            <a:endParaRPr/>
          </a:p>
        </p:txBody>
      </p:sp>
      <p:sp>
        <p:nvSpPr>
          <p:cNvPr id="952" name="Google Shape;952;p9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Sebanda Franchise #42 - M&amp;o In</a:t>
            </a:r>
            <a:endParaRPr/>
          </a:p>
        </p:txBody>
      </p:sp>
      <p:sp>
        <p:nvSpPr>
          <p:cNvPr id="953" name="Google Shape;953;p9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203</a:t>
            </a:r>
            <a:endParaRPr/>
          </a:p>
        </p:txBody>
      </p:sp>
      <p:sp>
        <p:nvSpPr>
          <p:cNvPr id="954" name="Google Shape;954;p9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55" name="Google Shape;955;p9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956" name="Google Shape;956;p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57" name="Google Shape;957;p9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" name="Google Shape;958;p9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Donald Fernando Cordoba</a:t>
            </a:r>
            <a:endParaRPr/>
          </a:p>
        </p:txBody>
      </p:sp>
      <p:sp>
        <p:nvSpPr>
          <p:cNvPr id="959" name="Google Shape;959;p9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Interglobal Insurance Company</a:t>
            </a:r>
            <a:endParaRPr/>
          </a:p>
        </p:txBody>
      </p:sp>
      <p:sp>
        <p:nvSpPr>
          <p:cNvPr id="960" name="Google Shape;960;p9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174</a:t>
            </a:r>
            <a:endParaRPr/>
          </a:p>
        </p:txBody>
      </p:sp>
      <p:sp>
        <p:nvSpPr>
          <p:cNvPr id="961" name="Google Shape;961;p9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2" name="Google Shape;962;p9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963" name="Google Shape;963;p9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64" name="Google Shape;964;p9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Julio Batista</a:t>
            </a:r>
            <a:endParaRPr/>
          </a:p>
        </p:txBody>
      </p:sp>
      <p:sp>
        <p:nvSpPr>
          <p:cNvPr id="965" name="Google Shape;965;p9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Peco Insurance LLC +1</a:t>
            </a:r>
            <a:endParaRPr/>
          </a:p>
        </p:txBody>
      </p:sp>
      <p:sp>
        <p:nvSpPr>
          <p:cNvPr id="966" name="Google Shape;966;p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169</a:t>
            </a:r>
            <a:endParaRPr/>
          </a:p>
        </p:txBody>
      </p:sp>
      <p:sp>
        <p:nvSpPr>
          <p:cNvPr id="967" name="Google Shape;967;p9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968" name="Google Shape;968;p9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13.0%</a:t>
            </a:r>
            <a:endParaRPr/>
          </a:p>
        </p:txBody>
      </p:sp>
      <p:sp>
        <p:nvSpPr>
          <p:cNvPr id="969" name="Google Shape;969;p9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70" name="Google Shape;970;p9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9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Harold Shealy</a:t>
            </a:r>
            <a:endParaRPr/>
          </a:p>
        </p:txBody>
      </p:sp>
      <p:sp>
        <p:nvSpPr>
          <p:cNvPr id="972" name="Google Shape;972;p9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Marble City Insurance</a:t>
            </a:r>
            <a:endParaRPr/>
          </a:p>
        </p:txBody>
      </p:sp>
      <p:sp>
        <p:nvSpPr>
          <p:cNvPr id="973" name="Google Shape;973;p9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149</a:t>
            </a:r>
            <a:endParaRPr/>
          </a:p>
        </p:txBody>
      </p:sp>
      <p:sp>
        <p:nvSpPr>
          <p:cNvPr id="974" name="Google Shape;974;p9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75" name="Google Shape;975;p9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976" name="Google Shape;976;p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77" name="Google Shape;977;p9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Idris Gani</a:t>
            </a:r>
            <a:endParaRPr/>
          </a:p>
        </p:txBody>
      </p:sp>
      <p:sp>
        <p:nvSpPr>
          <p:cNvPr id="978" name="Google Shape;978;p9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Talis Insurance Group, Inc</a:t>
            </a:r>
            <a:endParaRPr/>
          </a:p>
        </p:txBody>
      </p:sp>
      <p:sp>
        <p:nvSpPr>
          <p:cNvPr id="979" name="Google Shape;979;p9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</p:txBody>
      </p:sp>
      <p:sp>
        <p:nvSpPr>
          <p:cNvPr id="980" name="Google Shape;980;p9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81" name="Google Shape;981;p9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7.8%</a:t>
            </a:r>
            <a:endParaRPr/>
          </a:p>
        </p:txBody>
      </p:sp>
      <p:sp>
        <p:nvSpPr>
          <p:cNvPr id="982" name="Google Shape;982;p9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83" name="Google Shape;983;p9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" name="Google Shape;984;p9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Keteline Bonhomme</a:t>
            </a:r>
            <a:endParaRPr/>
          </a:p>
        </p:txBody>
      </p:sp>
      <p:sp>
        <p:nvSpPr>
          <p:cNvPr id="985" name="Google Shape;985;p9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986" name="Google Shape;986;p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118</a:t>
            </a:r>
            <a:endParaRPr/>
          </a:p>
        </p:txBody>
      </p:sp>
      <p:sp>
        <p:nvSpPr>
          <p:cNvPr id="987" name="Google Shape;987;p9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88" name="Google Shape;988;p9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</p:txBody>
      </p:sp>
      <p:sp>
        <p:nvSpPr>
          <p:cNvPr id="989" name="Google Shape;989;p9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90" name="Google Shape;990;p9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Kanwaljeet Saluja</a:t>
            </a:r>
            <a:endParaRPr/>
          </a:p>
        </p:txBody>
      </p:sp>
      <p:sp>
        <p:nvSpPr>
          <p:cNvPr id="991" name="Google Shape;991;p9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Stone Era Insurance Agency</a:t>
            </a:r>
            <a:endParaRPr/>
          </a:p>
        </p:txBody>
      </p:sp>
      <p:sp>
        <p:nvSpPr>
          <p:cNvPr id="992" name="Google Shape;992;p9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115</a:t>
            </a:r>
            <a:endParaRPr/>
          </a:p>
        </p:txBody>
      </p:sp>
      <p:sp>
        <p:nvSpPr>
          <p:cNvPr id="993" name="Google Shape;993;p9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94" name="Google Shape;994;p9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995" name="Google Shape;995;p9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96" name="Google Shape;996;p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7" name="Google Shape;997;p9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Kathy Macias</a:t>
            </a:r>
            <a:endParaRPr/>
          </a:p>
        </p:txBody>
      </p:sp>
      <p:sp>
        <p:nvSpPr>
          <p:cNvPr id="998" name="Google Shape;998;p9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999" name="Google Shape;999;p9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</a:t>
            </a:r>
            <a:endParaRPr/>
          </a:p>
        </p:txBody>
      </p:sp>
      <p:sp>
        <p:nvSpPr>
          <p:cNvPr id="1000" name="Google Shape;1000;p9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01" name="Google Shape;1001;p9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1.0%</a:t>
            </a:r>
            <a:endParaRPr/>
          </a:p>
        </p:txBody>
      </p:sp>
      <p:sp>
        <p:nvSpPr>
          <p:cNvPr id="1002" name="Google Shape;1002;p9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03" name="Google Shape;1003;p9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Jeremy Rybak</a:t>
            </a:r>
            <a:endParaRPr/>
          </a:p>
        </p:txBody>
      </p:sp>
      <p:sp>
        <p:nvSpPr>
          <p:cNvPr id="1004" name="Google Shape;1004;p9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005" name="Google Shape;1005;p9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</a:t>
            </a:r>
            <a:endParaRPr/>
          </a:p>
        </p:txBody>
      </p:sp>
      <p:sp>
        <p:nvSpPr>
          <p:cNvPr id="1006" name="Google Shape;1006;p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07" name="Google Shape;1007;p9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</a:t>
            </a:r>
            <a:endParaRPr/>
          </a:p>
        </p:txBody>
      </p:sp>
      <p:sp>
        <p:nvSpPr>
          <p:cNvPr id="1008" name="Google Shape;1008;p9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09" name="Google Shape;1009;p9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" name="Google Shape;1010;p9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Kathy Armond</a:t>
            </a:r>
            <a:endParaRPr/>
          </a:p>
        </p:txBody>
      </p:sp>
      <p:sp>
        <p:nvSpPr>
          <p:cNvPr id="1011" name="Google Shape;1011;p9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012" name="Google Shape;1012;p9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</a:t>
            </a:r>
            <a:endParaRPr/>
          </a:p>
        </p:txBody>
      </p:sp>
      <p:sp>
        <p:nvSpPr>
          <p:cNvPr id="1013" name="Google Shape;1013;p9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14" name="Google Shape;1014;p9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1015" name="Google Shape;1015;p9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16" name="Google Shape;1016;p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Ashley Marinez</a:t>
            </a:r>
            <a:endParaRPr/>
          </a:p>
        </p:txBody>
      </p:sp>
      <p:sp>
        <p:nvSpPr>
          <p:cNvPr id="1017" name="Google Shape;1017;p9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018" name="Google Shape;1018;p9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1019" name="Google Shape;1019;p9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20" name="Google Shape;1020;p9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1021" name="Google Shape;1021;p9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22" name="Google Shape;1022;p9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3" name="Google Shape;1023;p9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CONTINUED  —  Ranked 19–36</a:t>
            </a:r>
            <a:endParaRPr/>
          </a:p>
        </p:txBody>
      </p:sp>
      <p:sp>
        <p:nvSpPr>
          <p:cNvPr id="1024" name="Google Shape;1024;p9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1025" name="Google Shape;1025;p9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026" name="Google Shape;1026;p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27" name="Google Shape;1027;p9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28" name="Google Shape;1028;p9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1029" name="Google Shape;1029;p9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1030" name="Google Shape;1030;p9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1" name="Google Shape;1031;p9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2" name="Google Shape;1032;p9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Thomas Olin Woodard</a:t>
            </a:r>
            <a:endParaRPr/>
          </a:p>
        </p:txBody>
      </p:sp>
      <p:sp>
        <p:nvSpPr>
          <p:cNvPr id="1033" name="Google Shape;1033;p9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Woodard Agency Llc</a:t>
            </a:r>
            <a:endParaRPr/>
          </a:p>
        </p:txBody>
      </p:sp>
      <p:sp>
        <p:nvSpPr>
          <p:cNvPr id="1034" name="Google Shape;1034;p9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1035" name="Google Shape;1035;p9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36" name="Google Shape;1036;p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1037" name="Google Shape;1037;p9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38" name="Google Shape;1038;p9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Chad Muller</a:t>
            </a:r>
            <a:endParaRPr/>
          </a:p>
        </p:txBody>
      </p:sp>
      <p:sp>
        <p:nvSpPr>
          <p:cNvPr id="1039" name="Google Shape;1039;p9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040" name="Google Shape;1040;p9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91</a:t>
            </a:r>
            <a:endParaRPr/>
          </a:p>
        </p:txBody>
      </p:sp>
      <p:sp>
        <p:nvSpPr>
          <p:cNvPr id="1041" name="Google Shape;1041;p9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42" name="Google Shape;1042;p9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1043" name="Google Shape;1043;p9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44" name="Google Shape;1044;p9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5" name="Google Shape;1045;p9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Katharine Barrison</a:t>
            </a:r>
            <a:endParaRPr/>
          </a:p>
        </p:txBody>
      </p:sp>
      <p:sp>
        <p:nvSpPr>
          <p:cNvPr id="1046" name="Google Shape;1046;p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047" name="Google Shape;1047;p9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1048" name="Google Shape;1048;p9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9" name="Google Shape;1049;p9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50" name="Google Shape;1050;p9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51" name="Google Shape;1051;p9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Devin Link</a:t>
            </a:r>
            <a:endParaRPr/>
          </a:p>
        </p:txBody>
      </p:sp>
      <p:sp>
        <p:nvSpPr>
          <p:cNvPr id="1052" name="Google Shape;1052;p9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925 Partners, Llc</a:t>
            </a:r>
            <a:endParaRPr/>
          </a:p>
        </p:txBody>
      </p:sp>
      <p:sp>
        <p:nvSpPr>
          <p:cNvPr id="1053" name="Google Shape;1053;p9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</a:t>
            </a:r>
            <a:endParaRPr/>
          </a:p>
        </p:txBody>
      </p:sp>
      <p:sp>
        <p:nvSpPr>
          <p:cNvPr id="1054" name="Google Shape;1054;p9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55" name="Google Shape;1055;p9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1056" name="Google Shape;1056;p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57" name="Google Shape;1057;p9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8" name="Google Shape;1058;p9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Kasim Goluab</a:t>
            </a:r>
            <a:endParaRPr/>
          </a:p>
        </p:txBody>
      </p:sp>
      <p:sp>
        <p:nvSpPr>
          <p:cNvPr id="1059" name="Google Shape;1059;p9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060" name="Google Shape;1060;p9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1061" name="Google Shape;1061;p9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62" name="Google Shape;1062;p9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14.5%</a:t>
            </a:r>
            <a:endParaRPr/>
          </a:p>
        </p:txBody>
      </p:sp>
      <p:sp>
        <p:nvSpPr>
          <p:cNvPr id="1063" name="Google Shape;1063;p9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64" name="Google Shape;1064;p9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Brent Hardin</a:t>
            </a:r>
            <a:endParaRPr/>
          </a:p>
        </p:txBody>
      </p:sp>
      <p:sp>
        <p:nvSpPr>
          <p:cNvPr id="1065" name="Google Shape;1065;p9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PMHLP LLC DBA Coverboxx</a:t>
            </a:r>
            <a:endParaRPr/>
          </a:p>
        </p:txBody>
      </p:sp>
      <p:sp>
        <p:nvSpPr>
          <p:cNvPr id="1066" name="Google Shape;1066;p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1067" name="Google Shape;1067;p9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68" name="Google Shape;1068;p9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1069" name="Google Shape;1069;p9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70" name="Google Shape;1070;p9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1" name="Google Shape;1071;p9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Tracy Gough</a:t>
            </a:r>
            <a:endParaRPr/>
          </a:p>
        </p:txBody>
      </p:sp>
      <p:sp>
        <p:nvSpPr>
          <p:cNvPr id="1072" name="Google Shape;1072;p9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Marble City Insurance</a:t>
            </a:r>
            <a:endParaRPr/>
          </a:p>
        </p:txBody>
      </p:sp>
      <p:sp>
        <p:nvSpPr>
          <p:cNvPr id="1073" name="Google Shape;1073;p9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1074" name="Google Shape;1074;p9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75" name="Google Shape;1075;p9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6.3%</a:t>
            </a:r>
            <a:endParaRPr/>
          </a:p>
        </p:txBody>
      </p:sp>
      <p:sp>
        <p:nvSpPr>
          <p:cNvPr id="1076" name="Google Shape;1076;p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77" name="Google Shape;1077;p9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Zachary Flowers</a:t>
            </a:r>
            <a:endParaRPr/>
          </a:p>
        </p:txBody>
      </p:sp>
      <p:sp>
        <p:nvSpPr>
          <p:cNvPr id="1078" name="Google Shape;1078;p9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Waypoint Agency LLC</a:t>
            </a:r>
            <a:endParaRPr/>
          </a:p>
        </p:txBody>
      </p:sp>
      <p:sp>
        <p:nvSpPr>
          <p:cNvPr id="1079" name="Google Shape;1079;p9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1080" name="Google Shape;1080;p9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81" name="Google Shape;1081;p9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2.5%</a:t>
            </a:r>
            <a:endParaRPr/>
          </a:p>
        </p:txBody>
      </p:sp>
      <p:sp>
        <p:nvSpPr>
          <p:cNvPr id="1082" name="Google Shape;1082;p9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83" name="Google Shape;1083;p9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4" name="Google Shape;1084;p9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Olga Conev</a:t>
            </a:r>
            <a:endParaRPr/>
          </a:p>
        </p:txBody>
      </p:sp>
      <p:sp>
        <p:nvSpPr>
          <p:cNvPr id="1085" name="Google Shape;1085;p9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Five Star Insurance Services I</a:t>
            </a:r>
            <a:endParaRPr/>
          </a:p>
        </p:txBody>
      </p:sp>
      <p:sp>
        <p:nvSpPr>
          <p:cNvPr id="1086" name="Google Shape;1086;p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</a:t>
            </a:r>
            <a:endParaRPr/>
          </a:p>
        </p:txBody>
      </p:sp>
      <p:sp>
        <p:nvSpPr>
          <p:cNvPr id="1087" name="Google Shape;1087;p9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88" name="Google Shape;1088;p9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1089" name="Google Shape;1089;p9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90" name="Google Shape;1090;p9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Natalie Soto</a:t>
            </a:r>
            <a:endParaRPr/>
          </a:p>
        </p:txBody>
      </p:sp>
      <p:sp>
        <p:nvSpPr>
          <p:cNvPr id="1091" name="Google Shape;1091;p9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092" name="Google Shape;1092;p9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1093" name="Google Shape;1093;p9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4" name="Google Shape;1094;p9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5" name="Google Shape;1095;p9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96" name="Google Shape;1096;p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7" name="Google Shape;1097;p9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Merryl Gerhardt</a:t>
            </a:r>
            <a:endParaRPr/>
          </a:p>
        </p:txBody>
      </p:sp>
      <p:sp>
        <p:nvSpPr>
          <p:cNvPr id="1098" name="Google Shape;1098;p9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099" name="Google Shape;1099;p9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1100" name="Google Shape;1100;p9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101" name="Google Shape;1101;p9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7.0%</a:t>
            </a:r>
            <a:endParaRPr/>
          </a:p>
        </p:txBody>
      </p:sp>
      <p:sp>
        <p:nvSpPr>
          <p:cNvPr id="1102" name="Google Shape;1102;p9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03" name="Google Shape;1103;p9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Mika Leone-Pettit</a:t>
            </a:r>
            <a:endParaRPr/>
          </a:p>
        </p:txBody>
      </p:sp>
      <p:sp>
        <p:nvSpPr>
          <p:cNvPr id="1104" name="Google Shape;1104;p9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1105" name="Google Shape;1105;p9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1106" name="Google Shape;1106;p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107" name="Google Shape;1107;p9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32.9%</a:t>
            </a:r>
            <a:endParaRPr/>
          </a:p>
        </p:txBody>
      </p:sp>
      <p:sp>
        <p:nvSpPr>
          <p:cNvPr id="1108" name="Google Shape;1108;p9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09" name="Google Shape;1109;p9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0" name="Google Shape;1110;p9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Luis Reyes</a:t>
            </a:r>
            <a:endParaRPr/>
          </a:p>
        </p:txBody>
      </p:sp>
      <p:sp>
        <p:nvSpPr>
          <p:cNvPr id="1111" name="Google Shape;1111;p9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Independence Insurance Agency </a:t>
            </a:r>
            <a:endParaRPr/>
          </a:p>
        </p:txBody>
      </p:sp>
      <p:sp>
        <p:nvSpPr>
          <p:cNvPr id="1112" name="Google Shape;1112;p9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1113" name="Google Shape;1113;p9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14" name="Google Shape;1114;p9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1115" name="Google Shape;1115;p9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16" name="Google Shape;1116;p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Jesselyn Kennedy</a:t>
            </a:r>
            <a:endParaRPr/>
          </a:p>
        </p:txBody>
      </p:sp>
      <p:sp>
        <p:nvSpPr>
          <p:cNvPr id="1117" name="Google Shape;1117;p9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118" name="Google Shape;1118;p9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1119" name="Google Shape;1119;p9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20" name="Google Shape;1120;p9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6.3%</a:t>
            </a:r>
            <a:endParaRPr/>
          </a:p>
        </p:txBody>
      </p:sp>
      <p:sp>
        <p:nvSpPr>
          <p:cNvPr id="1121" name="Google Shape;1121;p9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22" name="Google Shape;1122;p9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3" name="Google Shape;1123;p9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David Pederson</a:t>
            </a:r>
            <a:endParaRPr/>
          </a:p>
        </p:txBody>
      </p:sp>
      <p:sp>
        <p:nvSpPr>
          <p:cNvPr id="1124" name="Google Shape;1124;p9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125" name="Google Shape;1125;p9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1126" name="Google Shape;1126;p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127" name="Google Shape;1127;p9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14.5%</a:t>
            </a:r>
            <a:endParaRPr/>
          </a:p>
        </p:txBody>
      </p:sp>
      <p:sp>
        <p:nvSpPr>
          <p:cNvPr id="1128" name="Google Shape;1128;p9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29" name="Google Shape;1129;p9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Ninderjit Kaur</a:t>
            </a:r>
            <a:endParaRPr/>
          </a:p>
        </p:txBody>
      </p:sp>
      <p:sp>
        <p:nvSpPr>
          <p:cNvPr id="1130" name="Google Shape;1130;p9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Eagle Insurance Agency</a:t>
            </a:r>
            <a:endParaRPr/>
          </a:p>
        </p:txBody>
      </p:sp>
      <p:sp>
        <p:nvSpPr>
          <p:cNvPr id="1131" name="Google Shape;1131;p9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1132" name="Google Shape;1132;p9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133" name="Google Shape;1133;p9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17.7%</a:t>
            </a:r>
            <a:endParaRPr/>
          </a:p>
        </p:txBody>
      </p:sp>
      <p:sp>
        <p:nvSpPr>
          <p:cNvPr id="1134" name="Google Shape;1134;p9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35" name="Google Shape;1135;p9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6" name="Google Shape;1136;p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Michele Bell</a:t>
            </a:r>
            <a:endParaRPr/>
          </a:p>
        </p:txBody>
      </p:sp>
      <p:sp>
        <p:nvSpPr>
          <p:cNvPr id="1137" name="Google Shape;1137;p9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138" name="Google Shape;1138;p9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1139" name="Google Shape;1139;p9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40" name="Google Shape;1140;p9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41" name="Google Shape;1141;p9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42" name="Google Shape;1142;p9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 Greene</a:t>
            </a:r>
            <a:endParaRPr/>
          </a:p>
        </p:txBody>
      </p:sp>
      <p:sp>
        <p:nvSpPr>
          <p:cNvPr id="1143" name="Google Shape;1143;p9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144" name="Google Shape;1144;p9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1145" name="Google Shape;1145;p9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46" name="Google Shape;1146;p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</p:txBody>
      </p:sp>
      <p:sp>
        <p:nvSpPr>
          <p:cNvPr id="1147" name="Google Shape;1147;p9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48" name="Google Shape;1148;p9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Agent = broker_contact_user_id on submission record  |  Hit ratio = binds / subs  |  MoM = month-over-month  |  4 subs had no agent mapped (broker_contact_user_id not set)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2" name="Shape 1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Google Shape;1153;p1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4" name="Google Shape;1154;p10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Performers vs Underperformers</a:t>
            </a:r>
            <a:endParaRPr/>
          </a:p>
        </p:txBody>
      </p:sp>
      <p:sp>
        <p:nvSpPr>
          <p:cNvPr id="1155" name="Google Shape;1155;p1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Standouts and agencies needing attention</a:t>
            </a:r>
            <a:endParaRPr/>
          </a:p>
        </p:txBody>
      </p:sp>
      <p:sp>
        <p:nvSpPr>
          <p:cNvPr id="1156" name="Google Shape;1156;p10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7" name="Google Shape;1157;p10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EXCEEDING — Top 5</a:t>
            </a:r>
            <a:endParaRPr/>
          </a:p>
        </p:txBody>
      </p:sp>
      <p:sp>
        <p:nvSpPr>
          <p:cNvPr id="1158" name="Google Shape;1158;p10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9" name="Google Shape;1159;p10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— Bottom 5</a:t>
            </a:r>
            <a:endParaRPr/>
          </a:p>
        </p:txBody>
      </p:sp>
      <p:sp>
        <p:nvSpPr>
          <p:cNvPr id="1160" name="Google Shape;1160;p10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61" name="Google Shape;1161;p10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Preventty</a:t>
            </a:r>
            <a:endParaRPr/>
          </a:p>
        </p:txBody>
      </p:sp>
      <p:sp>
        <p:nvSpPr>
          <p:cNvPr id="1162" name="Google Shape;1162;p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$7,123,880  |  Subs 2906  |  Binds 241  |  HR 8.3%</a:t>
            </a:r>
            <a:endParaRPr/>
          </a:p>
        </p:txBody>
      </p:sp>
      <p:sp>
        <p:nvSpPr>
          <p:cNvPr id="1163" name="Google Shape;1163;p10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8.3% (portfolio avg: 4.7%)  |  $7,123,880 YTD GWP</a:t>
            </a:r>
            <a:endParaRPr/>
          </a:p>
        </p:txBody>
      </p:sp>
      <p:sp>
        <p:nvSpPr>
          <p:cNvPr id="1164" name="Google Shape;1164;p10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65" name="Google Shape;1165;p10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166" name="Google Shape;1166;p10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$2,636,218  |  Subs 5199  |  Binds 122  |  HR 2.3%</a:t>
            </a:r>
            <a:endParaRPr/>
          </a:p>
        </p:txBody>
      </p:sp>
      <p:sp>
        <p:nvSpPr>
          <p:cNvPr id="1167" name="Google Shape;1167;p10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$2,636,218 YTD GWP  |  122 binds in Q1</a:t>
            </a:r>
            <a:endParaRPr/>
          </a:p>
        </p:txBody>
      </p:sp>
      <p:sp>
        <p:nvSpPr>
          <p:cNvPr id="1168" name="Google Shape;1168;p10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69" name="Google Shape;1169;p10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1170" name="Google Shape;1170;p10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$2,178,610  |  Subs 496  |  Binds 74  |  HR 14.9%</a:t>
            </a:r>
            <a:endParaRPr/>
          </a:p>
        </p:txBody>
      </p:sp>
      <p:sp>
        <p:nvSpPr>
          <p:cNvPr id="1171" name="Google Shape;1171;p10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14.9% (portfolio avg: 4.7%)  |  $2,178,610 YTD GWP</a:t>
            </a:r>
            <a:endParaRPr/>
          </a:p>
        </p:txBody>
      </p:sp>
      <p:sp>
        <p:nvSpPr>
          <p:cNvPr id="1172" name="Google Shape;1172;p1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73" name="Google Shape;1173;p10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Insurance Group Inc</a:t>
            </a:r>
            <a:endParaRPr/>
          </a:p>
        </p:txBody>
      </p:sp>
      <p:sp>
        <p:nvSpPr>
          <p:cNvPr id="1174" name="Google Shape;1174;p10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$1,332,127  |  Subs 1393  |  Binds 45  |  HR 3.2%</a:t>
            </a:r>
            <a:endParaRPr/>
          </a:p>
        </p:txBody>
      </p:sp>
      <p:sp>
        <p:nvSpPr>
          <p:cNvPr id="1175" name="Google Shape;1175;p10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$1,332,127 YTD GWP  |  45 binds in Q1</a:t>
            </a:r>
            <a:endParaRPr/>
          </a:p>
        </p:txBody>
      </p:sp>
      <p:sp>
        <p:nvSpPr>
          <p:cNvPr id="1176" name="Google Shape;1176;p10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77" name="Google Shape;1177;p10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178" name="Google Shape;1178;p10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$666,285  |  Subs 747  |  Binds 18  |  HR 2.4%</a:t>
            </a:r>
            <a:endParaRPr/>
          </a:p>
        </p:txBody>
      </p:sp>
      <p:sp>
        <p:nvSpPr>
          <p:cNvPr id="1179" name="Google Shape;1179;p10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$666,285 YTD GWP  |  18 binds in Q1</a:t>
            </a:r>
            <a:endParaRPr/>
          </a:p>
        </p:txBody>
      </p:sp>
      <p:sp>
        <p:nvSpPr>
          <p:cNvPr id="1180" name="Google Shape;1180;p10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81" name="Google Shape;1181;p10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COASTAL TRUCKING INSURANCE LLC</a:t>
            </a:r>
            <a:endParaRPr/>
          </a:p>
        </p:txBody>
      </p:sp>
      <p:sp>
        <p:nvSpPr>
          <p:cNvPr id="1182" name="Google Shape;1182;p1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$43,119  |  Subs 277  |  Binds 4  |  HR 1.4%</a:t>
            </a:r>
            <a:endParaRPr/>
          </a:p>
        </p:txBody>
      </p:sp>
      <p:sp>
        <p:nvSpPr>
          <p:cNvPr id="1183" name="Google Shape;1183;p10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only 1.4% on 277 subs  |  Cancellations are 157% of new business ($43,323 vs $27,571)</a:t>
            </a:r>
            <a:endParaRPr/>
          </a:p>
        </p:txBody>
      </p:sp>
      <p:sp>
        <p:nvSpPr>
          <p:cNvPr id="1184" name="Google Shape;1184;p10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85" name="Google Shape;1185;p10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Peco Insurance LLC</a:t>
            </a:r>
            <a:endParaRPr/>
          </a:p>
        </p:txBody>
      </p:sp>
      <p:sp>
        <p:nvSpPr>
          <p:cNvPr id="1186" name="Google Shape;1186;p10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$351,731  |  Subs 166  |  Binds 22  |  HR 13.3%</a:t>
            </a:r>
            <a:endParaRPr/>
          </a:p>
        </p:txBody>
      </p:sp>
      <p:sp>
        <p:nvSpPr>
          <p:cNvPr id="1187" name="Google Shape;1187;p10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are 317% of new business ($261,730 vs $82,561)  |  Submissions dropped 55% MoM (31 -&gt; 14)</a:t>
            </a:r>
            <a:endParaRPr/>
          </a:p>
        </p:txBody>
      </p:sp>
      <p:sp>
        <p:nvSpPr>
          <p:cNvPr id="1188" name="Google Shape;1188;p10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89" name="Google Shape;1189;p10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Interglobal Insurance Company</a:t>
            </a:r>
            <a:endParaRPr/>
          </a:p>
        </p:txBody>
      </p:sp>
      <p:sp>
        <p:nvSpPr>
          <p:cNvPr id="1190" name="Google Shape;1190;p10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$915  |  Subs 174  |  Binds 1  |  HR 0.6%</a:t>
            </a:r>
            <a:endParaRPr/>
          </a:p>
        </p:txBody>
      </p:sp>
      <p:sp>
        <p:nvSpPr>
          <p:cNvPr id="1191" name="Google Shape;1191;p10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only 0.6% on 174 subs</a:t>
            </a:r>
            <a:endParaRPr/>
          </a:p>
        </p:txBody>
      </p:sp>
      <p:sp>
        <p:nvSpPr>
          <p:cNvPr id="1192" name="Google Shape;1192;p1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93" name="Google Shape;1193;p10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Risk Management Group, Inc</a:t>
            </a:r>
            <a:endParaRPr/>
          </a:p>
        </p:txBody>
      </p:sp>
      <p:sp>
        <p:nvSpPr>
          <p:cNvPr id="1194" name="Google Shape;1194;p10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$-6,605  |  Subs 14  |  Binds 0  |  HR 0.0%</a:t>
            </a:r>
            <a:endParaRPr/>
          </a:p>
        </p:txBody>
      </p:sp>
      <p:sp>
        <p:nvSpPr>
          <p:cNvPr id="1195" name="Google Shape;1195;p10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submissions with 0 binds - zero conversion  |  Negative net written premium: $-6,605</a:t>
            </a:r>
            <a:endParaRPr/>
          </a:p>
        </p:txBody>
      </p:sp>
      <p:sp>
        <p:nvSpPr>
          <p:cNvPr id="1196" name="Google Shape;1196;p10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97" name="Google Shape;1197;p10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925 Partners, Llc</a:t>
            </a:r>
            <a:endParaRPr/>
          </a:p>
        </p:txBody>
      </p:sp>
      <p:sp>
        <p:nvSpPr>
          <p:cNvPr id="1198" name="Google Shape;1198;p10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$136,239  |  Subs 214  |  Binds 5  |  HR 2.3%</a:t>
            </a:r>
            <a:endParaRPr/>
          </a:p>
        </p:txBody>
      </p:sp>
      <p:sp>
        <p:nvSpPr>
          <p:cNvPr id="1199" name="Google Shape;1199;p10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only 2.3% on 214 subs  |  Cancellations are 100% of new business ($35,945 vs $36,080)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3" name="Shape 1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4" name="Google Shape;1204;p1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5" name="Google Shape;1205;p11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Agencies I Appointed — Ron Douglas</a:t>
            </a:r>
            <a:endParaRPr/>
          </a:p>
        </p:txBody>
      </p:sp>
      <p:sp>
        <p:nvSpPr>
          <p:cNvPr id="1206" name="Google Shape;1206;p1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4 progress  |  Q2 goal: 4 new producing agencies  |  Source: HubSpot Net New Agency / Activated Won</a:t>
            </a:r>
            <a:endParaRPr/>
          </a:p>
        </p:txBody>
      </p:sp>
      <p:sp>
        <p:nvSpPr>
          <p:cNvPr id="1207" name="Google Shape;1207;p11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of 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Q2 OKR 4 PROGRESS</a:t>
            </a:r>
            <a:endParaRPr/>
          </a:p>
        </p:txBody>
      </p:sp>
      <p:sp>
        <p:nvSpPr>
          <p:cNvPr id="1208" name="Google Shape;1208;p11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YTD</a:t>
            </a:r>
            <a:endParaRPr/>
          </a:p>
        </p:txBody>
      </p:sp>
      <p:sp>
        <p:nvSpPr>
          <p:cNvPr id="1209" name="Google Shape;1209;p11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SUB</a:t>
            </a:r>
            <a:endParaRPr/>
          </a:p>
        </p:txBody>
      </p:sp>
      <p:sp>
        <p:nvSpPr>
          <p:cNvPr id="1210" name="Google Shape;1210;p11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BIND</a:t>
            </a:r>
            <a:endParaRPr/>
          </a:p>
        </p:txBody>
      </p:sp>
      <p:sp>
        <p:nvSpPr>
          <p:cNvPr id="1211" name="Google Shape;1211;p11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SUBS POST-APPT</a:t>
            </a:r>
            <a:endParaRPr/>
          </a:p>
        </p:txBody>
      </p:sp>
      <p:sp>
        <p:nvSpPr>
          <p:cNvPr id="1212" name="Google Shape;1212;p11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Activation: 0/6 appointed agencies have submitted (0%)  •  0/6 have bound (0%)  •  Total bound: 0  •  Total GWP: $0</a:t>
            </a:r>
            <a:endParaRPr/>
          </a:p>
        </p:txBody>
      </p:sp>
      <p:sp>
        <p:nvSpPr>
          <p:cNvPr id="1213" name="Google Shape;1213;p11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4" name="Google Shape;1214;p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AGENCIES (newest first)</a:t>
            </a:r>
            <a:endParaRPr/>
          </a:p>
        </p:txBody>
      </p:sp>
      <p:sp>
        <p:nvSpPr>
          <p:cNvPr id="1215" name="Google Shape;1215;p11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216" name="Google Shape;1216;p11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</a:t>
            </a:r>
            <a:endParaRPr/>
          </a:p>
        </p:txBody>
      </p:sp>
      <p:sp>
        <p:nvSpPr>
          <p:cNvPr id="1217" name="Google Shape;1217;p11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18" name="Google Shape;1218;p11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Sub</a:t>
            </a:r>
            <a:endParaRPr/>
          </a:p>
        </p:txBody>
      </p:sp>
      <p:sp>
        <p:nvSpPr>
          <p:cNvPr id="1219" name="Google Shape;1219;p11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20" name="Google Shape;1220;p11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Bind</a:t>
            </a:r>
            <a:endParaRPr/>
          </a:p>
        </p:txBody>
      </p:sp>
      <p:sp>
        <p:nvSpPr>
          <p:cNvPr id="1221" name="Google Shape;1221;p11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222" name="Google Shape;1222;p11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3" name="Google Shape;1223;p11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Classic Truck Insurance</a:t>
            </a:r>
            <a:endParaRPr/>
          </a:p>
        </p:txBody>
      </p:sp>
      <p:sp>
        <p:nvSpPr>
          <p:cNvPr id="1224" name="Google Shape;1224;p1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2026-05-19</a:t>
            </a:r>
            <a:endParaRPr/>
          </a:p>
        </p:txBody>
      </p:sp>
      <p:sp>
        <p:nvSpPr>
          <p:cNvPr id="1225" name="Google Shape;1225;p11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26" name="Google Shape;1226;p11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27" name="Google Shape;1227;p11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28" name="Google Shape;1228;p11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29" name="Google Shape;1229;p11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0" name="Google Shape;1230;p11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Nastc Insurance Services, Llc</a:t>
            </a:r>
            <a:endParaRPr/>
          </a:p>
        </p:txBody>
      </p:sp>
      <p:sp>
        <p:nvSpPr>
          <p:cNvPr id="1231" name="Google Shape;1231;p11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2026-05-19</a:t>
            </a:r>
            <a:endParaRPr/>
          </a:p>
        </p:txBody>
      </p:sp>
      <p:sp>
        <p:nvSpPr>
          <p:cNvPr id="1232" name="Google Shape;1232;p11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33" name="Google Shape;1233;p11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4" name="Google Shape;1234;p1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35" name="Google Shape;1235;p11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6" name="Google Shape;1236;p11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7" name="Google Shape;1237;p11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8" name="Google Shape;1238;p11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Deal created/pending paperwork - The Associate</a:t>
            </a:r>
            <a:endParaRPr/>
          </a:p>
        </p:txBody>
      </p:sp>
      <p:sp>
        <p:nvSpPr>
          <p:cNvPr id="1239" name="Google Shape;1239;p11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2026-04-23</a:t>
            </a:r>
            <a:endParaRPr/>
          </a:p>
        </p:txBody>
      </p:sp>
      <p:sp>
        <p:nvSpPr>
          <p:cNvPr id="1240" name="Google Shape;1240;p11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1" name="Google Shape;1241;p11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2" name="Google Shape;1242;p11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3" name="Google Shape;1243;p11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4" name="Google Shape;1244;p1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5" name="Google Shape;1245;p11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deal received - 10K Insurance Services Inc</a:t>
            </a:r>
            <a:endParaRPr/>
          </a:p>
        </p:txBody>
      </p:sp>
      <p:sp>
        <p:nvSpPr>
          <p:cNvPr id="1246" name="Google Shape;1246;p11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2026-04-17</a:t>
            </a:r>
            <a:endParaRPr/>
          </a:p>
        </p:txBody>
      </p:sp>
      <p:sp>
        <p:nvSpPr>
          <p:cNvPr id="1247" name="Google Shape;1247;p11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8" name="Google Shape;1248;p11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9" name="Google Shape;1249;p11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50" name="Google Shape;1250;p11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1" name="Google Shape;1251;p11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2" name="Google Shape;1252;p11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3" name="Google Shape;1253;p11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Alvix Insurance Group</a:t>
            </a:r>
            <a:endParaRPr/>
          </a:p>
        </p:txBody>
      </p:sp>
      <p:sp>
        <p:nvSpPr>
          <p:cNvPr id="1254" name="Google Shape;1254;p1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2026-04-15</a:t>
            </a:r>
            <a:endParaRPr/>
          </a:p>
        </p:txBody>
      </p:sp>
      <p:sp>
        <p:nvSpPr>
          <p:cNvPr id="1255" name="Google Shape;1255;p11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56" name="Google Shape;1256;p11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7" name="Google Shape;1257;p11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58" name="Google Shape;1258;p11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9" name="Google Shape;1259;p11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0" name="Google Shape;1260;p11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Salter Insurance Agency</a:t>
            </a:r>
            <a:endParaRPr/>
          </a:p>
        </p:txBody>
      </p:sp>
      <p:sp>
        <p:nvSpPr>
          <p:cNvPr id="1261" name="Google Shape;1261;p11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2026-03-19</a:t>
            </a:r>
            <a:endParaRPr/>
          </a:p>
        </p:txBody>
      </p:sp>
      <p:sp>
        <p:nvSpPr>
          <p:cNvPr id="1262" name="Google Shape;1262;p11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63" name="Google Shape;1263;p11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4" name="Google Shape;1264;p1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65" name="Google Shape;1265;p11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6" name="Google Shape;1266;p11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7" name="Google Shape;1267;p11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4 source: HubSpot Net New Agency Prospect Pipeline · Activated Won stage · only 'Appointed - ' prefix deals count (matches BD Rep Scoreboard). BDMs scored on count vs goal of 4/quarter.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7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1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3" name="Google Shape;1273;p1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Assessment &amp; Priorities</a:t>
            </a:r>
            <a:endParaRPr/>
          </a:p>
        </p:txBody>
      </p:sp>
      <p:sp>
        <p:nvSpPr>
          <p:cNvPr id="1274" name="Google Shape;1274;p1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Ron Douglas Portfolio  |  Jan–May 2026  |  Strengths, gaps, and ranked action items</a:t>
            </a:r>
            <a:endParaRPr/>
          </a:p>
        </p:txBody>
      </p:sp>
      <p:sp>
        <p:nvSpPr>
          <p:cNvPr id="1275" name="Google Shape;1275;p12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6" name="Google Shape;1276;p12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277" name="Google Shape;1277;p12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78" name="Google Shape;1278;p12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(Usa Specialty Insurance/d, Insurance4truckers Llc, Valion Security Llc) drive $11,938,707 (70%) of portfolio YTD GWP</a:t>
            </a:r>
            <a:endParaRPr/>
          </a:p>
        </p:txBody>
      </p:sp>
      <p:sp>
        <p:nvSpPr>
          <p:cNvPr id="1279" name="Google Shape;1279;p12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80" name="Google Shape;1280;p12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hit ratios: Lynne Ernest Insuran (22.7%), Florida Property And (19.4%), Eagle Insurance Agen (17.7%)</a:t>
            </a:r>
            <a:endParaRPr/>
          </a:p>
        </p:txBody>
      </p:sp>
      <p:sp>
        <p:nvSpPr>
          <p:cNvPr id="1281" name="Google Shape;1281;p12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82" name="Google Shape;1282;p12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 agencies converting submissions to bound business in Jan–May 2026</a:t>
            </a:r>
            <a:endParaRPr/>
          </a:p>
        </p:txBody>
      </p:sp>
      <p:sp>
        <p:nvSpPr>
          <p:cNvPr id="1283" name="Google Shape;1283;p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84" name="Google Shape;1284;p12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13,697 total submissions across 34 active agencies</a:t>
            </a:r>
            <a:endParaRPr/>
          </a:p>
        </p:txBody>
      </p:sp>
      <p:sp>
        <p:nvSpPr>
          <p:cNvPr id="1285" name="Google Shape;1285;p12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6" name="Google Shape;1286;p12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- Areas for Improvement</a:t>
            </a:r>
            <a:endParaRPr/>
          </a:p>
        </p:txBody>
      </p:sp>
      <p:sp>
        <p:nvSpPr>
          <p:cNvPr id="1287" name="Google Shape;1287;p12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88" name="Google Shape;1288;p12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agencies submitting but 0 binds (26 subs): The Risk Management  (14), Durham Specialty Ins (12)</a:t>
            </a:r>
            <a:endParaRPr/>
          </a:p>
        </p:txBody>
      </p:sp>
      <p:sp>
        <p:nvSpPr>
          <p:cNvPr id="1289" name="Google Shape;1289;p12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90" name="Google Shape;1290;p12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hit ratios need coaching: Interglobal Insuranc (0.6%), COASTAL TRUCKING INS (1.4%), Prominent Services I (1.8%)</a:t>
            </a:r>
            <a:endParaRPr/>
          </a:p>
        </p:txBody>
      </p:sp>
      <p:sp>
        <p:nvSpPr>
          <p:cNvPr id="1291" name="Google Shape;1291;p12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92" name="Google Shape;1292;p12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Overall portfolio hit ratio 4.7% — below 5-8% target</a:t>
            </a:r>
            <a:endParaRPr/>
          </a:p>
        </p:txBody>
      </p:sp>
      <p:sp>
        <p:nvSpPr>
          <p:cNvPr id="1293" name="Google Shape;1293;p1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4" name="Google Shape;1294;p12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STRATEGIC PRIORITIES — Ranked by Estimated Impact</a:t>
            </a:r>
            <a:endParaRPr/>
          </a:p>
        </p:txBody>
      </p:sp>
      <p:sp>
        <p:nvSpPr>
          <p:cNvPr id="1295" name="Google Shape;1295;p1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296" name="Google Shape;1296;p12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Reduce Cancellation Rates</a:t>
            </a:r>
            <a:endParaRPr/>
          </a:p>
        </p:txBody>
      </p:sp>
      <p:sp>
        <p:nvSpPr>
          <p:cNvPr id="1297" name="Google Shape;1297;p12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 agencies with cancellations &gt;40% of new biz: Usa Specialty Insurance/d, Insurance4truckers Llc, Valion Security Llc. $7,359,900 total cancellations - investigate retention.</a:t>
            </a:r>
            <a:endParaRPr/>
          </a:p>
        </p:txBody>
      </p:sp>
      <p:sp>
        <p:nvSpPr>
          <p:cNvPr id="1298" name="Google Shape;1298;p12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299" name="Google Shape;1299;p12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Improve Low Hit Ratio Agencies</a:t>
            </a:r>
            <a:endParaRPr/>
          </a:p>
        </p:txBody>
      </p:sp>
      <p:sp>
        <p:nvSpPr>
          <p:cNvPr id="1300" name="Google Shape;1300;p12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agencies with 20+ subs but &lt;3% HR: Interglobal Insuranc (0.6%), COASTAL TRUCKING INS (1.4%), Prominent Services I (1.8%). Conduct submission quality training to lift conversion 2-3 points.</a:t>
            </a:r>
            <a:endParaRPr/>
          </a:p>
        </p:txBody>
      </p:sp>
      <p:sp>
        <p:nvSpPr>
          <p:cNvPr id="1301" name="Google Shape;1301;p1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302" name="Google Shape;1302;p12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Develop High-Volume Growth Candidates</a:t>
            </a:r>
            <a:endParaRPr/>
          </a:p>
        </p:txBody>
      </p:sp>
      <p:sp>
        <p:nvSpPr>
          <p:cNvPr id="1303" name="Google Shape;1303;p1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 agencies with 30+ subs and some binds but &lt;5% HR: Insurance4truckers L (5199s/122b), Prestige Internation (1393s/45b), Vantage Ins Llc (747s/18b). Small HR improvements on large volume = significant premium lift.</a:t>
            </a:r>
            <a:endParaRPr/>
          </a:p>
        </p:txBody>
      </p:sp>
      <p:sp>
        <p:nvSpPr>
          <p:cNvPr id="1304" name="Google Shape;1304;p12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305" name="Google Shape;1305;p1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Diversify Revenue Base</a:t>
            </a:r>
            <a:endParaRPr/>
          </a:p>
        </p:txBody>
      </p:sp>
      <p:sp>
        <p:nvSpPr>
          <p:cNvPr id="1306" name="Google Shape;1306;p12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agencies drive 70% of premium. Develop mid-tier: Prestige International In, Vantage Ins Llc, Insurance Planet. Target 25-50% growth each.</a:t>
            </a:r>
            <a:endParaRPr/>
          </a:p>
        </p:txBody>
      </p:sp>
      <p:sp>
        <p:nvSpPr>
          <p:cNvPr id="1307" name="Google Shape;1307;p12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308" name="Google Shape;1308;p12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Scale Top Performers</a:t>
            </a:r>
            <a:endParaRPr/>
          </a:p>
        </p:txBody>
      </p:sp>
      <p:sp>
        <p:nvSpPr>
          <p:cNvPr id="1309" name="Google Shape;1309;p12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Double down on high-converting agencies: Usa Specialty Insurance/d, Valion Security Llc, Insurance Planet. Increase submission volume 20% through marketing support and referral incentives.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13" name="Shape 1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Google Shape;1314;p1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5" name="Google Shape;1315;p1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Recently Bound Submissions</a:t>
            </a:r>
            <a:endParaRPr/>
          </a:p>
        </p:txBody>
      </p:sp>
      <p:sp>
        <p:nvSpPr>
          <p:cNvPr id="1316" name="Google Shape;1316;p1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Ron Douglas  |  Last 25 Bound Submissions  |  649 Total Bound in Portfolio</a:t>
            </a:r>
            <a:endParaRPr/>
          </a:p>
        </p:txBody>
      </p:sp>
      <p:sp>
        <p:nvSpPr>
          <p:cNvPr id="1317" name="Google Shape;1317;p13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#</a:t>
            </a:r>
            <a:endParaRPr/>
          </a:p>
        </p:txBody>
      </p:sp>
      <p:sp>
        <p:nvSpPr>
          <p:cNvPr id="1318" name="Google Shape;1318;p13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319" name="Google Shape;1319;p13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320" name="Google Shape;1320;p13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(Account)</a:t>
            </a:r>
            <a:endParaRPr/>
          </a:p>
        </p:txBody>
      </p:sp>
      <p:sp>
        <p:nvSpPr>
          <p:cNvPr id="1321" name="Google Shape;1321;p13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</a:t>
            </a:r>
            <a:endParaRPr/>
          </a:p>
        </p:txBody>
      </p:sp>
      <p:sp>
        <p:nvSpPr>
          <p:cNvPr id="1322" name="Google Shape;1322;p13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</a:t>
            </a:r>
            <a:endParaRPr/>
          </a:p>
        </p:txBody>
      </p:sp>
      <p:sp>
        <p:nvSpPr>
          <p:cNvPr id="1323" name="Google Shape;1323;p13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Date</a:t>
            </a:r>
            <a:endParaRPr/>
          </a:p>
        </p:txBody>
      </p:sp>
      <p:sp>
        <p:nvSpPr>
          <p:cNvPr id="1324" name="Google Shape;1324;p13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5" name="Google Shape;1325;p13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326" name="Google Shape;1326;p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252851754622</a:t>
            </a:r>
            <a:endParaRPr/>
          </a:p>
        </p:txBody>
      </p:sp>
      <p:sp>
        <p:nvSpPr>
          <p:cNvPr id="1327" name="Google Shape;1327;p13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328" name="Google Shape;1328;p13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MOTIVATED SERVICES LLC</a:t>
            </a:r>
            <a:endParaRPr/>
          </a:p>
        </p:txBody>
      </p:sp>
      <p:sp>
        <p:nvSpPr>
          <p:cNvPr id="1329" name="Google Shape;1329;p13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API_USER API_USER</a:t>
            </a:r>
            <a:endParaRPr/>
          </a:p>
        </p:txBody>
      </p:sp>
      <p:sp>
        <p:nvSpPr>
          <p:cNvPr id="1330" name="Google Shape;1330;p13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331" name="Google Shape;1331;p13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32" name="Google Shape;1332;p13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3" name="Google Shape;1333;p13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334" name="Google Shape;1334;p13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260681629706</a:t>
            </a:r>
            <a:endParaRPr/>
          </a:p>
        </p:txBody>
      </p:sp>
      <p:sp>
        <p:nvSpPr>
          <p:cNvPr id="1335" name="Google Shape;1335;p13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336" name="Google Shape;1336;p1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MEDINA CONSTRUCTION AUTO REPAIR </a:t>
            </a:r>
            <a:endParaRPr/>
          </a:p>
        </p:txBody>
      </p:sp>
      <p:sp>
        <p:nvSpPr>
          <p:cNvPr id="1337" name="Google Shape;1337;p13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Kayla Sauer</a:t>
            </a:r>
            <a:endParaRPr/>
          </a:p>
        </p:txBody>
      </p:sp>
      <p:sp>
        <p:nvSpPr>
          <p:cNvPr id="1338" name="Google Shape;1338;p13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$23,900</a:t>
            </a:r>
            <a:endParaRPr/>
          </a:p>
        </p:txBody>
      </p:sp>
      <p:sp>
        <p:nvSpPr>
          <p:cNvPr id="1339" name="Google Shape;1339;p13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40" name="Google Shape;1340;p13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341" name="Google Shape;1341;p13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262308309359</a:t>
            </a:r>
            <a:endParaRPr/>
          </a:p>
        </p:txBody>
      </p:sp>
      <p:sp>
        <p:nvSpPr>
          <p:cNvPr id="1342" name="Google Shape;1342;p13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343" name="Google Shape;1343;p13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BLACK HAT EXPRESS LLC</a:t>
            </a:r>
            <a:endParaRPr/>
          </a:p>
        </p:txBody>
      </p:sp>
      <p:sp>
        <p:nvSpPr>
          <p:cNvPr id="1344" name="Google Shape;1344;p13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Zackary Artz</a:t>
            </a:r>
            <a:endParaRPr/>
          </a:p>
        </p:txBody>
      </p:sp>
      <p:sp>
        <p:nvSpPr>
          <p:cNvPr id="1345" name="Google Shape;1345;p13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346" name="Google Shape;1346;p1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47" name="Google Shape;1347;p13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8" name="Google Shape;1348;p13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349" name="Google Shape;1349;p13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250213229115</a:t>
            </a:r>
            <a:endParaRPr/>
          </a:p>
        </p:txBody>
      </p:sp>
      <p:sp>
        <p:nvSpPr>
          <p:cNvPr id="1350" name="Google Shape;1350;p13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351" name="Google Shape;1351;p13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AMFEDERAL TRUKING LLC</a:t>
            </a:r>
            <a:endParaRPr/>
          </a:p>
        </p:txBody>
      </p:sp>
      <p:sp>
        <p:nvSpPr>
          <p:cNvPr id="1352" name="Google Shape;1352;p13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1353" name="Google Shape;1353;p13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$49,771</a:t>
            </a:r>
            <a:endParaRPr/>
          </a:p>
        </p:txBody>
      </p:sp>
      <p:sp>
        <p:nvSpPr>
          <p:cNvPr id="1354" name="Google Shape;1354;p13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55" name="Google Shape;1355;p13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356" name="Google Shape;1356;p1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263545065430</a:t>
            </a:r>
            <a:endParaRPr/>
          </a:p>
        </p:txBody>
      </p:sp>
      <p:sp>
        <p:nvSpPr>
          <p:cNvPr id="1357" name="Google Shape;1357;p13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358" name="Google Shape;1358;p13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BIDO ENTERPRISES INC</a:t>
            </a:r>
            <a:endParaRPr/>
          </a:p>
        </p:txBody>
      </p:sp>
      <p:sp>
        <p:nvSpPr>
          <p:cNvPr id="1359" name="Google Shape;1359;p13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1360" name="Google Shape;1360;p13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$19,627</a:t>
            </a:r>
            <a:endParaRPr/>
          </a:p>
        </p:txBody>
      </p:sp>
      <p:sp>
        <p:nvSpPr>
          <p:cNvPr id="1361" name="Google Shape;1361;p13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62" name="Google Shape;1362;p13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3" name="Google Shape;1363;p13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364" name="Google Shape;1364;p13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259337432949</a:t>
            </a:r>
            <a:endParaRPr/>
          </a:p>
        </p:txBody>
      </p:sp>
      <p:sp>
        <p:nvSpPr>
          <p:cNvPr id="1365" name="Google Shape;1365;p13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366" name="Google Shape;1366;p1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AXEL TRANS CORP</a:t>
            </a:r>
            <a:endParaRPr/>
          </a:p>
        </p:txBody>
      </p:sp>
      <p:sp>
        <p:nvSpPr>
          <p:cNvPr id="1367" name="Google Shape;1367;p13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1368" name="Google Shape;1368;p13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$22,686</a:t>
            </a:r>
            <a:endParaRPr/>
          </a:p>
        </p:txBody>
      </p:sp>
      <p:sp>
        <p:nvSpPr>
          <p:cNvPr id="1369" name="Google Shape;1369;p13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70" name="Google Shape;1370;p13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371" name="Google Shape;1371;p13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264626774360</a:t>
            </a:r>
            <a:endParaRPr/>
          </a:p>
        </p:txBody>
      </p:sp>
      <p:sp>
        <p:nvSpPr>
          <p:cNvPr id="1372" name="Google Shape;1372;p13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373" name="Google Shape;1373;p13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REYVER TRANSPORT LLC</a:t>
            </a:r>
            <a:endParaRPr/>
          </a:p>
        </p:txBody>
      </p:sp>
      <p:sp>
        <p:nvSpPr>
          <p:cNvPr id="1374" name="Google Shape;1374;p13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1375" name="Google Shape;1375;p13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$23,364</a:t>
            </a:r>
            <a:endParaRPr/>
          </a:p>
        </p:txBody>
      </p:sp>
      <p:sp>
        <p:nvSpPr>
          <p:cNvPr id="1376" name="Google Shape;1376;p1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77" name="Google Shape;1377;p13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8" name="Google Shape;1378;p13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379" name="Google Shape;1379;p13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254198521495</a:t>
            </a:r>
            <a:endParaRPr/>
          </a:p>
        </p:txBody>
      </p:sp>
      <p:sp>
        <p:nvSpPr>
          <p:cNvPr id="1380" name="Google Shape;1380;p13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1381" name="Google Shape;1381;p13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UPPER CLASS TRANSIT LLC</a:t>
            </a:r>
            <a:endParaRPr/>
          </a:p>
        </p:txBody>
      </p:sp>
      <p:sp>
        <p:nvSpPr>
          <p:cNvPr id="1382" name="Google Shape;1382;p13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Mika Leone-Pettit</a:t>
            </a:r>
            <a:endParaRPr/>
          </a:p>
        </p:txBody>
      </p:sp>
      <p:sp>
        <p:nvSpPr>
          <p:cNvPr id="1383" name="Google Shape;1383;p13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$55,462</a:t>
            </a:r>
            <a:endParaRPr/>
          </a:p>
        </p:txBody>
      </p:sp>
      <p:sp>
        <p:nvSpPr>
          <p:cNvPr id="1384" name="Google Shape;1384;p13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85" name="Google Shape;1385;p13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386" name="Google Shape;1386;p1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269163795834</a:t>
            </a:r>
            <a:endParaRPr/>
          </a:p>
        </p:txBody>
      </p:sp>
      <p:sp>
        <p:nvSpPr>
          <p:cNvPr id="1387" name="Google Shape;1387;p13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1388" name="Google Shape;1388;p13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CASTANO CONSTRUCTION LLC</a:t>
            </a:r>
            <a:endParaRPr/>
          </a:p>
        </p:txBody>
      </p:sp>
      <p:sp>
        <p:nvSpPr>
          <p:cNvPr id="1389" name="Google Shape;1389;p13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Mary Davis-Spivak</a:t>
            </a:r>
            <a:endParaRPr/>
          </a:p>
        </p:txBody>
      </p:sp>
      <p:sp>
        <p:nvSpPr>
          <p:cNvPr id="1390" name="Google Shape;1390;p13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$8,567</a:t>
            </a:r>
            <a:endParaRPr/>
          </a:p>
        </p:txBody>
      </p:sp>
      <p:sp>
        <p:nvSpPr>
          <p:cNvPr id="1391" name="Google Shape;1391;p13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92" name="Google Shape;1392;p13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3" name="Google Shape;1393;p13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394" name="Google Shape;1394;p13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258223761158</a:t>
            </a:r>
            <a:endParaRPr/>
          </a:p>
        </p:txBody>
      </p:sp>
      <p:sp>
        <p:nvSpPr>
          <p:cNvPr id="1395" name="Google Shape;1395;p13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Eagle Insurance Agency</a:t>
            </a:r>
            <a:endParaRPr/>
          </a:p>
        </p:txBody>
      </p:sp>
      <p:sp>
        <p:nvSpPr>
          <p:cNvPr id="1396" name="Google Shape;1396;p1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DGRD LOGISTICS INC</a:t>
            </a:r>
            <a:endParaRPr/>
          </a:p>
        </p:txBody>
      </p:sp>
      <p:sp>
        <p:nvSpPr>
          <p:cNvPr id="1397" name="Google Shape;1397;p13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Ninderjit Kaur</a:t>
            </a:r>
            <a:endParaRPr/>
          </a:p>
        </p:txBody>
      </p:sp>
      <p:sp>
        <p:nvSpPr>
          <p:cNvPr id="1398" name="Google Shape;1398;p13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$11,447</a:t>
            </a:r>
            <a:endParaRPr/>
          </a:p>
        </p:txBody>
      </p:sp>
      <p:sp>
        <p:nvSpPr>
          <p:cNvPr id="1399" name="Google Shape;1399;p13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400" name="Google Shape;1400;p13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401" name="Google Shape;1401;p13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267186013899</a:t>
            </a:r>
            <a:endParaRPr/>
          </a:p>
        </p:txBody>
      </p:sp>
      <p:sp>
        <p:nvSpPr>
          <p:cNvPr id="1402" name="Google Shape;1402;p13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Planet</a:t>
            </a:r>
            <a:endParaRPr/>
          </a:p>
        </p:txBody>
      </p:sp>
      <p:sp>
        <p:nvSpPr>
          <p:cNvPr id="1403" name="Google Shape;1403;p13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 LINE LOGISTICS INC</a:t>
            </a:r>
            <a:endParaRPr/>
          </a:p>
        </p:txBody>
      </p:sp>
      <p:sp>
        <p:nvSpPr>
          <p:cNvPr id="1404" name="Google Shape;1404;p13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Vladimir Tesler</a:t>
            </a:r>
            <a:endParaRPr/>
          </a:p>
        </p:txBody>
      </p:sp>
      <p:sp>
        <p:nvSpPr>
          <p:cNvPr id="1405" name="Google Shape;1405;p13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$10,448</a:t>
            </a:r>
            <a:endParaRPr/>
          </a:p>
        </p:txBody>
      </p:sp>
      <p:sp>
        <p:nvSpPr>
          <p:cNvPr id="1406" name="Google Shape;1406;p1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407" name="Google Shape;1407;p13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8" name="Google Shape;1408;p13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409" name="Google Shape;1409;p13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242091730075</a:t>
            </a:r>
            <a:endParaRPr/>
          </a:p>
        </p:txBody>
      </p:sp>
      <p:sp>
        <p:nvSpPr>
          <p:cNvPr id="1410" name="Google Shape;1410;p13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411" name="Google Shape;1411;p13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JARZ TRANSPORT LLC</a:t>
            </a:r>
            <a:endParaRPr/>
          </a:p>
        </p:txBody>
      </p:sp>
      <p:sp>
        <p:nvSpPr>
          <p:cNvPr id="1412" name="Google Shape;1412;p13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Thomas E Vogel</a:t>
            </a:r>
            <a:endParaRPr/>
          </a:p>
        </p:txBody>
      </p:sp>
      <p:sp>
        <p:nvSpPr>
          <p:cNvPr id="1413" name="Google Shape;1413;p13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$29,686</a:t>
            </a:r>
            <a:endParaRPr/>
          </a:p>
        </p:txBody>
      </p:sp>
      <p:sp>
        <p:nvSpPr>
          <p:cNvPr id="1414" name="Google Shape;1414;p13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415" name="Google Shape;1415;p13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416" name="Google Shape;1416;p1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252498049551</a:t>
            </a:r>
            <a:endParaRPr/>
          </a:p>
        </p:txBody>
      </p:sp>
      <p:sp>
        <p:nvSpPr>
          <p:cNvPr id="1417" name="Google Shape;1417;p13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418" name="Google Shape;1418;p13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AB FREIGHT LLC</a:t>
            </a:r>
            <a:endParaRPr/>
          </a:p>
        </p:txBody>
      </p:sp>
      <p:sp>
        <p:nvSpPr>
          <p:cNvPr id="1419" name="Google Shape;1419;p13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Chad Muller</a:t>
            </a:r>
            <a:endParaRPr/>
          </a:p>
        </p:txBody>
      </p:sp>
      <p:sp>
        <p:nvSpPr>
          <p:cNvPr id="1420" name="Google Shape;1420;p13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421" name="Google Shape;1421;p13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422" name="Google Shape;1422;p13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3" name="Google Shape;1423;p13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424" name="Google Shape;1424;p13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257079399182</a:t>
            </a:r>
            <a:endParaRPr/>
          </a:p>
        </p:txBody>
      </p:sp>
      <p:sp>
        <p:nvSpPr>
          <p:cNvPr id="1425" name="Google Shape;1425;p13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426" name="Google Shape;1426;p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NBI CARGO LLC</a:t>
            </a:r>
            <a:endParaRPr/>
          </a:p>
        </p:txBody>
      </p:sp>
      <p:sp>
        <p:nvSpPr>
          <p:cNvPr id="1427" name="Google Shape;1427;p13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David Brady</a:t>
            </a:r>
            <a:endParaRPr/>
          </a:p>
        </p:txBody>
      </p:sp>
      <p:sp>
        <p:nvSpPr>
          <p:cNvPr id="1428" name="Google Shape;1428;p13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$14,787</a:t>
            </a:r>
            <a:endParaRPr/>
          </a:p>
        </p:txBody>
      </p:sp>
      <p:sp>
        <p:nvSpPr>
          <p:cNvPr id="1429" name="Google Shape;1429;p13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430" name="Google Shape;1430;p13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431" name="Google Shape;1431;p13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262647447285</a:t>
            </a:r>
            <a:endParaRPr/>
          </a:p>
        </p:txBody>
      </p:sp>
      <p:sp>
        <p:nvSpPr>
          <p:cNvPr id="1432" name="Google Shape;1432;p13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433" name="Google Shape;1433;p13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Joker Trucking LLC</a:t>
            </a:r>
            <a:endParaRPr/>
          </a:p>
        </p:txBody>
      </p:sp>
      <p:sp>
        <p:nvSpPr>
          <p:cNvPr id="1434" name="Google Shape;1434;p13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API_USER API_USER</a:t>
            </a:r>
            <a:endParaRPr/>
          </a:p>
        </p:txBody>
      </p:sp>
      <p:sp>
        <p:nvSpPr>
          <p:cNvPr id="1435" name="Google Shape;1435;p13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$17,184</a:t>
            </a:r>
            <a:endParaRPr/>
          </a:p>
        </p:txBody>
      </p:sp>
      <p:sp>
        <p:nvSpPr>
          <p:cNvPr id="1436" name="Google Shape;1436;p1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437" name="Google Shape;1437;p13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8" name="Google Shape;1438;p13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439" name="Google Shape;1439;p13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252897083407</a:t>
            </a:r>
            <a:endParaRPr/>
          </a:p>
        </p:txBody>
      </p:sp>
      <p:sp>
        <p:nvSpPr>
          <p:cNvPr id="1440" name="Google Shape;1440;p13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441" name="Google Shape;1441;p13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M&amp;K TRANSPORTATION SERVICES</a:t>
            </a:r>
            <a:endParaRPr/>
          </a:p>
        </p:txBody>
      </p:sp>
      <p:sp>
        <p:nvSpPr>
          <p:cNvPr id="1442" name="Google Shape;1442;p13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1443" name="Google Shape;1443;p13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$38,719</a:t>
            </a:r>
            <a:endParaRPr/>
          </a:p>
        </p:txBody>
      </p:sp>
      <p:sp>
        <p:nvSpPr>
          <p:cNvPr id="1444" name="Google Shape;1444;p13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445" name="Google Shape;1445;p13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446" name="Google Shape;1446;p1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256630775049</a:t>
            </a:r>
            <a:endParaRPr/>
          </a:p>
        </p:txBody>
      </p:sp>
      <p:sp>
        <p:nvSpPr>
          <p:cNvPr id="1447" name="Google Shape;1447;p13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448" name="Google Shape;1448;p13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J&amp;V LOGISTIC TRUCKING LLC</a:t>
            </a:r>
            <a:endParaRPr/>
          </a:p>
        </p:txBody>
      </p:sp>
      <p:sp>
        <p:nvSpPr>
          <p:cNvPr id="1449" name="Google Shape;1449;p13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API_USER API_USER</a:t>
            </a:r>
            <a:endParaRPr/>
          </a:p>
        </p:txBody>
      </p:sp>
      <p:sp>
        <p:nvSpPr>
          <p:cNvPr id="1450" name="Google Shape;1450;p13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$12,982</a:t>
            </a:r>
            <a:endParaRPr/>
          </a:p>
        </p:txBody>
      </p:sp>
      <p:sp>
        <p:nvSpPr>
          <p:cNvPr id="1451" name="Google Shape;1451;p13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452" name="Google Shape;1452;p13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3" name="Google Shape;1453;p13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454" name="Google Shape;1454;p13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263241089836</a:t>
            </a:r>
            <a:endParaRPr/>
          </a:p>
        </p:txBody>
      </p:sp>
      <p:sp>
        <p:nvSpPr>
          <p:cNvPr id="1455" name="Google Shape;1455;p13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1456" name="Google Shape;1456;p1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 Y K TRUCKING LLC</a:t>
            </a:r>
            <a:endParaRPr/>
          </a:p>
        </p:txBody>
      </p:sp>
      <p:sp>
        <p:nvSpPr>
          <p:cNvPr id="1457" name="Google Shape;1457;p13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Mary Davis-Spivak</a:t>
            </a:r>
            <a:endParaRPr/>
          </a:p>
        </p:txBody>
      </p:sp>
      <p:sp>
        <p:nvSpPr>
          <p:cNvPr id="1458" name="Google Shape;1458;p13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$34,027</a:t>
            </a:r>
            <a:endParaRPr/>
          </a:p>
        </p:txBody>
      </p:sp>
      <p:sp>
        <p:nvSpPr>
          <p:cNvPr id="1459" name="Google Shape;1459;p13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460" name="Google Shape;1460;p13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461" name="Google Shape;1461;p13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264459279881</a:t>
            </a:r>
            <a:endParaRPr/>
          </a:p>
        </p:txBody>
      </p:sp>
      <p:sp>
        <p:nvSpPr>
          <p:cNvPr id="1462" name="Google Shape;1462;p13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Eagle National Insurance Services,</a:t>
            </a:r>
            <a:endParaRPr/>
          </a:p>
        </p:txBody>
      </p:sp>
      <p:sp>
        <p:nvSpPr>
          <p:cNvPr id="1463" name="Google Shape;1463;p13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A2BCARRIERSLLC</a:t>
            </a:r>
            <a:endParaRPr/>
          </a:p>
        </p:txBody>
      </p:sp>
      <p:sp>
        <p:nvSpPr>
          <p:cNvPr id="1464" name="Google Shape;1464;p13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Michael Stack</a:t>
            </a:r>
            <a:endParaRPr/>
          </a:p>
        </p:txBody>
      </p:sp>
      <p:sp>
        <p:nvSpPr>
          <p:cNvPr id="1465" name="Google Shape;1465;p13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$116,277</a:t>
            </a:r>
            <a:endParaRPr/>
          </a:p>
        </p:txBody>
      </p:sp>
      <p:sp>
        <p:nvSpPr>
          <p:cNvPr id="1466" name="Google Shape;1466;p1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467" name="Google Shape;1467;p13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8" name="Google Shape;1468;p13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469" name="Google Shape;1469;p13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250862704132</a:t>
            </a:r>
            <a:endParaRPr/>
          </a:p>
        </p:txBody>
      </p:sp>
      <p:sp>
        <p:nvSpPr>
          <p:cNvPr id="1470" name="Google Shape;1470;p13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471" name="Google Shape;1471;p13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JUK'S LOGISTICS &amp; INVESTMENTS LL</a:t>
            </a:r>
            <a:endParaRPr/>
          </a:p>
        </p:txBody>
      </p:sp>
      <p:sp>
        <p:nvSpPr>
          <p:cNvPr id="1472" name="Google Shape;1472;p13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Merryl Gerhardt</a:t>
            </a:r>
            <a:endParaRPr/>
          </a:p>
        </p:txBody>
      </p:sp>
      <p:sp>
        <p:nvSpPr>
          <p:cNvPr id="1473" name="Google Shape;1473;p13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$22,675</a:t>
            </a:r>
            <a:endParaRPr/>
          </a:p>
        </p:txBody>
      </p:sp>
      <p:sp>
        <p:nvSpPr>
          <p:cNvPr id="1474" name="Google Shape;1474;p13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16, 2026</a:t>
            </a:r>
            <a:endParaRPr/>
          </a:p>
        </p:txBody>
      </p:sp>
      <p:sp>
        <p:nvSpPr>
          <p:cNvPr id="1475" name="Google Shape;1475;p13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476" name="Google Shape;1476;p1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251733882008</a:t>
            </a:r>
            <a:endParaRPr/>
          </a:p>
        </p:txBody>
      </p:sp>
      <p:sp>
        <p:nvSpPr>
          <p:cNvPr id="1477" name="Google Shape;1477;p13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478" name="Google Shape;1478;p13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YODA TRUCKING CO CORP</a:t>
            </a:r>
            <a:endParaRPr/>
          </a:p>
        </p:txBody>
      </p:sp>
      <p:sp>
        <p:nvSpPr>
          <p:cNvPr id="1479" name="Google Shape;1479;p13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1480" name="Google Shape;1480;p13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$82,364</a:t>
            </a:r>
            <a:endParaRPr/>
          </a:p>
        </p:txBody>
      </p:sp>
      <p:sp>
        <p:nvSpPr>
          <p:cNvPr id="1481" name="Google Shape;1481;p13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482" name="Google Shape;1482;p13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3" name="Google Shape;1483;p13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484" name="Google Shape;1484;p13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258439909760</a:t>
            </a:r>
            <a:endParaRPr/>
          </a:p>
        </p:txBody>
      </p:sp>
      <p:sp>
        <p:nvSpPr>
          <p:cNvPr id="1485" name="Google Shape;1485;p13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486" name="Google Shape;1486;p1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GLOBAL CARGO FREIGHT LLC</a:t>
            </a:r>
            <a:endParaRPr/>
          </a:p>
        </p:txBody>
      </p:sp>
      <p:sp>
        <p:nvSpPr>
          <p:cNvPr id="1487" name="Google Shape;1487;p13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1488" name="Google Shape;1488;p13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$16,036</a:t>
            </a:r>
            <a:endParaRPr/>
          </a:p>
        </p:txBody>
      </p:sp>
      <p:sp>
        <p:nvSpPr>
          <p:cNvPr id="1489" name="Google Shape;1489;p13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490" name="Google Shape;1490;p13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491" name="Google Shape;1491;p13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261709772826</a:t>
            </a:r>
            <a:endParaRPr/>
          </a:p>
        </p:txBody>
      </p:sp>
      <p:sp>
        <p:nvSpPr>
          <p:cNvPr id="1492" name="Google Shape;1492;p13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493" name="Google Shape;1493;p13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ROADLINE LOGISTICS LLC</a:t>
            </a:r>
            <a:endParaRPr/>
          </a:p>
        </p:txBody>
      </p:sp>
      <p:sp>
        <p:nvSpPr>
          <p:cNvPr id="1494" name="Google Shape;1494;p13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1495" name="Google Shape;1495;p13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$15,987</a:t>
            </a:r>
            <a:endParaRPr/>
          </a:p>
        </p:txBody>
      </p:sp>
      <p:sp>
        <p:nvSpPr>
          <p:cNvPr id="1496" name="Google Shape;1496;p1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497" name="Google Shape;1497;p13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8" name="Google Shape;1498;p13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499" name="Google Shape;1499;p13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261736212108</a:t>
            </a:r>
            <a:endParaRPr/>
          </a:p>
        </p:txBody>
      </p:sp>
      <p:sp>
        <p:nvSpPr>
          <p:cNvPr id="1500" name="Google Shape;1500;p13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501" name="Google Shape;1501;p13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VMAL TRANSPORTATION INC</a:t>
            </a:r>
            <a:endParaRPr/>
          </a:p>
        </p:txBody>
      </p:sp>
      <p:sp>
        <p:nvSpPr>
          <p:cNvPr id="1502" name="Google Shape;1502;p13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1503" name="Google Shape;1503;p13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$18,289</a:t>
            </a:r>
            <a:endParaRPr/>
          </a:p>
        </p:txBody>
      </p:sp>
      <p:sp>
        <p:nvSpPr>
          <p:cNvPr id="1504" name="Google Shape;1504;p13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505" name="Google Shape;1505;p13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506" name="Google Shape;1506;p1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263223714519</a:t>
            </a:r>
            <a:endParaRPr/>
          </a:p>
        </p:txBody>
      </p:sp>
      <p:sp>
        <p:nvSpPr>
          <p:cNvPr id="1507" name="Google Shape;1507;p13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508" name="Google Shape;1508;p13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MONTEJO TRANSPORT LLC</a:t>
            </a:r>
            <a:endParaRPr/>
          </a:p>
        </p:txBody>
      </p:sp>
      <p:sp>
        <p:nvSpPr>
          <p:cNvPr id="1509" name="Google Shape;1509;p13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1510" name="Google Shape;1510;p13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$9,700</a:t>
            </a:r>
            <a:endParaRPr/>
          </a:p>
        </p:txBody>
      </p:sp>
      <p:sp>
        <p:nvSpPr>
          <p:cNvPr id="1511" name="Google Shape;1511;p13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512" name="Google Shape;1512;p13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3" name="Google Shape;1513;p13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(Last 25 Submissions)</a:t>
            </a:r>
            <a:endParaRPr/>
          </a:p>
        </p:txBody>
      </p:sp>
      <p:sp>
        <p:nvSpPr>
          <p:cNvPr id="1514" name="Google Shape;1514;p13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$655,633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18" name="Shape 1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Google Shape;1519;p1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0" name="Google Shape;1520;p14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 Watch — Next 90 Days</a:t>
            </a:r>
            <a:endParaRPr/>
          </a:p>
        </p:txBody>
      </p:sp>
      <p:sp>
        <p:nvSpPr>
          <p:cNvPr id="1521" name="Google Shape;1521;p1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Ron Douglas  |  Active in-force policies expiring through Aug 18, 2026</a:t>
            </a:r>
            <a:endParaRPr/>
          </a:p>
        </p:txBody>
      </p:sp>
      <p:sp>
        <p:nvSpPr>
          <p:cNvPr id="1522" name="Google Shape;1522;p14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UP</a:t>
            </a:r>
            <a:endParaRPr/>
          </a:p>
        </p:txBody>
      </p:sp>
      <p:sp>
        <p:nvSpPr>
          <p:cNvPr id="1523" name="Google Shape;1523;p14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$2,765,475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PREMIUM AT RISK</a:t>
            </a:r>
            <a:endParaRPr/>
          </a:p>
        </p:txBody>
      </p:sp>
      <p:sp>
        <p:nvSpPr>
          <p:cNvPr id="1524" name="Google Shape;1524;p14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EXPIRE ≤30 DAYS</a:t>
            </a:r>
            <a:endParaRPr/>
          </a:p>
        </p:txBody>
      </p:sp>
      <p:sp>
        <p:nvSpPr>
          <p:cNvPr id="1525" name="Google Shape;1525;p14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31-60 DAYS</a:t>
            </a:r>
            <a:endParaRPr/>
          </a:p>
        </p:txBody>
      </p:sp>
      <p:sp>
        <p:nvSpPr>
          <p:cNvPr id="1526" name="Google Shape;1526;p14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61-90 DAYS</a:t>
            </a:r>
            <a:endParaRPr/>
          </a:p>
        </p:txBody>
      </p:sp>
      <p:sp>
        <p:nvSpPr>
          <p:cNvPr id="1527" name="Google Shape;1527;p14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8" name="Google Shape;1528;p14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EXPIRING (sorted by date — earliest first)</a:t>
            </a:r>
            <a:endParaRPr/>
          </a:p>
        </p:txBody>
      </p:sp>
      <p:sp>
        <p:nvSpPr>
          <p:cNvPr id="1529" name="Google Shape;1529;p14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530" name="Google Shape;1530;p14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531" name="Google Shape;1531;p14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532" name="Google Shape;1532;p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 Date</a:t>
            </a:r>
            <a:endParaRPr/>
          </a:p>
        </p:txBody>
      </p:sp>
      <p:sp>
        <p:nvSpPr>
          <p:cNvPr id="1533" name="Google Shape;1533;p14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534" name="Google Shape;1534;p14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Coverage</a:t>
            </a:r>
            <a:endParaRPr/>
          </a:p>
        </p:txBody>
      </p:sp>
      <p:sp>
        <p:nvSpPr>
          <p:cNvPr id="1535" name="Google Shape;1535;p14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536" name="Google Shape;1536;p14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537" name="Google Shape;1537;p14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8" name="Google Shape;1538;p14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Sebanda Franchise #42 - M&amp;o In</a:t>
            </a:r>
            <a:endParaRPr/>
          </a:p>
        </p:txBody>
      </p:sp>
      <p:sp>
        <p:nvSpPr>
          <p:cNvPr id="1539" name="Google Shape;1539;p14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255236824975</a:t>
            </a:r>
            <a:endParaRPr/>
          </a:p>
        </p:txBody>
      </p:sp>
      <p:sp>
        <p:nvSpPr>
          <p:cNvPr id="1540" name="Google Shape;1540;p14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ROADS TRANSPORTATION LLC</a:t>
            </a:r>
            <a:endParaRPr/>
          </a:p>
        </p:txBody>
      </p:sp>
      <p:sp>
        <p:nvSpPr>
          <p:cNvPr id="1541" name="Google Shape;1541;p14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2026-05-21</a:t>
            </a:r>
            <a:endParaRPr/>
          </a:p>
        </p:txBody>
      </p:sp>
      <p:sp>
        <p:nvSpPr>
          <p:cNvPr id="1542" name="Google Shape;1542;p1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1d</a:t>
            </a:r>
            <a:endParaRPr/>
          </a:p>
        </p:txBody>
      </p:sp>
      <p:sp>
        <p:nvSpPr>
          <p:cNvPr id="1543" name="Google Shape;1543;p14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44" name="Google Shape;1544;p14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$47,653</a:t>
            </a:r>
            <a:endParaRPr/>
          </a:p>
        </p:txBody>
      </p:sp>
      <p:sp>
        <p:nvSpPr>
          <p:cNvPr id="1545" name="Google Shape;1545;p14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546" name="Google Shape;1546;p14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Eagle Insurance Agency</a:t>
            </a:r>
            <a:endParaRPr/>
          </a:p>
        </p:txBody>
      </p:sp>
      <p:sp>
        <p:nvSpPr>
          <p:cNvPr id="1547" name="Google Shape;1547;p14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254103774178</a:t>
            </a:r>
            <a:endParaRPr/>
          </a:p>
        </p:txBody>
      </p:sp>
      <p:sp>
        <p:nvSpPr>
          <p:cNvPr id="1548" name="Google Shape;1548;p14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JBA XPRESS INC</a:t>
            </a:r>
            <a:endParaRPr/>
          </a:p>
        </p:txBody>
      </p:sp>
      <p:sp>
        <p:nvSpPr>
          <p:cNvPr id="1549" name="Google Shape;1549;p14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2026-05-21</a:t>
            </a:r>
            <a:endParaRPr/>
          </a:p>
        </p:txBody>
      </p:sp>
      <p:sp>
        <p:nvSpPr>
          <p:cNvPr id="1550" name="Google Shape;1550;p14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1d</a:t>
            </a:r>
            <a:endParaRPr/>
          </a:p>
        </p:txBody>
      </p:sp>
      <p:sp>
        <p:nvSpPr>
          <p:cNvPr id="1551" name="Google Shape;1551;p14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52" name="Google Shape;1552;p1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$1,012</a:t>
            </a:r>
            <a:endParaRPr/>
          </a:p>
        </p:txBody>
      </p:sp>
      <p:sp>
        <p:nvSpPr>
          <p:cNvPr id="1553" name="Google Shape;1553;p14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54" name="Google Shape;1554;p14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5" name="Google Shape;1555;p14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Eagle Insurance Agency</a:t>
            </a:r>
            <a:endParaRPr/>
          </a:p>
        </p:txBody>
      </p:sp>
      <p:sp>
        <p:nvSpPr>
          <p:cNvPr id="1556" name="Google Shape;1556;p14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251341701023</a:t>
            </a:r>
            <a:endParaRPr/>
          </a:p>
        </p:txBody>
      </p:sp>
      <p:sp>
        <p:nvSpPr>
          <p:cNvPr id="1557" name="Google Shape;1557;p14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GT TRUCKING INC</a:t>
            </a:r>
            <a:endParaRPr/>
          </a:p>
        </p:txBody>
      </p:sp>
      <p:sp>
        <p:nvSpPr>
          <p:cNvPr id="1558" name="Google Shape;1558;p14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2026-05-23</a:t>
            </a:r>
            <a:endParaRPr/>
          </a:p>
        </p:txBody>
      </p:sp>
      <p:sp>
        <p:nvSpPr>
          <p:cNvPr id="1559" name="Google Shape;1559;p14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3d</a:t>
            </a:r>
            <a:endParaRPr/>
          </a:p>
        </p:txBody>
      </p:sp>
      <p:sp>
        <p:nvSpPr>
          <p:cNvPr id="1560" name="Google Shape;1560;p14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61" name="Google Shape;1561;p14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$17,805</a:t>
            </a:r>
            <a:endParaRPr/>
          </a:p>
        </p:txBody>
      </p:sp>
      <p:sp>
        <p:nvSpPr>
          <p:cNvPr id="1562" name="Google Shape;1562;p1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63" name="Google Shape;1563;p14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564" name="Google Shape;1564;p14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255920925216</a:t>
            </a:r>
            <a:endParaRPr/>
          </a:p>
        </p:txBody>
      </p:sp>
      <p:sp>
        <p:nvSpPr>
          <p:cNvPr id="1565" name="Google Shape;1565;p14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CSG TRUCKING LLC</a:t>
            </a:r>
            <a:endParaRPr/>
          </a:p>
        </p:txBody>
      </p:sp>
      <p:sp>
        <p:nvSpPr>
          <p:cNvPr id="1566" name="Google Shape;1566;p14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2026-05-23</a:t>
            </a:r>
            <a:endParaRPr/>
          </a:p>
        </p:txBody>
      </p:sp>
      <p:sp>
        <p:nvSpPr>
          <p:cNvPr id="1567" name="Google Shape;1567;p14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3d</a:t>
            </a:r>
            <a:endParaRPr/>
          </a:p>
        </p:txBody>
      </p:sp>
      <p:sp>
        <p:nvSpPr>
          <p:cNvPr id="1568" name="Google Shape;1568;p14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569" name="Google Shape;1569;p14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1570" name="Google Shape;1570;p14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NC</a:t>
            </a:r>
            <a:endParaRPr/>
          </a:p>
        </p:txBody>
      </p:sp>
      <p:sp>
        <p:nvSpPr>
          <p:cNvPr id="1571" name="Google Shape;1571;p14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2" name="Google Shape;1572;p1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573" name="Google Shape;1573;p14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257119891484</a:t>
            </a:r>
            <a:endParaRPr/>
          </a:p>
        </p:txBody>
      </p:sp>
      <p:sp>
        <p:nvSpPr>
          <p:cNvPr id="1574" name="Google Shape;1574;p14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77LOGISTIC LLC</a:t>
            </a:r>
            <a:endParaRPr/>
          </a:p>
        </p:txBody>
      </p:sp>
      <p:sp>
        <p:nvSpPr>
          <p:cNvPr id="1575" name="Google Shape;1575;p14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2026-05-23</a:t>
            </a:r>
            <a:endParaRPr/>
          </a:p>
        </p:txBody>
      </p:sp>
      <p:sp>
        <p:nvSpPr>
          <p:cNvPr id="1576" name="Google Shape;1576;p14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3d</a:t>
            </a:r>
            <a:endParaRPr/>
          </a:p>
        </p:txBody>
      </p:sp>
      <p:sp>
        <p:nvSpPr>
          <p:cNvPr id="1577" name="Google Shape;1577;p14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78" name="Google Shape;1578;p14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$13,451</a:t>
            </a:r>
            <a:endParaRPr/>
          </a:p>
        </p:txBody>
      </p:sp>
      <p:sp>
        <p:nvSpPr>
          <p:cNvPr id="1579" name="Google Shape;1579;p14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</a:t>
            </a:r>
            <a:endParaRPr/>
          </a:p>
        </p:txBody>
      </p:sp>
      <p:sp>
        <p:nvSpPr>
          <p:cNvPr id="1580" name="Google Shape;1580;p14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</a:t>
            </a:r>
            <a:endParaRPr/>
          </a:p>
        </p:txBody>
      </p:sp>
      <p:sp>
        <p:nvSpPr>
          <p:cNvPr id="1581" name="Google Shape;1581;p14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250552065052</a:t>
            </a:r>
            <a:endParaRPr/>
          </a:p>
        </p:txBody>
      </p:sp>
      <p:sp>
        <p:nvSpPr>
          <p:cNvPr id="1582" name="Google Shape;1582;p1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DIAZ &amp; DIAZ TRANSPORT INC</a:t>
            </a:r>
            <a:endParaRPr/>
          </a:p>
        </p:txBody>
      </p:sp>
      <p:sp>
        <p:nvSpPr>
          <p:cNvPr id="1583" name="Google Shape;1583;p14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2026-05-23</a:t>
            </a:r>
            <a:endParaRPr/>
          </a:p>
        </p:txBody>
      </p:sp>
      <p:sp>
        <p:nvSpPr>
          <p:cNvPr id="1584" name="Google Shape;1584;p14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3d</a:t>
            </a:r>
            <a:endParaRPr/>
          </a:p>
        </p:txBody>
      </p:sp>
      <p:sp>
        <p:nvSpPr>
          <p:cNvPr id="1585" name="Google Shape;1585;p14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86" name="Google Shape;1586;p14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$9,379</a:t>
            </a:r>
            <a:endParaRPr/>
          </a:p>
        </p:txBody>
      </p:sp>
      <p:sp>
        <p:nvSpPr>
          <p:cNvPr id="1587" name="Google Shape;1587;p14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NJ</a:t>
            </a:r>
            <a:endParaRPr/>
          </a:p>
        </p:txBody>
      </p:sp>
      <p:sp>
        <p:nvSpPr>
          <p:cNvPr id="1588" name="Google Shape;1588;p14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9" name="Google Shape;1589;p14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590" name="Google Shape;1590;p14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250268035129</a:t>
            </a:r>
            <a:endParaRPr/>
          </a:p>
        </p:txBody>
      </p:sp>
      <p:sp>
        <p:nvSpPr>
          <p:cNvPr id="1591" name="Google Shape;1591;p14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APPLE LOGISTICS LLC</a:t>
            </a:r>
            <a:endParaRPr/>
          </a:p>
        </p:txBody>
      </p:sp>
      <p:sp>
        <p:nvSpPr>
          <p:cNvPr id="1592" name="Google Shape;1592;p1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2026-05-23</a:t>
            </a:r>
            <a:endParaRPr/>
          </a:p>
        </p:txBody>
      </p:sp>
      <p:sp>
        <p:nvSpPr>
          <p:cNvPr id="1593" name="Google Shape;1593;p14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3d</a:t>
            </a:r>
            <a:endParaRPr/>
          </a:p>
        </p:txBody>
      </p:sp>
      <p:sp>
        <p:nvSpPr>
          <p:cNvPr id="1594" name="Google Shape;1594;p14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95" name="Google Shape;1595;p14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$3,893</a:t>
            </a:r>
            <a:endParaRPr/>
          </a:p>
        </p:txBody>
      </p:sp>
      <p:sp>
        <p:nvSpPr>
          <p:cNvPr id="1596" name="Google Shape;1596;p14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OH</a:t>
            </a:r>
            <a:endParaRPr/>
          </a:p>
        </p:txBody>
      </p:sp>
      <p:sp>
        <p:nvSpPr>
          <p:cNvPr id="1597" name="Google Shape;1597;p14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Planet</a:t>
            </a:r>
            <a:endParaRPr/>
          </a:p>
        </p:txBody>
      </p:sp>
      <p:sp>
        <p:nvSpPr>
          <p:cNvPr id="1598" name="Google Shape;1598;p14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255896878011</a:t>
            </a:r>
            <a:endParaRPr/>
          </a:p>
        </p:txBody>
      </p:sp>
      <p:sp>
        <p:nvSpPr>
          <p:cNvPr id="1599" name="Google Shape;1599;p14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AVTC LLC</a:t>
            </a:r>
            <a:endParaRPr/>
          </a:p>
        </p:txBody>
      </p:sp>
      <p:sp>
        <p:nvSpPr>
          <p:cNvPr id="1600" name="Google Shape;1600;p14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2026-05-23</a:t>
            </a:r>
            <a:endParaRPr/>
          </a:p>
        </p:txBody>
      </p:sp>
      <p:sp>
        <p:nvSpPr>
          <p:cNvPr id="1601" name="Google Shape;1601;p14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3d</a:t>
            </a:r>
            <a:endParaRPr/>
          </a:p>
        </p:txBody>
      </p:sp>
      <p:sp>
        <p:nvSpPr>
          <p:cNvPr id="1602" name="Google Shape;1602;p1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603" name="Google Shape;1603;p14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1604" name="Google Shape;1604;p14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</a:t>
            </a:r>
            <a:endParaRPr/>
          </a:p>
        </p:txBody>
      </p:sp>
      <p:sp>
        <p:nvSpPr>
          <p:cNvPr id="1605" name="Google Shape;1605;p14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6" name="Google Shape;1606;p14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Durham Specialty Insurance LLC</a:t>
            </a:r>
            <a:endParaRPr/>
          </a:p>
        </p:txBody>
      </p:sp>
      <p:sp>
        <p:nvSpPr>
          <p:cNvPr id="1607" name="Google Shape;1607;p14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255011641908</a:t>
            </a:r>
            <a:endParaRPr/>
          </a:p>
        </p:txBody>
      </p:sp>
      <p:sp>
        <p:nvSpPr>
          <p:cNvPr id="1608" name="Google Shape;1608;p14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TRUCKING WITH D&amp;T LLC</a:t>
            </a:r>
            <a:endParaRPr/>
          </a:p>
        </p:txBody>
      </p:sp>
      <p:sp>
        <p:nvSpPr>
          <p:cNvPr id="1609" name="Google Shape;1609;p14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2026-05-24</a:t>
            </a:r>
            <a:endParaRPr/>
          </a:p>
        </p:txBody>
      </p:sp>
      <p:sp>
        <p:nvSpPr>
          <p:cNvPr id="1610" name="Google Shape;1610;p14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4d</a:t>
            </a:r>
            <a:endParaRPr/>
          </a:p>
        </p:txBody>
      </p:sp>
      <p:sp>
        <p:nvSpPr>
          <p:cNvPr id="1611" name="Google Shape;1611;p14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12" name="Google Shape;1612;p1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$10,248</a:t>
            </a:r>
            <a:endParaRPr/>
          </a:p>
        </p:txBody>
      </p:sp>
      <p:sp>
        <p:nvSpPr>
          <p:cNvPr id="1613" name="Google Shape;1613;p14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NC</a:t>
            </a:r>
            <a:endParaRPr/>
          </a:p>
        </p:txBody>
      </p:sp>
      <p:sp>
        <p:nvSpPr>
          <p:cNvPr id="1614" name="Google Shape;1614;p14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615" name="Google Shape;1615;p14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258584407284</a:t>
            </a:r>
            <a:endParaRPr/>
          </a:p>
        </p:txBody>
      </p:sp>
      <p:sp>
        <p:nvSpPr>
          <p:cNvPr id="1616" name="Google Shape;1616;p14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AMP DAWSON MOVING COMPANY LLC</a:t>
            </a:r>
            <a:endParaRPr/>
          </a:p>
        </p:txBody>
      </p:sp>
      <p:sp>
        <p:nvSpPr>
          <p:cNvPr id="1617" name="Google Shape;1617;p14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2026-05-26</a:t>
            </a:r>
            <a:endParaRPr/>
          </a:p>
        </p:txBody>
      </p:sp>
      <p:sp>
        <p:nvSpPr>
          <p:cNvPr id="1618" name="Google Shape;1618;p14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6d</a:t>
            </a:r>
            <a:endParaRPr/>
          </a:p>
        </p:txBody>
      </p:sp>
      <p:sp>
        <p:nvSpPr>
          <p:cNvPr id="1619" name="Google Shape;1619;p14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620" name="Google Shape;1620;p14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$1,012</a:t>
            </a:r>
            <a:endParaRPr/>
          </a:p>
        </p:txBody>
      </p:sp>
      <p:sp>
        <p:nvSpPr>
          <p:cNvPr id="1621" name="Google Shape;1621;p14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</a:t>
            </a:r>
            <a:endParaRPr/>
          </a:p>
        </p:txBody>
      </p:sp>
      <p:sp>
        <p:nvSpPr>
          <p:cNvPr id="1622" name="Google Shape;1622;p1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3" name="Google Shape;1623;p14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</a:t>
            </a:r>
            <a:endParaRPr/>
          </a:p>
        </p:txBody>
      </p:sp>
      <p:sp>
        <p:nvSpPr>
          <p:cNvPr id="1624" name="Google Shape;1624;p14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253794676078</a:t>
            </a:r>
            <a:endParaRPr/>
          </a:p>
        </p:txBody>
      </p:sp>
      <p:sp>
        <p:nvSpPr>
          <p:cNvPr id="1625" name="Google Shape;1625;p14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CARSAT LLC</a:t>
            </a:r>
            <a:endParaRPr/>
          </a:p>
        </p:txBody>
      </p:sp>
      <p:sp>
        <p:nvSpPr>
          <p:cNvPr id="1626" name="Google Shape;1626;p14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627" name="Google Shape;1627;p14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8d</a:t>
            </a:r>
            <a:endParaRPr/>
          </a:p>
        </p:txBody>
      </p:sp>
      <p:sp>
        <p:nvSpPr>
          <p:cNvPr id="1628" name="Google Shape;1628;p14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29" name="Google Shape;1629;p14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30" name="Google Shape;1630;p14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631" name="Google Shape;1631;p14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Five Star Insurance Services I</a:t>
            </a:r>
            <a:endParaRPr/>
          </a:p>
        </p:txBody>
      </p:sp>
      <p:sp>
        <p:nvSpPr>
          <p:cNvPr id="1632" name="Google Shape;1632;p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251435509534</a:t>
            </a:r>
            <a:endParaRPr/>
          </a:p>
        </p:txBody>
      </p:sp>
      <p:sp>
        <p:nvSpPr>
          <p:cNvPr id="1633" name="Google Shape;1633;p14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LADD CORPORATION</a:t>
            </a:r>
            <a:endParaRPr/>
          </a:p>
        </p:txBody>
      </p:sp>
      <p:sp>
        <p:nvSpPr>
          <p:cNvPr id="1634" name="Google Shape;1634;p14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2026-05-29</a:t>
            </a:r>
            <a:endParaRPr/>
          </a:p>
        </p:txBody>
      </p:sp>
      <p:sp>
        <p:nvSpPr>
          <p:cNvPr id="1635" name="Google Shape;1635;p14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9d</a:t>
            </a:r>
            <a:endParaRPr/>
          </a:p>
        </p:txBody>
      </p:sp>
      <p:sp>
        <p:nvSpPr>
          <p:cNvPr id="1636" name="Google Shape;1636;p14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637" name="Google Shape;1637;p14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1638" name="Google Shape;1638;p14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IL</a:t>
            </a:r>
            <a:endParaRPr/>
          </a:p>
        </p:txBody>
      </p:sp>
      <p:sp>
        <p:nvSpPr>
          <p:cNvPr id="1639" name="Google Shape;1639;p14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0" name="Google Shape;1640;p14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Sunstar Insurance Group Llc Db</a:t>
            </a:r>
            <a:endParaRPr/>
          </a:p>
        </p:txBody>
      </p:sp>
      <p:sp>
        <p:nvSpPr>
          <p:cNvPr id="1641" name="Google Shape;1641;p14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257927141856</a:t>
            </a:r>
            <a:endParaRPr/>
          </a:p>
        </p:txBody>
      </p:sp>
      <p:sp>
        <p:nvSpPr>
          <p:cNvPr id="1642" name="Google Shape;1642;p1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ONPOINT ELITE TRUCKING LLC</a:t>
            </a:r>
            <a:endParaRPr/>
          </a:p>
        </p:txBody>
      </p:sp>
      <p:sp>
        <p:nvSpPr>
          <p:cNvPr id="1643" name="Google Shape;1643;p14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2026-05-29</a:t>
            </a:r>
            <a:endParaRPr/>
          </a:p>
        </p:txBody>
      </p:sp>
      <p:sp>
        <p:nvSpPr>
          <p:cNvPr id="1644" name="Google Shape;1644;p14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9d</a:t>
            </a:r>
            <a:endParaRPr/>
          </a:p>
        </p:txBody>
      </p:sp>
      <p:sp>
        <p:nvSpPr>
          <p:cNvPr id="1645" name="Google Shape;1645;p14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46" name="Google Shape;1646;p14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$11,009</a:t>
            </a:r>
            <a:endParaRPr/>
          </a:p>
        </p:txBody>
      </p:sp>
      <p:sp>
        <p:nvSpPr>
          <p:cNvPr id="1647" name="Google Shape;1647;p14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</a:t>
            </a:r>
            <a:endParaRPr/>
          </a:p>
        </p:txBody>
      </p:sp>
      <p:sp>
        <p:nvSpPr>
          <p:cNvPr id="1648" name="Google Shape;1648;p1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13 of 215 upcoming renewals  |  Source: dw_reader.policy_premium  |  Active in-force only  |  Sorted by expiration date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52" name="Shape 1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3" name="Google Shape;1653;p1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4" name="Google Shape;1654;p15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Cancellations — Save List — Next 90 Days</a:t>
            </a:r>
            <a:endParaRPr/>
          </a:p>
        </p:txBody>
      </p:sp>
      <p:sp>
        <p:nvSpPr>
          <p:cNvPr id="1655" name="Google Shape;1655;p1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Ron Douglas  |  Policies with cancellation_date on or before Aug 18, 2026  |  Sorted by urgency — call these agencies first</a:t>
            </a:r>
            <a:endParaRPr/>
          </a:p>
        </p:txBody>
      </p:sp>
      <p:sp>
        <p:nvSpPr>
          <p:cNvPr id="1656" name="Google Shape;1656;p15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PENDING CANCEL</a:t>
            </a:r>
            <a:endParaRPr/>
          </a:p>
        </p:txBody>
      </p:sp>
      <p:sp>
        <p:nvSpPr>
          <p:cNvPr id="1657" name="Google Shape;1657;p15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 AT RISK</a:t>
            </a:r>
            <a:endParaRPr/>
          </a:p>
        </p:txBody>
      </p:sp>
      <p:sp>
        <p:nvSpPr>
          <p:cNvPr id="1658" name="Google Shape;1658;p15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DAYS (URGENT)</a:t>
            </a:r>
            <a:endParaRPr/>
          </a:p>
        </p:txBody>
      </p:sp>
      <p:sp>
        <p:nvSpPr>
          <p:cNvPr id="1659" name="Google Shape;1659;p15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 PREMIUM</a:t>
            </a:r>
            <a:endParaRPr/>
          </a:p>
        </p:txBody>
      </p:sp>
      <p:sp>
        <p:nvSpPr>
          <p:cNvPr id="1660" name="Google Shape;1660;p15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REASON</a:t>
            </a:r>
            <a:endParaRPr/>
          </a:p>
        </p:txBody>
      </p:sp>
      <p:sp>
        <p:nvSpPr>
          <p:cNvPr id="1661" name="Google Shape;1661;p15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2" name="Google Shape;1662;p15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CANCELS (sorted by cancel date — earliest first)</a:t>
            </a:r>
            <a:endParaRPr/>
          </a:p>
        </p:txBody>
      </p:sp>
      <p:sp>
        <p:nvSpPr>
          <p:cNvPr id="1663" name="Google Shape;1663;p15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664" name="Google Shape;1664;p15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 Date</a:t>
            </a:r>
            <a:endParaRPr/>
          </a:p>
        </p:txBody>
      </p:sp>
      <p:sp>
        <p:nvSpPr>
          <p:cNvPr id="1665" name="Google Shape;1665;p15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666" name="Google Shape;1666;p15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667" name="Google Shape;1667;p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668" name="Google Shape;1668;p15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LOB</a:t>
            </a:r>
            <a:endParaRPr/>
          </a:p>
        </p:txBody>
      </p:sp>
      <p:sp>
        <p:nvSpPr>
          <p:cNvPr id="1669" name="Google Shape;1669;p15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670" name="Google Shape;1670;p15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671" name="Google Shape;1671;p15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Reason</a:t>
            </a:r>
            <a:endParaRPr/>
          </a:p>
        </p:txBody>
      </p:sp>
      <p:sp>
        <p:nvSpPr>
          <p:cNvPr id="1672" name="Google Shape;1672;p15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pending cancellations in the next 90 days for this book. 🎉</a:t>
            </a:r>
            <a:endParaRPr/>
          </a:p>
        </p:txBody>
      </p:sp>
      <p:sp>
        <p:nvSpPr>
          <p:cNvPr id="1673" name="Google Shape;1673;p15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77" name="Shape 1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8" name="Google Shape;1678;p1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9" name="Google Shape;1679;p1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Preventty</a:t>
            </a:r>
            <a:endParaRPr/>
          </a:p>
        </p:txBody>
      </p:sp>
      <p:sp>
        <p:nvSpPr>
          <p:cNvPr id="1680" name="Google Shape;1680;p1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Southeast  |  State: FL  |  City: Orlando</a:t>
            </a:r>
            <a:endParaRPr/>
          </a:p>
        </p:txBody>
      </p:sp>
      <p:sp>
        <p:nvSpPr>
          <p:cNvPr id="1681" name="Google Shape;1681;p1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$7,123,880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682" name="Google Shape;1682;p1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$5,644,529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683" name="Google Shape;1683;p1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$418,104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684" name="Google Shape;1684;p1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$1,061,247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685" name="Google Shape;1685;p1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$-3,401,905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686" name="Google Shape;1686;p1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$13,138,537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687" name="Google Shape;1687;p1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$15,677,570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688" name="Google Shape;1688;p1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689" name="Google Shape;1689;p1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690" name="Google Shape;1690;p1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691" name="Google Shape;1691;p1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692" name="Google Shape;1692;p1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$1,325,080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693" name="Google Shape;1693;p1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$4,989,282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694" name="Google Shape;1694;p1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5" name="Google Shape;1695;p1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696" name="Google Shape;1696;p1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697" name="Google Shape;1697;p1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698" name="Google Shape;1698;p1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699" name="Google Shape;1699;p1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700" name="Google Shape;1700;p1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701" name="Google Shape;1701;p1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702" name="Google Shape;1702;p1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3" name="Google Shape;1703;p1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704" name="Google Shape;1704;p1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$1,141,804</a:t>
            </a:r>
            <a:endParaRPr/>
          </a:p>
        </p:txBody>
      </p:sp>
      <p:sp>
        <p:nvSpPr>
          <p:cNvPr id="1705" name="Google Shape;1705;p1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$928,842</a:t>
            </a:r>
            <a:endParaRPr/>
          </a:p>
        </p:txBody>
      </p:sp>
      <p:sp>
        <p:nvSpPr>
          <p:cNvPr id="1706" name="Google Shape;1706;p1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$31,846</a:t>
            </a:r>
            <a:endParaRPr/>
          </a:p>
        </p:txBody>
      </p:sp>
      <p:sp>
        <p:nvSpPr>
          <p:cNvPr id="1707" name="Google Shape;1707;p1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$181,117</a:t>
            </a:r>
            <a:endParaRPr/>
          </a:p>
        </p:txBody>
      </p:sp>
      <p:sp>
        <p:nvSpPr>
          <p:cNvPr id="1708" name="Google Shape;1708;p1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$-591,526</a:t>
            </a:r>
            <a:endParaRPr/>
          </a:p>
        </p:txBody>
      </p:sp>
      <p:sp>
        <p:nvSpPr>
          <p:cNvPr id="1709" name="Google Shape;1709;p1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0" name="Google Shape;1710;p1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711" name="Google Shape;1711;p1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$1,336,794</a:t>
            </a:r>
            <a:endParaRPr/>
          </a:p>
        </p:txBody>
      </p:sp>
      <p:sp>
        <p:nvSpPr>
          <p:cNvPr id="1712" name="Google Shape;1712;p1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$984,986</a:t>
            </a:r>
            <a:endParaRPr/>
          </a:p>
        </p:txBody>
      </p:sp>
      <p:sp>
        <p:nvSpPr>
          <p:cNvPr id="1713" name="Google Shape;1713;p1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$131,900</a:t>
            </a:r>
            <a:endParaRPr/>
          </a:p>
        </p:txBody>
      </p:sp>
      <p:sp>
        <p:nvSpPr>
          <p:cNvPr id="1714" name="Google Shape;1714;p1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$219,908</a:t>
            </a:r>
            <a:endParaRPr/>
          </a:p>
        </p:txBody>
      </p:sp>
      <p:sp>
        <p:nvSpPr>
          <p:cNvPr id="1715" name="Google Shape;1715;p1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$-433,222</a:t>
            </a:r>
            <a:endParaRPr/>
          </a:p>
        </p:txBody>
      </p:sp>
      <p:sp>
        <p:nvSpPr>
          <p:cNvPr id="1716" name="Google Shape;1716;p1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7" name="Google Shape;1717;p1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718" name="Google Shape;1718;p1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$1,775,629</a:t>
            </a:r>
            <a:endParaRPr/>
          </a:p>
        </p:txBody>
      </p:sp>
      <p:sp>
        <p:nvSpPr>
          <p:cNvPr id="1719" name="Google Shape;1719;p1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$1,585,412</a:t>
            </a:r>
            <a:endParaRPr/>
          </a:p>
        </p:txBody>
      </p:sp>
      <p:sp>
        <p:nvSpPr>
          <p:cNvPr id="1720" name="Google Shape;1720;p1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$21,874</a:t>
            </a:r>
            <a:endParaRPr/>
          </a:p>
        </p:txBody>
      </p:sp>
      <p:sp>
        <p:nvSpPr>
          <p:cNvPr id="1721" name="Google Shape;1721;p1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$168,343</a:t>
            </a:r>
            <a:endParaRPr/>
          </a:p>
        </p:txBody>
      </p:sp>
      <p:sp>
        <p:nvSpPr>
          <p:cNvPr id="1722" name="Google Shape;1722;p1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$-724,452</a:t>
            </a:r>
            <a:endParaRPr/>
          </a:p>
        </p:txBody>
      </p:sp>
      <p:sp>
        <p:nvSpPr>
          <p:cNvPr id="1723" name="Google Shape;1723;p1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4" name="Google Shape;1724;p1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725" name="Google Shape;1725;p1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$1,814,163</a:t>
            </a:r>
            <a:endParaRPr/>
          </a:p>
        </p:txBody>
      </p:sp>
      <p:sp>
        <p:nvSpPr>
          <p:cNvPr id="1726" name="Google Shape;1726;p1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$1,397,247</a:t>
            </a:r>
            <a:endParaRPr/>
          </a:p>
        </p:txBody>
      </p:sp>
      <p:sp>
        <p:nvSpPr>
          <p:cNvPr id="1727" name="Google Shape;1727;p1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$127,200</a:t>
            </a:r>
            <a:endParaRPr/>
          </a:p>
        </p:txBody>
      </p:sp>
      <p:sp>
        <p:nvSpPr>
          <p:cNvPr id="1728" name="Google Shape;1728;p1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$289,716</a:t>
            </a:r>
            <a:endParaRPr/>
          </a:p>
        </p:txBody>
      </p:sp>
      <p:sp>
        <p:nvSpPr>
          <p:cNvPr id="1729" name="Google Shape;1729;p1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$-977,679</a:t>
            </a:r>
            <a:endParaRPr/>
          </a:p>
        </p:txBody>
      </p:sp>
      <p:sp>
        <p:nvSpPr>
          <p:cNvPr id="1730" name="Google Shape;1730;p1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1" name="Google Shape;1731;p1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732" name="Google Shape;1732;p1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$1,055,490</a:t>
            </a:r>
            <a:endParaRPr/>
          </a:p>
        </p:txBody>
      </p:sp>
      <p:sp>
        <p:nvSpPr>
          <p:cNvPr id="1733" name="Google Shape;1733;p1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$748,043</a:t>
            </a:r>
            <a:endParaRPr/>
          </a:p>
        </p:txBody>
      </p:sp>
      <p:sp>
        <p:nvSpPr>
          <p:cNvPr id="1734" name="Google Shape;1734;p1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$105,284</a:t>
            </a:r>
            <a:endParaRPr/>
          </a:p>
        </p:txBody>
      </p:sp>
      <p:sp>
        <p:nvSpPr>
          <p:cNvPr id="1735" name="Google Shape;1735;p1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$202,162</a:t>
            </a:r>
            <a:endParaRPr/>
          </a:p>
        </p:txBody>
      </p:sp>
      <p:sp>
        <p:nvSpPr>
          <p:cNvPr id="1736" name="Google Shape;1736;p1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$-675,027</a:t>
            </a:r>
            <a:endParaRPr/>
          </a:p>
        </p:txBody>
      </p:sp>
      <p:sp>
        <p:nvSpPr>
          <p:cNvPr id="1737" name="Google Shape;1737;p1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8" name="Google Shape;1738;p1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739" name="Google Shape;1739;p1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$7,123,880</a:t>
            </a:r>
            <a:endParaRPr/>
          </a:p>
        </p:txBody>
      </p:sp>
      <p:sp>
        <p:nvSpPr>
          <p:cNvPr id="1740" name="Google Shape;1740;p1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$5,644,529</a:t>
            </a:r>
            <a:endParaRPr/>
          </a:p>
        </p:txBody>
      </p:sp>
      <p:sp>
        <p:nvSpPr>
          <p:cNvPr id="1741" name="Google Shape;1741;p1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$418,104</a:t>
            </a:r>
            <a:endParaRPr/>
          </a:p>
        </p:txBody>
      </p:sp>
      <p:sp>
        <p:nvSpPr>
          <p:cNvPr id="1742" name="Google Shape;1742;p1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$1,061,247</a:t>
            </a:r>
            <a:endParaRPr/>
          </a:p>
        </p:txBody>
      </p:sp>
      <p:sp>
        <p:nvSpPr>
          <p:cNvPr id="1743" name="Google Shape;1743;p1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$-3,401,905</a:t>
            </a:r>
            <a:endParaRPr/>
          </a:p>
        </p:txBody>
      </p:sp>
      <p:sp>
        <p:nvSpPr>
          <p:cNvPr id="1744" name="Google Shape;1744;p1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5" name="Google Shape;1745;p1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746" name="Google Shape;1746;p1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747" name="Google Shape;1747;p1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748" name="Google Shape;1748;p1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749" name="Google Shape;1749;p1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750" name="Google Shape;1750;p1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751" name="Google Shape;1751;p1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752" name="Google Shape;1752;p1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3" name="Google Shape;1753;p1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754" name="Google Shape;1754;p1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601</a:t>
            </a:r>
            <a:endParaRPr/>
          </a:p>
        </p:txBody>
      </p:sp>
      <p:sp>
        <p:nvSpPr>
          <p:cNvPr id="1755" name="Google Shape;1755;p1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1756" name="Google Shape;1756;p1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546</a:t>
            </a:r>
            <a:endParaRPr/>
          </a:p>
        </p:txBody>
      </p:sp>
      <p:sp>
        <p:nvSpPr>
          <p:cNvPr id="1757" name="Google Shape;1757;p1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1758" name="Google Shape;1758;p1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13.6%</a:t>
            </a:r>
            <a:endParaRPr/>
          </a:p>
        </p:txBody>
      </p:sp>
      <p:sp>
        <p:nvSpPr>
          <p:cNvPr id="1759" name="Google Shape;1759;p1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0" name="Google Shape;1760;p1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761" name="Google Shape;1761;p1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649</a:t>
            </a:r>
            <a:endParaRPr/>
          </a:p>
        </p:txBody>
      </p:sp>
      <p:sp>
        <p:nvSpPr>
          <p:cNvPr id="1762" name="Google Shape;1762;p1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1763" name="Google Shape;1763;p1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583</a:t>
            </a:r>
            <a:endParaRPr/>
          </a:p>
        </p:txBody>
      </p:sp>
      <p:sp>
        <p:nvSpPr>
          <p:cNvPr id="1764" name="Google Shape;1764;p1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</a:t>
            </a:r>
            <a:endParaRPr/>
          </a:p>
        </p:txBody>
      </p:sp>
      <p:sp>
        <p:nvSpPr>
          <p:cNvPr id="1765" name="Google Shape;1765;p1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1766" name="Google Shape;1766;p1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7" name="Google Shape;1767;p1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768" name="Google Shape;1768;p1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747</a:t>
            </a:r>
            <a:endParaRPr/>
          </a:p>
        </p:txBody>
      </p:sp>
      <p:sp>
        <p:nvSpPr>
          <p:cNvPr id="1769" name="Google Shape;1769;p1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1770" name="Google Shape;1770;p1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679</a:t>
            </a:r>
            <a:endParaRPr/>
          </a:p>
        </p:txBody>
      </p:sp>
      <p:sp>
        <p:nvSpPr>
          <p:cNvPr id="1771" name="Google Shape;1771;p1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1772" name="Google Shape;1772;p1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1773" name="Google Shape;1773;p1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4" name="Google Shape;1774;p1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775" name="Google Shape;1775;p1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890</a:t>
            </a:r>
            <a:endParaRPr/>
          </a:p>
        </p:txBody>
      </p:sp>
      <p:sp>
        <p:nvSpPr>
          <p:cNvPr id="1776" name="Google Shape;1776;p1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1777" name="Google Shape;1777;p1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817</a:t>
            </a:r>
            <a:endParaRPr/>
          </a:p>
        </p:txBody>
      </p:sp>
      <p:sp>
        <p:nvSpPr>
          <p:cNvPr id="1778" name="Google Shape;1778;p1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</a:t>
            </a:r>
            <a:endParaRPr/>
          </a:p>
        </p:txBody>
      </p:sp>
      <p:sp>
        <p:nvSpPr>
          <p:cNvPr id="1779" name="Google Shape;1779;p1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11.7%</a:t>
            </a:r>
            <a:endParaRPr/>
          </a:p>
        </p:txBody>
      </p:sp>
      <p:sp>
        <p:nvSpPr>
          <p:cNvPr id="1780" name="Google Shape;1780;p1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1" name="Google Shape;1781;p1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782" name="Google Shape;1782;p1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407</a:t>
            </a:r>
            <a:endParaRPr/>
          </a:p>
        </p:txBody>
      </p:sp>
      <p:sp>
        <p:nvSpPr>
          <p:cNvPr id="1783" name="Google Shape;1783;p1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1784" name="Google Shape;1784;p1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365</a:t>
            </a:r>
            <a:endParaRPr/>
          </a:p>
        </p:txBody>
      </p:sp>
      <p:sp>
        <p:nvSpPr>
          <p:cNvPr id="1785" name="Google Shape;1785;p1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1786" name="Google Shape;1786;p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1787" name="Google Shape;1787;p1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8" name="Google Shape;1788;p1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789" name="Google Shape;1789;p1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2906</a:t>
            </a:r>
            <a:endParaRPr/>
          </a:p>
        </p:txBody>
      </p:sp>
      <p:sp>
        <p:nvSpPr>
          <p:cNvPr id="1790" name="Google Shape;1790;p1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275</a:t>
            </a:r>
            <a:endParaRPr/>
          </a:p>
        </p:txBody>
      </p:sp>
      <p:sp>
        <p:nvSpPr>
          <p:cNvPr id="1791" name="Google Shape;1791;p1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2631</a:t>
            </a:r>
            <a:endParaRPr/>
          </a:p>
        </p:txBody>
      </p:sp>
      <p:sp>
        <p:nvSpPr>
          <p:cNvPr id="1792" name="Google Shape;1792;p1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241</a:t>
            </a:r>
            <a:endParaRPr/>
          </a:p>
        </p:txBody>
      </p:sp>
      <p:sp>
        <p:nvSpPr>
          <p:cNvPr id="1793" name="Google Shape;1793;p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1794" name="Google Shape;1794;p1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5" name="Google Shape;1795;p1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796" name="Google Shape;1796;p1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797" name="Google Shape;1797;p1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798" name="Google Shape;1798;p1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799" name="Google Shape;1799;p1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800" name="Google Shape;1800;p1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801" name="Google Shape;1801;p1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802" name="Google Shape;1802;p1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803" name="Google Shape;1803;p1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804" name="Google Shape;1804;p1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805" name="Google Shape;1805;p1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806" name="Google Shape;1806;p1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807" name="Google Shape;1807;p1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808" name="Google Shape;1808;p1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809" name="Google Shape;1809;p1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810" name="Google Shape;1810;p1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563</a:t>
            </a:r>
            <a:endParaRPr/>
          </a:p>
        </p:txBody>
      </p:sp>
      <p:sp>
        <p:nvSpPr>
          <p:cNvPr id="1811" name="Google Shape;1811;p1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601</a:t>
            </a:r>
            <a:endParaRPr/>
          </a:p>
        </p:txBody>
      </p:sp>
      <p:sp>
        <p:nvSpPr>
          <p:cNvPr id="1812" name="Google Shape;1812;p1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533</a:t>
            </a:r>
            <a:endParaRPr/>
          </a:p>
        </p:txBody>
      </p:sp>
      <p:sp>
        <p:nvSpPr>
          <p:cNvPr id="1813" name="Google Shape;1813;p1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649</a:t>
            </a:r>
            <a:endParaRPr/>
          </a:p>
        </p:txBody>
      </p:sp>
      <p:sp>
        <p:nvSpPr>
          <p:cNvPr id="1814" name="Google Shape;1814;p1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666</a:t>
            </a:r>
            <a:endParaRPr/>
          </a:p>
        </p:txBody>
      </p:sp>
      <p:sp>
        <p:nvSpPr>
          <p:cNvPr id="1815" name="Google Shape;1815;p1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747</a:t>
            </a:r>
            <a:endParaRPr/>
          </a:p>
        </p:txBody>
      </p:sp>
      <p:sp>
        <p:nvSpPr>
          <p:cNvPr id="1816" name="Google Shape;1816;p1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747</a:t>
            </a:r>
            <a:endParaRPr/>
          </a:p>
        </p:txBody>
      </p:sp>
      <p:sp>
        <p:nvSpPr>
          <p:cNvPr id="1817" name="Google Shape;1817;p1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890</a:t>
            </a:r>
            <a:endParaRPr/>
          </a:p>
        </p:txBody>
      </p:sp>
      <p:sp>
        <p:nvSpPr>
          <p:cNvPr id="1818" name="Google Shape;1818;p1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741</a:t>
            </a:r>
            <a:endParaRPr/>
          </a:p>
        </p:txBody>
      </p:sp>
      <p:sp>
        <p:nvSpPr>
          <p:cNvPr id="1819" name="Google Shape;1819;p1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407</a:t>
            </a:r>
            <a:endParaRPr/>
          </a:p>
        </p:txBody>
      </p:sp>
      <p:sp>
        <p:nvSpPr>
          <p:cNvPr id="1820" name="Google Shape;1820;p1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3250</a:t>
            </a:r>
            <a:endParaRPr/>
          </a:p>
        </p:txBody>
      </p:sp>
      <p:sp>
        <p:nvSpPr>
          <p:cNvPr id="1821" name="Google Shape;1821;p1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3294</a:t>
            </a:r>
            <a:endParaRPr/>
          </a:p>
        </p:txBody>
      </p:sp>
      <p:sp>
        <p:nvSpPr>
          <p:cNvPr id="1822" name="Google Shape;1822;p1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823" name="Google Shape;1823;p1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$598K</a:t>
            </a:r>
            <a:endParaRPr/>
          </a:p>
        </p:txBody>
      </p:sp>
      <p:sp>
        <p:nvSpPr>
          <p:cNvPr id="1824" name="Google Shape;1824;p1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$1.1M</a:t>
            </a:r>
            <a:endParaRPr/>
          </a:p>
        </p:txBody>
      </p:sp>
      <p:sp>
        <p:nvSpPr>
          <p:cNvPr id="1825" name="Google Shape;1825;p1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$634K</a:t>
            </a:r>
            <a:endParaRPr/>
          </a:p>
        </p:txBody>
      </p:sp>
      <p:sp>
        <p:nvSpPr>
          <p:cNvPr id="1826" name="Google Shape;1826;p1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$1.3M</a:t>
            </a:r>
            <a:endParaRPr/>
          </a:p>
        </p:txBody>
      </p:sp>
      <p:sp>
        <p:nvSpPr>
          <p:cNvPr id="1827" name="Google Shape;1827;p1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$816K</a:t>
            </a:r>
            <a:endParaRPr/>
          </a:p>
        </p:txBody>
      </p:sp>
      <p:sp>
        <p:nvSpPr>
          <p:cNvPr id="1828" name="Google Shape;1828;p1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$1.8M</a:t>
            </a:r>
            <a:endParaRPr/>
          </a:p>
        </p:txBody>
      </p:sp>
      <p:sp>
        <p:nvSpPr>
          <p:cNvPr id="1829" name="Google Shape;1829;p1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$1.2M</a:t>
            </a:r>
            <a:endParaRPr/>
          </a:p>
        </p:txBody>
      </p:sp>
      <p:sp>
        <p:nvSpPr>
          <p:cNvPr id="1830" name="Google Shape;1830;p1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$1.8M</a:t>
            </a:r>
            <a:endParaRPr/>
          </a:p>
        </p:txBody>
      </p:sp>
      <p:sp>
        <p:nvSpPr>
          <p:cNvPr id="1831" name="Google Shape;1831;p1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$1.3M</a:t>
            </a:r>
            <a:endParaRPr/>
          </a:p>
        </p:txBody>
      </p:sp>
      <p:sp>
        <p:nvSpPr>
          <p:cNvPr id="1832" name="Google Shape;1832;p1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$1.1M</a:t>
            </a:r>
            <a:endParaRPr/>
          </a:p>
        </p:txBody>
      </p:sp>
      <p:sp>
        <p:nvSpPr>
          <p:cNvPr id="1833" name="Google Shape;1833;p1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$4.6M</a:t>
            </a:r>
            <a:endParaRPr/>
          </a:p>
        </p:txBody>
      </p:sp>
      <p:sp>
        <p:nvSpPr>
          <p:cNvPr id="1834" name="Google Shape;1834;p1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$7.1M</a:t>
            </a:r>
            <a:endParaRPr/>
          </a:p>
        </p:txBody>
      </p:sp>
      <p:sp>
        <p:nvSpPr>
          <p:cNvPr id="1835" name="Google Shape;1835;p1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6" name="Google Shape;1836;p1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837" name="Google Shape;1837;p1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838" name="Google Shape;1838;p1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$7,123,880 YTD gross written premium</a:t>
            </a:r>
            <a:endParaRPr/>
          </a:p>
        </p:txBody>
      </p:sp>
      <p:sp>
        <p:nvSpPr>
          <p:cNvPr id="1839" name="Google Shape;1839;p1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840" name="Google Shape;1840;p1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$5,644,529 in new business production</a:t>
            </a:r>
            <a:endParaRPr/>
          </a:p>
        </p:txBody>
      </p:sp>
      <p:sp>
        <p:nvSpPr>
          <p:cNvPr id="1841" name="Google Shape;1841;p1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2" name="Google Shape;1842;p1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843" name="Google Shape;1843;p1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844" name="Google Shape;1844;p1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60% of new business ($3,401,905)</a:t>
            </a:r>
            <a:endParaRPr/>
          </a:p>
        </p:txBody>
      </p:sp>
      <p:sp>
        <p:nvSpPr>
          <p:cNvPr id="1845" name="Google Shape;1845;p1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846" name="Google Shape;1846;p1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890 to 407 MoM</a:t>
            </a:r>
            <a:endParaRPr/>
          </a:p>
        </p:txBody>
      </p:sp>
      <p:sp>
        <p:nvSpPr>
          <p:cNvPr id="1847" name="Google Shape;1847;p1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8" name="Google Shape;1848;p1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849" name="Google Shape;1849;p1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850" name="Google Shape;1850;p1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$5,644,529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1851" name="Google Shape;1851;p1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852" name="Google Shape;1852;p1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$3,401,905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56" name="Shape 1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7" name="Google Shape;1857;p1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8" name="Google Shape;1858;p1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859" name="Google Shape;1859;p1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TN  |  City: Fredericksburg</a:t>
            </a:r>
            <a:endParaRPr/>
          </a:p>
        </p:txBody>
      </p:sp>
      <p:sp>
        <p:nvSpPr>
          <p:cNvPr id="1860" name="Google Shape;1860;p1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$2,636,218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861" name="Google Shape;1861;p1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$1,805,931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62" name="Google Shape;1862;p1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$333,370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63" name="Google Shape;1863;p1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$496,917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64" name="Google Shape;1864;p1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$-952,347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65" name="Google Shape;1865;p1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$4,955,246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866" name="Google Shape;1866;p1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$5,585,257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867" name="Google Shape;1867;p1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868" name="Google Shape;1868;p1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869" name="Google Shape;1869;p1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870" name="Google Shape;1870;p1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871" name="Google Shape;1871;p1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$484,269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872" name="Google Shape;1872;p1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$2,346,962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873" name="Google Shape;1873;p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4" name="Google Shape;1874;p1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875" name="Google Shape;1875;p1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876" name="Google Shape;1876;p1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877" name="Google Shape;1877;p1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78" name="Google Shape;1878;p1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79" name="Google Shape;1879;p1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80" name="Google Shape;1880;p1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81" name="Google Shape;1881;p1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2" name="Google Shape;1882;p1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883" name="Google Shape;1883;p1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$556,812</a:t>
            </a:r>
            <a:endParaRPr/>
          </a:p>
        </p:txBody>
      </p:sp>
      <p:sp>
        <p:nvSpPr>
          <p:cNvPr id="1884" name="Google Shape;1884;p1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$452,159</a:t>
            </a:r>
            <a:endParaRPr/>
          </a:p>
        </p:txBody>
      </p:sp>
      <p:sp>
        <p:nvSpPr>
          <p:cNvPr id="1885" name="Google Shape;1885;p1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$15,497</a:t>
            </a:r>
            <a:endParaRPr/>
          </a:p>
        </p:txBody>
      </p:sp>
      <p:sp>
        <p:nvSpPr>
          <p:cNvPr id="1886" name="Google Shape;1886;p1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$89,156</a:t>
            </a:r>
            <a:endParaRPr/>
          </a:p>
        </p:txBody>
      </p:sp>
      <p:sp>
        <p:nvSpPr>
          <p:cNvPr id="1887" name="Google Shape;1887;p1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$-178,793</a:t>
            </a:r>
            <a:endParaRPr/>
          </a:p>
        </p:txBody>
      </p:sp>
      <p:sp>
        <p:nvSpPr>
          <p:cNvPr id="1888" name="Google Shape;1888;p1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9" name="Google Shape;1889;p1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890" name="Google Shape;1890;p1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$577,769</a:t>
            </a:r>
            <a:endParaRPr/>
          </a:p>
        </p:txBody>
      </p:sp>
      <p:sp>
        <p:nvSpPr>
          <p:cNvPr id="1891" name="Google Shape;1891;p1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$385,510</a:t>
            </a:r>
            <a:endParaRPr/>
          </a:p>
        </p:txBody>
      </p:sp>
      <p:sp>
        <p:nvSpPr>
          <p:cNvPr id="1892" name="Google Shape;1892;p1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$111,103</a:t>
            </a:r>
            <a:endParaRPr/>
          </a:p>
        </p:txBody>
      </p:sp>
      <p:sp>
        <p:nvSpPr>
          <p:cNvPr id="1893" name="Google Shape;1893;p1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$81,156</a:t>
            </a:r>
            <a:endParaRPr/>
          </a:p>
        </p:txBody>
      </p:sp>
      <p:sp>
        <p:nvSpPr>
          <p:cNvPr id="1894" name="Google Shape;1894;p1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$-143,092</a:t>
            </a:r>
            <a:endParaRPr/>
          </a:p>
        </p:txBody>
      </p:sp>
      <p:sp>
        <p:nvSpPr>
          <p:cNvPr id="1895" name="Google Shape;1895;p1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6" name="Google Shape;1896;p1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897" name="Google Shape;1897;p1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$466,148</a:t>
            </a:r>
            <a:endParaRPr/>
          </a:p>
        </p:txBody>
      </p:sp>
      <p:sp>
        <p:nvSpPr>
          <p:cNvPr id="1898" name="Google Shape;1898;p1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$301,112</a:t>
            </a:r>
            <a:endParaRPr/>
          </a:p>
        </p:txBody>
      </p:sp>
      <p:sp>
        <p:nvSpPr>
          <p:cNvPr id="1899" name="Google Shape;1899;p1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$85,585</a:t>
            </a:r>
            <a:endParaRPr/>
          </a:p>
        </p:txBody>
      </p:sp>
      <p:sp>
        <p:nvSpPr>
          <p:cNvPr id="1900" name="Google Shape;1900;p1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$79,451</a:t>
            </a:r>
            <a:endParaRPr/>
          </a:p>
        </p:txBody>
      </p:sp>
      <p:sp>
        <p:nvSpPr>
          <p:cNvPr id="1901" name="Google Shape;1901;p1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$-216,994</a:t>
            </a:r>
            <a:endParaRPr/>
          </a:p>
        </p:txBody>
      </p:sp>
      <p:sp>
        <p:nvSpPr>
          <p:cNvPr id="1902" name="Google Shape;1902;p1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3" name="Google Shape;1903;p1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904" name="Google Shape;1904;p1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$482,724</a:t>
            </a:r>
            <a:endParaRPr/>
          </a:p>
        </p:txBody>
      </p:sp>
      <p:sp>
        <p:nvSpPr>
          <p:cNvPr id="1905" name="Google Shape;1905;p1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$338,286</a:t>
            </a:r>
            <a:endParaRPr/>
          </a:p>
        </p:txBody>
      </p:sp>
      <p:sp>
        <p:nvSpPr>
          <p:cNvPr id="1906" name="Google Shape;1906;p1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$33,425</a:t>
            </a:r>
            <a:endParaRPr/>
          </a:p>
        </p:txBody>
      </p:sp>
      <p:sp>
        <p:nvSpPr>
          <p:cNvPr id="1907" name="Google Shape;1907;p1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$111,013</a:t>
            </a:r>
            <a:endParaRPr/>
          </a:p>
        </p:txBody>
      </p:sp>
      <p:sp>
        <p:nvSpPr>
          <p:cNvPr id="1908" name="Google Shape;1908;p1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$-218,936</a:t>
            </a:r>
            <a:endParaRPr/>
          </a:p>
        </p:txBody>
      </p:sp>
      <p:sp>
        <p:nvSpPr>
          <p:cNvPr id="1909" name="Google Shape;1909;p1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0" name="Google Shape;1910;p1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911" name="Google Shape;1911;p1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$552,765</a:t>
            </a:r>
            <a:endParaRPr/>
          </a:p>
        </p:txBody>
      </p:sp>
      <p:sp>
        <p:nvSpPr>
          <p:cNvPr id="1912" name="Google Shape;1912;p1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$328,864</a:t>
            </a:r>
            <a:endParaRPr/>
          </a:p>
        </p:txBody>
      </p:sp>
      <p:sp>
        <p:nvSpPr>
          <p:cNvPr id="1913" name="Google Shape;1913;p1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$87,760</a:t>
            </a:r>
            <a:endParaRPr/>
          </a:p>
        </p:txBody>
      </p:sp>
      <p:sp>
        <p:nvSpPr>
          <p:cNvPr id="1914" name="Google Shape;1914;p1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$136,141</a:t>
            </a:r>
            <a:endParaRPr/>
          </a:p>
        </p:txBody>
      </p:sp>
      <p:sp>
        <p:nvSpPr>
          <p:cNvPr id="1915" name="Google Shape;1915;p1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$-194,533</a:t>
            </a:r>
            <a:endParaRPr/>
          </a:p>
        </p:txBody>
      </p:sp>
      <p:sp>
        <p:nvSpPr>
          <p:cNvPr id="1916" name="Google Shape;1916;p1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7" name="Google Shape;1917;p1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918" name="Google Shape;1918;p1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$2,636,218</a:t>
            </a:r>
            <a:endParaRPr/>
          </a:p>
        </p:txBody>
      </p:sp>
      <p:sp>
        <p:nvSpPr>
          <p:cNvPr id="1919" name="Google Shape;1919;p1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$1,805,931</a:t>
            </a:r>
            <a:endParaRPr/>
          </a:p>
        </p:txBody>
      </p:sp>
      <p:sp>
        <p:nvSpPr>
          <p:cNvPr id="1920" name="Google Shape;1920;p1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$333,370</a:t>
            </a:r>
            <a:endParaRPr/>
          </a:p>
        </p:txBody>
      </p:sp>
      <p:sp>
        <p:nvSpPr>
          <p:cNvPr id="1921" name="Google Shape;1921;p1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$496,917</a:t>
            </a:r>
            <a:endParaRPr/>
          </a:p>
        </p:txBody>
      </p:sp>
      <p:sp>
        <p:nvSpPr>
          <p:cNvPr id="1922" name="Google Shape;1922;p1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$-952,347</a:t>
            </a:r>
            <a:endParaRPr/>
          </a:p>
        </p:txBody>
      </p:sp>
      <p:sp>
        <p:nvSpPr>
          <p:cNvPr id="1923" name="Google Shape;1923;p1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4" name="Google Shape;1924;p1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925" name="Google Shape;1925;p1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926" name="Google Shape;1926;p1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927" name="Google Shape;1927;p1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928" name="Google Shape;1928;p1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929" name="Google Shape;1929;p1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930" name="Google Shape;1930;p1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931" name="Google Shape;1931;p1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2" name="Google Shape;1932;p1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933" name="Google Shape;1933;p1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1160</a:t>
            </a:r>
            <a:endParaRPr/>
          </a:p>
        </p:txBody>
      </p:sp>
      <p:sp>
        <p:nvSpPr>
          <p:cNvPr id="1934" name="Google Shape;1934;p1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1935" name="Google Shape;1935;p1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1098</a:t>
            </a:r>
            <a:endParaRPr/>
          </a:p>
        </p:txBody>
      </p:sp>
      <p:sp>
        <p:nvSpPr>
          <p:cNvPr id="1936" name="Google Shape;1936;p1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1937" name="Google Shape;1937;p1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1938" name="Google Shape;1938;p1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9" name="Google Shape;1939;p1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940" name="Google Shape;1940;p1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1179</a:t>
            </a:r>
            <a:endParaRPr/>
          </a:p>
        </p:txBody>
      </p:sp>
      <p:sp>
        <p:nvSpPr>
          <p:cNvPr id="1941" name="Google Shape;1941;p1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1942" name="Google Shape;1942;p1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1114</a:t>
            </a:r>
            <a:endParaRPr/>
          </a:p>
        </p:txBody>
      </p:sp>
      <p:sp>
        <p:nvSpPr>
          <p:cNvPr id="1943" name="Google Shape;1943;p1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1944" name="Google Shape;1944;p1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1945" name="Google Shape;1945;p1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6" name="Google Shape;1946;p1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947" name="Google Shape;1947;p1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1082</a:t>
            </a:r>
            <a:endParaRPr/>
          </a:p>
        </p:txBody>
      </p:sp>
      <p:sp>
        <p:nvSpPr>
          <p:cNvPr id="1948" name="Google Shape;1948;p1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1949" name="Google Shape;1949;p1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1041</a:t>
            </a:r>
            <a:endParaRPr/>
          </a:p>
        </p:txBody>
      </p:sp>
      <p:sp>
        <p:nvSpPr>
          <p:cNvPr id="1950" name="Google Shape;1950;p1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1951" name="Google Shape;1951;p1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1952" name="Google Shape;1952;p1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3" name="Google Shape;1953;p1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954" name="Google Shape;1954;p1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1291</a:t>
            </a:r>
            <a:endParaRPr/>
          </a:p>
        </p:txBody>
      </p:sp>
      <p:sp>
        <p:nvSpPr>
          <p:cNvPr id="1955" name="Google Shape;1955;p1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1956" name="Google Shape;1956;p1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1245</a:t>
            </a:r>
            <a:endParaRPr/>
          </a:p>
        </p:txBody>
      </p:sp>
      <p:sp>
        <p:nvSpPr>
          <p:cNvPr id="1957" name="Google Shape;1957;p1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1958" name="Google Shape;1958;p1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1959" name="Google Shape;1959;p1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0" name="Google Shape;1960;p1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961" name="Google Shape;1961;p1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698</a:t>
            </a:r>
            <a:endParaRPr/>
          </a:p>
        </p:txBody>
      </p:sp>
      <p:sp>
        <p:nvSpPr>
          <p:cNvPr id="1962" name="Google Shape;1962;p1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1963" name="Google Shape;1963;p1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658</a:t>
            </a:r>
            <a:endParaRPr/>
          </a:p>
        </p:txBody>
      </p:sp>
      <p:sp>
        <p:nvSpPr>
          <p:cNvPr id="1964" name="Google Shape;1964;p1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1965" name="Google Shape;1965;p1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1966" name="Google Shape;1966;p1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7" name="Google Shape;1967;p1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968" name="Google Shape;1968;p1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5199</a:t>
            </a:r>
            <a:endParaRPr/>
          </a:p>
        </p:txBody>
      </p:sp>
      <p:sp>
        <p:nvSpPr>
          <p:cNvPr id="1969" name="Google Shape;1969;p1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232</a:t>
            </a:r>
            <a:endParaRPr/>
          </a:p>
        </p:txBody>
      </p:sp>
      <p:sp>
        <p:nvSpPr>
          <p:cNvPr id="1970" name="Google Shape;1970;p1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4967</a:t>
            </a:r>
            <a:endParaRPr/>
          </a:p>
        </p:txBody>
      </p:sp>
      <p:sp>
        <p:nvSpPr>
          <p:cNvPr id="1971" name="Google Shape;1971;p1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1972" name="Google Shape;1972;p1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1973" name="Google Shape;1973;p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4" name="Google Shape;1974;p1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975" name="Google Shape;1975;p1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76" name="Google Shape;1976;p1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977" name="Google Shape;1977;p1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978" name="Google Shape;1978;p1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979" name="Google Shape;1979;p1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980" name="Google Shape;1980;p1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981" name="Google Shape;1981;p1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982" name="Google Shape;1982;p1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983" name="Google Shape;1983;p1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984" name="Google Shape;1984;p1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985" name="Google Shape;1985;p1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986" name="Google Shape;1986;p1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987" name="Google Shape;1987;p1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988" name="Google Shape;1988;p1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989" name="Google Shape;1989;p1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728</a:t>
            </a:r>
            <a:endParaRPr/>
          </a:p>
        </p:txBody>
      </p:sp>
      <p:sp>
        <p:nvSpPr>
          <p:cNvPr id="1990" name="Google Shape;1990;p1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1160</a:t>
            </a:r>
            <a:endParaRPr/>
          </a:p>
        </p:txBody>
      </p:sp>
      <p:sp>
        <p:nvSpPr>
          <p:cNvPr id="1991" name="Google Shape;1991;p1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699</a:t>
            </a:r>
            <a:endParaRPr/>
          </a:p>
        </p:txBody>
      </p:sp>
      <p:sp>
        <p:nvSpPr>
          <p:cNvPr id="1992" name="Google Shape;1992;p1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1179</a:t>
            </a:r>
            <a:endParaRPr/>
          </a:p>
        </p:txBody>
      </p:sp>
      <p:sp>
        <p:nvSpPr>
          <p:cNvPr id="1993" name="Google Shape;1993;p1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699</a:t>
            </a:r>
            <a:endParaRPr/>
          </a:p>
        </p:txBody>
      </p:sp>
      <p:sp>
        <p:nvSpPr>
          <p:cNvPr id="1994" name="Google Shape;1994;p1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1082</a:t>
            </a:r>
            <a:endParaRPr/>
          </a:p>
        </p:txBody>
      </p:sp>
      <p:sp>
        <p:nvSpPr>
          <p:cNvPr id="1995" name="Google Shape;1995;p1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637</a:t>
            </a:r>
            <a:endParaRPr/>
          </a:p>
        </p:txBody>
      </p:sp>
      <p:sp>
        <p:nvSpPr>
          <p:cNvPr id="1996" name="Google Shape;1996;p1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1291</a:t>
            </a:r>
            <a:endParaRPr/>
          </a:p>
        </p:txBody>
      </p:sp>
      <p:sp>
        <p:nvSpPr>
          <p:cNvPr id="1997" name="Google Shape;1997;p1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665</a:t>
            </a:r>
            <a:endParaRPr/>
          </a:p>
        </p:txBody>
      </p:sp>
      <p:sp>
        <p:nvSpPr>
          <p:cNvPr id="1998" name="Google Shape;1998;p1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698</a:t>
            </a:r>
            <a:endParaRPr/>
          </a:p>
        </p:txBody>
      </p:sp>
      <p:sp>
        <p:nvSpPr>
          <p:cNvPr id="1999" name="Google Shape;1999;p1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3428</a:t>
            </a:r>
            <a:endParaRPr/>
          </a:p>
        </p:txBody>
      </p:sp>
      <p:sp>
        <p:nvSpPr>
          <p:cNvPr id="2000" name="Google Shape;2000;p1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5410</a:t>
            </a:r>
            <a:endParaRPr/>
          </a:p>
        </p:txBody>
      </p:sp>
      <p:sp>
        <p:nvSpPr>
          <p:cNvPr id="2001" name="Google Shape;2001;p1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002" name="Google Shape;2002;p1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$184K</a:t>
            </a:r>
            <a:endParaRPr/>
          </a:p>
        </p:txBody>
      </p:sp>
      <p:sp>
        <p:nvSpPr>
          <p:cNvPr id="2003" name="Google Shape;2003;p1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$557K</a:t>
            </a:r>
            <a:endParaRPr/>
          </a:p>
        </p:txBody>
      </p:sp>
      <p:sp>
        <p:nvSpPr>
          <p:cNvPr id="2004" name="Google Shape;2004;p1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$262K</a:t>
            </a:r>
            <a:endParaRPr/>
          </a:p>
        </p:txBody>
      </p:sp>
      <p:sp>
        <p:nvSpPr>
          <p:cNvPr id="2005" name="Google Shape;2005;p1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$578K</a:t>
            </a:r>
            <a:endParaRPr/>
          </a:p>
        </p:txBody>
      </p:sp>
      <p:sp>
        <p:nvSpPr>
          <p:cNvPr id="2006" name="Google Shape;2006;p1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$534K</a:t>
            </a:r>
            <a:endParaRPr/>
          </a:p>
        </p:txBody>
      </p:sp>
      <p:sp>
        <p:nvSpPr>
          <p:cNvPr id="2007" name="Google Shape;2007;p1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$466K</a:t>
            </a:r>
            <a:endParaRPr/>
          </a:p>
        </p:txBody>
      </p:sp>
      <p:sp>
        <p:nvSpPr>
          <p:cNvPr id="2008" name="Google Shape;2008;p1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$560K</a:t>
            </a:r>
            <a:endParaRPr/>
          </a:p>
        </p:txBody>
      </p:sp>
      <p:sp>
        <p:nvSpPr>
          <p:cNvPr id="2009" name="Google Shape;2009;p1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$483K</a:t>
            </a:r>
            <a:endParaRPr/>
          </a:p>
        </p:txBody>
      </p:sp>
      <p:sp>
        <p:nvSpPr>
          <p:cNvPr id="2010" name="Google Shape;2010;p1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$467K</a:t>
            </a:r>
            <a:endParaRPr/>
          </a:p>
        </p:txBody>
      </p:sp>
      <p:sp>
        <p:nvSpPr>
          <p:cNvPr id="2011" name="Google Shape;2011;p1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$553K</a:t>
            </a:r>
            <a:endParaRPr/>
          </a:p>
        </p:txBody>
      </p:sp>
      <p:sp>
        <p:nvSpPr>
          <p:cNvPr id="2012" name="Google Shape;2012;p1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$2.0M</a:t>
            </a:r>
            <a:endParaRPr/>
          </a:p>
        </p:txBody>
      </p:sp>
      <p:sp>
        <p:nvSpPr>
          <p:cNvPr id="2013" name="Google Shape;2013;p1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$2.6M</a:t>
            </a:r>
            <a:endParaRPr/>
          </a:p>
        </p:txBody>
      </p:sp>
      <p:sp>
        <p:nvSpPr>
          <p:cNvPr id="2014" name="Google Shape;2014;p1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5" name="Google Shape;2015;p1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016" name="Google Shape;2016;p1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017" name="Google Shape;2017;p1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$2,636,218 YTD gross written premium</a:t>
            </a:r>
            <a:endParaRPr/>
          </a:p>
        </p:txBody>
      </p:sp>
      <p:sp>
        <p:nvSpPr>
          <p:cNvPr id="2018" name="Google Shape;2018;p1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019" name="Google Shape;2019;p1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$1,805,931 in new business production</a:t>
            </a:r>
            <a:endParaRPr/>
          </a:p>
        </p:txBody>
      </p:sp>
      <p:sp>
        <p:nvSpPr>
          <p:cNvPr id="2020" name="Google Shape;2020;p1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1" name="Google Shape;2021;p1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022" name="Google Shape;2022;p1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023" name="Google Shape;2023;p1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2.3% hit ratio on 5199 subs - needs coaching</a:t>
            </a:r>
            <a:endParaRPr/>
          </a:p>
        </p:txBody>
      </p:sp>
      <p:sp>
        <p:nvSpPr>
          <p:cNvPr id="2024" name="Google Shape;2024;p1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025" name="Google Shape;2025;p1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53% of new business ($952,347)</a:t>
            </a:r>
            <a:endParaRPr/>
          </a:p>
        </p:txBody>
      </p:sp>
      <p:sp>
        <p:nvSpPr>
          <p:cNvPr id="2026" name="Google Shape;2026;p1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7" name="Google Shape;2027;p1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028" name="Google Shape;2028;p1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029" name="Google Shape;2029;p1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(5199 subs, only 122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030" name="Google Shape;2030;p1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031" name="Google Shape;2031;p1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$1,805,931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35" name="Shape 2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6" name="Google Shape;2036;p1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7" name="Google Shape;2037;p1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2038" name="Google Shape;2038;p1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Southeast  |  State: FL  |  City: N/A</a:t>
            </a:r>
            <a:endParaRPr/>
          </a:p>
        </p:txBody>
      </p:sp>
      <p:sp>
        <p:nvSpPr>
          <p:cNvPr id="2039" name="Google Shape;2039;p1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$2,178,610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040" name="Google Shape;2040;p1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$1,584,680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041" name="Google Shape;2041;p1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$205,019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42" name="Google Shape;2042;p1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$388,911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43" name="Google Shape;2043;p1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$-688,579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44" name="Google Shape;2044;p1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$2,381,365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045" name="Google Shape;2045;p1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$4,137,761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046" name="Google Shape;2046;p1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047" name="Google Shape;2047;p1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048" name="Google Shape;2048;p1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049" name="Google Shape;2049;p1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050" name="Google Shape;2050;p1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$351,884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051" name="Google Shape;2051;p1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$1,493,693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052" name="Google Shape;2052;p1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3" name="Google Shape;2053;p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054" name="Google Shape;2054;p1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055" name="Google Shape;2055;p1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056" name="Google Shape;2056;p1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057" name="Google Shape;2057;p1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58" name="Google Shape;2058;p1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59" name="Google Shape;2059;p1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60" name="Google Shape;2060;p1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1" name="Google Shape;2061;p1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62" name="Google Shape;2062;p1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$559,429</a:t>
            </a:r>
            <a:endParaRPr/>
          </a:p>
        </p:txBody>
      </p:sp>
      <p:sp>
        <p:nvSpPr>
          <p:cNvPr id="2063" name="Google Shape;2063;p1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$460,080</a:t>
            </a:r>
            <a:endParaRPr/>
          </a:p>
        </p:txBody>
      </p:sp>
      <p:sp>
        <p:nvSpPr>
          <p:cNvPr id="2064" name="Google Shape;2064;p1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65" name="Google Shape;2065;p1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$99,349</a:t>
            </a:r>
            <a:endParaRPr/>
          </a:p>
        </p:txBody>
      </p:sp>
      <p:sp>
        <p:nvSpPr>
          <p:cNvPr id="2066" name="Google Shape;2066;p1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$-171,158</a:t>
            </a:r>
            <a:endParaRPr/>
          </a:p>
        </p:txBody>
      </p:sp>
      <p:sp>
        <p:nvSpPr>
          <p:cNvPr id="2067" name="Google Shape;2067;p1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8" name="Google Shape;2068;p1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69" name="Google Shape;2069;p1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$289,143</a:t>
            </a:r>
            <a:endParaRPr/>
          </a:p>
        </p:txBody>
      </p:sp>
      <p:sp>
        <p:nvSpPr>
          <p:cNvPr id="2070" name="Google Shape;2070;p1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$178,724</a:t>
            </a:r>
            <a:endParaRPr/>
          </a:p>
        </p:txBody>
      </p:sp>
      <p:sp>
        <p:nvSpPr>
          <p:cNvPr id="2071" name="Google Shape;2071;p1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$38,877</a:t>
            </a:r>
            <a:endParaRPr/>
          </a:p>
        </p:txBody>
      </p:sp>
      <p:sp>
        <p:nvSpPr>
          <p:cNvPr id="2072" name="Google Shape;2072;p1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$71,542</a:t>
            </a:r>
            <a:endParaRPr/>
          </a:p>
        </p:txBody>
      </p:sp>
      <p:sp>
        <p:nvSpPr>
          <p:cNvPr id="2073" name="Google Shape;2073;p1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$-141,657</a:t>
            </a:r>
            <a:endParaRPr/>
          </a:p>
        </p:txBody>
      </p:sp>
      <p:sp>
        <p:nvSpPr>
          <p:cNvPr id="2074" name="Google Shape;2074;p1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5" name="Google Shape;2075;p1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76" name="Google Shape;2076;p1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$556,394</a:t>
            </a:r>
            <a:endParaRPr/>
          </a:p>
        </p:txBody>
      </p:sp>
      <p:sp>
        <p:nvSpPr>
          <p:cNvPr id="2077" name="Google Shape;2077;p1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$412,390</a:t>
            </a:r>
            <a:endParaRPr/>
          </a:p>
        </p:txBody>
      </p:sp>
      <p:sp>
        <p:nvSpPr>
          <p:cNvPr id="2078" name="Google Shape;2078;p1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9" name="Google Shape;2079;p1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$144,004</a:t>
            </a:r>
            <a:endParaRPr/>
          </a:p>
        </p:txBody>
      </p:sp>
      <p:sp>
        <p:nvSpPr>
          <p:cNvPr id="2080" name="Google Shape;2080;p1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$-158,552</a:t>
            </a:r>
            <a:endParaRPr/>
          </a:p>
        </p:txBody>
      </p:sp>
      <p:sp>
        <p:nvSpPr>
          <p:cNvPr id="2081" name="Google Shape;2081;p1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2" name="Google Shape;2082;p1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083" name="Google Shape;2083;p1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$394,946</a:t>
            </a:r>
            <a:endParaRPr/>
          </a:p>
        </p:txBody>
      </p:sp>
      <p:sp>
        <p:nvSpPr>
          <p:cNvPr id="2084" name="Google Shape;2084;p1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$258,387</a:t>
            </a:r>
            <a:endParaRPr/>
          </a:p>
        </p:txBody>
      </p:sp>
      <p:sp>
        <p:nvSpPr>
          <p:cNvPr id="2085" name="Google Shape;2085;p1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$64,692</a:t>
            </a:r>
            <a:endParaRPr/>
          </a:p>
        </p:txBody>
      </p:sp>
      <p:sp>
        <p:nvSpPr>
          <p:cNvPr id="2086" name="Google Shape;2086;p1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$71,866</a:t>
            </a:r>
            <a:endParaRPr/>
          </a:p>
        </p:txBody>
      </p:sp>
      <p:sp>
        <p:nvSpPr>
          <p:cNvPr id="2087" name="Google Shape;2087;p1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$-98,573</a:t>
            </a:r>
            <a:endParaRPr/>
          </a:p>
        </p:txBody>
      </p:sp>
      <p:sp>
        <p:nvSpPr>
          <p:cNvPr id="2088" name="Google Shape;2088;p1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9" name="Google Shape;2089;p1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090" name="Google Shape;2090;p1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$378,698</a:t>
            </a:r>
            <a:endParaRPr/>
          </a:p>
        </p:txBody>
      </p:sp>
      <p:sp>
        <p:nvSpPr>
          <p:cNvPr id="2091" name="Google Shape;2091;p1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$275,100</a:t>
            </a:r>
            <a:endParaRPr/>
          </a:p>
        </p:txBody>
      </p:sp>
      <p:sp>
        <p:nvSpPr>
          <p:cNvPr id="2092" name="Google Shape;2092;p1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$101,450</a:t>
            </a:r>
            <a:endParaRPr/>
          </a:p>
        </p:txBody>
      </p:sp>
      <p:sp>
        <p:nvSpPr>
          <p:cNvPr id="2093" name="Google Shape;2093;p1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$2,149</a:t>
            </a:r>
            <a:endParaRPr/>
          </a:p>
        </p:txBody>
      </p:sp>
      <p:sp>
        <p:nvSpPr>
          <p:cNvPr id="2094" name="Google Shape;2094;p1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$-118,638</a:t>
            </a:r>
            <a:endParaRPr/>
          </a:p>
        </p:txBody>
      </p:sp>
      <p:sp>
        <p:nvSpPr>
          <p:cNvPr id="2095" name="Google Shape;2095;p1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6" name="Google Shape;2096;p1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097" name="Google Shape;2097;p1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$2,178,610</a:t>
            </a:r>
            <a:endParaRPr/>
          </a:p>
        </p:txBody>
      </p:sp>
      <p:sp>
        <p:nvSpPr>
          <p:cNvPr id="2098" name="Google Shape;2098;p1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$1,584,680</a:t>
            </a:r>
            <a:endParaRPr/>
          </a:p>
        </p:txBody>
      </p:sp>
      <p:sp>
        <p:nvSpPr>
          <p:cNvPr id="2099" name="Google Shape;2099;p1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$205,019</a:t>
            </a:r>
            <a:endParaRPr/>
          </a:p>
        </p:txBody>
      </p:sp>
      <p:sp>
        <p:nvSpPr>
          <p:cNvPr id="2100" name="Google Shape;2100;p1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$388,911</a:t>
            </a:r>
            <a:endParaRPr/>
          </a:p>
        </p:txBody>
      </p:sp>
      <p:sp>
        <p:nvSpPr>
          <p:cNvPr id="2101" name="Google Shape;2101;p1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$-688,579</a:t>
            </a:r>
            <a:endParaRPr/>
          </a:p>
        </p:txBody>
      </p:sp>
      <p:sp>
        <p:nvSpPr>
          <p:cNvPr id="2102" name="Google Shape;2102;p1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3" name="Google Shape;2103;p1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104" name="Google Shape;2104;p1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105" name="Google Shape;2105;p1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106" name="Google Shape;2106;p1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107" name="Google Shape;2107;p1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108" name="Google Shape;2108;p1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109" name="Google Shape;2109;p1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110" name="Google Shape;2110;p1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1" name="Google Shape;2111;p1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112" name="Google Shape;2112;p1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</a:t>
            </a:r>
            <a:endParaRPr/>
          </a:p>
        </p:txBody>
      </p:sp>
      <p:sp>
        <p:nvSpPr>
          <p:cNvPr id="2113" name="Google Shape;2113;p1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114" name="Google Shape;2114;p1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</a:t>
            </a:r>
            <a:endParaRPr/>
          </a:p>
        </p:txBody>
      </p:sp>
      <p:sp>
        <p:nvSpPr>
          <p:cNvPr id="2115" name="Google Shape;2115;p1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2116" name="Google Shape;2116;p1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27.6%</a:t>
            </a:r>
            <a:endParaRPr/>
          </a:p>
        </p:txBody>
      </p:sp>
      <p:sp>
        <p:nvSpPr>
          <p:cNvPr id="2117" name="Google Shape;2117;p1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8" name="Google Shape;2118;p1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119" name="Google Shape;2119;p1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</a:t>
            </a:r>
            <a:endParaRPr/>
          </a:p>
        </p:txBody>
      </p:sp>
      <p:sp>
        <p:nvSpPr>
          <p:cNvPr id="2120" name="Google Shape;2120;p1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121" name="Google Shape;2121;p1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</a:t>
            </a:r>
            <a:endParaRPr/>
          </a:p>
        </p:txBody>
      </p:sp>
      <p:sp>
        <p:nvSpPr>
          <p:cNvPr id="2122" name="Google Shape;2122;p1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123" name="Google Shape;2123;p1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23.3%</a:t>
            </a:r>
            <a:endParaRPr/>
          </a:p>
        </p:txBody>
      </p:sp>
      <p:sp>
        <p:nvSpPr>
          <p:cNvPr id="2124" name="Google Shape;2124;p1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5" name="Google Shape;2125;p1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126" name="Google Shape;2126;p1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155</a:t>
            </a:r>
            <a:endParaRPr/>
          </a:p>
        </p:txBody>
      </p:sp>
      <p:sp>
        <p:nvSpPr>
          <p:cNvPr id="2127" name="Google Shape;2127;p1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128" name="Google Shape;2128;p1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149</a:t>
            </a:r>
            <a:endParaRPr/>
          </a:p>
        </p:txBody>
      </p:sp>
      <p:sp>
        <p:nvSpPr>
          <p:cNvPr id="2129" name="Google Shape;2129;p1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2130" name="Google Shape;2130;p1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25.8%</a:t>
            </a:r>
            <a:endParaRPr/>
          </a:p>
        </p:txBody>
      </p:sp>
      <p:sp>
        <p:nvSpPr>
          <p:cNvPr id="2131" name="Google Shape;2131;p1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2" name="Google Shape;2132;p1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133" name="Google Shape;2133;p1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165</a:t>
            </a:r>
            <a:endParaRPr/>
          </a:p>
        </p:txBody>
      </p:sp>
      <p:sp>
        <p:nvSpPr>
          <p:cNvPr id="2134" name="Google Shape;2134;p1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135" name="Google Shape;2135;p1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</a:t>
            </a:r>
            <a:endParaRPr/>
          </a:p>
        </p:txBody>
      </p:sp>
      <p:sp>
        <p:nvSpPr>
          <p:cNvPr id="2136" name="Google Shape;2136;p1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137" name="Google Shape;2137;p1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21.2%</a:t>
            </a:r>
            <a:endParaRPr/>
          </a:p>
        </p:txBody>
      </p:sp>
      <p:sp>
        <p:nvSpPr>
          <p:cNvPr id="2138" name="Google Shape;2138;p1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9" name="Google Shape;2139;p1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140" name="Google Shape;2140;p1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</a:t>
            </a:r>
            <a:endParaRPr/>
          </a:p>
        </p:txBody>
      </p:sp>
      <p:sp>
        <p:nvSpPr>
          <p:cNvPr id="2141" name="Google Shape;2141;p1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142" name="Google Shape;2142;p1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91</a:t>
            </a:r>
            <a:endParaRPr/>
          </a:p>
        </p:txBody>
      </p:sp>
      <p:sp>
        <p:nvSpPr>
          <p:cNvPr id="2143" name="Google Shape;2143;p1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2144" name="Google Shape;2144;p1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2145" name="Google Shape;2145;p1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6" name="Google Shape;2146;p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147" name="Google Shape;2147;p1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496</a:t>
            </a:r>
            <a:endParaRPr/>
          </a:p>
        </p:txBody>
      </p:sp>
      <p:sp>
        <p:nvSpPr>
          <p:cNvPr id="2148" name="Google Shape;2148;p1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2149" name="Google Shape;2149;p1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454</a:t>
            </a:r>
            <a:endParaRPr/>
          </a:p>
        </p:txBody>
      </p:sp>
      <p:sp>
        <p:nvSpPr>
          <p:cNvPr id="2150" name="Google Shape;2150;p1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2151" name="Google Shape;2151;p1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14.9%</a:t>
            </a:r>
            <a:endParaRPr/>
          </a:p>
        </p:txBody>
      </p:sp>
      <p:sp>
        <p:nvSpPr>
          <p:cNvPr id="2152" name="Google Shape;2152;p1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3" name="Google Shape;2153;p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154" name="Google Shape;2154;p1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155" name="Google Shape;2155;p1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156" name="Google Shape;2156;p1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157" name="Google Shape;2157;p1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158" name="Google Shape;2158;p1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159" name="Google Shape;2159;p1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160" name="Google Shape;2160;p1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161" name="Google Shape;2161;p1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162" name="Google Shape;2162;p1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163" name="Google Shape;2163;p1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164" name="Google Shape;2164;p1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165" name="Google Shape;2165;p1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166" name="Google Shape;2166;p1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167" name="Google Shape;2167;p1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168" name="Google Shape;2168;p1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69" name="Google Shape;2169;p1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</a:t>
            </a:r>
            <a:endParaRPr/>
          </a:p>
        </p:txBody>
      </p:sp>
      <p:sp>
        <p:nvSpPr>
          <p:cNvPr id="2170" name="Google Shape;2170;p1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71" name="Google Shape;2171;p1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</a:t>
            </a:r>
            <a:endParaRPr/>
          </a:p>
        </p:txBody>
      </p:sp>
      <p:sp>
        <p:nvSpPr>
          <p:cNvPr id="2172" name="Google Shape;2172;p1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73" name="Google Shape;2173;p1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155</a:t>
            </a:r>
            <a:endParaRPr/>
          </a:p>
        </p:txBody>
      </p:sp>
      <p:sp>
        <p:nvSpPr>
          <p:cNvPr id="2174" name="Google Shape;2174;p1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2175" name="Google Shape;2175;p1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165</a:t>
            </a:r>
            <a:endParaRPr/>
          </a:p>
        </p:txBody>
      </p:sp>
      <p:sp>
        <p:nvSpPr>
          <p:cNvPr id="2176" name="Google Shape;2176;p1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2177" name="Google Shape;2177;p1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</a:t>
            </a:r>
            <a:endParaRPr/>
          </a:p>
        </p:txBody>
      </p:sp>
      <p:sp>
        <p:nvSpPr>
          <p:cNvPr id="2178" name="Google Shape;2178;p1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155</a:t>
            </a:r>
            <a:endParaRPr/>
          </a:p>
        </p:txBody>
      </p:sp>
      <p:sp>
        <p:nvSpPr>
          <p:cNvPr id="2179" name="Google Shape;2179;p1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654</a:t>
            </a:r>
            <a:endParaRPr/>
          </a:p>
        </p:txBody>
      </p:sp>
      <p:sp>
        <p:nvSpPr>
          <p:cNvPr id="2180" name="Google Shape;2180;p1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181" name="Google Shape;2181;p1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82" name="Google Shape;2182;p1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$559K</a:t>
            </a:r>
            <a:endParaRPr/>
          </a:p>
        </p:txBody>
      </p:sp>
      <p:sp>
        <p:nvSpPr>
          <p:cNvPr id="2183" name="Google Shape;2183;p1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84" name="Google Shape;2184;p1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$289K</a:t>
            </a:r>
            <a:endParaRPr/>
          </a:p>
        </p:txBody>
      </p:sp>
      <p:sp>
        <p:nvSpPr>
          <p:cNvPr id="2185" name="Google Shape;2185;p1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86" name="Google Shape;2186;p1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$556K</a:t>
            </a:r>
            <a:endParaRPr/>
          </a:p>
        </p:txBody>
      </p:sp>
      <p:sp>
        <p:nvSpPr>
          <p:cNvPr id="2187" name="Google Shape;2187;p1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$110K</a:t>
            </a:r>
            <a:endParaRPr/>
          </a:p>
        </p:txBody>
      </p:sp>
      <p:sp>
        <p:nvSpPr>
          <p:cNvPr id="2188" name="Google Shape;2188;p1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$395K</a:t>
            </a:r>
            <a:endParaRPr/>
          </a:p>
        </p:txBody>
      </p:sp>
      <p:sp>
        <p:nvSpPr>
          <p:cNvPr id="2189" name="Google Shape;2189;p1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$312K</a:t>
            </a:r>
            <a:endParaRPr/>
          </a:p>
        </p:txBody>
      </p:sp>
      <p:sp>
        <p:nvSpPr>
          <p:cNvPr id="2190" name="Google Shape;2190;p1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$379K</a:t>
            </a:r>
            <a:endParaRPr/>
          </a:p>
        </p:txBody>
      </p:sp>
      <p:sp>
        <p:nvSpPr>
          <p:cNvPr id="2191" name="Google Shape;2191;p1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$422K</a:t>
            </a:r>
            <a:endParaRPr/>
          </a:p>
        </p:txBody>
      </p:sp>
      <p:sp>
        <p:nvSpPr>
          <p:cNvPr id="2192" name="Google Shape;2192;p1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$2.2M</a:t>
            </a:r>
            <a:endParaRPr/>
          </a:p>
        </p:txBody>
      </p:sp>
      <p:sp>
        <p:nvSpPr>
          <p:cNvPr id="2193" name="Google Shape;2193;p1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4" name="Google Shape;2194;p1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195" name="Google Shape;2195;p1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96" name="Google Shape;2196;p1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$2,178,610 YTD gross written premium</a:t>
            </a:r>
            <a:endParaRPr/>
          </a:p>
        </p:txBody>
      </p:sp>
      <p:sp>
        <p:nvSpPr>
          <p:cNvPr id="2197" name="Google Shape;2197;p1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98" name="Google Shape;2198;p1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$1,584,680 in new business production</a:t>
            </a:r>
            <a:endParaRPr/>
          </a:p>
        </p:txBody>
      </p:sp>
      <p:sp>
        <p:nvSpPr>
          <p:cNvPr id="2199" name="Google Shape;2199;p1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0" name="Google Shape;2200;p1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201" name="Google Shape;2201;p1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202" name="Google Shape;2202;p1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43% of new business ($688,579)</a:t>
            </a:r>
            <a:endParaRPr/>
          </a:p>
        </p:txBody>
      </p:sp>
      <p:sp>
        <p:nvSpPr>
          <p:cNvPr id="2203" name="Google Shape;2203;p1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4" name="Google Shape;2204;p1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205" name="Google Shape;2205;p1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206" name="Google Shape;2206;p1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$1,584,680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207" name="Google Shape;2207;p1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208" name="Google Shape;2208;p1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$688,579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12" name="Shape 2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3" name="Google Shape;2213;p1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4" name="Google Shape;2214;p1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Insurance Group Inc Dba Prestige Trucking Insurance Inc</a:t>
            </a:r>
            <a:endParaRPr/>
          </a:p>
        </p:txBody>
      </p:sp>
      <p:sp>
        <p:nvSpPr>
          <p:cNvPr id="2215" name="Google Shape;2215;p1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Southeast  |  State: FL  |  City: Fort Lauderdale</a:t>
            </a:r>
            <a:endParaRPr/>
          </a:p>
        </p:txBody>
      </p:sp>
      <p:sp>
        <p:nvSpPr>
          <p:cNvPr id="2216" name="Google Shape;2216;p1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$1,332,127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217" name="Google Shape;2217;p1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$687,443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218" name="Google Shape;2218;p1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$313,451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219" name="Google Shape;2219;p1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$331,232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220" name="Google Shape;2220;p1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$-651,130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221" name="Google Shape;2221;p1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$5,400,437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222" name="Google Shape;2222;p1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$4,537,723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223" name="Google Shape;2223;p1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224" name="Google Shape;2224;p1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225" name="Google Shape;2225;p1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226" name="Google Shape;2226;p1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227" name="Google Shape;2227;p1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$947,057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228" name="Google Shape;2228;p1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$786,681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229" name="Google Shape;2229;p1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0" name="Google Shape;2230;p1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231" name="Google Shape;2231;p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232" name="Google Shape;2232;p1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233" name="Google Shape;2233;p1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234" name="Google Shape;2234;p1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235" name="Google Shape;2235;p1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236" name="Google Shape;2236;p1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237" name="Google Shape;2237;p1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8" name="Google Shape;2238;p1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239" name="Google Shape;2239;p1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$284,996</a:t>
            </a:r>
            <a:endParaRPr/>
          </a:p>
        </p:txBody>
      </p:sp>
      <p:sp>
        <p:nvSpPr>
          <p:cNvPr id="2240" name="Google Shape;2240;p1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$218,129</a:t>
            </a:r>
            <a:endParaRPr/>
          </a:p>
        </p:txBody>
      </p:sp>
      <p:sp>
        <p:nvSpPr>
          <p:cNvPr id="2241" name="Google Shape;2241;p1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$19,345</a:t>
            </a:r>
            <a:endParaRPr/>
          </a:p>
        </p:txBody>
      </p:sp>
      <p:sp>
        <p:nvSpPr>
          <p:cNvPr id="2242" name="Google Shape;2242;p1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$47,521</a:t>
            </a:r>
            <a:endParaRPr/>
          </a:p>
        </p:txBody>
      </p:sp>
      <p:sp>
        <p:nvSpPr>
          <p:cNvPr id="2243" name="Google Shape;2243;p1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$-35,198</a:t>
            </a:r>
            <a:endParaRPr/>
          </a:p>
        </p:txBody>
      </p:sp>
      <p:sp>
        <p:nvSpPr>
          <p:cNvPr id="2244" name="Google Shape;2244;p1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5" name="Google Shape;2245;p1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246" name="Google Shape;2246;p1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$298,282</a:t>
            </a:r>
            <a:endParaRPr/>
          </a:p>
        </p:txBody>
      </p:sp>
      <p:sp>
        <p:nvSpPr>
          <p:cNvPr id="2247" name="Google Shape;2247;p1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$176,724</a:t>
            </a:r>
            <a:endParaRPr/>
          </a:p>
        </p:txBody>
      </p:sp>
      <p:sp>
        <p:nvSpPr>
          <p:cNvPr id="2248" name="Google Shape;2248;p1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$42,731</a:t>
            </a:r>
            <a:endParaRPr/>
          </a:p>
        </p:txBody>
      </p:sp>
      <p:sp>
        <p:nvSpPr>
          <p:cNvPr id="2249" name="Google Shape;2249;p1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$78,827</a:t>
            </a:r>
            <a:endParaRPr/>
          </a:p>
        </p:txBody>
      </p:sp>
      <p:sp>
        <p:nvSpPr>
          <p:cNvPr id="2250" name="Google Shape;2250;p1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$-204,175</a:t>
            </a:r>
            <a:endParaRPr/>
          </a:p>
        </p:txBody>
      </p:sp>
      <p:sp>
        <p:nvSpPr>
          <p:cNvPr id="2251" name="Google Shape;2251;p1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2" name="Google Shape;2252;p1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53" name="Google Shape;2253;p1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$167,384</a:t>
            </a:r>
            <a:endParaRPr/>
          </a:p>
        </p:txBody>
      </p:sp>
      <p:sp>
        <p:nvSpPr>
          <p:cNvPr id="2254" name="Google Shape;2254;p1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$137,894</a:t>
            </a:r>
            <a:endParaRPr/>
          </a:p>
        </p:txBody>
      </p:sp>
      <p:sp>
        <p:nvSpPr>
          <p:cNvPr id="2255" name="Google Shape;2255;p1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$32,214</a:t>
            </a:r>
            <a:endParaRPr/>
          </a:p>
        </p:txBody>
      </p:sp>
      <p:sp>
        <p:nvSpPr>
          <p:cNvPr id="2256" name="Google Shape;2256;p1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$-2,724</a:t>
            </a:r>
            <a:endParaRPr/>
          </a:p>
        </p:txBody>
      </p:sp>
      <p:sp>
        <p:nvSpPr>
          <p:cNvPr id="2257" name="Google Shape;2257;p1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$-24,309</a:t>
            </a:r>
            <a:endParaRPr/>
          </a:p>
        </p:txBody>
      </p:sp>
      <p:sp>
        <p:nvSpPr>
          <p:cNvPr id="2258" name="Google Shape;2258;p1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9" name="Google Shape;2259;p1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60" name="Google Shape;2260;p1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$470,143</a:t>
            </a:r>
            <a:endParaRPr/>
          </a:p>
        </p:txBody>
      </p:sp>
      <p:sp>
        <p:nvSpPr>
          <p:cNvPr id="2261" name="Google Shape;2261;p1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$118,841</a:t>
            </a:r>
            <a:endParaRPr/>
          </a:p>
        </p:txBody>
      </p:sp>
      <p:sp>
        <p:nvSpPr>
          <p:cNvPr id="2262" name="Google Shape;2262;p1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$137,438</a:t>
            </a:r>
            <a:endParaRPr/>
          </a:p>
        </p:txBody>
      </p:sp>
      <p:sp>
        <p:nvSpPr>
          <p:cNvPr id="2263" name="Google Shape;2263;p1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$213,864</a:t>
            </a:r>
            <a:endParaRPr/>
          </a:p>
        </p:txBody>
      </p:sp>
      <p:sp>
        <p:nvSpPr>
          <p:cNvPr id="2264" name="Google Shape;2264;p1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$-346,948</a:t>
            </a:r>
            <a:endParaRPr/>
          </a:p>
        </p:txBody>
      </p:sp>
      <p:sp>
        <p:nvSpPr>
          <p:cNvPr id="2265" name="Google Shape;2265;p1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6" name="Google Shape;2266;p1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267" name="Google Shape;2267;p1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$111,323</a:t>
            </a:r>
            <a:endParaRPr/>
          </a:p>
        </p:txBody>
      </p:sp>
      <p:sp>
        <p:nvSpPr>
          <p:cNvPr id="2268" name="Google Shape;2268;p1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$35,856</a:t>
            </a:r>
            <a:endParaRPr/>
          </a:p>
        </p:txBody>
      </p:sp>
      <p:sp>
        <p:nvSpPr>
          <p:cNvPr id="2269" name="Google Shape;2269;p1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$81,723</a:t>
            </a:r>
            <a:endParaRPr/>
          </a:p>
        </p:txBody>
      </p:sp>
      <p:sp>
        <p:nvSpPr>
          <p:cNvPr id="2270" name="Google Shape;2270;p1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$-6,256</a:t>
            </a:r>
            <a:endParaRPr/>
          </a:p>
        </p:txBody>
      </p:sp>
      <p:sp>
        <p:nvSpPr>
          <p:cNvPr id="2271" name="Google Shape;2271;p1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$-40,499</a:t>
            </a:r>
            <a:endParaRPr/>
          </a:p>
        </p:txBody>
      </p:sp>
      <p:sp>
        <p:nvSpPr>
          <p:cNvPr id="2272" name="Google Shape;2272;p1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3" name="Google Shape;2273;p1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274" name="Google Shape;2274;p1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$1,332,127</a:t>
            </a:r>
            <a:endParaRPr/>
          </a:p>
        </p:txBody>
      </p:sp>
      <p:sp>
        <p:nvSpPr>
          <p:cNvPr id="2275" name="Google Shape;2275;p1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$687,443</a:t>
            </a:r>
            <a:endParaRPr/>
          </a:p>
        </p:txBody>
      </p:sp>
      <p:sp>
        <p:nvSpPr>
          <p:cNvPr id="2276" name="Google Shape;2276;p1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$313,451</a:t>
            </a:r>
            <a:endParaRPr/>
          </a:p>
        </p:txBody>
      </p:sp>
      <p:sp>
        <p:nvSpPr>
          <p:cNvPr id="2277" name="Google Shape;2277;p1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$331,232</a:t>
            </a:r>
            <a:endParaRPr/>
          </a:p>
        </p:txBody>
      </p:sp>
      <p:sp>
        <p:nvSpPr>
          <p:cNvPr id="2278" name="Google Shape;2278;p1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$-651,130</a:t>
            </a:r>
            <a:endParaRPr/>
          </a:p>
        </p:txBody>
      </p:sp>
      <p:sp>
        <p:nvSpPr>
          <p:cNvPr id="2279" name="Google Shape;2279;p1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0" name="Google Shape;2280;p1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281" name="Google Shape;2281;p1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282" name="Google Shape;2282;p1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283" name="Google Shape;2283;p1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284" name="Google Shape;2284;p1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285" name="Google Shape;2285;p1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286" name="Google Shape;2286;p1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287" name="Google Shape;2287;p1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8" name="Google Shape;2288;p1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289" name="Google Shape;2289;p1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</a:t>
            </a:r>
            <a:endParaRPr/>
          </a:p>
        </p:txBody>
      </p:sp>
      <p:sp>
        <p:nvSpPr>
          <p:cNvPr id="2290" name="Google Shape;2290;p1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291" name="Google Shape;2291;p1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229</a:t>
            </a:r>
            <a:endParaRPr/>
          </a:p>
        </p:txBody>
      </p:sp>
      <p:sp>
        <p:nvSpPr>
          <p:cNvPr id="2292" name="Google Shape;2292;p1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293" name="Google Shape;2293;p1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10.2%</a:t>
            </a:r>
            <a:endParaRPr/>
          </a:p>
        </p:txBody>
      </p:sp>
      <p:sp>
        <p:nvSpPr>
          <p:cNvPr id="2294" name="Google Shape;2294;p1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5" name="Google Shape;2295;p1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296" name="Google Shape;2296;p1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327</a:t>
            </a:r>
            <a:endParaRPr/>
          </a:p>
        </p:txBody>
      </p:sp>
      <p:sp>
        <p:nvSpPr>
          <p:cNvPr id="2297" name="Google Shape;2297;p1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298" name="Google Shape;2298;p1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302</a:t>
            </a:r>
            <a:endParaRPr/>
          </a:p>
        </p:txBody>
      </p:sp>
      <p:sp>
        <p:nvSpPr>
          <p:cNvPr id="2299" name="Google Shape;2299;p1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2300" name="Google Shape;2300;p1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2301" name="Google Shape;2301;p1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2" name="Google Shape;2302;p1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303" name="Google Shape;2303;p1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371</a:t>
            </a:r>
            <a:endParaRPr/>
          </a:p>
        </p:txBody>
      </p:sp>
      <p:sp>
        <p:nvSpPr>
          <p:cNvPr id="2304" name="Google Shape;2304;p1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305" name="Google Shape;2305;p1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346</a:t>
            </a:r>
            <a:endParaRPr/>
          </a:p>
        </p:txBody>
      </p:sp>
      <p:sp>
        <p:nvSpPr>
          <p:cNvPr id="2306" name="Google Shape;2306;p1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2307" name="Google Shape;2307;p1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</p:txBody>
      </p:sp>
      <p:sp>
        <p:nvSpPr>
          <p:cNvPr id="2308" name="Google Shape;2308;p1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9" name="Google Shape;2309;p1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310" name="Google Shape;2310;p1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353</a:t>
            </a:r>
            <a:endParaRPr/>
          </a:p>
        </p:txBody>
      </p:sp>
      <p:sp>
        <p:nvSpPr>
          <p:cNvPr id="2311" name="Google Shape;2311;p1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312" name="Google Shape;2312;p1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324</a:t>
            </a:r>
            <a:endParaRPr/>
          </a:p>
        </p:txBody>
      </p:sp>
      <p:sp>
        <p:nvSpPr>
          <p:cNvPr id="2313" name="Google Shape;2313;p1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314" name="Google Shape;2314;p1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2315" name="Google Shape;2315;p1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6" name="Google Shape;2316;p1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317" name="Google Shape;2317;p1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181</a:t>
            </a:r>
            <a:endParaRPr/>
          </a:p>
        </p:txBody>
      </p:sp>
      <p:sp>
        <p:nvSpPr>
          <p:cNvPr id="2318" name="Google Shape;2318;p1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319" name="Google Shape;2319;p1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169</a:t>
            </a:r>
            <a:endParaRPr/>
          </a:p>
        </p:txBody>
      </p:sp>
      <p:sp>
        <p:nvSpPr>
          <p:cNvPr id="2320" name="Google Shape;2320;p1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321" name="Google Shape;2321;p1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3.9%</a:t>
            </a:r>
            <a:endParaRPr/>
          </a:p>
        </p:txBody>
      </p:sp>
      <p:sp>
        <p:nvSpPr>
          <p:cNvPr id="2322" name="Google Shape;2322;p1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3" name="Google Shape;2323;p1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324" name="Google Shape;2324;p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1393</a:t>
            </a:r>
            <a:endParaRPr/>
          </a:p>
        </p:txBody>
      </p:sp>
      <p:sp>
        <p:nvSpPr>
          <p:cNvPr id="2325" name="Google Shape;2325;p1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</a:t>
            </a:r>
            <a:endParaRPr/>
          </a:p>
        </p:txBody>
      </p:sp>
      <p:sp>
        <p:nvSpPr>
          <p:cNvPr id="2326" name="Google Shape;2326;p1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1300</a:t>
            </a:r>
            <a:endParaRPr/>
          </a:p>
        </p:txBody>
      </p:sp>
      <p:sp>
        <p:nvSpPr>
          <p:cNvPr id="2327" name="Google Shape;2327;p1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2328" name="Google Shape;2328;p1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2329" name="Google Shape;2329;p1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0" name="Google Shape;2330;p1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331" name="Google Shape;2331;p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332" name="Google Shape;2332;p1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333" name="Google Shape;2333;p1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334" name="Google Shape;2334;p1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335" name="Google Shape;2335;p1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336" name="Google Shape;2336;p1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337" name="Google Shape;2337;p1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338" name="Google Shape;2338;p1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339" name="Google Shape;2339;p1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340" name="Google Shape;2340;p1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341" name="Google Shape;2341;p1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342" name="Google Shape;2342;p1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343" name="Google Shape;2343;p1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344" name="Google Shape;2344;p1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345" name="Google Shape;2345;p1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</p:txBody>
      </p:sp>
      <p:sp>
        <p:nvSpPr>
          <p:cNvPr id="2346" name="Google Shape;2346;p1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</a:t>
            </a:r>
            <a:endParaRPr/>
          </a:p>
        </p:txBody>
      </p:sp>
      <p:sp>
        <p:nvSpPr>
          <p:cNvPr id="2347" name="Google Shape;2347;p1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176</a:t>
            </a:r>
            <a:endParaRPr/>
          </a:p>
        </p:txBody>
      </p:sp>
      <p:sp>
        <p:nvSpPr>
          <p:cNvPr id="2348" name="Google Shape;2348;p1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327</a:t>
            </a:r>
            <a:endParaRPr/>
          </a:p>
        </p:txBody>
      </p:sp>
      <p:sp>
        <p:nvSpPr>
          <p:cNvPr id="2349" name="Google Shape;2349;p1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</a:t>
            </a:r>
            <a:endParaRPr/>
          </a:p>
        </p:txBody>
      </p:sp>
      <p:sp>
        <p:nvSpPr>
          <p:cNvPr id="2350" name="Google Shape;2350;p1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371</a:t>
            </a:r>
            <a:endParaRPr/>
          </a:p>
        </p:txBody>
      </p:sp>
      <p:sp>
        <p:nvSpPr>
          <p:cNvPr id="2351" name="Google Shape;2351;p1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</a:t>
            </a:r>
            <a:endParaRPr/>
          </a:p>
        </p:txBody>
      </p:sp>
      <p:sp>
        <p:nvSpPr>
          <p:cNvPr id="2352" name="Google Shape;2352;p1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353</a:t>
            </a:r>
            <a:endParaRPr/>
          </a:p>
        </p:txBody>
      </p:sp>
      <p:sp>
        <p:nvSpPr>
          <p:cNvPr id="2353" name="Google Shape;2353;p1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203</a:t>
            </a:r>
            <a:endParaRPr/>
          </a:p>
        </p:txBody>
      </p:sp>
      <p:sp>
        <p:nvSpPr>
          <p:cNvPr id="2354" name="Google Shape;2354;p1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181</a:t>
            </a:r>
            <a:endParaRPr/>
          </a:p>
        </p:txBody>
      </p:sp>
      <p:sp>
        <p:nvSpPr>
          <p:cNvPr id="2355" name="Google Shape;2355;p1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1105</a:t>
            </a:r>
            <a:endParaRPr/>
          </a:p>
        </p:txBody>
      </p:sp>
      <p:sp>
        <p:nvSpPr>
          <p:cNvPr id="2356" name="Google Shape;2356;p1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1488</a:t>
            </a:r>
            <a:endParaRPr/>
          </a:p>
        </p:txBody>
      </p:sp>
      <p:sp>
        <p:nvSpPr>
          <p:cNvPr id="2357" name="Google Shape;2357;p1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358" name="Google Shape;2358;p1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$372K</a:t>
            </a:r>
            <a:endParaRPr/>
          </a:p>
        </p:txBody>
      </p:sp>
      <p:sp>
        <p:nvSpPr>
          <p:cNvPr id="2359" name="Google Shape;2359;p1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$285K</a:t>
            </a:r>
            <a:endParaRPr/>
          </a:p>
        </p:txBody>
      </p:sp>
      <p:sp>
        <p:nvSpPr>
          <p:cNvPr id="2360" name="Google Shape;2360;p1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$450K</a:t>
            </a:r>
            <a:endParaRPr/>
          </a:p>
        </p:txBody>
      </p:sp>
      <p:sp>
        <p:nvSpPr>
          <p:cNvPr id="2361" name="Google Shape;2361;p1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$298K</a:t>
            </a:r>
            <a:endParaRPr/>
          </a:p>
        </p:txBody>
      </p:sp>
      <p:sp>
        <p:nvSpPr>
          <p:cNvPr id="2362" name="Google Shape;2362;p1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$447K</a:t>
            </a:r>
            <a:endParaRPr/>
          </a:p>
        </p:txBody>
      </p:sp>
      <p:sp>
        <p:nvSpPr>
          <p:cNvPr id="2363" name="Google Shape;2363;p1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$167K</a:t>
            </a:r>
            <a:endParaRPr/>
          </a:p>
        </p:txBody>
      </p:sp>
      <p:sp>
        <p:nvSpPr>
          <p:cNvPr id="2364" name="Google Shape;2364;p1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$566K</a:t>
            </a:r>
            <a:endParaRPr/>
          </a:p>
        </p:txBody>
      </p:sp>
      <p:sp>
        <p:nvSpPr>
          <p:cNvPr id="2365" name="Google Shape;2365;p1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$470K</a:t>
            </a:r>
            <a:endParaRPr/>
          </a:p>
        </p:txBody>
      </p:sp>
      <p:sp>
        <p:nvSpPr>
          <p:cNvPr id="2366" name="Google Shape;2366;p1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$360K</a:t>
            </a:r>
            <a:endParaRPr/>
          </a:p>
        </p:txBody>
      </p:sp>
      <p:sp>
        <p:nvSpPr>
          <p:cNvPr id="2367" name="Google Shape;2367;p1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$111K</a:t>
            </a:r>
            <a:endParaRPr/>
          </a:p>
        </p:txBody>
      </p:sp>
      <p:sp>
        <p:nvSpPr>
          <p:cNvPr id="2368" name="Google Shape;2368;p1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$2.2M</a:t>
            </a:r>
            <a:endParaRPr/>
          </a:p>
        </p:txBody>
      </p:sp>
      <p:sp>
        <p:nvSpPr>
          <p:cNvPr id="2369" name="Google Shape;2369;p1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$1.3M</a:t>
            </a:r>
            <a:endParaRPr/>
          </a:p>
        </p:txBody>
      </p:sp>
      <p:sp>
        <p:nvSpPr>
          <p:cNvPr id="2370" name="Google Shape;2370;p1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1" name="Google Shape;2371;p1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372" name="Google Shape;2372;p1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73" name="Google Shape;2373;p1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$1,332,127 YTD gross written premium</a:t>
            </a:r>
            <a:endParaRPr/>
          </a:p>
        </p:txBody>
      </p:sp>
      <p:sp>
        <p:nvSpPr>
          <p:cNvPr id="2374" name="Google Shape;2374;p1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75" name="Google Shape;2375;p1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$687,443 in new business production</a:t>
            </a:r>
            <a:endParaRPr/>
          </a:p>
        </p:txBody>
      </p:sp>
      <p:sp>
        <p:nvSpPr>
          <p:cNvPr id="2376" name="Google Shape;2376;p1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7" name="Google Shape;2377;p1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378" name="Google Shape;2378;p1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379" name="Google Shape;2379;p1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95% of new business ($651,130)</a:t>
            </a:r>
            <a:endParaRPr/>
          </a:p>
        </p:txBody>
      </p:sp>
      <p:sp>
        <p:nvSpPr>
          <p:cNvPr id="2380" name="Google Shape;2380;p1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381" name="Google Shape;2381;p1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76% month-over-month</a:t>
            </a:r>
            <a:endParaRPr/>
          </a:p>
        </p:txBody>
      </p:sp>
      <p:sp>
        <p:nvSpPr>
          <p:cNvPr id="2382" name="Google Shape;2382;p1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3" name="Google Shape;2383;p1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384" name="Google Shape;2384;p1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385" name="Google Shape;2385;p1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$687,443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386" name="Google Shape;2386;p1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387" name="Google Shape;2387;p1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$651,130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91" name="Shape 2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2" name="Google Shape;2392;p2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3" name="Google Shape;2393;p2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2394" name="Google Shape;2394;p2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N/A  |  City: N/A</a:t>
            </a:r>
            <a:endParaRPr/>
          </a:p>
        </p:txBody>
      </p:sp>
      <p:sp>
        <p:nvSpPr>
          <p:cNvPr id="2395" name="Google Shape;2395;p2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$666,285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396" name="Google Shape;2396;p2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$469,323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97" name="Google Shape;2397;p2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$44,107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98" name="Google Shape;2398;p2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$152,854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99" name="Google Shape;2399;p2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$-374,009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400" name="Google Shape;2400;p2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$761,577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401" name="Google Shape;2401;p2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$1,322,967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402" name="Google Shape;2402;p2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403" name="Google Shape;2403;p2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404" name="Google Shape;2404;p2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405" name="Google Shape;2405;p2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406" name="Google Shape;2406;p2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$189,240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407" name="Google Shape;2407;p2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$379,603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408" name="Google Shape;2408;p2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9" name="Google Shape;2409;p2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410" name="Google Shape;2410;p2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411" name="Google Shape;2411;p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412" name="Google Shape;2412;p2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413" name="Google Shape;2413;p2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414" name="Google Shape;2414;p2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415" name="Google Shape;2415;p2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416" name="Google Shape;2416;p2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7" name="Google Shape;2417;p2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418" name="Google Shape;2418;p2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$86,046</a:t>
            </a:r>
            <a:endParaRPr/>
          </a:p>
        </p:txBody>
      </p:sp>
      <p:sp>
        <p:nvSpPr>
          <p:cNvPr id="2419" name="Google Shape;2419;p2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$68,097</a:t>
            </a:r>
            <a:endParaRPr/>
          </a:p>
        </p:txBody>
      </p:sp>
      <p:sp>
        <p:nvSpPr>
          <p:cNvPr id="2420" name="Google Shape;2420;p2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21" name="Google Shape;2421;p2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$17,948</a:t>
            </a:r>
            <a:endParaRPr/>
          </a:p>
        </p:txBody>
      </p:sp>
      <p:sp>
        <p:nvSpPr>
          <p:cNvPr id="2422" name="Google Shape;2422;p2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$-17,037</a:t>
            </a:r>
            <a:endParaRPr/>
          </a:p>
        </p:txBody>
      </p:sp>
      <p:sp>
        <p:nvSpPr>
          <p:cNvPr id="2423" name="Google Shape;2423;p2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4" name="Google Shape;2424;p2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425" name="Google Shape;2425;p2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$196,128</a:t>
            </a:r>
            <a:endParaRPr/>
          </a:p>
        </p:txBody>
      </p:sp>
      <p:sp>
        <p:nvSpPr>
          <p:cNvPr id="2426" name="Google Shape;2426;p2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$103,155</a:t>
            </a:r>
            <a:endParaRPr/>
          </a:p>
        </p:txBody>
      </p:sp>
      <p:sp>
        <p:nvSpPr>
          <p:cNvPr id="2427" name="Google Shape;2427;p2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$44,107</a:t>
            </a:r>
            <a:endParaRPr/>
          </a:p>
        </p:txBody>
      </p:sp>
      <p:sp>
        <p:nvSpPr>
          <p:cNvPr id="2428" name="Google Shape;2428;p2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$48,865</a:t>
            </a:r>
            <a:endParaRPr/>
          </a:p>
        </p:txBody>
      </p:sp>
      <p:sp>
        <p:nvSpPr>
          <p:cNvPr id="2429" name="Google Shape;2429;p2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$-114,675</a:t>
            </a:r>
            <a:endParaRPr/>
          </a:p>
        </p:txBody>
      </p:sp>
      <p:sp>
        <p:nvSpPr>
          <p:cNvPr id="2430" name="Google Shape;2430;p2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1" name="Google Shape;2431;p2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32" name="Google Shape;2432;p2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$114,149</a:t>
            </a:r>
            <a:endParaRPr/>
          </a:p>
        </p:txBody>
      </p:sp>
      <p:sp>
        <p:nvSpPr>
          <p:cNvPr id="2433" name="Google Shape;2433;p2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$48,762</a:t>
            </a:r>
            <a:endParaRPr/>
          </a:p>
        </p:txBody>
      </p:sp>
      <p:sp>
        <p:nvSpPr>
          <p:cNvPr id="2434" name="Google Shape;2434;p2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35" name="Google Shape;2435;p2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$65,388</a:t>
            </a:r>
            <a:endParaRPr/>
          </a:p>
        </p:txBody>
      </p:sp>
      <p:sp>
        <p:nvSpPr>
          <p:cNvPr id="2436" name="Google Shape;2436;p2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$-62,815</a:t>
            </a:r>
            <a:endParaRPr/>
          </a:p>
        </p:txBody>
      </p:sp>
      <p:sp>
        <p:nvSpPr>
          <p:cNvPr id="2437" name="Google Shape;2437;p2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8" name="Google Shape;2438;p2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439" name="Google Shape;2439;p2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$199,219</a:t>
            </a:r>
            <a:endParaRPr/>
          </a:p>
        </p:txBody>
      </p:sp>
      <p:sp>
        <p:nvSpPr>
          <p:cNvPr id="2440" name="Google Shape;2440;p2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$178,418</a:t>
            </a:r>
            <a:endParaRPr/>
          </a:p>
        </p:txBody>
      </p:sp>
      <p:sp>
        <p:nvSpPr>
          <p:cNvPr id="2441" name="Google Shape;2441;p2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42" name="Google Shape;2442;p2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$20,801</a:t>
            </a:r>
            <a:endParaRPr/>
          </a:p>
        </p:txBody>
      </p:sp>
      <p:sp>
        <p:nvSpPr>
          <p:cNvPr id="2443" name="Google Shape;2443;p2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$-36,967</a:t>
            </a:r>
            <a:endParaRPr/>
          </a:p>
        </p:txBody>
      </p:sp>
      <p:sp>
        <p:nvSpPr>
          <p:cNvPr id="2444" name="Google Shape;2444;p2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5" name="Google Shape;2445;p2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446" name="Google Shape;2446;p2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$70,742</a:t>
            </a:r>
            <a:endParaRPr/>
          </a:p>
        </p:txBody>
      </p:sp>
      <p:sp>
        <p:nvSpPr>
          <p:cNvPr id="2447" name="Google Shape;2447;p2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$70,890</a:t>
            </a:r>
            <a:endParaRPr/>
          </a:p>
        </p:txBody>
      </p:sp>
      <p:sp>
        <p:nvSpPr>
          <p:cNvPr id="2448" name="Google Shape;2448;p2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49" name="Google Shape;2449;p2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$-148</a:t>
            </a:r>
            <a:endParaRPr/>
          </a:p>
        </p:txBody>
      </p:sp>
      <p:sp>
        <p:nvSpPr>
          <p:cNvPr id="2450" name="Google Shape;2450;p2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$-142,515</a:t>
            </a:r>
            <a:endParaRPr/>
          </a:p>
        </p:txBody>
      </p:sp>
      <p:sp>
        <p:nvSpPr>
          <p:cNvPr id="2451" name="Google Shape;2451;p2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2" name="Google Shape;2452;p2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453" name="Google Shape;2453;p2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$666,285</a:t>
            </a:r>
            <a:endParaRPr/>
          </a:p>
        </p:txBody>
      </p:sp>
      <p:sp>
        <p:nvSpPr>
          <p:cNvPr id="2454" name="Google Shape;2454;p2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$469,323</a:t>
            </a:r>
            <a:endParaRPr/>
          </a:p>
        </p:txBody>
      </p:sp>
      <p:sp>
        <p:nvSpPr>
          <p:cNvPr id="2455" name="Google Shape;2455;p2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$44,107</a:t>
            </a:r>
            <a:endParaRPr/>
          </a:p>
        </p:txBody>
      </p:sp>
      <p:sp>
        <p:nvSpPr>
          <p:cNvPr id="2456" name="Google Shape;2456;p2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$152,854</a:t>
            </a:r>
            <a:endParaRPr/>
          </a:p>
        </p:txBody>
      </p:sp>
      <p:sp>
        <p:nvSpPr>
          <p:cNvPr id="2457" name="Google Shape;2457;p2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$-374,009</a:t>
            </a:r>
            <a:endParaRPr/>
          </a:p>
        </p:txBody>
      </p:sp>
      <p:sp>
        <p:nvSpPr>
          <p:cNvPr id="2458" name="Google Shape;2458;p2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9" name="Google Shape;2459;p2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460" name="Google Shape;2460;p2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461" name="Google Shape;2461;p2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462" name="Google Shape;2462;p2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463" name="Google Shape;2463;p2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464" name="Google Shape;2464;p2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465" name="Google Shape;2465;p2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466" name="Google Shape;2466;p2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7" name="Google Shape;2467;p2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468" name="Google Shape;2468;p2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198</a:t>
            </a:r>
            <a:endParaRPr/>
          </a:p>
        </p:txBody>
      </p:sp>
      <p:sp>
        <p:nvSpPr>
          <p:cNvPr id="2469" name="Google Shape;2469;p2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470" name="Google Shape;2470;p2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183</a:t>
            </a:r>
            <a:endParaRPr/>
          </a:p>
        </p:txBody>
      </p:sp>
      <p:sp>
        <p:nvSpPr>
          <p:cNvPr id="2471" name="Google Shape;2471;p2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472" name="Google Shape;2472;p2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2473" name="Google Shape;2473;p2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4" name="Google Shape;2474;p2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475" name="Google Shape;2475;p2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167</a:t>
            </a:r>
            <a:endParaRPr/>
          </a:p>
        </p:txBody>
      </p:sp>
      <p:sp>
        <p:nvSpPr>
          <p:cNvPr id="2476" name="Google Shape;2476;p2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2477" name="Google Shape;2477;p2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</a:t>
            </a:r>
            <a:endParaRPr/>
          </a:p>
        </p:txBody>
      </p:sp>
      <p:sp>
        <p:nvSpPr>
          <p:cNvPr id="2478" name="Google Shape;2478;p2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479" name="Google Shape;2479;p2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2480" name="Google Shape;2480;p2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1" name="Google Shape;2481;p2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82" name="Google Shape;2482;p2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144</a:t>
            </a:r>
            <a:endParaRPr/>
          </a:p>
        </p:txBody>
      </p:sp>
      <p:sp>
        <p:nvSpPr>
          <p:cNvPr id="2483" name="Google Shape;2483;p2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484" name="Google Shape;2484;p2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</a:t>
            </a:r>
            <a:endParaRPr/>
          </a:p>
        </p:txBody>
      </p:sp>
      <p:sp>
        <p:nvSpPr>
          <p:cNvPr id="2485" name="Google Shape;2485;p2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486" name="Google Shape;2486;p2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2487" name="Google Shape;2487;p2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8" name="Google Shape;2488;p2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489" name="Google Shape;2489;p2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191</a:t>
            </a:r>
            <a:endParaRPr/>
          </a:p>
        </p:txBody>
      </p:sp>
      <p:sp>
        <p:nvSpPr>
          <p:cNvPr id="2490" name="Google Shape;2490;p2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491" name="Google Shape;2491;p2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173</a:t>
            </a:r>
            <a:endParaRPr/>
          </a:p>
        </p:txBody>
      </p:sp>
      <p:sp>
        <p:nvSpPr>
          <p:cNvPr id="2492" name="Google Shape;2492;p2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493" name="Google Shape;2493;p2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2494" name="Google Shape;2494;p2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5" name="Google Shape;2495;p2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496" name="Google Shape;2496;p2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</a:t>
            </a:r>
            <a:endParaRPr/>
          </a:p>
        </p:txBody>
      </p:sp>
      <p:sp>
        <p:nvSpPr>
          <p:cNvPr id="2497" name="Google Shape;2497;p2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498" name="Google Shape;2498;p2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2499" name="Google Shape;2499;p2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500" name="Google Shape;2500;p2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2501" name="Google Shape;2501;p2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2" name="Google Shape;2502;p2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503" name="Google Shape;2503;p2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747</a:t>
            </a:r>
            <a:endParaRPr/>
          </a:p>
        </p:txBody>
      </p:sp>
      <p:sp>
        <p:nvSpPr>
          <p:cNvPr id="2504" name="Google Shape;2504;p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2505" name="Google Shape;2505;p2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682</a:t>
            </a:r>
            <a:endParaRPr/>
          </a:p>
        </p:txBody>
      </p:sp>
      <p:sp>
        <p:nvSpPr>
          <p:cNvPr id="2506" name="Google Shape;2506;p2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507" name="Google Shape;2507;p2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2.4%</a:t>
            </a:r>
            <a:endParaRPr/>
          </a:p>
        </p:txBody>
      </p:sp>
      <p:sp>
        <p:nvSpPr>
          <p:cNvPr id="2508" name="Google Shape;2508;p2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9" name="Google Shape;2509;p2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510" name="Google Shape;2510;p2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511" name="Google Shape;2511;p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512" name="Google Shape;2512;p2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513" name="Google Shape;2513;p2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514" name="Google Shape;2514;p2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515" name="Google Shape;2515;p2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516" name="Google Shape;2516;p2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517" name="Google Shape;2517;p2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518" name="Google Shape;2518;p2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519" name="Google Shape;2519;p2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520" name="Google Shape;2520;p2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521" name="Google Shape;2521;p2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522" name="Google Shape;2522;p2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523" name="Google Shape;2523;p2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524" name="Google Shape;2524;p2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25" name="Google Shape;2525;p2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198</a:t>
            </a:r>
            <a:endParaRPr/>
          </a:p>
        </p:txBody>
      </p:sp>
      <p:sp>
        <p:nvSpPr>
          <p:cNvPr id="2526" name="Google Shape;2526;p2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27" name="Google Shape;2527;p2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167</a:t>
            </a:r>
            <a:endParaRPr/>
          </a:p>
        </p:txBody>
      </p:sp>
      <p:sp>
        <p:nvSpPr>
          <p:cNvPr id="2528" name="Google Shape;2528;p2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529" name="Google Shape;2529;p2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144</a:t>
            </a:r>
            <a:endParaRPr/>
          </a:p>
        </p:txBody>
      </p:sp>
      <p:sp>
        <p:nvSpPr>
          <p:cNvPr id="2530" name="Google Shape;2530;p2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2531" name="Google Shape;2531;p2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191</a:t>
            </a:r>
            <a:endParaRPr/>
          </a:p>
        </p:txBody>
      </p:sp>
      <p:sp>
        <p:nvSpPr>
          <p:cNvPr id="2532" name="Google Shape;2532;p2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135</a:t>
            </a:r>
            <a:endParaRPr/>
          </a:p>
        </p:txBody>
      </p:sp>
      <p:sp>
        <p:nvSpPr>
          <p:cNvPr id="2533" name="Google Shape;2533;p2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</a:t>
            </a:r>
            <a:endParaRPr/>
          </a:p>
        </p:txBody>
      </p:sp>
      <p:sp>
        <p:nvSpPr>
          <p:cNvPr id="2534" name="Google Shape;2534;p2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219</a:t>
            </a:r>
            <a:endParaRPr/>
          </a:p>
        </p:txBody>
      </p:sp>
      <p:sp>
        <p:nvSpPr>
          <p:cNvPr id="2535" name="Google Shape;2535;p2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796</a:t>
            </a:r>
            <a:endParaRPr/>
          </a:p>
        </p:txBody>
      </p:sp>
      <p:sp>
        <p:nvSpPr>
          <p:cNvPr id="2536" name="Google Shape;2536;p2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537" name="Google Shape;2537;p2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38" name="Google Shape;2538;p2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$86K</a:t>
            </a:r>
            <a:endParaRPr/>
          </a:p>
        </p:txBody>
      </p:sp>
      <p:sp>
        <p:nvSpPr>
          <p:cNvPr id="2539" name="Google Shape;2539;p2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40" name="Google Shape;2540;p2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$196K</a:t>
            </a:r>
            <a:endParaRPr/>
          </a:p>
        </p:txBody>
      </p:sp>
      <p:sp>
        <p:nvSpPr>
          <p:cNvPr id="2541" name="Google Shape;2541;p2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42" name="Google Shape;2542;p2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$114K</a:t>
            </a:r>
            <a:endParaRPr/>
          </a:p>
        </p:txBody>
      </p:sp>
      <p:sp>
        <p:nvSpPr>
          <p:cNvPr id="2543" name="Google Shape;2543;p2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2544" name="Google Shape;2544;p2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$199K</a:t>
            </a:r>
            <a:endParaRPr/>
          </a:p>
        </p:txBody>
      </p:sp>
      <p:sp>
        <p:nvSpPr>
          <p:cNvPr id="2545" name="Google Shape;2545;p2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$70K</a:t>
            </a:r>
            <a:endParaRPr/>
          </a:p>
        </p:txBody>
      </p:sp>
      <p:sp>
        <p:nvSpPr>
          <p:cNvPr id="2546" name="Google Shape;2546;p2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$71K</a:t>
            </a:r>
            <a:endParaRPr/>
          </a:p>
        </p:txBody>
      </p:sp>
      <p:sp>
        <p:nvSpPr>
          <p:cNvPr id="2547" name="Google Shape;2547;p2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2548" name="Google Shape;2548;p2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$666K</a:t>
            </a:r>
            <a:endParaRPr/>
          </a:p>
        </p:txBody>
      </p:sp>
      <p:sp>
        <p:nvSpPr>
          <p:cNvPr id="2549" name="Google Shape;2549;p2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0" name="Google Shape;2550;p2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551" name="Google Shape;2551;p2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552" name="Google Shape;2552;p2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$666,285 YTD gross written premium</a:t>
            </a:r>
            <a:endParaRPr/>
          </a:p>
        </p:txBody>
      </p:sp>
      <p:sp>
        <p:nvSpPr>
          <p:cNvPr id="2553" name="Google Shape;2553;p2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554" name="Google Shape;2554;p2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$469,323 in new business production</a:t>
            </a:r>
            <a:endParaRPr/>
          </a:p>
        </p:txBody>
      </p:sp>
      <p:sp>
        <p:nvSpPr>
          <p:cNvPr id="2555" name="Google Shape;2555;p2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6" name="Google Shape;2556;p2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557" name="Google Shape;2557;p2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558" name="Google Shape;2558;p2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2.4% hit ratio on 747 subs - needs coaching</a:t>
            </a:r>
            <a:endParaRPr/>
          </a:p>
        </p:txBody>
      </p:sp>
      <p:sp>
        <p:nvSpPr>
          <p:cNvPr id="2559" name="Google Shape;2559;p2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560" name="Google Shape;2560;p2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80% of new business ($374,009)</a:t>
            </a:r>
            <a:endParaRPr/>
          </a:p>
        </p:txBody>
      </p:sp>
      <p:sp>
        <p:nvSpPr>
          <p:cNvPr id="2561" name="Google Shape;2561;p2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2" name="Google Shape;2562;p2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563" name="Google Shape;2563;p2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564" name="Google Shape;2564;p2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(747 subs, only 18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565" name="Google Shape;2565;p2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566" name="Google Shape;2566;p2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$469,323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70" name="Shape 2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1" name="Google Shape;2571;p2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2" name="Google Shape;2572;p2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Planet</a:t>
            </a:r>
            <a:endParaRPr/>
          </a:p>
        </p:txBody>
      </p:sp>
      <p:sp>
        <p:nvSpPr>
          <p:cNvPr id="2573" name="Google Shape;2573;p2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Southeast  |  State: Florida  |  City: Jacksonville</a:t>
            </a:r>
            <a:endParaRPr/>
          </a:p>
        </p:txBody>
      </p:sp>
      <p:sp>
        <p:nvSpPr>
          <p:cNvPr id="2574" name="Google Shape;2574;p2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$509,792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575" name="Google Shape;2575;p2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$388,808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76" name="Google Shape;2576;p2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77" name="Google Shape;2577;p2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$120,984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78" name="Google Shape;2578;p2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$-233,032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79" name="Google Shape;2579;p2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$1,163,463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580" name="Google Shape;2580;p2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$1,215,813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581" name="Google Shape;2581;p2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582" name="Google Shape;2582;p2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583" name="Google Shape;2583;p2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84" name="Google Shape;2584;p2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85" name="Google Shape;2585;p2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$122,875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586" name="Google Shape;2586;p2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$251,637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587" name="Google Shape;2587;p2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8" name="Google Shape;2588;p2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589" name="Google Shape;2589;p2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590" name="Google Shape;2590;p2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591" name="Google Shape;2591;p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92" name="Google Shape;2592;p2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93" name="Google Shape;2593;p2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94" name="Google Shape;2594;p2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95" name="Google Shape;2595;p2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6" name="Google Shape;2596;p2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597" name="Google Shape;2597;p2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$36,300</a:t>
            </a:r>
            <a:endParaRPr/>
          </a:p>
        </p:txBody>
      </p:sp>
      <p:sp>
        <p:nvSpPr>
          <p:cNvPr id="2598" name="Google Shape;2598;p2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99" name="Google Shape;2599;p2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00" name="Google Shape;2600;p2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$36,300</a:t>
            </a:r>
            <a:endParaRPr/>
          </a:p>
        </p:txBody>
      </p:sp>
      <p:sp>
        <p:nvSpPr>
          <p:cNvPr id="2601" name="Google Shape;2601;p2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02" name="Google Shape;2602;p2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3" name="Google Shape;2603;p2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604" name="Google Shape;2604;p2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$31,165</a:t>
            </a:r>
            <a:endParaRPr/>
          </a:p>
        </p:txBody>
      </p:sp>
      <p:sp>
        <p:nvSpPr>
          <p:cNvPr id="2605" name="Google Shape;2605;p2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06" name="Google Shape;2606;p2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07" name="Google Shape;2607;p2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$31,165</a:t>
            </a:r>
            <a:endParaRPr/>
          </a:p>
        </p:txBody>
      </p:sp>
      <p:sp>
        <p:nvSpPr>
          <p:cNvPr id="2608" name="Google Shape;2608;p2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$-29,647</a:t>
            </a:r>
            <a:endParaRPr/>
          </a:p>
        </p:txBody>
      </p:sp>
      <p:sp>
        <p:nvSpPr>
          <p:cNvPr id="2609" name="Google Shape;2609;p2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0" name="Google Shape;2610;p2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611" name="Google Shape;2611;p2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$129,301</a:t>
            </a:r>
            <a:endParaRPr/>
          </a:p>
        </p:txBody>
      </p:sp>
      <p:sp>
        <p:nvSpPr>
          <p:cNvPr id="2612" name="Google Shape;2612;p2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$105,465</a:t>
            </a:r>
            <a:endParaRPr/>
          </a:p>
        </p:txBody>
      </p:sp>
      <p:sp>
        <p:nvSpPr>
          <p:cNvPr id="2613" name="Google Shape;2613;p2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14" name="Google Shape;2614;p2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$23,836</a:t>
            </a:r>
            <a:endParaRPr/>
          </a:p>
        </p:txBody>
      </p:sp>
      <p:sp>
        <p:nvSpPr>
          <p:cNvPr id="2615" name="Google Shape;2615;p2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$-25,797</a:t>
            </a:r>
            <a:endParaRPr/>
          </a:p>
        </p:txBody>
      </p:sp>
      <p:sp>
        <p:nvSpPr>
          <p:cNvPr id="2616" name="Google Shape;2616;p2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7" name="Google Shape;2617;p2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618" name="Google Shape;2618;p2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$109,280</a:t>
            </a:r>
            <a:endParaRPr/>
          </a:p>
        </p:txBody>
      </p:sp>
      <p:sp>
        <p:nvSpPr>
          <p:cNvPr id="2619" name="Google Shape;2619;p2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$81,468</a:t>
            </a:r>
            <a:endParaRPr/>
          </a:p>
        </p:txBody>
      </p:sp>
      <p:sp>
        <p:nvSpPr>
          <p:cNvPr id="2620" name="Google Shape;2620;p2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21" name="Google Shape;2621;p2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$27,812</a:t>
            </a:r>
            <a:endParaRPr/>
          </a:p>
        </p:txBody>
      </p:sp>
      <p:sp>
        <p:nvSpPr>
          <p:cNvPr id="2622" name="Google Shape;2622;p2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$-145,340</a:t>
            </a:r>
            <a:endParaRPr/>
          </a:p>
        </p:txBody>
      </p:sp>
      <p:sp>
        <p:nvSpPr>
          <p:cNvPr id="2623" name="Google Shape;2623;p2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4" name="Google Shape;2624;p2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25" name="Google Shape;2625;p2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$203,745</a:t>
            </a:r>
            <a:endParaRPr/>
          </a:p>
        </p:txBody>
      </p:sp>
      <p:sp>
        <p:nvSpPr>
          <p:cNvPr id="2626" name="Google Shape;2626;p2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$201,875</a:t>
            </a:r>
            <a:endParaRPr/>
          </a:p>
        </p:txBody>
      </p:sp>
      <p:sp>
        <p:nvSpPr>
          <p:cNvPr id="2627" name="Google Shape;2627;p2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28" name="Google Shape;2628;p2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$1,871</a:t>
            </a:r>
            <a:endParaRPr/>
          </a:p>
        </p:txBody>
      </p:sp>
      <p:sp>
        <p:nvSpPr>
          <p:cNvPr id="2629" name="Google Shape;2629;p2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$-32,247</a:t>
            </a:r>
            <a:endParaRPr/>
          </a:p>
        </p:txBody>
      </p:sp>
      <p:sp>
        <p:nvSpPr>
          <p:cNvPr id="2630" name="Google Shape;2630;p2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1" name="Google Shape;2631;p2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632" name="Google Shape;2632;p2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$509,792</a:t>
            </a:r>
            <a:endParaRPr/>
          </a:p>
        </p:txBody>
      </p:sp>
      <p:sp>
        <p:nvSpPr>
          <p:cNvPr id="2633" name="Google Shape;2633;p2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$388,808</a:t>
            </a:r>
            <a:endParaRPr/>
          </a:p>
        </p:txBody>
      </p:sp>
      <p:sp>
        <p:nvSpPr>
          <p:cNvPr id="2634" name="Google Shape;2634;p2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35" name="Google Shape;2635;p2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$120,984</a:t>
            </a:r>
            <a:endParaRPr/>
          </a:p>
        </p:txBody>
      </p:sp>
      <p:sp>
        <p:nvSpPr>
          <p:cNvPr id="2636" name="Google Shape;2636;p2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$-233,032</a:t>
            </a:r>
            <a:endParaRPr/>
          </a:p>
        </p:txBody>
      </p:sp>
      <p:sp>
        <p:nvSpPr>
          <p:cNvPr id="2637" name="Google Shape;2637;p2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8" name="Google Shape;2638;p2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639" name="Google Shape;2639;p2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640" name="Google Shape;2640;p2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641" name="Google Shape;2641;p2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642" name="Google Shape;2642;p2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643" name="Google Shape;2643;p2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644" name="Google Shape;2644;p2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645" name="Google Shape;2645;p2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6" name="Google Shape;2646;p2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647" name="Google Shape;2647;p2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2648" name="Google Shape;2648;p2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649" name="Google Shape;2649;p2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2650" name="Google Shape;2650;p2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651" name="Google Shape;2651;p2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2652" name="Google Shape;2652;p2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3" name="Google Shape;2653;p2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654" name="Google Shape;2654;p2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655" name="Google Shape;2655;p2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656" name="Google Shape;2656;p2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657" name="Google Shape;2657;p2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658" name="Google Shape;2658;p2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7.3%</a:t>
            </a:r>
            <a:endParaRPr/>
          </a:p>
        </p:txBody>
      </p:sp>
      <p:sp>
        <p:nvSpPr>
          <p:cNvPr id="2659" name="Google Shape;2659;p2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0" name="Google Shape;2660;p2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661" name="Google Shape;2661;p2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662" name="Google Shape;2662;p2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663" name="Google Shape;2663;p2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2664" name="Google Shape;2664;p2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665" name="Google Shape;2665;p2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2666" name="Google Shape;2666;p2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7" name="Google Shape;2667;p2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668" name="Google Shape;2668;p2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2669" name="Google Shape;2669;p2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670" name="Google Shape;2670;p2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2671" name="Google Shape;2671;p2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672" name="Google Shape;2672;p2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2673" name="Google Shape;2673;p2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4" name="Google Shape;2674;p2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75" name="Google Shape;2675;p2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2676" name="Google Shape;2676;p2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677" name="Google Shape;2677;p2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2678" name="Google Shape;2678;p2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679" name="Google Shape;2679;p2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11.2%</a:t>
            </a:r>
            <a:endParaRPr/>
          </a:p>
        </p:txBody>
      </p:sp>
      <p:sp>
        <p:nvSpPr>
          <p:cNvPr id="2680" name="Google Shape;2680;p2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1" name="Google Shape;2681;p2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682" name="Google Shape;2682;p2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280</a:t>
            </a:r>
            <a:endParaRPr/>
          </a:p>
        </p:txBody>
      </p:sp>
      <p:sp>
        <p:nvSpPr>
          <p:cNvPr id="2683" name="Google Shape;2683;p2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684" name="Google Shape;2684;p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</a:t>
            </a:r>
            <a:endParaRPr/>
          </a:p>
        </p:txBody>
      </p:sp>
      <p:sp>
        <p:nvSpPr>
          <p:cNvPr id="2685" name="Google Shape;2685;p2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686" name="Google Shape;2686;p2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2687" name="Google Shape;2687;p2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8" name="Google Shape;2688;p2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689" name="Google Shape;2689;p2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690" name="Google Shape;2690;p2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691" name="Google Shape;2691;p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692" name="Google Shape;2692;p2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693" name="Google Shape;2693;p2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694" name="Google Shape;2694;p2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695" name="Google Shape;2695;p2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696" name="Google Shape;2696;p2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697" name="Google Shape;2697;p2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698" name="Google Shape;2698;p2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699" name="Google Shape;2699;p2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700" name="Google Shape;2700;p2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701" name="Google Shape;2701;p2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702" name="Google Shape;2702;p2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703" name="Google Shape;2703;p2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2704" name="Google Shape;2704;p2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2705" name="Google Shape;2705;p2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2706" name="Google Shape;2706;p2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707" name="Google Shape;2707;p2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2708" name="Google Shape;2708;p2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709" name="Google Shape;2709;p2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2710" name="Google Shape;2710;p2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2711" name="Google Shape;2711;p2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2712" name="Google Shape;2712;p2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2713" name="Google Shape;2713;p2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273</a:t>
            </a:r>
            <a:endParaRPr/>
          </a:p>
        </p:txBody>
      </p:sp>
      <p:sp>
        <p:nvSpPr>
          <p:cNvPr id="2714" name="Google Shape;2714;p2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302</a:t>
            </a:r>
            <a:endParaRPr/>
          </a:p>
        </p:txBody>
      </p:sp>
      <p:sp>
        <p:nvSpPr>
          <p:cNvPr id="2715" name="Google Shape;2715;p2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716" name="Google Shape;2716;p2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$55K</a:t>
            </a:r>
            <a:endParaRPr/>
          </a:p>
        </p:txBody>
      </p:sp>
      <p:sp>
        <p:nvSpPr>
          <p:cNvPr id="2717" name="Google Shape;2717;p2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2718" name="Google Shape;2718;p2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$56K</a:t>
            </a:r>
            <a:endParaRPr/>
          </a:p>
        </p:txBody>
      </p:sp>
      <p:sp>
        <p:nvSpPr>
          <p:cNvPr id="2719" name="Google Shape;2719;p2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2720" name="Google Shape;2720;p2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$258K</a:t>
            </a:r>
            <a:endParaRPr/>
          </a:p>
        </p:txBody>
      </p:sp>
      <p:sp>
        <p:nvSpPr>
          <p:cNvPr id="2721" name="Google Shape;2721;p2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$129K</a:t>
            </a:r>
            <a:endParaRPr/>
          </a:p>
        </p:txBody>
      </p:sp>
      <p:sp>
        <p:nvSpPr>
          <p:cNvPr id="2722" name="Google Shape;2722;p2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2723" name="Google Shape;2723;p2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$109K</a:t>
            </a:r>
            <a:endParaRPr/>
          </a:p>
        </p:txBody>
      </p:sp>
      <p:sp>
        <p:nvSpPr>
          <p:cNvPr id="2724" name="Google Shape;2724;p2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$76K</a:t>
            </a:r>
            <a:endParaRPr/>
          </a:p>
        </p:txBody>
      </p:sp>
      <p:sp>
        <p:nvSpPr>
          <p:cNvPr id="2725" name="Google Shape;2725;p2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$204K</a:t>
            </a:r>
            <a:endParaRPr/>
          </a:p>
        </p:txBody>
      </p:sp>
      <p:sp>
        <p:nvSpPr>
          <p:cNvPr id="2726" name="Google Shape;2726;p2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$457K</a:t>
            </a:r>
            <a:endParaRPr/>
          </a:p>
        </p:txBody>
      </p:sp>
      <p:sp>
        <p:nvSpPr>
          <p:cNvPr id="2727" name="Google Shape;2727;p2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$510K</a:t>
            </a:r>
            <a:endParaRPr/>
          </a:p>
        </p:txBody>
      </p:sp>
      <p:sp>
        <p:nvSpPr>
          <p:cNvPr id="2728" name="Google Shape;2728;p2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9" name="Google Shape;2729;p2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730" name="Google Shape;2730;p2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731" name="Google Shape;2731;p2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$509,792 YTD gross written premium</a:t>
            </a:r>
            <a:endParaRPr/>
          </a:p>
        </p:txBody>
      </p:sp>
      <p:sp>
        <p:nvSpPr>
          <p:cNvPr id="2732" name="Google Shape;2732;p2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733" name="Google Shape;2733;p2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$388,808 in new business production</a:t>
            </a:r>
            <a:endParaRPr/>
          </a:p>
        </p:txBody>
      </p:sp>
      <p:sp>
        <p:nvSpPr>
          <p:cNvPr id="2734" name="Google Shape;2734;p2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5" name="Google Shape;2735;p2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736" name="Google Shape;2736;p2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737" name="Google Shape;2737;p2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60% of new business ($233,032)</a:t>
            </a:r>
            <a:endParaRPr/>
          </a:p>
        </p:txBody>
      </p:sp>
      <p:sp>
        <p:nvSpPr>
          <p:cNvPr id="2738" name="Google Shape;2738;p2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9" name="Google Shape;2739;p2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740" name="Google Shape;2740;p2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741" name="Google Shape;2741;p2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$388,808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742" name="Google Shape;2742;p2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743" name="Google Shape;2743;p2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$233,032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47" name="Shape 2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8" name="Google Shape;2748;p2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9" name="Google Shape;2749;p2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Stone Era Insurance Agency</a:t>
            </a:r>
            <a:endParaRPr/>
          </a:p>
        </p:txBody>
      </p:sp>
      <p:sp>
        <p:nvSpPr>
          <p:cNvPr id="2750" name="Google Shape;2750;p2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Naples</a:t>
            </a:r>
            <a:endParaRPr/>
          </a:p>
        </p:txBody>
      </p:sp>
      <p:sp>
        <p:nvSpPr>
          <p:cNvPr id="2751" name="Google Shape;2751;p2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$417,999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752" name="Google Shape;2752;p2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$343,460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53" name="Google Shape;2753;p2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$96,326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54" name="Google Shape;2754;p2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$-21,787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55" name="Google Shape;2755;p2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56" name="Google Shape;2756;p2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$173,908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757" name="Google Shape;2757;p2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$591,907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758" name="Google Shape;2758;p2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759" name="Google Shape;2759;p2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760" name="Google Shape;2760;p2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61" name="Google Shape;2761;p2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62" name="Google Shape;2762;p2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$142,651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763" name="Google Shape;2763;p2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$117,591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764" name="Google Shape;2764;p2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5" name="Google Shape;2765;p2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766" name="Google Shape;2766;p2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67" name="Google Shape;2767;p2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768" name="Google Shape;2768;p2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69" name="Google Shape;2769;p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70" name="Google Shape;2770;p2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71" name="Google Shape;2771;p2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72" name="Google Shape;2772;p2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3" name="Google Shape;2773;p2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74" name="Google Shape;2774;p2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75" name="Google Shape;2775;p2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76" name="Google Shape;2776;p2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77" name="Google Shape;2777;p2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78" name="Google Shape;2778;p2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79" name="Google Shape;2779;p2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0" name="Google Shape;2780;p2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781" name="Google Shape;2781;p2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$142,651</a:t>
            </a:r>
            <a:endParaRPr/>
          </a:p>
        </p:txBody>
      </p:sp>
      <p:sp>
        <p:nvSpPr>
          <p:cNvPr id="2782" name="Google Shape;2782;p2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$142,651</a:t>
            </a:r>
            <a:endParaRPr/>
          </a:p>
        </p:txBody>
      </p:sp>
      <p:sp>
        <p:nvSpPr>
          <p:cNvPr id="2783" name="Google Shape;2783;p2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84" name="Google Shape;2784;p2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85" name="Google Shape;2785;p2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86" name="Google Shape;2786;p2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7" name="Google Shape;2787;p2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788" name="Google Shape;2788;p2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$94,328</a:t>
            </a:r>
            <a:endParaRPr/>
          </a:p>
        </p:txBody>
      </p:sp>
      <p:sp>
        <p:nvSpPr>
          <p:cNvPr id="2789" name="Google Shape;2789;p2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$96,952</a:t>
            </a:r>
            <a:endParaRPr/>
          </a:p>
        </p:txBody>
      </p:sp>
      <p:sp>
        <p:nvSpPr>
          <p:cNvPr id="2790" name="Google Shape;2790;p2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$20,262</a:t>
            </a:r>
            <a:endParaRPr/>
          </a:p>
        </p:txBody>
      </p:sp>
      <p:sp>
        <p:nvSpPr>
          <p:cNvPr id="2791" name="Google Shape;2791;p2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$-22,886</a:t>
            </a:r>
            <a:endParaRPr/>
          </a:p>
        </p:txBody>
      </p:sp>
      <p:sp>
        <p:nvSpPr>
          <p:cNvPr id="2792" name="Google Shape;2792;p2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93" name="Google Shape;2793;p2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4" name="Google Shape;2794;p2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795" name="Google Shape;2795;p2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$57,581</a:t>
            </a:r>
            <a:endParaRPr/>
          </a:p>
        </p:txBody>
      </p:sp>
      <p:sp>
        <p:nvSpPr>
          <p:cNvPr id="2796" name="Google Shape;2796;p2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97" name="Google Shape;2797;p2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$56,526</a:t>
            </a:r>
            <a:endParaRPr/>
          </a:p>
        </p:txBody>
      </p:sp>
      <p:sp>
        <p:nvSpPr>
          <p:cNvPr id="2798" name="Google Shape;2798;p2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$1,055</a:t>
            </a:r>
            <a:endParaRPr/>
          </a:p>
        </p:txBody>
      </p:sp>
      <p:sp>
        <p:nvSpPr>
          <p:cNvPr id="2799" name="Google Shape;2799;p2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00" name="Google Shape;2800;p2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1" name="Google Shape;2801;p2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802" name="Google Shape;2802;p2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$123,440</a:t>
            </a:r>
            <a:endParaRPr/>
          </a:p>
        </p:txBody>
      </p:sp>
      <p:sp>
        <p:nvSpPr>
          <p:cNvPr id="2803" name="Google Shape;2803;p2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$103,857</a:t>
            </a:r>
            <a:endParaRPr/>
          </a:p>
        </p:txBody>
      </p:sp>
      <p:sp>
        <p:nvSpPr>
          <p:cNvPr id="2804" name="Google Shape;2804;p2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$19,539</a:t>
            </a:r>
            <a:endParaRPr/>
          </a:p>
        </p:txBody>
      </p:sp>
      <p:sp>
        <p:nvSpPr>
          <p:cNvPr id="2805" name="Google Shape;2805;p2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</a:t>
            </a:r>
            <a:endParaRPr/>
          </a:p>
        </p:txBody>
      </p:sp>
      <p:sp>
        <p:nvSpPr>
          <p:cNvPr id="2806" name="Google Shape;2806;p2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07" name="Google Shape;2807;p2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8" name="Google Shape;2808;p2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809" name="Google Shape;2809;p2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$417,999</a:t>
            </a:r>
            <a:endParaRPr/>
          </a:p>
        </p:txBody>
      </p:sp>
      <p:sp>
        <p:nvSpPr>
          <p:cNvPr id="2810" name="Google Shape;2810;p2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$343,460</a:t>
            </a:r>
            <a:endParaRPr/>
          </a:p>
        </p:txBody>
      </p:sp>
      <p:sp>
        <p:nvSpPr>
          <p:cNvPr id="2811" name="Google Shape;2811;p2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$96,326</a:t>
            </a:r>
            <a:endParaRPr/>
          </a:p>
        </p:txBody>
      </p:sp>
      <p:sp>
        <p:nvSpPr>
          <p:cNvPr id="2812" name="Google Shape;2812;p2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$-21,787</a:t>
            </a:r>
            <a:endParaRPr/>
          </a:p>
        </p:txBody>
      </p:sp>
      <p:sp>
        <p:nvSpPr>
          <p:cNvPr id="2813" name="Google Shape;2813;p2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14" name="Google Shape;2814;p2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5" name="Google Shape;2815;p2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816" name="Google Shape;2816;p2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817" name="Google Shape;2817;p2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818" name="Google Shape;2818;p2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819" name="Google Shape;2819;p2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820" name="Google Shape;2820;p2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821" name="Google Shape;2821;p2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822" name="Google Shape;2822;p2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3" name="Google Shape;2823;p2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824" name="Google Shape;2824;p2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825" name="Google Shape;2825;p2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26" name="Google Shape;2826;p2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827" name="Google Shape;2827;p2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28" name="Google Shape;2828;p2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15.4%</a:t>
            </a:r>
            <a:endParaRPr/>
          </a:p>
        </p:txBody>
      </p:sp>
      <p:sp>
        <p:nvSpPr>
          <p:cNvPr id="2829" name="Google Shape;2829;p2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0" name="Google Shape;2830;p2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831" name="Google Shape;2831;p2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832" name="Google Shape;2832;p2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33" name="Google Shape;2833;p2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834" name="Google Shape;2834;p2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35" name="Google Shape;2835;p2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2836" name="Google Shape;2836;p2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7" name="Google Shape;2837;p2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838" name="Google Shape;2838;p2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839" name="Google Shape;2839;p2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840" name="Google Shape;2840;p2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841" name="Google Shape;2841;p2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842" name="Google Shape;2842;p2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2843" name="Google Shape;2843;p2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4" name="Google Shape;2844;p2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845" name="Google Shape;2845;p2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846" name="Google Shape;2846;p2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847" name="Google Shape;2847;p2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2848" name="Google Shape;2848;p2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849" name="Google Shape;2849;p2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7.3%</a:t>
            </a:r>
            <a:endParaRPr/>
          </a:p>
        </p:txBody>
      </p:sp>
      <p:sp>
        <p:nvSpPr>
          <p:cNvPr id="2850" name="Google Shape;2850;p2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1" name="Google Shape;2851;p2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852" name="Google Shape;2852;p2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2853" name="Google Shape;2853;p2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854" name="Google Shape;2854;p2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855" name="Google Shape;2855;p2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56" name="Google Shape;2856;p2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2857" name="Google Shape;2857;p2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8" name="Google Shape;2858;p2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859" name="Google Shape;2859;p2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115</a:t>
            </a:r>
            <a:endParaRPr/>
          </a:p>
        </p:txBody>
      </p:sp>
      <p:sp>
        <p:nvSpPr>
          <p:cNvPr id="2860" name="Google Shape;2860;p2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2861" name="Google Shape;2861;p2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2862" name="Google Shape;2862;p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863" name="Google Shape;2863;p2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2864" name="Google Shape;2864;p2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5" name="Google Shape;2865;p2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866" name="Google Shape;2866;p2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67" name="Google Shape;2867;p2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868" name="Google Shape;2868;p2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869" name="Google Shape;2869;p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870" name="Google Shape;2870;p2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871" name="Google Shape;2871;p2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872" name="Google Shape;2872;p2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873" name="Google Shape;2873;p2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874" name="Google Shape;2874;p2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875" name="Google Shape;2875;p2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876" name="Google Shape;2876;p2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877" name="Google Shape;2877;p2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878" name="Google Shape;2878;p2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879" name="Google Shape;2879;p2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880" name="Google Shape;2880;p2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81" name="Google Shape;2881;p2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882" name="Google Shape;2882;p2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83" name="Google Shape;2883;p2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884" name="Google Shape;2884;p2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85" name="Google Shape;2885;p2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886" name="Google Shape;2886;p2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87" name="Google Shape;2887;p2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888" name="Google Shape;2888;p2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89" name="Google Shape;2889;p2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2890" name="Google Shape;2890;p2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91" name="Google Shape;2891;p2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125</a:t>
            </a:r>
            <a:endParaRPr/>
          </a:p>
        </p:txBody>
      </p:sp>
      <p:sp>
        <p:nvSpPr>
          <p:cNvPr id="2892" name="Google Shape;2892;p2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893" name="Google Shape;2893;p2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94" name="Google Shape;2894;p2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95" name="Google Shape;2895;p2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96" name="Google Shape;2896;p2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$143K</a:t>
            </a:r>
            <a:endParaRPr/>
          </a:p>
        </p:txBody>
      </p:sp>
      <p:sp>
        <p:nvSpPr>
          <p:cNvPr id="2897" name="Google Shape;2897;p2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98" name="Google Shape;2898;p2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$94K</a:t>
            </a:r>
            <a:endParaRPr/>
          </a:p>
        </p:txBody>
      </p:sp>
      <p:sp>
        <p:nvSpPr>
          <p:cNvPr id="2899" name="Google Shape;2899;p2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0" name="Google Shape;2900;p2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$58K</a:t>
            </a:r>
            <a:endParaRPr/>
          </a:p>
        </p:txBody>
      </p:sp>
      <p:sp>
        <p:nvSpPr>
          <p:cNvPr id="2901" name="Google Shape;2901;p2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2" name="Google Shape;2902;p2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$123K</a:t>
            </a:r>
            <a:endParaRPr/>
          </a:p>
        </p:txBody>
      </p:sp>
      <p:sp>
        <p:nvSpPr>
          <p:cNvPr id="2903" name="Google Shape;2903;p2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4" name="Google Shape;2904;p2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$418K</a:t>
            </a:r>
            <a:endParaRPr/>
          </a:p>
        </p:txBody>
      </p:sp>
      <p:sp>
        <p:nvSpPr>
          <p:cNvPr id="2905" name="Google Shape;2905;p2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6" name="Google Shape;2906;p2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907" name="Google Shape;2907;p2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908" name="Google Shape;2908;p2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$417,999 YTD gross written premium</a:t>
            </a:r>
            <a:endParaRPr/>
          </a:p>
        </p:txBody>
      </p:sp>
      <p:sp>
        <p:nvSpPr>
          <p:cNvPr id="2909" name="Google Shape;2909;p2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910" name="Google Shape;2910;p2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$343,460 in new business production</a:t>
            </a:r>
            <a:endParaRPr/>
          </a:p>
        </p:txBody>
      </p:sp>
      <p:sp>
        <p:nvSpPr>
          <p:cNvPr id="2911" name="Google Shape;2911;p2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2" name="Google Shape;2912;p2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913" name="Google Shape;2913;p2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914" name="Google Shape;2914;p2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2915" name="Google Shape;2915;p2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916" name="Google Shape;2916;p2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2917" name="Google Shape;2917;p2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8" name="Google Shape;2918;p2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919" name="Google Shape;2919;p2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920" name="Google Shape;2920;p2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$343,460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921" name="Google Shape;2921;p2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922" name="Google Shape;2922;p2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$96,326 renewal book. Use this as proof of value: "Your retention shows we're delivering - let's find more accounts like these in your pipeline."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26" name="Shape 2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7" name="Google Shape;2927;p2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8" name="Google Shape;2928;p2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Peco Insurance LLC</a:t>
            </a:r>
            <a:endParaRPr/>
          </a:p>
        </p:txBody>
      </p:sp>
      <p:sp>
        <p:nvSpPr>
          <p:cNvPr id="2929" name="Google Shape;2929;p2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Southeast  |  State: FL  |  City: Medley</a:t>
            </a:r>
            <a:endParaRPr/>
          </a:p>
        </p:txBody>
      </p:sp>
      <p:sp>
        <p:nvSpPr>
          <p:cNvPr id="2930" name="Google Shape;2930;p2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$351,731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931" name="Google Shape;2931;p2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$82,561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932" name="Google Shape;2932;p2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$101,971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933" name="Google Shape;2933;p2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$167,198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934" name="Google Shape;2934;p2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$-261,730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935" name="Google Shape;2935;p2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$2,449,765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936" name="Google Shape;2936;p2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$1,968,199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937" name="Google Shape;2937;p2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938" name="Google Shape;2938;p2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939" name="Google Shape;2939;p2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40" name="Google Shape;2940;p2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41" name="Google Shape;2941;p2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$156,633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942" name="Google Shape;2942;p2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$537,119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943" name="Google Shape;2943;p2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4" name="Google Shape;2944;p2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945" name="Google Shape;2945;p2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46" name="Google Shape;2946;p2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947" name="Google Shape;2947;p2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948" name="Google Shape;2948;p2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949" name="Google Shape;2949;p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950" name="Google Shape;2950;p2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951" name="Google Shape;2951;p2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2" name="Google Shape;2952;p2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53" name="Google Shape;2953;p2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$111,392</a:t>
            </a:r>
            <a:endParaRPr/>
          </a:p>
        </p:txBody>
      </p:sp>
      <p:sp>
        <p:nvSpPr>
          <p:cNvPr id="2954" name="Google Shape;2954;p2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$29,394</a:t>
            </a:r>
            <a:endParaRPr/>
          </a:p>
        </p:txBody>
      </p:sp>
      <p:sp>
        <p:nvSpPr>
          <p:cNvPr id="2955" name="Google Shape;2955;p2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$42,618</a:t>
            </a:r>
            <a:endParaRPr/>
          </a:p>
        </p:txBody>
      </p:sp>
      <p:sp>
        <p:nvSpPr>
          <p:cNvPr id="2956" name="Google Shape;2956;p2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$39,381</a:t>
            </a:r>
            <a:endParaRPr/>
          </a:p>
        </p:txBody>
      </p:sp>
      <p:sp>
        <p:nvSpPr>
          <p:cNvPr id="2957" name="Google Shape;2957;p2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$-70,544</a:t>
            </a:r>
            <a:endParaRPr/>
          </a:p>
        </p:txBody>
      </p:sp>
      <p:sp>
        <p:nvSpPr>
          <p:cNvPr id="2958" name="Google Shape;2958;p2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9" name="Google Shape;2959;p2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60" name="Google Shape;2960;p2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$94,504</a:t>
            </a:r>
            <a:endParaRPr/>
          </a:p>
        </p:txBody>
      </p:sp>
      <p:sp>
        <p:nvSpPr>
          <p:cNvPr id="2961" name="Google Shape;2961;p2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$53,168</a:t>
            </a:r>
            <a:endParaRPr/>
          </a:p>
        </p:txBody>
      </p:sp>
      <p:sp>
        <p:nvSpPr>
          <p:cNvPr id="2962" name="Google Shape;2962;p2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3" name="Google Shape;2963;p2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$41,336</a:t>
            </a:r>
            <a:endParaRPr/>
          </a:p>
        </p:txBody>
      </p:sp>
      <p:sp>
        <p:nvSpPr>
          <p:cNvPr id="2964" name="Google Shape;2964;p2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5" name="Google Shape;2965;p2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6" name="Google Shape;2966;p2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67" name="Google Shape;2967;p2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$127,240</a:t>
            </a:r>
            <a:endParaRPr/>
          </a:p>
        </p:txBody>
      </p:sp>
      <p:sp>
        <p:nvSpPr>
          <p:cNvPr id="2968" name="Google Shape;2968;p2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9" name="Google Shape;2969;p2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$59,354</a:t>
            </a:r>
            <a:endParaRPr/>
          </a:p>
        </p:txBody>
      </p:sp>
      <p:sp>
        <p:nvSpPr>
          <p:cNvPr id="2970" name="Google Shape;2970;p2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$67,886</a:t>
            </a:r>
            <a:endParaRPr/>
          </a:p>
        </p:txBody>
      </p:sp>
      <p:sp>
        <p:nvSpPr>
          <p:cNvPr id="2971" name="Google Shape;2971;p2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$-172,172</a:t>
            </a:r>
            <a:endParaRPr/>
          </a:p>
        </p:txBody>
      </p:sp>
      <p:sp>
        <p:nvSpPr>
          <p:cNvPr id="2972" name="Google Shape;2972;p2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3" name="Google Shape;2973;p2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74" name="Google Shape;2974;p2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$18,194</a:t>
            </a:r>
            <a:endParaRPr/>
          </a:p>
        </p:txBody>
      </p:sp>
      <p:sp>
        <p:nvSpPr>
          <p:cNvPr id="2975" name="Google Shape;2975;p2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6" name="Google Shape;2976;p2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7" name="Google Shape;2977;p2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$18,194</a:t>
            </a:r>
            <a:endParaRPr/>
          </a:p>
        </p:txBody>
      </p:sp>
      <p:sp>
        <p:nvSpPr>
          <p:cNvPr id="2978" name="Google Shape;2978;p2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$-19,014</a:t>
            </a:r>
            <a:endParaRPr/>
          </a:p>
        </p:txBody>
      </p:sp>
      <p:sp>
        <p:nvSpPr>
          <p:cNvPr id="2979" name="Google Shape;2979;p2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0" name="Google Shape;2980;p2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981" name="Google Shape;2981;p2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$401</a:t>
            </a:r>
            <a:endParaRPr/>
          </a:p>
        </p:txBody>
      </p:sp>
      <p:sp>
        <p:nvSpPr>
          <p:cNvPr id="2982" name="Google Shape;2982;p2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83" name="Google Shape;2983;p2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84" name="Google Shape;2984;p2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$401</a:t>
            </a:r>
            <a:endParaRPr/>
          </a:p>
        </p:txBody>
      </p:sp>
      <p:sp>
        <p:nvSpPr>
          <p:cNvPr id="2985" name="Google Shape;2985;p2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86" name="Google Shape;2986;p2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7" name="Google Shape;2987;p2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988" name="Google Shape;2988;p2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$351,731</a:t>
            </a:r>
            <a:endParaRPr/>
          </a:p>
        </p:txBody>
      </p:sp>
      <p:sp>
        <p:nvSpPr>
          <p:cNvPr id="2989" name="Google Shape;2989;p2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$82,561</a:t>
            </a:r>
            <a:endParaRPr/>
          </a:p>
        </p:txBody>
      </p:sp>
      <p:sp>
        <p:nvSpPr>
          <p:cNvPr id="2990" name="Google Shape;2990;p2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$101,971</a:t>
            </a:r>
            <a:endParaRPr/>
          </a:p>
        </p:txBody>
      </p:sp>
      <p:sp>
        <p:nvSpPr>
          <p:cNvPr id="2991" name="Google Shape;2991;p2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$167,198</a:t>
            </a:r>
            <a:endParaRPr/>
          </a:p>
        </p:txBody>
      </p:sp>
      <p:sp>
        <p:nvSpPr>
          <p:cNvPr id="2992" name="Google Shape;2992;p2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$-261,730</a:t>
            </a:r>
            <a:endParaRPr/>
          </a:p>
        </p:txBody>
      </p:sp>
      <p:sp>
        <p:nvSpPr>
          <p:cNvPr id="2993" name="Google Shape;2993;p2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4" name="Google Shape;2994;p2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995" name="Google Shape;2995;p2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96" name="Google Shape;2996;p2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997" name="Google Shape;2997;p2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998" name="Google Shape;2998;p2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999" name="Google Shape;2999;p2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000" name="Google Shape;3000;p2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001" name="Google Shape;3001;p2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2" name="Google Shape;3002;p2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003" name="Google Shape;3003;p2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3004" name="Google Shape;3004;p2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005" name="Google Shape;3005;p2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3006" name="Google Shape;3006;p2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007" name="Google Shape;3007;p2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10.1%</a:t>
            </a:r>
            <a:endParaRPr/>
          </a:p>
        </p:txBody>
      </p:sp>
      <p:sp>
        <p:nvSpPr>
          <p:cNvPr id="3008" name="Google Shape;3008;p2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9" name="Google Shape;3009;p2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010" name="Google Shape;3010;p2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3011" name="Google Shape;3011;p2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012" name="Google Shape;3012;p2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3013" name="Google Shape;3013;p2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014" name="Google Shape;3014;p2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26.2%</a:t>
            </a:r>
            <a:endParaRPr/>
          </a:p>
        </p:txBody>
      </p:sp>
      <p:sp>
        <p:nvSpPr>
          <p:cNvPr id="3015" name="Google Shape;3015;p2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6" name="Google Shape;3016;p2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017" name="Google Shape;3017;p2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018" name="Google Shape;3018;p2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019" name="Google Shape;3019;p2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020" name="Google Shape;3020;p2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021" name="Google Shape;3021;p2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3022" name="Google Shape;3022;p2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3" name="Google Shape;3023;p2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024" name="Google Shape;3024;p2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025" name="Google Shape;3025;p2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26" name="Google Shape;3026;p2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027" name="Google Shape;3027;p2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028" name="Google Shape;3028;p2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19.4%</a:t>
            </a:r>
            <a:endParaRPr/>
          </a:p>
        </p:txBody>
      </p:sp>
      <p:sp>
        <p:nvSpPr>
          <p:cNvPr id="3029" name="Google Shape;3029;p2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0" name="Google Shape;3030;p2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031" name="Google Shape;3031;p2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032" name="Google Shape;3032;p2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033" name="Google Shape;3033;p2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034" name="Google Shape;3034;p2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035" name="Google Shape;3035;p2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</p:txBody>
      </p:sp>
      <p:sp>
        <p:nvSpPr>
          <p:cNvPr id="3036" name="Google Shape;3036;p2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7" name="Google Shape;3037;p2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038" name="Google Shape;3038;p2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</p:txBody>
      </p:sp>
      <p:sp>
        <p:nvSpPr>
          <p:cNvPr id="3039" name="Google Shape;3039;p2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040" name="Google Shape;3040;p2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160</a:t>
            </a:r>
            <a:endParaRPr/>
          </a:p>
        </p:txBody>
      </p:sp>
      <p:sp>
        <p:nvSpPr>
          <p:cNvPr id="3041" name="Google Shape;3041;p2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3042" name="Google Shape;3042;p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3043" name="Google Shape;3043;p2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4" name="Google Shape;3044;p2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045" name="Google Shape;3045;p2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46" name="Google Shape;3046;p2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047" name="Google Shape;3047;p2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048" name="Google Shape;3048;p2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049" name="Google Shape;3049;p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050" name="Google Shape;3050;p2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051" name="Google Shape;3051;p2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052" name="Google Shape;3052;p2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053" name="Google Shape;3053;p2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054" name="Google Shape;3054;p2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055" name="Google Shape;3055;p2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056" name="Google Shape;3056;p2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057" name="Google Shape;3057;p2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058" name="Google Shape;3058;p2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59" name="Google Shape;3059;p2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167</a:t>
            </a:r>
            <a:endParaRPr/>
          </a:p>
        </p:txBody>
      </p:sp>
      <p:sp>
        <p:nvSpPr>
          <p:cNvPr id="3060" name="Google Shape;3060;p2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3061" name="Google Shape;3061;p2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</a:t>
            </a:r>
            <a:endParaRPr/>
          </a:p>
        </p:txBody>
      </p:sp>
      <p:sp>
        <p:nvSpPr>
          <p:cNvPr id="3062" name="Google Shape;3062;p2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3063" name="Google Shape;3063;p2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111</a:t>
            </a:r>
            <a:endParaRPr/>
          </a:p>
        </p:txBody>
      </p:sp>
      <p:sp>
        <p:nvSpPr>
          <p:cNvPr id="3064" name="Google Shape;3064;p2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065" name="Google Shape;3065;p2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</p:txBody>
      </p:sp>
      <p:sp>
        <p:nvSpPr>
          <p:cNvPr id="3066" name="Google Shape;3066;p2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067" name="Google Shape;3067;p2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137</a:t>
            </a:r>
            <a:endParaRPr/>
          </a:p>
        </p:txBody>
      </p:sp>
      <p:sp>
        <p:nvSpPr>
          <p:cNvPr id="3068" name="Google Shape;3068;p2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069" name="Google Shape;3069;p2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681</a:t>
            </a:r>
            <a:endParaRPr/>
          </a:p>
        </p:txBody>
      </p:sp>
      <p:sp>
        <p:nvSpPr>
          <p:cNvPr id="3070" name="Google Shape;3070;p2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221</a:t>
            </a:r>
            <a:endParaRPr/>
          </a:p>
        </p:txBody>
      </p:sp>
      <p:sp>
        <p:nvSpPr>
          <p:cNvPr id="3071" name="Google Shape;3071;p2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072" name="Google Shape;3072;p2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$181K</a:t>
            </a:r>
            <a:endParaRPr/>
          </a:p>
        </p:txBody>
      </p:sp>
      <p:sp>
        <p:nvSpPr>
          <p:cNvPr id="3073" name="Google Shape;3073;p2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$111K</a:t>
            </a:r>
            <a:endParaRPr/>
          </a:p>
        </p:txBody>
      </p:sp>
      <p:sp>
        <p:nvSpPr>
          <p:cNvPr id="3074" name="Google Shape;3074;p2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$162K</a:t>
            </a:r>
            <a:endParaRPr/>
          </a:p>
        </p:txBody>
      </p:sp>
      <p:sp>
        <p:nvSpPr>
          <p:cNvPr id="3075" name="Google Shape;3075;p2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$95K</a:t>
            </a:r>
            <a:endParaRPr/>
          </a:p>
        </p:txBody>
      </p:sp>
      <p:sp>
        <p:nvSpPr>
          <p:cNvPr id="3076" name="Google Shape;3076;p2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$203K</a:t>
            </a:r>
            <a:endParaRPr/>
          </a:p>
        </p:txBody>
      </p:sp>
      <p:sp>
        <p:nvSpPr>
          <p:cNvPr id="3077" name="Google Shape;3077;p2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$127K</a:t>
            </a:r>
            <a:endParaRPr/>
          </a:p>
        </p:txBody>
      </p:sp>
      <p:sp>
        <p:nvSpPr>
          <p:cNvPr id="3078" name="Google Shape;3078;p2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$172K</a:t>
            </a:r>
            <a:endParaRPr/>
          </a:p>
        </p:txBody>
      </p:sp>
      <p:sp>
        <p:nvSpPr>
          <p:cNvPr id="3079" name="Google Shape;3079;p2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3080" name="Google Shape;3080;p2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$115K</a:t>
            </a:r>
            <a:endParaRPr/>
          </a:p>
        </p:txBody>
      </p:sp>
      <p:sp>
        <p:nvSpPr>
          <p:cNvPr id="3081" name="Google Shape;3081;p2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$401</a:t>
            </a:r>
            <a:endParaRPr/>
          </a:p>
        </p:txBody>
      </p:sp>
      <p:sp>
        <p:nvSpPr>
          <p:cNvPr id="3082" name="Google Shape;3082;p2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$833K</a:t>
            </a:r>
            <a:endParaRPr/>
          </a:p>
        </p:txBody>
      </p:sp>
      <p:sp>
        <p:nvSpPr>
          <p:cNvPr id="3083" name="Google Shape;3083;p2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$352K</a:t>
            </a:r>
            <a:endParaRPr/>
          </a:p>
        </p:txBody>
      </p:sp>
      <p:sp>
        <p:nvSpPr>
          <p:cNvPr id="3084" name="Google Shape;3084;p2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5" name="Google Shape;3085;p2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086" name="Google Shape;3086;p2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87" name="Google Shape;3087;p2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$351,731 YTD gross written premium</a:t>
            </a:r>
            <a:endParaRPr/>
          </a:p>
        </p:txBody>
      </p:sp>
      <p:sp>
        <p:nvSpPr>
          <p:cNvPr id="3088" name="Google Shape;3088;p2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89" name="Google Shape;3089;p2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$82,561 in new business production</a:t>
            </a:r>
            <a:endParaRPr/>
          </a:p>
        </p:txBody>
      </p:sp>
      <p:sp>
        <p:nvSpPr>
          <p:cNvPr id="3090" name="Google Shape;3090;p2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1" name="Google Shape;3091;p2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092" name="Google Shape;3092;p2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93" name="Google Shape;3093;p2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317% of new business ($261,730)</a:t>
            </a:r>
            <a:endParaRPr/>
          </a:p>
        </p:txBody>
      </p:sp>
      <p:sp>
        <p:nvSpPr>
          <p:cNvPr id="3094" name="Google Shape;3094;p2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95" name="Google Shape;3095;p2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98% month-over-month</a:t>
            </a:r>
            <a:endParaRPr/>
          </a:p>
        </p:txBody>
      </p:sp>
      <p:sp>
        <p:nvSpPr>
          <p:cNvPr id="3096" name="Google Shape;3096;p2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7" name="Google Shape;3097;p2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098" name="Google Shape;3098;p2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099" name="Google Shape;3099;p2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$82,561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100" name="Google Shape;3100;p2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101" name="Google Shape;3101;p2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$261,730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05" name="Shape 3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6" name="Google Shape;3106;p2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7" name="Google Shape;3107;p2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Charles Cain Group</a:t>
            </a:r>
            <a:endParaRPr/>
          </a:p>
        </p:txBody>
      </p:sp>
      <p:sp>
        <p:nvSpPr>
          <p:cNvPr id="3108" name="Google Shape;3108;p2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GA  |  City: Marietta</a:t>
            </a:r>
            <a:endParaRPr/>
          </a:p>
        </p:txBody>
      </p:sp>
      <p:sp>
        <p:nvSpPr>
          <p:cNvPr id="3109" name="Google Shape;3109;p2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110" name="Google Shape;3110;p2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111" name="Google Shape;3111;p2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112" name="Google Shape;3112;p2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113" name="Google Shape;3113;p2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$-220,836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114" name="Google Shape;3114;p2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115" name="Google Shape;3115;p2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116" name="Google Shape;3116;p2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117" name="Google Shape;3117;p2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118" name="Google Shape;3118;p2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119" name="Google Shape;3119;p2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120" name="Google Shape;3120;p2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121" name="Google Shape;3121;p2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122" name="Google Shape;3122;p2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3" name="Google Shape;3123;p2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124" name="Google Shape;3124;p2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125" name="Google Shape;3125;p2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126" name="Google Shape;3126;p2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127" name="Google Shape;3127;p2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128" name="Google Shape;3128;p2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129" name="Google Shape;3129;p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130" name="Google Shape;3130;p2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1" name="Google Shape;3131;p2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32" name="Google Shape;3132;p2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</p:txBody>
      </p:sp>
      <p:sp>
        <p:nvSpPr>
          <p:cNvPr id="3133" name="Google Shape;3133;p2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</p:txBody>
      </p:sp>
      <p:sp>
        <p:nvSpPr>
          <p:cNvPr id="3134" name="Google Shape;3134;p2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35" name="Google Shape;3135;p2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36" name="Google Shape;3136;p2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$-220,836</a:t>
            </a:r>
            <a:endParaRPr/>
          </a:p>
        </p:txBody>
      </p:sp>
      <p:sp>
        <p:nvSpPr>
          <p:cNvPr id="3137" name="Google Shape;3137;p2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8" name="Google Shape;3138;p2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39" name="Google Shape;3139;p2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0" name="Google Shape;3140;p2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1" name="Google Shape;3141;p2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2" name="Google Shape;3142;p2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3" name="Google Shape;3143;p2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4" name="Google Shape;3144;p2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5" name="Google Shape;3145;p2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46" name="Google Shape;3146;p2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7" name="Google Shape;3147;p2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8" name="Google Shape;3148;p2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9" name="Google Shape;3149;p2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50" name="Google Shape;3150;p2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51" name="Google Shape;3151;p2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2" name="Google Shape;3152;p2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53" name="Google Shape;3153;p2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54" name="Google Shape;3154;p2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55" name="Google Shape;3155;p2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56" name="Google Shape;3156;p2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57" name="Google Shape;3157;p2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58" name="Google Shape;3158;p2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9" name="Google Shape;3159;p2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60" name="Google Shape;3160;p2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1" name="Google Shape;3161;p2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2" name="Google Shape;3162;p2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3" name="Google Shape;3163;p2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4" name="Google Shape;3164;p2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5" name="Google Shape;3165;p2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6" name="Google Shape;3166;p2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67" name="Google Shape;3167;p2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</p:txBody>
      </p:sp>
      <p:sp>
        <p:nvSpPr>
          <p:cNvPr id="3168" name="Google Shape;3168;p2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</p:txBody>
      </p:sp>
      <p:sp>
        <p:nvSpPr>
          <p:cNvPr id="3169" name="Google Shape;3169;p2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70" name="Google Shape;3170;p2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71" name="Google Shape;3171;p2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$-220,836</a:t>
            </a:r>
            <a:endParaRPr/>
          </a:p>
        </p:txBody>
      </p:sp>
      <p:sp>
        <p:nvSpPr>
          <p:cNvPr id="3172" name="Google Shape;3172;p2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3" name="Google Shape;3173;p2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174" name="Google Shape;3174;p2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175" name="Google Shape;3175;p2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176" name="Google Shape;3176;p2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177" name="Google Shape;3177;p2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178" name="Google Shape;3178;p2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179" name="Google Shape;3179;p2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180" name="Google Shape;3180;p2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1" name="Google Shape;3181;p2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82" name="Google Shape;3182;p2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183" name="Google Shape;3183;p2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84" name="Google Shape;3184;p2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85" name="Google Shape;3185;p2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86" name="Google Shape;3186;p2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3187" name="Google Shape;3187;p2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8" name="Google Shape;3188;p2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89" name="Google Shape;3189;p2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90" name="Google Shape;3190;p2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91" name="Google Shape;3191;p2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92" name="Google Shape;3192;p2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93" name="Google Shape;3193;p2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194" name="Google Shape;3194;p2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5" name="Google Shape;3195;p2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96" name="Google Shape;3196;p2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97" name="Google Shape;3197;p2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98" name="Google Shape;3198;p2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99" name="Google Shape;3199;p2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00" name="Google Shape;3200;p2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201" name="Google Shape;3201;p2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2" name="Google Shape;3202;p2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203" name="Google Shape;3203;p2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04" name="Google Shape;3204;p2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05" name="Google Shape;3205;p2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06" name="Google Shape;3206;p2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07" name="Google Shape;3207;p2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208" name="Google Shape;3208;p2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9" name="Google Shape;3209;p2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210" name="Google Shape;3210;p2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11" name="Google Shape;3211;p2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12" name="Google Shape;3212;p2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13" name="Google Shape;3213;p2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14" name="Google Shape;3214;p2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215" name="Google Shape;3215;p2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6" name="Google Shape;3216;p2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217" name="Google Shape;3217;p2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218" name="Google Shape;3218;p2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219" name="Google Shape;3219;p2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220" name="Google Shape;3220;p2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221" name="Google Shape;3221;p2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3222" name="Google Shape;3222;p2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3" name="Google Shape;3223;p2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224" name="Google Shape;3224;p2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225" name="Google Shape;3225;p2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226" name="Google Shape;3226;p2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227" name="Google Shape;3227;p2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228" name="Google Shape;3228;p2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229" name="Google Shape;3229;p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230" name="Google Shape;3230;p2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231" name="Google Shape;3231;p2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232" name="Google Shape;3232;p2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233" name="Google Shape;3233;p2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234" name="Google Shape;3234;p2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235" name="Google Shape;3235;p2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236" name="Google Shape;3236;p2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237" name="Google Shape;3237;p2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238" name="Google Shape;3238;p2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239" name="Google Shape;3239;p2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240" name="Google Shape;3240;p2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41" name="Google Shape;3241;p2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242" name="Google Shape;3242;p2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43" name="Google Shape;3243;p2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244" name="Google Shape;3244;p2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45" name="Google Shape;3245;p2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46" name="Google Shape;3246;p2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47" name="Google Shape;3247;p2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48" name="Google Shape;3248;p2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249" name="Google Shape;3249;p2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250" name="Google Shape;3250;p2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251" name="Google Shape;3251;p2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2" name="Google Shape;3252;p2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$221K</a:t>
            </a:r>
            <a:endParaRPr/>
          </a:p>
        </p:txBody>
      </p:sp>
      <p:sp>
        <p:nvSpPr>
          <p:cNvPr id="3253" name="Google Shape;3253;p2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4" name="Google Shape;3254;p2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5" name="Google Shape;3255;p2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6" name="Google Shape;3256;p2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7" name="Google Shape;3257;p2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8" name="Google Shape;3258;p2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9" name="Google Shape;3259;p2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0" name="Google Shape;3260;p2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1" name="Google Shape;3261;p2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2" name="Google Shape;3262;p2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$221K</a:t>
            </a:r>
            <a:endParaRPr/>
          </a:p>
        </p:txBody>
      </p:sp>
      <p:sp>
        <p:nvSpPr>
          <p:cNvPr id="3263" name="Google Shape;3263;p2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4" name="Google Shape;3264;p2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265" name="Google Shape;3265;p2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66" name="Google Shape;3266;p2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 YTD gross written premium</a:t>
            </a:r>
            <a:endParaRPr/>
          </a:p>
        </p:txBody>
      </p:sp>
      <p:sp>
        <p:nvSpPr>
          <p:cNvPr id="3267" name="Google Shape;3267;p2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68" name="Google Shape;3268;p2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 in new business production</a:t>
            </a:r>
            <a:endParaRPr/>
          </a:p>
        </p:txBody>
      </p:sp>
      <p:sp>
        <p:nvSpPr>
          <p:cNvPr id="3269" name="Google Shape;3269;p2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0" name="Google Shape;3270;p2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271" name="Google Shape;3271;p2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72" name="Google Shape;3272;p2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100% of new business ($220,836)</a:t>
            </a:r>
            <a:endParaRPr/>
          </a:p>
        </p:txBody>
      </p:sp>
      <p:sp>
        <p:nvSpPr>
          <p:cNvPr id="3273" name="Google Shape;3273;p2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4" name="Google Shape;3274;p2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275" name="Google Shape;3275;p2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276" name="Google Shape;3276;p2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$220,836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277" name="Google Shape;3277;p2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278" name="Google Shape;3278;p2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$220,836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82" name="Shape 3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3" name="Google Shape;3283;p2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4" name="Google Shape;3284;p2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Eagle National Insurance Services, Inc.</a:t>
            </a:r>
            <a:endParaRPr/>
          </a:p>
        </p:txBody>
      </p:sp>
      <p:sp>
        <p:nvSpPr>
          <p:cNvPr id="3285" name="Google Shape;3285;p2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Miami</a:t>
            </a:r>
            <a:endParaRPr/>
          </a:p>
        </p:txBody>
      </p:sp>
      <p:sp>
        <p:nvSpPr>
          <p:cNvPr id="3286" name="Google Shape;3286;p2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$206,809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287" name="Google Shape;3287;p2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$118,947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88" name="Google Shape;3288;p2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$61,108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89" name="Google Shape;3289;p2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90" name="Google Shape;3290;p2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91" name="Google Shape;3291;p2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$631,182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292" name="Google Shape;3292;p2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$516,323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293" name="Google Shape;3293;p2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294" name="Google Shape;3294;p2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295" name="Google Shape;3295;p2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296" name="Google Shape;3296;p2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297" name="Google Shape;3297;p2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$393,906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298" name="Google Shape;3298;p2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$43,117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299" name="Google Shape;3299;p2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0" name="Google Shape;3300;p2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301" name="Google Shape;3301;p2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302" name="Google Shape;3302;p2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303" name="Google Shape;3303;p2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304" name="Google Shape;3304;p2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305" name="Google Shape;3305;p2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306" name="Google Shape;3306;p2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307" name="Google Shape;3307;p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8" name="Google Shape;3308;p2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309" name="Google Shape;3309;p2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$61,108</a:t>
            </a:r>
            <a:endParaRPr/>
          </a:p>
        </p:txBody>
      </p:sp>
      <p:sp>
        <p:nvSpPr>
          <p:cNvPr id="3310" name="Google Shape;3310;p2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1" name="Google Shape;3311;p2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$61,108</a:t>
            </a:r>
            <a:endParaRPr/>
          </a:p>
        </p:txBody>
      </p:sp>
      <p:sp>
        <p:nvSpPr>
          <p:cNvPr id="3312" name="Google Shape;3312;p2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3" name="Google Shape;3313;p2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4" name="Google Shape;3314;p2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5" name="Google Shape;3315;p2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16" name="Google Shape;3316;p2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7" name="Google Shape;3317;p2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8" name="Google Shape;3318;p2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9" name="Google Shape;3319;p2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0" name="Google Shape;3320;p2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1" name="Google Shape;3321;p2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2" name="Google Shape;3322;p2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323" name="Google Shape;3323;p2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4" name="Google Shape;3324;p2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5" name="Google Shape;3325;p2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6" name="Google Shape;3326;p2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7" name="Google Shape;3327;p2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8" name="Google Shape;3328;p2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9" name="Google Shape;3329;p2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330" name="Google Shape;3330;p2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$138,470</a:t>
            </a:r>
            <a:endParaRPr/>
          </a:p>
        </p:txBody>
      </p:sp>
      <p:sp>
        <p:nvSpPr>
          <p:cNvPr id="3331" name="Google Shape;3331;p2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$118,947</a:t>
            </a:r>
            <a:endParaRPr/>
          </a:p>
        </p:txBody>
      </p:sp>
      <p:sp>
        <p:nvSpPr>
          <p:cNvPr id="3332" name="Google Shape;3332;p2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33" name="Google Shape;3333;p2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$19,524</a:t>
            </a:r>
            <a:endParaRPr/>
          </a:p>
        </p:txBody>
      </p:sp>
      <p:sp>
        <p:nvSpPr>
          <p:cNvPr id="3334" name="Google Shape;3334;p2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35" name="Google Shape;3335;p2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6" name="Google Shape;3336;p2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337" name="Google Shape;3337;p2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$7,231</a:t>
            </a:r>
            <a:endParaRPr/>
          </a:p>
        </p:txBody>
      </p:sp>
      <p:sp>
        <p:nvSpPr>
          <p:cNvPr id="3338" name="Google Shape;3338;p2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39" name="Google Shape;3339;p2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40" name="Google Shape;3340;p2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$7,231</a:t>
            </a:r>
            <a:endParaRPr/>
          </a:p>
        </p:txBody>
      </p:sp>
      <p:sp>
        <p:nvSpPr>
          <p:cNvPr id="3341" name="Google Shape;3341;p2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42" name="Google Shape;3342;p2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3" name="Google Shape;3343;p2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44" name="Google Shape;3344;p2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$206,809</a:t>
            </a:r>
            <a:endParaRPr/>
          </a:p>
        </p:txBody>
      </p:sp>
      <p:sp>
        <p:nvSpPr>
          <p:cNvPr id="3345" name="Google Shape;3345;p2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$118,947</a:t>
            </a:r>
            <a:endParaRPr/>
          </a:p>
        </p:txBody>
      </p:sp>
      <p:sp>
        <p:nvSpPr>
          <p:cNvPr id="3346" name="Google Shape;3346;p2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$61,108</a:t>
            </a:r>
            <a:endParaRPr/>
          </a:p>
        </p:txBody>
      </p:sp>
      <p:sp>
        <p:nvSpPr>
          <p:cNvPr id="3347" name="Google Shape;3347;p2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$26,754</a:t>
            </a:r>
            <a:endParaRPr/>
          </a:p>
        </p:txBody>
      </p:sp>
      <p:sp>
        <p:nvSpPr>
          <p:cNvPr id="3348" name="Google Shape;3348;p2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49" name="Google Shape;3349;p2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0" name="Google Shape;3350;p2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351" name="Google Shape;3351;p2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352" name="Google Shape;3352;p2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353" name="Google Shape;3353;p2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354" name="Google Shape;3354;p2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355" name="Google Shape;3355;p2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356" name="Google Shape;3356;p2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357" name="Google Shape;3357;p2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8" name="Google Shape;3358;p2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359" name="Google Shape;3359;p2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360" name="Google Shape;3360;p2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61" name="Google Shape;3361;p2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62" name="Google Shape;3362;p2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63" name="Google Shape;3363;p2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</p:txBody>
      </p:sp>
      <p:sp>
        <p:nvSpPr>
          <p:cNvPr id="3364" name="Google Shape;3364;p2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5" name="Google Shape;3365;p2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66" name="Google Shape;3366;p2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67" name="Google Shape;3367;p2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68" name="Google Shape;3368;p2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69" name="Google Shape;3369;p2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70" name="Google Shape;3370;p2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3371" name="Google Shape;3371;p2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2" name="Google Shape;3372;p2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373" name="Google Shape;3373;p2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374" name="Google Shape;3374;p2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375" name="Google Shape;3375;p2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376" name="Google Shape;3376;p2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377" name="Google Shape;3377;p2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30.0%</a:t>
            </a:r>
            <a:endParaRPr/>
          </a:p>
        </p:txBody>
      </p:sp>
      <p:sp>
        <p:nvSpPr>
          <p:cNvPr id="3378" name="Google Shape;3378;p2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9" name="Google Shape;3379;p2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380" name="Google Shape;3380;p2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381" name="Google Shape;3381;p2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82" name="Google Shape;3382;p2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383" name="Google Shape;3383;p2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384" name="Google Shape;3384;p2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23.1%</a:t>
            </a:r>
            <a:endParaRPr/>
          </a:p>
        </p:txBody>
      </p:sp>
      <p:sp>
        <p:nvSpPr>
          <p:cNvPr id="3385" name="Google Shape;3385;p2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6" name="Google Shape;3386;p2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387" name="Google Shape;3387;p2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388" name="Google Shape;3388;p2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389" name="Google Shape;3389;p2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390" name="Google Shape;3390;p2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391" name="Google Shape;3391;p2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37.5%</a:t>
            </a:r>
            <a:endParaRPr/>
          </a:p>
        </p:txBody>
      </p:sp>
      <p:sp>
        <p:nvSpPr>
          <p:cNvPr id="3392" name="Google Shape;3392;p2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3" name="Google Shape;3393;p2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94" name="Google Shape;3394;p2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395" name="Google Shape;3395;p2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396" name="Google Shape;3396;p2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3397" name="Google Shape;3397;p2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398" name="Google Shape;3398;p2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3399" name="Google Shape;3399;p2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0" name="Google Shape;3400;p2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401" name="Google Shape;3401;p2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02" name="Google Shape;3402;p2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403" name="Google Shape;3403;p2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404" name="Google Shape;3404;p2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405" name="Google Shape;3405;p2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406" name="Google Shape;3406;p2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407" name="Google Shape;3407;p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408" name="Google Shape;3408;p2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409" name="Google Shape;3409;p2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410" name="Google Shape;3410;p2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411" name="Google Shape;3411;p2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412" name="Google Shape;3412;p2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413" name="Google Shape;3413;p2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414" name="Google Shape;3414;p2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415" name="Google Shape;3415;p2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416" name="Google Shape;3416;p2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417" name="Google Shape;3417;p2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3418" name="Google Shape;3418;p2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19" name="Google Shape;3419;p2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420" name="Google Shape;3420;p2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421" name="Google Shape;3421;p2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422" name="Google Shape;3422;p2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423" name="Google Shape;3423;p2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424" name="Google Shape;3424;p2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425" name="Google Shape;3425;p2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97</a:t>
            </a:r>
            <a:endParaRPr/>
          </a:p>
        </p:txBody>
      </p:sp>
      <p:sp>
        <p:nvSpPr>
          <p:cNvPr id="3426" name="Google Shape;3426;p2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3427" name="Google Shape;3427;p2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428" name="Google Shape;3428;p2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$191K</a:t>
            </a:r>
            <a:endParaRPr/>
          </a:p>
        </p:txBody>
      </p:sp>
      <p:sp>
        <p:nvSpPr>
          <p:cNvPr id="3429" name="Google Shape;3429;p2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$61K</a:t>
            </a:r>
            <a:endParaRPr/>
          </a:p>
        </p:txBody>
      </p:sp>
      <p:sp>
        <p:nvSpPr>
          <p:cNvPr id="3430" name="Google Shape;3430;p2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3431" name="Google Shape;3431;p2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32" name="Google Shape;3432;p2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3433" name="Google Shape;3433;p2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34" name="Google Shape;3434;p2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$34K</a:t>
            </a:r>
            <a:endParaRPr/>
          </a:p>
        </p:txBody>
      </p:sp>
      <p:sp>
        <p:nvSpPr>
          <p:cNvPr id="3435" name="Google Shape;3435;p2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$138K</a:t>
            </a:r>
            <a:endParaRPr/>
          </a:p>
        </p:txBody>
      </p:sp>
      <p:sp>
        <p:nvSpPr>
          <p:cNvPr id="3436" name="Google Shape;3436;p2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3437" name="Google Shape;3437;p2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3438" name="Google Shape;3438;p2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$322K</a:t>
            </a:r>
            <a:endParaRPr/>
          </a:p>
        </p:txBody>
      </p:sp>
      <p:sp>
        <p:nvSpPr>
          <p:cNvPr id="3439" name="Google Shape;3439;p2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$207K</a:t>
            </a:r>
            <a:endParaRPr/>
          </a:p>
        </p:txBody>
      </p:sp>
      <p:sp>
        <p:nvSpPr>
          <p:cNvPr id="3440" name="Google Shape;3440;p2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1" name="Google Shape;3441;p2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442" name="Google Shape;3442;p2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443" name="Google Shape;3443;p2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$206,809 YTD gross written premium</a:t>
            </a:r>
            <a:endParaRPr/>
          </a:p>
        </p:txBody>
      </p:sp>
      <p:sp>
        <p:nvSpPr>
          <p:cNvPr id="3444" name="Google Shape;3444;p2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445" name="Google Shape;3445;p2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$118,947 in new business production</a:t>
            </a:r>
            <a:endParaRPr/>
          </a:p>
        </p:txBody>
      </p:sp>
      <p:sp>
        <p:nvSpPr>
          <p:cNvPr id="3446" name="Google Shape;3446;p2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7" name="Google Shape;3447;p2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448" name="Google Shape;3448;p2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449" name="Google Shape;3449;p2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95% month-over-month</a:t>
            </a:r>
            <a:endParaRPr/>
          </a:p>
        </p:txBody>
      </p:sp>
      <p:sp>
        <p:nvSpPr>
          <p:cNvPr id="3450" name="Google Shape;3450;p2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1" name="Google Shape;3451;p2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452" name="Google Shape;3452;p2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453" name="Google Shape;3453;p2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$118,947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454" name="Google Shape;3454;p2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455" name="Google Shape;3455;p2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$61,108 renewal book. Use this as proof of value: "Your retention shows we're delivering - let's find more accounts like these in your pipeline."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59" name="Shape 3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0" name="Google Shape;3460;p2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1" name="Google Shape;3461;p2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Talis Insurance Group, Inc</a:t>
            </a:r>
            <a:endParaRPr/>
          </a:p>
        </p:txBody>
      </p:sp>
      <p:sp>
        <p:nvSpPr>
          <p:cNvPr id="3462" name="Google Shape;3462;p2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GA  |  City: Scottdale</a:t>
            </a:r>
            <a:endParaRPr/>
          </a:p>
        </p:txBody>
      </p:sp>
      <p:sp>
        <p:nvSpPr>
          <p:cNvPr id="3463" name="Google Shape;3463;p2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$180,751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464" name="Google Shape;3464;p2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65" name="Google Shape;3465;p2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$162,876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66" name="Google Shape;3466;p2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67" name="Google Shape;3467;p2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68" name="Google Shape;3468;p2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$633,686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469" name="Google Shape;3469;p2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$563,751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470" name="Google Shape;3470;p2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471" name="Google Shape;3471;p2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472" name="Google Shape;3472;p2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473" name="Google Shape;3473;p2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474" name="Google Shape;3474;p2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$303,895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475" name="Google Shape;3475;p2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$79,804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476" name="Google Shape;3476;p2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7" name="Google Shape;3477;p2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478" name="Google Shape;3478;p2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479" name="Google Shape;3479;p2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480" name="Google Shape;3480;p2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81" name="Google Shape;3481;p2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82" name="Google Shape;3482;p2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83" name="Google Shape;3483;p2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84" name="Google Shape;3484;p2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5" name="Google Shape;3485;p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486" name="Google Shape;3486;p2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$325</a:t>
            </a:r>
            <a:endParaRPr/>
          </a:p>
        </p:txBody>
      </p:sp>
      <p:sp>
        <p:nvSpPr>
          <p:cNvPr id="3487" name="Google Shape;3487;p2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8" name="Google Shape;3488;p2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9" name="Google Shape;3489;p2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$325</a:t>
            </a:r>
            <a:endParaRPr/>
          </a:p>
        </p:txBody>
      </p:sp>
      <p:sp>
        <p:nvSpPr>
          <p:cNvPr id="3490" name="Google Shape;3490;p2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1" name="Google Shape;3491;p2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2" name="Google Shape;3492;p2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493" name="Google Shape;3493;p2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4" name="Google Shape;3494;p2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5" name="Google Shape;3495;p2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6" name="Google Shape;3496;p2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7" name="Google Shape;3497;p2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$-500</a:t>
            </a:r>
            <a:endParaRPr/>
          </a:p>
        </p:txBody>
      </p:sp>
      <p:sp>
        <p:nvSpPr>
          <p:cNvPr id="3498" name="Google Shape;3498;p2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9" name="Google Shape;3499;p2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500" name="Google Shape;3500;p2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$12,969</a:t>
            </a:r>
            <a:endParaRPr/>
          </a:p>
        </p:txBody>
      </p:sp>
      <p:sp>
        <p:nvSpPr>
          <p:cNvPr id="3501" name="Google Shape;3501;p2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$12,969</a:t>
            </a:r>
            <a:endParaRPr/>
          </a:p>
        </p:txBody>
      </p:sp>
      <p:sp>
        <p:nvSpPr>
          <p:cNvPr id="3502" name="Google Shape;3502;p2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3" name="Google Shape;3503;p2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4" name="Google Shape;3504;p2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5" name="Google Shape;3505;p2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6" name="Google Shape;3506;p2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507" name="Google Shape;3507;p2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$167,457</a:t>
            </a:r>
            <a:endParaRPr/>
          </a:p>
        </p:txBody>
      </p:sp>
      <p:sp>
        <p:nvSpPr>
          <p:cNvPr id="3508" name="Google Shape;3508;p2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$4,166</a:t>
            </a:r>
            <a:endParaRPr/>
          </a:p>
        </p:txBody>
      </p:sp>
      <p:sp>
        <p:nvSpPr>
          <p:cNvPr id="3509" name="Google Shape;3509;p2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$162,876</a:t>
            </a:r>
            <a:endParaRPr/>
          </a:p>
        </p:txBody>
      </p:sp>
      <p:sp>
        <p:nvSpPr>
          <p:cNvPr id="3510" name="Google Shape;3510;p2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$414</a:t>
            </a:r>
            <a:endParaRPr/>
          </a:p>
        </p:txBody>
      </p:sp>
      <p:sp>
        <p:nvSpPr>
          <p:cNvPr id="3511" name="Google Shape;3511;p2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12" name="Google Shape;3512;p2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3" name="Google Shape;3513;p2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514" name="Google Shape;3514;p2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15" name="Google Shape;3515;p2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16" name="Google Shape;3516;p2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17" name="Google Shape;3517;p2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18" name="Google Shape;3518;p2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19" name="Google Shape;3519;p2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0" name="Google Shape;3520;p2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521" name="Google Shape;3521;p2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$180,751</a:t>
            </a:r>
            <a:endParaRPr/>
          </a:p>
        </p:txBody>
      </p:sp>
      <p:sp>
        <p:nvSpPr>
          <p:cNvPr id="3522" name="Google Shape;3522;p2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$17,135</a:t>
            </a:r>
            <a:endParaRPr/>
          </a:p>
        </p:txBody>
      </p:sp>
      <p:sp>
        <p:nvSpPr>
          <p:cNvPr id="3523" name="Google Shape;3523;p2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$162,876</a:t>
            </a:r>
            <a:endParaRPr/>
          </a:p>
        </p:txBody>
      </p:sp>
      <p:sp>
        <p:nvSpPr>
          <p:cNvPr id="3524" name="Google Shape;3524;p2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$740</a:t>
            </a:r>
            <a:endParaRPr/>
          </a:p>
        </p:txBody>
      </p:sp>
      <p:sp>
        <p:nvSpPr>
          <p:cNvPr id="3525" name="Google Shape;3525;p2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$-500</a:t>
            </a:r>
            <a:endParaRPr/>
          </a:p>
        </p:txBody>
      </p:sp>
      <p:sp>
        <p:nvSpPr>
          <p:cNvPr id="3526" name="Google Shape;3526;p2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7" name="Google Shape;3527;p2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528" name="Google Shape;3528;p2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529" name="Google Shape;3529;p2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530" name="Google Shape;3530;p2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531" name="Google Shape;3531;p2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532" name="Google Shape;3532;p2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533" name="Google Shape;3533;p2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534" name="Google Shape;3534;p2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5" name="Google Shape;3535;p2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536" name="Google Shape;3536;p2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537" name="Google Shape;3537;p2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538" name="Google Shape;3538;p2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3539" name="Google Shape;3539;p2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540" name="Google Shape;3540;p2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24.1%</a:t>
            </a:r>
            <a:endParaRPr/>
          </a:p>
        </p:txBody>
      </p:sp>
      <p:sp>
        <p:nvSpPr>
          <p:cNvPr id="3541" name="Google Shape;3541;p2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2" name="Google Shape;3542;p2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543" name="Google Shape;3543;p2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544" name="Google Shape;3544;p2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45" name="Google Shape;3545;p2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3546" name="Google Shape;3546;p2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47" name="Google Shape;3547;p2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</p:txBody>
      </p:sp>
      <p:sp>
        <p:nvSpPr>
          <p:cNvPr id="3548" name="Google Shape;3548;p2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9" name="Google Shape;3549;p2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550" name="Google Shape;3550;p2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551" name="Google Shape;3551;p2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552" name="Google Shape;3552;p2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553" name="Google Shape;3553;p2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54" name="Google Shape;3554;p2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</p:txBody>
      </p:sp>
      <p:sp>
        <p:nvSpPr>
          <p:cNvPr id="3555" name="Google Shape;3555;p2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6" name="Google Shape;3556;p2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557" name="Google Shape;3557;p2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3558" name="Google Shape;3558;p2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59" name="Google Shape;3559;p2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560" name="Google Shape;3560;p2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61" name="Google Shape;3561;p2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6.1%</a:t>
            </a:r>
            <a:endParaRPr/>
          </a:p>
        </p:txBody>
      </p:sp>
      <p:sp>
        <p:nvSpPr>
          <p:cNvPr id="3562" name="Google Shape;3562;p2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3" name="Google Shape;3563;p2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564" name="Google Shape;3564;p2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565" name="Google Shape;3565;p2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566" name="Google Shape;3566;p2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567" name="Google Shape;3567;p2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68" name="Google Shape;3568;p2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3569" name="Google Shape;3569;p2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0" name="Google Shape;3570;p2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571" name="Google Shape;3571;p2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</p:txBody>
      </p:sp>
      <p:sp>
        <p:nvSpPr>
          <p:cNvPr id="3572" name="Google Shape;3572;p2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573" name="Google Shape;3573;p2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</a:t>
            </a:r>
            <a:endParaRPr/>
          </a:p>
        </p:txBody>
      </p:sp>
      <p:sp>
        <p:nvSpPr>
          <p:cNvPr id="3574" name="Google Shape;3574;p2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575" name="Google Shape;3575;p2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7.8%</a:t>
            </a:r>
            <a:endParaRPr/>
          </a:p>
        </p:txBody>
      </p:sp>
      <p:sp>
        <p:nvSpPr>
          <p:cNvPr id="3576" name="Google Shape;3576;p2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7" name="Google Shape;3577;p2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578" name="Google Shape;3578;p2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579" name="Google Shape;3579;p2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580" name="Google Shape;3580;p2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581" name="Google Shape;3581;p2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582" name="Google Shape;3582;p2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583" name="Google Shape;3583;p2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584" name="Google Shape;3584;p2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585" name="Google Shape;3585;p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586" name="Google Shape;3586;p2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587" name="Google Shape;3587;p2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588" name="Google Shape;3588;p2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589" name="Google Shape;3589;p2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590" name="Google Shape;3590;p2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591" name="Google Shape;3591;p2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592" name="Google Shape;3592;p2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593" name="Google Shape;3593;p2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594" name="Google Shape;3594;p2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595" name="Google Shape;3595;p2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596" name="Google Shape;3596;p2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597" name="Google Shape;3597;p2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598" name="Google Shape;3598;p2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599" name="Google Shape;3599;p2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3600" name="Google Shape;3600;p2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601" name="Google Shape;3601;p2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602" name="Google Shape;3602;p2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124</a:t>
            </a:r>
            <a:endParaRPr/>
          </a:p>
        </p:txBody>
      </p:sp>
      <p:sp>
        <p:nvSpPr>
          <p:cNvPr id="3603" name="Google Shape;3603;p2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136</a:t>
            </a:r>
            <a:endParaRPr/>
          </a:p>
        </p:txBody>
      </p:sp>
      <p:sp>
        <p:nvSpPr>
          <p:cNvPr id="3604" name="Google Shape;3604;p2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605" name="Google Shape;3605;p2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3606" name="Google Shape;3606;p2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$325</a:t>
            </a:r>
            <a:endParaRPr/>
          </a:p>
        </p:txBody>
      </p:sp>
      <p:sp>
        <p:nvSpPr>
          <p:cNvPr id="3607" name="Google Shape;3607;p2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$-25,219</a:t>
            </a:r>
            <a:endParaRPr/>
          </a:p>
        </p:txBody>
      </p:sp>
      <p:sp>
        <p:nvSpPr>
          <p:cNvPr id="3608" name="Google Shape;3608;p2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9" name="Google Shape;3609;p2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3610" name="Google Shape;3610;p2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3611" name="Google Shape;3611;p2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$141K</a:t>
            </a:r>
            <a:endParaRPr/>
          </a:p>
        </p:txBody>
      </p:sp>
      <p:sp>
        <p:nvSpPr>
          <p:cNvPr id="3612" name="Google Shape;3612;p2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$167K</a:t>
            </a:r>
            <a:endParaRPr/>
          </a:p>
        </p:txBody>
      </p:sp>
      <p:sp>
        <p:nvSpPr>
          <p:cNvPr id="3613" name="Google Shape;3613;p2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$84K</a:t>
            </a:r>
            <a:endParaRPr/>
          </a:p>
        </p:txBody>
      </p:sp>
      <p:sp>
        <p:nvSpPr>
          <p:cNvPr id="3614" name="Google Shape;3614;p2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5" name="Google Shape;3615;p2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$251K</a:t>
            </a:r>
            <a:endParaRPr/>
          </a:p>
        </p:txBody>
      </p:sp>
      <p:sp>
        <p:nvSpPr>
          <p:cNvPr id="3616" name="Google Shape;3616;p2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$181K</a:t>
            </a:r>
            <a:endParaRPr/>
          </a:p>
        </p:txBody>
      </p:sp>
      <p:sp>
        <p:nvSpPr>
          <p:cNvPr id="3617" name="Google Shape;3617;p2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8" name="Google Shape;3618;p2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619" name="Google Shape;3619;p2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620" name="Google Shape;3620;p2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$180,751 YTD gross written premium</a:t>
            </a:r>
            <a:endParaRPr/>
          </a:p>
        </p:txBody>
      </p:sp>
      <p:sp>
        <p:nvSpPr>
          <p:cNvPr id="3621" name="Google Shape;3621;p2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622" name="Google Shape;3622;p2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$17,135 in new business production</a:t>
            </a:r>
            <a:endParaRPr/>
          </a:p>
        </p:txBody>
      </p:sp>
      <p:sp>
        <p:nvSpPr>
          <p:cNvPr id="3623" name="Google Shape;3623;p2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4" name="Google Shape;3624;p2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625" name="Google Shape;3625;p2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626" name="Google Shape;3626;p2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3627" name="Google Shape;3627;p2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628" name="Google Shape;3628;p2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33 to 16 MoM</a:t>
            </a:r>
            <a:endParaRPr/>
          </a:p>
        </p:txBody>
      </p:sp>
      <p:sp>
        <p:nvSpPr>
          <p:cNvPr id="3629" name="Google Shape;3629;p2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0" name="Google Shape;3630;p2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631" name="Google Shape;3631;p2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632" name="Google Shape;3632;p2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$17,135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3633" name="Google Shape;3633;p2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634" name="Google Shape;3634;p2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$162,876 renewal book. Use this as proof of value: "Your retention shows we're delivering - let's find more accounts like these in your pipeline."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38" name="Shape 3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9" name="Google Shape;3639;p2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0" name="Google Shape;3640;p2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 &amp; R Agency LLC</a:t>
            </a:r>
            <a:endParaRPr/>
          </a:p>
        </p:txBody>
      </p:sp>
      <p:sp>
        <p:nvSpPr>
          <p:cNvPr id="3641" name="Google Shape;3641;p2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MS  |  City: New Albany</a:t>
            </a:r>
            <a:endParaRPr/>
          </a:p>
        </p:txBody>
      </p:sp>
      <p:sp>
        <p:nvSpPr>
          <p:cNvPr id="3642" name="Google Shape;3642;p2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$168,967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643" name="Google Shape;3643;p2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$145,252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44" name="Google Shape;3644;p2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45" name="Google Shape;3645;p2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$23,715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46" name="Google Shape;3646;p2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$-42,961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47" name="Google Shape;3647;p2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$685,354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648" name="Google Shape;3648;p2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$667,566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649" name="Google Shape;3649;p2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650" name="Google Shape;3650;p2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651" name="Google Shape;3651;p2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652" name="Google Shape;3652;p2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653" name="Google Shape;3653;p2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$98,726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654" name="Google Shape;3654;p2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$124,938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655" name="Google Shape;3655;p2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6" name="Google Shape;3656;p2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657" name="Google Shape;3657;p2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58" name="Google Shape;3658;p2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659" name="Google Shape;3659;p2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60" name="Google Shape;3660;p2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61" name="Google Shape;3661;p2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62" name="Google Shape;3662;p2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63" name="Google Shape;3663;p2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4" name="Google Shape;3664;p2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65" name="Google Shape;3665;p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$-227</a:t>
            </a:r>
            <a:endParaRPr/>
          </a:p>
        </p:txBody>
      </p:sp>
      <p:sp>
        <p:nvSpPr>
          <p:cNvPr id="3666" name="Google Shape;3666;p2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7" name="Google Shape;3667;p2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8" name="Google Shape;3668;p2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$-227</a:t>
            </a:r>
            <a:endParaRPr/>
          </a:p>
        </p:txBody>
      </p:sp>
      <p:sp>
        <p:nvSpPr>
          <p:cNvPr id="3669" name="Google Shape;3669;p2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$-4,099</a:t>
            </a:r>
            <a:endParaRPr/>
          </a:p>
        </p:txBody>
      </p:sp>
      <p:sp>
        <p:nvSpPr>
          <p:cNvPr id="3670" name="Google Shape;3670;p2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1" name="Google Shape;3671;p2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672" name="Google Shape;3672;p2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$48,328</a:t>
            </a:r>
            <a:endParaRPr/>
          </a:p>
        </p:txBody>
      </p:sp>
      <p:sp>
        <p:nvSpPr>
          <p:cNvPr id="3673" name="Google Shape;3673;p2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$53,783</a:t>
            </a:r>
            <a:endParaRPr/>
          </a:p>
        </p:txBody>
      </p:sp>
      <p:sp>
        <p:nvSpPr>
          <p:cNvPr id="3674" name="Google Shape;3674;p2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5" name="Google Shape;3675;p2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$-5,455</a:t>
            </a:r>
            <a:endParaRPr/>
          </a:p>
        </p:txBody>
      </p:sp>
      <p:sp>
        <p:nvSpPr>
          <p:cNvPr id="3676" name="Google Shape;3676;p2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$-1,443</a:t>
            </a:r>
            <a:endParaRPr/>
          </a:p>
        </p:txBody>
      </p:sp>
      <p:sp>
        <p:nvSpPr>
          <p:cNvPr id="3677" name="Google Shape;3677;p2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8" name="Google Shape;3678;p2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679" name="Google Shape;3679;p2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$16,014</a:t>
            </a:r>
            <a:endParaRPr/>
          </a:p>
        </p:txBody>
      </p:sp>
      <p:sp>
        <p:nvSpPr>
          <p:cNvPr id="3680" name="Google Shape;3680;p2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1" name="Google Shape;3681;p2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2" name="Google Shape;3682;p2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$16,014</a:t>
            </a:r>
            <a:endParaRPr/>
          </a:p>
        </p:txBody>
      </p:sp>
      <p:sp>
        <p:nvSpPr>
          <p:cNvPr id="3683" name="Google Shape;3683;p2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$-22,801</a:t>
            </a:r>
            <a:endParaRPr/>
          </a:p>
        </p:txBody>
      </p:sp>
      <p:sp>
        <p:nvSpPr>
          <p:cNvPr id="3684" name="Google Shape;3684;p2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5" name="Google Shape;3685;p2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686" name="Google Shape;3686;p2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$86,784</a:t>
            </a:r>
            <a:endParaRPr/>
          </a:p>
        </p:txBody>
      </p:sp>
      <p:sp>
        <p:nvSpPr>
          <p:cNvPr id="3687" name="Google Shape;3687;p2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$91,469</a:t>
            </a:r>
            <a:endParaRPr/>
          </a:p>
        </p:txBody>
      </p:sp>
      <p:sp>
        <p:nvSpPr>
          <p:cNvPr id="3688" name="Google Shape;3688;p2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9" name="Google Shape;3689;p2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$-4,685</a:t>
            </a:r>
            <a:endParaRPr/>
          </a:p>
        </p:txBody>
      </p:sp>
      <p:sp>
        <p:nvSpPr>
          <p:cNvPr id="3690" name="Google Shape;3690;p2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$-2,678</a:t>
            </a:r>
            <a:endParaRPr/>
          </a:p>
        </p:txBody>
      </p:sp>
      <p:sp>
        <p:nvSpPr>
          <p:cNvPr id="3691" name="Google Shape;3691;p2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2" name="Google Shape;3692;p2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693" name="Google Shape;3693;p2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$18,068</a:t>
            </a:r>
            <a:endParaRPr/>
          </a:p>
        </p:txBody>
      </p:sp>
      <p:sp>
        <p:nvSpPr>
          <p:cNvPr id="3694" name="Google Shape;3694;p2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95" name="Google Shape;3695;p2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96" name="Google Shape;3696;p2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$18,068</a:t>
            </a:r>
            <a:endParaRPr/>
          </a:p>
        </p:txBody>
      </p:sp>
      <p:sp>
        <p:nvSpPr>
          <p:cNvPr id="3697" name="Google Shape;3697;p2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$-11,941</a:t>
            </a:r>
            <a:endParaRPr/>
          </a:p>
        </p:txBody>
      </p:sp>
      <p:sp>
        <p:nvSpPr>
          <p:cNvPr id="3698" name="Google Shape;3698;p2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9" name="Google Shape;3699;p2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700" name="Google Shape;3700;p2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$168,967</a:t>
            </a:r>
            <a:endParaRPr/>
          </a:p>
        </p:txBody>
      </p:sp>
      <p:sp>
        <p:nvSpPr>
          <p:cNvPr id="3701" name="Google Shape;3701;p2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$145,252</a:t>
            </a:r>
            <a:endParaRPr/>
          </a:p>
        </p:txBody>
      </p:sp>
      <p:sp>
        <p:nvSpPr>
          <p:cNvPr id="3702" name="Google Shape;3702;p2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3" name="Google Shape;3703;p2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$23,715</a:t>
            </a:r>
            <a:endParaRPr/>
          </a:p>
        </p:txBody>
      </p:sp>
      <p:sp>
        <p:nvSpPr>
          <p:cNvPr id="3704" name="Google Shape;3704;p2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$-42,961</a:t>
            </a:r>
            <a:endParaRPr/>
          </a:p>
        </p:txBody>
      </p:sp>
      <p:sp>
        <p:nvSpPr>
          <p:cNvPr id="3705" name="Google Shape;3705;p2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6" name="Google Shape;3706;p2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707" name="Google Shape;3707;p2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708" name="Google Shape;3708;p2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709" name="Google Shape;3709;p2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710" name="Google Shape;3710;p2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711" name="Google Shape;3711;p2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712" name="Google Shape;3712;p2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713" name="Google Shape;3713;p2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4" name="Google Shape;3714;p2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715" name="Google Shape;3715;p2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3716" name="Google Shape;3716;p2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17" name="Google Shape;3717;p2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3718" name="Google Shape;3718;p2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719" name="Google Shape;3719;p2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4.1%</a:t>
            </a:r>
            <a:endParaRPr/>
          </a:p>
        </p:txBody>
      </p:sp>
      <p:sp>
        <p:nvSpPr>
          <p:cNvPr id="3720" name="Google Shape;3720;p2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1" name="Google Shape;3721;p2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722" name="Google Shape;3722;p2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3723" name="Google Shape;3723;p2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24" name="Google Shape;3724;p2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3725" name="Google Shape;3725;p2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26" name="Google Shape;3726;p2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</p:txBody>
      </p:sp>
      <p:sp>
        <p:nvSpPr>
          <p:cNvPr id="3727" name="Google Shape;3727;p2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8" name="Google Shape;3728;p2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729" name="Google Shape;3729;p2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3730" name="Google Shape;3730;p2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31" name="Google Shape;3731;p2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3732" name="Google Shape;3732;p2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733" name="Google Shape;3733;p2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10.4%</a:t>
            </a:r>
            <a:endParaRPr/>
          </a:p>
        </p:txBody>
      </p:sp>
      <p:sp>
        <p:nvSpPr>
          <p:cNvPr id="3734" name="Google Shape;3734;p2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5" name="Google Shape;3735;p2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736" name="Google Shape;3736;p2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3737" name="Google Shape;3737;p2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38" name="Google Shape;3738;p2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3739" name="Google Shape;3739;p2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40" name="Google Shape;3740;p2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3741" name="Google Shape;3741;p2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2" name="Google Shape;3742;p2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743" name="Google Shape;3743;p2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744" name="Google Shape;3744;p2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45" name="Google Shape;3745;p2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746" name="Google Shape;3746;p2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47" name="Google Shape;3747;p2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748" name="Google Shape;3748;p2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9" name="Google Shape;3749;p2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750" name="Google Shape;3750;p2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</a:t>
            </a:r>
            <a:endParaRPr/>
          </a:p>
        </p:txBody>
      </p:sp>
      <p:sp>
        <p:nvSpPr>
          <p:cNvPr id="3751" name="Google Shape;3751;p2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752" name="Google Shape;3752;p2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246</a:t>
            </a:r>
            <a:endParaRPr/>
          </a:p>
        </p:txBody>
      </p:sp>
      <p:sp>
        <p:nvSpPr>
          <p:cNvPr id="3753" name="Google Shape;3753;p2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754" name="Google Shape;3754;p2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3755" name="Google Shape;3755;p2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6" name="Google Shape;3756;p2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757" name="Google Shape;3757;p2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758" name="Google Shape;3758;p2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759" name="Google Shape;3759;p2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760" name="Google Shape;3760;p2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761" name="Google Shape;3761;p2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762" name="Google Shape;3762;p2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763" name="Google Shape;3763;p2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764" name="Google Shape;3764;p2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765" name="Google Shape;3765;p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766" name="Google Shape;3766;p2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767" name="Google Shape;3767;p2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768" name="Google Shape;3768;p2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769" name="Google Shape;3769;p2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770" name="Google Shape;3770;p2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71" name="Google Shape;3771;p2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772" name="Google Shape;3772;p2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3773" name="Google Shape;3773;p2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3774" name="Google Shape;3774;p2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3775" name="Google Shape;3775;p2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3776" name="Google Shape;3776;p2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3777" name="Google Shape;3777;p2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778" name="Google Shape;3778;p2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3779" name="Google Shape;3779;p2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780" name="Google Shape;3780;p2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781" name="Google Shape;3781;p2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</p:txBody>
      </p:sp>
      <p:sp>
        <p:nvSpPr>
          <p:cNvPr id="3782" name="Google Shape;3782;p2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</a:t>
            </a:r>
            <a:endParaRPr/>
          </a:p>
        </p:txBody>
      </p:sp>
      <p:sp>
        <p:nvSpPr>
          <p:cNvPr id="3783" name="Google Shape;3783;p2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784" name="Google Shape;3784;p2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$-2,310</a:t>
            </a:r>
            <a:endParaRPr/>
          </a:p>
        </p:txBody>
      </p:sp>
      <p:sp>
        <p:nvSpPr>
          <p:cNvPr id="3785" name="Google Shape;3785;p2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$-227</a:t>
            </a:r>
            <a:endParaRPr/>
          </a:p>
        </p:txBody>
      </p:sp>
      <p:sp>
        <p:nvSpPr>
          <p:cNvPr id="3786" name="Google Shape;3786;p2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3787" name="Google Shape;3787;p2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3788" name="Google Shape;3788;p2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$62K</a:t>
            </a:r>
            <a:endParaRPr/>
          </a:p>
        </p:txBody>
      </p:sp>
      <p:sp>
        <p:nvSpPr>
          <p:cNvPr id="3789" name="Google Shape;3789;p2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3790" name="Google Shape;3790;p2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$55K</a:t>
            </a:r>
            <a:endParaRPr/>
          </a:p>
        </p:txBody>
      </p:sp>
      <p:sp>
        <p:nvSpPr>
          <p:cNvPr id="3791" name="Google Shape;3791;p2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$87K</a:t>
            </a:r>
            <a:endParaRPr/>
          </a:p>
        </p:txBody>
      </p:sp>
      <p:sp>
        <p:nvSpPr>
          <p:cNvPr id="3792" name="Google Shape;3792;p2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3793" name="Google Shape;3793;p2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3794" name="Google Shape;3794;p2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$187K</a:t>
            </a:r>
            <a:endParaRPr/>
          </a:p>
        </p:txBody>
      </p:sp>
      <p:sp>
        <p:nvSpPr>
          <p:cNvPr id="3795" name="Google Shape;3795;p2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$169K</a:t>
            </a:r>
            <a:endParaRPr/>
          </a:p>
        </p:txBody>
      </p:sp>
      <p:sp>
        <p:nvSpPr>
          <p:cNvPr id="3796" name="Google Shape;3796;p2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7" name="Google Shape;3797;p2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798" name="Google Shape;3798;p2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799" name="Google Shape;3799;p2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$168,967 YTD gross written premium</a:t>
            </a:r>
            <a:endParaRPr/>
          </a:p>
        </p:txBody>
      </p:sp>
      <p:sp>
        <p:nvSpPr>
          <p:cNvPr id="3800" name="Google Shape;3800;p2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801" name="Google Shape;3801;p2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$145,252 in new business production</a:t>
            </a:r>
            <a:endParaRPr/>
          </a:p>
        </p:txBody>
      </p:sp>
      <p:sp>
        <p:nvSpPr>
          <p:cNvPr id="3802" name="Google Shape;3802;p2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3" name="Google Shape;3803;p2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804" name="Google Shape;3804;p2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805" name="Google Shape;3805;p2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2.0% hit ratio on 253 subs - needs coaching</a:t>
            </a:r>
            <a:endParaRPr/>
          </a:p>
        </p:txBody>
      </p:sp>
      <p:sp>
        <p:nvSpPr>
          <p:cNvPr id="3806" name="Google Shape;3806;p2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807" name="Google Shape;3807;p2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79% month-over-month</a:t>
            </a:r>
            <a:endParaRPr/>
          </a:p>
        </p:txBody>
      </p:sp>
      <p:sp>
        <p:nvSpPr>
          <p:cNvPr id="3808" name="Google Shape;3808;p2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9" name="Google Shape;3809;p2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810" name="Google Shape;3810;p2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811" name="Google Shape;3811;p2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(253 subs, only 5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3812" name="Google Shape;3812;p2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813" name="Google Shape;3813;p2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$145,252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17" name="Shape 3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8" name="Google Shape;3818;p2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9" name="Google Shape;3819;p2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Eagle Insurance Agency</a:t>
            </a:r>
            <a:endParaRPr/>
          </a:p>
        </p:txBody>
      </p:sp>
      <p:sp>
        <p:nvSpPr>
          <p:cNvPr id="3820" name="Google Shape;3820;p2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GA  |  City: Lawrenceville</a:t>
            </a:r>
            <a:endParaRPr/>
          </a:p>
        </p:txBody>
      </p:sp>
      <p:sp>
        <p:nvSpPr>
          <p:cNvPr id="3821" name="Google Shape;3821;p2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$156,325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822" name="Google Shape;3822;p2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$92,649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823" name="Google Shape;3823;p2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$14,835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824" name="Google Shape;3824;p2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$48,840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825" name="Google Shape;3825;p2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$-73,735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826" name="Google Shape;3826;p2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$579,876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827" name="Google Shape;3827;p2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$402,264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828" name="Google Shape;3828;p2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829" name="Google Shape;3829;p2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830" name="Google Shape;3830;p2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831" name="Google Shape;3831;p2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832" name="Google Shape;3832;p2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833" name="Google Shape;3833;p2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$220,750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834" name="Google Shape;3834;p2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5" name="Google Shape;3835;p2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836" name="Google Shape;3836;p2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837" name="Google Shape;3837;p2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838" name="Google Shape;3838;p2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839" name="Google Shape;3839;p2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840" name="Google Shape;3840;p2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841" name="Google Shape;3841;p2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842" name="Google Shape;3842;p2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3" name="Google Shape;3843;p2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844" name="Google Shape;3844;p2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$36,009</a:t>
            </a:r>
            <a:endParaRPr/>
          </a:p>
        </p:txBody>
      </p:sp>
      <p:sp>
        <p:nvSpPr>
          <p:cNvPr id="3845" name="Google Shape;3845;p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46" name="Google Shape;3846;p2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47" name="Google Shape;3847;p2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$36,009</a:t>
            </a:r>
            <a:endParaRPr/>
          </a:p>
        </p:txBody>
      </p:sp>
      <p:sp>
        <p:nvSpPr>
          <p:cNvPr id="3848" name="Google Shape;3848;p2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$-35,149</a:t>
            </a:r>
            <a:endParaRPr/>
          </a:p>
        </p:txBody>
      </p:sp>
      <p:sp>
        <p:nvSpPr>
          <p:cNvPr id="3849" name="Google Shape;3849;p2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0" name="Google Shape;3850;p2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851" name="Google Shape;3851;p2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$29,693</a:t>
            </a:r>
            <a:endParaRPr/>
          </a:p>
        </p:txBody>
      </p:sp>
      <p:sp>
        <p:nvSpPr>
          <p:cNvPr id="3852" name="Google Shape;3852;p2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$29,233</a:t>
            </a:r>
            <a:endParaRPr/>
          </a:p>
        </p:txBody>
      </p:sp>
      <p:sp>
        <p:nvSpPr>
          <p:cNvPr id="3853" name="Google Shape;3853;p2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54" name="Google Shape;3854;p2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$460</a:t>
            </a:r>
            <a:endParaRPr/>
          </a:p>
        </p:txBody>
      </p:sp>
      <p:sp>
        <p:nvSpPr>
          <p:cNvPr id="3855" name="Google Shape;3855;p2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$-6,254</a:t>
            </a:r>
            <a:endParaRPr/>
          </a:p>
        </p:txBody>
      </p:sp>
      <p:sp>
        <p:nvSpPr>
          <p:cNvPr id="3856" name="Google Shape;3856;p2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7" name="Google Shape;3857;p2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858" name="Google Shape;3858;p2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$78,999</a:t>
            </a:r>
            <a:endParaRPr/>
          </a:p>
        </p:txBody>
      </p:sp>
      <p:sp>
        <p:nvSpPr>
          <p:cNvPr id="3859" name="Google Shape;3859;p2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$59,192</a:t>
            </a:r>
            <a:endParaRPr/>
          </a:p>
        </p:txBody>
      </p:sp>
      <p:sp>
        <p:nvSpPr>
          <p:cNvPr id="3860" name="Google Shape;3860;p2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$14,835</a:t>
            </a:r>
            <a:endParaRPr/>
          </a:p>
        </p:txBody>
      </p:sp>
      <p:sp>
        <p:nvSpPr>
          <p:cNvPr id="3861" name="Google Shape;3861;p2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$4,972</a:t>
            </a:r>
            <a:endParaRPr/>
          </a:p>
        </p:txBody>
      </p:sp>
      <p:sp>
        <p:nvSpPr>
          <p:cNvPr id="3862" name="Google Shape;3862;p2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$-29,218</a:t>
            </a:r>
            <a:endParaRPr/>
          </a:p>
        </p:txBody>
      </p:sp>
      <p:sp>
        <p:nvSpPr>
          <p:cNvPr id="3863" name="Google Shape;3863;p2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4" name="Google Shape;3864;p2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865" name="Google Shape;3865;p2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$8,124</a:t>
            </a:r>
            <a:endParaRPr/>
          </a:p>
        </p:txBody>
      </p:sp>
      <p:sp>
        <p:nvSpPr>
          <p:cNvPr id="3866" name="Google Shape;3866;p2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$4,224</a:t>
            </a:r>
            <a:endParaRPr/>
          </a:p>
        </p:txBody>
      </p:sp>
      <p:sp>
        <p:nvSpPr>
          <p:cNvPr id="3867" name="Google Shape;3867;p2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8" name="Google Shape;3868;p2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$3,900</a:t>
            </a:r>
            <a:endParaRPr/>
          </a:p>
        </p:txBody>
      </p:sp>
      <p:sp>
        <p:nvSpPr>
          <p:cNvPr id="3869" name="Google Shape;3869;p2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$-3,114</a:t>
            </a:r>
            <a:endParaRPr/>
          </a:p>
        </p:txBody>
      </p:sp>
      <p:sp>
        <p:nvSpPr>
          <p:cNvPr id="3870" name="Google Shape;3870;p2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1" name="Google Shape;3871;p2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72" name="Google Shape;3872;p2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$3,499</a:t>
            </a:r>
            <a:endParaRPr/>
          </a:p>
        </p:txBody>
      </p:sp>
      <p:sp>
        <p:nvSpPr>
          <p:cNvPr id="3873" name="Google Shape;3873;p2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4" name="Google Shape;3874;p2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5" name="Google Shape;3875;p2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$3,499</a:t>
            </a:r>
            <a:endParaRPr/>
          </a:p>
        </p:txBody>
      </p:sp>
      <p:sp>
        <p:nvSpPr>
          <p:cNvPr id="3876" name="Google Shape;3876;p2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7" name="Google Shape;3877;p2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8" name="Google Shape;3878;p2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879" name="Google Shape;3879;p2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$156,325</a:t>
            </a:r>
            <a:endParaRPr/>
          </a:p>
        </p:txBody>
      </p:sp>
      <p:sp>
        <p:nvSpPr>
          <p:cNvPr id="3880" name="Google Shape;3880;p2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$92,649</a:t>
            </a:r>
            <a:endParaRPr/>
          </a:p>
        </p:txBody>
      </p:sp>
      <p:sp>
        <p:nvSpPr>
          <p:cNvPr id="3881" name="Google Shape;3881;p2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$14,835</a:t>
            </a:r>
            <a:endParaRPr/>
          </a:p>
        </p:txBody>
      </p:sp>
      <p:sp>
        <p:nvSpPr>
          <p:cNvPr id="3882" name="Google Shape;3882;p2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$48,840</a:t>
            </a:r>
            <a:endParaRPr/>
          </a:p>
        </p:txBody>
      </p:sp>
      <p:sp>
        <p:nvSpPr>
          <p:cNvPr id="3883" name="Google Shape;3883;p2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$-73,735</a:t>
            </a:r>
            <a:endParaRPr/>
          </a:p>
        </p:txBody>
      </p:sp>
      <p:sp>
        <p:nvSpPr>
          <p:cNvPr id="3884" name="Google Shape;3884;p2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5" name="Google Shape;3885;p2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886" name="Google Shape;3886;p2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887" name="Google Shape;3887;p2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888" name="Google Shape;3888;p2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889" name="Google Shape;3889;p2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890" name="Google Shape;3890;p2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891" name="Google Shape;3891;p2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892" name="Google Shape;3892;p2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3" name="Google Shape;3893;p2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894" name="Google Shape;3894;p2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895" name="Google Shape;3895;p2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96" name="Google Shape;3896;p2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897" name="Google Shape;3897;p2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98" name="Google Shape;3898;p2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15.8%</a:t>
            </a:r>
            <a:endParaRPr/>
          </a:p>
        </p:txBody>
      </p:sp>
      <p:sp>
        <p:nvSpPr>
          <p:cNvPr id="3899" name="Google Shape;3899;p2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0" name="Google Shape;3900;p2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901" name="Google Shape;3901;p2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902" name="Google Shape;3902;p2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03" name="Google Shape;3903;p2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904" name="Google Shape;3904;p2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905" name="Google Shape;3905;p2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</p:txBody>
      </p:sp>
      <p:sp>
        <p:nvSpPr>
          <p:cNvPr id="3906" name="Google Shape;3906;p2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7" name="Google Shape;3907;p2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908" name="Google Shape;3908;p2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909" name="Google Shape;3909;p2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10" name="Google Shape;3910;p2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911" name="Google Shape;3911;p2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912" name="Google Shape;3912;p2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35.7%</a:t>
            </a:r>
            <a:endParaRPr/>
          </a:p>
        </p:txBody>
      </p:sp>
      <p:sp>
        <p:nvSpPr>
          <p:cNvPr id="3913" name="Google Shape;3913;p2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4" name="Google Shape;3914;p2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915" name="Google Shape;3915;p2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916" name="Google Shape;3916;p2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17" name="Google Shape;3917;p2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918" name="Google Shape;3918;p2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919" name="Google Shape;3919;p2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</a:t>
            </a:r>
            <a:endParaRPr/>
          </a:p>
        </p:txBody>
      </p:sp>
      <p:sp>
        <p:nvSpPr>
          <p:cNvPr id="3920" name="Google Shape;3920;p2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1" name="Google Shape;3921;p2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922" name="Google Shape;3922;p2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923" name="Google Shape;3923;p2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24" name="Google Shape;3924;p2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925" name="Google Shape;3925;p2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926" name="Google Shape;3926;p2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23.1%</a:t>
            </a:r>
            <a:endParaRPr/>
          </a:p>
        </p:txBody>
      </p:sp>
      <p:sp>
        <p:nvSpPr>
          <p:cNvPr id="3927" name="Google Shape;3927;p2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8" name="Google Shape;3928;p2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929" name="Google Shape;3929;p2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3930" name="Google Shape;3930;p2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31" name="Google Shape;3931;p2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3932" name="Google Shape;3932;p2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933" name="Google Shape;3933;p2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17.7%</a:t>
            </a:r>
            <a:endParaRPr/>
          </a:p>
        </p:txBody>
      </p:sp>
      <p:sp>
        <p:nvSpPr>
          <p:cNvPr id="3934" name="Google Shape;3934;p2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5" name="Google Shape;3935;p2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936" name="Google Shape;3936;p2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937" name="Google Shape;3937;p2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938" name="Google Shape;3938;p2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939" name="Google Shape;3939;p2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940" name="Google Shape;3940;p2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941" name="Google Shape;3941;p2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942" name="Google Shape;3942;p2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943" name="Google Shape;3943;p2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944" name="Google Shape;3944;p2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945" name="Google Shape;3945;p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946" name="Google Shape;3946;p2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947" name="Google Shape;3947;p2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948" name="Google Shape;3948;p2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949" name="Google Shape;3949;p2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50" name="Google Shape;3950;p2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951" name="Google Shape;3951;p2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952" name="Google Shape;3952;p2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953" name="Google Shape;3953;p2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954" name="Google Shape;3954;p2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955" name="Google Shape;3955;p2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956" name="Google Shape;3956;p2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957" name="Google Shape;3957;p2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958" name="Google Shape;3958;p2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959" name="Google Shape;3959;p2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960" name="Google Shape;3960;p2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3961" name="Google Shape;3961;p2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3962" name="Google Shape;3962;p2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963" name="Google Shape;3963;p2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$170K</a:t>
            </a:r>
            <a:endParaRPr/>
          </a:p>
        </p:txBody>
      </p:sp>
      <p:sp>
        <p:nvSpPr>
          <p:cNvPr id="3964" name="Google Shape;3964;p2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3965" name="Google Shape;3965;p2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3966" name="Google Shape;3966;p2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$30K</a:t>
            </a:r>
            <a:endParaRPr/>
          </a:p>
        </p:txBody>
      </p:sp>
      <p:sp>
        <p:nvSpPr>
          <p:cNvPr id="3967" name="Google Shape;3967;p2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3968" name="Google Shape;3968;p2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$79K</a:t>
            </a:r>
            <a:endParaRPr/>
          </a:p>
        </p:txBody>
      </p:sp>
      <p:sp>
        <p:nvSpPr>
          <p:cNvPr id="3969" name="Google Shape;3969;p2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$77K</a:t>
            </a:r>
            <a:endParaRPr/>
          </a:p>
        </p:txBody>
      </p:sp>
      <p:sp>
        <p:nvSpPr>
          <p:cNvPr id="3970" name="Google Shape;3970;p2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3971" name="Google Shape;3971;p2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3972" name="Google Shape;3972;p2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3973" name="Google Shape;3973;p2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$334K</a:t>
            </a:r>
            <a:endParaRPr/>
          </a:p>
        </p:txBody>
      </p:sp>
      <p:sp>
        <p:nvSpPr>
          <p:cNvPr id="3974" name="Google Shape;3974;p2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$156K</a:t>
            </a:r>
            <a:endParaRPr/>
          </a:p>
        </p:txBody>
      </p:sp>
      <p:sp>
        <p:nvSpPr>
          <p:cNvPr id="3975" name="Google Shape;3975;p2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6" name="Google Shape;3976;p2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977" name="Google Shape;3977;p2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78" name="Google Shape;3978;p2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$156,325 YTD gross written premium</a:t>
            </a:r>
            <a:endParaRPr/>
          </a:p>
        </p:txBody>
      </p:sp>
      <p:sp>
        <p:nvSpPr>
          <p:cNvPr id="3979" name="Google Shape;3979;p2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80" name="Google Shape;3980;p2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$92,649 in new business production</a:t>
            </a:r>
            <a:endParaRPr/>
          </a:p>
        </p:txBody>
      </p:sp>
      <p:sp>
        <p:nvSpPr>
          <p:cNvPr id="3981" name="Google Shape;3981;p2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2" name="Google Shape;3982;p2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983" name="Google Shape;3983;p2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984" name="Google Shape;3984;p2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80% of new business ($73,735)</a:t>
            </a:r>
            <a:endParaRPr/>
          </a:p>
        </p:txBody>
      </p:sp>
      <p:sp>
        <p:nvSpPr>
          <p:cNvPr id="3985" name="Google Shape;3985;p2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986" name="Google Shape;3986;p2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57% month-over-month</a:t>
            </a:r>
            <a:endParaRPr/>
          </a:p>
        </p:txBody>
      </p:sp>
      <p:sp>
        <p:nvSpPr>
          <p:cNvPr id="3987" name="Google Shape;3987;p2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8" name="Google Shape;3988;p2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989" name="Google Shape;3989;p2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990" name="Google Shape;3990;p2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$92,649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991" name="Google Shape;3991;p2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992" name="Google Shape;3992;p2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$73,735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96" name="Shape 3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7" name="Google Shape;3997;p2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8" name="Google Shape;3998;p2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925 Partners, Llc</a:t>
            </a:r>
            <a:endParaRPr/>
          </a:p>
        </p:txBody>
      </p:sp>
      <p:sp>
        <p:nvSpPr>
          <p:cNvPr id="3999" name="Google Shape;3999;p2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Jacksonville</a:t>
            </a:r>
            <a:endParaRPr/>
          </a:p>
        </p:txBody>
      </p:sp>
      <p:sp>
        <p:nvSpPr>
          <p:cNvPr id="4000" name="Google Shape;4000;p2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$136,239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001" name="Google Shape;4001;p2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$36,080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002" name="Google Shape;4002;p2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$106,601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003" name="Google Shape;4003;p2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$-6,442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004" name="Google Shape;4004;p2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$-35,945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005" name="Google Shape;4005;p2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$567,502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006" name="Google Shape;4006;p2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$441,154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007" name="Google Shape;4007;p2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008" name="Google Shape;4008;p2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009" name="Google Shape;4009;p2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010" name="Google Shape;4010;p2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011" name="Google Shape;4011;p2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$69,253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012" name="Google Shape;4012;p2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$82,176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013" name="Google Shape;4013;p2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4" name="Google Shape;4014;p2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015" name="Google Shape;4015;p2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016" name="Google Shape;4016;p2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017" name="Google Shape;4017;p2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018" name="Google Shape;4018;p2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019" name="Google Shape;4019;p2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020" name="Google Shape;4020;p2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021" name="Google Shape;4021;p2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2" name="Google Shape;4022;p2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023" name="Google Shape;4023;p2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$-2,281</a:t>
            </a:r>
            <a:endParaRPr/>
          </a:p>
        </p:txBody>
      </p:sp>
      <p:sp>
        <p:nvSpPr>
          <p:cNvPr id="4024" name="Google Shape;4024;p2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5" name="Google Shape;4025;p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6" name="Google Shape;4026;p2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$-2,281</a:t>
            </a:r>
            <a:endParaRPr/>
          </a:p>
        </p:txBody>
      </p:sp>
      <p:sp>
        <p:nvSpPr>
          <p:cNvPr id="4027" name="Google Shape;4027;p2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8" name="Google Shape;4028;p2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9" name="Google Shape;4029;p2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030" name="Google Shape;4030;p2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$-225</a:t>
            </a:r>
            <a:endParaRPr/>
          </a:p>
        </p:txBody>
      </p:sp>
      <p:sp>
        <p:nvSpPr>
          <p:cNvPr id="4031" name="Google Shape;4031;p2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32" name="Google Shape;4032;p2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33" name="Google Shape;4033;p2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$-225</a:t>
            </a:r>
            <a:endParaRPr/>
          </a:p>
        </p:txBody>
      </p:sp>
      <p:sp>
        <p:nvSpPr>
          <p:cNvPr id="4034" name="Google Shape;4034;p2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$-2,308</a:t>
            </a:r>
            <a:endParaRPr/>
          </a:p>
        </p:txBody>
      </p:sp>
      <p:sp>
        <p:nvSpPr>
          <p:cNvPr id="4035" name="Google Shape;4035;p2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6" name="Google Shape;4036;p2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037" name="Google Shape;4037;p2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$768</a:t>
            </a:r>
            <a:endParaRPr/>
          </a:p>
        </p:txBody>
      </p:sp>
      <p:sp>
        <p:nvSpPr>
          <p:cNvPr id="4038" name="Google Shape;4038;p2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39" name="Google Shape;4039;p2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40" name="Google Shape;4040;p2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$768</a:t>
            </a:r>
            <a:endParaRPr/>
          </a:p>
        </p:txBody>
      </p:sp>
      <p:sp>
        <p:nvSpPr>
          <p:cNvPr id="4041" name="Google Shape;4041;p2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42" name="Google Shape;4042;p2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3" name="Google Shape;4043;p2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044" name="Google Shape;4044;p2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$113,531</a:t>
            </a:r>
            <a:endParaRPr/>
          </a:p>
        </p:txBody>
      </p:sp>
      <p:sp>
        <p:nvSpPr>
          <p:cNvPr id="4045" name="Google Shape;4045;p2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$36,080</a:t>
            </a:r>
            <a:endParaRPr/>
          </a:p>
        </p:txBody>
      </p:sp>
      <p:sp>
        <p:nvSpPr>
          <p:cNvPr id="4046" name="Google Shape;4046;p2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$81,822</a:t>
            </a:r>
            <a:endParaRPr/>
          </a:p>
        </p:txBody>
      </p:sp>
      <p:sp>
        <p:nvSpPr>
          <p:cNvPr id="4047" name="Google Shape;4047;p2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$-4,371</a:t>
            </a:r>
            <a:endParaRPr/>
          </a:p>
        </p:txBody>
      </p:sp>
      <p:sp>
        <p:nvSpPr>
          <p:cNvPr id="4048" name="Google Shape;4048;p2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$-33,637</a:t>
            </a:r>
            <a:endParaRPr/>
          </a:p>
        </p:txBody>
      </p:sp>
      <p:sp>
        <p:nvSpPr>
          <p:cNvPr id="4049" name="Google Shape;4049;p2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0" name="Google Shape;4050;p2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051" name="Google Shape;4051;p2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$24,447</a:t>
            </a:r>
            <a:endParaRPr/>
          </a:p>
        </p:txBody>
      </p:sp>
      <p:sp>
        <p:nvSpPr>
          <p:cNvPr id="4052" name="Google Shape;4052;p2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53" name="Google Shape;4053;p2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$24,779</a:t>
            </a:r>
            <a:endParaRPr/>
          </a:p>
        </p:txBody>
      </p:sp>
      <p:sp>
        <p:nvSpPr>
          <p:cNvPr id="4054" name="Google Shape;4054;p2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$-332</a:t>
            </a:r>
            <a:endParaRPr/>
          </a:p>
        </p:txBody>
      </p:sp>
      <p:sp>
        <p:nvSpPr>
          <p:cNvPr id="4055" name="Google Shape;4055;p2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56" name="Google Shape;4056;p2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7" name="Google Shape;4057;p2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058" name="Google Shape;4058;p2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$136,239</a:t>
            </a:r>
            <a:endParaRPr/>
          </a:p>
        </p:txBody>
      </p:sp>
      <p:sp>
        <p:nvSpPr>
          <p:cNvPr id="4059" name="Google Shape;4059;p2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$36,080</a:t>
            </a:r>
            <a:endParaRPr/>
          </a:p>
        </p:txBody>
      </p:sp>
      <p:sp>
        <p:nvSpPr>
          <p:cNvPr id="4060" name="Google Shape;4060;p2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$106,601</a:t>
            </a:r>
            <a:endParaRPr/>
          </a:p>
        </p:txBody>
      </p:sp>
      <p:sp>
        <p:nvSpPr>
          <p:cNvPr id="4061" name="Google Shape;4061;p2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$-6,442</a:t>
            </a:r>
            <a:endParaRPr/>
          </a:p>
        </p:txBody>
      </p:sp>
      <p:sp>
        <p:nvSpPr>
          <p:cNvPr id="4062" name="Google Shape;4062;p2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$-35,945</a:t>
            </a:r>
            <a:endParaRPr/>
          </a:p>
        </p:txBody>
      </p:sp>
      <p:sp>
        <p:nvSpPr>
          <p:cNvPr id="4063" name="Google Shape;4063;p2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4" name="Google Shape;4064;p2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065" name="Google Shape;4065;p2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066" name="Google Shape;4066;p2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067" name="Google Shape;4067;p2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068" name="Google Shape;4068;p2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069" name="Google Shape;4069;p2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070" name="Google Shape;4070;p2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071" name="Google Shape;4071;p2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2" name="Google Shape;4072;p2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073" name="Google Shape;4073;p2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4074" name="Google Shape;4074;p2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075" name="Google Shape;4075;p2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076" name="Google Shape;4076;p2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077" name="Google Shape;4077;p2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</p:txBody>
      </p:sp>
      <p:sp>
        <p:nvSpPr>
          <p:cNvPr id="4078" name="Google Shape;4078;p2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9" name="Google Shape;4079;p2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080" name="Google Shape;4080;p2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4081" name="Google Shape;4081;p2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082" name="Google Shape;4082;p2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4083" name="Google Shape;4083;p2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84" name="Google Shape;4084;p2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6.0%</a:t>
            </a:r>
            <a:endParaRPr/>
          </a:p>
        </p:txBody>
      </p:sp>
      <p:sp>
        <p:nvSpPr>
          <p:cNvPr id="4085" name="Google Shape;4085;p2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6" name="Google Shape;4086;p2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087" name="Google Shape;4087;p2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088" name="Google Shape;4088;p2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089" name="Google Shape;4089;p2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4090" name="Google Shape;4090;p2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091" name="Google Shape;4091;p2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12.2%</a:t>
            </a:r>
            <a:endParaRPr/>
          </a:p>
        </p:txBody>
      </p:sp>
      <p:sp>
        <p:nvSpPr>
          <p:cNvPr id="4092" name="Google Shape;4092;p2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3" name="Google Shape;4093;p2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094" name="Google Shape;4094;p2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095" name="Google Shape;4095;p2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096" name="Google Shape;4096;p2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4097" name="Google Shape;4097;p2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098" name="Google Shape;4098;p2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10.2%</a:t>
            </a:r>
            <a:endParaRPr/>
          </a:p>
        </p:txBody>
      </p:sp>
      <p:sp>
        <p:nvSpPr>
          <p:cNvPr id="4099" name="Google Shape;4099;p2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0" name="Google Shape;4100;p2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101" name="Google Shape;4101;p2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102" name="Google Shape;4102;p2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103" name="Google Shape;4103;p2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104" name="Google Shape;4104;p2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05" name="Google Shape;4105;p2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106" name="Google Shape;4106;p2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7" name="Google Shape;4107;p2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108" name="Google Shape;4108;p2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214</a:t>
            </a:r>
            <a:endParaRPr/>
          </a:p>
        </p:txBody>
      </p:sp>
      <p:sp>
        <p:nvSpPr>
          <p:cNvPr id="4109" name="Google Shape;4109;p2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110" name="Google Shape;4110;p2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190</a:t>
            </a:r>
            <a:endParaRPr/>
          </a:p>
        </p:txBody>
      </p:sp>
      <p:sp>
        <p:nvSpPr>
          <p:cNvPr id="4111" name="Google Shape;4111;p2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112" name="Google Shape;4112;p2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4113" name="Google Shape;4113;p2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4" name="Google Shape;4114;p2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115" name="Google Shape;4115;p2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116" name="Google Shape;4116;p2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117" name="Google Shape;4117;p2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118" name="Google Shape;4118;p2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119" name="Google Shape;4119;p2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120" name="Google Shape;4120;p2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121" name="Google Shape;4121;p2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122" name="Google Shape;4122;p2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123" name="Google Shape;4123;p2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124" name="Google Shape;4124;p2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125" name="Google Shape;4125;p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126" name="Google Shape;4126;p2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127" name="Google Shape;4127;p2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128" name="Google Shape;4128;p2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129" name="Google Shape;4129;p2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4130" name="Google Shape;4130;p2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4131" name="Google Shape;4131;p2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4132" name="Google Shape;4132;p2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4133" name="Google Shape;4133;p2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4134" name="Google Shape;4134;p2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135" name="Google Shape;4135;p2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4136" name="Google Shape;4136;p2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137" name="Google Shape;4137;p2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138" name="Google Shape;4138;p2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139" name="Google Shape;4139;p2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182</a:t>
            </a:r>
            <a:endParaRPr/>
          </a:p>
        </p:txBody>
      </p:sp>
      <p:sp>
        <p:nvSpPr>
          <p:cNvPr id="4140" name="Google Shape;4140;p2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233</a:t>
            </a:r>
            <a:endParaRPr/>
          </a:p>
        </p:txBody>
      </p:sp>
      <p:sp>
        <p:nvSpPr>
          <p:cNvPr id="4141" name="Google Shape;4141;p2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142" name="Google Shape;4142;p2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$71K</a:t>
            </a:r>
            <a:endParaRPr/>
          </a:p>
        </p:txBody>
      </p:sp>
      <p:sp>
        <p:nvSpPr>
          <p:cNvPr id="4143" name="Google Shape;4143;p2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$-2,281</a:t>
            </a:r>
            <a:endParaRPr/>
          </a:p>
        </p:txBody>
      </p:sp>
      <p:sp>
        <p:nvSpPr>
          <p:cNvPr id="4144" name="Google Shape;4144;p2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4145" name="Google Shape;4145;p2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$-225</a:t>
            </a:r>
            <a:endParaRPr/>
          </a:p>
        </p:txBody>
      </p:sp>
      <p:sp>
        <p:nvSpPr>
          <p:cNvPr id="4146" name="Google Shape;4146;p2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$67K</a:t>
            </a:r>
            <a:endParaRPr/>
          </a:p>
        </p:txBody>
      </p:sp>
      <p:sp>
        <p:nvSpPr>
          <p:cNvPr id="4147" name="Google Shape;4147;p2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$768</a:t>
            </a:r>
            <a:endParaRPr/>
          </a:p>
        </p:txBody>
      </p:sp>
      <p:sp>
        <p:nvSpPr>
          <p:cNvPr id="4148" name="Google Shape;4148;p2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$90K</a:t>
            </a:r>
            <a:endParaRPr/>
          </a:p>
        </p:txBody>
      </p:sp>
      <p:sp>
        <p:nvSpPr>
          <p:cNvPr id="4149" name="Google Shape;4149;p2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$114K</a:t>
            </a:r>
            <a:endParaRPr/>
          </a:p>
        </p:txBody>
      </p:sp>
      <p:sp>
        <p:nvSpPr>
          <p:cNvPr id="4150" name="Google Shape;4150;p2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4151" name="Google Shape;4151;p2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4152" name="Google Shape;4152;p2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$263K</a:t>
            </a:r>
            <a:endParaRPr/>
          </a:p>
        </p:txBody>
      </p:sp>
      <p:sp>
        <p:nvSpPr>
          <p:cNvPr id="4153" name="Google Shape;4153;p2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$136K</a:t>
            </a:r>
            <a:endParaRPr/>
          </a:p>
        </p:txBody>
      </p:sp>
      <p:sp>
        <p:nvSpPr>
          <p:cNvPr id="4154" name="Google Shape;4154;p2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5" name="Google Shape;4155;p2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156" name="Google Shape;4156;p2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157" name="Google Shape;4157;p2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$136,239 YTD gross written premium</a:t>
            </a:r>
            <a:endParaRPr/>
          </a:p>
        </p:txBody>
      </p:sp>
      <p:sp>
        <p:nvSpPr>
          <p:cNvPr id="4158" name="Google Shape;4158;p2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159" name="Google Shape;4159;p2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$36,080 in new business production</a:t>
            </a:r>
            <a:endParaRPr/>
          </a:p>
        </p:txBody>
      </p:sp>
      <p:sp>
        <p:nvSpPr>
          <p:cNvPr id="4160" name="Google Shape;4160;p2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1" name="Google Shape;4161;p2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162" name="Google Shape;4162;p2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163" name="Google Shape;4163;p2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2.3% hit ratio on 214 subs - needs coaching</a:t>
            </a:r>
            <a:endParaRPr/>
          </a:p>
        </p:txBody>
      </p:sp>
      <p:sp>
        <p:nvSpPr>
          <p:cNvPr id="4164" name="Google Shape;4164;p2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165" name="Google Shape;4165;p2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100% of new business ($35,945)</a:t>
            </a:r>
            <a:endParaRPr/>
          </a:p>
        </p:txBody>
      </p:sp>
      <p:sp>
        <p:nvSpPr>
          <p:cNvPr id="4166" name="Google Shape;4166;p2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7" name="Google Shape;4167;p2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168" name="Google Shape;4168;p2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169" name="Google Shape;4169;p2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(214 subs, only 5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4170" name="Google Shape;4170;p2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171" name="Google Shape;4171;p2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$36,080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75" name="Shape 4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6" name="Google Shape;4176;p3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7" name="Google Shape;4177;p3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Waypoint Agency LLC</a:t>
            </a:r>
            <a:endParaRPr/>
          </a:p>
        </p:txBody>
      </p:sp>
      <p:sp>
        <p:nvSpPr>
          <p:cNvPr id="4178" name="Google Shape;4178;p3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MS  |  City: Cedar Park</a:t>
            </a:r>
            <a:endParaRPr/>
          </a:p>
        </p:txBody>
      </p:sp>
      <p:sp>
        <p:nvSpPr>
          <p:cNvPr id="4179" name="Google Shape;4179;p3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$123,067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180" name="Google Shape;4180;p3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$53,629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81" name="Google Shape;4181;p3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82" name="Google Shape;4182;p3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$69,439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83" name="Google Shape;4183;p3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$-131,868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84" name="Google Shape;4184;p3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$628,734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185" name="Google Shape;4185;p3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$584,320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186" name="Google Shape;4186;p3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187" name="Google Shape;4187;p3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188" name="Google Shape;4188;p3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189" name="Google Shape;4189;p3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190" name="Google Shape;4190;p3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$147,614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191" name="Google Shape;4191;p3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$33,043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192" name="Google Shape;4192;p3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3" name="Google Shape;4193;p3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194" name="Google Shape;4194;p3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195" name="Google Shape;4195;p3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196" name="Google Shape;4196;p3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97" name="Google Shape;4197;p3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98" name="Google Shape;4198;p3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99" name="Google Shape;4199;p3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200" name="Google Shape;4200;p3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1" name="Google Shape;4201;p3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202" name="Google Shape;4202;p3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$35,667</a:t>
            </a:r>
            <a:endParaRPr/>
          </a:p>
        </p:txBody>
      </p:sp>
      <p:sp>
        <p:nvSpPr>
          <p:cNvPr id="4203" name="Google Shape;4203;p3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$20,841</a:t>
            </a:r>
            <a:endParaRPr/>
          </a:p>
        </p:txBody>
      </p:sp>
      <p:sp>
        <p:nvSpPr>
          <p:cNvPr id="4204" name="Google Shape;4204;p3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5" name="Google Shape;4205;p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$14,826</a:t>
            </a:r>
            <a:endParaRPr/>
          </a:p>
        </p:txBody>
      </p:sp>
      <p:sp>
        <p:nvSpPr>
          <p:cNvPr id="4206" name="Google Shape;4206;p3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$-16,306</a:t>
            </a:r>
            <a:endParaRPr/>
          </a:p>
        </p:txBody>
      </p:sp>
      <p:sp>
        <p:nvSpPr>
          <p:cNvPr id="4207" name="Google Shape;4207;p3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8" name="Google Shape;4208;p3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209" name="Google Shape;4209;p3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$53,824</a:t>
            </a:r>
            <a:endParaRPr/>
          </a:p>
        </p:txBody>
      </p:sp>
      <p:sp>
        <p:nvSpPr>
          <p:cNvPr id="4210" name="Google Shape;4210;p3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$26,262</a:t>
            </a:r>
            <a:endParaRPr/>
          </a:p>
        </p:txBody>
      </p:sp>
      <p:sp>
        <p:nvSpPr>
          <p:cNvPr id="4211" name="Google Shape;4211;p3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12" name="Google Shape;4212;p3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$27,562</a:t>
            </a:r>
            <a:endParaRPr/>
          </a:p>
        </p:txBody>
      </p:sp>
      <p:sp>
        <p:nvSpPr>
          <p:cNvPr id="4213" name="Google Shape;4213;p3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$-28,277</a:t>
            </a:r>
            <a:endParaRPr/>
          </a:p>
        </p:txBody>
      </p:sp>
      <p:sp>
        <p:nvSpPr>
          <p:cNvPr id="4214" name="Google Shape;4214;p3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5" name="Google Shape;4215;p3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216" name="Google Shape;4216;p3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$37,700</a:t>
            </a:r>
            <a:endParaRPr/>
          </a:p>
        </p:txBody>
      </p:sp>
      <p:sp>
        <p:nvSpPr>
          <p:cNvPr id="4217" name="Google Shape;4217;p3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$5,975</a:t>
            </a:r>
            <a:endParaRPr/>
          </a:p>
        </p:txBody>
      </p:sp>
      <p:sp>
        <p:nvSpPr>
          <p:cNvPr id="4218" name="Google Shape;4218;p3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19" name="Google Shape;4219;p3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$31,725</a:t>
            </a:r>
            <a:endParaRPr/>
          </a:p>
        </p:txBody>
      </p:sp>
      <p:sp>
        <p:nvSpPr>
          <p:cNvPr id="4220" name="Google Shape;4220;p3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$-70,957</a:t>
            </a:r>
            <a:endParaRPr/>
          </a:p>
        </p:txBody>
      </p:sp>
      <p:sp>
        <p:nvSpPr>
          <p:cNvPr id="4221" name="Google Shape;4221;p3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2" name="Google Shape;4222;p3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223" name="Google Shape;4223;p3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$-3,804</a:t>
            </a:r>
            <a:endParaRPr/>
          </a:p>
        </p:txBody>
      </p:sp>
      <p:sp>
        <p:nvSpPr>
          <p:cNvPr id="4224" name="Google Shape;4224;p3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4225" name="Google Shape;4225;p3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26" name="Google Shape;4226;p3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$-4,354</a:t>
            </a:r>
            <a:endParaRPr/>
          </a:p>
        </p:txBody>
      </p:sp>
      <p:sp>
        <p:nvSpPr>
          <p:cNvPr id="4227" name="Google Shape;4227;p3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$-16,328</a:t>
            </a:r>
            <a:endParaRPr/>
          </a:p>
        </p:txBody>
      </p:sp>
      <p:sp>
        <p:nvSpPr>
          <p:cNvPr id="4228" name="Google Shape;4228;p3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9" name="Google Shape;4229;p3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230" name="Google Shape;4230;p3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$-320</a:t>
            </a:r>
            <a:endParaRPr/>
          </a:p>
        </p:txBody>
      </p:sp>
      <p:sp>
        <p:nvSpPr>
          <p:cNvPr id="4231" name="Google Shape;4231;p3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32" name="Google Shape;4232;p3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33" name="Google Shape;4233;p3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$-320</a:t>
            </a:r>
            <a:endParaRPr/>
          </a:p>
        </p:txBody>
      </p:sp>
      <p:sp>
        <p:nvSpPr>
          <p:cNvPr id="4234" name="Google Shape;4234;p3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35" name="Google Shape;4235;p3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6" name="Google Shape;4236;p3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237" name="Google Shape;4237;p3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$123,067</a:t>
            </a:r>
            <a:endParaRPr/>
          </a:p>
        </p:txBody>
      </p:sp>
      <p:sp>
        <p:nvSpPr>
          <p:cNvPr id="4238" name="Google Shape;4238;p3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$53,629</a:t>
            </a:r>
            <a:endParaRPr/>
          </a:p>
        </p:txBody>
      </p:sp>
      <p:sp>
        <p:nvSpPr>
          <p:cNvPr id="4239" name="Google Shape;4239;p3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40" name="Google Shape;4240;p3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$69,439</a:t>
            </a:r>
            <a:endParaRPr/>
          </a:p>
        </p:txBody>
      </p:sp>
      <p:sp>
        <p:nvSpPr>
          <p:cNvPr id="4241" name="Google Shape;4241;p3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$-131,868</a:t>
            </a:r>
            <a:endParaRPr/>
          </a:p>
        </p:txBody>
      </p:sp>
      <p:sp>
        <p:nvSpPr>
          <p:cNvPr id="4242" name="Google Shape;4242;p3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3" name="Google Shape;4243;p3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244" name="Google Shape;4244;p3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245" name="Google Shape;4245;p3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246" name="Google Shape;4246;p3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247" name="Google Shape;4247;p3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248" name="Google Shape;4248;p3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249" name="Google Shape;4249;p3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250" name="Google Shape;4250;p3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1" name="Google Shape;4251;p3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252" name="Google Shape;4252;p3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253" name="Google Shape;4253;p3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254" name="Google Shape;4254;p3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4255" name="Google Shape;4255;p3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56" name="Google Shape;4256;p3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4257" name="Google Shape;4257;p3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8" name="Google Shape;4258;p3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259" name="Google Shape;4259;p3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260" name="Google Shape;4260;p3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61" name="Google Shape;4261;p3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262" name="Google Shape;4262;p3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263" name="Google Shape;4263;p3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22.6%</a:t>
            </a:r>
            <a:endParaRPr/>
          </a:p>
        </p:txBody>
      </p:sp>
      <p:sp>
        <p:nvSpPr>
          <p:cNvPr id="4264" name="Google Shape;4264;p3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5" name="Google Shape;4265;p3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266" name="Google Shape;4266;p3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267" name="Google Shape;4267;p3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68" name="Google Shape;4268;p3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269" name="Google Shape;4269;p3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270" name="Google Shape;4270;p3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4271" name="Google Shape;4271;p3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2" name="Google Shape;4272;p3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273" name="Google Shape;4273;p3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4274" name="Google Shape;4274;p3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75" name="Google Shape;4275;p3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276" name="Google Shape;4276;p3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77" name="Google Shape;4277;p3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9.4%</a:t>
            </a:r>
            <a:endParaRPr/>
          </a:p>
        </p:txBody>
      </p:sp>
      <p:sp>
        <p:nvSpPr>
          <p:cNvPr id="4278" name="Google Shape;4278;p3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9" name="Google Shape;4279;p3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280" name="Google Shape;4280;p3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281" name="Google Shape;4281;p3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82" name="Google Shape;4282;p3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283" name="Google Shape;4283;p3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84" name="Google Shape;4284;p3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18.8%</a:t>
            </a:r>
            <a:endParaRPr/>
          </a:p>
        </p:txBody>
      </p:sp>
      <p:sp>
        <p:nvSpPr>
          <p:cNvPr id="4285" name="Google Shape;4285;p3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6" name="Google Shape;4286;p3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287" name="Google Shape;4287;p3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156</a:t>
            </a:r>
            <a:endParaRPr/>
          </a:p>
        </p:txBody>
      </p:sp>
      <p:sp>
        <p:nvSpPr>
          <p:cNvPr id="4288" name="Google Shape;4288;p3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289" name="Google Shape;4289;p3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149</a:t>
            </a:r>
            <a:endParaRPr/>
          </a:p>
        </p:txBody>
      </p:sp>
      <p:sp>
        <p:nvSpPr>
          <p:cNvPr id="4290" name="Google Shape;4290;p3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291" name="Google Shape;4291;p3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5.1%</a:t>
            </a:r>
            <a:endParaRPr/>
          </a:p>
        </p:txBody>
      </p:sp>
      <p:sp>
        <p:nvSpPr>
          <p:cNvPr id="4292" name="Google Shape;4292;p3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3" name="Google Shape;4293;p3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294" name="Google Shape;4294;p3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295" name="Google Shape;4295;p3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296" name="Google Shape;4296;p3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297" name="Google Shape;4297;p3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298" name="Google Shape;4298;p3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299" name="Google Shape;4299;p3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300" name="Google Shape;4300;p3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301" name="Google Shape;4301;p3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302" name="Google Shape;4302;p3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303" name="Google Shape;4303;p3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304" name="Google Shape;4304;p3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305" name="Google Shape;4305;p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306" name="Google Shape;4306;p3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307" name="Google Shape;4307;p3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308" name="Google Shape;4308;p3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309" name="Google Shape;4309;p3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310" name="Google Shape;4310;p3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311" name="Google Shape;4311;p3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312" name="Google Shape;4312;p3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313" name="Google Shape;4313;p3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314" name="Google Shape;4314;p3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315" name="Google Shape;4315;p3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4316" name="Google Shape;4316;p3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4317" name="Google Shape;4317;p3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318" name="Google Shape;4318;p3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</p:txBody>
      </p:sp>
      <p:sp>
        <p:nvSpPr>
          <p:cNvPr id="4319" name="Google Shape;4319;p3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175</a:t>
            </a:r>
            <a:endParaRPr/>
          </a:p>
        </p:txBody>
      </p:sp>
      <p:sp>
        <p:nvSpPr>
          <p:cNvPr id="4320" name="Google Shape;4320;p3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321" name="Google Shape;4321;p3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$74K</a:t>
            </a:r>
            <a:endParaRPr/>
          </a:p>
        </p:txBody>
      </p:sp>
      <p:sp>
        <p:nvSpPr>
          <p:cNvPr id="4322" name="Google Shape;4322;p3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4323" name="Google Shape;4323;p3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4324" name="Google Shape;4324;p3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$54K</a:t>
            </a:r>
            <a:endParaRPr/>
          </a:p>
        </p:txBody>
      </p:sp>
      <p:sp>
        <p:nvSpPr>
          <p:cNvPr id="4325" name="Google Shape;4325;p3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$-1,438</a:t>
            </a:r>
            <a:endParaRPr/>
          </a:p>
        </p:txBody>
      </p:sp>
      <p:sp>
        <p:nvSpPr>
          <p:cNvPr id="4326" name="Google Shape;4326;p3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4327" name="Google Shape;4327;p3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$-789</a:t>
            </a:r>
            <a:endParaRPr/>
          </a:p>
        </p:txBody>
      </p:sp>
      <p:sp>
        <p:nvSpPr>
          <p:cNvPr id="4328" name="Google Shape;4328;p3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$-3,804</a:t>
            </a:r>
            <a:endParaRPr/>
          </a:p>
        </p:txBody>
      </p:sp>
      <p:sp>
        <p:nvSpPr>
          <p:cNvPr id="4329" name="Google Shape;4329;p3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$78K</a:t>
            </a:r>
            <a:endParaRPr/>
          </a:p>
        </p:txBody>
      </p:sp>
      <p:sp>
        <p:nvSpPr>
          <p:cNvPr id="4330" name="Google Shape;4330;p3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$-320</a:t>
            </a:r>
            <a:endParaRPr/>
          </a:p>
        </p:txBody>
      </p:sp>
      <p:sp>
        <p:nvSpPr>
          <p:cNvPr id="4331" name="Google Shape;4331;p3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$167K</a:t>
            </a:r>
            <a:endParaRPr/>
          </a:p>
        </p:txBody>
      </p:sp>
      <p:sp>
        <p:nvSpPr>
          <p:cNvPr id="4332" name="Google Shape;4332;p3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$123K</a:t>
            </a:r>
            <a:endParaRPr/>
          </a:p>
        </p:txBody>
      </p:sp>
      <p:sp>
        <p:nvSpPr>
          <p:cNvPr id="4333" name="Google Shape;4333;p3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4" name="Google Shape;4334;p3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335" name="Google Shape;4335;p3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336" name="Google Shape;4336;p3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$123,067 YTD gross written premium</a:t>
            </a:r>
            <a:endParaRPr/>
          </a:p>
        </p:txBody>
      </p:sp>
      <p:sp>
        <p:nvSpPr>
          <p:cNvPr id="4337" name="Google Shape;4337;p3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338" name="Google Shape;4338;p3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$53,629 in new business production</a:t>
            </a:r>
            <a:endParaRPr/>
          </a:p>
        </p:txBody>
      </p:sp>
      <p:sp>
        <p:nvSpPr>
          <p:cNvPr id="4339" name="Google Shape;4339;p3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0" name="Google Shape;4340;p3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341" name="Google Shape;4341;p3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342" name="Google Shape;4342;p3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246% of new business ($131,868)</a:t>
            </a:r>
            <a:endParaRPr/>
          </a:p>
        </p:txBody>
      </p:sp>
      <p:sp>
        <p:nvSpPr>
          <p:cNvPr id="4343" name="Google Shape;4343;p3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4" name="Google Shape;4344;p3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345" name="Google Shape;4345;p3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346" name="Google Shape;4346;p3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$53,629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347" name="Google Shape;4347;p3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348" name="Google Shape;4348;p3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$131,868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52" name="Shape 4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3" name="Google Shape;4353;p3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4" name="Google Shape;4354;p3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Sebanda Franchise #42 - M&amp;o Insurance Agency Llc</a:t>
            </a:r>
            <a:endParaRPr/>
          </a:p>
        </p:txBody>
      </p:sp>
      <p:sp>
        <p:nvSpPr>
          <p:cNvPr id="4355" name="Google Shape;4355;p3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Miami</a:t>
            </a:r>
            <a:endParaRPr/>
          </a:p>
        </p:txBody>
      </p:sp>
      <p:sp>
        <p:nvSpPr>
          <p:cNvPr id="4356" name="Google Shape;4356;p3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$120,520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357" name="Google Shape;4357;p3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$89,406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58" name="Google Shape;4358;p3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59" name="Google Shape;4359;p3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$30,564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60" name="Google Shape;4360;p3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$-72,461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61" name="Google Shape;4361;p3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$375,421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362" name="Google Shape;4362;p3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$334,633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363" name="Google Shape;4363;p3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364" name="Google Shape;4364;p3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365" name="Google Shape;4365;p3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366" name="Google Shape;4366;p3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367" name="Google Shape;4367;p3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368" name="Google Shape;4368;p3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$67,242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369" name="Google Shape;4369;p3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0" name="Google Shape;4370;p3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371" name="Google Shape;4371;p3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72" name="Google Shape;4372;p3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373" name="Google Shape;4373;p3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74" name="Google Shape;4374;p3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75" name="Google Shape;4375;p3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76" name="Google Shape;4376;p3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77" name="Google Shape;4377;p3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8" name="Google Shape;4378;p3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79" name="Google Shape;4379;p3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$2,767</a:t>
            </a:r>
            <a:endParaRPr/>
          </a:p>
        </p:txBody>
      </p:sp>
      <p:sp>
        <p:nvSpPr>
          <p:cNvPr id="4380" name="Google Shape;4380;p3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$2,767</a:t>
            </a:r>
            <a:endParaRPr/>
          </a:p>
        </p:txBody>
      </p:sp>
      <p:sp>
        <p:nvSpPr>
          <p:cNvPr id="4381" name="Google Shape;4381;p3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82" name="Google Shape;4382;p3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83" name="Google Shape;4383;p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$-2,245</a:t>
            </a:r>
            <a:endParaRPr/>
          </a:p>
        </p:txBody>
      </p:sp>
      <p:sp>
        <p:nvSpPr>
          <p:cNvPr id="4384" name="Google Shape;4384;p3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5" name="Google Shape;4385;p3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386" name="Google Shape;4386;p3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4387" name="Google Shape;4387;p3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4388" name="Google Shape;4388;p3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89" name="Google Shape;4389;p3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90" name="Google Shape;4390;p3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$-4,741</a:t>
            </a:r>
            <a:endParaRPr/>
          </a:p>
        </p:txBody>
      </p:sp>
      <p:sp>
        <p:nvSpPr>
          <p:cNvPr id="4391" name="Google Shape;4391;p3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2" name="Google Shape;4392;p3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393" name="Google Shape;4393;p3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$23,309</a:t>
            </a:r>
            <a:endParaRPr/>
          </a:p>
        </p:txBody>
      </p:sp>
      <p:sp>
        <p:nvSpPr>
          <p:cNvPr id="4394" name="Google Shape;4394;p3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$16,802</a:t>
            </a:r>
            <a:endParaRPr/>
          </a:p>
        </p:txBody>
      </p:sp>
      <p:sp>
        <p:nvSpPr>
          <p:cNvPr id="4395" name="Google Shape;4395;p3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96" name="Google Shape;4396;p3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$6,507</a:t>
            </a:r>
            <a:endParaRPr/>
          </a:p>
        </p:txBody>
      </p:sp>
      <p:sp>
        <p:nvSpPr>
          <p:cNvPr id="4397" name="Google Shape;4397;p3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$-24,725</a:t>
            </a:r>
            <a:endParaRPr/>
          </a:p>
        </p:txBody>
      </p:sp>
      <p:sp>
        <p:nvSpPr>
          <p:cNvPr id="4398" name="Google Shape;4398;p3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9" name="Google Shape;4399;p3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400" name="Google Shape;4400;p3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$93,495</a:t>
            </a:r>
            <a:endParaRPr/>
          </a:p>
        </p:txBody>
      </p:sp>
      <p:sp>
        <p:nvSpPr>
          <p:cNvPr id="4401" name="Google Shape;4401;p3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$68,888</a:t>
            </a:r>
            <a:endParaRPr/>
          </a:p>
        </p:txBody>
      </p:sp>
      <p:sp>
        <p:nvSpPr>
          <p:cNvPr id="4402" name="Google Shape;4402;p3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4403" name="Google Shape;4403;p3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$24,057</a:t>
            </a:r>
            <a:endParaRPr/>
          </a:p>
        </p:txBody>
      </p:sp>
      <p:sp>
        <p:nvSpPr>
          <p:cNvPr id="4404" name="Google Shape;4404;p3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$-40,750</a:t>
            </a:r>
            <a:endParaRPr/>
          </a:p>
        </p:txBody>
      </p:sp>
      <p:sp>
        <p:nvSpPr>
          <p:cNvPr id="4405" name="Google Shape;4405;p3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6" name="Google Shape;4406;p3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407" name="Google Shape;4407;p3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08" name="Google Shape;4408;p3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09" name="Google Shape;4409;p3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10" name="Google Shape;4410;p3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11" name="Google Shape;4411;p3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12" name="Google Shape;4412;p3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3" name="Google Shape;4413;p3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414" name="Google Shape;4414;p3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$120,520</a:t>
            </a:r>
            <a:endParaRPr/>
          </a:p>
        </p:txBody>
      </p:sp>
      <p:sp>
        <p:nvSpPr>
          <p:cNvPr id="4415" name="Google Shape;4415;p3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$89,406</a:t>
            </a:r>
            <a:endParaRPr/>
          </a:p>
        </p:txBody>
      </p:sp>
      <p:sp>
        <p:nvSpPr>
          <p:cNvPr id="4416" name="Google Shape;4416;p3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4417" name="Google Shape;4417;p3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$30,564</a:t>
            </a:r>
            <a:endParaRPr/>
          </a:p>
        </p:txBody>
      </p:sp>
      <p:sp>
        <p:nvSpPr>
          <p:cNvPr id="4418" name="Google Shape;4418;p3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$-72,461</a:t>
            </a:r>
            <a:endParaRPr/>
          </a:p>
        </p:txBody>
      </p:sp>
      <p:sp>
        <p:nvSpPr>
          <p:cNvPr id="4419" name="Google Shape;4419;p3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0" name="Google Shape;4420;p3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421" name="Google Shape;4421;p3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422" name="Google Shape;4422;p3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423" name="Google Shape;4423;p3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424" name="Google Shape;4424;p3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425" name="Google Shape;4425;p3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426" name="Google Shape;4426;p3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427" name="Google Shape;4427;p3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8" name="Google Shape;4428;p3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429" name="Google Shape;4429;p3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430" name="Google Shape;4430;p3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31" name="Google Shape;4431;p3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4432" name="Google Shape;4432;p3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433" name="Google Shape;4433;p3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4434" name="Google Shape;4434;p3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5" name="Google Shape;4435;p3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436" name="Google Shape;4436;p3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4437" name="Google Shape;4437;p3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438" name="Google Shape;4438;p3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4439" name="Google Shape;4439;p3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40" name="Google Shape;4440;p3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</p:txBody>
      </p:sp>
      <p:sp>
        <p:nvSpPr>
          <p:cNvPr id="4441" name="Google Shape;4441;p3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2" name="Google Shape;4442;p3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443" name="Google Shape;4443;p3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444" name="Google Shape;4444;p3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45" name="Google Shape;4445;p3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446" name="Google Shape;4446;p3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447" name="Google Shape;4447;p3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13.9%</a:t>
            </a:r>
            <a:endParaRPr/>
          </a:p>
        </p:txBody>
      </p:sp>
      <p:sp>
        <p:nvSpPr>
          <p:cNvPr id="4448" name="Google Shape;4448;p3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9" name="Google Shape;4449;p3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450" name="Google Shape;4450;p3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4451" name="Google Shape;4451;p3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52" name="Google Shape;4452;p3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4453" name="Google Shape;4453;p3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54" name="Google Shape;4454;p3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4455" name="Google Shape;4455;p3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6" name="Google Shape;4456;p3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457" name="Google Shape;4457;p3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4458" name="Google Shape;4458;p3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59" name="Google Shape;4459;p3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460" name="Google Shape;4460;p3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61" name="Google Shape;4461;p3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</p:txBody>
      </p:sp>
      <p:sp>
        <p:nvSpPr>
          <p:cNvPr id="4462" name="Google Shape;4462;p3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3" name="Google Shape;4463;p3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464" name="Google Shape;4464;p3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203</a:t>
            </a:r>
            <a:endParaRPr/>
          </a:p>
        </p:txBody>
      </p:sp>
      <p:sp>
        <p:nvSpPr>
          <p:cNvPr id="4465" name="Google Shape;4465;p3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466" name="Google Shape;4466;p3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193</a:t>
            </a:r>
            <a:endParaRPr/>
          </a:p>
        </p:txBody>
      </p:sp>
      <p:sp>
        <p:nvSpPr>
          <p:cNvPr id="4467" name="Google Shape;4467;p3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468" name="Google Shape;4468;p3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4469" name="Google Shape;4469;p3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0" name="Google Shape;4470;p3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471" name="Google Shape;4471;p3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472" name="Google Shape;4472;p3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473" name="Google Shape;4473;p3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474" name="Google Shape;4474;p3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475" name="Google Shape;4475;p3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476" name="Google Shape;4476;p3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477" name="Google Shape;4477;p3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478" name="Google Shape;4478;p3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479" name="Google Shape;4479;p3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480" name="Google Shape;4480;p3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481" name="Google Shape;4481;p3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482" name="Google Shape;4482;p3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483" name="Google Shape;4483;p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484" name="Google Shape;4484;p3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485" name="Google Shape;4485;p3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4486" name="Google Shape;4486;p3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487" name="Google Shape;4487;p3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488" name="Google Shape;4488;p3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4489" name="Google Shape;4489;p3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4490" name="Google Shape;4490;p3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491" name="Google Shape;4491;p3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492" name="Google Shape;4492;p3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4493" name="Google Shape;4493;p3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4494" name="Google Shape;4494;p3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4495" name="Google Shape;4495;p3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270</a:t>
            </a:r>
            <a:endParaRPr/>
          </a:p>
        </p:txBody>
      </p:sp>
      <p:sp>
        <p:nvSpPr>
          <p:cNvPr id="4496" name="Google Shape;4496;p3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214</a:t>
            </a:r>
            <a:endParaRPr/>
          </a:p>
        </p:txBody>
      </p:sp>
      <p:sp>
        <p:nvSpPr>
          <p:cNvPr id="4497" name="Google Shape;4497;p3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498" name="Google Shape;4498;p3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4499" name="Google Shape;4499;p3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4500" name="Google Shape;4500;p3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4501" name="Google Shape;4501;p3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4502" name="Google Shape;4502;p3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4503" name="Google Shape;4503;p3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4504" name="Google Shape;4504;p3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4505" name="Google Shape;4505;p3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$93K</a:t>
            </a:r>
            <a:endParaRPr/>
          </a:p>
        </p:txBody>
      </p:sp>
      <p:sp>
        <p:nvSpPr>
          <p:cNvPr id="4506" name="Google Shape;4506;p3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4507" name="Google Shape;4507;p3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8" name="Google Shape;4508;p3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$161K</a:t>
            </a:r>
            <a:endParaRPr/>
          </a:p>
        </p:txBody>
      </p:sp>
      <p:sp>
        <p:nvSpPr>
          <p:cNvPr id="4509" name="Google Shape;4509;p3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$121K</a:t>
            </a:r>
            <a:endParaRPr/>
          </a:p>
        </p:txBody>
      </p:sp>
      <p:sp>
        <p:nvSpPr>
          <p:cNvPr id="4510" name="Google Shape;4510;p3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1" name="Google Shape;4511;p3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512" name="Google Shape;4512;p3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513" name="Google Shape;4513;p3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$120,520 YTD gross written premium</a:t>
            </a:r>
            <a:endParaRPr/>
          </a:p>
        </p:txBody>
      </p:sp>
      <p:sp>
        <p:nvSpPr>
          <p:cNvPr id="4514" name="Google Shape;4514;p3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515" name="Google Shape;4515;p3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$89,406 in new business production</a:t>
            </a:r>
            <a:endParaRPr/>
          </a:p>
        </p:txBody>
      </p:sp>
      <p:sp>
        <p:nvSpPr>
          <p:cNvPr id="4516" name="Google Shape;4516;p3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7" name="Google Shape;4517;p3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518" name="Google Shape;4518;p3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519" name="Google Shape;4519;p3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81% of new business ($72,461)</a:t>
            </a:r>
            <a:endParaRPr/>
          </a:p>
        </p:txBody>
      </p:sp>
      <p:sp>
        <p:nvSpPr>
          <p:cNvPr id="4520" name="Google Shape;4520;p3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1" name="Google Shape;4521;p3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522" name="Google Shape;4522;p3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523" name="Google Shape;4523;p3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$89,406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524" name="Google Shape;4524;p3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525" name="Google Shape;4525;p3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$72,461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29" name="Shape 4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0" name="Google Shape;4530;p3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1" name="Google Shape;4531;p3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Marble City Insurance</a:t>
            </a:r>
            <a:endParaRPr/>
          </a:p>
        </p:txBody>
      </p:sp>
      <p:sp>
        <p:nvSpPr>
          <p:cNvPr id="4532" name="Google Shape;4532;p3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TN  |  City: Knoxville</a:t>
            </a:r>
            <a:endParaRPr/>
          </a:p>
        </p:txBody>
      </p:sp>
      <p:sp>
        <p:nvSpPr>
          <p:cNvPr id="4533" name="Google Shape;4533;p3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$91,001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534" name="Google Shape;4534;p3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$89,691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535" name="Google Shape;4535;p3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536" name="Google Shape;4536;p3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537" name="Google Shape;4537;p3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$-63,080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538" name="Google Shape;4538;p3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$216,288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539" name="Google Shape;4539;p3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$228,737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540" name="Google Shape;4540;p3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541" name="Google Shape;4541;p3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542" name="Google Shape;4542;p3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43" name="Google Shape;4543;p3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44" name="Google Shape;4544;p3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545" name="Google Shape;4545;p3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$68,762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546" name="Google Shape;4546;p3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7" name="Google Shape;4547;p3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548" name="Google Shape;4548;p3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49" name="Google Shape;4549;p3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550" name="Google Shape;4550;p3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551" name="Google Shape;4551;p3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552" name="Google Shape;4552;p3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553" name="Google Shape;4553;p3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554" name="Google Shape;4554;p3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5" name="Google Shape;4555;p3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56" name="Google Shape;4556;p3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$1,100</a:t>
            </a:r>
            <a:endParaRPr/>
          </a:p>
        </p:txBody>
      </p:sp>
      <p:sp>
        <p:nvSpPr>
          <p:cNvPr id="4557" name="Google Shape;4557;p3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$1,100</a:t>
            </a:r>
            <a:endParaRPr/>
          </a:p>
        </p:txBody>
      </p:sp>
      <p:sp>
        <p:nvSpPr>
          <p:cNvPr id="4558" name="Google Shape;4558;p3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9" name="Google Shape;4559;p3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0" name="Google Shape;4560;p3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$-6,767</a:t>
            </a:r>
            <a:endParaRPr/>
          </a:p>
        </p:txBody>
      </p:sp>
      <p:sp>
        <p:nvSpPr>
          <p:cNvPr id="4561" name="Google Shape;4561;p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2" name="Google Shape;4562;p3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63" name="Google Shape;4563;p3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$6,381</a:t>
            </a:r>
            <a:endParaRPr/>
          </a:p>
        </p:txBody>
      </p:sp>
      <p:sp>
        <p:nvSpPr>
          <p:cNvPr id="4564" name="Google Shape;4564;p3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$5,864</a:t>
            </a:r>
            <a:endParaRPr/>
          </a:p>
        </p:txBody>
      </p:sp>
      <p:sp>
        <p:nvSpPr>
          <p:cNvPr id="4565" name="Google Shape;4565;p3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6" name="Google Shape;4566;p3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$517</a:t>
            </a:r>
            <a:endParaRPr/>
          </a:p>
        </p:txBody>
      </p:sp>
      <p:sp>
        <p:nvSpPr>
          <p:cNvPr id="4567" name="Google Shape;4567;p3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8" name="Google Shape;4568;p3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9" name="Google Shape;4569;p3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70" name="Google Shape;4570;p3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$15,719</a:t>
            </a:r>
            <a:endParaRPr/>
          </a:p>
        </p:txBody>
      </p:sp>
      <p:sp>
        <p:nvSpPr>
          <p:cNvPr id="4571" name="Google Shape;4571;p3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$12,872</a:t>
            </a:r>
            <a:endParaRPr/>
          </a:p>
        </p:txBody>
      </p:sp>
      <p:sp>
        <p:nvSpPr>
          <p:cNvPr id="4572" name="Google Shape;4572;p3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73" name="Google Shape;4573;p3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$2,848</a:t>
            </a:r>
            <a:endParaRPr/>
          </a:p>
        </p:txBody>
      </p:sp>
      <p:sp>
        <p:nvSpPr>
          <p:cNvPr id="4574" name="Google Shape;4574;p3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$-2,615</a:t>
            </a:r>
            <a:endParaRPr/>
          </a:p>
        </p:txBody>
      </p:sp>
      <p:sp>
        <p:nvSpPr>
          <p:cNvPr id="4575" name="Google Shape;4575;p3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6" name="Google Shape;4576;p3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77" name="Google Shape;4577;p3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$54,353</a:t>
            </a:r>
            <a:endParaRPr/>
          </a:p>
        </p:txBody>
      </p:sp>
      <p:sp>
        <p:nvSpPr>
          <p:cNvPr id="4578" name="Google Shape;4578;p3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$56,408</a:t>
            </a:r>
            <a:endParaRPr/>
          </a:p>
        </p:txBody>
      </p:sp>
      <p:sp>
        <p:nvSpPr>
          <p:cNvPr id="4579" name="Google Shape;4579;p3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80" name="Google Shape;4580;p3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$-2,055</a:t>
            </a:r>
            <a:endParaRPr/>
          </a:p>
        </p:txBody>
      </p:sp>
      <p:sp>
        <p:nvSpPr>
          <p:cNvPr id="4581" name="Google Shape;4581;p3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$-53,267</a:t>
            </a:r>
            <a:endParaRPr/>
          </a:p>
        </p:txBody>
      </p:sp>
      <p:sp>
        <p:nvSpPr>
          <p:cNvPr id="4582" name="Google Shape;4582;p3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3" name="Google Shape;4583;p3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584" name="Google Shape;4584;p3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$13,448</a:t>
            </a:r>
            <a:endParaRPr/>
          </a:p>
        </p:txBody>
      </p:sp>
      <p:sp>
        <p:nvSpPr>
          <p:cNvPr id="4585" name="Google Shape;4585;p3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$13,448</a:t>
            </a:r>
            <a:endParaRPr/>
          </a:p>
        </p:txBody>
      </p:sp>
      <p:sp>
        <p:nvSpPr>
          <p:cNvPr id="4586" name="Google Shape;4586;p3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87" name="Google Shape;4587;p3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88" name="Google Shape;4588;p3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$-431</a:t>
            </a:r>
            <a:endParaRPr/>
          </a:p>
        </p:txBody>
      </p:sp>
      <p:sp>
        <p:nvSpPr>
          <p:cNvPr id="4589" name="Google Shape;4589;p3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0" name="Google Shape;4590;p3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591" name="Google Shape;4591;p3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$91,001</a:t>
            </a:r>
            <a:endParaRPr/>
          </a:p>
        </p:txBody>
      </p:sp>
      <p:sp>
        <p:nvSpPr>
          <p:cNvPr id="4592" name="Google Shape;4592;p3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$89,691</a:t>
            </a:r>
            <a:endParaRPr/>
          </a:p>
        </p:txBody>
      </p:sp>
      <p:sp>
        <p:nvSpPr>
          <p:cNvPr id="4593" name="Google Shape;4593;p3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94" name="Google Shape;4594;p3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$1,310</a:t>
            </a:r>
            <a:endParaRPr/>
          </a:p>
        </p:txBody>
      </p:sp>
      <p:sp>
        <p:nvSpPr>
          <p:cNvPr id="4595" name="Google Shape;4595;p3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$-63,080</a:t>
            </a:r>
            <a:endParaRPr/>
          </a:p>
        </p:txBody>
      </p:sp>
      <p:sp>
        <p:nvSpPr>
          <p:cNvPr id="4596" name="Google Shape;4596;p3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7" name="Google Shape;4597;p3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598" name="Google Shape;4598;p3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99" name="Google Shape;4599;p3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600" name="Google Shape;4600;p3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601" name="Google Shape;4601;p3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602" name="Google Shape;4602;p3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603" name="Google Shape;4603;p3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604" name="Google Shape;4604;p3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5" name="Google Shape;4605;p3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606" name="Google Shape;4606;p3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4607" name="Google Shape;4607;p3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8" name="Google Shape;4608;p3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4609" name="Google Shape;4609;p3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610" name="Google Shape;4610;p3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4611" name="Google Shape;4611;p3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2" name="Google Shape;4612;p3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613" name="Google Shape;4613;p3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4614" name="Google Shape;4614;p3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615" name="Google Shape;4615;p3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616" name="Google Shape;4616;p3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617" name="Google Shape;4617;p3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4618" name="Google Shape;4618;p3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9" name="Google Shape;4619;p3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620" name="Google Shape;4620;p3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4621" name="Google Shape;4621;p3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622" name="Google Shape;4622;p3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4623" name="Google Shape;4623;p3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624" name="Google Shape;4624;p3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4625" name="Google Shape;4625;p3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6" name="Google Shape;4626;p3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627" name="Google Shape;4627;p3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4628" name="Google Shape;4628;p3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29" name="Google Shape;4629;p3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4630" name="Google Shape;4630;p3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631" name="Google Shape;4631;p3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10.2%</a:t>
            </a:r>
            <a:endParaRPr/>
          </a:p>
        </p:txBody>
      </p:sp>
      <p:sp>
        <p:nvSpPr>
          <p:cNvPr id="4632" name="Google Shape;4632;p3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3" name="Google Shape;4633;p3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634" name="Google Shape;4634;p3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4635" name="Google Shape;4635;p3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36" name="Google Shape;4636;p3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637" name="Google Shape;4637;p3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38" name="Google Shape;4638;p3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4639" name="Google Shape;4639;p3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0" name="Google Shape;4640;p3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641" name="Google Shape;4641;p3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228</a:t>
            </a:r>
            <a:endParaRPr/>
          </a:p>
        </p:txBody>
      </p:sp>
      <p:sp>
        <p:nvSpPr>
          <p:cNvPr id="4642" name="Google Shape;4642;p3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643" name="Google Shape;4643;p3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224</a:t>
            </a:r>
            <a:endParaRPr/>
          </a:p>
        </p:txBody>
      </p:sp>
      <p:sp>
        <p:nvSpPr>
          <p:cNvPr id="4644" name="Google Shape;4644;p3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645" name="Google Shape;4645;p3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4646" name="Google Shape;4646;p3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7" name="Google Shape;4647;p3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648" name="Google Shape;4648;p3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49" name="Google Shape;4649;p3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650" name="Google Shape;4650;p3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651" name="Google Shape;4651;p3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652" name="Google Shape;4652;p3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653" name="Google Shape;4653;p3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654" name="Google Shape;4654;p3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655" name="Google Shape;4655;p3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656" name="Google Shape;4656;p3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657" name="Google Shape;4657;p3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658" name="Google Shape;4658;p3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659" name="Google Shape;4659;p3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660" name="Google Shape;4660;p3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661" name="Google Shape;4661;p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662" name="Google Shape;4662;p3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4663" name="Google Shape;4663;p3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4664" name="Google Shape;4664;p3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4665" name="Google Shape;4665;p3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4666" name="Google Shape;4666;p3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667" name="Google Shape;4667;p3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4668" name="Google Shape;4668;p3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669" name="Google Shape;4669;p3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4670" name="Google Shape;4670;p3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671" name="Google Shape;4671;p3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4672" name="Google Shape;4672;p3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4673" name="Google Shape;4673;p3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243</a:t>
            </a:r>
            <a:endParaRPr/>
          </a:p>
        </p:txBody>
      </p:sp>
      <p:sp>
        <p:nvSpPr>
          <p:cNvPr id="4674" name="Google Shape;4674;p3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675" name="Google Shape;4675;p3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6" name="Google Shape;4676;p3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4677" name="Google Shape;4677;p3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4678" name="Google Shape;4678;p3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4679" name="Google Shape;4679;p3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4680" name="Google Shape;4680;p3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4681" name="Google Shape;4681;p3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4682" name="Google Shape;4682;p3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$54K</a:t>
            </a:r>
            <a:endParaRPr/>
          </a:p>
        </p:txBody>
      </p:sp>
      <p:sp>
        <p:nvSpPr>
          <p:cNvPr id="4683" name="Google Shape;4683;p3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$-3,701</a:t>
            </a:r>
            <a:endParaRPr/>
          </a:p>
        </p:txBody>
      </p:sp>
      <p:sp>
        <p:nvSpPr>
          <p:cNvPr id="4684" name="Google Shape;4684;p3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4685" name="Google Shape;4685;p3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$79K</a:t>
            </a:r>
            <a:endParaRPr/>
          </a:p>
        </p:txBody>
      </p:sp>
      <p:sp>
        <p:nvSpPr>
          <p:cNvPr id="4686" name="Google Shape;4686;p3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$91K</a:t>
            </a:r>
            <a:endParaRPr/>
          </a:p>
        </p:txBody>
      </p:sp>
      <p:sp>
        <p:nvSpPr>
          <p:cNvPr id="4687" name="Google Shape;4687;p3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8" name="Google Shape;4688;p3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689" name="Google Shape;4689;p3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90" name="Google Shape;4690;p3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$91,001 YTD gross written premium</a:t>
            </a:r>
            <a:endParaRPr/>
          </a:p>
        </p:txBody>
      </p:sp>
      <p:sp>
        <p:nvSpPr>
          <p:cNvPr id="4691" name="Google Shape;4691;p3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92" name="Google Shape;4692;p3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$89,691 in new business production</a:t>
            </a:r>
            <a:endParaRPr/>
          </a:p>
        </p:txBody>
      </p:sp>
      <p:sp>
        <p:nvSpPr>
          <p:cNvPr id="4693" name="Google Shape;4693;p3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4" name="Google Shape;4694;p3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695" name="Google Shape;4695;p3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96" name="Google Shape;4696;p3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70% of new business ($63,080)</a:t>
            </a:r>
            <a:endParaRPr/>
          </a:p>
        </p:txBody>
      </p:sp>
      <p:sp>
        <p:nvSpPr>
          <p:cNvPr id="4697" name="Google Shape;4697;p3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98" name="Google Shape;4698;p3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75% month-over-month</a:t>
            </a:r>
            <a:endParaRPr/>
          </a:p>
        </p:txBody>
      </p:sp>
      <p:sp>
        <p:nvSpPr>
          <p:cNvPr id="4699" name="Google Shape;4699;p3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0" name="Google Shape;4700;p3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701" name="Google Shape;4701;p3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702" name="Google Shape;4702;p3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$89,691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703" name="Google Shape;4703;p3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704" name="Google Shape;4704;p3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$63,080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08" name="Shape 4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9" name="Google Shape;4709;p3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0" name="Google Shape;4710;p3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Woodard Agency Llc</a:t>
            </a:r>
            <a:endParaRPr/>
          </a:p>
        </p:txBody>
      </p:sp>
      <p:sp>
        <p:nvSpPr>
          <p:cNvPr id="4711" name="Google Shape;4711;p3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GA  |  City: Watkinsville</a:t>
            </a:r>
            <a:endParaRPr/>
          </a:p>
        </p:txBody>
      </p:sp>
      <p:sp>
        <p:nvSpPr>
          <p:cNvPr id="4712" name="Google Shape;4712;p3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$79,172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713" name="Google Shape;4713;p3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$58,824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714" name="Google Shape;4714;p3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715" name="Google Shape;4715;p3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716" name="Google Shape;4716;p3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$-96,417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717" name="Google Shape;4717;p3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$368,051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718" name="Google Shape;4718;p3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$329,132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719" name="Google Shape;4719;p3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720" name="Google Shape;4720;p3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721" name="Google Shape;4721;p3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722" name="Google Shape;4722;p3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723" name="Google Shape;4723;p3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724" name="Google Shape;4724;p3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$58,599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725" name="Google Shape;4725;p3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6" name="Google Shape;4726;p3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727" name="Google Shape;4727;p3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728" name="Google Shape;4728;p3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729" name="Google Shape;4729;p3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730" name="Google Shape;4730;p3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731" name="Google Shape;4731;p3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732" name="Google Shape;4732;p3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733" name="Google Shape;4733;p3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4" name="Google Shape;4734;p3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735" name="Google Shape;4735;p3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$800</a:t>
            </a:r>
            <a:endParaRPr/>
          </a:p>
        </p:txBody>
      </p:sp>
      <p:sp>
        <p:nvSpPr>
          <p:cNvPr id="4736" name="Google Shape;4736;p3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7" name="Google Shape;4737;p3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8" name="Google Shape;4738;p3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$800</a:t>
            </a:r>
            <a:endParaRPr/>
          </a:p>
        </p:txBody>
      </p:sp>
      <p:sp>
        <p:nvSpPr>
          <p:cNvPr id="4739" name="Google Shape;4739;p3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$-47,279</a:t>
            </a:r>
            <a:endParaRPr/>
          </a:p>
        </p:txBody>
      </p:sp>
      <p:sp>
        <p:nvSpPr>
          <p:cNvPr id="4740" name="Google Shape;4740;p3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1" name="Google Shape;4741;p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42" name="Google Shape;4742;p3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3" name="Google Shape;4743;p3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4" name="Google Shape;4744;p3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5" name="Google Shape;4745;p3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6" name="Google Shape;4746;p3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7" name="Google Shape;4747;p3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8" name="Google Shape;4748;p3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49" name="Google Shape;4749;p3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$19,547</a:t>
            </a:r>
            <a:endParaRPr/>
          </a:p>
        </p:txBody>
      </p:sp>
      <p:sp>
        <p:nvSpPr>
          <p:cNvPr id="4750" name="Google Shape;4750;p3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1" name="Google Shape;4751;p3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$19,547</a:t>
            </a:r>
            <a:endParaRPr/>
          </a:p>
        </p:txBody>
      </p:sp>
      <p:sp>
        <p:nvSpPr>
          <p:cNvPr id="4752" name="Google Shape;4752;p3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3" name="Google Shape;4753;p3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$-24,183</a:t>
            </a:r>
            <a:endParaRPr/>
          </a:p>
        </p:txBody>
      </p:sp>
      <p:sp>
        <p:nvSpPr>
          <p:cNvPr id="4754" name="Google Shape;4754;p3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5" name="Google Shape;4755;p3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56" name="Google Shape;4756;p3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$33,438</a:t>
            </a:r>
            <a:endParaRPr/>
          </a:p>
        </p:txBody>
      </p:sp>
      <p:sp>
        <p:nvSpPr>
          <p:cNvPr id="4757" name="Google Shape;4757;p3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$33,438</a:t>
            </a:r>
            <a:endParaRPr/>
          </a:p>
        </p:txBody>
      </p:sp>
      <p:sp>
        <p:nvSpPr>
          <p:cNvPr id="4758" name="Google Shape;4758;p3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9" name="Google Shape;4759;p3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60" name="Google Shape;4760;p3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$-12,224</a:t>
            </a:r>
            <a:endParaRPr/>
          </a:p>
        </p:txBody>
      </p:sp>
      <p:sp>
        <p:nvSpPr>
          <p:cNvPr id="4761" name="Google Shape;4761;p3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2" name="Google Shape;4762;p3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63" name="Google Shape;4763;p3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$25,386</a:t>
            </a:r>
            <a:endParaRPr/>
          </a:p>
        </p:txBody>
      </p:sp>
      <p:sp>
        <p:nvSpPr>
          <p:cNvPr id="4764" name="Google Shape;4764;p3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$25,386</a:t>
            </a:r>
            <a:endParaRPr/>
          </a:p>
        </p:txBody>
      </p:sp>
      <p:sp>
        <p:nvSpPr>
          <p:cNvPr id="4765" name="Google Shape;4765;p3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66" name="Google Shape;4766;p3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67" name="Google Shape;4767;p3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$-12,731</a:t>
            </a:r>
            <a:endParaRPr/>
          </a:p>
        </p:txBody>
      </p:sp>
      <p:sp>
        <p:nvSpPr>
          <p:cNvPr id="4768" name="Google Shape;4768;p3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9" name="Google Shape;4769;p3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70" name="Google Shape;4770;p3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$79,172</a:t>
            </a:r>
            <a:endParaRPr/>
          </a:p>
        </p:txBody>
      </p:sp>
      <p:sp>
        <p:nvSpPr>
          <p:cNvPr id="4771" name="Google Shape;4771;p3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$58,824</a:t>
            </a:r>
            <a:endParaRPr/>
          </a:p>
        </p:txBody>
      </p:sp>
      <p:sp>
        <p:nvSpPr>
          <p:cNvPr id="4772" name="Google Shape;4772;p3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$19,547</a:t>
            </a:r>
            <a:endParaRPr/>
          </a:p>
        </p:txBody>
      </p:sp>
      <p:sp>
        <p:nvSpPr>
          <p:cNvPr id="4773" name="Google Shape;4773;p3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$800</a:t>
            </a:r>
            <a:endParaRPr/>
          </a:p>
        </p:txBody>
      </p:sp>
      <p:sp>
        <p:nvSpPr>
          <p:cNvPr id="4774" name="Google Shape;4774;p3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$-96,417</a:t>
            </a:r>
            <a:endParaRPr/>
          </a:p>
        </p:txBody>
      </p:sp>
      <p:sp>
        <p:nvSpPr>
          <p:cNvPr id="4775" name="Google Shape;4775;p3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6" name="Google Shape;4776;p3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777" name="Google Shape;4777;p3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778" name="Google Shape;4778;p3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779" name="Google Shape;4779;p3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780" name="Google Shape;4780;p3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781" name="Google Shape;4781;p3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782" name="Google Shape;4782;p3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783" name="Google Shape;4783;p3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4" name="Google Shape;4784;p3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785" name="Google Shape;4785;p3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786" name="Google Shape;4786;p3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87" name="Google Shape;4787;p3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788" name="Google Shape;4788;p3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89" name="Google Shape;4789;p3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4790" name="Google Shape;4790;p3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1" name="Google Shape;4791;p3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92" name="Google Shape;4792;p3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793" name="Google Shape;4793;p3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94" name="Google Shape;4794;p3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795" name="Google Shape;4795;p3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96" name="Google Shape;4796;p3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97" name="Google Shape;4797;p3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8" name="Google Shape;4798;p3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99" name="Google Shape;4799;p3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800" name="Google Shape;4800;p3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01" name="Google Shape;4801;p3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802" name="Google Shape;4802;p3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803" name="Google Shape;4803;p3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4804" name="Google Shape;4804;p3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5" name="Google Shape;4805;p3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806" name="Google Shape;4806;p3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807" name="Google Shape;4807;p3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08" name="Google Shape;4808;p3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809" name="Google Shape;4809;p3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10" name="Google Shape;4810;p3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4811" name="Google Shape;4811;p3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2" name="Google Shape;4812;p3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813" name="Google Shape;4813;p3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814" name="Google Shape;4814;p3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15" name="Google Shape;4815;p3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816" name="Google Shape;4816;p3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17" name="Google Shape;4817;p3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818" name="Google Shape;4818;p3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9" name="Google Shape;4819;p3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820" name="Google Shape;4820;p3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4821" name="Google Shape;4821;p3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22" name="Google Shape;4822;p3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4823" name="Google Shape;4823;p3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824" name="Google Shape;4824;p3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4825" name="Google Shape;4825;p3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6" name="Google Shape;4826;p3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827" name="Google Shape;4827;p3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828" name="Google Shape;4828;p3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829" name="Google Shape;4829;p3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830" name="Google Shape;4830;p3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831" name="Google Shape;4831;p3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832" name="Google Shape;4832;p3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833" name="Google Shape;4833;p3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834" name="Google Shape;4834;p3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835" name="Google Shape;4835;p3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836" name="Google Shape;4836;p3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837" name="Google Shape;4837;p3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838" name="Google Shape;4838;p3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839" name="Google Shape;4839;p3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840" name="Google Shape;4840;p3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41" name="Google Shape;4841;p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4842" name="Google Shape;4842;p3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843" name="Google Shape;4843;p3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844" name="Google Shape;4844;p3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845" name="Google Shape;4845;p3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846" name="Google Shape;4846;p3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847" name="Google Shape;4847;p3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848" name="Google Shape;4848;p3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849" name="Google Shape;4849;p3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4850" name="Google Shape;4850;p3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851" name="Google Shape;4851;p3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</a:t>
            </a:r>
            <a:endParaRPr/>
          </a:p>
        </p:txBody>
      </p:sp>
      <p:sp>
        <p:nvSpPr>
          <p:cNvPr id="4852" name="Google Shape;4852;p3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4853" name="Google Shape;4853;p3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854" name="Google Shape;4854;p3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</a:t>
            </a:r>
            <a:endParaRPr/>
          </a:p>
        </p:txBody>
      </p:sp>
      <p:sp>
        <p:nvSpPr>
          <p:cNvPr id="4855" name="Google Shape;4855;p3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$800</a:t>
            </a:r>
            <a:endParaRPr/>
          </a:p>
        </p:txBody>
      </p:sp>
      <p:sp>
        <p:nvSpPr>
          <p:cNvPr id="4856" name="Google Shape;4856;p3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7" name="Google Shape;4857;p3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8" name="Google Shape;4858;p3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4859" name="Google Shape;4859;p3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4860" name="Google Shape;4860;p3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$34K</a:t>
            </a:r>
            <a:endParaRPr/>
          </a:p>
        </p:txBody>
      </p:sp>
      <p:sp>
        <p:nvSpPr>
          <p:cNvPr id="4861" name="Google Shape;4861;p3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4862" name="Google Shape;4862;p3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4863" name="Google Shape;4863;p3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4864" name="Google Shape;4864;p3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$118K</a:t>
            </a:r>
            <a:endParaRPr/>
          </a:p>
        </p:txBody>
      </p:sp>
      <p:sp>
        <p:nvSpPr>
          <p:cNvPr id="4865" name="Google Shape;4865;p3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$79K</a:t>
            </a:r>
            <a:endParaRPr/>
          </a:p>
        </p:txBody>
      </p:sp>
      <p:sp>
        <p:nvSpPr>
          <p:cNvPr id="4866" name="Google Shape;4866;p3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7" name="Google Shape;4867;p3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868" name="Google Shape;4868;p3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69" name="Google Shape;4869;p3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$79,172 YTD gross written premium</a:t>
            </a:r>
            <a:endParaRPr/>
          </a:p>
        </p:txBody>
      </p:sp>
      <p:sp>
        <p:nvSpPr>
          <p:cNvPr id="4870" name="Google Shape;4870;p3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71" name="Google Shape;4871;p3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$58,824 in new business production</a:t>
            </a:r>
            <a:endParaRPr/>
          </a:p>
        </p:txBody>
      </p:sp>
      <p:sp>
        <p:nvSpPr>
          <p:cNvPr id="4872" name="Google Shape;4872;p3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3" name="Google Shape;4873;p3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874" name="Google Shape;4874;p3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75" name="Google Shape;4875;p3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164% of new business ($96,417)</a:t>
            </a:r>
            <a:endParaRPr/>
          </a:p>
        </p:txBody>
      </p:sp>
      <p:sp>
        <p:nvSpPr>
          <p:cNvPr id="4876" name="Google Shape;4876;p3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7" name="Google Shape;4877;p3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878" name="Google Shape;4878;p3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879" name="Google Shape;4879;p3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$58,824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880" name="Google Shape;4880;p3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881" name="Google Shape;4881;p3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$96,417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85" name="Shape 4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6" name="Google Shape;4886;p3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7" name="Google Shape;4887;p3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Florida Property And Casualty Insurance Services</a:t>
            </a:r>
            <a:endParaRPr/>
          </a:p>
        </p:txBody>
      </p:sp>
      <p:sp>
        <p:nvSpPr>
          <p:cNvPr id="4888" name="Google Shape;4888;p3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Hialeah</a:t>
            </a:r>
            <a:endParaRPr/>
          </a:p>
        </p:txBody>
      </p:sp>
      <p:sp>
        <p:nvSpPr>
          <p:cNvPr id="4889" name="Google Shape;4889;p3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$68,156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890" name="Google Shape;4890;p3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$48,805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91" name="Google Shape;4891;p3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$14,646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92" name="Google Shape;4892;p3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$4,705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93" name="Google Shape;4893;p3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$-25,531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94" name="Google Shape;4894;p3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$146,475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895" name="Google Shape;4895;p3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$199,911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896" name="Google Shape;4896;p3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897" name="Google Shape;4897;p3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98" name="Google Shape;4898;p3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899" name="Google Shape;4899;p3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900" name="Google Shape;4900;p3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901" name="Google Shape;4901;p3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$133,786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902" name="Google Shape;4902;p3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3" name="Google Shape;4903;p3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904" name="Google Shape;4904;p3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905" name="Google Shape;4905;p3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906" name="Google Shape;4906;p3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907" name="Google Shape;4907;p3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908" name="Google Shape;4908;p3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909" name="Google Shape;4909;p3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910" name="Google Shape;4910;p3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1" name="Google Shape;4911;p3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912" name="Google Shape;4912;p3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$2,808</a:t>
            </a:r>
            <a:endParaRPr/>
          </a:p>
        </p:txBody>
      </p:sp>
      <p:sp>
        <p:nvSpPr>
          <p:cNvPr id="4913" name="Google Shape;4913;p3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$2,544</a:t>
            </a:r>
            <a:endParaRPr/>
          </a:p>
        </p:txBody>
      </p:sp>
      <p:sp>
        <p:nvSpPr>
          <p:cNvPr id="4914" name="Google Shape;4914;p3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5" name="Google Shape;4915;p3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$264</a:t>
            </a:r>
            <a:endParaRPr/>
          </a:p>
        </p:txBody>
      </p:sp>
      <p:sp>
        <p:nvSpPr>
          <p:cNvPr id="4916" name="Google Shape;4916;p3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7" name="Google Shape;4917;p3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8" name="Google Shape;4918;p3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919" name="Google Shape;4919;p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0" name="Google Shape;4920;p3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1" name="Google Shape;4921;p3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2" name="Google Shape;4922;p3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3" name="Google Shape;4923;p3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4" name="Google Shape;4924;p3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5" name="Google Shape;4925;p3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926" name="Google Shape;4926;p3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$51,242</a:t>
            </a:r>
            <a:endParaRPr/>
          </a:p>
        </p:txBody>
      </p:sp>
      <p:sp>
        <p:nvSpPr>
          <p:cNvPr id="4927" name="Google Shape;4927;p3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$46,261</a:t>
            </a:r>
            <a:endParaRPr/>
          </a:p>
        </p:txBody>
      </p:sp>
      <p:sp>
        <p:nvSpPr>
          <p:cNvPr id="4928" name="Google Shape;4928;p3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9" name="Google Shape;4929;p3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$4,980</a:t>
            </a:r>
            <a:endParaRPr/>
          </a:p>
        </p:txBody>
      </p:sp>
      <p:sp>
        <p:nvSpPr>
          <p:cNvPr id="4930" name="Google Shape;4930;p3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1" name="Google Shape;4931;p3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2" name="Google Shape;4932;p3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933" name="Google Shape;4933;p3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$14,453</a:t>
            </a:r>
            <a:endParaRPr/>
          </a:p>
        </p:txBody>
      </p:sp>
      <p:sp>
        <p:nvSpPr>
          <p:cNvPr id="4934" name="Google Shape;4934;p3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5" name="Google Shape;4935;p3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$14,646</a:t>
            </a:r>
            <a:endParaRPr/>
          </a:p>
        </p:txBody>
      </p:sp>
      <p:sp>
        <p:nvSpPr>
          <p:cNvPr id="4936" name="Google Shape;4936;p3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$-193</a:t>
            </a:r>
            <a:endParaRPr/>
          </a:p>
        </p:txBody>
      </p:sp>
      <p:sp>
        <p:nvSpPr>
          <p:cNvPr id="4937" name="Google Shape;4937;p3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$-25,531</a:t>
            </a:r>
            <a:endParaRPr/>
          </a:p>
        </p:txBody>
      </p:sp>
      <p:sp>
        <p:nvSpPr>
          <p:cNvPr id="4938" name="Google Shape;4938;p3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9" name="Google Shape;4939;p3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40" name="Google Shape;4940;p3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$-348</a:t>
            </a:r>
            <a:endParaRPr/>
          </a:p>
        </p:txBody>
      </p:sp>
      <p:sp>
        <p:nvSpPr>
          <p:cNvPr id="4941" name="Google Shape;4941;p3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2" name="Google Shape;4942;p3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3" name="Google Shape;4943;p3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$-348</a:t>
            </a:r>
            <a:endParaRPr/>
          </a:p>
        </p:txBody>
      </p:sp>
      <p:sp>
        <p:nvSpPr>
          <p:cNvPr id="4944" name="Google Shape;4944;p3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5" name="Google Shape;4945;p3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6" name="Google Shape;4946;p3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47" name="Google Shape;4947;p3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$68,156</a:t>
            </a:r>
            <a:endParaRPr/>
          </a:p>
        </p:txBody>
      </p:sp>
      <p:sp>
        <p:nvSpPr>
          <p:cNvPr id="4948" name="Google Shape;4948;p3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$48,805</a:t>
            </a:r>
            <a:endParaRPr/>
          </a:p>
        </p:txBody>
      </p:sp>
      <p:sp>
        <p:nvSpPr>
          <p:cNvPr id="4949" name="Google Shape;4949;p3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$14,646</a:t>
            </a:r>
            <a:endParaRPr/>
          </a:p>
        </p:txBody>
      </p:sp>
      <p:sp>
        <p:nvSpPr>
          <p:cNvPr id="4950" name="Google Shape;4950;p3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$4,705</a:t>
            </a:r>
            <a:endParaRPr/>
          </a:p>
        </p:txBody>
      </p:sp>
      <p:sp>
        <p:nvSpPr>
          <p:cNvPr id="4951" name="Google Shape;4951;p3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$-25,531</a:t>
            </a:r>
            <a:endParaRPr/>
          </a:p>
        </p:txBody>
      </p:sp>
      <p:sp>
        <p:nvSpPr>
          <p:cNvPr id="4952" name="Google Shape;4952;p3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3" name="Google Shape;4953;p3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954" name="Google Shape;4954;p3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955" name="Google Shape;4955;p3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956" name="Google Shape;4956;p3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957" name="Google Shape;4957;p3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958" name="Google Shape;4958;p3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959" name="Google Shape;4959;p3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960" name="Google Shape;4960;p3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1" name="Google Shape;4961;p3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962" name="Google Shape;4962;p3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963" name="Google Shape;4963;p3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64" name="Google Shape;4964;p3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965" name="Google Shape;4965;p3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66" name="Google Shape;4966;p3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4967" name="Google Shape;4967;p3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8" name="Google Shape;4968;p3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969" name="Google Shape;4969;p3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70" name="Google Shape;4970;p3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71" name="Google Shape;4971;p3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72" name="Google Shape;4972;p3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73" name="Google Shape;4973;p3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74" name="Google Shape;4974;p3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5" name="Google Shape;4975;p3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976" name="Google Shape;4976;p3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977" name="Google Shape;4977;p3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78" name="Google Shape;4978;p3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979" name="Google Shape;4979;p3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80" name="Google Shape;4980;p3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4981" name="Google Shape;4981;p3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2" name="Google Shape;4982;p3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983" name="Google Shape;4983;p3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984" name="Google Shape;4984;p3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85" name="Google Shape;4985;p3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986" name="Google Shape;4986;p3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87" name="Google Shape;4987;p3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4988" name="Google Shape;4988;p3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9" name="Google Shape;4989;p3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90" name="Google Shape;4990;p3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991" name="Google Shape;4991;p3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92" name="Google Shape;4992;p3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993" name="Google Shape;4993;p3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94" name="Google Shape;4994;p3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4995" name="Google Shape;4995;p3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6" name="Google Shape;4996;p3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97" name="Google Shape;4997;p3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998" name="Google Shape;4998;p3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99" name="Google Shape;4999;p3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5000" name="Google Shape;5000;p3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001" name="Google Shape;5001;p3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19.4%</a:t>
            </a:r>
            <a:endParaRPr/>
          </a:p>
        </p:txBody>
      </p:sp>
      <p:sp>
        <p:nvSpPr>
          <p:cNvPr id="5002" name="Google Shape;5002;p3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3" name="Google Shape;5003;p3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004" name="Google Shape;5004;p3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005" name="Google Shape;5005;p3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006" name="Google Shape;5006;p3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007" name="Google Shape;5007;p3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008" name="Google Shape;5008;p3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009" name="Google Shape;5009;p3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010" name="Google Shape;5010;p3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011" name="Google Shape;5011;p3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012" name="Google Shape;5012;p3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013" name="Google Shape;5013;p3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014" name="Google Shape;5014;p3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015" name="Google Shape;5015;p3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016" name="Google Shape;5016;p3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017" name="Google Shape;5017;p3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018" name="Google Shape;5018;p3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019" name="Google Shape;5019;p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020" name="Google Shape;5020;p3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021" name="Google Shape;5021;p3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22" name="Google Shape;5022;p3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023" name="Google Shape;5023;p3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024" name="Google Shape;5024;p3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025" name="Google Shape;5025;p3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026" name="Google Shape;5026;p3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027" name="Google Shape;5027;p3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028" name="Google Shape;5028;p3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5029" name="Google Shape;5029;p3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5030" name="Google Shape;5030;p3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031" name="Google Shape;5031;p3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2" name="Google Shape;5032;p3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5033" name="Google Shape;5033;p3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4" name="Google Shape;5034;p3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5" name="Google Shape;5035;p3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6" name="Google Shape;5036;p3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$51K</a:t>
            </a:r>
            <a:endParaRPr/>
          </a:p>
        </p:txBody>
      </p:sp>
      <p:sp>
        <p:nvSpPr>
          <p:cNvPr id="5037" name="Google Shape;5037;p3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5038" name="Google Shape;5038;p3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5039" name="Google Shape;5039;p3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0" name="Google Shape;5040;p3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$-348</a:t>
            </a:r>
            <a:endParaRPr/>
          </a:p>
        </p:txBody>
      </p:sp>
      <p:sp>
        <p:nvSpPr>
          <p:cNvPr id="5041" name="Google Shape;5041;p3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5042" name="Google Shape;5042;p3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$68K</a:t>
            </a:r>
            <a:endParaRPr/>
          </a:p>
        </p:txBody>
      </p:sp>
      <p:sp>
        <p:nvSpPr>
          <p:cNvPr id="5043" name="Google Shape;5043;p3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4" name="Google Shape;5044;p3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045" name="Google Shape;5045;p3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46" name="Google Shape;5046;p3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$68,156 YTD gross written premium</a:t>
            </a:r>
            <a:endParaRPr/>
          </a:p>
        </p:txBody>
      </p:sp>
      <p:sp>
        <p:nvSpPr>
          <p:cNvPr id="5047" name="Google Shape;5047;p3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48" name="Google Shape;5048;p3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$48,805 in new business production</a:t>
            </a:r>
            <a:endParaRPr/>
          </a:p>
        </p:txBody>
      </p:sp>
      <p:sp>
        <p:nvSpPr>
          <p:cNvPr id="5049" name="Google Shape;5049;p3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0" name="Google Shape;5050;p3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051" name="Google Shape;5051;p3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052" name="Google Shape;5052;p3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52% of new business ($25,531)</a:t>
            </a:r>
            <a:endParaRPr/>
          </a:p>
        </p:txBody>
      </p:sp>
      <p:sp>
        <p:nvSpPr>
          <p:cNvPr id="5053" name="Google Shape;5053;p3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054" name="Google Shape;5054;p3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102% month-over-month</a:t>
            </a:r>
            <a:endParaRPr/>
          </a:p>
        </p:txBody>
      </p:sp>
      <p:sp>
        <p:nvSpPr>
          <p:cNvPr id="5055" name="Google Shape;5055;p3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6" name="Google Shape;5056;p3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057" name="Google Shape;5057;p3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058" name="Google Shape;5058;p3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$48,805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5059" name="Google Shape;5059;p3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060" name="Google Shape;5060;p3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$25,531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64" name="Shape 50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5" name="Google Shape;5065;p3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6" name="Google Shape;5066;p3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Lynne Ernest Insurance Llc</a:t>
            </a:r>
            <a:endParaRPr/>
          </a:p>
        </p:txBody>
      </p:sp>
      <p:sp>
        <p:nvSpPr>
          <p:cNvPr id="5067" name="Google Shape;5067;p3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AL  |  City: Hoover</a:t>
            </a:r>
            <a:endParaRPr/>
          </a:p>
        </p:txBody>
      </p:sp>
      <p:sp>
        <p:nvSpPr>
          <p:cNvPr id="5068" name="Google Shape;5068;p3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$58,577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069" name="Google Shape;5069;p3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$34,869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70" name="Google Shape;5070;p3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$19,127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71" name="Google Shape;5071;p3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72" name="Google Shape;5072;p3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$-23,057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73" name="Google Shape;5073;p3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$225,263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074" name="Google Shape;5074;p3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$214,160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075" name="Google Shape;5075;p3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076" name="Google Shape;5076;p3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077" name="Google Shape;5077;p3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078" name="Google Shape;5078;p3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79" name="Google Shape;5079;p3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080" name="Google Shape;5080;p3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$137,951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081" name="Google Shape;5081;p3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2" name="Google Shape;5082;p3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083" name="Google Shape;5083;p3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084" name="Google Shape;5084;p3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085" name="Google Shape;5085;p3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86" name="Google Shape;5086;p3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87" name="Google Shape;5087;p3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88" name="Google Shape;5088;p3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89" name="Google Shape;5089;p3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0" name="Google Shape;5090;p3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091" name="Google Shape;5091;p3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$4,331</a:t>
            </a:r>
            <a:endParaRPr/>
          </a:p>
        </p:txBody>
      </p:sp>
      <p:sp>
        <p:nvSpPr>
          <p:cNvPr id="5092" name="Google Shape;5092;p3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3" name="Google Shape;5093;p3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4" name="Google Shape;5094;p3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$4,331</a:t>
            </a:r>
            <a:endParaRPr/>
          </a:p>
        </p:txBody>
      </p:sp>
      <p:sp>
        <p:nvSpPr>
          <p:cNvPr id="5095" name="Google Shape;5095;p3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$-4,331</a:t>
            </a:r>
            <a:endParaRPr/>
          </a:p>
        </p:txBody>
      </p:sp>
      <p:sp>
        <p:nvSpPr>
          <p:cNvPr id="5096" name="Google Shape;5096;p3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7" name="Google Shape;5097;p3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098" name="Google Shape;5098;p3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9" name="Google Shape;5099;p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00" name="Google Shape;5100;p3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01" name="Google Shape;5101;p3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02" name="Google Shape;5102;p3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03" name="Google Shape;5103;p3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4" name="Google Shape;5104;p3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105" name="Google Shape;5105;p3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$15,650</a:t>
            </a:r>
            <a:endParaRPr/>
          </a:p>
        </p:txBody>
      </p:sp>
      <p:sp>
        <p:nvSpPr>
          <p:cNvPr id="5106" name="Google Shape;5106;p3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$16,143</a:t>
            </a:r>
            <a:endParaRPr/>
          </a:p>
        </p:txBody>
      </p:sp>
      <p:sp>
        <p:nvSpPr>
          <p:cNvPr id="5107" name="Google Shape;5107;p3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08" name="Google Shape;5108;p3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$-494</a:t>
            </a:r>
            <a:endParaRPr/>
          </a:p>
        </p:txBody>
      </p:sp>
      <p:sp>
        <p:nvSpPr>
          <p:cNvPr id="5109" name="Google Shape;5109;p3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10" name="Google Shape;5110;p3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1" name="Google Shape;5111;p3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112" name="Google Shape;5112;p3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$38,596</a:t>
            </a:r>
            <a:endParaRPr/>
          </a:p>
        </p:txBody>
      </p:sp>
      <p:sp>
        <p:nvSpPr>
          <p:cNvPr id="5113" name="Google Shape;5113;p3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$18,726</a:t>
            </a:r>
            <a:endParaRPr/>
          </a:p>
        </p:txBody>
      </p:sp>
      <p:sp>
        <p:nvSpPr>
          <p:cNvPr id="5114" name="Google Shape;5114;p3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$19,127</a:t>
            </a:r>
            <a:endParaRPr/>
          </a:p>
        </p:txBody>
      </p:sp>
      <p:sp>
        <p:nvSpPr>
          <p:cNvPr id="5115" name="Google Shape;5115;p3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$743</a:t>
            </a:r>
            <a:endParaRPr/>
          </a:p>
        </p:txBody>
      </p:sp>
      <p:sp>
        <p:nvSpPr>
          <p:cNvPr id="5116" name="Google Shape;5116;p3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$-18,726</a:t>
            </a:r>
            <a:endParaRPr/>
          </a:p>
        </p:txBody>
      </p:sp>
      <p:sp>
        <p:nvSpPr>
          <p:cNvPr id="5117" name="Google Shape;5117;p3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8" name="Google Shape;5118;p3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119" name="Google Shape;5119;p3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20" name="Google Shape;5120;p3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21" name="Google Shape;5121;p3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22" name="Google Shape;5122;p3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23" name="Google Shape;5123;p3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24" name="Google Shape;5124;p3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5" name="Google Shape;5125;p3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126" name="Google Shape;5126;p3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$58,577</a:t>
            </a:r>
            <a:endParaRPr/>
          </a:p>
        </p:txBody>
      </p:sp>
      <p:sp>
        <p:nvSpPr>
          <p:cNvPr id="5127" name="Google Shape;5127;p3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$34,869</a:t>
            </a:r>
            <a:endParaRPr/>
          </a:p>
        </p:txBody>
      </p:sp>
      <p:sp>
        <p:nvSpPr>
          <p:cNvPr id="5128" name="Google Shape;5128;p3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$19,127</a:t>
            </a:r>
            <a:endParaRPr/>
          </a:p>
        </p:txBody>
      </p:sp>
      <p:sp>
        <p:nvSpPr>
          <p:cNvPr id="5129" name="Google Shape;5129;p3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$4,581</a:t>
            </a:r>
            <a:endParaRPr/>
          </a:p>
        </p:txBody>
      </p:sp>
      <p:sp>
        <p:nvSpPr>
          <p:cNvPr id="5130" name="Google Shape;5130;p3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$-23,057</a:t>
            </a:r>
            <a:endParaRPr/>
          </a:p>
        </p:txBody>
      </p:sp>
      <p:sp>
        <p:nvSpPr>
          <p:cNvPr id="5131" name="Google Shape;5131;p3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2" name="Google Shape;5132;p3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133" name="Google Shape;5133;p3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34" name="Google Shape;5134;p3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135" name="Google Shape;5135;p3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136" name="Google Shape;5136;p3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137" name="Google Shape;5137;p3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138" name="Google Shape;5138;p3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39" name="Google Shape;5139;p3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0" name="Google Shape;5140;p3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141" name="Google Shape;5141;p3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142" name="Google Shape;5142;p3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43" name="Google Shape;5143;p3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144" name="Google Shape;5144;p3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45" name="Google Shape;5145;p3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5146" name="Google Shape;5146;p3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7" name="Google Shape;5147;p3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148" name="Google Shape;5148;p3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49" name="Google Shape;5149;p3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50" name="Google Shape;5150;p3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51" name="Google Shape;5151;p3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52" name="Google Shape;5152;p3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5153" name="Google Shape;5153;p3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4" name="Google Shape;5154;p3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155" name="Google Shape;5155;p3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156" name="Google Shape;5156;p3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57" name="Google Shape;5157;p3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158" name="Google Shape;5158;p3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59" name="Google Shape;5159;p3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5160" name="Google Shape;5160;p3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1" name="Google Shape;5161;p3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162" name="Google Shape;5162;p3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163" name="Google Shape;5163;p3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64" name="Google Shape;5164;p3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165" name="Google Shape;5165;p3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66" name="Google Shape;5166;p3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5167" name="Google Shape;5167;p3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8" name="Google Shape;5168;p3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169" name="Google Shape;5169;p3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70" name="Google Shape;5170;p3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71" name="Google Shape;5171;p3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72" name="Google Shape;5172;p3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73" name="Google Shape;5173;p3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74" name="Google Shape;5174;p3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5" name="Google Shape;5175;p3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176" name="Google Shape;5176;p3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177" name="Google Shape;5177;p3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78" name="Google Shape;5178;p3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179" name="Google Shape;5179;p3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180" name="Google Shape;5180;p3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22.7%</a:t>
            </a:r>
            <a:endParaRPr/>
          </a:p>
        </p:txBody>
      </p:sp>
      <p:sp>
        <p:nvSpPr>
          <p:cNvPr id="5181" name="Google Shape;5181;p3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2" name="Google Shape;5182;p3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183" name="Google Shape;5183;p3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184" name="Google Shape;5184;p3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185" name="Google Shape;5185;p3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186" name="Google Shape;5186;p3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187" name="Google Shape;5187;p3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188" name="Google Shape;5188;p3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189" name="Google Shape;5189;p3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190" name="Google Shape;5190;p3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191" name="Google Shape;5191;p3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192" name="Google Shape;5192;p3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193" name="Google Shape;5193;p3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194" name="Google Shape;5194;p3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195" name="Google Shape;5195;p3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196" name="Google Shape;5196;p3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197" name="Google Shape;5197;p3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198" name="Google Shape;5198;p3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199" name="Google Shape;5199;p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200" name="Google Shape;5200;p3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201" name="Google Shape;5201;p3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202" name="Google Shape;5202;p3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203" name="Google Shape;5203;p3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204" name="Google Shape;5204;p3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205" name="Google Shape;5205;p3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206" name="Google Shape;5206;p3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207" name="Google Shape;5207;p3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5208" name="Google Shape;5208;p3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5209" name="Google Shape;5209;p3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210" name="Google Shape;5210;p3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1" name="Google Shape;5211;p3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5212" name="Google Shape;5212;p3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3" name="Google Shape;5213;p3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4" name="Google Shape;5214;p3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5215" name="Google Shape;5215;p3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5216" name="Google Shape;5216;p3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$42K</a:t>
            </a:r>
            <a:endParaRPr/>
          </a:p>
        </p:txBody>
      </p:sp>
      <p:sp>
        <p:nvSpPr>
          <p:cNvPr id="5217" name="Google Shape;5217;p3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$39K</a:t>
            </a:r>
            <a:endParaRPr/>
          </a:p>
        </p:txBody>
      </p:sp>
      <p:sp>
        <p:nvSpPr>
          <p:cNvPr id="5218" name="Google Shape;5218;p3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5219" name="Google Shape;5219;p3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0" name="Google Shape;5220;p3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$70K</a:t>
            </a:r>
            <a:endParaRPr/>
          </a:p>
        </p:txBody>
      </p:sp>
      <p:sp>
        <p:nvSpPr>
          <p:cNvPr id="5221" name="Google Shape;5221;p3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$59K</a:t>
            </a:r>
            <a:endParaRPr/>
          </a:p>
        </p:txBody>
      </p:sp>
      <p:sp>
        <p:nvSpPr>
          <p:cNvPr id="5222" name="Google Shape;5222;p3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3" name="Google Shape;5223;p3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224" name="Google Shape;5224;p3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225" name="Google Shape;5225;p3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$58,577 YTD gross written premium</a:t>
            </a:r>
            <a:endParaRPr/>
          </a:p>
        </p:txBody>
      </p:sp>
      <p:sp>
        <p:nvSpPr>
          <p:cNvPr id="5226" name="Google Shape;5226;p3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227" name="Google Shape;5227;p3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$34,869 in new business production</a:t>
            </a:r>
            <a:endParaRPr/>
          </a:p>
        </p:txBody>
      </p:sp>
      <p:sp>
        <p:nvSpPr>
          <p:cNvPr id="5228" name="Google Shape;5228;p3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9" name="Google Shape;5229;p3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230" name="Google Shape;5230;p3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231" name="Google Shape;5231;p3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66% of new business ($23,057)</a:t>
            </a:r>
            <a:endParaRPr/>
          </a:p>
        </p:txBody>
      </p:sp>
      <p:sp>
        <p:nvSpPr>
          <p:cNvPr id="5232" name="Google Shape;5232;p3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233" name="Google Shape;5233;p3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8 to 3 MoM</a:t>
            </a:r>
            <a:endParaRPr/>
          </a:p>
        </p:txBody>
      </p:sp>
      <p:sp>
        <p:nvSpPr>
          <p:cNvPr id="5234" name="Google Shape;5234;p3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5" name="Google Shape;5235;p3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236" name="Google Shape;5236;p3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237" name="Google Shape;5237;p3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$34,869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5238" name="Google Shape;5238;p3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239" name="Google Shape;5239;p3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$23,057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43" name="Shape 5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4" name="Google Shape;5244;p3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5" name="Google Shape;5245;p3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Five Star Insurance Services Inc</a:t>
            </a:r>
            <a:endParaRPr/>
          </a:p>
        </p:txBody>
      </p:sp>
      <p:sp>
        <p:nvSpPr>
          <p:cNvPr id="5246" name="Google Shape;5246;p3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Palm Coast</a:t>
            </a:r>
            <a:endParaRPr/>
          </a:p>
        </p:txBody>
      </p:sp>
      <p:sp>
        <p:nvSpPr>
          <p:cNvPr id="5247" name="Google Shape;5247;p3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$48,589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248" name="Google Shape;5248;p3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49" name="Google Shape;5249;p3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$57,459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50" name="Google Shape;5250;p3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$-8,870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51" name="Google Shape;5251;p3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$-16,206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52" name="Google Shape;5252;p3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$535,744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253" name="Google Shape;5253;p3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$303,918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254" name="Google Shape;5254;p3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255" name="Google Shape;5255;p3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256" name="Google Shape;5256;p3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257" name="Google Shape;5257;p3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58" name="Google Shape;5258;p3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259" name="Google Shape;5259;p3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$181,028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260" name="Google Shape;5260;p3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1" name="Google Shape;5261;p3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262" name="Google Shape;5262;p3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63" name="Google Shape;5263;p3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264" name="Google Shape;5264;p3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65" name="Google Shape;5265;p3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66" name="Google Shape;5266;p3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67" name="Google Shape;5267;p3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68" name="Google Shape;5268;p3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9" name="Google Shape;5269;p3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270" name="Google Shape;5270;p3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$49,402</a:t>
            </a:r>
            <a:endParaRPr/>
          </a:p>
        </p:txBody>
      </p:sp>
      <p:sp>
        <p:nvSpPr>
          <p:cNvPr id="5271" name="Google Shape;5271;p3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2" name="Google Shape;5272;p3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$57,459</a:t>
            </a:r>
            <a:endParaRPr/>
          </a:p>
        </p:txBody>
      </p:sp>
      <p:sp>
        <p:nvSpPr>
          <p:cNvPr id="5273" name="Google Shape;5273;p3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$-8,057</a:t>
            </a:r>
            <a:endParaRPr/>
          </a:p>
        </p:txBody>
      </p:sp>
      <p:sp>
        <p:nvSpPr>
          <p:cNvPr id="5274" name="Google Shape;5274;p3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5" name="Google Shape;5275;p3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6" name="Google Shape;5276;p3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277" name="Google Shape;5277;p3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$10,304</a:t>
            </a:r>
            <a:endParaRPr/>
          </a:p>
        </p:txBody>
      </p:sp>
      <p:sp>
        <p:nvSpPr>
          <p:cNvPr id="5278" name="Google Shape;5278;p3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9" name="Google Shape;5279;p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0" name="Google Shape;5280;p3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$10,304</a:t>
            </a:r>
            <a:endParaRPr/>
          </a:p>
        </p:txBody>
      </p:sp>
      <p:sp>
        <p:nvSpPr>
          <p:cNvPr id="5281" name="Google Shape;5281;p3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$-16,206</a:t>
            </a:r>
            <a:endParaRPr/>
          </a:p>
        </p:txBody>
      </p:sp>
      <p:sp>
        <p:nvSpPr>
          <p:cNvPr id="5282" name="Google Shape;5282;p3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3" name="Google Shape;5283;p3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284" name="Google Shape;5284;p3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$-428</a:t>
            </a:r>
            <a:endParaRPr/>
          </a:p>
        </p:txBody>
      </p:sp>
      <p:sp>
        <p:nvSpPr>
          <p:cNvPr id="5285" name="Google Shape;5285;p3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6" name="Google Shape;5286;p3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7" name="Google Shape;5287;p3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$-428</a:t>
            </a:r>
            <a:endParaRPr/>
          </a:p>
        </p:txBody>
      </p:sp>
      <p:sp>
        <p:nvSpPr>
          <p:cNvPr id="5288" name="Google Shape;5288;p3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9" name="Google Shape;5289;p3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0" name="Google Shape;5290;p3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291" name="Google Shape;5291;p3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</a:t>
            </a:r>
            <a:endParaRPr/>
          </a:p>
        </p:txBody>
      </p:sp>
      <p:sp>
        <p:nvSpPr>
          <p:cNvPr id="5292" name="Google Shape;5292;p3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93" name="Google Shape;5293;p3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94" name="Google Shape;5294;p3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</a:t>
            </a:r>
            <a:endParaRPr/>
          </a:p>
        </p:txBody>
      </p:sp>
      <p:sp>
        <p:nvSpPr>
          <p:cNvPr id="5295" name="Google Shape;5295;p3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96" name="Google Shape;5296;p3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7" name="Google Shape;5297;p3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298" name="Google Shape;5298;p3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$-10,801</a:t>
            </a:r>
            <a:endParaRPr/>
          </a:p>
        </p:txBody>
      </p:sp>
      <p:sp>
        <p:nvSpPr>
          <p:cNvPr id="5299" name="Google Shape;5299;p3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00" name="Google Shape;5300;p3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01" name="Google Shape;5301;p3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$-10,801</a:t>
            </a:r>
            <a:endParaRPr/>
          </a:p>
        </p:txBody>
      </p:sp>
      <p:sp>
        <p:nvSpPr>
          <p:cNvPr id="5302" name="Google Shape;5302;p3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03" name="Google Shape;5303;p3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4" name="Google Shape;5304;p3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305" name="Google Shape;5305;p3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$48,589</a:t>
            </a:r>
            <a:endParaRPr/>
          </a:p>
        </p:txBody>
      </p:sp>
      <p:sp>
        <p:nvSpPr>
          <p:cNvPr id="5306" name="Google Shape;5306;p3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07" name="Google Shape;5307;p3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$57,459</a:t>
            </a:r>
            <a:endParaRPr/>
          </a:p>
        </p:txBody>
      </p:sp>
      <p:sp>
        <p:nvSpPr>
          <p:cNvPr id="5308" name="Google Shape;5308;p3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$-8,870</a:t>
            </a:r>
            <a:endParaRPr/>
          </a:p>
        </p:txBody>
      </p:sp>
      <p:sp>
        <p:nvSpPr>
          <p:cNvPr id="5309" name="Google Shape;5309;p3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$-16,206</a:t>
            </a:r>
            <a:endParaRPr/>
          </a:p>
        </p:txBody>
      </p:sp>
      <p:sp>
        <p:nvSpPr>
          <p:cNvPr id="5310" name="Google Shape;5310;p3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1" name="Google Shape;5311;p3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312" name="Google Shape;5312;p3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313" name="Google Shape;5313;p3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314" name="Google Shape;5314;p3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315" name="Google Shape;5315;p3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316" name="Google Shape;5316;p3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317" name="Google Shape;5317;p3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318" name="Google Shape;5318;p3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9" name="Google Shape;5319;p3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320" name="Google Shape;5320;p3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5321" name="Google Shape;5321;p3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322" name="Google Shape;5322;p3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5323" name="Google Shape;5323;p3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324" name="Google Shape;5324;p3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18.8%</a:t>
            </a:r>
            <a:endParaRPr/>
          </a:p>
        </p:txBody>
      </p:sp>
      <p:sp>
        <p:nvSpPr>
          <p:cNvPr id="5325" name="Google Shape;5325;p3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6" name="Google Shape;5326;p3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327" name="Google Shape;5327;p3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328" name="Google Shape;5328;p3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29" name="Google Shape;5329;p3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330" name="Google Shape;5330;p3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31" name="Google Shape;5331;p3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5332" name="Google Shape;5332;p3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3" name="Google Shape;5333;p3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334" name="Google Shape;5334;p3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335" name="Google Shape;5335;p3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36" name="Google Shape;5336;p3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337" name="Google Shape;5337;p3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338" name="Google Shape;5338;p3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17.6%</a:t>
            </a:r>
            <a:endParaRPr/>
          </a:p>
        </p:txBody>
      </p:sp>
      <p:sp>
        <p:nvSpPr>
          <p:cNvPr id="5339" name="Google Shape;5339;p3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0" name="Google Shape;5340;p3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341" name="Google Shape;5341;p3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342" name="Google Shape;5342;p3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43" name="Google Shape;5343;p3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344" name="Google Shape;5344;p3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45" name="Google Shape;5345;p3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5346" name="Google Shape;5346;p3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7" name="Google Shape;5347;p3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348" name="Google Shape;5348;p3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349" name="Google Shape;5349;p3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50" name="Google Shape;5350;p3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351" name="Google Shape;5351;p3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52" name="Google Shape;5352;p3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5353" name="Google Shape;5353;p3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4" name="Google Shape;5354;p3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355" name="Google Shape;5355;p3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</a:t>
            </a:r>
            <a:endParaRPr/>
          </a:p>
        </p:txBody>
      </p:sp>
      <p:sp>
        <p:nvSpPr>
          <p:cNvPr id="5356" name="Google Shape;5356;p3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357" name="Google Shape;5357;p3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5358" name="Google Shape;5358;p3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359" name="Google Shape;5359;p3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5360" name="Google Shape;5360;p3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1" name="Google Shape;5361;p3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362" name="Google Shape;5362;p3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363" name="Google Shape;5363;p3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364" name="Google Shape;5364;p3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365" name="Google Shape;5365;p3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366" name="Google Shape;5366;p3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367" name="Google Shape;5367;p3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368" name="Google Shape;5368;p3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369" name="Google Shape;5369;p3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370" name="Google Shape;5370;p3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371" name="Google Shape;5371;p3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372" name="Google Shape;5372;p3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373" name="Google Shape;5373;p3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374" name="Google Shape;5374;p3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375" name="Google Shape;5375;p3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376" name="Google Shape;5376;p3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377" name="Google Shape;5377;p3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5378" name="Google Shape;5378;p3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379" name="Google Shape;5379;p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380" name="Google Shape;5380;p3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381" name="Google Shape;5381;p3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382" name="Google Shape;5382;p3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383" name="Google Shape;5383;p3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384" name="Google Shape;5384;p3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385" name="Google Shape;5385;p3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386" name="Google Shape;5386;p3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5387" name="Google Shape;5387;p3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</a:t>
            </a:r>
            <a:endParaRPr/>
          </a:p>
        </p:txBody>
      </p:sp>
      <p:sp>
        <p:nvSpPr>
          <p:cNvPr id="5388" name="Google Shape;5388;p3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389" name="Google Shape;5389;p3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$73K</a:t>
            </a:r>
            <a:endParaRPr/>
          </a:p>
        </p:txBody>
      </p:sp>
      <p:sp>
        <p:nvSpPr>
          <p:cNvPr id="5390" name="Google Shape;5390;p3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$49K</a:t>
            </a:r>
            <a:endParaRPr/>
          </a:p>
        </p:txBody>
      </p:sp>
      <p:sp>
        <p:nvSpPr>
          <p:cNvPr id="5391" name="Google Shape;5391;p3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$49K</a:t>
            </a:r>
            <a:endParaRPr/>
          </a:p>
        </p:txBody>
      </p:sp>
      <p:sp>
        <p:nvSpPr>
          <p:cNvPr id="5392" name="Google Shape;5392;p3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5393" name="Google Shape;5393;p3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5394" name="Google Shape;5394;p3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$-428</a:t>
            </a:r>
            <a:endParaRPr/>
          </a:p>
        </p:txBody>
      </p:sp>
      <p:sp>
        <p:nvSpPr>
          <p:cNvPr id="5395" name="Google Shape;5395;p3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$63K</a:t>
            </a:r>
            <a:endParaRPr/>
          </a:p>
        </p:txBody>
      </p:sp>
      <p:sp>
        <p:nvSpPr>
          <p:cNvPr id="5396" name="Google Shape;5396;p3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</a:t>
            </a:r>
            <a:endParaRPr/>
          </a:p>
        </p:txBody>
      </p:sp>
      <p:sp>
        <p:nvSpPr>
          <p:cNvPr id="5397" name="Google Shape;5397;p3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$91K</a:t>
            </a:r>
            <a:endParaRPr/>
          </a:p>
        </p:txBody>
      </p:sp>
      <p:sp>
        <p:nvSpPr>
          <p:cNvPr id="5398" name="Google Shape;5398;p3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$-10,801</a:t>
            </a:r>
            <a:endParaRPr/>
          </a:p>
        </p:txBody>
      </p:sp>
      <p:sp>
        <p:nvSpPr>
          <p:cNvPr id="5399" name="Google Shape;5399;p3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$280K</a:t>
            </a:r>
            <a:endParaRPr/>
          </a:p>
        </p:txBody>
      </p:sp>
      <p:sp>
        <p:nvSpPr>
          <p:cNvPr id="5400" name="Google Shape;5400;p3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$49K</a:t>
            </a:r>
            <a:endParaRPr/>
          </a:p>
        </p:txBody>
      </p:sp>
      <p:sp>
        <p:nvSpPr>
          <p:cNvPr id="5401" name="Google Shape;5401;p3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2" name="Google Shape;5402;p3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403" name="Google Shape;5403;p3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404" name="Google Shape;5404;p3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$48,589 YTD gross written premium</a:t>
            </a:r>
            <a:endParaRPr/>
          </a:p>
        </p:txBody>
      </p:sp>
      <p:sp>
        <p:nvSpPr>
          <p:cNvPr id="5405" name="Google Shape;5405;p3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406" name="Google Shape;5406;p3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$57,459 in renewals - strong retention</a:t>
            </a:r>
            <a:endParaRPr/>
          </a:p>
        </p:txBody>
      </p:sp>
      <p:sp>
        <p:nvSpPr>
          <p:cNvPr id="5407" name="Google Shape;5407;p3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8" name="Google Shape;5408;p3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409" name="Google Shape;5409;p3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410" name="Google Shape;5410;p3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9832% month-over-month</a:t>
            </a:r>
            <a:endParaRPr/>
          </a:p>
        </p:txBody>
      </p:sp>
      <p:sp>
        <p:nvSpPr>
          <p:cNvPr id="5411" name="Google Shape;5411;p3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412" name="Google Shape;5412;p3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5413" name="Google Shape;5413;p3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4" name="Google Shape;5414;p3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415" name="Google Shape;5415;p3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416" name="Google Shape;5416;p3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Their $57,459 in renewals shows they trust our product. Ask: "What's holding back new submissions?" They may need updated appetite info or a refresher on our quoting process.</a:t>
            </a:r>
            <a:endParaRPr/>
          </a:p>
        </p:txBody>
      </p:sp>
      <p:sp>
        <p:nvSpPr>
          <p:cNvPr id="5417" name="Google Shape;5417;p3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418" name="Google Shape;5418;p3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22" name="Shape 5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3" name="Google Shape;5423;p3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4" name="Google Shape;5424;p3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COASTAL TRUCKING INSURANCE LLC</a:t>
            </a:r>
            <a:endParaRPr/>
          </a:p>
        </p:txBody>
      </p:sp>
      <p:sp>
        <p:nvSpPr>
          <p:cNvPr id="5425" name="Google Shape;5425;p3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Delray Beach</a:t>
            </a:r>
            <a:endParaRPr/>
          </a:p>
        </p:txBody>
      </p:sp>
      <p:sp>
        <p:nvSpPr>
          <p:cNvPr id="5426" name="Google Shape;5426;p3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$43,119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427" name="Google Shape;5427;p3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428" name="Google Shape;5428;p3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429" name="Google Shape;5429;p3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430" name="Google Shape;5430;p3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$-43,323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431" name="Google Shape;5431;p3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$341,555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432" name="Google Shape;5432;p3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$229,094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433" name="Google Shape;5433;p3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434" name="Google Shape;5434;p3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435" name="Google Shape;5435;p3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36" name="Google Shape;5436;p3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437" name="Google Shape;5437;p3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438" name="Google Shape;5438;p3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439" name="Google Shape;5439;p3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0" name="Google Shape;5440;p3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441" name="Google Shape;5441;p3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42" name="Google Shape;5442;p3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443" name="Google Shape;5443;p3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444" name="Google Shape;5444;p3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445" name="Google Shape;5445;p3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446" name="Google Shape;5446;p3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447" name="Google Shape;5447;p3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8" name="Google Shape;5448;p3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449" name="Google Shape;5449;p3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0" name="Google Shape;5450;p3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1" name="Google Shape;5451;p3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2" name="Google Shape;5452;p3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3" name="Google Shape;5453;p3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4" name="Google Shape;5454;p3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5" name="Google Shape;5455;p3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456" name="Google Shape;5456;p3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$280</a:t>
            </a:r>
            <a:endParaRPr/>
          </a:p>
        </p:txBody>
      </p:sp>
      <p:sp>
        <p:nvSpPr>
          <p:cNvPr id="5457" name="Google Shape;5457;p3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8" name="Google Shape;5458;p3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9" name="Google Shape;5459;p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$280</a:t>
            </a:r>
            <a:endParaRPr/>
          </a:p>
        </p:txBody>
      </p:sp>
      <p:sp>
        <p:nvSpPr>
          <p:cNvPr id="5460" name="Google Shape;5460;p3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$-14,485</a:t>
            </a:r>
            <a:endParaRPr/>
          </a:p>
        </p:txBody>
      </p:sp>
      <p:sp>
        <p:nvSpPr>
          <p:cNvPr id="5461" name="Google Shape;5461;p3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2" name="Google Shape;5462;p3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463" name="Google Shape;5463;p3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$-115</a:t>
            </a:r>
            <a:endParaRPr/>
          </a:p>
        </p:txBody>
      </p:sp>
      <p:sp>
        <p:nvSpPr>
          <p:cNvPr id="5464" name="Google Shape;5464;p3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5" name="Google Shape;5465;p3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6" name="Google Shape;5466;p3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$-115</a:t>
            </a:r>
            <a:endParaRPr/>
          </a:p>
        </p:txBody>
      </p:sp>
      <p:sp>
        <p:nvSpPr>
          <p:cNvPr id="5467" name="Google Shape;5467;p3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8" name="Google Shape;5468;p3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9" name="Google Shape;5469;p3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470" name="Google Shape;5470;p3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$42,953</a:t>
            </a:r>
            <a:endParaRPr/>
          </a:p>
        </p:txBody>
      </p:sp>
      <p:sp>
        <p:nvSpPr>
          <p:cNvPr id="5471" name="Google Shape;5471;p3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$27,571</a:t>
            </a:r>
            <a:endParaRPr/>
          </a:p>
        </p:txBody>
      </p:sp>
      <p:sp>
        <p:nvSpPr>
          <p:cNvPr id="5472" name="Google Shape;5472;p3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$15,462</a:t>
            </a:r>
            <a:endParaRPr/>
          </a:p>
        </p:txBody>
      </p:sp>
      <p:sp>
        <p:nvSpPr>
          <p:cNvPr id="5473" name="Google Shape;5473;p3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$-80</a:t>
            </a:r>
            <a:endParaRPr/>
          </a:p>
        </p:txBody>
      </p:sp>
      <p:sp>
        <p:nvSpPr>
          <p:cNvPr id="5474" name="Google Shape;5474;p3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$-28,839</a:t>
            </a:r>
            <a:endParaRPr/>
          </a:p>
        </p:txBody>
      </p:sp>
      <p:sp>
        <p:nvSpPr>
          <p:cNvPr id="5475" name="Google Shape;5475;p3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6" name="Google Shape;5476;p3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77" name="Google Shape;5477;p3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8" name="Google Shape;5478;p3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9" name="Google Shape;5479;p3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0" name="Google Shape;5480;p3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1" name="Google Shape;5481;p3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2" name="Google Shape;5482;p3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3" name="Google Shape;5483;p3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484" name="Google Shape;5484;p3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$43,119</a:t>
            </a:r>
            <a:endParaRPr/>
          </a:p>
        </p:txBody>
      </p:sp>
      <p:sp>
        <p:nvSpPr>
          <p:cNvPr id="5485" name="Google Shape;5485;p3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$27,571</a:t>
            </a:r>
            <a:endParaRPr/>
          </a:p>
        </p:txBody>
      </p:sp>
      <p:sp>
        <p:nvSpPr>
          <p:cNvPr id="5486" name="Google Shape;5486;p3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$15,462</a:t>
            </a:r>
            <a:endParaRPr/>
          </a:p>
        </p:txBody>
      </p:sp>
      <p:sp>
        <p:nvSpPr>
          <p:cNvPr id="5487" name="Google Shape;5487;p3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</a:t>
            </a:r>
            <a:endParaRPr/>
          </a:p>
        </p:txBody>
      </p:sp>
      <p:sp>
        <p:nvSpPr>
          <p:cNvPr id="5488" name="Google Shape;5488;p3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$-43,323</a:t>
            </a:r>
            <a:endParaRPr/>
          </a:p>
        </p:txBody>
      </p:sp>
      <p:sp>
        <p:nvSpPr>
          <p:cNvPr id="5489" name="Google Shape;5489;p3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0" name="Google Shape;5490;p3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491" name="Google Shape;5491;p3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92" name="Google Shape;5492;p3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493" name="Google Shape;5493;p3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494" name="Google Shape;5494;p3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495" name="Google Shape;5495;p3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96" name="Google Shape;5496;p3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497" name="Google Shape;5497;p3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8" name="Google Shape;5498;p3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499" name="Google Shape;5499;p3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5500" name="Google Shape;5500;p3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01" name="Google Shape;5501;p3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5502" name="Google Shape;5502;p3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03" name="Google Shape;5503;p3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5504" name="Google Shape;5504;p3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5" name="Google Shape;5505;p3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506" name="Google Shape;5506;p3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5507" name="Google Shape;5507;p3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508" name="Google Shape;5508;p3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5509" name="Google Shape;5509;p3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10" name="Google Shape;5510;p3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</p:txBody>
      </p:sp>
      <p:sp>
        <p:nvSpPr>
          <p:cNvPr id="5511" name="Google Shape;5511;p3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2" name="Google Shape;5512;p3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513" name="Google Shape;5513;p3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5514" name="Google Shape;5514;p3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15" name="Google Shape;5515;p3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5516" name="Google Shape;5516;p3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17" name="Google Shape;5517;p3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5.5%</a:t>
            </a:r>
            <a:endParaRPr/>
          </a:p>
        </p:txBody>
      </p:sp>
      <p:sp>
        <p:nvSpPr>
          <p:cNvPr id="5518" name="Google Shape;5518;p3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9" name="Google Shape;5519;p3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520" name="Google Shape;5520;p3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5521" name="Google Shape;5521;p3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22" name="Google Shape;5522;p3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5523" name="Google Shape;5523;p3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24" name="Google Shape;5524;p3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5525" name="Google Shape;5525;p3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6" name="Google Shape;5526;p3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27" name="Google Shape;5527;p3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5528" name="Google Shape;5528;p3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29" name="Google Shape;5529;p3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5530" name="Google Shape;5530;p3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31" name="Google Shape;5531;p3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32" name="Google Shape;5532;p3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3" name="Google Shape;5533;p3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534" name="Google Shape;5534;p3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277</a:t>
            </a:r>
            <a:endParaRPr/>
          </a:p>
        </p:txBody>
      </p:sp>
      <p:sp>
        <p:nvSpPr>
          <p:cNvPr id="5535" name="Google Shape;5535;p3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536" name="Google Shape;5536;p3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271</a:t>
            </a:r>
            <a:endParaRPr/>
          </a:p>
        </p:txBody>
      </p:sp>
      <p:sp>
        <p:nvSpPr>
          <p:cNvPr id="5537" name="Google Shape;5537;p3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38" name="Google Shape;5538;p3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</p:txBody>
      </p:sp>
      <p:sp>
        <p:nvSpPr>
          <p:cNvPr id="5539" name="Google Shape;5539;p3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0" name="Google Shape;5540;p3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541" name="Google Shape;5541;p3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542" name="Google Shape;5542;p3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543" name="Google Shape;5543;p3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544" name="Google Shape;5544;p3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545" name="Google Shape;5545;p3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546" name="Google Shape;5546;p3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547" name="Google Shape;5547;p3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548" name="Google Shape;5548;p3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549" name="Google Shape;5549;p3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550" name="Google Shape;5550;p3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551" name="Google Shape;5551;p3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552" name="Google Shape;5552;p3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553" name="Google Shape;5553;p3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554" name="Google Shape;5554;p3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555" name="Google Shape;5555;p3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5556" name="Google Shape;5556;p3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5557" name="Google Shape;5557;p3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5558" name="Google Shape;5558;p3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5559" name="Google Shape;5559;p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</a:t>
            </a:r>
            <a:endParaRPr/>
          </a:p>
        </p:txBody>
      </p:sp>
      <p:sp>
        <p:nvSpPr>
          <p:cNvPr id="5560" name="Google Shape;5560;p3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5561" name="Google Shape;5561;p3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5562" name="Google Shape;5562;p3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5563" name="Google Shape;5563;p3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5564" name="Google Shape;5564;p3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5565" name="Google Shape;5565;p3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351</a:t>
            </a:r>
            <a:endParaRPr/>
          </a:p>
        </p:txBody>
      </p:sp>
      <p:sp>
        <p:nvSpPr>
          <p:cNvPr id="5566" name="Google Shape;5566;p3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286</a:t>
            </a:r>
            <a:endParaRPr/>
          </a:p>
        </p:txBody>
      </p:sp>
      <p:sp>
        <p:nvSpPr>
          <p:cNvPr id="5567" name="Google Shape;5567;p3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568" name="Google Shape;5568;p3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5569" name="Google Shape;5569;p3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70" name="Google Shape;5570;p3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5571" name="Google Shape;5571;p3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$280</a:t>
            </a:r>
            <a:endParaRPr/>
          </a:p>
        </p:txBody>
      </p:sp>
      <p:sp>
        <p:nvSpPr>
          <p:cNvPr id="5572" name="Google Shape;5572;p3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$49K</a:t>
            </a:r>
            <a:endParaRPr/>
          </a:p>
        </p:txBody>
      </p:sp>
      <p:sp>
        <p:nvSpPr>
          <p:cNvPr id="5573" name="Google Shape;5573;p3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$-115</a:t>
            </a:r>
            <a:endParaRPr/>
          </a:p>
        </p:txBody>
      </p:sp>
      <p:sp>
        <p:nvSpPr>
          <p:cNvPr id="5574" name="Google Shape;5574;p3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$30K</a:t>
            </a:r>
            <a:endParaRPr/>
          </a:p>
        </p:txBody>
      </p:sp>
      <p:sp>
        <p:nvSpPr>
          <p:cNvPr id="5575" name="Google Shape;5575;p3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5576" name="Google Shape;5576;p3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$40K</a:t>
            </a:r>
            <a:endParaRPr/>
          </a:p>
        </p:txBody>
      </p:sp>
      <p:sp>
        <p:nvSpPr>
          <p:cNvPr id="5577" name="Google Shape;5577;p3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78" name="Google Shape;5578;p3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$156K</a:t>
            </a:r>
            <a:endParaRPr/>
          </a:p>
        </p:txBody>
      </p:sp>
      <p:sp>
        <p:nvSpPr>
          <p:cNvPr id="5579" name="Google Shape;5579;p3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5580" name="Google Shape;5580;p3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1" name="Google Shape;5581;p3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582" name="Google Shape;5582;p3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83" name="Google Shape;5583;p3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$43,119 YTD gross written premium</a:t>
            </a:r>
            <a:endParaRPr/>
          </a:p>
        </p:txBody>
      </p:sp>
      <p:sp>
        <p:nvSpPr>
          <p:cNvPr id="5584" name="Google Shape;5584;p3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85" name="Google Shape;5585;p3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$27,571 in new business production</a:t>
            </a:r>
            <a:endParaRPr/>
          </a:p>
        </p:txBody>
      </p:sp>
      <p:sp>
        <p:nvSpPr>
          <p:cNvPr id="5586" name="Google Shape;5586;p3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7" name="Google Shape;5587;p3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588" name="Google Shape;5588;p3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589" name="Google Shape;5589;p3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1.4% hit ratio on 277 subs - needs coaching</a:t>
            </a:r>
            <a:endParaRPr/>
          </a:p>
        </p:txBody>
      </p:sp>
      <p:sp>
        <p:nvSpPr>
          <p:cNvPr id="5590" name="Google Shape;5590;p3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591" name="Google Shape;5591;p3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157% of new business ($43,323)</a:t>
            </a:r>
            <a:endParaRPr/>
          </a:p>
        </p:txBody>
      </p:sp>
      <p:sp>
        <p:nvSpPr>
          <p:cNvPr id="5592" name="Google Shape;5592;p3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3" name="Google Shape;5593;p3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594" name="Google Shape;5594;p3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595" name="Google Shape;5595;p3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(277 subs, only 4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5596" name="Google Shape;5596;p3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597" name="Google Shape;5597;p3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$27,571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01" name="Shape 5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2" name="Google Shape;5602;p3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3" name="Google Shape;5603;p3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Renegade Insurance (Formerly Covered By Sage)</a:t>
            </a:r>
            <a:endParaRPr/>
          </a:p>
        </p:txBody>
      </p:sp>
      <p:sp>
        <p:nvSpPr>
          <p:cNvPr id="5604" name="Google Shape;5604;p3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Atlanta</a:t>
            </a:r>
            <a:endParaRPr/>
          </a:p>
        </p:txBody>
      </p:sp>
      <p:sp>
        <p:nvSpPr>
          <p:cNvPr id="5605" name="Google Shape;5605;p3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$31,060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606" name="Google Shape;5606;p3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$16,551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607" name="Google Shape;5607;p3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$11,885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608" name="Google Shape;5608;p3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609" name="Google Shape;5609;p3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$-5,574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610" name="Google Shape;5610;p3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$273,280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611" name="Google Shape;5611;p3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$185,152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612" name="Google Shape;5612;p3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613" name="Google Shape;5613;p3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614" name="Google Shape;5614;p3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15" name="Google Shape;5615;p3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616" name="Google Shape;5616;p3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617" name="Google Shape;5617;p3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$32,503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618" name="Google Shape;5618;p3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9" name="Google Shape;5619;p3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620" name="Google Shape;5620;p3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621" name="Google Shape;5621;p3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622" name="Google Shape;5622;p3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623" name="Google Shape;5623;p3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624" name="Google Shape;5624;p3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625" name="Google Shape;5625;p3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626" name="Google Shape;5626;p3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7" name="Google Shape;5627;p3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628" name="Google Shape;5628;p3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$9,522</a:t>
            </a:r>
            <a:endParaRPr/>
          </a:p>
        </p:txBody>
      </p:sp>
      <p:sp>
        <p:nvSpPr>
          <p:cNvPr id="5629" name="Google Shape;5629;p3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0" name="Google Shape;5630;p3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$9,522</a:t>
            </a:r>
            <a:endParaRPr/>
          </a:p>
        </p:txBody>
      </p:sp>
      <p:sp>
        <p:nvSpPr>
          <p:cNvPr id="5631" name="Google Shape;5631;p3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2" name="Google Shape;5632;p3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$-2,705</a:t>
            </a:r>
            <a:endParaRPr/>
          </a:p>
        </p:txBody>
      </p:sp>
      <p:sp>
        <p:nvSpPr>
          <p:cNvPr id="5633" name="Google Shape;5633;p3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4" name="Google Shape;5634;p3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635" name="Google Shape;5635;p3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6" name="Google Shape;5636;p3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7" name="Google Shape;5637;p3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8" name="Google Shape;5638;p3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9" name="Google Shape;5639;p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0" name="Google Shape;5640;p3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1" name="Google Shape;5641;p3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642" name="Google Shape;5642;p3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$2,363</a:t>
            </a:r>
            <a:endParaRPr/>
          </a:p>
        </p:txBody>
      </p:sp>
      <p:sp>
        <p:nvSpPr>
          <p:cNvPr id="5643" name="Google Shape;5643;p3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4" name="Google Shape;5644;p3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$2,363</a:t>
            </a:r>
            <a:endParaRPr/>
          </a:p>
        </p:txBody>
      </p:sp>
      <p:sp>
        <p:nvSpPr>
          <p:cNvPr id="5645" name="Google Shape;5645;p3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6" name="Google Shape;5646;p3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$-823</a:t>
            </a:r>
            <a:endParaRPr/>
          </a:p>
        </p:txBody>
      </p:sp>
      <p:sp>
        <p:nvSpPr>
          <p:cNvPr id="5647" name="Google Shape;5647;p3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8" name="Google Shape;5648;p3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649" name="Google Shape;5649;p3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$14,274</a:t>
            </a:r>
            <a:endParaRPr/>
          </a:p>
        </p:txBody>
      </p:sp>
      <p:sp>
        <p:nvSpPr>
          <p:cNvPr id="5650" name="Google Shape;5650;p3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$11,650</a:t>
            </a:r>
            <a:endParaRPr/>
          </a:p>
        </p:txBody>
      </p:sp>
      <p:sp>
        <p:nvSpPr>
          <p:cNvPr id="5651" name="Google Shape;5651;p3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52" name="Google Shape;5652;p3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$2,624</a:t>
            </a:r>
            <a:endParaRPr/>
          </a:p>
        </p:txBody>
      </p:sp>
      <p:sp>
        <p:nvSpPr>
          <p:cNvPr id="5653" name="Google Shape;5653;p3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54" name="Google Shape;5654;p3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5" name="Google Shape;5655;p3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56" name="Google Shape;5656;p3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$4,901</a:t>
            </a:r>
            <a:endParaRPr/>
          </a:p>
        </p:txBody>
      </p:sp>
      <p:sp>
        <p:nvSpPr>
          <p:cNvPr id="5657" name="Google Shape;5657;p3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$4,901</a:t>
            </a:r>
            <a:endParaRPr/>
          </a:p>
        </p:txBody>
      </p:sp>
      <p:sp>
        <p:nvSpPr>
          <p:cNvPr id="5658" name="Google Shape;5658;p3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59" name="Google Shape;5659;p3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60" name="Google Shape;5660;p3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$-2,046</a:t>
            </a:r>
            <a:endParaRPr/>
          </a:p>
        </p:txBody>
      </p:sp>
      <p:sp>
        <p:nvSpPr>
          <p:cNvPr id="5661" name="Google Shape;5661;p3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2" name="Google Shape;5662;p3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663" name="Google Shape;5663;p3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$31,060</a:t>
            </a:r>
            <a:endParaRPr/>
          </a:p>
        </p:txBody>
      </p:sp>
      <p:sp>
        <p:nvSpPr>
          <p:cNvPr id="5664" name="Google Shape;5664;p3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$16,551</a:t>
            </a:r>
            <a:endParaRPr/>
          </a:p>
        </p:txBody>
      </p:sp>
      <p:sp>
        <p:nvSpPr>
          <p:cNvPr id="5665" name="Google Shape;5665;p3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$11,885</a:t>
            </a:r>
            <a:endParaRPr/>
          </a:p>
        </p:txBody>
      </p:sp>
      <p:sp>
        <p:nvSpPr>
          <p:cNvPr id="5666" name="Google Shape;5666;p3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$2,624</a:t>
            </a:r>
            <a:endParaRPr/>
          </a:p>
        </p:txBody>
      </p:sp>
      <p:sp>
        <p:nvSpPr>
          <p:cNvPr id="5667" name="Google Shape;5667;p3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$-5,574</a:t>
            </a:r>
            <a:endParaRPr/>
          </a:p>
        </p:txBody>
      </p:sp>
      <p:sp>
        <p:nvSpPr>
          <p:cNvPr id="5668" name="Google Shape;5668;p3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9" name="Google Shape;5669;p3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670" name="Google Shape;5670;p3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671" name="Google Shape;5671;p3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672" name="Google Shape;5672;p3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673" name="Google Shape;5673;p3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674" name="Google Shape;5674;p3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75" name="Google Shape;5675;p3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676" name="Google Shape;5676;p3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7" name="Google Shape;5677;p3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678" name="Google Shape;5678;p3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679" name="Google Shape;5679;p3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80" name="Google Shape;5680;p3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681" name="Google Shape;5681;p3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82" name="Google Shape;5682;p3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5683" name="Google Shape;5683;p3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4" name="Google Shape;5684;p3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685" name="Google Shape;5685;p3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686" name="Google Shape;5686;p3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87" name="Google Shape;5687;p3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688" name="Google Shape;5688;p3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89" name="Google Shape;5689;p3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90" name="Google Shape;5690;p3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1" name="Google Shape;5691;p3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692" name="Google Shape;5692;p3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5693" name="Google Shape;5693;p3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94" name="Google Shape;5694;p3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5695" name="Google Shape;5695;p3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96" name="Google Shape;5696;p3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5697" name="Google Shape;5697;p3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8" name="Google Shape;5698;p3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699" name="Google Shape;5699;p3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700" name="Google Shape;5700;p3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01" name="Google Shape;5701;p3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702" name="Google Shape;5702;p3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03" name="Google Shape;5703;p3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9.5%</a:t>
            </a:r>
            <a:endParaRPr/>
          </a:p>
        </p:txBody>
      </p:sp>
      <p:sp>
        <p:nvSpPr>
          <p:cNvPr id="5704" name="Google Shape;5704;p3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5" name="Google Shape;5705;p3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706" name="Google Shape;5706;p3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707" name="Google Shape;5707;p3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08" name="Google Shape;5708;p3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709" name="Google Shape;5709;p3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10" name="Google Shape;5710;p3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5711" name="Google Shape;5711;p3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2" name="Google Shape;5712;p3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713" name="Google Shape;5713;p3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5714" name="Google Shape;5714;p3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715" name="Google Shape;5715;p3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5716" name="Google Shape;5716;p3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717" name="Google Shape;5717;p3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5718" name="Google Shape;5718;p3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9" name="Google Shape;5719;p3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720" name="Google Shape;5720;p3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721" name="Google Shape;5721;p3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722" name="Google Shape;5722;p3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723" name="Google Shape;5723;p3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724" name="Google Shape;5724;p3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725" name="Google Shape;5725;p3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726" name="Google Shape;5726;p3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727" name="Google Shape;5727;p3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728" name="Google Shape;5728;p3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729" name="Google Shape;5729;p3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730" name="Google Shape;5730;p3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731" name="Google Shape;5731;p3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732" name="Google Shape;5732;p3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733" name="Google Shape;5733;p3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734" name="Google Shape;5734;p3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735" name="Google Shape;5735;p3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736" name="Google Shape;5736;p3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737" name="Google Shape;5737;p3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738" name="Google Shape;5738;p3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739" name="Google Shape;5739;p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5740" name="Google Shape;5740;p3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5741" name="Google Shape;5741;p3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742" name="Google Shape;5742;p3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5743" name="Google Shape;5743;p3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744" name="Google Shape;5744;p3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</a:t>
            </a:r>
            <a:endParaRPr/>
          </a:p>
        </p:txBody>
      </p:sp>
      <p:sp>
        <p:nvSpPr>
          <p:cNvPr id="5745" name="Google Shape;5745;p3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</a:t>
            </a:r>
            <a:endParaRPr/>
          </a:p>
        </p:txBody>
      </p:sp>
      <p:sp>
        <p:nvSpPr>
          <p:cNvPr id="5746" name="Google Shape;5746;p3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747" name="Google Shape;5747;p3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5748" name="Google Shape;5748;p3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5749" name="Google Shape;5749;p3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$62K</a:t>
            </a:r>
            <a:endParaRPr/>
          </a:p>
        </p:txBody>
      </p:sp>
      <p:sp>
        <p:nvSpPr>
          <p:cNvPr id="5750" name="Google Shape;5750;p3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1" name="Google Shape;5751;p3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5752" name="Google Shape;5752;p3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5753" name="Google Shape;5753;p3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5754" name="Google Shape;5754;p3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5755" name="Google Shape;5755;p3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5756" name="Google Shape;5756;p3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5757" name="Google Shape;5757;p3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$119K</a:t>
            </a:r>
            <a:endParaRPr/>
          </a:p>
        </p:txBody>
      </p:sp>
      <p:sp>
        <p:nvSpPr>
          <p:cNvPr id="5758" name="Google Shape;5758;p3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5759" name="Google Shape;5759;p3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0" name="Google Shape;5760;p3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761" name="Google Shape;5761;p3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762" name="Google Shape;5762;p3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$31,060 YTD gross written premium</a:t>
            </a:r>
            <a:endParaRPr/>
          </a:p>
        </p:txBody>
      </p:sp>
      <p:sp>
        <p:nvSpPr>
          <p:cNvPr id="5763" name="Google Shape;5763;p3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764" name="Google Shape;5764;p3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$16,551 in new business production</a:t>
            </a:r>
            <a:endParaRPr/>
          </a:p>
        </p:txBody>
      </p:sp>
      <p:sp>
        <p:nvSpPr>
          <p:cNvPr id="5765" name="Google Shape;5765;p3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6" name="Google Shape;5766;p3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767" name="Google Shape;5767;p3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768" name="Google Shape;5768;p3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66% month-over-month</a:t>
            </a:r>
            <a:endParaRPr/>
          </a:p>
        </p:txBody>
      </p:sp>
      <p:sp>
        <p:nvSpPr>
          <p:cNvPr id="5769" name="Google Shape;5769;p3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0" name="Google Shape;5770;p3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771" name="Google Shape;5771;p3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772" name="Google Shape;5772;p3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$16,551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5773" name="Google Shape;5773;p3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774" name="Google Shape;5774;p3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$5,574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78" name="Shape 5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9" name="Google Shape;5779;p3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0" name="Google Shape;5780;p3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Independence Insurance Agency LLC</a:t>
            </a:r>
            <a:endParaRPr/>
          </a:p>
        </p:txBody>
      </p:sp>
      <p:sp>
        <p:nvSpPr>
          <p:cNvPr id="5781" name="Google Shape;5781;p3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Pembroke Pines</a:t>
            </a:r>
            <a:endParaRPr/>
          </a:p>
        </p:txBody>
      </p:sp>
      <p:sp>
        <p:nvSpPr>
          <p:cNvPr id="5782" name="Google Shape;5782;p3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$27,051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783" name="Google Shape;5783;p3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784" name="Google Shape;5784;p3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785" name="Google Shape;5785;p3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$8,383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786" name="Google Shape;5786;p3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$-10,915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787" name="Google Shape;5787;p3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$343,582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788" name="Google Shape;5788;p3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$218,285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789" name="Google Shape;5789;p3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790" name="Google Shape;5790;p3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791" name="Google Shape;5791;p3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92" name="Google Shape;5792;p3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793" name="Google Shape;5793;p3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794" name="Google Shape;5794;p3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$35,084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795" name="Google Shape;5795;p3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6" name="Google Shape;5796;p3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797" name="Google Shape;5797;p3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798" name="Google Shape;5798;p3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799" name="Google Shape;5799;p3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800" name="Google Shape;5800;p3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801" name="Google Shape;5801;p3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802" name="Google Shape;5802;p3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803" name="Google Shape;5803;p3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4" name="Google Shape;5804;p3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805" name="Google Shape;5805;p3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6" name="Google Shape;5806;p3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7" name="Google Shape;5807;p3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8" name="Google Shape;5808;p3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9" name="Google Shape;5809;p3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10" name="Google Shape;5810;p3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1" name="Google Shape;5811;p3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812" name="Google Shape;5812;p3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</a:t>
            </a:r>
            <a:endParaRPr/>
          </a:p>
        </p:txBody>
      </p:sp>
      <p:sp>
        <p:nvSpPr>
          <p:cNvPr id="5813" name="Google Shape;5813;p3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14" name="Google Shape;5814;p3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15" name="Google Shape;5815;p3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</a:t>
            </a:r>
            <a:endParaRPr/>
          </a:p>
        </p:txBody>
      </p:sp>
      <p:sp>
        <p:nvSpPr>
          <p:cNvPr id="5816" name="Google Shape;5816;p3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$-173</a:t>
            </a:r>
            <a:endParaRPr/>
          </a:p>
        </p:txBody>
      </p:sp>
      <p:sp>
        <p:nvSpPr>
          <p:cNvPr id="5817" name="Google Shape;5817;p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8" name="Google Shape;5818;p3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819" name="Google Shape;5819;p3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$27,199</a:t>
            </a:r>
            <a:endParaRPr/>
          </a:p>
        </p:txBody>
      </p:sp>
      <p:sp>
        <p:nvSpPr>
          <p:cNvPr id="5820" name="Google Shape;5820;p3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$18,668</a:t>
            </a:r>
            <a:endParaRPr/>
          </a:p>
        </p:txBody>
      </p:sp>
      <p:sp>
        <p:nvSpPr>
          <p:cNvPr id="5821" name="Google Shape;5821;p3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22" name="Google Shape;5822;p3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$8,531</a:t>
            </a:r>
            <a:endParaRPr/>
          </a:p>
        </p:txBody>
      </p:sp>
      <p:sp>
        <p:nvSpPr>
          <p:cNvPr id="5823" name="Google Shape;5823;p3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$-10,742</a:t>
            </a:r>
            <a:endParaRPr/>
          </a:p>
        </p:txBody>
      </p:sp>
      <p:sp>
        <p:nvSpPr>
          <p:cNvPr id="5824" name="Google Shape;5824;p3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5" name="Google Shape;5825;p3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826" name="Google Shape;5826;p3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27" name="Google Shape;5827;p3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28" name="Google Shape;5828;p3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29" name="Google Shape;5829;p3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30" name="Google Shape;5830;p3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31" name="Google Shape;5831;p3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2" name="Google Shape;5832;p3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833" name="Google Shape;5833;p3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$-264</a:t>
            </a:r>
            <a:endParaRPr/>
          </a:p>
        </p:txBody>
      </p:sp>
      <p:sp>
        <p:nvSpPr>
          <p:cNvPr id="5834" name="Google Shape;5834;p3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35" name="Google Shape;5835;p3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36" name="Google Shape;5836;p3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$-264</a:t>
            </a:r>
            <a:endParaRPr/>
          </a:p>
        </p:txBody>
      </p:sp>
      <p:sp>
        <p:nvSpPr>
          <p:cNvPr id="5837" name="Google Shape;5837;p3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38" name="Google Shape;5838;p3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9" name="Google Shape;5839;p3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840" name="Google Shape;5840;p3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$27,051</a:t>
            </a:r>
            <a:endParaRPr/>
          </a:p>
        </p:txBody>
      </p:sp>
      <p:sp>
        <p:nvSpPr>
          <p:cNvPr id="5841" name="Google Shape;5841;p3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$18,668</a:t>
            </a:r>
            <a:endParaRPr/>
          </a:p>
        </p:txBody>
      </p:sp>
      <p:sp>
        <p:nvSpPr>
          <p:cNvPr id="5842" name="Google Shape;5842;p3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3" name="Google Shape;5843;p3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$8,383</a:t>
            </a:r>
            <a:endParaRPr/>
          </a:p>
        </p:txBody>
      </p:sp>
      <p:sp>
        <p:nvSpPr>
          <p:cNvPr id="5844" name="Google Shape;5844;p3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$-10,915</a:t>
            </a:r>
            <a:endParaRPr/>
          </a:p>
        </p:txBody>
      </p:sp>
      <p:sp>
        <p:nvSpPr>
          <p:cNvPr id="5845" name="Google Shape;5845;p3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6" name="Google Shape;5846;p3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847" name="Google Shape;5847;p3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848" name="Google Shape;5848;p3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849" name="Google Shape;5849;p3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850" name="Google Shape;5850;p3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851" name="Google Shape;5851;p3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852" name="Google Shape;5852;p3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853" name="Google Shape;5853;p3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4" name="Google Shape;5854;p3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855" name="Google Shape;5855;p3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856" name="Google Shape;5856;p3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57" name="Google Shape;5857;p3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858" name="Google Shape;5858;p3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59" name="Google Shape;5859;p3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60" name="Google Shape;5860;p3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1" name="Google Shape;5861;p3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862" name="Google Shape;5862;p3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863" name="Google Shape;5863;p3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64" name="Google Shape;5864;p3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865" name="Google Shape;5865;p3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66" name="Google Shape;5866;p3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5867" name="Google Shape;5867;p3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8" name="Google Shape;5868;p3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869" name="Google Shape;5869;p3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870" name="Google Shape;5870;p3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71" name="Google Shape;5871;p3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872" name="Google Shape;5872;p3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73" name="Google Shape;5873;p3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5874" name="Google Shape;5874;p3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5" name="Google Shape;5875;p3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876" name="Google Shape;5876;p3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877" name="Google Shape;5877;p3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78" name="Google Shape;5878;p3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879" name="Google Shape;5879;p3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80" name="Google Shape;5880;p3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81" name="Google Shape;5881;p3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2" name="Google Shape;5882;p3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883" name="Google Shape;5883;p3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884" name="Google Shape;5884;p3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885" name="Google Shape;5885;p3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886" name="Google Shape;5886;p3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87" name="Google Shape;5887;p3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88" name="Google Shape;5888;p3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9" name="Google Shape;5889;p3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890" name="Google Shape;5890;p3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5891" name="Google Shape;5891;p3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892" name="Google Shape;5892;p3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5893" name="Google Shape;5893;p3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94" name="Google Shape;5894;p3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5895" name="Google Shape;5895;p3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6" name="Google Shape;5896;p3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897" name="Google Shape;5897;p3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98" name="Google Shape;5898;p3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899" name="Google Shape;5899;p3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900" name="Google Shape;5900;p3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901" name="Google Shape;5901;p3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902" name="Google Shape;5902;p3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903" name="Google Shape;5903;p3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904" name="Google Shape;5904;p3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905" name="Google Shape;5905;p3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906" name="Google Shape;5906;p3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907" name="Google Shape;5907;p3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908" name="Google Shape;5908;p3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909" name="Google Shape;5909;p3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910" name="Google Shape;5910;p3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911" name="Google Shape;5911;p3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5912" name="Google Shape;5912;p3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913" name="Google Shape;5913;p3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5914" name="Google Shape;5914;p3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915" name="Google Shape;5915;p3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5916" name="Google Shape;5916;p3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917" name="Google Shape;5917;p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5918" name="Google Shape;5918;p3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919" name="Google Shape;5919;p3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5920" name="Google Shape;5920;p3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921" name="Google Shape;5921;p3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184</a:t>
            </a:r>
            <a:endParaRPr/>
          </a:p>
        </p:txBody>
      </p:sp>
      <p:sp>
        <p:nvSpPr>
          <p:cNvPr id="5922" name="Google Shape;5922;p3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5923" name="Google Shape;5923;p3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924" name="Google Shape;5924;p3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5925" name="Google Shape;5925;p3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6" name="Google Shape;5926;p3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5927" name="Google Shape;5927;p3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</a:t>
            </a:r>
            <a:endParaRPr/>
          </a:p>
        </p:txBody>
      </p:sp>
      <p:sp>
        <p:nvSpPr>
          <p:cNvPr id="5928" name="Google Shape;5928;p3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5929" name="Google Shape;5929;p3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5930" name="Google Shape;5930;p3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5931" name="Google Shape;5931;p3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2" name="Google Shape;5932;p3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5933" name="Google Shape;5933;p3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$-264</a:t>
            </a:r>
            <a:endParaRPr/>
          </a:p>
        </p:txBody>
      </p:sp>
      <p:sp>
        <p:nvSpPr>
          <p:cNvPr id="5934" name="Google Shape;5934;p3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$152K</a:t>
            </a:r>
            <a:endParaRPr/>
          </a:p>
        </p:txBody>
      </p:sp>
      <p:sp>
        <p:nvSpPr>
          <p:cNvPr id="5935" name="Google Shape;5935;p3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5936" name="Google Shape;5936;p3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7" name="Google Shape;5937;p3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938" name="Google Shape;5938;p3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939" name="Google Shape;5939;p3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$27,051 YTD gross written premium</a:t>
            </a:r>
            <a:endParaRPr/>
          </a:p>
        </p:txBody>
      </p:sp>
      <p:sp>
        <p:nvSpPr>
          <p:cNvPr id="5940" name="Google Shape;5940;p3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941" name="Google Shape;5941;p3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$18,668 in new business production</a:t>
            </a:r>
            <a:endParaRPr/>
          </a:p>
        </p:txBody>
      </p:sp>
      <p:sp>
        <p:nvSpPr>
          <p:cNvPr id="5942" name="Google Shape;5942;p3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3" name="Google Shape;5943;p3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944" name="Google Shape;5944;p3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945" name="Google Shape;5945;p3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58% of new business ($10,915)</a:t>
            </a:r>
            <a:endParaRPr/>
          </a:p>
        </p:txBody>
      </p:sp>
      <p:sp>
        <p:nvSpPr>
          <p:cNvPr id="5946" name="Google Shape;5946;p3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947" name="Google Shape;5947;p3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101% month-over-month</a:t>
            </a:r>
            <a:endParaRPr/>
          </a:p>
        </p:txBody>
      </p:sp>
      <p:sp>
        <p:nvSpPr>
          <p:cNvPr id="5948" name="Google Shape;5948;p3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9" name="Google Shape;5949;p3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950" name="Google Shape;5950;p3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951" name="Google Shape;5951;p3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$18,668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5952" name="Google Shape;5952;p3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953" name="Google Shape;5953;p3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$10,915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57" name="Shape 5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8" name="Google Shape;5958;p4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9" name="Google Shape;5959;p4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SINGH BROTHERS INSURANCE LLC</a:t>
            </a:r>
            <a:endParaRPr/>
          </a:p>
        </p:txBody>
      </p:sp>
      <p:sp>
        <p:nvSpPr>
          <p:cNvPr id="5960" name="Google Shape;5960;p4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Kissimmee</a:t>
            </a:r>
            <a:endParaRPr/>
          </a:p>
        </p:txBody>
      </p:sp>
      <p:sp>
        <p:nvSpPr>
          <p:cNvPr id="5961" name="Google Shape;5961;p4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$25,005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962" name="Google Shape;5962;p4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963" name="Google Shape;5963;p4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$13,219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964" name="Google Shape;5964;p4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$11,785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965" name="Google Shape;5965;p4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$-6,582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966" name="Google Shape;5966;p4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$344,085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967" name="Google Shape;5967;p4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$248,209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968" name="Google Shape;5968;p4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969" name="Google Shape;5969;p4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970" name="Google Shape;5970;p4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971" name="Google Shape;5971;p4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972" name="Google Shape;5972;p4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973" name="Google Shape;5973;p4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$30,143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974" name="Google Shape;5974;p4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5" name="Google Shape;5975;p4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976" name="Google Shape;5976;p4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977" name="Google Shape;5977;p4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978" name="Google Shape;5978;p4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979" name="Google Shape;5979;p4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980" name="Google Shape;5980;p4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981" name="Google Shape;5981;p4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982" name="Google Shape;5982;p4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3" name="Google Shape;5983;p4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984" name="Google Shape;5984;p4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$-6,917</a:t>
            </a:r>
            <a:endParaRPr/>
          </a:p>
        </p:txBody>
      </p:sp>
      <p:sp>
        <p:nvSpPr>
          <p:cNvPr id="5985" name="Google Shape;5985;p4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6" name="Google Shape;5986;p4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7" name="Google Shape;5987;p4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$-6,917</a:t>
            </a:r>
            <a:endParaRPr/>
          </a:p>
        </p:txBody>
      </p:sp>
      <p:sp>
        <p:nvSpPr>
          <p:cNvPr id="5988" name="Google Shape;5988;p4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9" name="Google Shape;5989;p4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0" name="Google Shape;5990;p4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991" name="Google Shape;5991;p4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$6,874</a:t>
            </a:r>
            <a:endParaRPr/>
          </a:p>
        </p:txBody>
      </p:sp>
      <p:sp>
        <p:nvSpPr>
          <p:cNvPr id="5992" name="Google Shape;5992;p4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93" name="Google Shape;5993;p4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94" name="Google Shape;5994;p4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$6,874</a:t>
            </a:r>
            <a:endParaRPr/>
          </a:p>
        </p:txBody>
      </p:sp>
      <p:sp>
        <p:nvSpPr>
          <p:cNvPr id="5995" name="Google Shape;5995;p4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96" name="Google Shape;5996;p4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7" name="Google Shape;5997;p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998" name="Google Shape;5998;p4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$11,828</a:t>
            </a:r>
            <a:endParaRPr/>
          </a:p>
        </p:txBody>
      </p:sp>
      <p:sp>
        <p:nvSpPr>
          <p:cNvPr id="5999" name="Google Shape;5999;p4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0" name="Google Shape;6000;p4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1" name="Google Shape;6001;p4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$11,828</a:t>
            </a:r>
            <a:endParaRPr/>
          </a:p>
        </p:txBody>
      </p:sp>
      <p:sp>
        <p:nvSpPr>
          <p:cNvPr id="6002" name="Google Shape;6002;p4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3" name="Google Shape;6003;p4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4" name="Google Shape;6004;p4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005" name="Google Shape;6005;p4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$13,219</a:t>
            </a:r>
            <a:endParaRPr/>
          </a:p>
        </p:txBody>
      </p:sp>
      <p:sp>
        <p:nvSpPr>
          <p:cNvPr id="6006" name="Google Shape;6006;p4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7" name="Google Shape;6007;p4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$13,219</a:t>
            </a:r>
            <a:endParaRPr/>
          </a:p>
        </p:txBody>
      </p:sp>
      <p:sp>
        <p:nvSpPr>
          <p:cNvPr id="6008" name="Google Shape;6008;p4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9" name="Google Shape;6009;p4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$-6,582</a:t>
            </a:r>
            <a:endParaRPr/>
          </a:p>
        </p:txBody>
      </p:sp>
      <p:sp>
        <p:nvSpPr>
          <p:cNvPr id="6010" name="Google Shape;6010;p4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1" name="Google Shape;6011;p4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012" name="Google Shape;6012;p4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13" name="Google Shape;6013;p4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14" name="Google Shape;6014;p4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15" name="Google Shape;6015;p4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16" name="Google Shape;6016;p4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17" name="Google Shape;6017;p4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8" name="Google Shape;6018;p4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019" name="Google Shape;6019;p4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$25,005</a:t>
            </a:r>
            <a:endParaRPr/>
          </a:p>
        </p:txBody>
      </p:sp>
      <p:sp>
        <p:nvSpPr>
          <p:cNvPr id="6020" name="Google Shape;6020;p4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1" name="Google Shape;6021;p4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$13,219</a:t>
            </a:r>
            <a:endParaRPr/>
          </a:p>
        </p:txBody>
      </p:sp>
      <p:sp>
        <p:nvSpPr>
          <p:cNvPr id="6022" name="Google Shape;6022;p4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$11,785</a:t>
            </a:r>
            <a:endParaRPr/>
          </a:p>
        </p:txBody>
      </p:sp>
      <p:sp>
        <p:nvSpPr>
          <p:cNvPr id="6023" name="Google Shape;6023;p4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$-6,582</a:t>
            </a:r>
            <a:endParaRPr/>
          </a:p>
        </p:txBody>
      </p:sp>
      <p:sp>
        <p:nvSpPr>
          <p:cNvPr id="6024" name="Google Shape;6024;p4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5" name="Google Shape;6025;p4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026" name="Google Shape;6026;p4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027" name="Google Shape;6027;p4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028" name="Google Shape;6028;p4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029" name="Google Shape;6029;p4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030" name="Google Shape;6030;p4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031" name="Google Shape;6031;p4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032" name="Google Shape;6032;p4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3" name="Google Shape;6033;p4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034" name="Google Shape;6034;p4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035" name="Google Shape;6035;p4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36" name="Google Shape;6036;p4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037" name="Google Shape;6037;p4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38" name="Google Shape;6038;p4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37.5%</a:t>
            </a:r>
            <a:endParaRPr/>
          </a:p>
        </p:txBody>
      </p:sp>
      <p:sp>
        <p:nvSpPr>
          <p:cNvPr id="6039" name="Google Shape;6039;p4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0" name="Google Shape;6040;p4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041" name="Google Shape;6041;p4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042" name="Google Shape;6042;p4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43" name="Google Shape;6043;p4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44" name="Google Shape;6044;p4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45" name="Google Shape;6045;p4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6046" name="Google Shape;6046;p4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7" name="Google Shape;6047;p4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048" name="Google Shape;6048;p4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49" name="Google Shape;6049;p4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50" name="Google Shape;6050;p4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51" name="Google Shape;6051;p4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52" name="Google Shape;6052;p4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66.7%</a:t>
            </a:r>
            <a:endParaRPr/>
          </a:p>
        </p:txBody>
      </p:sp>
      <p:sp>
        <p:nvSpPr>
          <p:cNvPr id="6053" name="Google Shape;6053;p4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4" name="Google Shape;6054;p4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055" name="Google Shape;6055;p4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056" name="Google Shape;6056;p4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57" name="Google Shape;6057;p4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58" name="Google Shape;6058;p4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59" name="Google Shape;6059;p4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60" name="Google Shape;6060;p4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1" name="Google Shape;6061;p4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062" name="Google Shape;6062;p4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63" name="Google Shape;6063;p4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64" name="Google Shape;6064;p4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65" name="Google Shape;6065;p4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66" name="Google Shape;6066;p4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67" name="Google Shape;6067;p4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8" name="Google Shape;6068;p4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069" name="Google Shape;6069;p4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6070" name="Google Shape;6070;p4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71" name="Google Shape;6071;p4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072" name="Google Shape;6072;p4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73" name="Google Shape;6073;p4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6074" name="Google Shape;6074;p4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5" name="Google Shape;6075;p4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076" name="Google Shape;6076;p4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077" name="Google Shape;6077;p4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078" name="Google Shape;6078;p4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079" name="Google Shape;6079;p4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080" name="Google Shape;6080;p4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081" name="Google Shape;6081;p4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082" name="Google Shape;6082;p4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083" name="Google Shape;6083;p4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084" name="Google Shape;6084;p4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085" name="Google Shape;6085;p4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086" name="Google Shape;6086;p4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087" name="Google Shape;6087;p4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088" name="Google Shape;6088;p4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089" name="Google Shape;6089;p4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090" name="Google Shape;6090;p4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091" name="Google Shape;6091;p4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092" name="Google Shape;6092;p4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93" name="Google Shape;6093;p4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094" name="Google Shape;6094;p4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095" name="Google Shape;6095;p4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96" name="Google Shape;6096;p4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097" name="Google Shape;6097;p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098" name="Google Shape;6098;p4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099" name="Google Shape;6099;p4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100" name="Google Shape;6100;p4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6101" name="Google Shape;6101;p4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6102" name="Google Shape;6102;p4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103" name="Google Shape;6103;p4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6104" name="Google Shape;6104;p4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$-6,917</a:t>
            </a:r>
            <a:endParaRPr/>
          </a:p>
        </p:txBody>
      </p:sp>
      <p:sp>
        <p:nvSpPr>
          <p:cNvPr id="6105" name="Google Shape;6105;p4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6" name="Google Shape;6106;p4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6107" name="Google Shape;6107;p4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$39K</a:t>
            </a:r>
            <a:endParaRPr/>
          </a:p>
        </p:txBody>
      </p:sp>
      <p:sp>
        <p:nvSpPr>
          <p:cNvPr id="6108" name="Google Shape;6108;p4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6109" name="Google Shape;6109;p4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6110" name="Google Shape;6110;p4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6111" name="Google Shape;6111;p4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6112" name="Google Shape;6112;p4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3" name="Google Shape;6113;p4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$121K</a:t>
            </a:r>
            <a:endParaRPr/>
          </a:p>
        </p:txBody>
      </p:sp>
      <p:sp>
        <p:nvSpPr>
          <p:cNvPr id="6114" name="Google Shape;6114;p4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6115" name="Google Shape;6115;p4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6" name="Google Shape;6116;p4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117" name="Google Shape;6117;p4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118" name="Google Shape;6118;p4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$25,005 YTD gross written premium</a:t>
            </a:r>
            <a:endParaRPr/>
          </a:p>
        </p:txBody>
      </p:sp>
      <p:sp>
        <p:nvSpPr>
          <p:cNvPr id="6119" name="Google Shape;6119;p4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120" name="Google Shape;6120;p4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$13,219 in renewals - strong retention</a:t>
            </a:r>
            <a:endParaRPr/>
          </a:p>
        </p:txBody>
      </p:sp>
      <p:sp>
        <p:nvSpPr>
          <p:cNvPr id="6121" name="Google Shape;6121;p4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2" name="Google Shape;6122;p4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123" name="Google Shape;6123;p4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124" name="Google Shape;6124;p4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6125" name="Google Shape;6125;p4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6" name="Google Shape;6126;p4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127" name="Google Shape;6127;p4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128" name="Google Shape;6128;p4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6129" name="Google Shape;6129;p4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130" name="Google Shape;6130;p4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134" name="Shape 6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5" name="Google Shape;6135;p4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6" name="Google Shape;6136;p4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PMHLP LLC DBA Coverboxx</a:t>
            </a:r>
            <a:endParaRPr/>
          </a:p>
        </p:txBody>
      </p:sp>
      <p:sp>
        <p:nvSpPr>
          <p:cNvPr id="6137" name="Google Shape;6137;p4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NC  |  City: Albemarle</a:t>
            </a:r>
            <a:endParaRPr/>
          </a:p>
        </p:txBody>
      </p:sp>
      <p:sp>
        <p:nvSpPr>
          <p:cNvPr id="6138" name="Google Shape;6138;p4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$22,281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139" name="Google Shape;6139;p4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$15,018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140" name="Google Shape;6140;p4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141" name="Google Shape;6141;p4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$7,263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142" name="Google Shape;6142;p4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$-4,264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143" name="Google Shape;6143;p4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$237,347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144" name="Google Shape;6144;p4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$232,422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145" name="Google Shape;6145;p4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146" name="Google Shape;6146;p4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147" name="Google Shape;6147;p4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148" name="Google Shape;6148;p4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149" name="Google Shape;6149;p4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$110,028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150" name="Google Shape;6150;p4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$37,272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151" name="Google Shape;6151;p4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2" name="Google Shape;6152;p4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153" name="Google Shape;6153;p4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154" name="Google Shape;6154;p4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155" name="Google Shape;6155;p4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156" name="Google Shape;6156;p4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157" name="Google Shape;6157;p4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158" name="Google Shape;6158;p4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159" name="Google Shape;6159;p4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0" name="Google Shape;6160;p4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161" name="Google Shape;6161;p4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$-6,935</a:t>
            </a:r>
            <a:endParaRPr/>
          </a:p>
        </p:txBody>
      </p:sp>
      <p:sp>
        <p:nvSpPr>
          <p:cNvPr id="6162" name="Google Shape;6162;p4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3" name="Google Shape;6163;p4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4" name="Google Shape;6164;p4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$-6,935</a:t>
            </a:r>
            <a:endParaRPr/>
          </a:p>
        </p:txBody>
      </p:sp>
      <p:sp>
        <p:nvSpPr>
          <p:cNvPr id="6165" name="Google Shape;6165;p4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6" name="Google Shape;6166;p4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7" name="Google Shape;6167;p4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168" name="Google Shape;6168;p4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9" name="Google Shape;6169;p4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0" name="Google Shape;6170;p4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1" name="Google Shape;6171;p4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2" name="Google Shape;6172;p4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3" name="Google Shape;6173;p4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4" name="Google Shape;6174;p4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175" name="Google Shape;6175;p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$4,402</a:t>
            </a:r>
            <a:endParaRPr/>
          </a:p>
        </p:txBody>
      </p:sp>
      <p:sp>
        <p:nvSpPr>
          <p:cNvPr id="6176" name="Google Shape;6176;p4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7" name="Google Shape;6177;p4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8" name="Google Shape;6178;p4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$4,402</a:t>
            </a:r>
            <a:endParaRPr/>
          </a:p>
        </p:txBody>
      </p:sp>
      <p:sp>
        <p:nvSpPr>
          <p:cNvPr id="6179" name="Google Shape;6179;p4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80" name="Google Shape;6180;p4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1" name="Google Shape;6181;p4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182" name="Google Shape;6182;p4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$21,904</a:t>
            </a:r>
            <a:endParaRPr/>
          </a:p>
        </p:txBody>
      </p:sp>
      <p:sp>
        <p:nvSpPr>
          <p:cNvPr id="6183" name="Google Shape;6183;p4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$15,018</a:t>
            </a:r>
            <a:endParaRPr/>
          </a:p>
        </p:txBody>
      </p:sp>
      <p:sp>
        <p:nvSpPr>
          <p:cNvPr id="6184" name="Google Shape;6184;p4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85" name="Google Shape;6185;p4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$6,886</a:t>
            </a:r>
            <a:endParaRPr/>
          </a:p>
        </p:txBody>
      </p:sp>
      <p:sp>
        <p:nvSpPr>
          <p:cNvPr id="6186" name="Google Shape;6186;p4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87" name="Google Shape;6187;p4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8" name="Google Shape;6188;p4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189" name="Google Shape;6189;p4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$2,909</a:t>
            </a:r>
            <a:endParaRPr/>
          </a:p>
        </p:txBody>
      </p:sp>
      <p:sp>
        <p:nvSpPr>
          <p:cNvPr id="6190" name="Google Shape;6190;p4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1" name="Google Shape;6191;p4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2" name="Google Shape;6192;p4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$2,909</a:t>
            </a:r>
            <a:endParaRPr/>
          </a:p>
        </p:txBody>
      </p:sp>
      <p:sp>
        <p:nvSpPr>
          <p:cNvPr id="6193" name="Google Shape;6193;p4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$-4,264</a:t>
            </a:r>
            <a:endParaRPr/>
          </a:p>
        </p:txBody>
      </p:sp>
      <p:sp>
        <p:nvSpPr>
          <p:cNvPr id="6194" name="Google Shape;6194;p4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5" name="Google Shape;6195;p4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196" name="Google Shape;6196;p4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$22,281</a:t>
            </a:r>
            <a:endParaRPr/>
          </a:p>
        </p:txBody>
      </p:sp>
      <p:sp>
        <p:nvSpPr>
          <p:cNvPr id="6197" name="Google Shape;6197;p4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$15,018</a:t>
            </a:r>
            <a:endParaRPr/>
          </a:p>
        </p:txBody>
      </p:sp>
      <p:sp>
        <p:nvSpPr>
          <p:cNvPr id="6198" name="Google Shape;6198;p4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9" name="Google Shape;6199;p4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$7,263</a:t>
            </a:r>
            <a:endParaRPr/>
          </a:p>
        </p:txBody>
      </p:sp>
      <p:sp>
        <p:nvSpPr>
          <p:cNvPr id="6200" name="Google Shape;6200;p4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$-4,264</a:t>
            </a:r>
            <a:endParaRPr/>
          </a:p>
        </p:txBody>
      </p:sp>
      <p:sp>
        <p:nvSpPr>
          <p:cNvPr id="6201" name="Google Shape;6201;p4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2" name="Google Shape;6202;p4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203" name="Google Shape;6203;p4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204" name="Google Shape;6204;p4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205" name="Google Shape;6205;p4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206" name="Google Shape;6206;p4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207" name="Google Shape;6207;p4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208" name="Google Shape;6208;p4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209" name="Google Shape;6209;p4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0" name="Google Shape;6210;p4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211" name="Google Shape;6211;p4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212" name="Google Shape;6212;p4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213" name="Google Shape;6213;p4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214" name="Google Shape;6214;p4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15" name="Google Shape;6215;p4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6216" name="Google Shape;6216;p4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7" name="Google Shape;6217;p4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218" name="Google Shape;6218;p4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219" name="Google Shape;6219;p4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20" name="Google Shape;6220;p4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221" name="Google Shape;6221;p4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22" name="Google Shape;6222;p4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23" name="Google Shape;6223;p4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4" name="Google Shape;6224;p4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225" name="Google Shape;6225;p4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6226" name="Google Shape;6226;p4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27" name="Google Shape;6227;p4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228" name="Google Shape;6228;p4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229" name="Google Shape;6229;p4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6230" name="Google Shape;6230;p4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1" name="Google Shape;6231;p4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232" name="Google Shape;6232;p4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6233" name="Google Shape;6233;p4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234" name="Google Shape;6234;p4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6235" name="Google Shape;6235;p4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36" name="Google Shape;6236;p4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</p:txBody>
      </p:sp>
      <p:sp>
        <p:nvSpPr>
          <p:cNvPr id="6237" name="Google Shape;6237;p4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8" name="Google Shape;6238;p4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239" name="Google Shape;6239;p4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240" name="Google Shape;6240;p4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41" name="Google Shape;6241;p4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242" name="Google Shape;6242;p4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243" name="Google Shape;6243;p4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6244" name="Google Shape;6244;p4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5" name="Google Shape;6245;p4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246" name="Google Shape;6246;p4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6247" name="Google Shape;6247;p4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248" name="Google Shape;6248;p4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</a:t>
            </a:r>
            <a:endParaRPr/>
          </a:p>
        </p:txBody>
      </p:sp>
      <p:sp>
        <p:nvSpPr>
          <p:cNvPr id="6249" name="Google Shape;6249;p4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250" name="Google Shape;6250;p4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6251" name="Google Shape;6251;p4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2" name="Google Shape;6252;p4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253" name="Google Shape;6253;p4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254" name="Google Shape;6254;p4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255" name="Google Shape;6255;p4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256" name="Google Shape;6256;p4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257" name="Google Shape;6257;p4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258" name="Google Shape;6258;p4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259" name="Google Shape;6259;p4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260" name="Google Shape;6260;p4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261" name="Google Shape;6261;p4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262" name="Google Shape;6262;p4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263" name="Google Shape;6263;p4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264" name="Google Shape;6264;p4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265" name="Google Shape;6265;p4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266" name="Google Shape;6266;p4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267" name="Google Shape;6267;p4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268" name="Google Shape;6268;p4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269" name="Google Shape;6269;p4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270" name="Google Shape;6270;p4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271" name="Google Shape;6271;p4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6272" name="Google Shape;6272;p4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6273" name="Google Shape;6273;p4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274" name="Google Shape;6274;p4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6275" name="Google Shape;6275;p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276" name="Google Shape;6276;p4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277" name="Google Shape;6277;p4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6278" name="Google Shape;6278;p4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</a:t>
            </a:r>
            <a:endParaRPr/>
          </a:p>
        </p:txBody>
      </p:sp>
      <p:sp>
        <p:nvSpPr>
          <p:cNvPr id="6279" name="Google Shape;6279;p4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280" name="Google Shape;6280;p4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$-100</a:t>
            </a:r>
            <a:endParaRPr/>
          </a:p>
        </p:txBody>
      </p:sp>
      <p:sp>
        <p:nvSpPr>
          <p:cNvPr id="6281" name="Google Shape;6281;p4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$-6,935</a:t>
            </a:r>
            <a:endParaRPr/>
          </a:p>
        </p:txBody>
      </p:sp>
      <p:sp>
        <p:nvSpPr>
          <p:cNvPr id="6282" name="Google Shape;6282;p4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6283" name="Google Shape;6283;p4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84" name="Google Shape;6284;p4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6285" name="Google Shape;6285;p4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6286" name="Google Shape;6286;p4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$462</a:t>
            </a:r>
            <a:endParaRPr/>
          </a:p>
        </p:txBody>
      </p:sp>
      <p:sp>
        <p:nvSpPr>
          <p:cNvPr id="6287" name="Google Shape;6287;p4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6288" name="Google Shape;6288;p4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6289" name="Google Shape;6289;p4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6290" name="Google Shape;6290;p4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6291" name="Google Shape;6291;p4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6292" name="Google Shape;6292;p4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3" name="Google Shape;6293;p4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294" name="Google Shape;6294;p4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295" name="Google Shape;6295;p4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$22,281 YTD gross written premium</a:t>
            </a:r>
            <a:endParaRPr/>
          </a:p>
        </p:txBody>
      </p:sp>
      <p:sp>
        <p:nvSpPr>
          <p:cNvPr id="6296" name="Google Shape;6296;p4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297" name="Google Shape;6297;p4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$15,018 in new business production</a:t>
            </a:r>
            <a:endParaRPr/>
          </a:p>
        </p:txBody>
      </p:sp>
      <p:sp>
        <p:nvSpPr>
          <p:cNvPr id="6298" name="Google Shape;6298;p4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9" name="Google Shape;6299;p4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300" name="Google Shape;6300;p4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301" name="Google Shape;6301;p4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87% month-over-month</a:t>
            </a:r>
            <a:endParaRPr/>
          </a:p>
        </p:txBody>
      </p:sp>
      <p:sp>
        <p:nvSpPr>
          <p:cNvPr id="6302" name="Google Shape;6302;p4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303" name="Google Shape;6303;p4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29 to 10 MoM</a:t>
            </a:r>
            <a:endParaRPr/>
          </a:p>
        </p:txBody>
      </p:sp>
      <p:sp>
        <p:nvSpPr>
          <p:cNvPr id="6304" name="Google Shape;6304;p4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5" name="Google Shape;6305;p4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306" name="Google Shape;6306;p4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307" name="Google Shape;6307;p4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$15,018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6308" name="Google Shape;6308;p4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309" name="Google Shape;6309;p4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313" name="Shape 6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4" name="Google Shape;6314;p4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5" name="Google Shape;6315;p4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Ameritrans Risk Solutions, Inc DBA American Transportation &amp; Energy Brokers' Inc</a:t>
            </a:r>
            <a:endParaRPr/>
          </a:p>
        </p:txBody>
      </p:sp>
      <p:sp>
        <p:nvSpPr>
          <p:cNvPr id="6316" name="Google Shape;6316;p4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GA  |  City: Atlanta</a:t>
            </a:r>
            <a:endParaRPr/>
          </a:p>
        </p:txBody>
      </p:sp>
      <p:sp>
        <p:nvSpPr>
          <p:cNvPr id="6317" name="Google Shape;6317;p4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318" name="Google Shape;6318;p4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319" name="Google Shape;6319;p4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320" name="Google Shape;6320;p4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321" name="Google Shape;6321;p4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$-141,139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322" name="Google Shape;6322;p4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$447,484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323" name="Google Shape;6323;p4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$381,021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324" name="Google Shape;6324;p4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325" name="Google Shape;6325;p4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326" name="Google Shape;6326;p4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327" name="Google Shape;6327;p4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328" name="Google Shape;6328;p4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$32,990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329" name="Google Shape;6329;p4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330" name="Google Shape;6330;p4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1" name="Google Shape;6331;p4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332" name="Google Shape;6332;p4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333" name="Google Shape;6333;p4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334" name="Google Shape;6334;p4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335" name="Google Shape;6335;p4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336" name="Google Shape;6336;p4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337" name="Google Shape;6337;p4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338" name="Google Shape;6338;p4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9" name="Google Shape;6339;p4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340" name="Google Shape;6340;p4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$17,786</a:t>
            </a:r>
            <a:endParaRPr/>
          </a:p>
        </p:txBody>
      </p:sp>
      <p:sp>
        <p:nvSpPr>
          <p:cNvPr id="6341" name="Google Shape;6341;p4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2" name="Google Shape;6342;p4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3" name="Google Shape;6343;p4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$17,786</a:t>
            </a:r>
            <a:endParaRPr/>
          </a:p>
        </p:txBody>
      </p:sp>
      <p:sp>
        <p:nvSpPr>
          <p:cNvPr id="6344" name="Google Shape;6344;p4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5" name="Google Shape;6345;p4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6" name="Google Shape;6346;p4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347" name="Google Shape;6347;p4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$365</a:t>
            </a:r>
            <a:endParaRPr/>
          </a:p>
        </p:txBody>
      </p:sp>
      <p:sp>
        <p:nvSpPr>
          <p:cNvPr id="6348" name="Google Shape;6348;p4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9" name="Google Shape;6349;p4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0" name="Google Shape;6350;p4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$365</a:t>
            </a:r>
            <a:endParaRPr/>
          </a:p>
        </p:txBody>
      </p:sp>
      <p:sp>
        <p:nvSpPr>
          <p:cNvPr id="6351" name="Google Shape;6351;p4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2" name="Google Shape;6352;p4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3" name="Google Shape;6353;p4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354" name="Google Shape;6354;p4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5" name="Google Shape;6355;p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6" name="Google Shape;6356;p4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7" name="Google Shape;6357;p4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8" name="Google Shape;6358;p4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9" name="Google Shape;6359;p4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0" name="Google Shape;6360;p4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361" name="Google Shape;6361;p4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2" name="Google Shape;6362;p4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3" name="Google Shape;6363;p4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4" name="Google Shape;6364;p4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5" name="Google Shape;6365;p4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6" name="Google Shape;6366;p4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7" name="Google Shape;6367;p4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368" name="Google Shape;6368;p4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9" name="Google Shape;6369;p4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0" name="Google Shape;6370;p4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1" name="Google Shape;6371;p4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2" name="Google Shape;6372;p4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$-141,139</a:t>
            </a:r>
            <a:endParaRPr/>
          </a:p>
        </p:txBody>
      </p:sp>
      <p:sp>
        <p:nvSpPr>
          <p:cNvPr id="6373" name="Google Shape;6373;p4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4" name="Google Shape;6374;p4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375" name="Google Shape;6375;p4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$18,151</a:t>
            </a:r>
            <a:endParaRPr/>
          </a:p>
        </p:txBody>
      </p:sp>
      <p:sp>
        <p:nvSpPr>
          <p:cNvPr id="6376" name="Google Shape;6376;p4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7" name="Google Shape;6377;p4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8" name="Google Shape;6378;p4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$18,151</a:t>
            </a:r>
            <a:endParaRPr/>
          </a:p>
        </p:txBody>
      </p:sp>
      <p:sp>
        <p:nvSpPr>
          <p:cNvPr id="6379" name="Google Shape;6379;p4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$-141,139</a:t>
            </a:r>
            <a:endParaRPr/>
          </a:p>
        </p:txBody>
      </p:sp>
      <p:sp>
        <p:nvSpPr>
          <p:cNvPr id="6380" name="Google Shape;6380;p4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1" name="Google Shape;6381;p4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382" name="Google Shape;6382;p4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383" name="Google Shape;6383;p4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384" name="Google Shape;6384;p4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385" name="Google Shape;6385;p4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386" name="Google Shape;6386;p4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387" name="Google Shape;6387;p4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388" name="Google Shape;6388;p4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9" name="Google Shape;6389;p4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390" name="Google Shape;6390;p4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91" name="Google Shape;6391;p4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92" name="Google Shape;6392;p4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93" name="Google Shape;6393;p4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94" name="Google Shape;6394;p4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66.7%</a:t>
            </a:r>
            <a:endParaRPr/>
          </a:p>
        </p:txBody>
      </p:sp>
      <p:sp>
        <p:nvSpPr>
          <p:cNvPr id="6395" name="Google Shape;6395;p4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6" name="Google Shape;6396;p4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397" name="Google Shape;6397;p4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98" name="Google Shape;6398;p4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99" name="Google Shape;6399;p4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00" name="Google Shape;6400;p4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401" name="Google Shape;6401;p4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6402" name="Google Shape;6402;p4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3" name="Google Shape;6403;p4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404" name="Google Shape;6404;p4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405" name="Google Shape;6405;p4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06" name="Google Shape;6406;p4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07" name="Google Shape;6407;p4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08" name="Google Shape;6408;p4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09" name="Google Shape;6409;p4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0" name="Google Shape;6410;p4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411" name="Google Shape;6411;p4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12" name="Google Shape;6412;p4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13" name="Google Shape;6413;p4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14" name="Google Shape;6414;p4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15" name="Google Shape;6415;p4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16" name="Google Shape;6416;p4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7" name="Google Shape;6417;p4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418" name="Google Shape;6418;p4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19" name="Google Shape;6419;p4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20" name="Google Shape;6420;p4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21" name="Google Shape;6421;p4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22" name="Google Shape;6422;p4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23" name="Google Shape;6423;p4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4" name="Google Shape;6424;p4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425" name="Google Shape;6425;p4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426" name="Google Shape;6426;p4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27" name="Google Shape;6427;p4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428" name="Google Shape;6428;p4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429" name="Google Shape;6429;p4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6430" name="Google Shape;6430;p4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1" name="Google Shape;6431;p4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432" name="Google Shape;6432;p4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433" name="Google Shape;6433;p4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434" name="Google Shape;6434;p4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435" name="Google Shape;6435;p4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436" name="Google Shape;6436;p4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437" name="Google Shape;6437;p4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438" name="Google Shape;6438;p4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439" name="Google Shape;6439;p4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440" name="Google Shape;6440;p4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441" name="Google Shape;6441;p4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442" name="Google Shape;6442;p4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443" name="Google Shape;6443;p4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444" name="Google Shape;6444;p4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445" name="Google Shape;6445;p4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446" name="Google Shape;6446;p4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447" name="Google Shape;6447;p4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48" name="Google Shape;6448;p4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49" name="Google Shape;6449;p4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50" name="Google Shape;6450;p4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51" name="Google Shape;6451;p4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452" name="Google Shape;6452;p4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453" name="Google Shape;6453;p4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54" name="Google Shape;6454;p4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55" name="Google Shape;6455;p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56" name="Google Shape;6456;p4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6457" name="Google Shape;6457;p4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458" name="Google Shape;6458;p4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459" name="Google Shape;6459;p4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6460" name="Google Shape;6460;p4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6461" name="Google Shape;6461;p4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6462" name="Google Shape;6462;p4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$365</a:t>
            </a:r>
            <a:endParaRPr/>
          </a:p>
        </p:txBody>
      </p:sp>
      <p:sp>
        <p:nvSpPr>
          <p:cNvPr id="6463" name="Google Shape;6463;p4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$42K</a:t>
            </a:r>
            <a:endParaRPr/>
          </a:p>
        </p:txBody>
      </p:sp>
      <p:sp>
        <p:nvSpPr>
          <p:cNvPr id="6464" name="Google Shape;6464;p4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65" name="Google Shape;6465;p4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6466" name="Google Shape;6466;p4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67" name="Google Shape;6467;p4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6468" name="Google Shape;6468;p4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69" name="Google Shape;6469;p4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$85K</a:t>
            </a:r>
            <a:endParaRPr/>
          </a:p>
        </p:txBody>
      </p:sp>
      <p:sp>
        <p:nvSpPr>
          <p:cNvPr id="6470" name="Google Shape;6470;p4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6471" name="Google Shape;6471;p4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2" name="Google Shape;6472;p4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473" name="Google Shape;6473;p4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474" name="Google Shape;6474;p4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$18,151 YTD gross written premium</a:t>
            </a:r>
            <a:endParaRPr/>
          </a:p>
        </p:txBody>
      </p:sp>
      <p:sp>
        <p:nvSpPr>
          <p:cNvPr id="6475" name="Google Shape;6475;p4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476" name="Google Shape;6476;p4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 hit ratio - above average conversion</a:t>
            </a:r>
            <a:endParaRPr/>
          </a:p>
        </p:txBody>
      </p:sp>
      <p:sp>
        <p:nvSpPr>
          <p:cNvPr id="6477" name="Google Shape;6477;p4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8" name="Google Shape;6478;p4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479" name="Google Shape;6479;p4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480" name="Google Shape;6480;p4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6481" name="Google Shape;6481;p4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482" name="Google Shape;6482;p4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6483" name="Google Shape;6483;p4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4" name="Google Shape;6484;p4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485" name="Google Shape;6485;p4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486" name="Google Shape;6486;p4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90" name="Shape 6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1" name="Google Shape;6491;p4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2" name="Google Shape;6492;p4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Sunstar Insurance Group Llc Dba Bulldog Insurance</a:t>
            </a:r>
            <a:endParaRPr/>
          </a:p>
        </p:txBody>
      </p:sp>
      <p:sp>
        <p:nvSpPr>
          <p:cNvPr id="6493" name="Google Shape;6493;p4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Georgia  |  City: Forest Park</a:t>
            </a:r>
            <a:endParaRPr/>
          </a:p>
        </p:txBody>
      </p:sp>
      <p:sp>
        <p:nvSpPr>
          <p:cNvPr id="6494" name="Google Shape;6494;p4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$17,658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495" name="Google Shape;6495;p4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496" name="Google Shape;6496;p4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$20,248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497" name="Google Shape;6497;p4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$-2,590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498" name="Google Shape;6498;p4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$-35,190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499" name="Google Shape;6499;p4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$565,991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500" name="Google Shape;6500;p4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$288,725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501" name="Google Shape;6501;p4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502" name="Google Shape;6502;p4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503" name="Google Shape;6503;p4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504" name="Google Shape;6504;p4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505" name="Google Shape;6505;p4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506" name="Google Shape;6506;p4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$60,084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507" name="Google Shape;6507;p4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8" name="Google Shape;6508;p4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509" name="Google Shape;6509;p4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510" name="Google Shape;6510;p4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511" name="Google Shape;6511;p4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512" name="Google Shape;6512;p4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513" name="Google Shape;6513;p4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514" name="Google Shape;6514;p4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515" name="Google Shape;6515;p4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6" name="Google Shape;6516;p4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517" name="Google Shape;6517;p4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$-6,411</a:t>
            </a:r>
            <a:endParaRPr/>
          </a:p>
        </p:txBody>
      </p:sp>
      <p:sp>
        <p:nvSpPr>
          <p:cNvPr id="6518" name="Google Shape;6518;p4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9" name="Google Shape;6519;p4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0" name="Google Shape;6520;p4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$-6,411</a:t>
            </a:r>
            <a:endParaRPr/>
          </a:p>
        </p:txBody>
      </p:sp>
      <p:sp>
        <p:nvSpPr>
          <p:cNvPr id="6521" name="Google Shape;6521;p4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2" name="Google Shape;6522;p4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3" name="Google Shape;6523;p4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524" name="Google Shape;6524;p4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5" name="Google Shape;6525;p4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6" name="Google Shape;6526;p4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7" name="Google Shape;6527;p4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8" name="Google Shape;6528;p4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$-31,337</a:t>
            </a:r>
            <a:endParaRPr/>
          </a:p>
        </p:txBody>
      </p:sp>
      <p:sp>
        <p:nvSpPr>
          <p:cNvPr id="6529" name="Google Shape;6529;p4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0" name="Google Shape;6530;p4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531" name="Google Shape;6531;p4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$3,853</a:t>
            </a:r>
            <a:endParaRPr/>
          </a:p>
        </p:txBody>
      </p:sp>
      <p:sp>
        <p:nvSpPr>
          <p:cNvPr id="6532" name="Google Shape;6532;p4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33" name="Google Shape;6533;p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34" name="Google Shape;6534;p4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$3,853</a:t>
            </a:r>
            <a:endParaRPr/>
          </a:p>
        </p:txBody>
      </p:sp>
      <p:sp>
        <p:nvSpPr>
          <p:cNvPr id="6535" name="Google Shape;6535;p4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$-3,853</a:t>
            </a:r>
            <a:endParaRPr/>
          </a:p>
        </p:txBody>
      </p:sp>
      <p:sp>
        <p:nvSpPr>
          <p:cNvPr id="6536" name="Google Shape;6536;p4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7" name="Google Shape;6537;p4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538" name="Google Shape;6538;p4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</a:t>
            </a:r>
            <a:endParaRPr/>
          </a:p>
        </p:txBody>
      </p:sp>
      <p:sp>
        <p:nvSpPr>
          <p:cNvPr id="6539" name="Google Shape;6539;p4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40" name="Google Shape;6540;p4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41" name="Google Shape;6541;p4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</a:t>
            </a:r>
            <a:endParaRPr/>
          </a:p>
        </p:txBody>
      </p:sp>
      <p:sp>
        <p:nvSpPr>
          <p:cNvPr id="6542" name="Google Shape;6542;p4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43" name="Google Shape;6543;p4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4" name="Google Shape;6544;p4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545" name="Google Shape;6545;p4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$20,248</a:t>
            </a:r>
            <a:endParaRPr/>
          </a:p>
        </p:txBody>
      </p:sp>
      <p:sp>
        <p:nvSpPr>
          <p:cNvPr id="6546" name="Google Shape;6546;p4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47" name="Google Shape;6547;p4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$20,248</a:t>
            </a:r>
            <a:endParaRPr/>
          </a:p>
        </p:txBody>
      </p:sp>
      <p:sp>
        <p:nvSpPr>
          <p:cNvPr id="6548" name="Google Shape;6548;p4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49" name="Google Shape;6549;p4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50" name="Google Shape;6550;p4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1" name="Google Shape;6551;p4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552" name="Google Shape;6552;p4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$17,658</a:t>
            </a:r>
            <a:endParaRPr/>
          </a:p>
        </p:txBody>
      </p:sp>
      <p:sp>
        <p:nvSpPr>
          <p:cNvPr id="6553" name="Google Shape;6553;p4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54" name="Google Shape;6554;p4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$20,248</a:t>
            </a:r>
            <a:endParaRPr/>
          </a:p>
        </p:txBody>
      </p:sp>
      <p:sp>
        <p:nvSpPr>
          <p:cNvPr id="6555" name="Google Shape;6555;p4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$-2,590</a:t>
            </a:r>
            <a:endParaRPr/>
          </a:p>
        </p:txBody>
      </p:sp>
      <p:sp>
        <p:nvSpPr>
          <p:cNvPr id="6556" name="Google Shape;6556;p4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$-35,190</a:t>
            </a:r>
            <a:endParaRPr/>
          </a:p>
        </p:txBody>
      </p:sp>
      <p:sp>
        <p:nvSpPr>
          <p:cNvPr id="6557" name="Google Shape;6557;p4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8" name="Google Shape;6558;p4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559" name="Google Shape;6559;p4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560" name="Google Shape;6560;p4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561" name="Google Shape;6561;p4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562" name="Google Shape;6562;p4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563" name="Google Shape;6563;p4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564" name="Google Shape;6564;p4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565" name="Google Shape;6565;p4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6" name="Google Shape;6566;p4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567" name="Google Shape;6567;p4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568" name="Google Shape;6568;p4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69" name="Google Shape;6569;p4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570" name="Google Shape;6570;p4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71" name="Google Shape;6571;p4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6572" name="Google Shape;6572;p4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3" name="Google Shape;6573;p4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574" name="Google Shape;6574;p4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575" name="Google Shape;6575;p4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76" name="Google Shape;6576;p4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577" name="Google Shape;6577;p4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78" name="Google Shape;6578;p4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6579" name="Google Shape;6579;p4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0" name="Google Shape;6580;p4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581" name="Google Shape;6581;p4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582" name="Google Shape;6582;p4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83" name="Google Shape;6583;p4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584" name="Google Shape;6584;p4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85" name="Google Shape;6585;p4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86" name="Google Shape;6586;p4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7" name="Google Shape;6587;p4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588" name="Google Shape;6588;p4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589" name="Google Shape;6589;p4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90" name="Google Shape;6590;p4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591" name="Google Shape;6591;p4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92" name="Google Shape;6592;p4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6593" name="Google Shape;6593;p4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4" name="Google Shape;6594;p4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595" name="Google Shape;6595;p4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96" name="Google Shape;6596;p4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97" name="Google Shape;6597;p4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98" name="Google Shape;6598;p4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99" name="Google Shape;6599;p4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600" name="Google Shape;6600;p4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01" name="Google Shape;6601;p4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602" name="Google Shape;6602;p4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6603" name="Google Shape;6603;p4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604" name="Google Shape;6604;p4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605" name="Google Shape;6605;p4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606" name="Google Shape;6606;p4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13.0%</a:t>
            </a:r>
            <a:endParaRPr/>
          </a:p>
        </p:txBody>
      </p:sp>
      <p:sp>
        <p:nvSpPr>
          <p:cNvPr id="6607" name="Google Shape;6607;p4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08" name="Google Shape;6608;p4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609" name="Google Shape;6609;p4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610" name="Google Shape;6610;p4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611" name="Google Shape;6611;p4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612" name="Google Shape;6612;p4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613" name="Google Shape;6613;p4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614" name="Google Shape;6614;p4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615" name="Google Shape;6615;p4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616" name="Google Shape;6616;p4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617" name="Google Shape;6617;p4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618" name="Google Shape;6618;p4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619" name="Google Shape;6619;p4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620" name="Google Shape;6620;p4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621" name="Google Shape;6621;p4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622" name="Google Shape;6622;p4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623" name="Google Shape;6623;p4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6624" name="Google Shape;6624;p4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625" name="Google Shape;6625;p4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6626" name="Google Shape;6626;p4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627" name="Google Shape;6627;p4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6628" name="Google Shape;6628;p4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629" name="Google Shape;6629;p4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6630" name="Google Shape;6630;p4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631" name="Google Shape;6631;p4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6632" name="Google Shape;6632;p4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633" name="Google Shape;6633;p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351</a:t>
            </a:r>
            <a:endParaRPr/>
          </a:p>
        </p:txBody>
      </p:sp>
      <p:sp>
        <p:nvSpPr>
          <p:cNvPr id="6634" name="Google Shape;6634;p4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6635" name="Google Shape;6635;p4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636" name="Google Shape;6636;p4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$85K</a:t>
            </a:r>
            <a:endParaRPr/>
          </a:p>
        </p:txBody>
      </p:sp>
      <p:sp>
        <p:nvSpPr>
          <p:cNvPr id="6637" name="Google Shape;6637;p4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$-6,411</a:t>
            </a:r>
            <a:endParaRPr/>
          </a:p>
        </p:txBody>
      </p:sp>
      <p:sp>
        <p:nvSpPr>
          <p:cNvPr id="6638" name="Google Shape;6638;p4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6639" name="Google Shape;6639;p4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40" name="Google Shape;6640;p4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$69K</a:t>
            </a:r>
            <a:endParaRPr/>
          </a:p>
        </p:txBody>
      </p:sp>
      <p:sp>
        <p:nvSpPr>
          <p:cNvPr id="6641" name="Google Shape;6641;p4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6642" name="Google Shape;6642;p4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$83K</a:t>
            </a:r>
            <a:endParaRPr/>
          </a:p>
        </p:txBody>
      </p:sp>
      <p:sp>
        <p:nvSpPr>
          <p:cNvPr id="6643" name="Google Shape;6643;p4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</a:t>
            </a:r>
            <a:endParaRPr/>
          </a:p>
        </p:txBody>
      </p:sp>
      <p:sp>
        <p:nvSpPr>
          <p:cNvPr id="6644" name="Google Shape;6644;p4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$52K</a:t>
            </a:r>
            <a:endParaRPr/>
          </a:p>
        </p:txBody>
      </p:sp>
      <p:sp>
        <p:nvSpPr>
          <p:cNvPr id="6645" name="Google Shape;6645;p4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6646" name="Google Shape;6646;p4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$295K</a:t>
            </a:r>
            <a:endParaRPr/>
          </a:p>
        </p:txBody>
      </p:sp>
      <p:sp>
        <p:nvSpPr>
          <p:cNvPr id="6647" name="Google Shape;6647;p4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6648" name="Google Shape;6648;p4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9" name="Google Shape;6649;p4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650" name="Google Shape;6650;p4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651" name="Google Shape;6651;p4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$17,658 YTD gross written premium</a:t>
            </a:r>
            <a:endParaRPr/>
          </a:p>
        </p:txBody>
      </p:sp>
      <p:sp>
        <p:nvSpPr>
          <p:cNvPr id="6652" name="Google Shape;6652;p4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653" name="Google Shape;6653;p4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$20,248 in renewals - strong retention</a:t>
            </a:r>
            <a:endParaRPr/>
          </a:p>
        </p:txBody>
      </p:sp>
      <p:sp>
        <p:nvSpPr>
          <p:cNvPr id="6654" name="Google Shape;6654;p4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5" name="Google Shape;6655;p4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656" name="Google Shape;6656;p4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657" name="Google Shape;6657;p4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8 to 2 MoM</a:t>
            </a:r>
            <a:endParaRPr/>
          </a:p>
        </p:txBody>
      </p:sp>
      <p:sp>
        <p:nvSpPr>
          <p:cNvPr id="6658" name="Google Shape;6658;p4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659" name="Google Shape;6659;p4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6660" name="Google Shape;6660;p4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1" name="Google Shape;6661;p4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662" name="Google Shape;6662;p4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663" name="Google Shape;6663;p4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6664" name="Google Shape;6664;p4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665" name="Google Shape;6665;p4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69" name="Shape 6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0" name="Google Shape;6670;p4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1" name="Google Shape;6671;p4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Prominent Services Inc</a:t>
            </a:r>
            <a:endParaRPr/>
          </a:p>
        </p:txBody>
      </p:sp>
      <p:sp>
        <p:nvSpPr>
          <p:cNvPr id="6672" name="Google Shape;6672;p4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Miami</a:t>
            </a:r>
            <a:endParaRPr/>
          </a:p>
        </p:txBody>
      </p:sp>
      <p:sp>
        <p:nvSpPr>
          <p:cNvPr id="6673" name="Google Shape;6673;p4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674" name="Google Shape;6674;p4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675" name="Google Shape;6675;p4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76" name="Google Shape;6676;p4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677" name="Google Shape;6677;p4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$-5,656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678" name="Google Shape;6678;p4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$454,398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679" name="Google Shape;6679;p4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$199,012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680" name="Google Shape;6680;p4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681" name="Google Shape;6681;p4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682" name="Google Shape;6682;p4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683" name="Google Shape;6683;p4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684" name="Google Shape;6684;p4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685" name="Google Shape;6685;p4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$19,474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686" name="Google Shape;6686;p4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7" name="Google Shape;6687;p4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688" name="Google Shape;6688;p4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689" name="Google Shape;6689;p4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690" name="Google Shape;6690;p4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691" name="Google Shape;6691;p4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92" name="Google Shape;6692;p4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693" name="Google Shape;6693;p4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694" name="Google Shape;6694;p4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5" name="Google Shape;6695;p4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696" name="Google Shape;6696;p4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$1,054</a:t>
            </a:r>
            <a:endParaRPr/>
          </a:p>
        </p:txBody>
      </p:sp>
      <p:sp>
        <p:nvSpPr>
          <p:cNvPr id="6697" name="Google Shape;6697;p4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8" name="Google Shape;6698;p4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9" name="Google Shape;6699;p4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$1,054</a:t>
            </a:r>
            <a:endParaRPr/>
          </a:p>
        </p:txBody>
      </p:sp>
      <p:sp>
        <p:nvSpPr>
          <p:cNvPr id="6700" name="Google Shape;6700;p4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1" name="Google Shape;6701;p4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2" name="Google Shape;6702;p4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703" name="Google Shape;6703;p4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$5,656</a:t>
            </a:r>
            <a:endParaRPr/>
          </a:p>
        </p:txBody>
      </p:sp>
      <p:sp>
        <p:nvSpPr>
          <p:cNvPr id="6704" name="Google Shape;6704;p4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5" name="Google Shape;6705;p4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6" name="Google Shape;6706;p4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$5,656</a:t>
            </a:r>
            <a:endParaRPr/>
          </a:p>
        </p:txBody>
      </p:sp>
      <p:sp>
        <p:nvSpPr>
          <p:cNvPr id="6707" name="Google Shape;6707;p4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$-5,656</a:t>
            </a:r>
            <a:endParaRPr/>
          </a:p>
        </p:txBody>
      </p:sp>
      <p:sp>
        <p:nvSpPr>
          <p:cNvPr id="6708" name="Google Shape;6708;p4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9" name="Google Shape;6709;p4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710" name="Google Shape;6710;p4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11" name="Google Shape;6711;p4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12" name="Google Shape;6712;p4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13" name="Google Shape;6713;p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14" name="Google Shape;6714;p4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15" name="Google Shape;6715;p4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6" name="Google Shape;6716;p4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717" name="Google Shape;6717;p4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$2,527</a:t>
            </a:r>
            <a:endParaRPr/>
          </a:p>
        </p:txBody>
      </p:sp>
      <p:sp>
        <p:nvSpPr>
          <p:cNvPr id="6718" name="Google Shape;6718;p4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19" name="Google Shape;6719;p4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0" name="Google Shape;6720;p4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$2,527</a:t>
            </a:r>
            <a:endParaRPr/>
          </a:p>
        </p:txBody>
      </p:sp>
      <p:sp>
        <p:nvSpPr>
          <p:cNvPr id="6721" name="Google Shape;6721;p4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2" name="Google Shape;6722;p4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3" name="Google Shape;6723;p4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724" name="Google Shape;6724;p4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5" name="Google Shape;6725;p4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6" name="Google Shape;6726;p4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7" name="Google Shape;6727;p4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8" name="Google Shape;6728;p4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9" name="Google Shape;6729;p4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0" name="Google Shape;6730;p4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731" name="Google Shape;6731;p4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$9,237</a:t>
            </a:r>
            <a:endParaRPr/>
          </a:p>
        </p:txBody>
      </p:sp>
      <p:sp>
        <p:nvSpPr>
          <p:cNvPr id="6732" name="Google Shape;6732;p4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3" name="Google Shape;6733;p4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4" name="Google Shape;6734;p4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$9,237</a:t>
            </a:r>
            <a:endParaRPr/>
          </a:p>
        </p:txBody>
      </p:sp>
      <p:sp>
        <p:nvSpPr>
          <p:cNvPr id="6735" name="Google Shape;6735;p4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$-5,656</a:t>
            </a:r>
            <a:endParaRPr/>
          </a:p>
        </p:txBody>
      </p:sp>
      <p:sp>
        <p:nvSpPr>
          <p:cNvPr id="6736" name="Google Shape;6736;p4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7" name="Google Shape;6737;p4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738" name="Google Shape;6738;p4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739" name="Google Shape;6739;p4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740" name="Google Shape;6740;p4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741" name="Google Shape;6741;p4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742" name="Google Shape;6742;p4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743" name="Google Shape;6743;p4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44" name="Google Shape;6744;p4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5" name="Google Shape;6745;p4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746" name="Google Shape;6746;p4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747" name="Google Shape;6747;p4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48" name="Google Shape;6748;p4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749" name="Google Shape;6749;p4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50" name="Google Shape;6750;p4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6751" name="Google Shape;6751;p4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2" name="Google Shape;6752;p4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753" name="Google Shape;6753;p4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754" name="Google Shape;6754;p4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55" name="Google Shape;6755;p4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756" name="Google Shape;6756;p4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57" name="Google Shape;6757;p4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6758" name="Google Shape;6758;p4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9" name="Google Shape;6759;p4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760" name="Google Shape;6760;p4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761" name="Google Shape;6761;p4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62" name="Google Shape;6762;p4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763" name="Google Shape;6763;p4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64" name="Google Shape;6764;p4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65" name="Google Shape;6765;p4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6" name="Google Shape;6766;p4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767" name="Google Shape;6767;p4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768" name="Google Shape;6768;p4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769" name="Google Shape;6769;p4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770" name="Google Shape;6770;p4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71" name="Google Shape;6771;p4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6772" name="Google Shape;6772;p4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3" name="Google Shape;6773;p4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774" name="Google Shape;6774;p4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775" name="Google Shape;6775;p4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76" name="Google Shape;6776;p4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777" name="Google Shape;6777;p4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8" name="Google Shape;6778;p4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79" name="Google Shape;6779;p4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0" name="Google Shape;6780;p4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781" name="Google Shape;6781;p4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6782" name="Google Shape;6782;p4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783" name="Google Shape;6783;p4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6784" name="Google Shape;6784;p4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85" name="Google Shape;6785;p4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6786" name="Google Shape;6786;p4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7" name="Google Shape;6787;p4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788" name="Google Shape;6788;p4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789" name="Google Shape;6789;p4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790" name="Google Shape;6790;p4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791" name="Google Shape;6791;p4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792" name="Google Shape;6792;p4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793" name="Google Shape;6793;p4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794" name="Google Shape;6794;p4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795" name="Google Shape;6795;p4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796" name="Google Shape;6796;p4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797" name="Google Shape;6797;p4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798" name="Google Shape;6798;p4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799" name="Google Shape;6799;p4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800" name="Google Shape;6800;p4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801" name="Google Shape;6801;p4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802" name="Google Shape;6802;p4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803" name="Google Shape;6803;p4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804" name="Google Shape;6804;p4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805" name="Google Shape;6805;p4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806" name="Google Shape;6806;p4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807" name="Google Shape;6807;p4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808" name="Google Shape;6808;p4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6809" name="Google Shape;6809;p4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810" name="Google Shape;6810;p4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811" name="Google Shape;6811;p4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812" name="Google Shape;6812;p4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6813" name="Google Shape;6813;p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6814" name="Google Shape;6814;p4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815" name="Google Shape;6815;p4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$91K</a:t>
            </a:r>
            <a:endParaRPr/>
          </a:p>
        </p:txBody>
      </p:sp>
      <p:sp>
        <p:nvSpPr>
          <p:cNvPr id="6816" name="Google Shape;6816;p4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6817" name="Google Shape;6817;p4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6818" name="Google Shape;6818;p4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6819" name="Google Shape;6819;p4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$59K</a:t>
            </a:r>
            <a:endParaRPr/>
          </a:p>
        </p:txBody>
      </p:sp>
      <p:sp>
        <p:nvSpPr>
          <p:cNvPr id="6820" name="Google Shape;6820;p4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21" name="Google Shape;6821;p4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6822" name="Google Shape;6822;p4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6823" name="Google Shape;6823;p4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$69K</a:t>
            </a:r>
            <a:endParaRPr/>
          </a:p>
        </p:txBody>
      </p:sp>
      <p:sp>
        <p:nvSpPr>
          <p:cNvPr id="6824" name="Google Shape;6824;p4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25" name="Google Shape;6825;p4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$265K</a:t>
            </a:r>
            <a:endParaRPr/>
          </a:p>
        </p:txBody>
      </p:sp>
      <p:sp>
        <p:nvSpPr>
          <p:cNvPr id="6826" name="Google Shape;6826;p4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6827" name="Google Shape;6827;p4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8" name="Google Shape;6828;p4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829" name="Google Shape;6829;p4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830" name="Google Shape;6830;p4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$9,237 YTD gross written premium</a:t>
            </a:r>
            <a:endParaRPr/>
          </a:p>
        </p:txBody>
      </p:sp>
      <p:sp>
        <p:nvSpPr>
          <p:cNvPr id="6831" name="Google Shape;6831;p4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832" name="Google Shape;6832;p4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 submissions - highly active agency</a:t>
            </a:r>
            <a:endParaRPr/>
          </a:p>
        </p:txBody>
      </p:sp>
      <p:sp>
        <p:nvSpPr>
          <p:cNvPr id="6833" name="Google Shape;6833;p4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4" name="Google Shape;6834;p4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835" name="Google Shape;6835;p4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836" name="Google Shape;6836;p4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1.8% hit ratio on 55 subs - needs coaching</a:t>
            </a:r>
            <a:endParaRPr/>
          </a:p>
        </p:txBody>
      </p:sp>
      <p:sp>
        <p:nvSpPr>
          <p:cNvPr id="6837" name="Google Shape;6837;p4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838" name="Google Shape;6838;p4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55% month-over-month</a:t>
            </a:r>
            <a:endParaRPr/>
          </a:p>
        </p:txBody>
      </p:sp>
      <p:sp>
        <p:nvSpPr>
          <p:cNvPr id="6839" name="Google Shape;6839;p4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0" name="Google Shape;6840;p4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841" name="Google Shape;6841;p4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842" name="Google Shape;6842;p4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(55 subs, only 1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6843" name="Google Shape;6843;p4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844" name="Google Shape;6844;p4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48" name="Shape 6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9" name="Google Shape;6849;p4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0" name="Google Shape;6850;p4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Durham Specialty Insurance LLC</a:t>
            </a:r>
            <a:endParaRPr/>
          </a:p>
        </p:txBody>
      </p:sp>
      <p:sp>
        <p:nvSpPr>
          <p:cNvPr id="6851" name="Google Shape;6851;p4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South Carolina  |  City: Florence</a:t>
            </a:r>
            <a:endParaRPr/>
          </a:p>
        </p:txBody>
      </p:sp>
      <p:sp>
        <p:nvSpPr>
          <p:cNvPr id="6852" name="Google Shape;6852;p4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853" name="Google Shape;6853;p4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854" name="Google Shape;6854;p4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55" name="Google Shape;6855;p4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856" name="Google Shape;6856;p4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$-15,386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857" name="Google Shape;6857;p4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$293,173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858" name="Google Shape;6858;p4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$112,254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859" name="Google Shape;6859;p4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860" name="Google Shape;6860;p4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861" name="Google Shape;6861;p4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62" name="Google Shape;6862;p4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63" name="Google Shape;6863;p4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864" name="Google Shape;6864;p4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865" name="Google Shape;6865;p4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6" name="Google Shape;6866;p4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867" name="Google Shape;6867;p4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868" name="Google Shape;6868;p4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869" name="Google Shape;6869;p4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870" name="Google Shape;6870;p4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71" name="Google Shape;6871;p4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872" name="Google Shape;6872;p4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873" name="Google Shape;6873;p4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4" name="Google Shape;6874;p4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75" name="Google Shape;6875;p4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6" name="Google Shape;6876;p4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7" name="Google Shape;6877;p4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8" name="Google Shape;6878;p4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9" name="Google Shape;6879;p4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80" name="Google Shape;6880;p4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1" name="Google Shape;6881;p4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82" name="Google Shape;6882;p4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$9,109</a:t>
            </a:r>
            <a:endParaRPr/>
          </a:p>
        </p:txBody>
      </p:sp>
      <p:sp>
        <p:nvSpPr>
          <p:cNvPr id="6883" name="Google Shape;6883;p4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84" name="Google Shape;6884;p4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85" name="Google Shape;6885;p4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$9,109</a:t>
            </a:r>
            <a:endParaRPr/>
          </a:p>
        </p:txBody>
      </p:sp>
      <p:sp>
        <p:nvSpPr>
          <p:cNvPr id="6886" name="Google Shape;6886;p4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$-9,109</a:t>
            </a:r>
            <a:endParaRPr/>
          </a:p>
        </p:txBody>
      </p:sp>
      <p:sp>
        <p:nvSpPr>
          <p:cNvPr id="6887" name="Google Shape;6887;p4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8" name="Google Shape;6888;p4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889" name="Google Shape;6889;p4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0" name="Google Shape;6890;p4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1" name="Google Shape;6891;p4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2" name="Google Shape;6892;p4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3" name="Google Shape;6893;p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4" name="Google Shape;6894;p4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5" name="Google Shape;6895;p4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896" name="Google Shape;6896;p4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7" name="Google Shape;6897;p4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8" name="Google Shape;6898;p4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9" name="Google Shape;6899;p4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0" name="Google Shape;6900;p4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$-6,277</a:t>
            </a:r>
            <a:endParaRPr/>
          </a:p>
        </p:txBody>
      </p:sp>
      <p:sp>
        <p:nvSpPr>
          <p:cNvPr id="6901" name="Google Shape;6901;p4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2" name="Google Shape;6902;p4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903" name="Google Shape;6903;p4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4" name="Google Shape;6904;p4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5" name="Google Shape;6905;p4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6" name="Google Shape;6906;p4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7" name="Google Shape;6907;p4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8" name="Google Shape;6908;p4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9" name="Google Shape;6909;p4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910" name="Google Shape;6910;p4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$9,109</a:t>
            </a:r>
            <a:endParaRPr/>
          </a:p>
        </p:txBody>
      </p:sp>
      <p:sp>
        <p:nvSpPr>
          <p:cNvPr id="6911" name="Google Shape;6911;p4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2" name="Google Shape;6912;p4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3" name="Google Shape;6913;p4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$9,109</a:t>
            </a:r>
            <a:endParaRPr/>
          </a:p>
        </p:txBody>
      </p:sp>
      <p:sp>
        <p:nvSpPr>
          <p:cNvPr id="6914" name="Google Shape;6914;p4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$-15,386</a:t>
            </a:r>
            <a:endParaRPr/>
          </a:p>
        </p:txBody>
      </p:sp>
      <p:sp>
        <p:nvSpPr>
          <p:cNvPr id="6915" name="Google Shape;6915;p4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6" name="Google Shape;6916;p4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917" name="Google Shape;6917;p4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918" name="Google Shape;6918;p4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919" name="Google Shape;6919;p4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920" name="Google Shape;6920;p4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921" name="Google Shape;6921;p4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922" name="Google Shape;6922;p4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923" name="Google Shape;6923;p4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4" name="Google Shape;6924;p4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925" name="Google Shape;6925;p4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26" name="Google Shape;6926;p4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27" name="Google Shape;6927;p4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28" name="Google Shape;6928;p4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29" name="Google Shape;6929;p4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30" name="Google Shape;6930;p4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1" name="Google Shape;6931;p4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932" name="Google Shape;6932;p4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33" name="Google Shape;6933;p4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34" name="Google Shape;6934;p4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35" name="Google Shape;6935;p4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36" name="Google Shape;6936;p4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6937" name="Google Shape;6937;p4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8" name="Google Shape;6938;p4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39" name="Google Shape;6939;p4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40" name="Google Shape;6940;p4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41" name="Google Shape;6941;p4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42" name="Google Shape;6942;p4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43" name="Google Shape;6943;p4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44" name="Google Shape;6944;p4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5" name="Google Shape;6945;p4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946" name="Google Shape;6946;p4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47" name="Google Shape;6947;p4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48" name="Google Shape;6948;p4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49" name="Google Shape;6949;p4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0" name="Google Shape;6950;p4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51" name="Google Shape;6951;p4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2" name="Google Shape;6952;p4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953" name="Google Shape;6953;p4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954" name="Google Shape;6954;p4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5" name="Google Shape;6955;p4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956" name="Google Shape;6956;p4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7" name="Google Shape;6957;p4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58" name="Google Shape;6958;p4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9" name="Google Shape;6959;p4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960" name="Google Shape;6960;p4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961" name="Google Shape;6961;p4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62" name="Google Shape;6962;p4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963" name="Google Shape;6963;p4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64" name="Google Shape;6964;p4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65" name="Google Shape;6965;p4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6" name="Google Shape;6966;p4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967" name="Google Shape;6967;p4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968" name="Google Shape;6968;p4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969" name="Google Shape;6969;p4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970" name="Google Shape;6970;p4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971" name="Google Shape;6971;p4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972" name="Google Shape;6972;p4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973" name="Google Shape;6973;p4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974" name="Google Shape;6974;p4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975" name="Google Shape;6975;p4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976" name="Google Shape;6976;p4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977" name="Google Shape;6977;p4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978" name="Google Shape;6978;p4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979" name="Google Shape;6979;p4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980" name="Google Shape;6980;p4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981" name="Google Shape;6981;p4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6982" name="Google Shape;6982;p4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83" name="Google Shape;6983;p4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6984" name="Google Shape;6984;p4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85" name="Google Shape;6985;p4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6986" name="Google Shape;6986;p4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87" name="Google Shape;6987;p4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6988" name="Google Shape;6988;p4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89" name="Google Shape;6989;p4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6990" name="Google Shape;6990;p4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991" name="Google Shape;6991;p4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187</a:t>
            </a:r>
            <a:endParaRPr/>
          </a:p>
        </p:txBody>
      </p:sp>
      <p:sp>
        <p:nvSpPr>
          <p:cNvPr id="6992" name="Google Shape;6992;p4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993" name="Google Shape;6993;p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994" name="Google Shape;6994;p4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6995" name="Google Shape;6995;p4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96" name="Google Shape;6996;p4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6997" name="Google Shape;6997;p4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6998" name="Google Shape;6998;p4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6999" name="Google Shape;6999;p4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00" name="Google Shape;7000;p4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7001" name="Google Shape;7001;p4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02" name="Google Shape;7002;p4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$107K</a:t>
            </a:r>
            <a:endParaRPr/>
          </a:p>
        </p:txBody>
      </p:sp>
      <p:sp>
        <p:nvSpPr>
          <p:cNvPr id="7003" name="Google Shape;7003;p4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04" name="Google Shape;7004;p4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$190K</a:t>
            </a:r>
            <a:endParaRPr/>
          </a:p>
        </p:txBody>
      </p:sp>
      <p:sp>
        <p:nvSpPr>
          <p:cNvPr id="7005" name="Google Shape;7005;p4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7006" name="Google Shape;7006;p4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7" name="Google Shape;7007;p4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008" name="Google Shape;7008;p4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009" name="Google Shape;7009;p4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$9,109 YTD gross written premium</a:t>
            </a:r>
            <a:endParaRPr/>
          </a:p>
        </p:txBody>
      </p:sp>
      <p:sp>
        <p:nvSpPr>
          <p:cNvPr id="7010" name="Google Shape;7010;p4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011" name="Google Shape;7011;p4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 quotes generated - active in pipeline</a:t>
            </a:r>
            <a:endParaRPr/>
          </a:p>
        </p:txBody>
      </p:sp>
      <p:sp>
        <p:nvSpPr>
          <p:cNvPr id="7012" name="Google Shape;7012;p4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3" name="Google Shape;7013;p4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014" name="Google Shape;7014;p4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015" name="Google Shape;7015;p4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submissions with zero binds - zero conversion</a:t>
            </a:r>
            <a:endParaRPr/>
          </a:p>
        </p:txBody>
      </p:sp>
      <p:sp>
        <p:nvSpPr>
          <p:cNvPr id="7016" name="Google Shape;7016;p4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017" name="Google Shape;7017;p4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7018" name="Google Shape;7018;p4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9" name="Google Shape;7019;p4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020" name="Google Shape;7020;p4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021" name="Google Shape;7021;p4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12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7022" name="Google Shape;7022;p4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023" name="Google Shape;7023;p4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8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027" name="Shape 7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8" name="Google Shape;7028;p4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9" name="Google Shape;7029;p4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Interglobal Insurance Company</a:t>
            </a:r>
            <a:endParaRPr/>
          </a:p>
        </p:txBody>
      </p:sp>
      <p:sp>
        <p:nvSpPr>
          <p:cNvPr id="7030" name="Google Shape;7030;p4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Homestead</a:t>
            </a:r>
            <a:endParaRPr/>
          </a:p>
        </p:txBody>
      </p:sp>
      <p:sp>
        <p:nvSpPr>
          <p:cNvPr id="7031" name="Google Shape;7031;p4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032" name="Google Shape;7032;p4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033" name="Google Shape;7033;p4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034" name="Google Shape;7034;p4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035" name="Google Shape;7035;p4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036" name="Google Shape;7036;p4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$373,424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037" name="Google Shape;7037;p4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$190,195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038" name="Google Shape;7038;p4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039" name="Google Shape;7039;p4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040" name="Google Shape;7040;p4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041" name="Google Shape;7041;p4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042" name="Google Shape;7042;p4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043" name="Google Shape;7043;p4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044" name="Google Shape;7044;p4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5" name="Google Shape;7045;p4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046" name="Google Shape;7046;p4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047" name="Google Shape;7047;p4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048" name="Google Shape;7048;p4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049" name="Google Shape;7049;p4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050" name="Google Shape;7050;p4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051" name="Google Shape;7051;p4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052" name="Google Shape;7052;p4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3" name="Google Shape;7053;p4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054" name="Google Shape;7054;p4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$915</a:t>
            </a:r>
            <a:endParaRPr/>
          </a:p>
        </p:txBody>
      </p:sp>
      <p:sp>
        <p:nvSpPr>
          <p:cNvPr id="7055" name="Google Shape;7055;p4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6" name="Google Shape;7056;p4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7" name="Google Shape;7057;p4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$915</a:t>
            </a:r>
            <a:endParaRPr/>
          </a:p>
        </p:txBody>
      </p:sp>
      <p:sp>
        <p:nvSpPr>
          <p:cNvPr id="7058" name="Google Shape;7058;p4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9" name="Google Shape;7059;p4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0" name="Google Shape;7060;p4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061" name="Google Shape;7061;p4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62" name="Google Shape;7062;p4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63" name="Google Shape;7063;p4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64" name="Google Shape;7064;p4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65" name="Google Shape;7065;p4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66" name="Google Shape;7066;p4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7" name="Google Shape;7067;p4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68" name="Google Shape;7068;p4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69" name="Google Shape;7069;p4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0" name="Google Shape;7070;p4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1" name="Google Shape;7071;p4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2" name="Google Shape;7072;p4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3" name="Google Shape;7073;p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4" name="Google Shape;7074;p4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75" name="Google Shape;7075;p4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6" name="Google Shape;7076;p4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7" name="Google Shape;7077;p4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8" name="Google Shape;7078;p4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9" name="Google Shape;7079;p4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0" name="Google Shape;7080;p4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1" name="Google Shape;7081;p4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082" name="Google Shape;7082;p4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3" name="Google Shape;7083;p4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4" name="Google Shape;7084;p4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5" name="Google Shape;7085;p4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6" name="Google Shape;7086;p4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7" name="Google Shape;7087;p4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8" name="Google Shape;7088;p4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089" name="Google Shape;7089;p4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$915</a:t>
            </a:r>
            <a:endParaRPr/>
          </a:p>
        </p:txBody>
      </p:sp>
      <p:sp>
        <p:nvSpPr>
          <p:cNvPr id="7090" name="Google Shape;7090;p4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1" name="Google Shape;7091;p4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2" name="Google Shape;7092;p4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$915</a:t>
            </a:r>
            <a:endParaRPr/>
          </a:p>
        </p:txBody>
      </p:sp>
      <p:sp>
        <p:nvSpPr>
          <p:cNvPr id="7093" name="Google Shape;7093;p4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4" name="Google Shape;7094;p4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5" name="Google Shape;7095;p4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096" name="Google Shape;7096;p4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097" name="Google Shape;7097;p4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098" name="Google Shape;7098;p4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099" name="Google Shape;7099;p4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100" name="Google Shape;7100;p4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101" name="Google Shape;7101;p4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102" name="Google Shape;7102;p4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3" name="Google Shape;7103;p4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104" name="Google Shape;7104;p4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7105" name="Google Shape;7105;p4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06" name="Google Shape;7106;p4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107" name="Google Shape;7107;p4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08" name="Google Shape;7108;p4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7109" name="Google Shape;7109;p4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0" name="Google Shape;7110;p4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111" name="Google Shape;7111;p4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7112" name="Google Shape;7112;p4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13" name="Google Shape;7113;p4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7114" name="Google Shape;7114;p4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15" name="Google Shape;7115;p4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16" name="Google Shape;7116;p4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7" name="Google Shape;7117;p4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118" name="Google Shape;7118;p4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7119" name="Google Shape;7119;p4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20" name="Google Shape;7120;p4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7121" name="Google Shape;7121;p4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22" name="Google Shape;7122;p4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23" name="Google Shape;7123;p4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4" name="Google Shape;7124;p4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125" name="Google Shape;7125;p4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7126" name="Google Shape;7126;p4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27" name="Google Shape;7127;p4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7128" name="Google Shape;7128;p4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29" name="Google Shape;7129;p4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30" name="Google Shape;7130;p4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1" name="Google Shape;7131;p4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132" name="Google Shape;7132;p4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7133" name="Google Shape;7133;p4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34" name="Google Shape;7134;p4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7135" name="Google Shape;7135;p4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36" name="Google Shape;7136;p4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37" name="Google Shape;7137;p4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8" name="Google Shape;7138;p4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139" name="Google Shape;7139;p4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174</a:t>
            </a:r>
            <a:endParaRPr/>
          </a:p>
        </p:txBody>
      </p:sp>
      <p:sp>
        <p:nvSpPr>
          <p:cNvPr id="7140" name="Google Shape;7140;p4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141" name="Google Shape;7141;p4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170</a:t>
            </a:r>
            <a:endParaRPr/>
          </a:p>
        </p:txBody>
      </p:sp>
      <p:sp>
        <p:nvSpPr>
          <p:cNvPr id="7142" name="Google Shape;7142;p4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43" name="Google Shape;7143;p4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7144" name="Google Shape;7144;p4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5" name="Google Shape;7145;p4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146" name="Google Shape;7146;p4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147" name="Google Shape;7147;p4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148" name="Google Shape;7148;p4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149" name="Google Shape;7149;p4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150" name="Google Shape;7150;p4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151" name="Google Shape;7151;p4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152" name="Google Shape;7152;p4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153" name="Google Shape;7153;p4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154" name="Google Shape;7154;p4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155" name="Google Shape;7155;p4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156" name="Google Shape;7156;p4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157" name="Google Shape;7157;p4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158" name="Google Shape;7158;p4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159" name="Google Shape;7159;p4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160" name="Google Shape;7160;p4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7161" name="Google Shape;7161;p4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7162" name="Google Shape;7162;p4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7163" name="Google Shape;7163;p4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7164" name="Google Shape;7164;p4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7165" name="Google Shape;7165;p4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7166" name="Google Shape;7166;p4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7167" name="Google Shape;7167;p4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7168" name="Google Shape;7168;p4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7169" name="Google Shape;7169;p4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7170" name="Google Shape;7170;p4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227</a:t>
            </a:r>
            <a:endParaRPr/>
          </a:p>
        </p:txBody>
      </p:sp>
      <p:sp>
        <p:nvSpPr>
          <p:cNvPr id="7171" name="Google Shape;7171;p4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175</a:t>
            </a:r>
            <a:endParaRPr/>
          </a:p>
        </p:txBody>
      </p:sp>
      <p:sp>
        <p:nvSpPr>
          <p:cNvPr id="7172" name="Google Shape;7172;p4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173" name="Google Shape;7173;p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7174" name="Google Shape;7174;p4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$915</a:t>
            </a:r>
            <a:endParaRPr/>
          </a:p>
        </p:txBody>
      </p:sp>
      <p:sp>
        <p:nvSpPr>
          <p:cNvPr id="7175" name="Google Shape;7175;p4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7176" name="Google Shape;7176;p4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77" name="Google Shape;7177;p4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$73K</a:t>
            </a:r>
            <a:endParaRPr/>
          </a:p>
        </p:txBody>
      </p:sp>
      <p:sp>
        <p:nvSpPr>
          <p:cNvPr id="7178" name="Google Shape;7178;p4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79" name="Google Shape;7179;p4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7180" name="Google Shape;7180;p4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81" name="Google Shape;7181;p4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7182" name="Google Shape;7182;p4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83" name="Google Shape;7183;p4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$184K</a:t>
            </a:r>
            <a:endParaRPr/>
          </a:p>
        </p:txBody>
      </p:sp>
      <p:sp>
        <p:nvSpPr>
          <p:cNvPr id="7184" name="Google Shape;7184;p4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$915</a:t>
            </a:r>
            <a:endParaRPr/>
          </a:p>
        </p:txBody>
      </p:sp>
      <p:sp>
        <p:nvSpPr>
          <p:cNvPr id="7185" name="Google Shape;7185;p4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6" name="Google Shape;7186;p4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187" name="Google Shape;7187;p4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188" name="Google Shape;7188;p4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$915 YTD gross written premium</a:t>
            </a:r>
            <a:endParaRPr/>
          </a:p>
        </p:txBody>
      </p:sp>
      <p:sp>
        <p:nvSpPr>
          <p:cNvPr id="7189" name="Google Shape;7189;p4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190" name="Google Shape;7190;p4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174 submissions - highly active agency</a:t>
            </a:r>
            <a:endParaRPr/>
          </a:p>
        </p:txBody>
      </p:sp>
      <p:sp>
        <p:nvSpPr>
          <p:cNvPr id="7191" name="Google Shape;7191;p4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2" name="Google Shape;7192;p4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193" name="Google Shape;7193;p4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194" name="Google Shape;7194;p4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0.6% hit ratio on 174 subs - needs coaching</a:t>
            </a:r>
            <a:endParaRPr/>
          </a:p>
        </p:txBody>
      </p:sp>
      <p:sp>
        <p:nvSpPr>
          <p:cNvPr id="7195" name="Google Shape;7195;p4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196" name="Google Shape;7196;p4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7197" name="Google Shape;7197;p4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8" name="Google Shape;7198;p4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199" name="Google Shape;7199;p4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200" name="Google Shape;7200;p4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(174 subs, only 1 binds). Ask: "What are the top 2 reasons your clients go elsewhere?" Use answers to tailor appetite and pricing discussions.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204" name="Shape 7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5" name="Google Shape;7205;p4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6" name="Google Shape;7206;p4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Assurance Group Of America, Inc.</a:t>
            </a:r>
            <a:endParaRPr/>
          </a:p>
        </p:txBody>
      </p:sp>
      <p:sp>
        <p:nvSpPr>
          <p:cNvPr id="7207" name="Google Shape;7207;p4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Port St Lucie</a:t>
            </a:r>
            <a:endParaRPr/>
          </a:p>
        </p:txBody>
      </p:sp>
      <p:sp>
        <p:nvSpPr>
          <p:cNvPr id="7208" name="Google Shape;7208;p4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$-4,582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209" name="Google Shape;7209;p4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210" name="Google Shape;7210;p4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211" name="Google Shape;7211;p4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$-4,582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212" name="Google Shape;7212;p4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$-5,583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213" name="Google Shape;7213;p4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$204,734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214" name="Google Shape;7214;p4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$136,413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215" name="Google Shape;7215;p4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216" name="Google Shape;7216;p4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217" name="Google Shape;7217;p4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218" name="Google Shape;7218;p4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219" name="Google Shape;7219;p4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220" name="Google Shape;7220;p4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$75,192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221" name="Google Shape;7221;p4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2" name="Google Shape;7222;p4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223" name="Google Shape;7223;p4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224" name="Google Shape;7224;p4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225" name="Google Shape;7225;p4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226" name="Google Shape;7226;p4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227" name="Google Shape;7227;p4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228" name="Google Shape;7228;p4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229" name="Google Shape;7229;p4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0" name="Google Shape;7230;p4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231" name="Google Shape;7231;p4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$-10,959</a:t>
            </a:r>
            <a:endParaRPr/>
          </a:p>
        </p:txBody>
      </p:sp>
      <p:sp>
        <p:nvSpPr>
          <p:cNvPr id="7232" name="Google Shape;7232;p4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33" name="Google Shape;7233;p4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34" name="Google Shape;7234;p4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$-10,959</a:t>
            </a:r>
            <a:endParaRPr/>
          </a:p>
        </p:txBody>
      </p:sp>
      <p:sp>
        <p:nvSpPr>
          <p:cNvPr id="7235" name="Google Shape;7235;p4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36" name="Google Shape;7236;p4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7" name="Google Shape;7237;p4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238" name="Google Shape;7238;p4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$3,168</a:t>
            </a:r>
            <a:endParaRPr/>
          </a:p>
        </p:txBody>
      </p:sp>
      <p:sp>
        <p:nvSpPr>
          <p:cNvPr id="7239" name="Google Shape;7239;p4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40" name="Google Shape;7240;p4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41" name="Google Shape;7241;p4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$3,168</a:t>
            </a:r>
            <a:endParaRPr/>
          </a:p>
        </p:txBody>
      </p:sp>
      <p:sp>
        <p:nvSpPr>
          <p:cNvPr id="7242" name="Google Shape;7242;p4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43" name="Google Shape;7243;p4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4" name="Google Shape;7244;p4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245" name="Google Shape;7245;p4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$3,209</a:t>
            </a:r>
            <a:endParaRPr/>
          </a:p>
        </p:txBody>
      </p:sp>
      <p:sp>
        <p:nvSpPr>
          <p:cNvPr id="7246" name="Google Shape;7246;p4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47" name="Google Shape;7247;p4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48" name="Google Shape;7248;p4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$3,209</a:t>
            </a:r>
            <a:endParaRPr/>
          </a:p>
        </p:txBody>
      </p:sp>
      <p:sp>
        <p:nvSpPr>
          <p:cNvPr id="7249" name="Google Shape;7249;p4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50" name="Google Shape;7250;p4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1" name="Google Shape;7251;p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252" name="Google Shape;7252;p4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53" name="Google Shape;7253;p4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54" name="Google Shape;7254;p4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55" name="Google Shape;7255;p4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56" name="Google Shape;7256;p4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$-5,583</a:t>
            </a:r>
            <a:endParaRPr/>
          </a:p>
        </p:txBody>
      </p:sp>
      <p:sp>
        <p:nvSpPr>
          <p:cNvPr id="7257" name="Google Shape;7257;p4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8" name="Google Shape;7258;p4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259" name="Google Shape;7259;p4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0" name="Google Shape;7260;p4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1" name="Google Shape;7261;p4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2" name="Google Shape;7262;p4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3" name="Google Shape;7263;p4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4" name="Google Shape;7264;p4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5" name="Google Shape;7265;p4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266" name="Google Shape;7266;p4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$-4,582</a:t>
            </a:r>
            <a:endParaRPr/>
          </a:p>
        </p:txBody>
      </p:sp>
      <p:sp>
        <p:nvSpPr>
          <p:cNvPr id="7267" name="Google Shape;7267;p4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8" name="Google Shape;7268;p4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69" name="Google Shape;7269;p4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$-4,582</a:t>
            </a:r>
            <a:endParaRPr/>
          </a:p>
        </p:txBody>
      </p:sp>
      <p:sp>
        <p:nvSpPr>
          <p:cNvPr id="7270" name="Google Shape;7270;p4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$-5,583</a:t>
            </a:r>
            <a:endParaRPr/>
          </a:p>
        </p:txBody>
      </p:sp>
      <p:sp>
        <p:nvSpPr>
          <p:cNvPr id="7271" name="Google Shape;7271;p4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2" name="Google Shape;7272;p4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273" name="Google Shape;7273;p4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274" name="Google Shape;7274;p4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275" name="Google Shape;7275;p4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276" name="Google Shape;7276;p4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277" name="Google Shape;7277;p4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278" name="Google Shape;7278;p4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279" name="Google Shape;7279;p4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0" name="Google Shape;7280;p4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281" name="Google Shape;7281;p4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282" name="Google Shape;7282;p4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83" name="Google Shape;7283;p4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284" name="Google Shape;7284;p4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85" name="Google Shape;7285;p4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7286" name="Google Shape;7286;p4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7" name="Google Shape;7287;p4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288" name="Google Shape;7288;p4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289" name="Google Shape;7289;p4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90" name="Google Shape;7290;p4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291" name="Google Shape;7291;p4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292" name="Google Shape;7292;p4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17.6%</a:t>
            </a:r>
            <a:endParaRPr/>
          </a:p>
        </p:txBody>
      </p:sp>
      <p:sp>
        <p:nvSpPr>
          <p:cNvPr id="7293" name="Google Shape;7293;p4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4" name="Google Shape;7294;p4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295" name="Google Shape;7295;p4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296" name="Google Shape;7296;p4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97" name="Google Shape;7297;p4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298" name="Google Shape;7298;p4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299" name="Google Shape;7299;p4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7300" name="Google Shape;7300;p4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1" name="Google Shape;7301;p4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302" name="Google Shape;7302;p4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303" name="Google Shape;7303;p4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04" name="Google Shape;7304;p4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305" name="Google Shape;7305;p4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06" name="Google Shape;7306;p4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307" name="Google Shape;7307;p4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8" name="Google Shape;7308;p4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309" name="Google Shape;7309;p4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310" name="Google Shape;7310;p4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11" name="Google Shape;7311;p4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312" name="Google Shape;7312;p4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13" name="Google Shape;7313;p4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314" name="Google Shape;7314;p4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5" name="Google Shape;7315;p4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316" name="Google Shape;7316;p4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7317" name="Google Shape;7317;p4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18" name="Google Shape;7318;p4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7319" name="Google Shape;7319;p4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20" name="Google Shape;7320;p4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4.1%</a:t>
            </a:r>
            <a:endParaRPr/>
          </a:p>
        </p:txBody>
      </p:sp>
      <p:sp>
        <p:nvSpPr>
          <p:cNvPr id="7321" name="Google Shape;7321;p4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2" name="Google Shape;7322;p4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323" name="Google Shape;7323;p4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324" name="Google Shape;7324;p4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325" name="Google Shape;7325;p4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326" name="Google Shape;7326;p4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327" name="Google Shape;7327;p4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328" name="Google Shape;7328;p4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329" name="Google Shape;7329;p4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330" name="Google Shape;7330;p4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331" name="Google Shape;7331;p4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332" name="Google Shape;7332;p4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333" name="Google Shape;7333;p4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334" name="Google Shape;7334;p4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335" name="Google Shape;7335;p4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336" name="Google Shape;7336;p4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337" name="Google Shape;7337;p4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7338" name="Google Shape;7338;p4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339" name="Google Shape;7339;p4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340" name="Google Shape;7340;p4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341" name="Google Shape;7341;p4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342" name="Google Shape;7342;p4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343" name="Google Shape;7343;p4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344" name="Google Shape;7344;p4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345" name="Google Shape;7345;p4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346" name="Google Shape;7346;p4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347" name="Google Shape;7347;p4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7348" name="Google Shape;7348;p4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7349" name="Google Shape;7349;p4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350" name="Google Shape;7350;p4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$163</a:t>
            </a:r>
            <a:endParaRPr/>
          </a:p>
        </p:txBody>
      </p:sp>
      <p:sp>
        <p:nvSpPr>
          <p:cNvPr id="7351" name="Google Shape;7351;p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$-10,959</a:t>
            </a:r>
            <a:endParaRPr/>
          </a:p>
        </p:txBody>
      </p:sp>
      <p:sp>
        <p:nvSpPr>
          <p:cNvPr id="7352" name="Google Shape;7352;p4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53" name="Google Shape;7353;p4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7354" name="Google Shape;7354;p4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55" name="Google Shape;7355;p4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7356" name="Google Shape;7356;p4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7357" name="Google Shape;7357;p4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58" name="Google Shape;7358;p4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$45K</a:t>
            </a:r>
            <a:endParaRPr/>
          </a:p>
        </p:txBody>
      </p:sp>
      <p:sp>
        <p:nvSpPr>
          <p:cNvPr id="7359" name="Google Shape;7359;p4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60" name="Google Shape;7360;p4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$64K</a:t>
            </a:r>
            <a:endParaRPr/>
          </a:p>
        </p:txBody>
      </p:sp>
      <p:sp>
        <p:nvSpPr>
          <p:cNvPr id="7361" name="Google Shape;7361;p4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$-4,582</a:t>
            </a:r>
            <a:endParaRPr/>
          </a:p>
        </p:txBody>
      </p:sp>
      <p:sp>
        <p:nvSpPr>
          <p:cNvPr id="7362" name="Google Shape;7362;p4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3" name="Google Shape;7363;p4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364" name="Google Shape;7364;p4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365" name="Google Shape;7365;p4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 submissions - highly active agency</a:t>
            </a:r>
            <a:endParaRPr/>
          </a:p>
        </p:txBody>
      </p:sp>
      <p:sp>
        <p:nvSpPr>
          <p:cNvPr id="7366" name="Google Shape;7366;p4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367" name="Google Shape;7367;p4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bind(s) - converting submissions to business</a:t>
            </a:r>
            <a:endParaRPr/>
          </a:p>
        </p:txBody>
      </p:sp>
      <p:sp>
        <p:nvSpPr>
          <p:cNvPr id="7368" name="Google Shape;7368;p4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9" name="Google Shape;7369;p4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370" name="Google Shape;7370;p4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371" name="Google Shape;7371;p4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Negative written premium ($-4,582) - cancellations exceed production</a:t>
            </a:r>
            <a:endParaRPr/>
          </a:p>
        </p:txBody>
      </p:sp>
      <p:sp>
        <p:nvSpPr>
          <p:cNvPr id="7372" name="Google Shape;7372;p4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373" name="Google Shape;7373;p4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7374" name="Google Shape;7374;p4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5" name="Google Shape;7375;p4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376" name="Google Shape;7376;p4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377" name="Google Shape;7377;p4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81" name="Shape 7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2" name="Google Shape;7382;p4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3" name="Google Shape;7383;p4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Risk Management Group, Inc</a:t>
            </a:r>
            <a:endParaRPr/>
          </a:p>
        </p:txBody>
      </p:sp>
      <p:sp>
        <p:nvSpPr>
          <p:cNvPr id="7384" name="Google Shape;7384;p4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Miami</a:t>
            </a:r>
            <a:endParaRPr/>
          </a:p>
        </p:txBody>
      </p:sp>
      <p:sp>
        <p:nvSpPr>
          <p:cNvPr id="7385" name="Google Shape;7385;p4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$-6,605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386" name="Google Shape;7386;p4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387" name="Google Shape;7387;p4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388" name="Google Shape;7388;p4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$-6,605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389" name="Google Shape;7389;p4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390" name="Google Shape;7390;p4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$310,940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391" name="Google Shape;7391;p4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$229,392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392" name="Google Shape;7392;p4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393" name="Google Shape;7393;p4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394" name="Google Shape;7394;p4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395" name="Google Shape;7395;p4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396" name="Google Shape;7396;p4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397" name="Google Shape;7397;p4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398" name="Google Shape;7398;p4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9" name="Google Shape;7399;p4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400" name="Google Shape;7400;p4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401" name="Google Shape;7401;p4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402" name="Google Shape;7402;p4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403" name="Google Shape;7403;p4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404" name="Google Shape;7404;p4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405" name="Google Shape;7405;p4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406" name="Google Shape;7406;p4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7" name="Google Shape;7407;p4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408" name="Google Shape;7408;p4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9" name="Google Shape;7409;p4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10" name="Google Shape;7410;p4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11" name="Google Shape;7411;p4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12" name="Google Shape;7412;p4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13" name="Google Shape;7413;p4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4" name="Google Shape;7414;p4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415" name="Google Shape;7415;p4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$13,671</a:t>
            </a:r>
            <a:endParaRPr/>
          </a:p>
        </p:txBody>
      </p:sp>
      <p:sp>
        <p:nvSpPr>
          <p:cNvPr id="7416" name="Google Shape;7416;p4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17" name="Google Shape;7417;p4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18" name="Google Shape;7418;p4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$13,671</a:t>
            </a:r>
            <a:endParaRPr/>
          </a:p>
        </p:txBody>
      </p:sp>
      <p:sp>
        <p:nvSpPr>
          <p:cNvPr id="7419" name="Google Shape;7419;p4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0" name="Google Shape;7420;p4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1" name="Google Shape;7421;p4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422" name="Google Shape;7422;p4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$-3,513</a:t>
            </a:r>
            <a:endParaRPr/>
          </a:p>
        </p:txBody>
      </p:sp>
      <p:sp>
        <p:nvSpPr>
          <p:cNvPr id="7423" name="Google Shape;7423;p4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4" name="Google Shape;7424;p4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5" name="Google Shape;7425;p4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$-3,513</a:t>
            </a:r>
            <a:endParaRPr/>
          </a:p>
        </p:txBody>
      </p:sp>
      <p:sp>
        <p:nvSpPr>
          <p:cNvPr id="7426" name="Google Shape;7426;p4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7" name="Google Shape;7427;p4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8" name="Google Shape;7428;p4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429" name="Google Shape;7429;p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$-16,764</a:t>
            </a:r>
            <a:endParaRPr/>
          </a:p>
        </p:txBody>
      </p:sp>
      <p:sp>
        <p:nvSpPr>
          <p:cNvPr id="7430" name="Google Shape;7430;p4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1" name="Google Shape;7431;p4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2" name="Google Shape;7432;p4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$-16,764</a:t>
            </a:r>
            <a:endParaRPr/>
          </a:p>
        </p:txBody>
      </p:sp>
      <p:sp>
        <p:nvSpPr>
          <p:cNvPr id="7433" name="Google Shape;7433;p4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4" name="Google Shape;7434;p4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5" name="Google Shape;7435;p4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436" name="Google Shape;7436;p4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7" name="Google Shape;7437;p4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8" name="Google Shape;7438;p4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9" name="Google Shape;7439;p4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0" name="Google Shape;7440;p4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1" name="Google Shape;7441;p4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2" name="Google Shape;7442;p4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443" name="Google Shape;7443;p4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$-6,605</a:t>
            </a:r>
            <a:endParaRPr/>
          </a:p>
        </p:txBody>
      </p:sp>
      <p:sp>
        <p:nvSpPr>
          <p:cNvPr id="7444" name="Google Shape;7444;p4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5" name="Google Shape;7445;p4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6" name="Google Shape;7446;p4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$-6,605</a:t>
            </a:r>
            <a:endParaRPr/>
          </a:p>
        </p:txBody>
      </p:sp>
      <p:sp>
        <p:nvSpPr>
          <p:cNvPr id="7447" name="Google Shape;7447;p4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48" name="Google Shape;7448;p4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9" name="Google Shape;7449;p4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450" name="Google Shape;7450;p4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451" name="Google Shape;7451;p4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452" name="Google Shape;7452;p4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453" name="Google Shape;7453;p4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454" name="Google Shape;7454;p4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455" name="Google Shape;7455;p4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456" name="Google Shape;7456;p4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7" name="Google Shape;7457;p4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458" name="Google Shape;7458;p4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459" name="Google Shape;7459;p4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60" name="Google Shape;7460;p4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461" name="Google Shape;7461;p4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62" name="Google Shape;7462;p4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63" name="Google Shape;7463;p4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4" name="Google Shape;7464;p4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465" name="Google Shape;7465;p4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66" name="Google Shape;7466;p4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67" name="Google Shape;7467;p4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68" name="Google Shape;7468;p4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69" name="Google Shape;7469;p4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7470" name="Google Shape;7470;p4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1" name="Google Shape;7471;p4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472" name="Google Shape;7472;p4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73" name="Google Shape;7473;p4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74" name="Google Shape;7474;p4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75" name="Google Shape;7475;p4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76" name="Google Shape;7476;p4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77" name="Google Shape;7477;p4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8" name="Google Shape;7478;p4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479" name="Google Shape;7479;p4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480" name="Google Shape;7480;p4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81" name="Google Shape;7481;p4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482" name="Google Shape;7482;p4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83" name="Google Shape;7483;p4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84" name="Google Shape;7484;p4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5" name="Google Shape;7485;p4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486" name="Google Shape;7486;p4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487" name="Google Shape;7487;p4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88" name="Google Shape;7488;p4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89" name="Google Shape;7489;p4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90" name="Google Shape;7490;p4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91" name="Google Shape;7491;p4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2" name="Google Shape;7492;p4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493" name="Google Shape;7493;p4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494" name="Google Shape;7494;p4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95" name="Google Shape;7495;p4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496" name="Google Shape;7496;p4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97" name="Google Shape;7497;p4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98" name="Google Shape;7498;p4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9" name="Google Shape;7499;p4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500" name="Google Shape;7500;p4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501" name="Google Shape;7501;p4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502" name="Google Shape;7502;p4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503" name="Google Shape;7503;p4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504" name="Google Shape;7504;p4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505" name="Google Shape;7505;p4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506" name="Google Shape;7506;p4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507" name="Google Shape;7507;p4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508" name="Google Shape;7508;p4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509" name="Google Shape;7509;p4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510" name="Google Shape;7510;p4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511" name="Google Shape;7511;p4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512" name="Google Shape;7512;p4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513" name="Google Shape;7513;p4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514" name="Google Shape;7514;p4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515" name="Google Shape;7515;p4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516" name="Google Shape;7516;p4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17" name="Google Shape;7517;p4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518" name="Google Shape;7518;p4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519" name="Google Shape;7519;p4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20" name="Google Shape;7520;p4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521" name="Google Shape;7521;p4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522" name="Google Shape;7522;p4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523" name="Google Shape;7523;p4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524" name="Google Shape;7524;p4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525" name="Google Shape;7525;p4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526" name="Google Shape;7526;p4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527" name="Google Shape;7527;p4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7528" name="Google Shape;7528;p4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29" name="Google Shape;7529;p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30" name="Google Shape;7530;p4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7531" name="Google Shape;7531;p4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7532" name="Google Shape;7532;p4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$-3,513</a:t>
            </a:r>
            <a:endParaRPr/>
          </a:p>
        </p:txBody>
      </p:sp>
      <p:sp>
        <p:nvSpPr>
          <p:cNvPr id="7533" name="Google Shape;7533;p4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7534" name="Google Shape;7534;p4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$-16,764</a:t>
            </a:r>
            <a:endParaRPr/>
          </a:p>
        </p:txBody>
      </p:sp>
      <p:sp>
        <p:nvSpPr>
          <p:cNvPr id="7535" name="Google Shape;7535;p4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$-56,770</a:t>
            </a:r>
            <a:endParaRPr/>
          </a:p>
        </p:txBody>
      </p:sp>
      <p:sp>
        <p:nvSpPr>
          <p:cNvPr id="7536" name="Google Shape;7536;p4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37" name="Google Shape;7537;p4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$75K</a:t>
            </a:r>
            <a:endParaRPr/>
          </a:p>
        </p:txBody>
      </p:sp>
      <p:sp>
        <p:nvSpPr>
          <p:cNvPr id="7538" name="Google Shape;7538;p4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$-6,605</a:t>
            </a:r>
            <a:endParaRPr/>
          </a:p>
        </p:txBody>
      </p:sp>
      <p:sp>
        <p:nvSpPr>
          <p:cNvPr id="7539" name="Google Shape;7539;p4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0" name="Google Shape;7540;p4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541" name="Google Shape;7541;p4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542" name="Google Shape;7542;p4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quotes generated - active in pipeline</a:t>
            </a:r>
            <a:endParaRPr/>
          </a:p>
        </p:txBody>
      </p:sp>
      <p:sp>
        <p:nvSpPr>
          <p:cNvPr id="7543" name="Google Shape;7543;p4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4" name="Google Shape;7544;p4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545" name="Google Shape;7545;p4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546" name="Google Shape;7546;p4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Negative written premium ($-6,605) - cancellations exceed production</a:t>
            </a:r>
            <a:endParaRPr/>
          </a:p>
        </p:txBody>
      </p:sp>
      <p:sp>
        <p:nvSpPr>
          <p:cNvPr id="7547" name="Google Shape;7547;p4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548" name="Google Shape;7548;p4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submissions with zero binds - zero conversion</a:t>
            </a:r>
            <a:endParaRPr/>
          </a:p>
        </p:txBody>
      </p:sp>
      <p:sp>
        <p:nvSpPr>
          <p:cNvPr id="7549" name="Google Shape;7549;p4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0" name="Google Shape;7550;p4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551" name="Google Shape;7551;p4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552" name="Google Shape;7552;p4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14 quoted-not-bound submissions together. Ask which quotes were close and what competitors offered - identifies specific pricing or appetite gaps to escalate internally.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556" name="Shape 7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7" name="Google Shape;7557;p4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8" name="Google Shape;7558;p4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Martin Noone Agency, Llc</a:t>
            </a:r>
            <a:endParaRPr/>
          </a:p>
        </p:txBody>
      </p:sp>
      <p:sp>
        <p:nvSpPr>
          <p:cNvPr id="7559" name="Google Shape;7559;p4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MS  |  City: N/A</a:t>
            </a:r>
            <a:endParaRPr/>
          </a:p>
        </p:txBody>
      </p:sp>
      <p:sp>
        <p:nvSpPr>
          <p:cNvPr id="7560" name="Google Shape;7560;p4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$-11,875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561" name="Google Shape;7561;p4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562" name="Google Shape;7562;p4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563" name="Google Shape;7563;p4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$-11,875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564" name="Google Shape;7564;p4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565" name="Google Shape;7565;p4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$243,578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566" name="Google Shape;7566;p4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$231,704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567" name="Google Shape;7567;p4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568" name="Google Shape;7568;p4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569" name="Google Shape;7569;p4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570" name="Google Shape;7570;p4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571" name="Google Shape;7571;p4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$102,534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572" name="Google Shape;7572;p4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573" name="Google Shape;7573;p4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4" name="Google Shape;7574;p4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575" name="Google Shape;7575;p4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576" name="Google Shape;7576;p4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577" name="Google Shape;7577;p4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578" name="Google Shape;7578;p4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579" name="Google Shape;7579;p4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580" name="Google Shape;7580;p4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581" name="Google Shape;7581;p4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2" name="Google Shape;7582;p4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583" name="Google Shape;7583;p4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$-7,850</a:t>
            </a:r>
            <a:endParaRPr/>
          </a:p>
        </p:txBody>
      </p:sp>
      <p:sp>
        <p:nvSpPr>
          <p:cNvPr id="7584" name="Google Shape;7584;p4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5" name="Google Shape;7585;p4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6" name="Google Shape;7586;p4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$-7,850</a:t>
            </a:r>
            <a:endParaRPr/>
          </a:p>
        </p:txBody>
      </p:sp>
      <p:sp>
        <p:nvSpPr>
          <p:cNvPr id="7587" name="Google Shape;7587;p4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8" name="Google Shape;7588;p4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9" name="Google Shape;7589;p4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590" name="Google Shape;7590;p4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$-720</a:t>
            </a:r>
            <a:endParaRPr/>
          </a:p>
        </p:txBody>
      </p:sp>
      <p:sp>
        <p:nvSpPr>
          <p:cNvPr id="7591" name="Google Shape;7591;p4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92" name="Google Shape;7592;p4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93" name="Google Shape;7593;p4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$-720</a:t>
            </a:r>
            <a:endParaRPr/>
          </a:p>
        </p:txBody>
      </p:sp>
      <p:sp>
        <p:nvSpPr>
          <p:cNvPr id="7594" name="Google Shape;7594;p4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95" name="Google Shape;7595;p4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6" name="Google Shape;7596;p4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597" name="Google Shape;7597;p4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</a:t>
            </a:r>
            <a:endParaRPr/>
          </a:p>
        </p:txBody>
      </p:sp>
      <p:sp>
        <p:nvSpPr>
          <p:cNvPr id="7598" name="Google Shape;7598;p4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99" name="Google Shape;7599;p4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0" name="Google Shape;7600;p4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</a:t>
            </a:r>
            <a:endParaRPr/>
          </a:p>
        </p:txBody>
      </p:sp>
      <p:sp>
        <p:nvSpPr>
          <p:cNvPr id="7601" name="Google Shape;7601;p4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2" name="Google Shape;7602;p4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3" name="Google Shape;7603;p4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604" name="Google Shape;7604;p4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5" name="Google Shape;7605;p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6" name="Google Shape;7606;p4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7" name="Google Shape;7607;p4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8" name="Google Shape;7608;p4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9" name="Google Shape;7609;p4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0" name="Google Shape;7610;p4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611" name="Google Shape;7611;p4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$-3,492</a:t>
            </a:r>
            <a:endParaRPr/>
          </a:p>
        </p:txBody>
      </p:sp>
      <p:sp>
        <p:nvSpPr>
          <p:cNvPr id="7612" name="Google Shape;7612;p4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3" name="Google Shape;7613;p4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4" name="Google Shape;7614;p4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$-3,492</a:t>
            </a:r>
            <a:endParaRPr/>
          </a:p>
        </p:txBody>
      </p:sp>
      <p:sp>
        <p:nvSpPr>
          <p:cNvPr id="7615" name="Google Shape;7615;p4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6" name="Google Shape;7616;p4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7" name="Google Shape;7617;p4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618" name="Google Shape;7618;p4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$-11,875</a:t>
            </a:r>
            <a:endParaRPr/>
          </a:p>
        </p:txBody>
      </p:sp>
      <p:sp>
        <p:nvSpPr>
          <p:cNvPr id="7619" name="Google Shape;7619;p4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0" name="Google Shape;7620;p4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1" name="Google Shape;7621;p4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$-11,875</a:t>
            </a:r>
            <a:endParaRPr/>
          </a:p>
        </p:txBody>
      </p:sp>
      <p:sp>
        <p:nvSpPr>
          <p:cNvPr id="7622" name="Google Shape;7622;p4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3" name="Google Shape;7623;p4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4" name="Google Shape;7624;p4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625" name="Google Shape;7625;p4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626" name="Google Shape;7626;p4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627" name="Google Shape;7627;p4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628" name="Google Shape;7628;p4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629" name="Google Shape;7629;p4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630" name="Google Shape;7630;p4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631" name="Google Shape;7631;p4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2" name="Google Shape;7632;p4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633" name="Google Shape;7633;p4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34" name="Google Shape;7634;p4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35" name="Google Shape;7635;p4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36" name="Google Shape;7636;p4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37" name="Google Shape;7637;p4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38" name="Google Shape;7638;p4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9" name="Google Shape;7639;p4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640" name="Google Shape;7640;p4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641" name="Google Shape;7641;p4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642" name="Google Shape;7642;p4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43" name="Google Shape;7643;p4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44" name="Google Shape;7644;p4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45" name="Google Shape;7645;p4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6" name="Google Shape;7646;p4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647" name="Google Shape;7647;p4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648" name="Google Shape;7648;p4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649" name="Google Shape;7649;p4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50" name="Google Shape;7650;p4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51" name="Google Shape;7651;p4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52" name="Google Shape;7652;p4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3" name="Google Shape;7653;p4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654" name="Google Shape;7654;p4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55" name="Google Shape;7655;p4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56" name="Google Shape;7656;p4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57" name="Google Shape;7657;p4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58" name="Google Shape;7658;p4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59" name="Google Shape;7659;p4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0" name="Google Shape;7660;p4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661" name="Google Shape;7661;p4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662" name="Google Shape;7662;p4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63" name="Google Shape;7663;p4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664" name="Google Shape;7664;p4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65" name="Google Shape;7665;p4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7666" name="Google Shape;7666;p4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7" name="Google Shape;7667;p4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668" name="Google Shape;7668;p4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669" name="Google Shape;7669;p4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670" name="Google Shape;7670;p4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671" name="Google Shape;7671;p4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72" name="Google Shape;7672;p4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7673" name="Google Shape;7673;p4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4" name="Google Shape;7674;p4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675" name="Google Shape;7675;p4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676" name="Google Shape;7676;p4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677" name="Google Shape;7677;p4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678" name="Google Shape;7678;p4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679" name="Google Shape;7679;p4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680" name="Google Shape;7680;p4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681" name="Google Shape;7681;p4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682" name="Google Shape;7682;p4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683" name="Google Shape;7683;p4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684" name="Google Shape;7684;p4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685" name="Google Shape;7685;p4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686" name="Google Shape;7686;p4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687" name="Google Shape;7687;p4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688" name="Google Shape;7688;p4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689" name="Google Shape;7689;p4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90" name="Google Shape;7690;p4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91" name="Google Shape;7691;p4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92" name="Google Shape;7692;p4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693" name="Google Shape;7693;p4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94" name="Google Shape;7694;p4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695" name="Google Shape;7695;p4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96" name="Google Shape;7696;p4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97" name="Google Shape;7697;p4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98" name="Google Shape;7698;p4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699" name="Google Shape;7699;p4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700" name="Google Shape;7700;p4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7701" name="Google Shape;7701;p4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702" name="Google Shape;7702;p4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03" name="Google Shape;7703;p4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$-7,850</a:t>
            </a:r>
            <a:endParaRPr/>
          </a:p>
        </p:txBody>
      </p:sp>
      <p:sp>
        <p:nvSpPr>
          <p:cNvPr id="7704" name="Google Shape;7704;p4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05" name="Google Shape;7705;p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$-720</a:t>
            </a:r>
            <a:endParaRPr/>
          </a:p>
        </p:txBody>
      </p:sp>
      <p:sp>
        <p:nvSpPr>
          <p:cNvPr id="7706" name="Google Shape;7706;p4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07" name="Google Shape;7707;p4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</a:t>
            </a:r>
            <a:endParaRPr/>
          </a:p>
        </p:txBody>
      </p:sp>
      <p:sp>
        <p:nvSpPr>
          <p:cNvPr id="7708" name="Google Shape;7708;p4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09" name="Google Shape;7709;p4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0" name="Google Shape;7710;p4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1" name="Google Shape;7711;p4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$-3,492</a:t>
            </a:r>
            <a:endParaRPr/>
          </a:p>
        </p:txBody>
      </p:sp>
      <p:sp>
        <p:nvSpPr>
          <p:cNvPr id="7712" name="Google Shape;7712;p4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3" name="Google Shape;7713;p4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$-11,875</a:t>
            </a:r>
            <a:endParaRPr/>
          </a:p>
        </p:txBody>
      </p:sp>
      <p:sp>
        <p:nvSpPr>
          <p:cNvPr id="7714" name="Google Shape;7714;p4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5" name="Google Shape;7715;p4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716" name="Google Shape;7716;p4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717" name="Google Shape;7717;p4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 hit ratio - above average conversion</a:t>
            </a:r>
            <a:endParaRPr/>
          </a:p>
        </p:txBody>
      </p:sp>
      <p:sp>
        <p:nvSpPr>
          <p:cNvPr id="7718" name="Google Shape;7718;p4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719" name="Google Shape;7719;p4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bind(s) - converting submissions to business</a:t>
            </a:r>
            <a:endParaRPr/>
          </a:p>
        </p:txBody>
      </p:sp>
      <p:sp>
        <p:nvSpPr>
          <p:cNvPr id="7720" name="Google Shape;7720;p4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1" name="Google Shape;7721;p4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722" name="Google Shape;7722;p4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723" name="Google Shape;7723;p4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Negative written premium ($-11,875) - cancellations exceed production</a:t>
            </a:r>
            <a:endParaRPr/>
          </a:p>
        </p:txBody>
      </p:sp>
      <p:sp>
        <p:nvSpPr>
          <p:cNvPr id="7724" name="Google Shape;7724;p4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725" name="Google Shape;7725;p4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1960% month-over-month</a:t>
            </a:r>
            <a:endParaRPr/>
          </a:p>
        </p:txBody>
      </p:sp>
      <p:sp>
        <p:nvSpPr>
          <p:cNvPr id="7726" name="Google Shape;7726;p4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7" name="Google Shape;7727;p4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728" name="Google Shape;7728;p4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729" name="Google Shape;7729;p4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