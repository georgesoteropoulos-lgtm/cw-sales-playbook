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y="6858000" cx="12191675"/>
  <p:notesSz cx="6858000" cy="9144000"/>
  <p:embeddedFontLst>
    <p:embeddedFont>
      <p:font typeface="Quattrocento Sans"/>
      <p:regular r:id="rId55"/>
      <p:bold r:id="rId56"/>
      <p:italic r:id="rId57"/>
      <p:boldItalic r:id="rId5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59" roundtripDataSignature="AMtx7mgU6TewUksVy47VmK/1Wihshzm30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font" Target="fonts/QuattrocentoSans-regular.fntdata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font" Target="fonts/QuattrocentoSans-italic.fntdata"/><Relationship Id="rId12" Type="http://schemas.openxmlformats.org/officeDocument/2006/relationships/slide" Target="slides/slide7.xml"/><Relationship Id="rId56" Type="http://schemas.openxmlformats.org/officeDocument/2006/relationships/font" Target="fonts/QuattrocentoSans-bold.fntdata"/><Relationship Id="rId15" Type="http://schemas.openxmlformats.org/officeDocument/2006/relationships/slide" Target="slides/slide10.xml"/><Relationship Id="rId59" Type="http://customschemas.google.com/relationships/presentationmetadata" Target="metadata"/><Relationship Id="rId14" Type="http://schemas.openxmlformats.org/officeDocument/2006/relationships/slide" Target="slides/slide9.xml"/><Relationship Id="rId58" Type="http://schemas.openxmlformats.org/officeDocument/2006/relationships/font" Target="fonts/QuattrocentoSans-boldItalic.fntdata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1" name="Google Shape;51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7" name="Shape 6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Google Shape;66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4" name="Google Shape;74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3" name="Shape 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Google Shape;81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5" name="Google Shape;81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2" name="Shape 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3" name="Google Shape;89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4" name="Google Shape;894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7" name="Shape 1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8" name="Google Shape;115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9" name="Google Shape;1159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8" name="Shape 1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Google Shape;1209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0" name="Google Shape;1210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69" name="Shape 1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0" name="Google Shape;1270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1" name="Google Shape;1271;p1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Google Shape;131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3" name="Google Shape;1313;p1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16" name="Shape 1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7" name="Google Shape;1517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8" name="Google Shape;1518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0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2" name="Google Shape;1652;p1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8" name="Shape 17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9" name="Google Shape;1799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00" name="Google Shape;1800;p1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5" name="Shape 19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6" name="Google Shape;1976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7" name="Google Shape;1977;p1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4" name="Shape 2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5" name="Google Shape;2155;p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6" name="Google Shape;2156;p1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31" name="Shape 2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2" name="Google Shape;2332;p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33" name="Google Shape;2333;p1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0" name="Shape 2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1" name="Google Shape;2511;p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2" name="Google Shape;2512;p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9" name="Shape 2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0" name="Google Shape;2690;p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1" name="Google Shape;2691;p2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6" name="Shape 2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" name="Google Shape;2867;p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8" name="Google Shape;2868;p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5" name="Shape 30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6" name="Google Shape;3046;p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7" name="Google Shape;3047;p2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4" name="Shape 3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5" name="Google Shape;3225;p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6" name="Google Shape;3226;p2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01" name="Shape 3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2" name="Google Shape;3402;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3" name="Google Shape;3403;p2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78" name="Shape 3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9" name="Google Shape;3579;p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0" name="Google Shape;3580;p2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5" name="Shape 37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6" name="Google Shape;3756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7" name="Google Shape;3757;p2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2" name="Shape 3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3" name="Google Shape;3933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34" name="Google Shape;3934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11" name="Shape 4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2" name="Google Shape;4112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3" name="Google Shape;4113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6" name="Shape 4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7" name="Google Shape;4287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88" name="Google Shape;4288;p3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63" name="Shape 4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4" name="Google Shape;4464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5" name="Google Shape;4465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642" name="Shape 4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3" name="Google Shape;4643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4" name="Google Shape;4644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19" name="Shape 48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0" name="Google Shape;4820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1" name="Google Shape;4821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98" name="Shape 4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9" name="Google Shape;4999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00" name="Google Shape;5000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5" name="Shape 5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6" name="Google Shape;5176;p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77" name="Google Shape;5177;p3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4" name="Shape 5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5" name="Google Shape;5355;p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6" name="Google Shape;5356;p3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1" name="Shape 5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2" name="Google Shape;5532;p3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33" name="Google Shape;5533;p3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0" name="Shape 5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1" name="Google Shape;5711;p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2" name="Google Shape;5712;p3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89" name="Shape 58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0" name="Google Shape;5890;p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1" name="Google Shape;5891;p3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66" name="Shape 60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7" name="Google Shape;6067;p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68" name="Google Shape;6068;p4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45" name="Shape 6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6" name="Google Shape;6246;p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7" name="Google Shape;6247;p4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2" name="Shape 6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3" name="Google Shape;6423;p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24" name="Google Shape;6424;p4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1" name="Shape 6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2" name="Google Shape;6602;p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03" name="Google Shape;6603;p4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0" name="Shape 67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1" name="Google Shape;6781;p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82" name="Google Shape;6782;p4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57" name="Shape 69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8" name="Google Shape;6958;p4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9" name="Google Shape;6959;p4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6" name="Shape 7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37" name="Google Shape;7137;p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38" name="Google Shape;7138;p4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13" name="Shape 7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4" name="Google Shape;7314;p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15" name="Google Shape;7315;p4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90" name="Shape 7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1" name="Google Shape;7491;p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2" name="Google Shape;7492;p4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65" name="Shape 7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6" name="Google Shape;7666;p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67" name="Google Shape;7667;p4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5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5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5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52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52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5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5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5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5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5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4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4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5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5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5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6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56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56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56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5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5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5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5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5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5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5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8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58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58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5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5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5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59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59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59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5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5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5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6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0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6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6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6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61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61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6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6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6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5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50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5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5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5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E073B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914400" y="16459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000" u="none" cap="none" strike="noStrike">
                <a:solidFill>
                  <a:srgbClr val="8B5CF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 WHALE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- Agency Portfolio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3474720"/>
            <a:ext cx="10058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6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Generated May 28, 2026  |  34 Agencies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- Portfolio Overview</a:t>
            </a:r>
            <a:endParaRPr/>
          </a:p>
        </p:txBody>
      </p:sp>
      <p:sp>
        <p:nvSpPr>
          <p:cNvPr id="93" name="Google Shape;93;p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34 Total Agencies  |  34 Active  |  0 Inactive</a:t>
            </a:r>
            <a:endParaRPr/>
          </a:p>
        </p:txBody>
      </p:sp>
      <p:sp>
        <p:nvSpPr>
          <p:cNvPr id="94" name="Google Shape;94;p2"/>
          <p:cNvSpPr/>
          <p:nvPr/>
        </p:nvSpPr>
        <p:spPr>
          <a:xfrm>
            <a:off x="13716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Agencies</a:t>
            </a:r>
            <a:endParaRPr/>
          </a:p>
        </p:txBody>
      </p:sp>
      <p:sp>
        <p:nvSpPr>
          <p:cNvPr id="95" name="Google Shape;95;p2"/>
          <p:cNvSpPr/>
          <p:nvPr/>
        </p:nvSpPr>
        <p:spPr>
          <a:xfrm>
            <a:off x="184708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(YTD)</a:t>
            </a:r>
            <a:endParaRPr/>
          </a:p>
        </p:txBody>
      </p:sp>
      <p:sp>
        <p:nvSpPr>
          <p:cNvPr id="96" name="Google Shape;96;p2"/>
          <p:cNvSpPr/>
          <p:nvPr/>
        </p:nvSpPr>
        <p:spPr>
          <a:xfrm>
            <a:off x="3557016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$18,444,307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5266944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$12,830,929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98" name="Google Shape;98;p2"/>
          <p:cNvSpPr/>
          <p:nvPr/>
        </p:nvSpPr>
        <p:spPr>
          <a:xfrm>
            <a:off x="6976872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$2,260,930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8686800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$3,352,448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00" name="Google Shape;100;p2"/>
          <p:cNvSpPr/>
          <p:nvPr/>
        </p:nvSpPr>
        <p:spPr>
          <a:xfrm>
            <a:off x="10396728" y="868680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$-8,044,975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13716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Submissions</a:t>
            </a:r>
            <a:endParaRPr/>
          </a:p>
        </p:txBody>
      </p:sp>
      <p:sp>
        <p:nvSpPr>
          <p:cNvPr id="102" name="Google Shape;102;p2"/>
          <p:cNvSpPr/>
          <p:nvPr/>
        </p:nvSpPr>
        <p:spPr>
          <a:xfrm>
            <a:off x="184708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Binds</a:t>
            </a:r>
            <a:endParaRPr/>
          </a:p>
        </p:txBody>
      </p:sp>
      <p:sp>
        <p:nvSpPr>
          <p:cNvPr id="103" name="Google Shape;103;p2"/>
          <p:cNvSpPr/>
          <p:nvPr/>
        </p:nvSpPr>
        <p:spPr>
          <a:xfrm>
            <a:off x="3557016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04" name="Google Shape;104;p2"/>
          <p:cNvSpPr/>
          <p:nvPr/>
        </p:nvSpPr>
        <p:spPr>
          <a:xfrm>
            <a:off x="5266944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Subs</a:t>
            </a:r>
            <a:endParaRPr/>
          </a:p>
        </p:txBody>
      </p:sp>
      <p:sp>
        <p:nvSpPr>
          <p:cNvPr id="105" name="Google Shape;105;p2"/>
          <p:cNvSpPr/>
          <p:nvPr/>
        </p:nvSpPr>
        <p:spPr>
          <a:xfrm>
            <a:off x="6976872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Binds</a:t>
            </a:r>
            <a:endParaRPr/>
          </a:p>
        </p:txBody>
      </p:sp>
      <p:sp>
        <p:nvSpPr>
          <p:cNvPr id="106" name="Google Shape;106;p2"/>
          <p:cNvSpPr/>
          <p:nvPr/>
        </p:nvSpPr>
        <p:spPr>
          <a:xfrm>
            <a:off x="8686800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13408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Subs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10396728" y="1389888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Binds</a:t>
            </a:r>
            <a:endParaRPr/>
          </a:p>
        </p:txBody>
      </p:sp>
      <p:sp>
        <p:nvSpPr>
          <p:cNvPr id="108" name="Google Shape;108;p2"/>
          <p:cNvSpPr/>
          <p:nvPr/>
        </p:nvSpPr>
        <p:spPr>
          <a:xfrm>
            <a:off x="13716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$40,451,444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09" name="Google Shape;109;p2"/>
          <p:cNvSpPr/>
          <p:nvPr/>
        </p:nvSpPr>
        <p:spPr>
          <a:xfrm>
            <a:off x="184708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$44,313,916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10" name="Google Shape;110;p2"/>
          <p:cNvSpPr/>
          <p:nvPr/>
        </p:nvSpPr>
        <p:spPr>
          <a:xfrm>
            <a:off x="3557016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$48,541,733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Annual Goal (40%)</a:t>
            </a:r>
            <a:endParaRPr/>
          </a:p>
        </p:txBody>
      </p:sp>
      <p:sp>
        <p:nvSpPr>
          <p:cNvPr id="111" name="Google Shape;111;p2"/>
          <p:cNvSpPr/>
          <p:nvPr/>
        </p:nvSpPr>
        <p:spPr>
          <a:xfrm>
            <a:off x="5266944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6976872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$6,053,685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13" name="Google Shape;113;p2"/>
          <p:cNvSpPr/>
          <p:nvPr/>
        </p:nvSpPr>
        <p:spPr>
          <a:xfrm>
            <a:off x="8686800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$12,620,195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 Bound Prem</a:t>
            </a:r>
            <a:endParaRPr/>
          </a:p>
        </p:txBody>
      </p:sp>
      <p:sp>
        <p:nvSpPr>
          <p:cNvPr id="114" name="Google Shape;114;p2"/>
          <p:cNvSpPr/>
          <p:nvPr/>
        </p:nvSpPr>
        <p:spPr>
          <a:xfrm>
            <a:off x="10396728" y="1911095"/>
            <a:ext cx="1627632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Retention Rate</a:t>
            </a:r>
            <a:endParaRPr/>
          </a:p>
        </p:txBody>
      </p:sp>
      <p:sp>
        <p:nvSpPr>
          <p:cNvPr id="115" name="Google Shape;115;p2"/>
          <p:cNvSpPr/>
          <p:nvPr/>
        </p:nvSpPr>
        <p:spPr>
          <a:xfrm>
            <a:off x="274320" y="2514600"/>
            <a:ext cx="786384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2"/>
          <p:cNvSpPr txBox="1"/>
          <p:nvPr/>
        </p:nvSpPr>
        <p:spPr>
          <a:xfrm>
            <a:off x="365760" y="2532888"/>
            <a:ext cx="3657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YTD GWP</a:t>
            </a:r>
            <a:endParaRPr/>
          </a:p>
        </p:txBody>
      </p:sp>
      <p:sp>
        <p:nvSpPr>
          <p:cNvPr id="117" name="Google Shape;117;p2"/>
          <p:cNvSpPr txBox="1"/>
          <p:nvPr/>
        </p:nvSpPr>
        <p:spPr>
          <a:xfrm>
            <a:off x="365760" y="2862072"/>
            <a:ext cx="25603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18" name="Google Shape;118;p2"/>
          <p:cNvSpPr txBox="1"/>
          <p:nvPr/>
        </p:nvSpPr>
        <p:spPr>
          <a:xfrm>
            <a:off x="2926079" y="2862072"/>
            <a:ext cx="10058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19" name="Google Shape;119;p2"/>
          <p:cNvSpPr txBox="1"/>
          <p:nvPr/>
        </p:nvSpPr>
        <p:spPr>
          <a:xfrm>
            <a:off x="3931920" y="2862072"/>
            <a:ext cx="9144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 $</a:t>
            </a:r>
            <a:endParaRPr/>
          </a:p>
        </p:txBody>
      </p:sp>
      <p:sp>
        <p:nvSpPr>
          <p:cNvPr id="120" name="Google Shape;120;p2"/>
          <p:cNvSpPr txBox="1"/>
          <p:nvPr/>
        </p:nvSpPr>
        <p:spPr>
          <a:xfrm>
            <a:off x="4846320" y="2862072"/>
            <a:ext cx="8229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 $</a:t>
            </a:r>
            <a:endParaRPr/>
          </a:p>
        </p:txBody>
      </p:sp>
      <p:sp>
        <p:nvSpPr>
          <p:cNvPr id="121" name="Google Shape;121;p2"/>
          <p:cNvSpPr txBox="1"/>
          <p:nvPr/>
        </p:nvSpPr>
        <p:spPr>
          <a:xfrm>
            <a:off x="5669280" y="2862072"/>
            <a:ext cx="5486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" name="Google Shape;122;p2"/>
          <p:cNvSpPr txBox="1"/>
          <p:nvPr/>
        </p:nvSpPr>
        <p:spPr>
          <a:xfrm>
            <a:off x="621792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123" name="Google Shape;123;p2"/>
          <p:cNvSpPr txBox="1"/>
          <p:nvPr/>
        </p:nvSpPr>
        <p:spPr>
          <a:xfrm>
            <a:off x="6812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4" name="Google Shape;124;p2"/>
          <p:cNvSpPr txBox="1"/>
          <p:nvPr/>
        </p:nvSpPr>
        <p:spPr>
          <a:xfrm>
            <a:off x="7315200" y="2862072"/>
            <a:ext cx="5943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125" name="Google Shape;125;p2"/>
          <p:cNvSpPr/>
          <p:nvPr/>
        </p:nvSpPr>
        <p:spPr>
          <a:xfrm>
            <a:off x="365760" y="3026664"/>
            <a:ext cx="7498079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 txBox="1"/>
          <p:nvPr/>
        </p:nvSpPr>
        <p:spPr>
          <a:xfrm>
            <a:off x="365760" y="308152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</a:t>
            </a:r>
            <a:endParaRPr/>
          </a:p>
        </p:txBody>
      </p:sp>
      <p:sp>
        <p:nvSpPr>
          <p:cNvPr id="127" name="Google Shape;127;p2"/>
          <p:cNvSpPr txBox="1"/>
          <p:nvPr/>
        </p:nvSpPr>
        <p:spPr>
          <a:xfrm>
            <a:off x="2926079" y="3081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$7,691,769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3931920" y="3081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$6,020,384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4846320" y="3081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$546,787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5669280" y="308152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3091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621792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2219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6812280" y="308152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7315200" y="308152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134" name="Google Shape;134;p2"/>
          <p:cNvSpPr/>
          <p:nvPr/>
        </p:nvSpPr>
        <p:spPr>
          <a:xfrm>
            <a:off x="365760" y="327355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365760" y="328269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926079" y="328269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$2,760,663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3931920" y="328269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$1,883,736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4846320" y="328269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$333,370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5669280" y="328269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5399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621792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3765</a:t>
            </a:r>
            <a:endParaRPr/>
          </a:p>
        </p:txBody>
      </p:sp>
      <p:sp>
        <p:nvSpPr>
          <p:cNvPr id="141" name="Google Shape;141;p2"/>
          <p:cNvSpPr txBox="1"/>
          <p:nvPr/>
        </p:nvSpPr>
        <p:spPr>
          <a:xfrm>
            <a:off x="6812280" y="328269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142" name="Google Shape;142;p2"/>
          <p:cNvSpPr txBox="1"/>
          <p:nvPr/>
        </p:nvSpPr>
        <p:spPr>
          <a:xfrm>
            <a:off x="7315200" y="328269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43" name="Google Shape;143;p2"/>
          <p:cNvSpPr txBox="1"/>
          <p:nvPr/>
        </p:nvSpPr>
        <p:spPr>
          <a:xfrm>
            <a:off x="365760" y="348386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44" name="Google Shape;144;p2"/>
          <p:cNvSpPr txBox="1"/>
          <p:nvPr/>
        </p:nvSpPr>
        <p:spPr>
          <a:xfrm>
            <a:off x="2926079" y="348386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$2,264,531</a:t>
            </a:r>
            <a:endParaRPr/>
          </a:p>
        </p:txBody>
      </p:sp>
      <p:sp>
        <p:nvSpPr>
          <p:cNvPr id="145" name="Google Shape;145;p2"/>
          <p:cNvSpPr txBox="1"/>
          <p:nvPr/>
        </p:nvSpPr>
        <p:spPr>
          <a:xfrm>
            <a:off x="3931920" y="348386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$1,648,524</a:t>
            </a:r>
            <a:endParaRPr/>
          </a:p>
        </p:txBody>
      </p:sp>
      <p:sp>
        <p:nvSpPr>
          <p:cNvPr id="146" name="Google Shape;146;p2"/>
          <p:cNvSpPr txBox="1"/>
          <p:nvPr/>
        </p:nvSpPr>
        <p:spPr>
          <a:xfrm>
            <a:off x="4846320" y="348386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$205,019</a:t>
            </a:r>
            <a:endParaRPr/>
          </a:p>
        </p:txBody>
      </p:sp>
      <p:sp>
        <p:nvSpPr>
          <p:cNvPr id="147" name="Google Shape;147;p2"/>
          <p:cNvSpPr txBox="1"/>
          <p:nvPr/>
        </p:nvSpPr>
        <p:spPr>
          <a:xfrm>
            <a:off x="5669280" y="348386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515</a:t>
            </a:r>
            <a:endParaRPr/>
          </a:p>
        </p:txBody>
      </p:sp>
      <p:sp>
        <p:nvSpPr>
          <p:cNvPr id="148" name="Google Shape;148;p2"/>
          <p:cNvSpPr txBox="1"/>
          <p:nvPr/>
        </p:nvSpPr>
        <p:spPr>
          <a:xfrm>
            <a:off x="621792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392</a:t>
            </a:r>
            <a:endParaRPr/>
          </a:p>
        </p:txBody>
      </p:sp>
      <p:sp>
        <p:nvSpPr>
          <p:cNvPr id="149" name="Google Shape;149;p2"/>
          <p:cNvSpPr txBox="1"/>
          <p:nvPr/>
        </p:nvSpPr>
        <p:spPr>
          <a:xfrm>
            <a:off x="6812280" y="348386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150" name="Google Shape;150;p2"/>
          <p:cNvSpPr txBox="1"/>
          <p:nvPr/>
        </p:nvSpPr>
        <p:spPr>
          <a:xfrm>
            <a:off x="7315200" y="348386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15.5%</a:t>
            </a:r>
            <a:endParaRPr/>
          </a:p>
        </p:txBody>
      </p:sp>
      <p:sp>
        <p:nvSpPr>
          <p:cNvPr id="151" name="Google Shape;151;p2"/>
          <p:cNvSpPr/>
          <p:nvPr/>
        </p:nvSpPr>
        <p:spPr>
          <a:xfrm>
            <a:off x="365760" y="3675888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"/>
          <p:cNvSpPr txBox="1"/>
          <p:nvPr/>
        </p:nvSpPr>
        <p:spPr>
          <a:xfrm>
            <a:off x="365760" y="368503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</a:t>
            </a:r>
            <a:endParaRPr/>
          </a:p>
        </p:txBody>
      </p:sp>
      <p:sp>
        <p:nvSpPr>
          <p:cNvPr id="153" name="Google Shape;153;p2"/>
          <p:cNvSpPr txBox="1"/>
          <p:nvPr/>
        </p:nvSpPr>
        <p:spPr>
          <a:xfrm>
            <a:off x="2926079" y="368503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$1,419,489</a:t>
            </a:r>
            <a:endParaRPr/>
          </a:p>
        </p:txBody>
      </p:sp>
      <p:sp>
        <p:nvSpPr>
          <p:cNvPr id="154" name="Google Shape;154;p2"/>
          <p:cNvSpPr txBox="1"/>
          <p:nvPr/>
        </p:nvSpPr>
        <p:spPr>
          <a:xfrm>
            <a:off x="3931920" y="368503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$739,603</a:t>
            </a:r>
            <a:endParaRPr/>
          </a:p>
        </p:txBody>
      </p:sp>
      <p:sp>
        <p:nvSpPr>
          <p:cNvPr id="155" name="Google Shape;155;p2"/>
          <p:cNvSpPr txBox="1"/>
          <p:nvPr/>
        </p:nvSpPr>
        <p:spPr>
          <a:xfrm>
            <a:off x="4846320" y="368503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$345,285</a:t>
            </a:r>
            <a:endParaRPr/>
          </a:p>
        </p:txBody>
      </p:sp>
      <p:sp>
        <p:nvSpPr>
          <p:cNvPr id="156" name="Google Shape;156;p2"/>
          <p:cNvSpPr txBox="1"/>
          <p:nvPr/>
        </p:nvSpPr>
        <p:spPr>
          <a:xfrm>
            <a:off x="5669280" y="368503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1461</a:t>
            </a:r>
            <a:endParaRPr/>
          </a:p>
        </p:txBody>
      </p:sp>
      <p:sp>
        <p:nvSpPr>
          <p:cNvPr id="157" name="Google Shape;157;p2"/>
          <p:cNvSpPr txBox="1"/>
          <p:nvPr/>
        </p:nvSpPr>
        <p:spPr>
          <a:xfrm>
            <a:off x="621792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879</a:t>
            </a:r>
            <a:endParaRPr/>
          </a:p>
        </p:txBody>
      </p:sp>
      <p:sp>
        <p:nvSpPr>
          <p:cNvPr id="158" name="Google Shape;158;p2"/>
          <p:cNvSpPr txBox="1"/>
          <p:nvPr/>
        </p:nvSpPr>
        <p:spPr>
          <a:xfrm>
            <a:off x="6812280" y="368503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159" name="Google Shape;159;p2"/>
          <p:cNvSpPr txBox="1"/>
          <p:nvPr/>
        </p:nvSpPr>
        <p:spPr>
          <a:xfrm>
            <a:off x="7315200" y="368503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160" name="Google Shape;160;p2"/>
          <p:cNvSpPr txBox="1"/>
          <p:nvPr/>
        </p:nvSpPr>
        <p:spPr>
          <a:xfrm>
            <a:off x="365760" y="388620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61" name="Google Shape;161;p2"/>
          <p:cNvSpPr txBox="1"/>
          <p:nvPr/>
        </p:nvSpPr>
        <p:spPr>
          <a:xfrm>
            <a:off x="2926079" y="388620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$851,003</a:t>
            </a:r>
            <a:endParaRPr/>
          </a:p>
        </p:txBody>
      </p:sp>
      <p:sp>
        <p:nvSpPr>
          <p:cNvPr id="162" name="Google Shape;162;p2"/>
          <p:cNvSpPr txBox="1"/>
          <p:nvPr/>
        </p:nvSpPr>
        <p:spPr>
          <a:xfrm>
            <a:off x="3931920" y="388620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$525,662</a:t>
            </a:r>
            <a:endParaRPr/>
          </a:p>
        </p:txBody>
      </p:sp>
      <p:sp>
        <p:nvSpPr>
          <p:cNvPr id="163" name="Google Shape;163;p2"/>
          <p:cNvSpPr txBox="1"/>
          <p:nvPr/>
        </p:nvSpPr>
        <p:spPr>
          <a:xfrm>
            <a:off x="4846320" y="388620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164" name="Google Shape;164;p2"/>
          <p:cNvSpPr txBox="1"/>
          <p:nvPr/>
        </p:nvSpPr>
        <p:spPr>
          <a:xfrm>
            <a:off x="5669280" y="388620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</p:txBody>
      </p:sp>
      <p:sp>
        <p:nvSpPr>
          <p:cNvPr id="165" name="Google Shape;165;p2"/>
          <p:cNvSpPr txBox="1"/>
          <p:nvPr/>
        </p:nvSpPr>
        <p:spPr>
          <a:xfrm>
            <a:off x="621792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630</a:t>
            </a:r>
            <a:endParaRPr/>
          </a:p>
        </p:txBody>
      </p:sp>
      <p:sp>
        <p:nvSpPr>
          <p:cNvPr id="166" name="Google Shape;166;p2"/>
          <p:cNvSpPr txBox="1"/>
          <p:nvPr/>
        </p:nvSpPr>
        <p:spPr>
          <a:xfrm>
            <a:off x="6812280" y="388620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67" name="Google Shape;167;p2"/>
          <p:cNvSpPr txBox="1"/>
          <p:nvPr/>
        </p:nvSpPr>
        <p:spPr>
          <a:xfrm>
            <a:off x="7315200" y="388620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168" name="Google Shape;168;p2"/>
          <p:cNvSpPr/>
          <p:nvPr/>
        </p:nvSpPr>
        <p:spPr>
          <a:xfrm>
            <a:off x="365760" y="4078224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"/>
          <p:cNvSpPr txBox="1"/>
          <p:nvPr/>
        </p:nvSpPr>
        <p:spPr>
          <a:xfrm>
            <a:off x="365760" y="408736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170" name="Google Shape;170;p2"/>
          <p:cNvSpPr txBox="1"/>
          <p:nvPr/>
        </p:nvSpPr>
        <p:spPr>
          <a:xfrm>
            <a:off x="2926079" y="408736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$608,829</a:t>
            </a:r>
            <a:endParaRPr/>
          </a:p>
        </p:txBody>
      </p:sp>
      <p:sp>
        <p:nvSpPr>
          <p:cNvPr id="171" name="Google Shape;171;p2"/>
          <p:cNvSpPr txBox="1"/>
          <p:nvPr/>
        </p:nvSpPr>
        <p:spPr>
          <a:xfrm>
            <a:off x="3931920" y="408736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$417,441</a:t>
            </a:r>
            <a:endParaRPr/>
          </a:p>
        </p:txBody>
      </p:sp>
      <p:sp>
        <p:nvSpPr>
          <p:cNvPr id="172" name="Google Shape;172;p2"/>
          <p:cNvSpPr txBox="1"/>
          <p:nvPr/>
        </p:nvSpPr>
        <p:spPr>
          <a:xfrm>
            <a:off x="4846320" y="408736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$70,501</a:t>
            </a:r>
            <a:endParaRPr/>
          </a:p>
        </p:txBody>
      </p:sp>
      <p:sp>
        <p:nvSpPr>
          <p:cNvPr id="173" name="Google Shape;173;p2"/>
          <p:cNvSpPr txBox="1"/>
          <p:nvPr/>
        </p:nvSpPr>
        <p:spPr>
          <a:xfrm>
            <a:off x="5669280" y="408736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295</a:t>
            </a:r>
            <a:endParaRPr/>
          </a:p>
        </p:txBody>
      </p:sp>
      <p:sp>
        <p:nvSpPr>
          <p:cNvPr id="174" name="Google Shape;174;p2"/>
          <p:cNvSpPr txBox="1"/>
          <p:nvPr/>
        </p:nvSpPr>
        <p:spPr>
          <a:xfrm>
            <a:off x="621792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197</a:t>
            </a:r>
            <a:endParaRPr/>
          </a:p>
        </p:txBody>
      </p:sp>
      <p:sp>
        <p:nvSpPr>
          <p:cNvPr id="175" name="Google Shape;175;p2"/>
          <p:cNvSpPr txBox="1"/>
          <p:nvPr/>
        </p:nvSpPr>
        <p:spPr>
          <a:xfrm>
            <a:off x="6812280" y="408736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76" name="Google Shape;176;p2"/>
          <p:cNvSpPr txBox="1"/>
          <p:nvPr/>
        </p:nvSpPr>
        <p:spPr>
          <a:xfrm>
            <a:off x="7315200" y="408736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177" name="Google Shape;177;p2"/>
          <p:cNvSpPr txBox="1"/>
          <p:nvPr/>
        </p:nvSpPr>
        <p:spPr>
          <a:xfrm>
            <a:off x="365760" y="428853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 Era Insurance Agency</a:t>
            </a:r>
            <a:endParaRPr/>
          </a:p>
        </p:txBody>
      </p:sp>
      <p:sp>
        <p:nvSpPr>
          <p:cNvPr id="178" name="Google Shape;178;p2"/>
          <p:cNvSpPr txBox="1"/>
          <p:nvPr/>
        </p:nvSpPr>
        <p:spPr>
          <a:xfrm>
            <a:off x="2926079" y="428853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$429,456</a:t>
            </a:r>
            <a:endParaRPr/>
          </a:p>
        </p:txBody>
      </p:sp>
      <p:sp>
        <p:nvSpPr>
          <p:cNvPr id="179" name="Google Shape;179;p2"/>
          <p:cNvSpPr txBox="1"/>
          <p:nvPr/>
        </p:nvSpPr>
        <p:spPr>
          <a:xfrm>
            <a:off x="3931920" y="428853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$343,460</a:t>
            </a:r>
            <a:endParaRPr/>
          </a:p>
        </p:txBody>
      </p:sp>
      <p:sp>
        <p:nvSpPr>
          <p:cNvPr id="180" name="Google Shape;180;p2"/>
          <p:cNvSpPr txBox="1"/>
          <p:nvPr/>
        </p:nvSpPr>
        <p:spPr>
          <a:xfrm>
            <a:off x="4846320" y="428853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$96,326</a:t>
            </a:r>
            <a:endParaRPr/>
          </a:p>
        </p:txBody>
      </p:sp>
      <p:sp>
        <p:nvSpPr>
          <p:cNvPr id="181" name="Google Shape;181;p2"/>
          <p:cNvSpPr txBox="1"/>
          <p:nvPr/>
        </p:nvSpPr>
        <p:spPr>
          <a:xfrm>
            <a:off x="5669280" y="428853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182" name="Google Shape;182;p2"/>
          <p:cNvSpPr txBox="1"/>
          <p:nvPr/>
        </p:nvSpPr>
        <p:spPr>
          <a:xfrm>
            <a:off x="621792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183" name="Google Shape;183;p2"/>
          <p:cNvSpPr txBox="1"/>
          <p:nvPr/>
        </p:nvSpPr>
        <p:spPr>
          <a:xfrm>
            <a:off x="6812280" y="428853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84" name="Google Shape;184;p2"/>
          <p:cNvSpPr txBox="1"/>
          <p:nvPr/>
        </p:nvSpPr>
        <p:spPr>
          <a:xfrm>
            <a:off x="7315200" y="428853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185" name="Google Shape;185;p2"/>
          <p:cNvSpPr/>
          <p:nvPr/>
        </p:nvSpPr>
        <p:spPr>
          <a:xfrm>
            <a:off x="365760" y="4480560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"/>
          <p:cNvSpPr txBox="1"/>
          <p:nvPr/>
        </p:nvSpPr>
        <p:spPr>
          <a:xfrm>
            <a:off x="365760" y="4489704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187" name="Google Shape;187;p2"/>
          <p:cNvSpPr txBox="1"/>
          <p:nvPr/>
        </p:nvSpPr>
        <p:spPr>
          <a:xfrm>
            <a:off x="2926079" y="4489704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$351,233</a:t>
            </a:r>
            <a:endParaRPr/>
          </a:p>
        </p:txBody>
      </p:sp>
      <p:sp>
        <p:nvSpPr>
          <p:cNvPr id="188" name="Google Shape;188;p2"/>
          <p:cNvSpPr txBox="1"/>
          <p:nvPr/>
        </p:nvSpPr>
        <p:spPr>
          <a:xfrm>
            <a:off x="3931920" y="4489704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$82,561</a:t>
            </a:r>
            <a:endParaRPr/>
          </a:p>
        </p:txBody>
      </p:sp>
      <p:sp>
        <p:nvSpPr>
          <p:cNvPr id="189" name="Google Shape;189;p2"/>
          <p:cNvSpPr txBox="1"/>
          <p:nvPr/>
        </p:nvSpPr>
        <p:spPr>
          <a:xfrm>
            <a:off x="4846320" y="4489704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$101,971</a:t>
            </a:r>
            <a:endParaRPr/>
          </a:p>
        </p:txBody>
      </p:sp>
      <p:sp>
        <p:nvSpPr>
          <p:cNvPr id="190" name="Google Shape;190;p2"/>
          <p:cNvSpPr txBox="1"/>
          <p:nvPr/>
        </p:nvSpPr>
        <p:spPr>
          <a:xfrm>
            <a:off x="5669280" y="4489704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191" name="Google Shape;191;p2"/>
          <p:cNvSpPr txBox="1"/>
          <p:nvPr/>
        </p:nvSpPr>
        <p:spPr>
          <a:xfrm>
            <a:off x="621792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192" name="Google Shape;192;p2"/>
          <p:cNvSpPr txBox="1"/>
          <p:nvPr/>
        </p:nvSpPr>
        <p:spPr>
          <a:xfrm>
            <a:off x="6812280" y="4489704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93" name="Google Shape;193;p2"/>
          <p:cNvSpPr txBox="1"/>
          <p:nvPr/>
        </p:nvSpPr>
        <p:spPr>
          <a:xfrm>
            <a:off x="7315200" y="4489704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11.3%</a:t>
            </a:r>
            <a:endParaRPr/>
          </a:p>
        </p:txBody>
      </p:sp>
      <p:sp>
        <p:nvSpPr>
          <p:cNvPr id="194" name="Google Shape;194;p2"/>
          <p:cNvSpPr txBox="1"/>
          <p:nvPr/>
        </p:nvSpPr>
        <p:spPr>
          <a:xfrm>
            <a:off x="365760" y="4690872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National Insurance Services, </a:t>
            </a:r>
            <a:endParaRPr/>
          </a:p>
        </p:txBody>
      </p:sp>
      <p:sp>
        <p:nvSpPr>
          <p:cNvPr id="195" name="Google Shape;195;p2"/>
          <p:cNvSpPr txBox="1"/>
          <p:nvPr/>
        </p:nvSpPr>
        <p:spPr>
          <a:xfrm>
            <a:off x="2926079" y="469087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$233,845</a:t>
            </a:r>
            <a:endParaRPr/>
          </a:p>
        </p:txBody>
      </p:sp>
      <p:sp>
        <p:nvSpPr>
          <p:cNvPr id="196" name="Google Shape;196;p2"/>
          <p:cNvSpPr txBox="1"/>
          <p:nvPr/>
        </p:nvSpPr>
        <p:spPr>
          <a:xfrm>
            <a:off x="3931920" y="469087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$145,982</a:t>
            </a:r>
            <a:endParaRPr/>
          </a:p>
        </p:txBody>
      </p:sp>
      <p:sp>
        <p:nvSpPr>
          <p:cNvPr id="197" name="Google Shape;197;p2"/>
          <p:cNvSpPr txBox="1"/>
          <p:nvPr/>
        </p:nvSpPr>
        <p:spPr>
          <a:xfrm>
            <a:off x="4846320" y="469087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</p:txBody>
      </p:sp>
      <p:sp>
        <p:nvSpPr>
          <p:cNvPr id="198" name="Google Shape;198;p2"/>
          <p:cNvSpPr txBox="1"/>
          <p:nvPr/>
        </p:nvSpPr>
        <p:spPr>
          <a:xfrm>
            <a:off x="5669280" y="4690872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199" name="Google Shape;199;p2"/>
          <p:cNvSpPr txBox="1"/>
          <p:nvPr/>
        </p:nvSpPr>
        <p:spPr>
          <a:xfrm>
            <a:off x="621792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00" name="Google Shape;200;p2"/>
          <p:cNvSpPr txBox="1"/>
          <p:nvPr/>
        </p:nvSpPr>
        <p:spPr>
          <a:xfrm>
            <a:off x="6812280" y="4690872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01" name="Google Shape;201;p2"/>
          <p:cNvSpPr txBox="1"/>
          <p:nvPr/>
        </p:nvSpPr>
        <p:spPr>
          <a:xfrm>
            <a:off x="7315200" y="4690872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202" name="Google Shape;202;p2"/>
          <p:cNvSpPr/>
          <p:nvPr/>
        </p:nvSpPr>
        <p:spPr>
          <a:xfrm>
            <a:off x="365760" y="4882896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"/>
          <p:cNvSpPr txBox="1"/>
          <p:nvPr/>
        </p:nvSpPr>
        <p:spPr>
          <a:xfrm>
            <a:off x="365760" y="4892040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Charles Cain Group</a:t>
            </a:r>
            <a:endParaRPr/>
          </a:p>
        </p:txBody>
      </p:sp>
      <p:sp>
        <p:nvSpPr>
          <p:cNvPr id="204" name="Google Shape;204;p2"/>
          <p:cNvSpPr txBox="1"/>
          <p:nvPr/>
        </p:nvSpPr>
        <p:spPr>
          <a:xfrm>
            <a:off x="2926079" y="4892040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205" name="Google Shape;205;p2"/>
          <p:cNvSpPr txBox="1"/>
          <p:nvPr/>
        </p:nvSpPr>
        <p:spPr>
          <a:xfrm>
            <a:off x="3931920" y="4892040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206" name="Google Shape;206;p2"/>
          <p:cNvSpPr txBox="1"/>
          <p:nvPr/>
        </p:nvSpPr>
        <p:spPr>
          <a:xfrm>
            <a:off x="4846320" y="4892040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07" name="Google Shape;207;p2"/>
          <p:cNvSpPr txBox="1"/>
          <p:nvPr/>
        </p:nvSpPr>
        <p:spPr>
          <a:xfrm>
            <a:off x="5669280" y="4892040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08" name="Google Shape;208;p2"/>
          <p:cNvSpPr txBox="1"/>
          <p:nvPr/>
        </p:nvSpPr>
        <p:spPr>
          <a:xfrm>
            <a:off x="621792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09" name="Google Shape;209;p2"/>
          <p:cNvSpPr txBox="1"/>
          <p:nvPr/>
        </p:nvSpPr>
        <p:spPr>
          <a:xfrm>
            <a:off x="6812280" y="4892040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10" name="Google Shape;210;p2"/>
          <p:cNvSpPr txBox="1"/>
          <p:nvPr/>
        </p:nvSpPr>
        <p:spPr>
          <a:xfrm>
            <a:off x="7315200" y="4892040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211" name="Google Shape;211;p2"/>
          <p:cNvSpPr txBox="1"/>
          <p:nvPr/>
        </p:nvSpPr>
        <p:spPr>
          <a:xfrm>
            <a:off x="365760" y="5093208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Insurance Agency</a:t>
            </a:r>
            <a:endParaRPr/>
          </a:p>
        </p:txBody>
      </p:sp>
      <p:sp>
        <p:nvSpPr>
          <p:cNvPr id="212" name="Google Shape;212;p2"/>
          <p:cNvSpPr txBox="1"/>
          <p:nvPr/>
        </p:nvSpPr>
        <p:spPr>
          <a:xfrm>
            <a:off x="2926079" y="509320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$194,054</a:t>
            </a:r>
            <a:endParaRPr/>
          </a:p>
        </p:txBody>
      </p:sp>
      <p:sp>
        <p:nvSpPr>
          <p:cNvPr id="213" name="Google Shape;213;p2"/>
          <p:cNvSpPr txBox="1"/>
          <p:nvPr/>
        </p:nvSpPr>
        <p:spPr>
          <a:xfrm>
            <a:off x="3931920" y="509320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$130,379</a:t>
            </a:r>
            <a:endParaRPr/>
          </a:p>
        </p:txBody>
      </p:sp>
      <p:sp>
        <p:nvSpPr>
          <p:cNvPr id="214" name="Google Shape;214;p2"/>
          <p:cNvSpPr txBox="1"/>
          <p:nvPr/>
        </p:nvSpPr>
        <p:spPr>
          <a:xfrm>
            <a:off x="4846320" y="509320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$14,835</a:t>
            </a:r>
            <a:endParaRPr/>
          </a:p>
        </p:txBody>
      </p:sp>
      <p:sp>
        <p:nvSpPr>
          <p:cNvPr id="215" name="Google Shape;215;p2"/>
          <p:cNvSpPr txBox="1"/>
          <p:nvPr/>
        </p:nvSpPr>
        <p:spPr>
          <a:xfrm>
            <a:off x="5669280" y="5093208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16" name="Google Shape;216;p2"/>
          <p:cNvSpPr txBox="1"/>
          <p:nvPr/>
        </p:nvSpPr>
        <p:spPr>
          <a:xfrm>
            <a:off x="621792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217" name="Google Shape;217;p2"/>
          <p:cNvSpPr txBox="1"/>
          <p:nvPr/>
        </p:nvSpPr>
        <p:spPr>
          <a:xfrm>
            <a:off x="6812280" y="5093208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18" name="Google Shape;218;p2"/>
          <p:cNvSpPr txBox="1"/>
          <p:nvPr/>
        </p:nvSpPr>
        <p:spPr>
          <a:xfrm>
            <a:off x="7315200" y="5093208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</p:txBody>
      </p:sp>
      <p:sp>
        <p:nvSpPr>
          <p:cNvPr id="219" name="Google Shape;219;p2"/>
          <p:cNvSpPr/>
          <p:nvPr/>
        </p:nvSpPr>
        <p:spPr>
          <a:xfrm>
            <a:off x="365760" y="5285232"/>
            <a:ext cx="7498079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2"/>
          <p:cNvSpPr txBox="1"/>
          <p:nvPr/>
        </p:nvSpPr>
        <p:spPr>
          <a:xfrm>
            <a:off x="365760" y="5294376"/>
            <a:ext cx="2560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Talis Insurance Group, Inc</a:t>
            </a:r>
            <a:endParaRPr/>
          </a:p>
        </p:txBody>
      </p:sp>
      <p:sp>
        <p:nvSpPr>
          <p:cNvPr id="221" name="Google Shape;221;p2"/>
          <p:cNvSpPr txBox="1"/>
          <p:nvPr/>
        </p:nvSpPr>
        <p:spPr>
          <a:xfrm>
            <a:off x="2926079" y="5294376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$180,751</a:t>
            </a:r>
            <a:endParaRPr/>
          </a:p>
        </p:txBody>
      </p:sp>
      <p:sp>
        <p:nvSpPr>
          <p:cNvPr id="222" name="Google Shape;222;p2"/>
          <p:cNvSpPr txBox="1"/>
          <p:nvPr/>
        </p:nvSpPr>
        <p:spPr>
          <a:xfrm>
            <a:off x="3931920" y="5294376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$17,135</a:t>
            </a:r>
            <a:endParaRPr/>
          </a:p>
        </p:txBody>
      </p:sp>
      <p:sp>
        <p:nvSpPr>
          <p:cNvPr id="223" name="Google Shape;223;p2"/>
          <p:cNvSpPr txBox="1"/>
          <p:nvPr/>
        </p:nvSpPr>
        <p:spPr>
          <a:xfrm>
            <a:off x="4846320" y="5294376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$162,876</a:t>
            </a:r>
            <a:endParaRPr/>
          </a:p>
        </p:txBody>
      </p:sp>
      <p:sp>
        <p:nvSpPr>
          <p:cNvPr id="224" name="Google Shape;224;p2"/>
          <p:cNvSpPr txBox="1"/>
          <p:nvPr/>
        </p:nvSpPr>
        <p:spPr>
          <a:xfrm>
            <a:off x="5669280" y="5294376"/>
            <a:ext cx="548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</p:txBody>
      </p:sp>
      <p:sp>
        <p:nvSpPr>
          <p:cNvPr id="225" name="Google Shape;225;p2"/>
          <p:cNvSpPr txBox="1"/>
          <p:nvPr/>
        </p:nvSpPr>
        <p:spPr>
          <a:xfrm>
            <a:off x="621792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</a:t>
            </a:r>
            <a:endParaRPr/>
          </a:p>
        </p:txBody>
      </p:sp>
      <p:sp>
        <p:nvSpPr>
          <p:cNvPr id="226" name="Google Shape;226;p2"/>
          <p:cNvSpPr txBox="1"/>
          <p:nvPr/>
        </p:nvSpPr>
        <p:spPr>
          <a:xfrm>
            <a:off x="6812280" y="5294376"/>
            <a:ext cx="502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27" name="Google Shape;227;p2"/>
          <p:cNvSpPr txBox="1"/>
          <p:nvPr/>
        </p:nvSpPr>
        <p:spPr>
          <a:xfrm>
            <a:off x="7315200" y="5294376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228" name="Google Shape;228;p2"/>
          <p:cNvSpPr/>
          <p:nvPr/>
        </p:nvSpPr>
        <p:spPr>
          <a:xfrm>
            <a:off x="8229600" y="2514600"/>
            <a:ext cx="3749039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"/>
          <p:cNvSpPr txBox="1"/>
          <p:nvPr/>
        </p:nvSpPr>
        <p:spPr>
          <a:xfrm>
            <a:off x="8321040" y="2532888"/>
            <a:ext cx="2743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SUMMARY</a:t>
            </a:r>
            <a:endParaRPr/>
          </a:p>
        </p:txBody>
      </p:sp>
      <p:sp>
        <p:nvSpPr>
          <p:cNvPr id="230" name="Google Shape;230;p2"/>
          <p:cNvSpPr txBox="1"/>
          <p:nvPr/>
        </p:nvSpPr>
        <p:spPr>
          <a:xfrm>
            <a:off x="827532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1" name="Google Shape;231;p2"/>
          <p:cNvSpPr txBox="1"/>
          <p:nvPr/>
        </p:nvSpPr>
        <p:spPr>
          <a:xfrm>
            <a:off x="8732520" y="2862072"/>
            <a:ext cx="77724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232" name="Google Shape;232;p2"/>
          <p:cNvSpPr txBox="1"/>
          <p:nvPr/>
        </p:nvSpPr>
        <p:spPr>
          <a:xfrm>
            <a:off x="9509760" y="2862072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233" name="Google Shape;233;p2"/>
          <p:cNvSpPr txBox="1"/>
          <p:nvPr/>
        </p:nvSpPr>
        <p:spPr>
          <a:xfrm>
            <a:off x="1024128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34" name="Google Shape;234;p2"/>
          <p:cNvSpPr txBox="1"/>
          <p:nvPr/>
        </p:nvSpPr>
        <p:spPr>
          <a:xfrm>
            <a:off x="10744200" y="2862072"/>
            <a:ext cx="4572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5" name="Google Shape;235;p2"/>
          <p:cNvSpPr txBox="1"/>
          <p:nvPr/>
        </p:nvSpPr>
        <p:spPr>
          <a:xfrm>
            <a:off x="11201400" y="2862072"/>
            <a:ext cx="5029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HR</a:t>
            </a:r>
            <a:endParaRPr/>
          </a:p>
        </p:txBody>
      </p:sp>
      <p:sp>
        <p:nvSpPr>
          <p:cNvPr id="236" name="Google Shape;236;p2"/>
          <p:cNvSpPr/>
          <p:nvPr/>
        </p:nvSpPr>
        <p:spPr>
          <a:xfrm>
            <a:off x="8275320" y="3026664"/>
            <a:ext cx="3566160" cy="7315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"/>
          <p:cNvSpPr txBox="1"/>
          <p:nvPr/>
        </p:nvSpPr>
        <p:spPr>
          <a:xfrm>
            <a:off x="827532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238" name="Google Shape;238;p2"/>
          <p:cNvSpPr txBox="1"/>
          <p:nvPr/>
        </p:nvSpPr>
        <p:spPr>
          <a:xfrm>
            <a:off x="8732520" y="308152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$8,369,187</a:t>
            </a:r>
            <a:endParaRPr/>
          </a:p>
        </p:txBody>
      </p:sp>
      <p:sp>
        <p:nvSpPr>
          <p:cNvPr id="239" name="Google Shape;239;p2"/>
          <p:cNvSpPr txBox="1"/>
          <p:nvPr/>
        </p:nvSpPr>
        <p:spPr>
          <a:xfrm>
            <a:off x="9509760" y="308152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$2,404,787</a:t>
            </a:r>
            <a:endParaRPr/>
          </a:p>
        </p:txBody>
      </p:sp>
      <p:sp>
        <p:nvSpPr>
          <p:cNvPr id="240" name="Google Shape;240;p2"/>
          <p:cNvSpPr txBox="1"/>
          <p:nvPr/>
        </p:nvSpPr>
        <p:spPr>
          <a:xfrm>
            <a:off x="1024128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3018</a:t>
            </a:r>
            <a:endParaRPr/>
          </a:p>
        </p:txBody>
      </p:sp>
      <p:sp>
        <p:nvSpPr>
          <p:cNvPr id="241" name="Google Shape;241;p2"/>
          <p:cNvSpPr txBox="1"/>
          <p:nvPr/>
        </p:nvSpPr>
        <p:spPr>
          <a:xfrm>
            <a:off x="10744200" y="308152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</a:t>
            </a:r>
            <a:endParaRPr/>
          </a:p>
        </p:txBody>
      </p:sp>
      <p:sp>
        <p:nvSpPr>
          <p:cNvPr id="242" name="Google Shape;242;p2"/>
          <p:cNvSpPr txBox="1"/>
          <p:nvPr/>
        </p:nvSpPr>
        <p:spPr>
          <a:xfrm>
            <a:off x="11201400" y="308152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8.9%</a:t>
            </a:r>
            <a:endParaRPr/>
          </a:p>
        </p:txBody>
      </p:sp>
      <p:sp>
        <p:nvSpPr>
          <p:cNvPr id="243" name="Google Shape;243;p2"/>
          <p:cNvSpPr txBox="1"/>
          <p:nvPr/>
        </p:nvSpPr>
        <p:spPr>
          <a:xfrm>
            <a:off x="827532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244" name="Google Shape;244;p2"/>
          <p:cNvSpPr txBox="1"/>
          <p:nvPr/>
        </p:nvSpPr>
        <p:spPr>
          <a:xfrm>
            <a:off x="8732520" y="3337560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$8,383,096</a:t>
            </a:r>
            <a:endParaRPr/>
          </a:p>
        </p:txBody>
      </p:sp>
      <p:sp>
        <p:nvSpPr>
          <p:cNvPr id="245" name="Google Shape;245;p2"/>
          <p:cNvSpPr txBox="1"/>
          <p:nvPr/>
        </p:nvSpPr>
        <p:spPr>
          <a:xfrm>
            <a:off x="9509760" y="3337560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$2,141,010</a:t>
            </a:r>
            <a:endParaRPr/>
          </a:p>
        </p:txBody>
      </p:sp>
      <p:sp>
        <p:nvSpPr>
          <p:cNvPr id="246" name="Google Shape;246;p2"/>
          <p:cNvSpPr txBox="1"/>
          <p:nvPr/>
        </p:nvSpPr>
        <p:spPr>
          <a:xfrm>
            <a:off x="1024128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3070</a:t>
            </a:r>
            <a:endParaRPr/>
          </a:p>
        </p:txBody>
      </p:sp>
      <p:sp>
        <p:nvSpPr>
          <p:cNvPr id="247" name="Google Shape;247;p2"/>
          <p:cNvSpPr txBox="1"/>
          <p:nvPr/>
        </p:nvSpPr>
        <p:spPr>
          <a:xfrm>
            <a:off x="10744200" y="3337560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</a:t>
            </a:r>
            <a:endParaRPr/>
          </a:p>
        </p:txBody>
      </p:sp>
      <p:sp>
        <p:nvSpPr>
          <p:cNvPr id="248" name="Google Shape;248;p2"/>
          <p:cNvSpPr txBox="1"/>
          <p:nvPr/>
        </p:nvSpPr>
        <p:spPr>
          <a:xfrm>
            <a:off x="11201400" y="3337560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8.4%</a:t>
            </a:r>
            <a:endParaRPr/>
          </a:p>
        </p:txBody>
      </p:sp>
      <p:sp>
        <p:nvSpPr>
          <p:cNvPr id="249" name="Google Shape;249;p2"/>
          <p:cNvSpPr txBox="1"/>
          <p:nvPr/>
        </p:nvSpPr>
        <p:spPr>
          <a:xfrm>
            <a:off x="827532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250" name="Google Shape;250;p2"/>
          <p:cNvSpPr txBox="1"/>
          <p:nvPr/>
        </p:nvSpPr>
        <p:spPr>
          <a:xfrm>
            <a:off x="8732520" y="3593592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$8,710,118</a:t>
            </a:r>
            <a:endParaRPr/>
          </a:p>
        </p:txBody>
      </p:sp>
      <p:sp>
        <p:nvSpPr>
          <p:cNvPr id="251" name="Google Shape;251;p2"/>
          <p:cNvSpPr txBox="1"/>
          <p:nvPr/>
        </p:nvSpPr>
        <p:spPr>
          <a:xfrm>
            <a:off x="9509760" y="3593592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$2,876,868</a:t>
            </a:r>
            <a:endParaRPr/>
          </a:p>
        </p:txBody>
      </p:sp>
      <p:sp>
        <p:nvSpPr>
          <p:cNvPr id="252" name="Google Shape;252;p2"/>
          <p:cNvSpPr txBox="1"/>
          <p:nvPr/>
        </p:nvSpPr>
        <p:spPr>
          <a:xfrm>
            <a:off x="1024128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3209</a:t>
            </a:r>
            <a:endParaRPr/>
          </a:p>
        </p:txBody>
      </p:sp>
      <p:sp>
        <p:nvSpPr>
          <p:cNvPr id="253" name="Google Shape;253;p2"/>
          <p:cNvSpPr txBox="1"/>
          <p:nvPr/>
        </p:nvSpPr>
        <p:spPr>
          <a:xfrm>
            <a:off x="10744200" y="3593592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285</a:t>
            </a:r>
            <a:endParaRPr/>
          </a:p>
        </p:txBody>
      </p:sp>
      <p:sp>
        <p:nvSpPr>
          <p:cNvPr id="254" name="Google Shape;254;p2"/>
          <p:cNvSpPr txBox="1"/>
          <p:nvPr/>
        </p:nvSpPr>
        <p:spPr>
          <a:xfrm>
            <a:off x="11201400" y="3593592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8.9%</a:t>
            </a:r>
            <a:endParaRPr/>
          </a:p>
        </p:txBody>
      </p:sp>
      <p:sp>
        <p:nvSpPr>
          <p:cNvPr id="255" name="Google Shape;255;p2"/>
          <p:cNvSpPr txBox="1"/>
          <p:nvPr/>
        </p:nvSpPr>
        <p:spPr>
          <a:xfrm>
            <a:off x="827532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256" name="Google Shape;256;p2"/>
          <p:cNvSpPr txBox="1"/>
          <p:nvPr/>
        </p:nvSpPr>
        <p:spPr>
          <a:xfrm>
            <a:off x="8732520" y="3849624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$8,488,374</a:t>
            </a:r>
            <a:endParaRPr/>
          </a:p>
        </p:txBody>
      </p:sp>
      <p:sp>
        <p:nvSpPr>
          <p:cNvPr id="257" name="Google Shape;257;p2"/>
          <p:cNvSpPr txBox="1"/>
          <p:nvPr/>
        </p:nvSpPr>
        <p:spPr>
          <a:xfrm>
            <a:off x="9509760" y="3849624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$2,859,782</a:t>
            </a:r>
            <a:endParaRPr/>
          </a:p>
        </p:txBody>
      </p:sp>
      <p:sp>
        <p:nvSpPr>
          <p:cNvPr id="258" name="Google Shape;258;p2"/>
          <p:cNvSpPr txBox="1"/>
          <p:nvPr/>
        </p:nvSpPr>
        <p:spPr>
          <a:xfrm>
            <a:off x="1024128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3625</a:t>
            </a:r>
            <a:endParaRPr/>
          </a:p>
        </p:txBody>
      </p:sp>
      <p:sp>
        <p:nvSpPr>
          <p:cNvPr id="259" name="Google Shape;259;p2"/>
          <p:cNvSpPr txBox="1"/>
          <p:nvPr/>
        </p:nvSpPr>
        <p:spPr>
          <a:xfrm>
            <a:off x="10744200" y="3849624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294</a:t>
            </a:r>
            <a:endParaRPr/>
          </a:p>
        </p:txBody>
      </p:sp>
      <p:sp>
        <p:nvSpPr>
          <p:cNvPr id="260" name="Google Shape;260;p2"/>
          <p:cNvSpPr txBox="1"/>
          <p:nvPr/>
        </p:nvSpPr>
        <p:spPr>
          <a:xfrm>
            <a:off x="11201400" y="3849624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261" name="Google Shape;261;p2"/>
          <p:cNvSpPr txBox="1"/>
          <p:nvPr/>
        </p:nvSpPr>
        <p:spPr>
          <a:xfrm>
            <a:off x="827532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2" name="Google Shape;262;p2"/>
          <p:cNvSpPr txBox="1"/>
          <p:nvPr/>
        </p:nvSpPr>
        <p:spPr>
          <a:xfrm>
            <a:off x="8732520" y="4105656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$6,495,289</a:t>
            </a:r>
            <a:endParaRPr/>
          </a:p>
        </p:txBody>
      </p:sp>
      <p:sp>
        <p:nvSpPr>
          <p:cNvPr id="263" name="Google Shape;263;p2"/>
          <p:cNvSpPr txBox="1"/>
          <p:nvPr/>
        </p:nvSpPr>
        <p:spPr>
          <a:xfrm>
            <a:off x="9509760" y="4105656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$2,548,482</a:t>
            </a:r>
            <a:endParaRPr/>
          </a:p>
        </p:txBody>
      </p:sp>
      <p:sp>
        <p:nvSpPr>
          <p:cNvPr id="264" name="Google Shape;264;p2"/>
          <p:cNvSpPr txBox="1"/>
          <p:nvPr/>
        </p:nvSpPr>
        <p:spPr>
          <a:xfrm>
            <a:off x="1024128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2684</a:t>
            </a:r>
            <a:endParaRPr/>
          </a:p>
        </p:txBody>
      </p:sp>
      <p:sp>
        <p:nvSpPr>
          <p:cNvPr id="265" name="Google Shape;265;p2"/>
          <p:cNvSpPr txBox="1"/>
          <p:nvPr/>
        </p:nvSpPr>
        <p:spPr>
          <a:xfrm>
            <a:off x="10744200" y="4105656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192</a:t>
            </a:r>
            <a:endParaRPr/>
          </a:p>
        </p:txBody>
      </p:sp>
      <p:sp>
        <p:nvSpPr>
          <p:cNvPr id="266" name="Google Shape;266;p2"/>
          <p:cNvSpPr txBox="1"/>
          <p:nvPr/>
        </p:nvSpPr>
        <p:spPr>
          <a:xfrm>
            <a:off x="11201400" y="4105656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267" name="Google Shape;267;p2"/>
          <p:cNvSpPr/>
          <p:nvPr/>
        </p:nvSpPr>
        <p:spPr>
          <a:xfrm>
            <a:off x="8275320" y="4325112"/>
            <a:ext cx="356616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"/>
          <p:cNvSpPr txBox="1"/>
          <p:nvPr/>
        </p:nvSpPr>
        <p:spPr>
          <a:xfrm>
            <a:off x="827532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</a:t>
            </a:r>
            <a:endParaRPr/>
          </a:p>
        </p:txBody>
      </p:sp>
      <p:sp>
        <p:nvSpPr>
          <p:cNvPr id="269" name="Google Shape;269;p2"/>
          <p:cNvSpPr txBox="1"/>
          <p:nvPr/>
        </p:nvSpPr>
        <p:spPr>
          <a:xfrm>
            <a:off x="8732520" y="4361688"/>
            <a:ext cx="7772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$18,444,307</a:t>
            </a:r>
            <a:endParaRPr/>
          </a:p>
        </p:txBody>
      </p:sp>
      <p:sp>
        <p:nvSpPr>
          <p:cNvPr id="270" name="Google Shape;270;p2"/>
          <p:cNvSpPr txBox="1"/>
          <p:nvPr/>
        </p:nvSpPr>
        <p:spPr>
          <a:xfrm>
            <a:off x="9509760" y="4361688"/>
            <a:ext cx="7315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$12,830,929</a:t>
            </a:r>
            <a:endParaRPr/>
          </a:p>
        </p:txBody>
      </p:sp>
      <p:sp>
        <p:nvSpPr>
          <p:cNvPr id="271" name="Google Shape;271;p2"/>
          <p:cNvSpPr txBox="1"/>
          <p:nvPr/>
        </p:nvSpPr>
        <p:spPr>
          <a:xfrm>
            <a:off x="1024128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14356</a:t>
            </a:r>
            <a:endParaRPr/>
          </a:p>
        </p:txBody>
      </p:sp>
      <p:sp>
        <p:nvSpPr>
          <p:cNvPr id="272" name="Google Shape;272;p2"/>
          <p:cNvSpPr txBox="1"/>
          <p:nvPr/>
        </p:nvSpPr>
        <p:spPr>
          <a:xfrm>
            <a:off x="10744200" y="4361688"/>
            <a:ext cx="457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678</a:t>
            </a:r>
            <a:endParaRPr/>
          </a:p>
        </p:txBody>
      </p:sp>
      <p:sp>
        <p:nvSpPr>
          <p:cNvPr id="273" name="Google Shape;273;p2"/>
          <p:cNvSpPr txBox="1"/>
          <p:nvPr/>
        </p:nvSpPr>
        <p:spPr>
          <a:xfrm>
            <a:off x="11201400" y="4361688"/>
            <a:ext cx="502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7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p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3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Scoreboard — Ron Douglas</a:t>
            </a:r>
            <a:endParaRPr/>
          </a:p>
        </p:txBody>
      </p:sp>
      <p:sp>
        <p:nvSpPr>
          <p:cNvPr id="280" name="Google Shape;280;p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BDM OKRs  |  Q2 measure (paced where applicable)  |  Matches BD Rep Scoreboard numbers</a:t>
            </a:r>
            <a:endParaRPr/>
          </a:p>
        </p:txBody>
      </p:sp>
      <p:sp>
        <p:nvSpPr>
          <p:cNvPr id="281" name="Google Shape;281;p3"/>
          <p:cNvSpPr/>
          <p:nvPr/>
        </p:nvSpPr>
        <p:spPr>
          <a:xfrm>
            <a:off x="8686800" y="960120"/>
            <a:ext cx="3200400" cy="1371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3"/>
          <p:cNvSpPr txBox="1"/>
          <p:nvPr/>
        </p:nvSpPr>
        <p:spPr>
          <a:xfrm>
            <a:off x="8686800" y="1033271"/>
            <a:ext cx="3200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75.1</a:t>
            </a:r>
            <a:endParaRPr/>
          </a:p>
        </p:txBody>
      </p:sp>
      <p:sp>
        <p:nvSpPr>
          <p:cNvPr id="283" name="Google Shape;283;p3"/>
          <p:cNvSpPr txBox="1"/>
          <p:nvPr/>
        </p:nvSpPr>
        <p:spPr>
          <a:xfrm>
            <a:off x="8686800" y="159105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COMPOSITE SCORE</a:t>
            </a:r>
            <a:endParaRPr/>
          </a:p>
        </p:txBody>
      </p:sp>
      <p:sp>
        <p:nvSpPr>
          <p:cNvPr id="284" name="Google Shape;284;p3"/>
          <p:cNvSpPr txBox="1"/>
          <p:nvPr/>
        </p:nvSpPr>
        <p:spPr>
          <a:xfrm>
            <a:off x="8686800" y="1865376"/>
            <a:ext cx="3200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≥ 70  |  Amber 45-69  |  Red &lt; 45</a:t>
            </a:r>
            <a:endParaRPr/>
          </a:p>
        </p:txBody>
      </p:sp>
      <p:sp>
        <p:nvSpPr>
          <p:cNvPr id="285" name="Google Shape;285;p3"/>
          <p:cNvSpPr/>
          <p:nvPr/>
        </p:nvSpPr>
        <p:spPr>
          <a:xfrm>
            <a:off x="365760" y="96012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3"/>
          <p:cNvSpPr/>
          <p:nvPr/>
        </p:nvSpPr>
        <p:spPr>
          <a:xfrm>
            <a:off x="365760" y="96012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3"/>
          <p:cNvSpPr txBox="1"/>
          <p:nvPr/>
        </p:nvSpPr>
        <p:spPr>
          <a:xfrm>
            <a:off x="594360" y="105156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</a:t>
            </a:r>
            <a:endParaRPr/>
          </a:p>
        </p:txBody>
      </p:sp>
      <p:sp>
        <p:nvSpPr>
          <p:cNvPr id="288" name="Google Shape;288;p3"/>
          <p:cNvSpPr txBox="1"/>
          <p:nvPr/>
        </p:nvSpPr>
        <p:spPr>
          <a:xfrm>
            <a:off x="594360" y="130759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%</a:t>
            </a:r>
            <a:endParaRPr/>
          </a:p>
        </p:txBody>
      </p:sp>
      <p:sp>
        <p:nvSpPr>
          <p:cNvPr id="289" name="Google Shape;289;p3"/>
          <p:cNvSpPr txBox="1"/>
          <p:nvPr/>
        </p:nvSpPr>
        <p:spPr>
          <a:xfrm>
            <a:off x="594360" y="167335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≥+100%</a:t>
            </a:r>
            <a:endParaRPr/>
          </a:p>
        </p:txBody>
      </p:sp>
      <p:sp>
        <p:nvSpPr>
          <p:cNvPr id="290" name="Google Shape;290;p3"/>
          <p:cNvSpPr txBox="1"/>
          <p:nvPr/>
        </p:nvSpPr>
        <p:spPr>
          <a:xfrm>
            <a:off x="6309360" y="114300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+79%</a:t>
            </a:r>
            <a:endParaRPr/>
          </a:p>
        </p:txBody>
      </p:sp>
      <p:sp>
        <p:nvSpPr>
          <p:cNvPr id="291" name="Google Shape;291;p3"/>
          <p:cNvSpPr/>
          <p:nvPr/>
        </p:nvSpPr>
        <p:spPr>
          <a:xfrm>
            <a:off x="365760" y="224028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3"/>
          <p:cNvSpPr/>
          <p:nvPr/>
        </p:nvSpPr>
        <p:spPr>
          <a:xfrm>
            <a:off x="365760" y="2240280"/>
            <a:ext cx="91440" cy="1188720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3"/>
          <p:cNvSpPr txBox="1"/>
          <p:nvPr/>
        </p:nvSpPr>
        <p:spPr>
          <a:xfrm>
            <a:off x="594360" y="23317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2</a:t>
            </a:r>
            <a:endParaRPr/>
          </a:p>
        </p:txBody>
      </p:sp>
      <p:sp>
        <p:nvSpPr>
          <p:cNvPr id="294" name="Google Shape;294;p3"/>
          <p:cNvSpPr txBox="1"/>
          <p:nvPr/>
        </p:nvSpPr>
        <p:spPr>
          <a:xfrm>
            <a:off x="594360" y="258775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Activity Compliance</a:t>
            </a:r>
            <a:endParaRPr/>
          </a:p>
        </p:txBody>
      </p:sp>
      <p:sp>
        <p:nvSpPr>
          <p:cNvPr id="295" name="Google Shape;295;p3"/>
          <p:cNvSpPr txBox="1"/>
          <p:nvPr/>
        </p:nvSpPr>
        <p:spPr>
          <a:xfrm>
            <a:off x="594360" y="295351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Goal ≥ 100% (40/wk)</a:t>
            </a:r>
            <a:endParaRPr/>
          </a:p>
        </p:txBody>
      </p:sp>
      <p:sp>
        <p:nvSpPr>
          <p:cNvPr id="296" name="Google Shape;296;p3"/>
          <p:cNvSpPr txBox="1"/>
          <p:nvPr/>
        </p:nvSpPr>
        <p:spPr>
          <a:xfrm>
            <a:off x="6309360" y="242316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96%</a:t>
            </a:r>
            <a:endParaRPr/>
          </a:p>
        </p:txBody>
      </p:sp>
      <p:sp>
        <p:nvSpPr>
          <p:cNvPr id="297" name="Google Shape;297;p3"/>
          <p:cNvSpPr/>
          <p:nvPr/>
        </p:nvSpPr>
        <p:spPr>
          <a:xfrm>
            <a:off x="365760" y="352044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3"/>
          <p:cNvSpPr/>
          <p:nvPr/>
        </p:nvSpPr>
        <p:spPr>
          <a:xfrm>
            <a:off x="365760" y="3520440"/>
            <a:ext cx="91440" cy="118872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3"/>
          <p:cNvSpPr txBox="1"/>
          <p:nvPr/>
        </p:nvSpPr>
        <p:spPr>
          <a:xfrm>
            <a:off x="594360" y="361188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3</a:t>
            </a:r>
            <a:endParaRPr/>
          </a:p>
        </p:txBody>
      </p:sp>
      <p:sp>
        <p:nvSpPr>
          <p:cNvPr id="300" name="Google Shape;300;p3"/>
          <p:cNvSpPr txBox="1"/>
          <p:nvPr/>
        </p:nvSpPr>
        <p:spPr>
          <a:xfrm>
            <a:off x="594360" y="386791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Active %</a:t>
            </a:r>
            <a:endParaRPr/>
          </a:p>
        </p:txBody>
      </p:sp>
      <p:sp>
        <p:nvSpPr>
          <p:cNvPr id="301" name="Google Shape;301;p3"/>
          <p:cNvSpPr txBox="1"/>
          <p:nvPr/>
        </p:nvSpPr>
        <p:spPr>
          <a:xfrm>
            <a:off x="594360" y="423367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 of 34 agencies  |  Goal 100%</a:t>
            </a:r>
            <a:endParaRPr/>
          </a:p>
        </p:txBody>
      </p:sp>
      <p:sp>
        <p:nvSpPr>
          <p:cNvPr id="302" name="Google Shape;302;p3"/>
          <p:cNvSpPr txBox="1"/>
          <p:nvPr/>
        </p:nvSpPr>
        <p:spPr>
          <a:xfrm>
            <a:off x="6309360" y="370332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100%</a:t>
            </a:r>
            <a:endParaRPr/>
          </a:p>
        </p:txBody>
      </p:sp>
      <p:sp>
        <p:nvSpPr>
          <p:cNvPr id="303" name="Google Shape;303;p3"/>
          <p:cNvSpPr/>
          <p:nvPr/>
        </p:nvSpPr>
        <p:spPr>
          <a:xfrm>
            <a:off x="365760" y="4800600"/>
            <a:ext cx="8138160" cy="11887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3"/>
          <p:cNvSpPr/>
          <p:nvPr/>
        </p:nvSpPr>
        <p:spPr>
          <a:xfrm>
            <a:off x="365760" y="4800600"/>
            <a:ext cx="91440" cy="1188720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3"/>
          <p:cNvSpPr txBox="1"/>
          <p:nvPr/>
        </p:nvSpPr>
        <p:spPr>
          <a:xfrm>
            <a:off x="594360" y="489204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</a:t>
            </a:r>
            <a:endParaRPr/>
          </a:p>
        </p:txBody>
      </p:sp>
      <p:sp>
        <p:nvSpPr>
          <p:cNvPr id="306" name="Google Shape;306;p3"/>
          <p:cNvSpPr txBox="1"/>
          <p:nvPr/>
        </p:nvSpPr>
        <p:spPr>
          <a:xfrm>
            <a:off x="594360" y="5148072"/>
            <a:ext cx="50292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Producing Agencies</a:t>
            </a:r>
            <a:endParaRPr/>
          </a:p>
        </p:txBody>
      </p:sp>
      <p:sp>
        <p:nvSpPr>
          <p:cNvPr id="307" name="Google Shape;307;p3"/>
          <p:cNvSpPr txBox="1"/>
          <p:nvPr/>
        </p:nvSpPr>
        <p:spPr>
          <a:xfrm>
            <a:off x="594360" y="5513832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Activated Won  |  Goal ≥ 4</a:t>
            </a:r>
            <a:endParaRPr/>
          </a:p>
        </p:txBody>
      </p:sp>
      <p:sp>
        <p:nvSpPr>
          <p:cNvPr id="308" name="Google Shape;308;p3"/>
          <p:cNvSpPr txBox="1"/>
          <p:nvPr/>
        </p:nvSpPr>
        <p:spPr>
          <a:xfrm>
            <a:off x="6309360" y="4983480"/>
            <a:ext cx="210312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of 4</a:t>
            </a:r>
            <a:endParaRPr/>
          </a:p>
        </p:txBody>
      </p:sp>
      <p:sp>
        <p:nvSpPr>
          <p:cNvPr id="309" name="Google Shape;309;p3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1: Q2 paced subs YoY — current Q2-YTD subs ÷ days-elapsed × 91 vs prior full Q2 (Apr–Jun 2025)  |  OKR 2: Q2 avg weekly calls + meetings vs 40/wk goal (outbound calls + meetings only, matches scoreboard)  |  OKR 3: % of HubSpot book with ≥1 submission in 2026  |  OKR 4: Q2 Activated-Won NNA deals with `Appointed - ` prefix, owned by this BDM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4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BD Activity  —  Ron Douglas</a:t>
            </a:r>
            <a:endParaRPr/>
          </a:p>
        </p:txBody>
      </p:sp>
      <p:sp>
        <p:nvSpPr>
          <p:cNvPr id="316" name="Google Shape;316;p4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Calls + Meetings  |  Weekly goal: 40 activities  |  Colored arrow = month-over-month trend vs prior complete month</a:t>
            </a:r>
            <a:endParaRPr/>
          </a:p>
        </p:txBody>
      </p:sp>
      <p:sp>
        <p:nvSpPr>
          <p:cNvPr id="317" name="Google Shape;317;p4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462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Calls</a:t>
            </a:r>
            <a:endParaRPr/>
          </a:p>
        </p:txBody>
      </p:sp>
      <p:sp>
        <p:nvSpPr>
          <p:cNvPr id="318" name="Google Shape;318;p4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 ▼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Meetings</a:t>
            </a:r>
            <a:endParaRPr/>
          </a:p>
        </p:txBody>
      </p:sp>
      <p:sp>
        <p:nvSpPr>
          <p:cNvPr id="319" name="Google Shape;319;p4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555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Activity</a:t>
            </a:r>
            <a:endParaRPr/>
          </a:p>
        </p:txBody>
      </p:sp>
      <p:sp>
        <p:nvSpPr>
          <p:cNvPr id="320" name="Google Shape;320;p4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26.4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/ Week</a:t>
            </a:r>
            <a:endParaRPr/>
          </a:p>
        </p:txBody>
      </p:sp>
      <p:sp>
        <p:nvSpPr>
          <p:cNvPr id="321" name="Google Shape;321;p4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 (40/wk)</a:t>
            </a:r>
            <a:endParaRPr/>
          </a:p>
        </p:txBody>
      </p:sp>
      <p:sp>
        <p:nvSpPr>
          <p:cNvPr id="322" name="Google Shape;322;p4"/>
          <p:cNvSpPr/>
          <p:nvPr/>
        </p:nvSpPr>
        <p:spPr>
          <a:xfrm>
            <a:off x="137160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4"/>
          <p:cNvSpPr txBox="1"/>
          <p:nvPr/>
        </p:nvSpPr>
        <p:spPr>
          <a:xfrm>
            <a:off x="246888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1–11  (Jan–Mar)</a:t>
            </a:r>
            <a:endParaRPr/>
          </a:p>
        </p:txBody>
      </p:sp>
      <p:sp>
        <p:nvSpPr>
          <p:cNvPr id="324" name="Google Shape;324;p4"/>
          <p:cNvSpPr txBox="1"/>
          <p:nvPr/>
        </p:nvSpPr>
        <p:spPr>
          <a:xfrm>
            <a:off x="246888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325" name="Google Shape;325;p4"/>
          <p:cNvSpPr txBox="1"/>
          <p:nvPr/>
        </p:nvSpPr>
        <p:spPr>
          <a:xfrm>
            <a:off x="18928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326" name="Google Shape;326;p4"/>
          <p:cNvSpPr txBox="1"/>
          <p:nvPr/>
        </p:nvSpPr>
        <p:spPr>
          <a:xfrm>
            <a:off x="26243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327" name="Google Shape;327;p4"/>
          <p:cNvSpPr txBox="1"/>
          <p:nvPr/>
        </p:nvSpPr>
        <p:spPr>
          <a:xfrm>
            <a:off x="349300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328" name="Google Shape;328;p4"/>
          <p:cNvSpPr txBox="1"/>
          <p:nvPr/>
        </p:nvSpPr>
        <p:spPr>
          <a:xfrm>
            <a:off x="4224528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329" name="Google Shape;329;p4"/>
          <p:cNvSpPr txBox="1"/>
          <p:nvPr/>
        </p:nvSpPr>
        <p:spPr>
          <a:xfrm>
            <a:off x="5001768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330" name="Google Shape;330;p4"/>
          <p:cNvSpPr/>
          <p:nvPr/>
        </p:nvSpPr>
        <p:spPr>
          <a:xfrm>
            <a:off x="182880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4"/>
          <p:cNvSpPr/>
          <p:nvPr/>
        </p:nvSpPr>
        <p:spPr>
          <a:xfrm>
            <a:off x="137160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4"/>
          <p:cNvSpPr/>
          <p:nvPr/>
        </p:nvSpPr>
        <p:spPr>
          <a:xfrm>
            <a:off x="137160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4"/>
          <p:cNvSpPr txBox="1"/>
          <p:nvPr/>
        </p:nvSpPr>
        <p:spPr>
          <a:xfrm>
            <a:off x="246888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1/5–1/11</a:t>
            </a:r>
            <a:endParaRPr/>
          </a:p>
        </p:txBody>
      </p:sp>
      <p:sp>
        <p:nvSpPr>
          <p:cNvPr id="334" name="Google Shape;334;p4"/>
          <p:cNvSpPr txBox="1"/>
          <p:nvPr/>
        </p:nvSpPr>
        <p:spPr>
          <a:xfrm>
            <a:off x="18928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35" name="Google Shape;335;p4"/>
          <p:cNvSpPr txBox="1"/>
          <p:nvPr/>
        </p:nvSpPr>
        <p:spPr>
          <a:xfrm>
            <a:off x="2624328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6" name="Google Shape;336;p4"/>
          <p:cNvSpPr txBox="1"/>
          <p:nvPr/>
        </p:nvSpPr>
        <p:spPr>
          <a:xfrm>
            <a:off x="3493008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37" name="Google Shape;337;p4"/>
          <p:cNvSpPr txBox="1"/>
          <p:nvPr/>
        </p:nvSpPr>
        <p:spPr>
          <a:xfrm>
            <a:off x="4224528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40%</a:t>
            </a:r>
            <a:endParaRPr/>
          </a:p>
        </p:txBody>
      </p:sp>
      <p:sp>
        <p:nvSpPr>
          <p:cNvPr id="338" name="Google Shape;338;p4"/>
          <p:cNvSpPr txBox="1"/>
          <p:nvPr/>
        </p:nvSpPr>
        <p:spPr>
          <a:xfrm>
            <a:off x="5001768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39" name="Google Shape;339;p4"/>
          <p:cNvSpPr/>
          <p:nvPr/>
        </p:nvSpPr>
        <p:spPr>
          <a:xfrm>
            <a:off x="137160" y="240944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" name="Google Shape;340;p4"/>
          <p:cNvSpPr/>
          <p:nvPr/>
        </p:nvSpPr>
        <p:spPr>
          <a:xfrm>
            <a:off x="137160" y="240944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4"/>
          <p:cNvSpPr txBox="1"/>
          <p:nvPr/>
        </p:nvSpPr>
        <p:spPr>
          <a:xfrm>
            <a:off x="246888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1/12–1/18</a:t>
            </a:r>
            <a:endParaRPr/>
          </a:p>
        </p:txBody>
      </p:sp>
      <p:sp>
        <p:nvSpPr>
          <p:cNvPr id="342" name="Google Shape;342;p4"/>
          <p:cNvSpPr txBox="1"/>
          <p:nvPr/>
        </p:nvSpPr>
        <p:spPr>
          <a:xfrm>
            <a:off x="18928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43" name="Google Shape;343;p4"/>
          <p:cNvSpPr txBox="1"/>
          <p:nvPr/>
        </p:nvSpPr>
        <p:spPr>
          <a:xfrm>
            <a:off x="2624328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44" name="Google Shape;344;p4"/>
          <p:cNvSpPr txBox="1"/>
          <p:nvPr/>
        </p:nvSpPr>
        <p:spPr>
          <a:xfrm>
            <a:off x="3493008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45" name="Google Shape;345;p4"/>
          <p:cNvSpPr txBox="1"/>
          <p:nvPr/>
        </p:nvSpPr>
        <p:spPr>
          <a:xfrm>
            <a:off x="4224528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28%</a:t>
            </a:r>
            <a:endParaRPr/>
          </a:p>
        </p:txBody>
      </p:sp>
      <p:sp>
        <p:nvSpPr>
          <p:cNvPr id="346" name="Google Shape;346;p4"/>
          <p:cNvSpPr txBox="1"/>
          <p:nvPr/>
        </p:nvSpPr>
        <p:spPr>
          <a:xfrm>
            <a:off x="5001768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47" name="Google Shape;347;p4"/>
          <p:cNvSpPr/>
          <p:nvPr/>
        </p:nvSpPr>
        <p:spPr>
          <a:xfrm>
            <a:off x="137160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4"/>
          <p:cNvSpPr/>
          <p:nvPr/>
        </p:nvSpPr>
        <p:spPr>
          <a:xfrm>
            <a:off x="137160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4"/>
          <p:cNvSpPr txBox="1"/>
          <p:nvPr/>
        </p:nvSpPr>
        <p:spPr>
          <a:xfrm>
            <a:off x="246888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1/19–1/25</a:t>
            </a:r>
            <a:endParaRPr/>
          </a:p>
        </p:txBody>
      </p:sp>
      <p:sp>
        <p:nvSpPr>
          <p:cNvPr id="350" name="Google Shape;350;p4"/>
          <p:cNvSpPr txBox="1"/>
          <p:nvPr/>
        </p:nvSpPr>
        <p:spPr>
          <a:xfrm>
            <a:off x="18928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51" name="Google Shape;351;p4"/>
          <p:cNvSpPr txBox="1"/>
          <p:nvPr/>
        </p:nvSpPr>
        <p:spPr>
          <a:xfrm>
            <a:off x="2624328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2" name="Google Shape;352;p4"/>
          <p:cNvSpPr txBox="1"/>
          <p:nvPr/>
        </p:nvSpPr>
        <p:spPr>
          <a:xfrm>
            <a:off x="3493008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53" name="Google Shape;353;p4"/>
          <p:cNvSpPr txBox="1"/>
          <p:nvPr/>
        </p:nvSpPr>
        <p:spPr>
          <a:xfrm>
            <a:off x="4224528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48%</a:t>
            </a:r>
            <a:endParaRPr/>
          </a:p>
        </p:txBody>
      </p:sp>
      <p:sp>
        <p:nvSpPr>
          <p:cNvPr id="354" name="Google Shape;354;p4"/>
          <p:cNvSpPr txBox="1"/>
          <p:nvPr/>
        </p:nvSpPr>
        <p:spPr>
          <a:xfrm>
            <a:off x="5001768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55" name="Google Shape;355;p4"/>
          <p:cNvSpPr/>
          <p:nvPr/>
        </p:nvSpPr>
        <p:spPr>
          <a:xfrm>
            <a:off x="137160" y="289407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4"/>
          <p:cNvSpPr/>
          <p:nvPr/>
        </p:nvSpPr>
        <p:spPr>
          <a:xfrm>
            <a:off x="137160" y="289407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4"/>
          <p:cNvSpPr txBox="1"/>
          <p:nvPr/>
        </p:nvSpPr>
        <p:spPr>
          <a:xfrm>
            <a:off x="246888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1/26–2/1</a:t>
            </a:r>
            <a:endParaRPr/>
          </a:p>
        </p:txBody>
      </p:sp>
      <p:sp>
        <p:nvSpPr>
          <p:cNvPr id="358" name="Google Shape;358;p4"/>
          <p:cNvSpPr txBox="1"/>
          <p:nvPr/>
        </p:nvSpPr>
        <p:spPr>
          <a:xfrm>
            <a:off x="18928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59" name="Google Shape;359;p4"/>
          <p:cNvSpPr txBox="1"/>
          <p:nvPr/>
        </p:nvSpPr>
        <p:spPr>
          <a:xfrm>
            <a:off x="2624328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60" name="Google Shape;360;p4"/>
          <p:cNvSpPr txBox="1"/>
          <p:nvPr/>
        </p:nvSpPr>
        <p:spPr>
          <a:xfrm>
            <a:off x="3493008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61" name="Google Shape;361;p4"/>
          <p:cNvSpPr txBox="1"/>
          <p:nvPr/>
        </p:nvSpPr>
        <p:spPr>
          <a:xfrm>
            <a:off x="4224528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</p:txBody>
      </p:sp>
      <p:sp>
        <p:nvSpPr>
          <p:cNvPr id="362" name="Google Shape;362;p4"/>
          <p:cNvSpPr txBox="1"/>
          <p:nvPr/>
        </p:nvSpPr>
        <p:spPr>
          <a:xfrm>
            <a:off x="5001768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63" name="Google Shape;363;p4"/>
          <p:cNvSpPr/>
          <p:nvPr/>
        </p:nvSpPr>
        <p:spPr>
          <a:xfrm>
            <a:off x="137160" y="313639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4"/>
          <p:cNvSpPr/>
          <p:nvPr/>
        </p:nvSpPr>
        <p:spPr>
          <a:xfrm>
            <a:off x="137160" y="313639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4"/>
          <p:cNvSpPr txBox="1"/>
          <p:nvPr/>
        </p:nvSpPr>
        <p:spPr>
          <a:xfrm>
            <a:off x="246888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2/2–2/8</a:t>
            </a:r>
            <a:endParaRPr/>
          </a:p>
        </p:txBody>
      </p:sp>
      <p:sp>
        <p:nvSpPr>
          <p:cNvPr id="366" name="Google Shape;366;p4"/>
          <p:cNvSpPr txBox="1"/>
          <p:nvPr/>
        </p:nvSpPr>
        <p:spPr>
          <a:xfrm>
            <a:off x="18928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67" name="Google Shape;367;p4"/>
          <p:cNvSpPr txBox="1"/>
          <p:nvPr/>
        </p:nvSpPr>
        <p:spPr>
          <a:xfrm>
            <a:off x="2624328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8" name="Google Shape;368;p4"/>
          <p:cNvSpPr txBox="1"/>
          <p:nvPr/>
        </p:nvSpPr>
        <p:spPr>
          <a:xfrm>
            <a:off x="3493008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69" name="Google Shape;369;p4"/>
          <p:cNvSpPr txBox="1"/>
          <p:nvPr/>
        </p:nvSpPr>
        <p:spPr>
          <a:xfrm>
            <a:off x="4224528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20%</a:t>
            </a:r>
            <a:endParaRPr/>
          </a:p>
        </p:txBody>
      </p:sp>
      <p:sp>
        <p:nvSpPr>
          <p:cNvPr id="370" name="Google Shape;370;p4"/>
          <p:cNvSpPr txBox="1"/>
          <p:nvPr/>
        </p:nvSpPr>
        <p:spPr>
          <a:xfrm>
            <a:off x="5001768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1" name="Google Shape;371;p4"/>
          <p:cNvSpPr/>
          <p:nvPr/>
        </p:nvSpPr>
        <p:spPr>
          <a:xfrm>
            <a:off x="137160" y="337870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4"/>
          <p:cNvSpPr/>
          <p:nvPr/>
        </p:nvSpPr>
        <p:spPr>
          <a:xfrm>
            <a:off x="137160" y="337870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4"/>
          <p:cNvSpPr txBox="1"/>
          <p:nvPr/>
        </p:nvSpPr>
        <p:spPr>
          <a:xfrm>
            <a:off x="246888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2/9–2/15</a:t>
            </a:r>
            <a:endParaRPr/>
          </a:p>
        </p:txBody>
      </p:sp>
      <p:sp>
        <p:nvSpPr>
          <p:cNvPr id="374" name="Google Shape;374;p4"/>
          <p:cNvSpPr txBox="1"/>
          <p:nvPr/>
        </p:nvSpPr>
        <p:spPr>
          <a:xfrm>
            <a:off x="18928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75" name="Google Shape;375;p4"/>
          <p:cNvSpPr txBox="1"/>
          <p:nvPr/>
        </p:nvSpPr>
        <p:spPr>
          <a:xfrm>
            <a:off x="2624328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76" name="Google Shape;376;p4"/>
          <p:cNvSpPr txBox="1"/>
          <p:nvPr/>
        </p:nvSpPr>
        <p:spPr>
          <a:xfrm>
            <a:off x="3493008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77" name="Google Shape;377;p4"/>
          <p:cNvSpPr txBox="1"/>
          <p:nvPr/>
        </p:nvSpPr>
        <p:spPr>
          <a:xfrm>
            <a:off x="4224528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</p:txBody>
      </p:sp>
      <p:sp>
        <p:nvSpPr>
          <p:cNvPr id="378" name="Google Shape;378;p4"/>
          <p:cNvSpPr txBox="1"/>
          <p:nvPr/>
        </p:nvSpPr>
        <p:spPr>
          <a:xfrm>
            <a:off x="5001768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79" name="Google Shape;379;p4"/>
          <p:cNvSpPr/>
          <p:nvPr/>
        </p:nvSpPr>
        <p:spPr>
          <a:xfrm>
            <a:off x="137160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4"/>
          <p:cNvSpPr/>
          <p:nvPr/>
        </p:nvSpPr>
        <p:spPr>
          <a:xfrm>
            <a:off x="137160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4"/>
          <p:cNvSpPr txBox="1"/>
          <p:nvPr/>
        </p:nvSpPr>
        <p:spPr>
          <a:xfrm>
            <a:off x="246888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2/16–2/22</a:t>
            </a:r>
            <a:endParaRPr/>
          </a:p>
        </p:txBody>
      </p:sp>
      <p:sp>
        <p:nvSpPr>
          <p:cNvPr id="382" name="Google Shape;382;p4"/>
          <p:cNvSpPr txBox="1"/>
          <p:nvPr/>
        </p:nvSpPr>
        <p:spPr>
          <a:xfrm>
            <a:off x="18928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83" name="Google Shape;383;p4"/>
          <p:cNvSpPr txBox="1"/>
          <p:nvPr/>
        </p:nvSpPr>
        <p:spPr>
          <a:xfrm>
            <a:off x="2624328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4" name="Google Shape;384;p4"/>
          <p:cNvSpPr txBox="1"/>
          <p:nvPr/>
        </p:nvSpPr>
        <p:spPr>
          <a:xfrm>
            <a:off x="3493008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85" name="Google Shape;385;p4"/>
          <p:cNvSpPr txBox="1"/>
          <p:nvPr/>
        </p:nvSpPr>
        <p:spPr>
          <a:xfrm>
            <a:off x="4224528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32%</a:t>
            </a:r>
            <a:endParaRPr/>
          </a:p>
        </p:txBody>
      </p:sp>
      <p:sp>
        <p:nvSpPr>
          <p:cNvPr id="386" name="Google Shape;386;p4"/>
          <p:cNvSpPr txBox="1"/>
          <p:nvPr/>
        </p:nvSpPr>
        <p:spPr>
          <a:xfrm>
            <a:off x="5001768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387" name="Google Shape;387;p4"/>
          <p:cNvSpPr/>
          <p:nvPr/>
        </p:nvSpPr>
        <p:spPr>
          <a:xfrm>
            <a:off x="137160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4"/>
          <p:cNvSpPr/>
          <p:nvPr/>
        </p:nvSpPr>
        <p:spPr>
          <a:xfrm>
            <a:off x="137160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9" name="Google Shape;389;p4"/>
          <p:cNvSpPr txBox="1"/>
          <p:nvPr/>
        </p:nvSpPr>
        <p:spPr>
          <a:xfrm>
            <a:off x="246888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2/23–3/1</a:t>
            </a:r>
            <a:endParaRPr/>
          </a:p>
        </p:txBody>
      </p:sp>
      <p:sp>
        <p:nvSpPr>
          <p:cNvPr id="390" name="Google Shape;390;p4"/>
          <p:cNvSpPr txBox="1"/>
          <p:nvPr/>
        </p:nvSpPr>
        <p:spPr>
          <a:xfrm>
            <a:off x="18928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391" name="Google Shape;391;p4"/>
          <p:cNvSpPr txBox="1"/>
          <p:nvPr/>
        </p:nvSpPr>
        <p:spPr>
          <a:xfrm>
            <a:off x="2624328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92" name="Google Shape;392;p4"/>
          <p:cNvSpPr txBox="1"/>
          <p:nvPr/>
        </p:nvSpPr>
        <p:spPr>
          <a:xfrm>
            <a:off x="3493008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93" name="Google Shape;393;p4"/>
          <p:cNvSpPr txBox="1"/>
          <p:nvPr/>
        </p:nvSpPr>
        <p:spPr>
          <a:xfrm>
            <a:off x="4224528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152%</a:t>
            </a:r>
            <a:endParaRPr/>
          </a:p>
        </p:txBody>
      </p:sp>
      <p:sp>
        <p:nvSpPr>
          <p:cNvPr id="394" name="Google Shape;394;p4"/>
          <p:cNvSpPr txBox="1"/>
          <p:nvPr/>
        </p:nvSpPr>
        <p:spPr>
          <a:xfrm>
            <a:off x="5001768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395" name="Google Shape;395;p4"/>
          <p:cNvSpPr/>
          <p:nvPr/>
        </p:nvSpPr>
        <p:spPr>
          <a:xfrm>
            <a:off x="137160" y="4105656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" name="Google Shape;396;p4"/>
          <p:cNvSpPr/>
          <p:nvPr/>
        </p:nvSpPr>
        <p:spPr>
          <a:xfrm>
            <a:off x="137160" y="4105656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4"/>
          <p:cNvSpPr txBox="1"/>
          <p:nvPr/>
        </p:nvSpPr>
        <p:spPr>
          <a:xfrm>
            <a:off x="246888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3/2–3/8</a:t>
            </a:r>
            <a:endParaRPr/>
          </a:p>
        </p:txBody>
      </p:sp>
      <p:sp>
        <p:nvSpPr>
          <p:cNvPr id="398" name="Google Shape;398;p4"/>
          <p:cNvSpPr txBox="1"/>
          <p:nvPr/>
        </p:nvSpPr>
        <p:spPr>
          <a:xfrm>
            <a:off x="18928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99" name="Google Shape;399;p4"/>
          <p:cNvSpPr txBox="1"/>
          <p:nvPr/>
        </p:nvSpPr>
        <p:spPr>
          <a:xfrm>
            <a:off x="2624328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0" name="Google Shape;400;p4"/>
          <p:cNvSpPr txBox="1"/>
          <p:nvPr/>
        </p:nvSpPr>
        <p:spPr>
          <a:xfrm>
            <a:off x="3493008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01" name="Google Shape;401;p4"/>
          <p:cNvSpPr txBox="1"/>
          <p:nvPr/>
        </p:nvSpPr>
        <p:spPr>
          <a:xfrm>
            <a:off x="4224528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65%</a:t>
            </a:r>
            <a:endParaRPr/>
          </a:p>
        </p:txBody>
      </p:sp>
      <p:sp>
        <p:nvSpPr>
          <p:cNvPr id="402" name="Google Shape;402;p4"/>
          <p:cNvSpPr txBox="1"/>
          <p:nvPr/>
        </p:nvSpPr>
        <p:spPr>
          <a:xfrm>
            <a:off x="5001768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03" name="Google Shape;403;p4"/>
          <p:cNvSpPr/>
          <p:nvPr/>
        </p:nvSpPr>
        <p:spPr>
          <a:xfrm>
            <a:off x="137160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" name="Google Shape;404;p4"/>
          <p:cNvSpPr/>
          <p:nvPr/>
        </p:nvSpPr>
        <p:spPr>
          <a:xfrm>
            <a:off x="137160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" name="Google Shape;405;p4"/>
          <p:cNvSpPr txBox="1"/>
          <p:nvPr/>
        </p:nvSpPr>
        <p:spPr>
          <a:xfrm>
            <a:off x="246888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3/9–3/15</a:t>
            </a:r>
            <a:endParaRPr/>
          </a:p>
        </p:txBody>
      </p:sp>
      <p:sp>
        <p:nvSpPr>
          <p:cNvPr id="406" name="Google Shape;406;p4"/>
          <p:cNvSpPr txBox="1"/>
          <p:nvPr/>
        </p:nvSpPr>
        <p:spPr>
          <a:xfrm>
            <a:off x="18928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7" name="Google Shape;407;p4"/>
          <p:cNvSpPr txBox="1"/>
          <p:nvPr/>
        </p:nvSpPr>
        <p:spPr>
          <a:xfrm>
            <a:off x="2624328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08" name="Google Shape;408;p4"/>
          <p:cNvSpPr txBox="1"/>
          <p:nvPr/>
        </p:nvSpPr>
        <p:spPr>
          <a:xfrm>
            <a:off x="3493008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09" name="Google Shape;409;p4"/>
          <p:cNvSpPr txBox="1"/>
          <p:nvPr/>
        </p:nvSpPr>
        <p:spPr>
          <a:xfrm>
            <a:off x="4224528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</p:txBody>
      </p:sp>
      <p:sp>
        <p:nvSpPr>
          <p:cNvPr id="410" name="Google Shape;410;p4"/>
          <p:cNvSpPr txBox="1"/>
          <p:nvPr/>
        </p:nvSpPr>
        <p:spPr>
          <a:xfrm>
            <a:off x="5001768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1" name="Google Shape;411;p4"/>
          <p:cNvSpPr/>
          <p:nvPr/>
        </p:nvSpPr>
        <p:spPr>
          <a:xfrm>
            <a:off x="137160" y="459028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4"/>
          <p:cNvSpPr/>
          <p:nvPr/>
        </p:nvSpPr>
        <p:spPr>
          <a:xfrm>
            <a:off x="137160" y="459028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4"/>
          <p:cNvSpPr txBox="1"/>
          <p:nvPr/>
        </p:nvSpPr>
        <p:spPr>
          <a:xfrm>
            <a:off x="246888" y="460857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3/16–3/22</a:t>
            </a:r>
            <a:endParaRPr/>
          </a:p>
        </p:txBody>
      </p:sp>
      <p:sp>
        <p:nvSpPr>
          <p:cNvPr id="414" name="Google Shape;414;p4"/>
          <p:cNvSpPr txBox="1"/>
          <p:nvPr/>
        </p:nvSpPr>
        <p:spPr>
          <a:xfrm>
            <a:off x="18928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15" name="Google Shape;415;p4"/>
          <p:cNvSpPr txBox="1"/>
          <p:nvPr/>
        </p:nvSpPr>
        <p:spPr>
          <a:xfrm>
            <a:off x="2624328" y="460857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16" name="Google Shape;416;p4"/>
          <p:cNvSpPr txBox="1"/>
          <p:nvPr/>
        </p:nvSpPr>
        <p:spPr>
          <a:xfrm>
            <a:off x="3493008" y="460857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17" name="Google Shape;417;p4"/>
          <p:cNvSpPr txBox="1"/>
          <p:nvPr/>
        </p:nvSpPr>
        <p:spPr>
          <a:xfrm>
            <a:off x="4224528" y="460857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48%</a:t>
            </a:r>
            <a:endParaRPr/>
          </a:p>
        </p:txBody>
      </p:sp>
      <p:sp>
        <p:nvSpPr>
          <p:cNvPr id="418" name="Google Shape;418;p4"/>
          <p:cNvSpPr txBox="1"/>
          <p:nvPr/>
        </p:nvSpPr>
        <p:spPr>
          <a:xfrm>
            <a:off x="5001768" y="460857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19" name="Google Shape;419;p4"/>
          <p:cNvSpPr/>
          <p:nvPr/>
        </p:nvSpPr>
        <p:spPr>
          <a:xfrm>
            <a:off x="6199632" y="1600200"/>
            <a:ext cx="58521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4"/>
          <p:cNvSpPr txBox="1"/>
          <p:nvPr/>
        </p:nvSpPr>
        <p:spPr>
          <a:xfrm>
            <a:off x="6309360" y="1636776"/>
            <a:ext cx="5669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WEEKS 12–21  (Mar–May)</a:t>
            </a:r>
            <a:endParaRPr/>
          </a:p>
        </p:txBody>
      </p:sp>
      <p:sp>
        <p:nvSpPr>
          <p:cNvPr id="421" name="Google Shape;421;p4"/>
          <p:cNvSpPr txBox="1"/>
          <p:nvPr/>
        </p:nvSpPr>
        <p:spPr>
          <a:xfrm>
            <a:off x="6309360" y="1938528"/>
            <a:ext cx="16459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Week</a:t>
            </a:r>
            <a:endParaRPr/>
          </a:p>
        </p:txBody>
      </p:sp>
      <p:sp>
        <p:nvSpPr>
          <p:cNvPr id="422" name="Google Shape;422;p4"/>
          <p:cNvSpPr txBox="1"/>
          <p:nvPr/>
        </p:nvSpPr>
        <p:spPr>
          <a:xfrm>
            <a:off x="79552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Calls</a:t>
            </a:r>
            <a:endParaRPr/>
          </a:p>
        </p:txBody>
      </p:sp>
      <p:sp>
        <p:nvSpPr>
          <p:cNvPr id="423" name="Google Shape;423;p4"/>
          <p:cNvSpPr txBox="1"/>
          <p:nvPr/>
        </p:nvSpPr>
        <p:spPr>
          <a:xfrm>
            <a:off x="8686800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Meetings</a:t>
            </a:r>
            <a:endParaRPr/>
          </a:p>
        </p:txBody>
      </p:sp>
      <p:sp>
        <p:nvSpPr>
          <p:cNvPr id="424" name="Google Shape;424;p4"/>
          <p:cNvSpPr txBox="1"/>
          <p:nvPr/>
        </p:nvSpPr>
        <p:spPr>
          <a:xfrm>
            <a:off x="9555480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</a:t>
            </a:r>
            <a:endParaRPr/>
          </a:p>
        </p:txBody>
      </p:sp>
      <p:sp>
        <p:nvSpPr>
          <p:cNvPr id="425" name="Google Shape;425;p4"/>
          <p:cNvSpPr txBox="1"/>
          <p:nvPr/>
        </p:nvSpPr>
        <p:spPr>
          <a:xfrm>
            <a:off x="10287000" y="1938528"/>
            <a:ext cx="7772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Goal</a:t>
            </a:r>
            <a:endParaRPr/>
          </a:p>
        </p:txBody>
      </p:sp>
      <p:sp>
        <p:nvSpPr>
          <p:cNvPr id="426" name="Google Shape;426;p4"/>
          <p:cNvSpPr txBox="1"/>
          <p:nvPr/>
        </p:nvSpPr>
        <p:spPr>
          <a:xfrm>
            <a:off x="11064240" y="1938528"/>
            <a:ext cx="10515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Status</a:t>
            </a:r>
            <a:endParaRPr/>
          </a:p>
        </p:txBody>
      </p:sp>
      <p:sp>
        <p:nvSpPr>
          <p:cNvPr id="427" name="Google Shape;427;p4"/>
          <p:cNvSpPr/>
          <p:nvPr/>
        </p:nvSpPr>
        <p:spPr>
          <a:xfrm>
            <a:off x="6245352" y="2112264"/>
            <a:ext cx="583387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4"/>
          <p:cNvSpPr/>
          <p:nvPr/>
        </p:nvSpPr>
        <p:spPr>
          <a:xfrm>
            <a:off x="6199632" y="2167128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" name="Google Shape;429;p4"/>
          <p:cNvSpPr/>
          <p:nvPr/>
        </p:nvSpPr>
        <p:spPr>
          <a:xfrm>
            <a:off x="6199632" y="2167128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4"/>
          <p:cNvSpPr txBox="1"/>
          <p:nvPr/>
        </p:nvSpPr>
        <p:spPr>
          <a:xfrm>
            <a:off x="6309360" y="218541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3/23–3/29</a:t>
            </a:r>
            <a:endParaRPr/>
          </a:p>
        </p:txBody>
      </p:sp>
      <p:sp>
        <p:nvSpPr>
          <p:cNvPr id="431" name="Google Shape;431;p4"/>
          <p:cNvSpPr txBox="1"/>
          <p:nvPr/>
        </p:nvSpPr>
        <p:spPr>
          <a:xfrm>
            <a:off x="79552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32" name="Google Shape;432;p4"/>
          <p:cNvSpPr txBox="1"/>
          <p:nvPr/>
        </p:nvSpPr>
        <p:spPr>
          <a:xfrm>
            <a:off x="8686800" y="218541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33" name="Google Shape;433;p4"/>
          <p:cNvSpPr txBox="1"/>
          <p:nvPr/>
        </p:nvSpPr>
        <p:spPr>
          <a:xfrm>
            <a:off x="9555480" y="218541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434" name="Google Shape;434;p4"/>
          <p:cNvSpPr txBox="1"/>
          <p:nvPr/>
        </p:nvSpPr>
        <p:spPr>
          <a:xfrm>
            <a:off x="10287000" y="218541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32%</a:t>
            </a:r>
            <a:endParaRPr/>
          </a:p>
        </p:txBody>
      </p:sp>
      <p:sp>
        <p:nvSpPr>
          <p:cNvPr id="435" name="Google Shape;435;p4"/>
          <p:cNvSpPr txBox="1"/>
          <p:nvPr/>
        </p:nvSpPr>
        <p:spPr>
          <a:xfrm>
            <a:off x="11064240" y="218541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36" name="Google Shape;436;p4"/>
          <p:cNvSpPr/>
          <p:nvPr/>
        </p:nvSpPr>
        <p:spPr>
          <a:xfrm>
            <a:off x="6199632" y="2409444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4"/>
          <p:cNvSpPr/>
          <p:nvPr/>
        </p:nvSpPr>
        <p:spPr>
          <a:xfrm>
            <a:off x="6199632" y="2409444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4"/>
          <p:cNvSpPr txBox="1"/>
          <p:nvPr/>
        </p:nvSpPr>
        <p:spPr>
          <a:xfrm>
            <a:off x="6309360" y="242773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3/30–4/5</a:t>
            </a:r>
            <a:endParaRPr/>
          </a:p>
        </p:txBody>
      </p:sp>
      <p:sp>
        <p:nvSpPr>
          <p:cNvPr id="439" name="Google Shape;439;p4"/>
          <p:cNvSpPr txBox="1"/>
          <p:nvPr/>
        </p:nvSpPr>
        <p:spPr>
          <a:xfrm>
            <a:off x="79552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40" name="Google Shape;440;p4"/>
          <p:cNvSpPr txBox="1"/>
          <p:nvPr/>
        </p:nvSpPr>
        <p:spPr>
          <a:xfrm>
            <a:off x="8686800" y="242773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41" name="Google Shape;441;p4"/>
          <p:cNvSpPr txBox="1"/>
          <p:nvPr/>
        </p:nvSpPr>
        <p:spPr>
          <a:xfrm>
            <a:off x="9555480" y="242773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42" name="Google Shape;442;p4"/>
          <p:cNvSpPr txBox="1"/>
          <p:nvPr/>
        </p:nvSpPr>
        <p:spPr>
          <a:xfrm>
            <a:off x="10287000" y="242773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78%</a:t>
            </a:r>
            <a:endParaRPr/>
          </a:p>
        </p:txBody>
      </p:sp>
      <p:sp>
        <p:nvSpPr>
          <p:cNvPr id="443" name="Google Shape;443;p4"/>
          <p:cNvSpPr txBox="1"/>
          <p:nvPr/>
        </p:nvSpPr>
        <p:spPr>
          <a:xfrm>
            <a:off x="11064240" y="242773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44" name="Google Shape;444;p4"/>
          <p:cNvSpPr/>
          <p:nvPr/>
        </p:nvSpPr>
        <p:spPr>
          <a:xfrm>
            <a:off x="6199632" y="2651760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4"/>
          <p:cNvSpPr/>
          <p:nvPr/>
        </p:nvSpPr>
        <p:spPr>
          <a:xfrm>
            <a:off x="6199632" y="2651760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4"/>
          <p:cNvSpPr txBox="1"/>
          <p:nvPr/>
        </p:nvSpPr>
        <p:spPr>
          <a:xfrm>
            <a:off x="6309360" y="267004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4/6–4/12</a:t>
            </a:r>
            <a:endParaRPr/>
          </a:p>
        </p:txBody>
      </p:sp>
      <p:sp>
        <p:nvSpPr>
          <p:cNvPr id="447" name="Google Shape;447;p4"/>
          <p:cNvSpPr txBox="1"/>
          <p:nvPr/>
        </p:nvSpPr>
        <p:spPr>
          <a:xfrm>
            <a:off x="79552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48" name="Google Shape;448;p4"/>
          <p:cNvSpPr txBox="1"/>
          <p:nvPr/>
        </p:nvSpPr>
        <p:spPr>
          <a:xfrm>
            <a:off x="8686800" y="267004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49" name="Google Shape;449;p4"/>
          <p:cNvSpPr txBox="1"/>
          <p:nvPr/>
        </p:nvSpPr>
        <p:spPr>
          <a:xfrm>
            <a:off x="9555480" y="267004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50" name="Google Shape;450;p4"/>
          <p:cNvSpPr txBox="1"/>
          <p:nvPr/>
        </p:nvSpPr>
        <p:spPr>
          <a:xfrm>
            <a:off x="10287000" y="267004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42%</a:t>
            </a:r>
            <a:endParaRPr/>
          </a:p>
        </p:txBody>
      </p:sp>
      <p:sp>
        <p:nvSpPr>
          <p:cNvPr id="451" name="Google Shape;451;p4"/>
          <p:cNvSpPr txBox="1"/>
          <p:nvPr/>
        </p:nvSpPr>
        <p:spPr>
          <a:xfrm>
            <a:off x="11064240" y="267004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52" name="Google Shape;452;p4"/>
          <p:cNvSpPr/>
          <p:nvPr/>
        </p:nvSpPr>
        <p:spPr>
          <a:xfrm>
            <a:off x="6199632" y="289407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4"/>
          <p:cNvSpPr/>
          <p:nvPr/>
        </p:nvSpPr>
        <p:spPr>
          <a:xfrm>
            <a:off x="6199632" y="289407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4"/>
          <p:cNvSpPr txBox="1"/>
          <p:nvPr/>
        </p:nvSpPr>
        <p:spPr>
          <a:xfrm>
            <a:off x="6309360" y="291236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4/13–4/19</a:t>
            </a:r>
            <a:endParaRPr/>
          </a:p>
        </p:txBody>
      </p:sp>
      <p:sp>
        <p:nvSpPr>
          <p:cNvPr id="455" name="Google Shape;455;p4"/>
          <p:cNvSpPr txBox="1"/>
          <p:nvPr/>
        </p:nvSpPr>
        <p:spPr>
          <a:xfrm>
            <a:off x="79552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56" name="Google Shape;456;p4"/>
          <p:cNvSpPr txBox="1"/>
          <p:nvPr/>
        </p:nvSpPr>
        <p:spPr>
          <a:xfrm>
            <a:off x="8686800" y="291236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7" name="Google Shape;457;p4"/>
          <p:cNvSpPr txBox="1"/>
          <p:nvPr/>
        </p:nvSpPr>
        <p:spPr>
          <a:xfrm>
            <a:off x="9555480" y="291236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58" name="Google Shape;458;p4"/>
          <p:cNvSpPr txBox="1"/>
          <p:nvPr/>
        </p:nvSpPr>
        <p:spPr>
          <a:xfrm>
            <a:off x="10287000" y="291236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108%</a:t>
            </a:r>
            <a:endParaRPr/>
          </a:p>
        </p:txBody>
      </p:sp>
      <p:sp>
        <p:nvSpPr>
          <p:cNvPr id="459" name="Google Shape;459;p4"/>
          <p:cNvSpPr txBox="1"/>
          <p:nvPr/>
        </p:nvSpPr>
        <p:spPr>
          <a:xfrm>
            <a:off x="11064240" y="291236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60" name="Google Shape;460;p4"/>
          <p:cNvSpPr/>
          <p:nvPr/>
        </p:nvSpPr>
        <p:spPr>
          <a:xfrm>
            <a:off x="6199632" y="3136392"/>
            <a:ext cx="5852160" cy="242316"/>
          </a:xfrm>
          <a:prstGeom prst="rect">
            <a:avLst/>
          </a:prstGeom>
          <a:solidFill>
            <a:srgbClr val="FFFB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1" name="Google Shape;461;p4"/>
          <p:cNvSpPr/>
          <p:nvPr/>
        </p:nvSpPr>
        <p:spPr>
          <a:xfrm>
            <a:off x="6199632" y="3136392"/>
            <a:ext cx="50292" cy="242316"/>
          </a:xfrm>
          <a:prstGeom prst="rect">
            <a:avLst/>
          </a:prstGeom>
          <a:solidFill>
            <a:srgbClr val="D9770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4"/>
          <p:cNvSpPr txBox="1"/>
          <p:nvPr/>
        </p:nvSpPr>
        <p:spPr>
          <a:xfrm>
            <a:off x="6309360" y="315468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4/20–4/26</a:t>
            </a:r>
            <a:endParaRPr/>
          </a:p>
        </p:txBody>
      </p:sp>
      <p:sp>
        <p:nvSpPr>
          <p:cNvPr id="463" name="Google Shape;463;p4"/>
          <p:cNvSpPr txBox="1"/>
          <p:nvPr/>
        </p:nvSpPr>
        <p:spPr>
          <a:xfrm>
            <a:off x="79552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464" name="Google Shape;464;p4"/>
          <p:cNvSpPr txBox="1"/>
          <p:nvPr/>
        </p:nvSpPr>
        <p:spPr>
          <a:xfrm>
            <a:off x="8686800" y="315468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65" name="Google Shape;465;p4"/>
          <p:cNvSpPr txBox="1"/>
          <p:nvPr/>
        </p:nvSpPr>
        <p:spPr>
          <a:xfrm>
            <a:off x="9555480" y="315468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466" name="Google Shape;466;p4"/>
          <p:cNvSpPr txBox="1"/>
          <p:nvPr/>
        </p:nvSpPr>
        <p:spPr>
          <a:xfrm>
            <a:off x="10287000" y="315468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85%</a:t>
            </a:r>
            <a:endParaRPr/>
          </a:p>
        </p:txBody>
      </p:sp>
      <p:sp>
        <p:nvSpPr>
          <p:cNvPr id="467" name="Google Shape;467;p4"/>
          <p:cNvSpPr txBox="1"/>
          <p:nvPr/>
        </p:nvSpPr>
        <p:spPr>
          <a:xfrm>
            <a:off x="11064240" y="315468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9770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~ Near</a:t>
            </a:r>
            <a:endParaRPr/>
          </a:p>
        </p:txBody>
      </p:sp>
      <p:sp>
        <p:nvSpPr>
          <p:cNvPr id="468" name="Google Shape;468;p4"/>
          <p:cNvSpPr/>
          <p:nvPr/>
        </p:nvSpPr>
        <p:spPr>
          <a:xfrm>
            <a:off x="6199632" y="3378708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4"/>
          <p:cNvSpPr/>
          <p:nvPr/>
        </p:nvSpPr>
        <p:spPr>
          <a:xfrm>
            <a:off x="6199632" y="3378708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4"/>
          <p:cNvSpPr txBox="1"/>
          <p:nvPr/>
        </p:nvSpPr>
        <p:spPr>
          <a:xfrm>
            <a:off x="6309360" y="3396996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4/27–5/3</a:t>
            </a:r>
            <a:endParaRPr/>
          </a:p>
        </p:txBody>
      </p:sp>
      <p:sp>
        <p:nvSpPr>
          <p:cNvPr id="471" name="Google Shape;471;p4"/>
          <p:cNvSpPr txBox="1"/>
          <p:nvPr/>
        </p:nvSpPr>
        <p:spPr>
          <a:xfrm>
            <a:off x="79552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72" name="Google Shape;472;p4"/>
          <p:cNvSpPr txBox="1"/>
          <p:nvPr/>
        </p:nvSpPr>
        <p:spPr>
          <a:xfrm>
            <a:off x="8686800" y="3396996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73" name="Google Shape;473;p4"/>
          <p:cNvSpPr txBox="1"/>
          <p:nvPr/>
        </p:nvSpPr>
        <p:spPr>
          <a:xfrm>
            <a:off x="9555480" y="3396996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74" name="Google Shape;474;p4"/>
          <p:cNvSpPr txBox="1"/>
          <p:nvPr/>
        </p:nvSpPr>
        <p:spPr>
          <a:xfrm>
            <a:off x="10287000" y="3396996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118%</a:t>
            </a:r>
            <a:endParaRPr/>
          </a:p>
        </p:txBody>
      </p:sp>
      <p:sp>
        <p:nvSpPr>
          <p:cNvPr id="475" name="Google Shape;475;p4"/>
          <p:cNvSpPr txBox="1"/>
          <p:nvPr/>
        </p:nvSpPr>
        <p:spPr>
          <a:xfrm>
            <a:off x="11064240" y="3396996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76" name="Google Shape;476;p4"/>
          <p:cNvSpPr/>
          <p:nvPr/>
        </p:nvSpPr>
        <p:spPr>
          <a:xfrm>
            <a:off x="6199632" y="3621024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4"/>
          <p:cNvSpPr/>
          <p:nvPr/>
        </p:nvSpPr>
        <p:spPr>
          <a:xfrm>
            <a:off x="6199632" y="3621024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4"/>
          <p:cNvSpPr txBox="1"/>
          <p:nvPr/>
        </p:nvSpPr>
        <p:spPr>
          <a:xfrm>
            <a:off x="6309360" y="3639312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5/4–5/10</a:t>
            </a:r>
            <a:endParaRPr/>
          </a:p>
        </p:txBody>
      </p:sp>
      <p:sp>
        <p:nvSpPr>
          <p:cNvPr id="479" name="Google Shape;479;p4"/>
          <p:cNvSpPr txBox="1"/>
          <p:nvPr/>
        </p:nvSpPr>
        <p:spPr>
          <a:xfrm>
            <a:off x="79552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0" name="Google Shape;480;p4"/>
          <p:cNvSpPr txBox="1"/>
          <p:nvPr/>
        </p:nvSpPr>
        <p:spPr>
          <a:xfrm>
            <a:off x="8686800" y="3639312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1" name="Google Shape;481;p4"/>
          <p:cNvSpPr txBox="1"/>
          <p:nvPr/>
        </p:nvSpPr>
        <p:spPr>
          <a:xfrm>
            <a:off x="9555480" y="3639312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82" name="Google Shape;482;p4"/>
          <p:cNvSpPr txBox="1"/>
          <p:nvPr/>
        </p:nvSpPr>
        <p:spPr>
          <a:xfrm>
            <a:off x="10287000" y="3639312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</p:txBody>
      </p:sp>
      <p:sp>
        <p:nvSpPr>
          <p:cNvPr id="483" name="Google Shape;483;p4"/>
          <p:cNvSpPr txBox="1"/>
          <p:nvPr/>
        </p:nvSpPr>
        <p:spPr>
          <a:xfrm>
            <a:off x="11064240" y="3639312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484" name="Google Shape;484;p4"/>
          <p:cNvSpPr/>
          <p:nvPr/>
        </p:nvSpPr>
        <p:spPr>
          <a:xfrm>
            <a:off x="6199632" y="3863340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4"/>
          <p:cNvSpPr/>
          <p:nvPr/>
        </p:nvSpPr>
        <p:spPr>
          <a:xfrm>
            <a:off x="6199632" y="3863340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" name="Google Shape;486;p4"/>
          <p:cNvSpPr txBox="1"/>
          <p:nvPr/>
        </p:nvSpPr>
        <p:spPr>
          <a:xfrm>
            <a:off x="6309360" y="3881628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5/11–5/17</a:t>
            </a:r>
            <a:endParaRPr/>
          </a:p>
        </p:txBody>
      </p:sp>
      <p:sp>
        <p:nvSpPr>
          <p:cNvPr id="487" name="Google Shape;487;p4"/>
          <p:cNvSpPr txBox="1"/>
          <p:nvPr/>
        </p:nvSpPr>
        <p:spPr>
          <a:xfrm>
            <a:off x="79552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488" name="Google Shape;488;p4"/>
          <p:cNvSpPr txBox="1"/>
          <p:nvPr/>
        </p:nvSpPr>
        <p:spPr>
          <a:xfrm>
            <a:off x="8686800" y="3881628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89" name="Google Shape;489;p4"/>
          <p:cNvSpPr txBox="1"/>
          <p:nvPr/>
        </p:nvSpPr>
        <p:spPr>
          <a:xfrm>
            <a:off x="9555480" y="3881628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90" name="Google Shape;490;p4"/>
          <p:cNvSpPr txBox="1"/>
          <p:nvPr/>
        </p:nvSpPr>
        <p:spPr>
          <a:xfrm>
            <a:off x="10287000" y="3881628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142%</a:t>
            </a:r>
            <a:endParaRPr/>
          </a:p>
        </p:txBody>
      </p:sp>
      <p:sp>
        <p:nvSpPr>
          <p:cNvPr id="491" name="Google Shape;491;p4"/>
          <p:cNvSpPr txBox="1"/>
          <p:nvPr/>
        </p:nvSpPr>
        <p:spPr>
          <a:xfrm>
            <a:off x="11064240" y="3881628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492" name="Google Shape;492;p4"/>
          <p:cNvSpPr/>
          <p:nvPr/>
        </p:nvSpPr>
        <p:spPr>
          <a:xfrm>
            <a:off x="6199632" y="4105656"/>
            <a:ext cx="5852160" cy="242316"/>
          </a:xfrm>
          <a:prstGeom prst="rect">
            <a:avLst/>
          </a:prstGeom>
          <a:solidFill>
            <a:srgbClr val="F0FDF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" name="Google Shape;493;p4"/>
          <p:cNvSpPr/>
          <p:nvPr/>
        </p:nvSpPr>
        <p:spPr>
          <a:xfrm>
            <a:off x="6199632" y="4105656"/>
            <a:ext cx="50292" cy="242316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4"/>
          <p:cNvSpPr txBox="1"/>
          <p:nvPr/>
        </p:nvSpPr>
        <p:spPr>
          <a:xfrm>
            <a:off x="6309360" y="4123944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5/18–5/24</a:t>
            </a:r>
            <a:endParaRPr/>
          </a:p>
        </p:txBody>
      </p:sp>
      <p:sp>
        <p:nvSpPr>
          <p:cNvPr id="495" name="Google Shape;495;p4"/>
          <p:cNvSpPr txBox="1"/>
          <p:nvPr/>
        </p:nvSpPr>
        <p:spPr>
          <a:xfrm>
            <a:off x="79552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496" name="Google Shape;496;p4"/>
          <p:cNvSpPr txBox="1"/>
          <p:nvPr/>
        </p:nvSpPr>
        <p:spPr>
          <a:xfrm>
            <a:off x="8686800" y="4123944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7" name="Google Shape;497;p4"/>
          <p:cNvSpPr txBox="1"/>
          <p:nvPr/>
        </p:nvSpPr>
        <p:spPr>
          <a:xfrm>
            <a:off x="9555480" y="4123944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498" name="Google Shape;498;p4"/>
          <p:cNvSpPr txBox="1"/>
          <p:nvPr/>
        </p:nvSpPr>
        <p:spPr>
          <a:xfrm>
            <a:off x="10287000" y="4123944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180%</a:t>
            </a:r>
            <a:endParaRPr/>
          </a:p>
        </p:txBody>
      </p:sp>
      <p:sp>
        <p:nvSpPr>
          <p:cNvPr id="499" name="Google Shape;499;p4"/>
          <p:cNvSpPr txBox="1"/>
          <p:nvPr/>
        </p:nvSpPr>
        <p:spPr>
          <a:xfrm>
            <a:off x="11064240" y="4123944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✓ Met</a:t>
            </a:r>
            <a:endParaRPr/>
          </a:p>
        </p:txBody>
      </p:sp>
      <p:sp>
        <p:nvSpPr>
          <p:cNvPr id="500" name="Google Shape;500;p4"/>
          <p:cNvSpPr/>
          <p:nvPr/>
        </p:nvSpPr>
        <p:spPr>
          <a:xfrm>
            <a:off x="6199632" y="4347972"/>
            <a:ext cx="5852160" cy="242316"/>
          </a:xfrm>
          <a:prstGeom prst="rect">
            <a:avLst/>
          </a:prstGeom>
          <a:solidFill>
            <a:srgbClr val="FFF1F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4"/>
          <p:cNvSpPr/>
          <p:nvPr/>
        </p:nvSpPr>
        <p:spPr>
          <a:xfrm>
            <a:off x="6199632" y="4347972"/>
            <a:ext cx="50292" cy="242316"/>
          </a:xfrm>
          <a:prstGeom prst="rect">
            <a:avLst/>
          </a:prstGeom>
          <a:solidFill>
            <a:srgbClr val="DC262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4"/>
          <p:cNvSpPr txBox="1"/>
          <p:nvPr/>
        </p:nvSpPr>
        <p:spPr>
          <a:xfrm>
            <a:off x="6309360" y="4366260"/>
            <a:ext cx="16459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5/25–5/28*</a:t>
            </a:r>
            <a:endParaRPr/>
          </a:p>
        </p:txBody>
      </p:sp>
      <p:sp>
        <p:nvSpPr>
          <p:cNvPr id="503" name="Google Shape;503;p4"/>
          <p:cNvSpPr txBox="1"/>
          <p:nvPr/>
        </p:nvSpPr>
        <p:spPr>
          <a:xfrm>
            <a:off x="79552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04" name="Google Shape;504;p4"/>
          <p:cNvSpPr txBox="1"/>
          <p:nvPr/>
        </p:nvSpPr>
        <p:spPr>
          <a:xfrm>
            <a:off x="8686800" y="4366260"/>
            <a:ext cx="86868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05" name="Google Shape;505;p4"/>
          <p:cNvSpPr txBox="1"/>
          <p:nvPr/>
        </p:nvSpPr>
        <p:spPr>
          <a:xfrm>
            <a:off x="9555480" y="4366260"/>
            <a:ext cx="7315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506" name="Google Shape;506;p4"/>
          <p:cNvSpPr txBox="1"/>
          <p:nvPr/>
        </p:nvSpPr>
        <p:spPr>
          <a:xfrm>
            <a:off x="10287000" y="4366260"/>
            <a:ext cx="77724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65%</a:t>
            </a:r>
            <a:endParaRPr/>
          </a:p>
        </p:txBody>
      </p:sp>
      <p:sp>
        <p:nvSpPr>
          <p:cNvPr id="507" name="Google Shape;507;p4"/>
          <p:cNvSpPr txBox="1"/>
          <p:nvPr/>
        </p:nvSpPr>
        <p:spPr>
          <a:xfrm>
            <a:off x="11064240" y="4366260"/>
            <a:ext cx="105156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✗ Miss</a:t>
            </a:r>
            <a:endParaRPr/>
          </a:p>
        </p:txBody>
      </p:sp>
      <p:sp>
        <p:nvSpPr>
          <p:cNvPr id="508" name="Google Shape;508;p4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HubSpot CRM  |  Calls + meetings only (emails excluded)  |  * = current/partial week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p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4" name="Google Shape;514;p5"/>
          <p:cNvSpPr txBox="1"/>
          <p:nvPr/>
        </p:nvSpPr>
        <p:spPr>
          <a:xfrm>
            <a:off x="32004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Growth  —  Ron Douglas</a:t>
            </a:r>
            <a:endParaRPr/>
          </a:p>
        </p:txBody>
      </p:sp>
      <p:sp>
        <p:nvSpPr>
          <p:cNvPr id="515" name="Google Shape;515;p5"/>
          <p:cNvSpPr txBox="1"/>
          <p:nvPr/>
        </p:nvSpPr>
        <p:spPr>
          <a:xfrm>
            <a:off x="320040" y="457200"/>
            <a:ext cx="109728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vs 2025  |  Green = growth  |  Red = decline  |  Hit ratio = binds / submissions</a:t>
            </a:r>
            <a:endParaRPr/>
          </a:p>
        </p:txBody>
      </p:sp>
      <p:sp>
        <p:nvSpPr>
          <p:cNvPr id="516" name="Google Shape;516;p5"/>
          <p:cNvSpPr/>
          <p:nvPr/>
        </p:nvSpPr>
        <p:spPr>
          <a:xfrm>
            <a:off x="13716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13276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Submissions</a:t>
            </a:r>
            <a:endParaRPr/>
          </a:p>
        </p:txBody>
      </p:sp>
      <p:sp>
        <p:nvSpPr>
          <p:cNvPr id="517" name="Google Shape;517;p5"/>
          <p:cNvSpPr/>
          <p:nvPr/>
        </p:nvSpPr>
        <p:spPr>
          <a:xfrm>
            <a:off x="2542580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646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Binds</a:t>
            </a:r>
            <a:endParaRPr/>
          </a:p>
        </p:txBody>
      </p:sp>
      <p:sp>
        <p:nvSpPr>
          <p:cNvPr id="518" name="Google Shape;518;p5"/>
          <p:cNvSpPr/>
          <p:nvPr/>
        </p:nvSpPr>
        <p:spPr>
          <a:xfrm>
            <a:off x="494800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 ▲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9" name="Google Shape;519;p5"/>
          <p:cNvSpPr/>
          <p:nvPr/>
        </p:nvSpPr>
        <p:spPr>
          <a:xfrm>
            <a:off x="7353421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+8.9%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 YOY vs 2025</a:t>
            </a:r>
            <a:endParaRPr/>
          </a:p>
        </p:txBody>
      </p:sp>
      <p:sp>
        <p:nvSpPr>
          <p:cNvPr id="520" name="Google Shape;520;p5"/>
          <p:cNvSpPr/>
          <p:nvPr/>
        </p:nvSpPr>
        <p:spPr>
          <a:xfrm>
            <a:off x="9758842" y="850392"/>
            <a:ext cx="2295692" cy="64008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-51.8%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 YOY vs 2025</a:t>
            </a:r>
            <a:endParaRPr/>
          </a:p>
        </p:txBody>
      </p:sp>
      <p:sp>
        <p:nvSpPr>
          <p:cNvPr id="521" name="Google Shape;521;p5"/>
          <p:cNvSpPr/>
          <p:nvPr/>
        </p:nvSpPr>
        <p:spPr>
          <a:xfrm>
            <a:off x="137160" y="1600200"/>
            <a:ext cx="521208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" name="Google Shape;522;p5"/>
          <p:cNvSpPr txBox="1"/>
          <p:nvPr/>
        </p:nvSpPr>
        <p:spPr>
          <a:xfrm>
            <a:off x="246888" y="1636776"/>
            <a:ext cx="5029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BREAKDOWN  —  2026 vs 2025</a:t>
            </a:r>
            <a:endParaRPr/>
          </a:p>
        </p:txBody>
      </p:sp>
      <p:sp>
        <p:nvSpPr>
          <p:cNvPr id="523" name="Google Shape;523;p5"/>
          <p:cNvSpPr txBox="1"/>
          <p:nvPr/>
        </p:nvSpPr>
        <p:spPr>
          <a:xfrm>
            <a:off x="246888" y="1938528"/>
            <a:ext cx="566928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" name="Google Shape;524;p5"/>
          <p:cNvSpPr txBox="1"/>
          <p:nvPr/>
        </p:nvSpPr>
        <p:spPr>
          <a:xfrm>
            <a:off x="813816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Subs</a:t>
            </a:r>
            <a:endParaRPr/>
          </a:p>
        </p:txBody>
      </p:sp>
      <p:sp>
        <p:nvSpPr>
          <p:cNvPr id="525" name="Google Shape;525;p5"/>
          <p:cNvSpPr txBox="1"/>
          <p:nvPr/>
        </p:nvSpPr>
        <p:spPr>
          <a:xfrm>
            <a:off x="1819656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 Binds</a:t>
            </a:r>
            <a:endParaRPr/>
          </a:p>
        </p:txBody>
      </p:sp>
      <p:sp>
        <p:nvSpPr>
          <p:cNvPr id="526" name="Google Shape;526;p5"/>
          <p:cNvSpPr txBox="1"/>
          <p:nvPr/>
        </p:nvSpPr>
        <p:spPr>
          <a:xfrm>
            <a:off x="2734056" y="1938528"/>
            <a:ext cx="621792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27" name="Google Shape;527;p5"/>
          <p:cNvSpPr txBox="1"/>
          <p:nvPr/>
        </p:nvSpPr>
        <p:spPr>
          <a:xfrm>
            <a:off x="3355848" y="1938528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Subs</a:t>
            </a:r>
            <a:endParaRPr/>
          </a:p>
        </p:txBody>
      </p:sp>
      <p:sp>
        <p:nvSpPr>
          <p:cNvPr id="528" name="Google Shape;528;p5"/>
          <p:cNvSpPr txBox="1"/>
          <p:nvPr/>
        </p:nvSpPr>
        <p:spPr>
          <a:xfrm>
            <a:off x="4270248" y="1938528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%</a:t>
            </a:r>
            <a:endParaRPr/>
          </a:p>
        </p:txBody>
      </p:sp>
      <p:sp>
        <p:nvSpPr>
          <p:cNvPr id="529" name="Google Shape;529;p5"/>
          <p:cNvSpPr/>
          <p:nvPr/>
        </p:nvSpPr>
        <p:spPr>
          <a:xfrm>
            <a:off x="182880" y="2112264"/>
            <a:ext cx="50566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0" name="Google Shape;530;p5"/>
          <p:cNvSpPr/>
          <p:nvPr/>
        </p:nvSpPr>
        <p:spPr>
          <a:xfrm>
            <a:off x="137160" y="2157984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5"/>
          <p:cNvSpPr txBox="1"/>
          <p:nvPr/>
        </p:nvSpPr>
        <p:spPr>
          <a:xfrm>
            <a:off x="246888" y="2203704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</a:t>
            </a:r>
            <a:endParaRPr/>
          </a:p>
        </p:txBody>
      </p:sp>
      <p:sp>
        <p:nvSpPr>
          <p:cNvPr id="532" name="Google Shape;532;p5"/>
          <p:cNvSpPr txBox="1"/>
          <p:nvPr/>
        </p:nvSpPr>
        <p:spPr>
          <a:xfrm>
            <a:off x="813816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2,375</a:t>
            </a:r>
            <a:endParaRPr/>
          </a:p>
        </p:txBody>
      </p:sp>
      <p:sp>
        <p:nvSpPr>
          <p:cNvPr id="533" name="Google Shape;533;p5"/>
          <p:cNvSpPr txBox="1"/>
          <p:nvPr/>
        </p:nvSpPr>
        <p:spPr>
          <a:xfrm>
            <a:off x="1819656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534" name="Google Shape;534;p5"/>
          <p:cNvSpPr txBox="1"/>
          <p:nvPr/>
        </p:nvSpPr>
        <p:spPr>
          <a:xfrm>
            <a:off x="2734056" y="2203704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535" name="Google Shape;535;p5"/>
          <p:cNvSpPr txBox="1"/>
          <p:nvPr/>
        </p:nvSpPr>
        <p:spPr>
          <a:xfrm>
            <a:off x="3355848" y="2203704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2,422</a:t>
            </a:r>
            <a:endParaRPr/>
          </a:p>
        </p:txBody>
      </p:sp>
      <p:sp>
        <p:nvSpPr>
          <p:cNvPr id="536" name="Google Shape;536;p5"/>
          <p:cNvSpPr txBox="1"/>
          <p:nvPr/>
        </p:nvSpPr>
        <p:spPr>
          <a:xfrm>
            <a:off x="4270248" y="220370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-2%</a:t>
            </a:r>
            <a:endParaRPr/>
          </a:p>
        </p:txBody>
      </p:sp>
      <p:sp>
        <p:nvSpPr>
          <p:cNvPr id="537" name="Google Shape;537;p5"/>
          <p:cNvSpPr txBox="1"/>
          <p:nvPr/>
        </p:nvSpPr>
        <p:spPr>
          <a:xfrm>
            <a:off x="246888" y="2519172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</a:t>
            </a:r>
            <a:endParaRPr/>
          </a:p>
        </p:txBody>
      </p:sp>
      <p:sp>
        <p:nvSpPr>
          <p:cNvPr id="538" name="Google Shape;538;p5"/>
          <p:cNvSpPr txBox="1"/>
          <p:nvPr/>
        </p:nvSpPr>
        <p:spPr>
          <a:xfrm>
            <a:off x="813816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2,429</a:t>
            </a:r>
            <a:endParaRPr/>
          </a:p>
        </p:txBody>
      </p:sp>
      <p:sp>
        <p:nvSpPr>
          <p:cNvPr id="539" name="Google Shape;539;p5"/>
          <p:cNvSpPr txBox="1"/>
          <p:nvPr/>
        </p:nvSpPr>
        <p:spPr>
          <a:xfrm>
            <a:off x="1819656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540" name="Google Shape;540;p5"/>
          <p:cNvSpPr txBox="1"/>
          <p:nvPr/>
        </p:nvSpPr>
        <p:spPr>
          <a:xfrm>
            <a:off x="2734056" y="2519172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541" name="Google Shape;541;p5"/>
          <p:cNvSpPr txBox="1"/>
          <p:nvPr/>
        </p:nvSpPr>
        <p:spPr>
          <a:xfrm>
            <a:off x="3355848" y="251917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2,109</a:t>
            </a:r>
            <a:endParaRPr/>
          </a:p>
        </p:txBody>
      </p:sp>
      <p:sp>
        <p:nvSpPr>
          <p:cNvPr id="542" name="Google Shape;542;p5"/>
          <p:cNvSpPr txBox="1"/>
          <p:nvPr/>
        </p:nvSpPr>
        <p:spPr>
          <a:xfrm>
            <a:off x="4270248" y="251917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+15%</a:t>
            </a:r>
            <a:endParaRPr/>
          </a:p>
        </p:txBody>
      </p:sp>
      <p:sp>
        <p:nvSpPr>
          <p:cNvPr id="543" name="Google Shape;543;p5"/>
          <p:cNvSpPr/>
          <p:nvPr/>
        </p:nvSpPr>
        <p:spPr>
          <a:xfrm>
            <a:off x="137160" y="2788920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" name="Google Shape;544;p5"/>
          <p:cNvSpPr txBox="1"/>
          <p:nvPr/>
        </p:nvSpPr>
        <p:spPr>
          <a:xfrm>
            <a:off x="246888" y="2834640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</a:t>
            </a:r>
            <a:endParaRPr/>
          </a:p>
        </p:txBody>
      </p:sp>
      <p:sp>
        <p:nvSpPr>
          <p:cNvPr id="545" name="Google Shape;545;p5"/>
          <p:cNvSpPr txBox="1"/>
          <p:nvPr/>
        </p:nvSpPr>
        <p:spPr>
          <a:xfrm>
            <a:off x="813816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2,539</a:t>
            </a:r>
            <a:endParaRPr/>
          </a:p>
        </p:txBody>
      </p:sp>
      <p:sp>
        <p:nvSpPr>
          <p:cNvPr id="546" name="Google Shape;546;p5"/>
          <p:cNvSpPr txBox="1"/>
          <p:nvPr/>
        </p:nvSpPr>
        <p:spPr>
          <a:xfrm>
            <a:off x="1819656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547" name="Google Shape;547;p5"/>
          <p:cNvSpPr txBox="1"/>
          <p:nvPr/>
        </p:nvSpPr>
        <p:spPr>
          <a:xfrm>
            <a:off x="2734056" y="2834640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4.4%</a:t>
            </a:r>
            <a:endParaRPr/>
          </a:p>
        </p:txBody>
      </p:sp>
      <p:sp>
        <p:nvSpPr>
          <p:cNvPr id="548" name="Google Shape;548;p5"/>
          <p:cNvSpPr txBox="1"/>
          <p:nvPr/>
        </p:nvSpPr>
        <p:spPr>
          <a:xfrm>
            <a:off x="3355848" y="2834640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2,452</a:t>
            </a:r>
            <a:endParaRPr/>
          </a:p>
        </p:txBody>
      </p:sp>
      <p:sp>
        <p:nvSpPr>
          <p:cNvPr id="549" name="Google Shape;549;p5"/>
          <p:cNvSpPr txBox="1"/>
          <p:nvPr/>
        </p:nvSpPr>
        <p:spPr>
          <a:xfrm>
            <a:off x="4270248" y="283464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+4%</a:t>
            </a:r>
            <a:endParaRPr/>
          </a:p>
        </p:txBody>
      </p:sp>
      <p:sp>
        <p:nvSpPr>
          <p:cNvPr id="550" name="Google Shape;550;p5"/>
          <p:cNvSpPr txBox="1"/>
          <p:nvPr/>
        </p:nvSpPr>
        <p:spPr>
          <a:xfrm>
            <a:off x="246888" y="3150108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</a:t>
            </a:r>
            <a:endParaRPr/>
          </a:p>
        </p:txBody>
      </p:sp>
      <p:sp>
        <p:nvSpPr>
          <p:cNvPr id="551" name="Google Shape;551;p5"/>
          <p:cNvSpPr txBox="1"/>
          <p:nvPr/>
        </p:nvSpPr>
        <p:spPr>
          <a:xfrm>
            <a:off x="813816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3,371</a:t>
            </a:r>
            <a:endParaRPr/>
          </a:p>
        </p:txBody>
      </p:sp>
      <p:sp>
        <p:nvSpPr>
          <p:cNvPr id="552" name="Google Shape;552;p5"/>
          <p:cNvSpPr txBox="1"/>
          <p:nvPr/>
        </p:nvSpPr>
        <p:spPr>
          <a:xfrm>
            <a:off x="1819656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169</a:t>
            </a:r>
            <a:endParaRPr/>
          </a:p>
        </p:txBody>
      </p:sp>
      <p:sp>
        <p:nvSpPr>
          <p:cNvPr id="553" name="Google Shape;553;p5"/>
          <p:cNvSpPr txBox="1"/>
          <p:nvPr/>
        </p:nvSpPr>
        <p:spPr>
          <a:xfrm>
            <a:off x="2734056" y="3150108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554" name="Google Shape;554;p5"/>
          <p:cNvSpPr txBox="1"/>
          <p:nvPr/>
        </p:nvSpPr>
        <p:spPr>
          <a:xfrm>
            <a:off x="3355848" y="315010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2,548</a:t>
            </a:r>
            <a:endParaRPr/>
          </a:p>
        </p:txBody>
      </p:sp>
      <p:sp>
        <p:nvSpPr>
          <p:cNvPr id="555" name="Google Shape;555;p5"/>
          <p:cNvSpPr txBox="1"/>
          <p:nvPr/>
        </p:nvSpPr>
        <p:spPr>
          <a:xfrm>
            <a:off x="4270248" y="315010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+32%</a:t>
            </a:r>
            <a:endParaRPr/>
          </a:p>
        </p:txBody>
      </p:sp>
      <p:sp>
        <p:nvSpPr>
          <p:cNvPr id="556" name="Google Shape;556;p5"/>
          <p:cNvSpPr/>
          <p:nvPr/>
        </p:nvSpPr>
        <p:spPr>
          <a:xfrm>
            <a:off x="137160" y="3419856"/>
            <a:ext cx="5212080" cy="33375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" name="Google Shape;557;p5"/>
          <p:cNvSpPr txBox="1"/>
          <p:nvPr/>
        </p:nvSpPr>
        <p:spPr>
          <a:xfrm>
            <a:off x="246888" y="3465576"/>
            <a:ext cx="566928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8" name="Google Shape;558;p5"/>
          <p:cNvSpPr txBox="1"/>
          <p:nvPr/>
        </p:nvSpPr>
        <p:spPr>
          <a:xfrm>
            <a:off x="813816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2,562</a:t>
            </a:r>
            <a:endParaRPr/>
          </a:p>
        </p:txBody>
      </p:sp>
      <p:sp>
        <p:nvSpPr>
          <p:cNvPr id="559" name="Google Shape;559;p5"/>
          <p:cNvSpPr txBox="1"/>
          <p:nvPr/>
        </p:nvSpPr>
        <p:spPr>
          <a:xfrm>
            <a:off x="1819656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156</a:t>
            </a:r>
            <a:endParaRPr/>
          </a:p>
        </p:txBody>
      </p:sp>
      <p:sp>
        <p:nvSpPr>
          <p:cNvPr id="560" name="Google Shape;560;p5"/>
          <p:cNvSpPr txBox="1"/>
          <p:nvPr/>
        </p:nvSpPr>
        <p:spPr>
          <a:xfrm>
            <a:off x="2734056" y="3465576"/>
            <a:ext cx="621792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561" name="Google Shape;561;p5"/>
          <p:cNvSpPr txBox="1"/>
          <p:nvPr/>
        </p:nvSpPr>
        <p:spPr>
          <a:xfrm>
            <a:off x="3355848" y="3465576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2,658</a:t>
            </a:r>
            <a:endParaRPr/>
          </a:p>
        </p:txBody>
      </p:sp>
      <p:sp>
        <p:nvSpPr>
          <p:cNvPr id="562" name="Google Shape;562;p5"/>
          <p:cNvSpPr txBox="1"/>
          <p:nvPr/>
        </p:nvSpPr>
        <p:spPr>
          <a:xfrm>
            <a:off x="4270248" y="346557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-4%</a:t>
            </a:r>
            <a:endParaRPr/>
          </a:p>
        </p:txBody>
      </p:sp>
      <p:sp>
        <p:nvSpPr>
          <p:cNvPr id="563" name="Google Shape;563;p5"/>
          <p:cNvSpPr/>
          <p:nvPr/>
        </p:nvSpPr>
        <p:spPr>
          <a:xfrm>
            <a:off x="182880" y="3717036"/>
            <a:ext cx="5120640" cy="914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5"/>
          <p:cNvSpPr txBox="1"/>
          <p:nvPr/>
        </p:nvSpPr>
        <p:spPr>
          <a:xfrm>
            <a:off x="246888" y="3762756"/>
            <a:ext cx="566928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565" name="Google Shape;565;p5"/>
          <p:cNvSpPr txBox="1"/>
          <p:nvPr/>
        </p:nvSpPr>
        <p:spPr>
          <a:xfrm>
            <a:off x="813816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13,276</a:t>
            </a:r>
            <a:endParaRPr/>
          </a:p>
        </p:txBody>
      </p:sp>
      <p:sp>
        <p:nvSpPr>
          <p:cNvPr id="566" name="Google Shape;566;p5"/>
          <p:cNvSpPr txBox="1"/>
          <p:nvPr/>
        </p:nvSpPr>
        <p:spPr>
          <a:xfrm>
            <a:off x="1819656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646</a:t>
            </a:r>
            <a:endParaRPr/>
          </a:p>
        </p:txBody>
      </p:sp>
      <p:sp>
        <p:nvSpPr>
          <p:cNvPr id="567" name="Google Shape;567;p5"/>
          <p:cNvSpPr txBox="1"/>
          <p:nvPr/>
        </p:nvSpPr>
        <p:spPr>
          <a:xfrm>
            <a:off x="2734056" y="3762756"/>
            <a:ext cx="6217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4.9%</a:t>
            </a:r>
            <a:endParaRPr/>
          </a:p>
        </p:txBody>
      </p:sp>
      <p:sp>
        <p:nvSpPr>
          <p:cNvPr id="568" name="Google Shape;568;p5"/>
          <p:cNvSpPr txBox="1"/>
          <p:nvPr/>
        </p:nvSpPr>
        <p:spPr>
          <a:xfrm>
            <a:off x="3355848" y="3762756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12,189</a:t>
            </a:r>
            <a:endParaRPr/>
          </a:p>
        </p:txBody>
      </p:sp>
      <p:sp>
        <p:nvSpPr>
          <p:cNvPr id="569" name="Google Shape;569;p5"/>
          <p:cNvSpPr txBox="1"/>
          <p:nvPr/>
        </p:nvSpPr>
        <p:spPr>
          <a:xfrm>
            <a:off x="4270248" y="3762756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+9%</a:t>
            </a:r>
            <a:endParaRPr/>
          </a:p>
        </p:txBody>
      </p:sp>
      <p:sp>
        <p:nvSpPr>
          <p:cNvPr id="570" name="Google Shape;570;p5"/>
          <p:cNvSpPr/>
          <p:nvPr/>
        </p:nvSpPr>
        <p:spPr>
          <a:xfrm>
            <a:off x="5623560" y="1600200"/>
            <a:ext cx="64008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" name="Google Shape;571;p5"/>
          <p:cNvSpPr txBox="1"/>
          <p:nvPr/>
        </p:nvSpPr>
        <p:spPr>
          <a:xfrm>
            <a:off x="5733288" y="1636776"/>
            <a:ext cx="62179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AGENCIES BY SUBMISSION VOLUME  —  YTD Ranked</a:t>
            </a:r>
            <a:endParaRPr/>
          </a:p>
        </p:txBody>
      </p:sp>
      <p:sp>
        <p:nvSpPr>
          <p:cNvPr id="572" name="Google Shape;572;p5"/>
          <p:cNvSpPr txBox="1"/>
          <p:nvPr/>
        </p:nvSpPr>
        <p:spPr>
          <a:xfrm>
            <a:off x="5733288" y="1938528"/>
            <a:ext cx="28346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573" name="Google Shape;573;p5"/>
          <p:cNvSpPr txBox="1"/>
          <p:nvPr/>
        </p:nvSpPr>
        <p:spPr>
          <a:xfrm>
            <a:off x="8567928" y="1938528"/>
            <a:ext cx="8686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Subs</a:t>
            </a:r>
            <a:endParaRPr/>
          </a:p>
        </p:txBody>
      </p:sp>
      <p:sp>
        <p:nvSpPr>
          <p:cNvPr id="574" name="Google Shape;574;p5"/>
          <p:cNvSpPr txBox="1"/>
          <p:nvPr/>
        </p:nvSpPr>
        <p:spPr>
          <a:xfrm>
            <a:off x="9436608" y="1938528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5" name="Google Shape;575;p5"/>
          <p:cNvSpPr txBox="1"/>
          <p:nvPr/>
        </p:nvSpPr>
        <p:spPr>
          <a:xfrm>
            <a:off x="10259568" y="1938528"/>
            <a:ext cx="7315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576" name="Google Shape;576;p5"/>
          <p:cNvSpPr txBox="1"/>
          <p:nvPr/>
        </p:nvSpPr>
        <p:spPr>
          <a:xfrm>
            <a:off x="10991088" y="1938528"/>
            <a:ext cx="685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</a:t>
            </a:r>
            <a:endParaRPr/>
          </a:p>
        </p:txBody>
      </p:sp>
      <p:sp>
        <p:nvSpPr>
          <p:cNvPr id="577" name="Google Shape;577;p5"/>
          <p:cNvSpPr/>
          <p:nvPr/>
        </p:nvSpPr>
        <p:spPr>
          <a:xfrm>
            <a:off x="5669280" y="2112264"/>
            <a:ext cx="597103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" name="Google Shape;578;p5"/>
          <p:cNvSpPr/>
          <p:nvPr/>
        </p:nvSpPr>
        <p:spPr>
          <a:xfrm>
            <a:off x="5623560" y="216712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" name="Google Shape;579;p5"/>
          <p:cNvSpPr txBox="1"/>
          <p:nvPr/>
        </p:nvSpPr>
        <p:spPr>
          <a:xfrm>
            <a:off x="5733288" y="218541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580" name="Google Shape;580;p5"/>
          <p:cNvSpPr txBox="1"/>
          <p:nvPr/>
        </p:nvSpPr>
        <p:spPr>
          <a:xfrm>
            <a:off x="8567928" y="218541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5,399</a:t>
            </a:r>
            <a:endParaRPr/>
          </a:p>
        </p:txBody>
      </p:sp>
      <p:sp>
        <p:nvSpPr>
          <p:cNvPr id="581" name="Google Shape;581;p5"/>
          <p:cNvSpPr txBox="1"/>
          <p:nvPr/>
        </p:nvSpPr>
        <p:spPr>
          <a:xfrm>
            <a:off x="9436608" y="218541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582" name="Google Shape;582;p5"/>
          <p:cNvSpPr txBox="1"/>
          <p:nvPr/>
        </p:nvSpPr>
        <p:spPr>
          <a:xfrm>
            <a:off x="10259568" y="218541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583" name="Google Shape;583;p5"/>
          <p:cNvSpPr txBox="1"/>
          <p:nvPr/>
        </p:nvSpPr>
        <p:spPr>
          <a:xfrm>
            <a:off x="10991088" y="218541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+1,971</a:t>
            </a:r>
            <a:endParaRPr/>
          </a:p>
        </p:txBody>
      </p:sp>
      <p:sp>
        <p:nvSpPr>
          <p:cNvPr id="584" name="Google Shape;584;p5"/>
          <p:cNvSpPr txBox="1"/>
          <p:nvPr/>
        </p:nvSpPr>
        <p:spPr>
          <a:xfrm>
            <a:off x="5733288" y="244144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585" name="Google Shape;585;p5"/>
          <p:cNvSpPr txBox="1"/>
          <p:nvPr/>
        </p:nvSpPr>
        <p:spPr>
          <a:xfrm>
            <a:off x="8567928" y="244144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3,091</a:t>
            </a:r>
            <a:endParaRPr/>
          </a:p>
        </p:txBody>
      </p:sp>
      <p:sp>
        <p:nvSpPr>
          <p:cNvPr id="586" name="Google Shape;586;p5"/>
          <p:cNvSpPr txBox="1"/>
          <p:nvPr/>
        </p:nvSpPr>
        <p:spPr>
          <a:xfrm>
            <a:off x="9436608" y="244144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</a:t>
            </a:r>
            <a:endParaRPr/>
          </a:p>
        </p:txBody>
      </p:sp>
      <p:sp>
        <p:nvSpPr>
          <p:cNvPr id="587" name="Google Shape;587;p5"/>
          <p:cNvSpPr txBox="1"/>
          <p:nvPr/>
        </p:nvSpPr>
        <p:spPr>
          <a:xfrm>
            <a:off x="10259568" y="244144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588" name="Google Shape;588;p5"/>
          <p:cNvSpPr txBox="1"/>
          <p:nvPr/>
        </p:nvSpPr>
        <p:spPr>
          <a:xfrm>
            <a:off x="10991088" y="244144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-159</a:t>
            </a:r>
            <a:endParaRPr/>
          </a:p>
        </p:txBody>
      </p:sp>
      <p:sp>
        <p:nvSpPr>
          <p:cNvPr id="589" name="Google Shape;589;p5"/>
          <p:cNvSpPr/>
          <p:nvPr/>
        </p:nvSpPr>
        <p:spPr>
          <a:xfrm>
            <a:off x="5623560" y="267919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0" name="Google Shape;590;p5"/>
          <p:cNvSpPr txBox="1"/>
          <p:nvPr/>
        </p:nvSpPr>
        <p:spPr>
          <a:xfrm>
            <a:off x="5733288" y="269748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</a:t>
            </a:r>
            <a:endParaRPr/>
          </a:p>
        </p:txBody>
      </p:sp>
      <p:sp>
        <p:nvSpPr>
          <p:cNvPr id="591" name="Google Shape;591;p5"/>
          <p:cNvSpPr txBox="1"/>
          <p:nvPr/>
        </p:nvSpPr>
        <p:spPr>
          <a:xfrm>
            <a:off x="8567928" y="269748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1,461</a:t>
            </a:r>
            <a:endParaRPr/>
          </a:p>
        </p:txBody>
      </p:sp>
      <p:sp>
        <p:nvSpPr>
          <p:cNvPr id="592" name="Google Shape;592;p5"/>
          <p:cNvSpPr txBox="1"/>
          <p:nvPr/>
        </p:nvSpPr>
        <p:spPr>
          <a:xfrm>
            <a:off x="9436608" y="269748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593" name="Google Shape;593;p5"/>
          <p:cNvSpPr txBox="1"/>
          <p:nvPr/>
        </p:nvSpPr>
        <p:spPr>
          <a:xfrm>
            <a:off x="10259568" y="269748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594" name="Google Shape;594;p5"/>
          <p:cNvSpPr txBox="1"/>
          <p:nvPr/>
        </p:nvSpPr>
        <p:spPr>
          <a:xfrm>
            <a:off x="10991088" y="269748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+356</a:t>
            </a:r>
            <a:endParaRPr/>
          </a:p>
        </p:txBody>
      </p:sp>
      <p:sp>
        <p:nvSpPr>
          <p:cNvPr id="595" name="Google Shape;595;p5"/>
          <p:cNvSpPr txBox="1"/>
          <p:nvPr/>
        </p:nvSpPr>
        <p:spPr>
          <a:xfrm>
            <a:off x="5733288" y="295351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596" name="Google Shape;596;p5"/>
          <p:cNvSpPr txBox="1"/>
          <p:nvPr/>
        </p:nvSpPr>
        <p:spPr>
          <a:xfrm>
            <a:off x="8567928" y="295351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</p:txBody>
      </p:sp>
      <p:sp>
        <p:nvSpPr>
          <p:cNvPr id="597" name="Google Shape;597;p5"/>
          <p:cNvSpPr txBox="1"/>
          <p:nvPr/>
        </p:nvSpPr>
        <p:spPr>
          <a:xfrm>
            <a:off x="9436608" y="295351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598" name="Google Shape;598;p5"/>
          <p:cNvSpPr txBox="1"/>
          <p:nvPr/>
        </p:nvSpPr>
        <p:spPr>
          <a:xfrm>
            <a:off x="10259568" y="295351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599" name="Google Shape;599;p5"/>
          <p:cNvSpPr txBox="1"/>
          <p:nvPr/>
        </p:nvSpPr>
        <p:spPr>
          <a:xfrm>
            <a:off x="10991088" y="295351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+568</a:t>
            </a:r>
            <a:endParaRPr/>
          </a:p>
        </p:txBody>
      </p:sp>
      <p:sp>
        <p:nvSpPr>
          <p:cNvPr id="600" name="Google Shape;600;p5"/>
          <p:cNvSpPr/>
          <p:nvPr/>
        </p:nvSpPr>
        <p:spPr>
          <a:xfrm>
            <a:off x="5623560" y="319125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5"/>
          <p:cNvSpPr txBox="1"/>
          <p:nvPr/>
        </p:nvSpPr>
        <p:spPr>
          <a:xfrm>
            <a:off x="5733288" y="320954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602" name="Google Shape;602;p5"/>
          <p:cNvSpPr txBox="1"/>
          <p:nvPr/>
        </p:nvSpPr>
        <p:spPr>
          <a:xfrm>
            <a:off x="8567928" y="320954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515</a:t>
            </a:r>
            <a:endParaRPr/>
          </a:p>
        </p:txBody>
      </p:sp>
      <p:sp>
        <p:nvSpPr>
          <p:cNvPr id="603" name="Google Shape;603;p5"/>
          <p:cNvSpPr txBox="1"/>
          <p:nvPr/>
        </p:nvSpPr>
        <p:spPr>
          <a:xfrm>
            <a:off x="9436608" y="320954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604" name="Google Shape;604;p5"/>
          <p:cNvSpPr txBox="1"/>
          <p:nvPr/>
        </p:nvSpPr>
        <p:spPr>
          <a:xfrm>
            <a:off x="10259568" y="320954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15.5%</a:t>
            </a:r>
            <a:endParaRPr/>
          </a:p>
        </p:txBody>
      </p:sp>
      <p:sp>
        <p:nvSpPr>
          <p:cNvPr id="605" name="Google Shape;605;p5"/>
          <p:cNvSpPr txBox="1"/>
          <p:nvPr/>
        </p:nvSpPr>
        <p:spPr>
          <a:xfrm>
            <a:off x="10991088" y="320954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+360</a:t>
            </a:r>
            <a:endParaRPr/>
          </a:p>
        </p:txBody>
      </p:sp>
      <p:sp>
        <p:nvSpPr>
          <p:cNvPr id="606" name="Google Shape;606;p5"/>
          <p:cNvSpPr txBox="1"/>
          <p:nvPr/>
        </p:nvSpPr>
        <p:spPr>
          <a:xfrm>
            <a:off x="5733288" y="346557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607" name="Google Shape;607;p5"/>
          <p:cNvSpPr txBox="1"/>
          <p:nvPr/>
        </p:nvSpPr>
        <p:spPr>
          <a:xfrm>
            <a:off x="8567928" y="346557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295</a:t>
            </a:r>
            <a:endParaRPr/>
          </a:p>
        </p:txBody>
      </p:sp>
      <p:sp>
        <p:nvSpPr>
          <p:cNvPr id="608" name="Google Shape;608;p5"/>
          <p:cNvSpPr txBox="1"/>
          <p:nvPr/>
        </p:nvSpPr>
        <p:spPr>
          <a:xfrm>
            <a:off x="9436608" y="346557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09" name="Google Shape;609;p5"/>
          <p:cNvSpPr txBox="1"/>
          <p:nvPr/>
        </p:nvSpPr>
        <p:spPr>
          <a:xfrm>
            <a:off x="10259568" y="346557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610" name="Google Shape;610;p5"/>
          <p:cNvSpPr txBox="1"/>
          <p:nvPr/>
        </p:nvSpPr>
        <p:spPr>
          <a:xfrm>
            <a:off x="10991088" y="346557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+22</a:t>
            </a:r>
            <a:endParaRPr/>
          </a:p>
        </p:txBody>
      </p:sp>
      <p:sp>
        <p:nvSpPr>
          <p:cNvPr id="611" name="Google Shape;611;p5"/>
          <p:cNvSpPr/>
          <p:nvPr/>
        </p:nvSpPr>
        <p:spPr>
          <a:xfrm>
            <a:off x="5623560" y="3703320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5"/>
          <p:cNvSpPr txBox="1"/>
          <p:nvPr/>
        </p:nvSpPr>
        <p:spPr>
          <a:xfrm>
            <a:off x="5733288" y="372160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COASTAL TRUCKING INSURANCE LLC</a:t>
            </a:r>
            <a:endParaRPr/>
          </a:p>
        </p:txBody>
      </p:sp>
      <p:sp>
        <p:nvSpPr>
          <p:cNvPr id="613" name="Google Shape;613;p5"/>
          <p:cNvSpPr txBox="1"/>
          <p:nvPr/>
        </p:nvSpPr>
        <p:spPr>
          <a:xfrm>
            <a:off x="8567928" y="372160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289</a:t>
            </a:r>
            <a:endParaRPr/>
          </a:p>
        </p:txBody>
      </p:sp>
      <p:sp>
        <p:nvSpPr>
          <p:cNvPr id="614" name="Google Shape;614;p5"/>
          <p:cNvSpPr txBox="1"/>
          <p:nvPr/>
        </p:nvSpPr>
        <p:spPr>
          <a:xfrm>
            <a:off x="9436608" y="372160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15" name="Google Shape;615;p5"/>
          <p:cNvSpPr txBox="1"/>
          <p:nvPr/>
        </p:nvSpPr>
        <p:spPr>
          <a:xfrm>
            <a:off x="10259568" y="372160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616" name="Google Shape;616;p5"/>
          <p:cNvSpPr txBox="1"/>
          <p:nvPr/>
        </p:nvSpPr>
        <p:spPr>
          <a:xfrm>
            <a:off x="10991088" y="372160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-62</a:t>
            </a:r>
            <a:endParaRPr/>
          </a:p>
        </p:txBody>
      </p:sp>
      <p:sp>
        <p:nvSpPr>
          <p:cNvPr id="617" name="Google Shape;617;p5"/>
          <p:cNvSpPr txBox="1"/>
          <p:nvPr/>
        </p:nvSpPr>
        <p:spPr>
          <a:xfrm>
            <a:off x="5733288" y="397764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618" name="Google Shape;618;p5"/>
          <p:cNvSpPr txBox="1"/>
          <p:nvPr/>
        </p:nvSpPr>
        <p:spPr>
          <a:xfrm>
            <a:off x="8567928" y="397764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</a:t>
            </a:r>
            <a:endParaRPr/>
          </a:p>
        </p:txBody>
      </p:sp>
      <p:sp>
        <p:nvSpPr>
          <p:cNvPr id="619" name="Google Shape;619;p5"/>
          <p:cNvSpPr txBox="1"/>
          <p:nvPr/>
        </p:nvSpPr>
        <p:spPr>
          <a:xfrm>
            <a:off x="9436608" y="397764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20" name="Google Shape;620;p5"/>
          <p:cNvSpPr txBox="1"/>
          <p:nvPr/>
        </p:nvSpPr>
        <p:spPr>
          <a:xfrm>
            <a:off x="10259568" y="397764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621" name="Google Shape;621;p5"/>
          <p:cNvSpPr txBox="1"/>
          <p:nvPr/>
        </p:nvSpPr>
        <p:spPr>
          <a:xfrm>
            <a:off x="10991088" y="397764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+103</a:t>
            </a:r>
            <a:endParaRPr/>
          </a:p>
        </p:txBody>
      </p:sp>
      <p:sp>
        <p:nvSpPr>
          <p:cNvPr id="622" name="Google Shape;622;p5"/>
          <p:cNvSpPr/>
          <p:nvPr/>
        </p:nvSpPr>
        <p:spPr>
          <a:xfrm>
            <a:off x="5623560" y="4215384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5"/>
          <p:cNvSpPr txBox="1"/>
          <p:nvPr/>
        </p:nvSpPr>
        <p:spPr>
          <a:xfrm>
            <a:off x="5733288" y="423367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Marble City Insurance</a:t>
            </a:r>
            <a:endParaRPr/>
          </a:p>
        </p:txBody>
      </p:sp>
      <p:sp>
        <p:nvSpPr>
          <p:cNvPr id="624" name="Google Shape;624;p5"/>
          <p:cNvSpPr txBox="1"/>
          <p:nvPr/>
        </p:nvSpPr>
        <p:spPr>
          <a:xfrm>
            <a:off x="8567928" y="423367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238</a:t>
            </a:r>
            <a:endParaRPr/>
          </a:p>
        </p:txBody>
      </p:sp>
      <p:sp>
        <p:nvSpPr>
          <p:cNvPr id="625" name="Google Shape;625;p5"/>
          <p:cNvSpPr txBox="1"/>
          <p:nvPr/>
        </p:nvSpPr>
        <p:spPr>
          <a:xfrm>
            <a:off x="9436608" y="423367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26" name="Google Shape;626;p5"/>
          <p:cNvSpPr txBox="1"/>
          <p:nvPr/>
        </p:nvSpPr>
        <p:spPr>
          <a:xfrm>
            <a:off x="10259568" y="423367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627" name="Google Shape;627;p5"/>
          <p:cNvSpPr txBox="1"/>
          <p:nvPr/>
        </p:nvSpPr>
        <p:spPr>
          <a:xfrm>
            <a:off x="10991088" y="423367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+115</a:t>
            </a:r>
            <a:endParaRPr/>
          </a:p>
        </p:txBody>
      </p:sp>
      <p:sp>
        <p:nvSpPr>
          <p:cNvPr id="628" name="Google Shape;628;p5"/>
          <p:cNvSpPr txBox="1"/>
          <p:nvPr/>
        </p:nvSpPr>
        <p:spPr>
          <a:xfrm>
            <a:off x="5733288" y="448970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#42 - M&amp;o Insurance </a:t>
            </a:r>
            <a:endParaRPr/>
          </a:p>
        </p:txBody>
      </p:sp>
      <p:sp>
        <p:nvSpPr>
          <p:cNvPr id="629" name="Google Shape;629;p5"/>
          <p:cNvSpPr txBox="1"/>
          <p:nvPr/>
        </p:nvSpPr>
        <p:spPr>
          <a:xfrm>
            <a:off x="8567928" y="448970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630" name="Google Shape;630;p5"/>
          <p:cNvSpPr txBox="1"/>
          <p:nvPr/>
        </p:nvSpPr>
        <p:spPr>
          <a:xfrm>
            <a:off x="9436608" y="448970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31" name="Google Shape;631;p5"/>
          <p:cNvSpPr txBox="1"/>
          <p:nvPr/>
        </p:nvSpPr>
        <p:spPr>
          <a:xfrm>
            <a:off x="10259568" y="448970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632" name="Google Shape;632;p5"/>
          <p:cNvSpPr txBox="1"/>
          <p:nvPr/>
        </p:nvSpPr>
        <p:spPr>
          <a:xfrm>
            <a:off x="10991088" y="448970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-47</a:t>
            </a:r>
            <a:endParaRPr/>
          </a:p>
        </p:txBody>
      </p:sp>
      <p:sp>
        <p:nvSpPr>
          <p:cNvPr id="633" name="Google Shape;633;p5"/>
          <p:cNvSpPr/>
          <p:nvPr/>
        </p:nvSpPr>
        <p:spPr>
          <a:xfrm>
            <a:off x="5623560" y="4727448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5"/>
          <p:cNvSpPr txBox="1"/>
          <p:nvPr/>
        </p:nvSpPr>
        <p:spPr>
          <a:xfrm>
            <a:off x="5733288" y="474573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925 Partners, Llc</a:t>
            </a:r>
            <a:endParaRPr/>
          </a:p>
        </p:txBody>
      </p:sp>
      <p:sp>
        <p:nvSpPr>
          <p:cNvPr id="635" name="Google Shape;635;p5"/>
          <p:cNvSpPr txBox="1"/>
          <p:nvPr/>
        </p:nvSpPr>
        <p:spPr>
          <a:xfrm>
            <a:off x="8567928" y="474573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222</a:t>
            </a:r>
            <a:endParaRPr/>
          </a:p>
        </p:txBody>
      </p:sp>
      <p:sp>
        <p:nvSpPr>
          <p:cNvPr id="636" name="Google Shape;636;p5"/>
          <p:cNvSpPr txBox="1"/>
          <p:nvPr/>
        </p:nvSpPr>
        <p:spPr>
          <a:xfrm>
            <a:off x="9436608" y="474573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37" name="Google Shape;637;p5"/>
          <p:cNvSpPr txBox="1"/>
          <p:nvPr/>
        </p:nvSpPr>
        <p:spPr>
          <a:xfrm>
            <a:off x="10259568" y="474573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638" name="Google Shape;638;p5"/>
          <p:cNvSpPr txBox="1"/>
          <p:nvPr/>
        </p:nvSpPr>
        <p:spPr>
          <a:xfrm>
            <a:off x="10991088" y="474573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+40</a:t>
            </a:r>
            <a:endParaRPr/>
          </a:p>
        </p:txBody>
      </p:sp>
      <p:sp>
        <p:nvSpPr>
          <p:cNvPr id="639" name="Google Shape;639;p5"/>
          <p:cNvSpPr txBox="1"/>
          <p:nvPr/>
        </p:nvSpPr>
        <p:spPr>
          <a:xfrm>
            <a:off x="5733288" y="5001768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Interglobal Insurance Company</a:t>
            </a:r>
            <a:endParaRPr/>
          </a:p>
        </p:txBody>
      </p:sp>
      <p:sp>
        <p:nvSpPr>
          <p:cNvPr id="640" name="Google Shape;640;p5"/>
          <p:cNvSpPr txBox="1"/>
          <p:nvPr/>
        </p:nvSpPr>
        <p:spPr>
          <a:xfrm>
            <a:off x="8567928" y="5001768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185</a:t>
            </a:r>
            <a:endParaRPr/>
          </a:p>
        </p:txBody>
      </p:sp>
      <p:sp>
        <p:nvSpPr>
          <p:cNvPr id="641" name="Google Shape;641;p5"/>
          <p:cNvSpPr txBox="1"/>
          <p:nvPr/>
        </p:nvSpPr>
        <p:spPr>
          <a:xfrm>
            <a:off x="9436608" y="5001768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42" name="Google Shape;642;p5"/>
          <p:cNvSpPr txBox="1"/>
          <p:nvPr/>
        </p:nvSpPr>
        <p:spPr>
          <a:xfrm>
            <a:off x="10259568" y="5001768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0.5%</a:t>
            </a:r>
            <a:endParaRPr/>
          </a:p>
        </p:txBody>
      </p:sp>
      <p:sp>
        <p:nvSpPr>
          <p:cNvPr id="643" name="Google Shape;643;p5"/>
          <p:cNvSpPr txBox="1"/>
          <p:nvPr/>
        </p:nvSpPr>
        <p:spPr>
          <a:xfrm>
            <a:off x="10991088" y="5001768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-42</a:t>
            </a:r>
            <a:endParaRPr/>
          </a:p>
        </p:txBody>
      </p:sp>
      <p:sp>
        <p:nvSpPr>
          <p:cNvPr id="644" name="Google Shape;644;p5"/>
          <p:cNvSpPr/>
          <p:nvPr/>
        </p:nvSpPr>
        <p:spPr>
          <a:xfrm>
            <a:off x="5623560" y="5239512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5"/>
          <p:cNvSpPr txBox="1"/>
          <p:nvPr/>
        </p:nvSpPr>
        <p:spPr>
          <a:xfrm>
            <a:off x="5733288" y="5257800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646" name="Google Shape;646;p5"/>
          <p:cNvSpPr txBox="1"/>
          <p:nvPr/>
        </p:nvSpPr>
        <p:spPr>
          <a:xfrm>
            <a:off x="8567928" y="5257800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647" name="Google Shape;647;p5"/>
          <p:cNvSpPr txBox="1"/>
          <p:nvPr/>
        </p:nvSpPr>
        <p:spPr>
          <a:xfrm>
            <a:off x="9436608" y="5257800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48" name="Google Shape;648;p5"/>
          <p:cNvSpPr txBox="1"/>
          <p:nvPr/>
        </p:nvSpPr>
        <p:spPr>
          <a:xfrm>
            <a:off x="10259568" y="5257800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11.3%</a:t>
            </a:r>
            <a:endParaRPr/>
          </a:p>
        </p:txBody>
      </p:sp>
      <p:sp>
        <p:nvSpPr>
          <p:cNvPr id="649" name="Google Shape;649;p5"/>
          <p:cNvSpPr txBox="1"/>
          <p:nvPr/>
        </p:nvSpPr>
        <p:spPr>
          <a:xfrm>
            <a:off x="10991088" y="5257800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-513</a:t>
            </a:r>
            <a:endParaRPr/>
          </a:p>
        </p:txBody>
      </p:sp>
      <p:sp>
        <p:nvSpPr>
          <p:cNvPr id="650" name="Google Shape;650;p5"/>
          <p:cNvSpPr txBox="1"/>
          <p:nvPr/>
        </p:nvSpPr>
        <p:spPr>
          <a:xfrm>
            <a:off x="5733288" y="5513832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651" name="Google Shape;651;p5"/>
          <p:cNvSpPr txBox="1"/>
          <p:nvPr/>
        </p:nvSpPr>
        <p:spPr>
          <a:xfrm>
            <a:off x="8567928" y="5513832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652" name="Google Shape;652;p5"/>
          <p:cNvSpPr txBox="1"/>
          <p:nvPr/>
        </p:nvSpPr>
        <p:spPr>
          <a:xfrm>
            <a:off x="9436608" y="5513832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53" name="Google Shape;653;p5"/>
          <p:cNvSpPr txBox="1"/>
          <p:nvPr/>
        </p:nvSpPr>
        <p:spPr>
          <a:xfrm>
            <a:off x="10259568" y="5513832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654" name="Google Shape;654;p5"/>
          <p:cNvSpPr txBox="1"/>
          <p:nvPr/>
        </p:nvSpPr>
        <p:spPr>
          <a:xfrm>
            <a:off x="10991088" y="5513832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+60</a:t>
            </a:r>
            <a:endParaRPr/>
          </a:p>
        </p:txBody>
      </p:sp>
      <p:sp>
        <p:nvSpPr>
          <p:cNvPr id="655" name="Google Shape;655;p5"/>
          <p:cNvSpPr/>
          <p:nvPr/>
        </p:nvSpPr>
        <p:spPr>
          <a:xfrm>
            <a:off x="5623560" y="5751576"/>
            <a:ext cx="6400800" cy="26517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6" name="Google Shape;656;p5"/>
          <p:cNvSpPr txBox="1"/>
          <p:nvPr/>
        </p:nvSpPr>
        <p:spPr>
          <a:xfrm>
            <a:off x="5733288" y="5769864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Talis Insurance Group, Inc</a:t>
            </a:r>
            <a:endParaRPr/>
          </a:p>
        </p:txBody>
      </p:sp>
      <p:sp>
        <p:nvSpPr>
          <p:cNvPr id="657" name="Google Shape;657;p5"/>
          <p:cNvSpPr txBox="1"/>
          <p:nvPr/>
        </p:nvSpPr>
        <p:spPr>
          <a:xfrm>
            <a:off x="8567928" y="5769864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</p:txBody>
      </p:sp>
      <p:sp>
        <p:nvSpPr>
          <p:cNvPr id="658" name="Google Shape;658;p5"/>
          <p:cNvSpPr txBox="1"/>
          <p:nvPr/>
        </p:nvSpPr>
        <p:spPr>
          <a:xfrm>
            <a:off x="9436608" y="5769864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59" name="Google Shape;659;p5"/>
          <p:cNvSpPr txBox="1"/>
          <p:nvPr/>
        </p:nvSpPr>
        <p:spPr>
          <a:xfrm>
            <a:off x="10259568" y="5769864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660" name="Google Shape;660;p5"/>
          <p:cNvSpPr txBox="1"/>
          <p:nvPr/>
        </p:nvSpPr>
        <p:spPr>
          <a:xfrm>
            <a:off x="10991088" y="5769864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+9</a:t>
            </a:r>
            <a:endParaRPr/>
          </a:p>
        </p:txBody>
      </p:sp>
      <p:sp>
        <p:nvSpPr>
          <p:cNvPr id="661" name="Google Shape;661;p5"/>
          <p:cNvSpPr txBox="1"/>
          <p:nvPr/>
        </p:nvSpPr>
        <p:spPr>
          <a:xfrm>
            <a:off x="5733288" y="6025896"/>
            <a:ext cx="283464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 Era Insurance Agency</a:t>
            </a:r>
            <a:endParaRPr/>
          </a:p>
        </p:txBody>
      </p:sp>
      <p:sp>
        <p:nvSpPr>
          <p:cNvPr id="662" name="Google Shape;662;p5"/>
          <p:cNvSpPr txBox="1"/>
          <p:nvPr/>
        </p:nvSpPr>
        <p:spPr>
          <a:xfrm>
            <a:off x="8567928" y="6025896"/>
            <a:ext cx="86868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663" name="Google Shape;663;p5"/>
          <p:cNvSpPr txBox="1"/>
          <p:nvPr/>
        </p:nvSpPr>
        <p:spPr>
          <a:xfrm>
            <a:off x="9436608" y="6025896"/>
            <a:ext cx="8229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4" name="Google Shape;664;p5"/>
          <p:cNvSpPr txBox="1"/>
          <p:nvPr/>
        </p:nvSpPr>
        <p:spPr>
          <a:xfrm>
            <a:off x="10259568" y="6025896"/>
            <a:ext cx="7315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665" name="Google Shape;665;p5"/>
          <p:cNvSpPr txBox="1"/>
          <p:nvPr/>
        </p:nvSpPr>
        <p:spPr>
          <a:xfrm>
            <a:off x="10991088" y="6025896"/>
            <a:ext cx="68580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+126</a:t>
            </a:r>
            <a:endParaRPr/>
          </a:p>
        </p:txBody>
      </p:sp>
      <p:sp>
        <p:nvSpPr>
          <p:cNvPr id="666" name="Google Shape;666;p5"/>
          <p:cNvSpPr txBox="1"/>
          <p:nvPr/>
        </p:nvSpPr>
        <p:spPr>
          <a:xfrm>
            <a:off x="137160" y="6528816"/>
            <a:ext cx="1179576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Totals match Sales Scoreboard: Q1 → Q1 owner, Q2+ → current owner, 2025 baseline → current owner  |  Hit ratio = binds / submissions  |  Right-panel agency table shows current portfolio  |  Green ≥ 8%  Red &lt; 5%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0" name="Shape 6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Google Shape;671;p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6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Monthly Trend</a:t>
            </a:r>
            <a:endParaRPr/>
          </a:p>
        </p:txBody>
      </p:sp>
      <p:sp>
        <p:nvSpPr>
          <p:cNvPr id="673" name="Google Shape;673;p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 |  34 Total Agencies  |  Jan–May 2026</a:t>
            </a:r>
            <a:endParaRPr/>
          </a:p>
        </p:txBody>
      </p:sp>
      <p:sp>
        <p:nvSpPr>
          <p:cNvPr id="674" name="Google Shape;674;p6"/>
          <p:cNvSpPr/>
          <p:nvPr/>
        </p:nvSpPr>
        <p:spPr>
          <a:xfrm>
            <a:off x="365760" y="1097280"/>
            <a:ext cx="10424160" cy="329184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5" name="Google Shape;675;p6"/>
          <p:cNvSpPr txBox="1"/>
          <p:nvPr/>
        </p:nvSpPr>
        <p:spPr>
          <a:xfrm>
            <a:off x="457200" y="11430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76" name="Google Shape;676;p6"/>
          <p:cNvSpPr txBox="1"/>
          <p:nvPr/>
        </p:nvSpPr>
        <p:spPr>
          <a:xfrm>
            <a:off x="1920240" y="11430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677" name="Google Shape;677;p6"/>
          <p:cNvSpPr txBox="1"/>
          <p:nvPr/>
        </p:nvSpPr>
        <p:spPr>
          <a:xfrm>
            <a:off x="3337560" y="11430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Biz</a:t>
            </a:r>
            <a:endParaRPr/>
          </a:p>
        </p:txBody>
      </p:sp>
      <p:sp>
        <p:nvSpPr>
          <p:cNvPr id="678" name="Google Shape;678;p6"/>
          <p:cNvSpPr txBox="1"/>
          <p:nvPr/>
        </p:nvSpPr>
        <p:spPr>
          <a:xfrm>
            <a:off x="4663440" y="11430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9" name="Google Shape;679;p6"/>
          <p:cNvSpPr txBox="1"/>
          <p:nvPr/>
        </p:nvSpPr>
        <p:spPr>
          <a:xfrm>
            <a:off x="5897879" y="11430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</a:t>
            </a:r>
            <a:endParaRPr/>
          </a:p>
        </p:txBody>
      </p:sp>
      <p:sp>
        <p:nvSpPr>
          <p:cNvPr id="680" name="Google Shape;680;p6"/>
          <p:cNvSpPr txBox="1"/>
          <p:nvPr/>
        </p:nvSpPr>
        <p:spPr>
          <a:xfrm>
            <a:off x="70865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1" name="Google Shape;681;p6"/>
          <p:cNvSpPr txBox="1"/>
          <p:nvPr/>
        </p:nvSpPr>
        <p:spPr>
          <a:xfrm>
            <a:off x="80009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Quotes</a:t>
            </a:r>
            <a:endParaRPr/>
          </a:p>
        </p:txBody>
      </p:sp>
      <p:sp>
        <p:nvSpPr>
          <p:cNvPr id="682" name="Google Shape;682;p6"/>
          <p:cNvSpPr txBox="1"/>
          <p:nvPr/>
        </p:nvSpPr>
        <p:spPr>
          <a:xfrm>
            <a:off x="8915399" y="11430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3" name="Google Shape;683;p6"/>
          <p:cNvSpPr txBox="1"/>
          <p:nvPr/>
        </p:nvSpPr>
        <p:spPr>
          <a:xfrm>
            <a:off x="9829799" y="11430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4" name="Google Shape;684;p6"/>
          <p:cNvSpPr txBox="1"/>
          <p:nvPr/>
        </p:nvSpPr>
        <p:spPr>
          <a:xfrm>
            <a:off x="457200" y="1499616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5" name="Google Shape;685;p6"/>
          <p:cNvSpPr txBox="1"/>
          <p:nvPr/>
        </p:nvSpPr>
        <p:spPr>
          <a:xfrm>
            <a:off x="1920240" y="1499616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$8,369,187</a:t>
            </a:r>
            <a:endParaRPr/>
          </a:p>
        </p:txBody>
      </p:sp>
      <p:sp>
        <p:nvSpPr>
          <p:cNvPr id="686" name="Google Shape;686;p6"/>
          <p:cNvSpPr txBox="1"/>
          <p:nvPr/>
        </p:nvSpPr>
        <p:spPr>
          <a:xfrm>
            <a:off x="3337560" y="1499616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$2,404,787</a:t>
            </a:r>
            <a:endParaRPr/>
          </a:p>
        </p:txBody>
      </p:sp>
      <p:sp>
        <p:nvSpPr>
          <p:cNvPr id="687" name="Google Shape;687;p6"/>
          <p:cNvSpPr txBox="1"/>
          <p:nvPr/>
        </p:nvSpPr>
        <p:spPr>
          <a:xfrm>
            <a:off x="4663440" y="1499616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$237,395</a:t>
            </a:r>
            <a:endParaRPr/>
          </a:p>
        </p:txBody>
      </p:sp>
      <p:sp>
        <p:nvSpPr>
          <p:cNvPr id="688" name="Google Shape;688;p6"/>
          <p:cNvSpPr txBox="1"/>
          <p:nvPr/>
        </p:nvSpPr>
        <p:spPr>
          <a:xfrm>
            <a:off x="5897879" y="1499616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$-1,403,973</a:t>
            </a:r>
            <a:endParaRPr/>
          </a:p>
        </p:txBody>
      </p:sp>
      <p:sp>
        <p:nvSpPr>
          <p:cNvPr id="689" name="Google Shape;689;p6"/>
          <p:cNvSpPr txBox="1"/>
          <p:nvPr/>
        </p:nvSpPr>
        <p:spPr>
          <a:xfrm>
            <a:off x="70865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3,018</a:t>
            </a:r>
            <a:endParaRPr/>
          </a:p>
        </p:txBody>
      </p:sp>
      <p:sp>
        <p:nvSpPr>
          <p:cNvPr id="690" name="Google Shape;690;p6"/>
          <p:cNvSpPr txBox="1"/>
          <p:nvPr/>
        </p:nvSpPr>
        <p:spPr>
          <a:xfrm>
            <a:off x="80009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2,184</a:t>
            </a:r>
            <a:endParaRPr/>
          </a:p>
        </p:txBody>
      </p:sp>
      <p:sp>
        <p:nvSpPr>
          <p:cNvPr id="691" name="Google Shape;691;p6"/>
          <p:cNvSpPr txBox="1"/>
          <p:nvPr/>
        </p:nvSpPr>
        <p:spPr>
          <a:xfrm>
            <a:off x="8915399" y="1499616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</a:t>
            </a:r>
            <a:endParaRPr/>
          </a:p>
        </p:txBody>
      </p:sp>
      <p:sp>
        <p:nvSpPr>
          <p:cNvPr id="692" name="Google Shape;692;p6"/>
          <p:cNvSpPr txBox="1"/>
          <p:nvPr/>
        </p:nvSpPr>
        <p:spPr>
          <a:xfrm>
            <a:off x="9829799" y="1499616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8.9%</a:t>
            </a:r>
            <a:endParaRPr/>
          </a:p>
        </p:txBody>
      </p:sp>
      <p:sp>
        <p:nvSpPr>
          <p:cNvPr id="693" name="Google Shape;693;p6"/>
          <p:cNvSpPr/>
          <p:nvPr/>
        </p:nvSpPr>
        <p:spPr>
          <a:xfrm>
            <a:off x="365760" y="1773936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" name="Google Shape;694;p6"/>
          <p:cNvSpPr txBox="1"/>
          <p:nvPr/>
        </p:nvSpPr>
        <p:spPr>
          <a:xfrm>
            <a:off x="457200" y="182880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5" name="Google Shape;695;p6"/>
          <p:cNvSpPr txBox="1"/>
          <p:nvPr/>
        </p:nvSpPr>
        <p:spPr>
          <a:xfrm>
            <a:off x="1920240" y="1828800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$8,383,096</a:t>
            </a:r>
            <a:endParaRPr/>
          </a:p>
        </p:txBody>
      </p:sp>
      <p:sp>
        <p:nvSpPr>
          <p:cNvPr id="696" name="Google Shape;696;p6"/>
          <p:cNvSpPr txBox="1"/>
          <p:nvPr/>
        </p:nvSpPr>
        <p:spPr>
          <a:xfrm>
            <a:off x="3337560" y="1828800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$2,141,010</a:t>
            </a:r>
            <a:endParaRPr/>
          </a:p>
        </p:txBody>
      </p:sp>
      <p:sp>
        <p:nvSpPr>
          <p:cNvPr id="697" name="Google Shape;697;p6"/>
          <p:cNvSpPr txBox="1"/>
          <p:nvPr/>
        </p:nvSpPr>
        <p:spPr>
          <a:xfrm>
            <a:off x="4663440" y="182880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$368,718</a:t>
            </a:r>
            <a:endParaRPr/>
          </a:p>
        </p:txBody>
      </p:sp>
      <p:sp>
        <p:nvSpPr>
          <p:cNvPr id="698" name="Google Shape;698;p6"/>
          <p:cNvSpPr txBox="1"/>
          <p:nvPr/>
        </p:nvSpPr>
        <p:spPr>
          <a:xfrm>
            <a:off x="5897879" y="182880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$-1,186,958</a:t>
            </a:r>
            <a:endParaRPr/>
          </a:p>
        </p:txBody>
      </p:sp>
      <p:sp>
        <p:nvSpPr>
          <p:cNvPr id="699" name="Google Shape;699;p6"/>
          <p:cNvSpPr txBox="1"/>
          <p:nvPr/>
        </p:nvSpPr>
        <p:spPr>
          <a:xfrm>
            <a:off x="70865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3,070</a:t>
            </a:r>
            <a:endParaRPr/>
          </a:p>
        </p:txBody>
      </p:sp>
      <p:sp>
        <p:nvSpPr>
          <p:cNvPr id="700" name="Google Shape;700;p6"/>
          <p:cNvSpPr txBox="1"/>
          <p:nvPr/>
        </p:nvSpPr>
        <p:spPr>
          <a:xfrm>
            <a:off x="80009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2,176</a:t>
            </a:r>
            <a:endParaRPr/>
          </a:p>
        </p:txBody>
      </p:sp>
      <p:sp>
        <p:nvSpPr>
          <p:cNvPr id="701" name="Google Shape;701;p6"/>
          <p:cNvSpPr txBox="1"/>
          <p:nvPr/>
        </p:nvSpPr>
        <p:spPr>
          <a:xfrm>
            <a:off x="8915399" y="1828800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</a:t>
            </a:r>
            <a:endParaRPr/>
          </a:p>
        </p:txBody>
      </p:sp>
      <p:sp>
        <p:nvSpPr>
          <p:cNvPr id="702" name="Google Shape;702;p6"/>
          <p:cNvSpPr txBox="1"/>
          <p:nvPr/>
        </p:nvSpPr>
        <p:spPr>
          <a:xfrm>
            <a:off x="9829799" y="182880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8.4%</a:t>
            </a:r>
            <a:endParaRPr/>
          </a:p>
        </p:txBody>
      </p:sp>
      <p:sp>
        <p:nvSpPr>
          <p:cNvPr id="703" name="Google Shape;703;p6"/>
          <p:cNvSpPr txBox="1"/>
          <p:nvPr/>
        </p:nvSpPr>
        <p:spPr>
          <a:xfrm>
            <a:off x="457200" y="2157984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4" name="Google Shape;704;p6"/>
          <p:cNvSpPr txBox="1"/>
          <p:nvPr/>
        </p:nvSpPr>
        <p:spPr>
          <a:xfrm>
            <a:off x="1920240" y="2157984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$8,710,118</a:t>
            </a:r>
            <a:endParaRPr/>
          </a:p>
        </p:txBody>
      </p:sp>
      <p:sp>
        <p:nvSpPr>
          <p:cNvPr id="705" name="Google Shape;705;p6"/>
          <p:cNvSpPr txBox="1"/>
          <p:nvPr/>
        </p:nvSpPr>
        <p:spPr>
          <a:xfrm>
            <a:off x="3337560" y="2157984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$2,876,868</a:t>
            </a:r>
            <a:endParaRPr/>
          </a:p>
        </p:txBody>
      </p:sp>
      <p:sp>
        <p:nvSpPr>
          <p:cNvPr id="706" name="Google Shape;706;p6"/>
          <p:cNvSpPr txBox="1"/>
          <p:nvPr/>
        </p:nvSpPr>
        <p:spPr>
          <a:xfrm>
            <a:off x="4663440" y="2157984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$256,034</a:t>
            </a:r>
            <a:endParaRPr/>
          </a:p>
        </p:txBody>
      </p:sp>
      <p:sp>
        <p:nvSpPr>
          <p:cNvPr id="707" name="Google Shape;707;p6"/>
          <p:cNvSpPr txBox="1"/>
          <p:nvPr/>
        </p:nvSpPr>
        <p:spPr>
          <a:xfrm>
            <a:off x="5897879" y="2157984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$-1,575,007</a:t>
            </a:r>
            <a:endParaRPr/>
          </a:p>
        </p:txBody>
      </p:sp>
      <p:sp>
        <p:nvSpPr>
          <p:cNvPr id="708" name="Google Shape;708;p6"/>
          <p:cNvSpPr txBox="1"/>
          <p:nvPr/>
        </p:nvSpPr>
        <p:spPr>
          <a:xfrm>
            <a:off x="70865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3,209</a:t>
            </a:r>
            <a:endParaRPr/>
          </a:p>
        </p:txBody>
      </p:sp>
      <p:sp>
        <p:nvSpPr>
          <p:cNvPr id="709" name="Google Shape;709;p6"/>
          <p:cNvSpPr txBox="1"/>
          <p:nvPr/>
        </p:nvSpPr>
        <p:spPr>
          <a:xfrm>
            <a:off x="80009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2,208</a:t>
            </a:r>
            <a:endParaRPr/>
          </a:p>
        </p:txBody>
      </p:sp>
      <p:sp>
        <p:nvSpPr>
          <p:cNvPr id="710" name="Google Shape;710;p6"/>
          <p:cNvSpPr txBox="1"/>
          <p:nvPr/>
        </p:nvSpPr>
        <p:spPr>
          <a:xfrm>
            <a:off x="8915399" y="2157984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285</a:t>
            </a:r>
            <a:endParaRPr/>
          </a:p>
        </p:txBody>
      </p:sp>
      <p:sp>
        <p:nvSpPr>
          <p:cNvPr id="711" name="Google Shape;711;p6"/>
          <p:cNvSpPr txBox="1"/>
          <p:nvPr/>
        </p:nvSpPr>
        <p:spPr>
          <a:xfrm>
            <a:off x="9829799" y="2157984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8.9%</a:t>
            </a:r>
            <a:endParaRPr/>
          </a:p>
        </p:txBody>
      </p:sp>
      <p:sp>
        <p:nvSpPr>
          <p:cNvPr id="712" name="Google Shape;712;p6"/>
          <p:cNvSpPr/>
          <p:nvPr/>
        </p:nvSpPr>
        <p:spPr>
          <a:xfrm>
            <a:off x="365760" y="2432303"/>
            <a:ext cx="10424160" cy="329184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" name="Google Shape;713;p6"/>
          <p:cNvSpPr txBox="1"/>
          <p:nvPr/>
        </p:nvSpPr>
        <p:spPr>
          <a:xfrm>
            <a:off x="457200" y="248716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4" name="Google Shape;714;p6"/>
          <p:cNvSpPr txBox="1"/>
          <p:nvPr/>
        </p:nvSpPr>
        <p:spPr>
          <a:xfrm>
            <a:off x="1920240" y="2487168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$8,488,374</a:t>
            </a:r>
            <a:endParaRPr/>
          </a:p>
        </p:txBody>
      </p:sp>
      <p:sp>
        <p:nvSpPr>
          <p:cNvPr id="715" name="Google Shape;715;p6"/>
          <p:cNvSpPr txBox="1"/>
          <p:nvPr/>
        </p:nvSpPr>
        <p:spPr>
          <a:xfrm>
            <a:off x="3337560" y="2487168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$2,859,782</a:t>
            </a:r>
            <a:endParaRPr/>
          </a:p>
        </p:txBody>
      </p:sp>
      <p:sp>
        <p:nvSpPr>
          <p:cNvPr id="716" name="Google Shape;716;p6"/>
          <p:cNvSpPr txBox="1"/>
          <p:nvPr/>
        </p:nvSpPr>
        <p:spPr>
          <a:xfrm>
            <a:off x="4663440" y="2487168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$726,984</a:t>
            </a:r>
            <a:endParaRPr/>
          </a:p>
        </p:txBody>
      </p:sp>
      <p:sp>
        <p:nvSpPr>
          <p:cNvPr id="717" name="Google Shape;717;p6"/>
          <p:cNvSpPr txBox="1"/>
          <p:nvPr/>
        </p:nvSpPr>
        <p:spPr>
          <a:xfrm>
            <a:off x="5897879" y="2487168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$-2,098,341</a:t>
            </a:r>
            <a:endParaRPr/>
          </a:p>
        </p:txBody>
      </p:sp>
      <p:sp>
        <p:nvSpPr>
          <p:cNvPr id="718" name="Google Shape;718;p6"/>
          <p:cNvSpPr txBox="1"/>
          <p:nvPr/>
        </p:nvSpPr>
        <p:spPr>
          <a:xfrm>
            <a:off x="70865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3,625</a:t>
            </a:r>
            <a:endParaRPr/>
          </a:p>
        </p:txBody>
      </p:sp>
      <p:sp>
        <p:nvSpPr>
          <p:cNvPr id="719" name="Google Shape;719;p6"/>
          <p:cNvSpPr txBox="1"/>
          <p:nvPr/>
        </p:nvSpPr>
        <p:spPr>
          <a:xfrm>
            <a:off x="80009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2,559</a:t>
            </a:r>
            <a:endParaRPr/>
          </a:p>
        </p:txBody>
      </p:sp>
      <p:sp>
        <p:nvSpPr>
          <p:cNvPr id="720" name="Google Shape;720;p6"/>
          <p:cNvSpPr txBox="1"/>
          <p:nvPr/>
        </p:nvSpPr>
        <p:spPr>
          <a:xfrm>
            <a:off x="8915399" y="2487168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294</a:t>
            </a:r>
            <a:endParaRPr/>
          </a:p>
        </p:txBody>
      </p:sp>
      <p:sp>
        <p:nvSpPr>
          <p:cNvPr id="721" name="Google Shape;721;p6"/>
          <p:cNvSpPr txBox="1"/>
          <p:nvPr/>
        </p:nvSpPr>
        <p:spPr>
          <a:xfrm>
            <a:off x="9829799" y="2487168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722" name="Google Shape;722;p6"/>
          <p:cNvSpPr txBox="1"/>
          <p:nvPr/>
        </p:nvSpPr>
        <p:spPr>
          <a:xfrm>
            <a:off x="457200" y="2816351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3" name="Google Shape;723;p6"/>
          <p:cNvSpPr txBox="1"/>
          <p:nvPr/>
        </p:nvSpPr>
        <p:spPr>
          <a:xfrm>
            <a:off x="1920240" y="2816351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$6,495,289</a:t>
            </a:r>
            <a:endParaRPr/>
          </a:p>
        </p:txBody>
      </p:sp>
      <p:sp>
        <p:nvSpPr>
          <p:cNvPr id="724" name="Google Shape;724;p6"/>
          <p:cNvSpPr txBox="1"/>
          <p:nvPr/>
        </p:nvSpPr>
        <p:spPr>
          <a:xfrm>
            <a:off x="3337560" y="2816351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$2,548,482</a:t>
            </a:r>
            <a:endParaRPr/>
          </a:p>
        </p:txBody>
      </p:sp>
      <p:sp>
        <p:nvSpPr>
          <p:cNvPr id="725" name="Google Shape;725;p6"/>
          <p:cNvSpPr txBox="1"/>
          <p:nvPr/>
        </p:nvSpPr>
        <p:spPr>
          <a:xfrm>
            <a:off x="4663440" y="2816351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$671,800</a:t>
            </a:r>
            <a:endParaRPr/>
          </a:p>
        </p:txBody>
      </p:sp>
      <p:sp>
        <p:nvSpPr>
          <p:cNvPr id="726" name="Google Shape;726;p6"/>
          <p:cNvSpPr txBox="1"/>
          <p:nvPr/>
        </p:nvSpPr>
        <p:spPr>
          <a:xfrm>
            <a:off x="5897879" y="2816351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$-1,780,696</a:t>
            </a:r>
            <a:endParaRPr/>
          </a:p>
        </p:txBody>
      </p:sp>
      <p:sp>
        <p:nvSpPr>
          <p:cNvPr id="727" name="Google Shape;727;p6"/>
          <p:cNvSpPr txBox="1"/>
          <p:nvPr/>
        </p:nvSpPr>
        <p:spPr>
          <a:xfrm>
            <a:off x="70865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2,684</a:t>
            </a:r>
            <a:endParaRPr/>
          </a:p>
        </p:txBody>
      </p:sp>
      <p:sp>
        <p:nvSpPr>
          <p:cNvPr id="728" name="Google Shape;728;p6"/>
          <p:cNvSpPr txBox="1"/>
          <p:nvPr/>
        </p:nvSpPr>
        <p:spPr>
          <a:xfrm>
            <a:off x="80009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1,932</a:t>
            </a:r>
            <a:endParaRPr/>
          </a:p>
        </p:txBody>
      </p:sp>
      <p:sp>
        <p:nvSpPr>
          <p:cNvPr id="729" name="Google Shape;729;p6"/>
          <p:cNvSpPr txBox="1"/>
          <p:nvPr/>
        </p:nvSpPr>
        <p:spPr>
          <a:xfrm>
            <a:off x="8915399" y="2816351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192</a:t>
            </a:r>
            <a:endParaRPr/>
          </a:p>
        </p:txBody>
      </p:sp>
      <p:sp>
        <p:nvSpPr>
          <p:cNvPr id="730" name="Google Shape;730;p6"/>
          <p:cNvSpPr txBox="1"/>
          <p:nvPr/>
        </p:nvSpPr>
        <p:spPr>
          <a:xfrm>
            <a:off x="9829799" y="2816351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7.2%</a:t>
            </a:r>
            <a:endParaRPr/>
          </a:p>
        </p:txBody>
      </p:sp>
      <p:sp>
        <p:nvSpPr>
          <p:cNvPr id="731" name="Google Shape;731;p6"/>
          <p:cNvSpPr/>
          <p:nvPr/>
        </p:nvSpPr>
        <p:spPr>
          <a:xfrm>
            <a:off x="365760" y="3090671"/>
            <a:ext cx="10424160" cy="36576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2" name="Google Shape;732;p6"/>
          <p:cNvSpPr txBox="1"/>
          <p:nvPr/>
        </p:nvSpPr>
        <p:spPr>
          <a:xfrm>
            <a:off x="457200" y="3163823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</a:t>
            </a:r>
            <a:endParaRPr/>
          </a:p>
        </p:txBody>
      </p:sp>
      <p:sp>
        <p:nvSpPr>
          <p:cNvPr id="733" name="Google Shape;733;p6"/>
          <p:cNvSpPr txBox="1"/>
          <p:nvPr/>
        </p:nvSpPr>
        <p:spPr>
          <a:xfrm>
            <a:off x="1920240" y="3163823"/>
            <a:ext cx="1234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$40,446,064</a:t>
            </a:r>
            <a:endParaRPr/>
          </a:p>
        </p:txBody>
      </p:sp>
      <p:sp>
        <p:nvSpPr>
          <p:cNvPr id="734" name="Google Shape;734;p6"/>
          <p:cNvSpPr txBox="1"/>
          <p:nvPr/>
        </p:nvSpPr>
        <p:spPr>
          <a:xfrm>
            <a:off x="3337560" y="3163823"/>
            <a:ext cx="1143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$12,830,929</a:t>
            </a:r>
            <a:endParaRPr/>
          </a:p>
        </p:txBody>
      </p:sp>
      <p:sp>
        <p:nvSpPr>
          <p:cNvPr id="735" name="Google Shape;735;p6"/>
          <p:cNvSpPr txBox="1"/>
          <p:nvPr/>
        </p:nvSpPr>
        <p:spPr>
          <a:xfrm>
            <a:off x="4663440" y="3163823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$2,260,930</a:t>
            </a:r>
            <a:endParaRPr/>
          </a:p>
        </p:txBody>
      </p:sp>
      <p:sp>
        <p:nvSpPr>
          <p:cNvPr id="736" name="Google Shape;736;p6"/>
          <p:cNvSpPr txBox="1"/>
          <p:nvPr/>
        </p:nvSpPr>
        <p:spPr>
          <a:xfrm>
            <a:off x="5897879" y="3163823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$-8,044,975</a:t>
            </a:r>
            <a:endParaRPr/>
          </a:p>
        </p:txBody>
      </p:sp>
      <p:sp>
        <p:nvSpPr>
          <p:cNvPr id="737" name="Google Shape;737;p6"/>
          <p:cNvSpPr txBox="1"/>
          <p:nvPr/>
        </p:nvSpPr>
        <p:spPr>
          <a:xfrm>
            <a:off x="70865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15,606</a:t>
            </a:r>
            <a:endParaRPr/>
          </a:p>
        </p:txBody>
      </p:sp>
      <p:sp>
        <p:nvSpPr>
          <p:cNvPr id="738" name="Google Shape;738;p6"/>
          <p:cNvSpPr txBox="1"/>
          <p:nvPr/>
        </p:nvSpPr>
        <p:spPr>
          <a:xfrm>
            <a:off x="80009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11,059</a:t>
            </a:r>
            <a:endParaRPr/>
          </a:p>
        </p:txBody>
      </p:sp>
      <p:sp>
        <p:nvSpPr>
          <p:cNvPr id="739" name="Google Shape;739;p6"/>
          <p:cNvSpPr txBox="1"/>
          <p:nvPr/>
        </p:nvSpPr>
        <p:spPr>
          <a:xfrm>
            <a:off x="8915399" y="3163823"/>
            <a:ext cx="731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1,297</a:t>
            </a:r>
            <a:endParaRPr/>
          </a:p>
        </p:txBody>
      </p:sp>
      <p:sp>
        <p:nvSpPr>
          <p:cNvPr id="740" name="Google Shape;740;p6"/>
          <p:cNvSpPr txBox="1"/>
          <p:nvPr/>
        </p:nvSpPr>
        <p:spPr>
          <a:xfrm>
            <a:off x="9829799" y="3163823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741" name="Google Shape;741;p6"/>
          <p:cNvSpPr txBox="1"/>
          <p:nvPr/>
        </p:nvSpPr>
        <p:spPr>
          <a:xfrm>
            <a:off x="365760" y="3611879"/>
            <a:ext cx="11430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Green = up vs prior month  |  Red = down vs prior month or negative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p7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In My Portfolio — Ron Douglas</a:t>
            </a:r>
            <a:endParaRPr/>
          </a:p>
        </p:txBody>
      </p:sp>
      <p:sp>
        <p:nvSpPr>
          <p:cNvPr id="747" name="Google Shape;747;p7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Dirt, Sand &amp; Gravel program performance across this bdm's agencies  |  2026 YTD</a:t>
            </a:r>
            <a:endParaRPr/>
          </a:p>
        </p:txBody>
      </p:sp>
      <p:sp>
        <p:nvSpPr>
          <p:cNvPr id="748" name="Google Shape;748;p7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SUBMISSIONS</a:t>
            </a:r>
            <a:endParaRPr/>
          </a:p>
        </p:txBody>
      </p:sp>
      <p:sp>
        <p:nvSpPr>
          <p:cNvPr id="749" name="Google Shape;749;p7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ACCOUNTS</a:t>
            </a:r>
            <a:endParaRPr/>
          </a:p>
        </p:txBody>
      </p:sp>
      <p:sp>
        <p:nvSpPr>
          <p:cNvPr id="750" name="Google Shape;750;p7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$299,457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GROSS WRITTEN PREM</a:t>
            </a:r>
            <a:endParaRPr/>
          </a:p>
        </p:txBody>
      </p:sp>
      <p:sp>
        <p:nvSpPr>
          <p:cNvPr id="751" name="Google Shape;751;p7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</a:t>
            </a:r>
            <a:endParaRPr/>
          </a:p>
        </p:txBody>
      </p:sp>
      <p:sp>
        <p:nvSpPr>
          <p:cNvPr id="752" name="Google Shape;752;p7"/>
          <p:cNvSpPr/>
          <p:nvPr/>
        </p:nvSpPr>
        <p:spPr>
          <a:xfrm>
            <a:off x="457200" y="2286000"/>
            <a:ext cx="1133856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7"/>
          <p:cNvSpPr txBox="1"/>
          <p:nvPr/>
        </p:nvSpPr>
        <p:spPr>
          <a:xfrm>
            <a:off x="566928" y="2322576"/>
            <a:ext cx="111556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DSG ACTIVITY BY AGENCY (top 8 by submissions)</a:t>
            </a:r>
            <a:endParaRPr/>
          </a:p>
        </p:txBody>
      </p:sp>
      <p:sp>
        <p:nvSpPr>
          <p:cNvPr id="754" name="Google Shape;754;p7"/>
          <p:cNvSpPr txBox="1"/>
          <p:nvPr/>
        </p:nvSpPr>
        <p:spPr>
          <a:xfrm>
            <a:off x="457200" y="2670048"/>
            <a:ext cx="42062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755" name="Google Shape;755;p7"/>
          <p:cNvSpPr txBox="1"/>
          <p:nvPr/>
        </p:nvSpPr>
        <p:spPr>
          <a:xfrm>
            <a:off x="466344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6" name="Google Shape;756;p7"/>
          <p:cNvSpPr txBox="1"/>
          <p:nvPr/>
        </p:nvSpPr>
        <p:spPr>
          <a:xfrm>
            <a:off x="594360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Declined</a:t>
            </a:r>
            <a:endParaRPr/>
          </a:p>
        </p:txBody>
      </p:sp>
      <p:sp>
        <p:nvSpPr>
          <p:cNvPr id="757" name="Google Shape;757;p7"/>
          <p:cNvSpPr txBox="1"/>
          <p:nvPr/>
        </p:nvSpPr>
        <p:spPr>
          <a:xfrm>
            <a:off x="722376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758" name="Google Shape;758;p7"/>
          <p:cNvSpPr txBox="1"/>
          <p:nvPr/>
        </p:nvSpPr>
        <p:spPr>
          <a:xfrm>
            <a:off x="8503920" y="2670048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759" name="Google Shape;759;p7"/>
          <p:cNvSpPr txBox="1"/>
          <p:nvPr/>
        </p:nvSpPr>
        <p:spPr>
          <a:xfrm>
            <a:off x="9784080" y="2670048"/>
            <a:ext cx="2011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760" name="Google Shape;760;p7"/>
          <p:cNvSpPr/>
          <p:nvPr/>
        </p:nvSpPr>
        <p:spPr>
          <a:xfrm>
            <a:off x="457200" y="2944368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" name="Google Shape;761;p7"/>
          <p:cNvSpPr txBox="1"/>
          <p:nvPr/>
        </p:nvSpPr>
        <p:spPr>
          <a:xfrm>
            <a:off x="457200" y="2980944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762" name="Google Shape;762;p7"/>
          <p:cNvSpPr txBox="1"/>
          <p:nvPr/>
        </p:nvSpPr>
        <p:spPr>
          <a:xfrm>
            <a:off x="466344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138</a:t>
            </a:r>
            <a:endParaRPr/>
          </a:p>
        </p:txBody>
      </p:sp>
      <p:sp>
        <p:nvSpPr>
          <p:cNvPr id="763" name="Google Shape;763;p7"/>
          <p:cNvSpPr txBox="1"/>
          <p:nvPr/>
        </p:nvSpPr>
        <p:spPr>
          <a:xfrm>
            <a:off x="594360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764" name="Google Shape;764;p7"/>
          <p:cNvSpPr txBox="1"/>
          <p:nvPr/>
        </p:nvSpPr>
        <p:spPr>
          <a:xfrm>
            <a:off x="722376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5" name="Google Shape;765;p7"/>
          <p:cNvSpPr txBox="1"/>
          <p:nvPr/>
        </p:nvSpPr>
        <p:spPr>
          <a:xfrm>
            <a:off x="8503920" y="298094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766" name="Google Shape;766;p7"/>
          <p:cNvSpPr txBox="1"/>
          <p:nvPr/>
        </p:nvSpPr>
        <p:spPr>
          <a:xfrm>
            <a:off x="9784080" y="2980944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$48,575</a:t>
            </a:r>
            <a:endParaRPr/>
          </a:p>
        </p:txBody>
      </p:sp>
      <p:sp>
        <p:nvSpPr>
          <p:cNvPr id="767" name="Google Shape;767;p7"/>
          <p:cNvSpPr txBox="1"/>
          <p:nvPr/>
        </p:nvSpPr>
        <p:spPr>
          <a:xfrm>
            <a:off x="457200" y="329183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768" name="Google Shape;768;p7"/>
          <p:cNvSpPr txBox="1"/>
          <p:nvPr/>
        </p:nvSpPr>
        <p:spPr>
          <a:xfrm>
            <a:off x="466344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</a:t>
            </a:r>
            <a:endParaRPr/>
          </a:p>
        </p:txBody>
      </p:sp>
      <p:sp>
        <p:nvSpPr>
          <p:cNvPr id="769" name="Google Shape;769;p7"/>
          <p:cNvSpPr txBox="1"/>
          <p:nvPr/>
        </p:nvSpPr>
        <p:spPr>
          <a:xfrm>
            <a:off x="594360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770" name="Google Shape;770;p7"/>
          <p:cNvSpPr txBox="1"/>
          <p:nvPr/>
        </p:nvSpPr>
        <p:spPr>
          <a:xfrm>
            <a:off x="722376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1" name="Google Shape;771;p7"/>
          <p:cNvSpPr txBox="1"/>
          <p:nvPr/>
        </p:nvSpPr>
        <p:spPr>
          <a:xfrm>
            <a:off x="8503920" y="329183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772" name="Google Shape;772;p7"/>
          <p:cNvSpPr txBox="1"/>
          <p:nvPr/>
        </p:nvSpPr>
        <p:spPr>
          <a:xfrm>
            <a:off x="9784080" y="329183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$61,459</a:t>
            </a:r>
            <a:endParaRPr/>
          </a:p>
        </p:txBody>
      </p:sp>
      <p:sp>
        <p:nvSpPr>
          <p:cNvPr id="773" name="Google Shape;773;p7"/>
          <p:cNvSpPr/>
          <p:nvPr/>
        </p:nvSpPr>
        <p:spPr>
          <a:xfrm>
            <a:off x="457200" y="3566159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" name="Google Shape;774;p7"/>
          <p:cNvSpPr txBox="1"/>
          <p:nvPr/>
        </p:nvSpPr>
        <p:spPr>
          <a:xfrm>
            <a:off x="457200" y="360273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775" name="Google Shape;775;p7"/>
          <p:cNvSpPr txBox="1"/>
          <p:nvPr/>
        </p:nvSpPr>
        <p:spPr>
          <a:xfrm>
            <a:off x="466344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776" name="Google Shape;776;p7"/>
          <p:cNvSpPr txBox="1"/>
          <p:nvPr/>
        </p:nvSpPr>
        <p:spPr>
          <a:xfrm>
            <a:off x="594360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77" name="Google Shape;777;p7"/>
          <p:cNvSpPr txBox="1"/>
          <p:nvPr/>
        </p:nvSpPr>
        <p:spPr>
          <a:xfrm>
            <a:off x="722376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8" name="Google Shape;778;p7"/>
          <p:cNvSpPr txBox="1"/>
          <p:nvPr/>
        </p:nvSpPr>
        <p:spPr>
          <a:xfrm>
            <a:off x="8503920" y="360273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779" name="Google Shape;779;p7"/>
          <p:cNvSpPr txBox="1"/>
          <p:nvPr/>
        </p:nvSpPr>
        <p:spPr>
          <a:xfrm>
            <a:off x="9784080" y="360273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$26,295</a:t>
            </a:r>
            <a:endParaRPr/>
          </a:p>
        </p:txBody>
      </p:sp>
      <p:sp>
        <p:nvSpPr>
          <p:cNvPr id="780" name="Google Shape;780;p7"/>
          <p:cNvSpPr txBox="1"/>
          <p:nvPr/>
        </p:nvSpPr>
        <p:spPr>
          <a:xfrm>
            <a:off x="457200" y="3913631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781" name="Google Shape;781;p7"/>
          <p:cNvSpPr txBox="1"/>
          <p:nvPr/>
        </p:nvSpPr>
        <p:spPr>
          <a:xfrm>
            <a:off x="466344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782" name="Google Shape;782;p7"/>
          <p:cNvSpPr txBox="1"/>
          <p:nvPr/>
        </p:nvSpPr>
        <p:spPr>
          <a:xfrm>
            <a:off x="594360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83" name="Google Shape;783;p7"/>
          <p:cNvSpPr txBox="1"/>
          <p:nvPr/>
        </p:nvSpPr>
        <p:spPr>
          <a:xfrm>
            <a:off x="722376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784" name="Google Shape;784;p7"/>
          <p:cNvSpPr txBox="1"/>
          <p:nvPr/>
        </p:nvSpPr>
        <p:spPr>
          <a:xfrm>
            <a:off x="8503920" y="3913631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785" name="Google Shape;785;p7"/>
          <p:cNvSpPr txBox="1"/>
          <p:nvPr/>
        </p:nvSpPr>
        <p:spPr>
          <a:xfrm>
            <a:off x="9784080" y="3913631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$107,975</a:t>
            </a:r>
            <a:endParaRPr/>
          </a:p>
        </p:txBody>
      </p:sp>
      <p:sp>
        <p:nvSpPr>
          <p:cNvPr id="786" name="Google Shape;786;p7"/>
          <p:cNvSpPr/>
          <p:nvPr/>
        </p:nvSpPr>
        <p:spPr>
          <a:xfrm>
            <a:off x="457200" y="4187951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7" name="Google Shape;787;p7"/>
          <p:cNvSpPr txBox="1"/>
          <p:nvPr/>
        </p:nvSpPr>
        <p:spPr>
          <a:xfrm>
            <a:off x="457200" y="4224527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 Inc Dba Prestige</a:t>
            </a:r>
            <a:endParaRPr/>
          </a:p>
        </p:txBody>
      </p:sp>
      <p:sp>
        <p:nvSpPr>
          <p:cNvPr id="788" name="Google Shape;788;p7"/>
          <p:cNvSpPr txBox="1"/>
          <p:nvPr/>
        </p:nvSpPr>
        <p:spPr>
          <a:xfrm>
            <a:off x="466344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89" name="Google Shape;789;p7"/>
          <p:cNvSpPr txBox="1"/>
          <p:nvPr/>
        </p:nvSpPr>
        <p:spPr>
          <a:xfrm>
            <a:off x="594360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790" name="Google Shape;790;p7"/>
          <p:cNvSpPr txBox="1"/>
          <p:nvPr/>
        </p:nvSpPr>
        <p:spPr>
          <a:xfrm>
            <a:off x="722376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91" name="Google Shape;791;p7"/>
          <p:cNvSpPr txBox="1"/>
          <p:nvPr/>
        </p:nvSpPr>
        <p:spPr>
          <a:xfrm>
            <a:off x="8503920" y="42245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92" name="Google Shape;792;p7"/>
          <p:cNvSpPr txBox="1"/>
          <p:nvPr/>
        </p:nvSpPr>
        <p:spPr>
          <a:xfrm>
            <a:off x="9784080" y="4224527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793" name="Google Shape;793;p7"/>
          <p:cNvSpPr txBox="1"/>
          <p:nvPr/>
        </p:nvSpPr>
        <p:spPr>
          <a:xfrm>
            <a:off x="457200" y="4535423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#42 - M&amp;O Insurance Agency LLC</a:t>
            </a:r>
            <a:endParaRPr/>
          </a:p>
        </p:txBody>
      </p:sp>
      <p:sp>
        <p:nvSpPr>
          <p:cNvPr id="794" name="Google Shape;794;p7"/>
          <p:cNvSpPr txBox="1"/>
          <p:nvPr/>
        </p:nvSpPr>
        <p:spPr>
          <a:xfrm>
            <a:off x="466344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95" name="Google Shape;795;p7"/>
          <p:cNvSpPr txBox="1"/>
          <p:nvPr/>
        </p:nvSpPr>
        <p:spPr>
          <a:xfrm>
            <a:off x="594360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96" name="Google Shape;796;p7"/>
          <p:cNvSpPr txBox="1"/>
          <p:nvPr/>
        </p:nvSpPr>
        <p:spPr>
          <a:xfrm>
            <a:off x="722376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97" name="Google Shape;797;p7"/>
          <p:cNvSpPr txBox="1"/>
          <p:nvPr/>
        </p:nvSpPr>
        <p:spPr>
          <a:xfrm>
            <a:off x="8503920" y="4535423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798" name="Google Shape;798;p7"/>
          <p:cNvSpPr txBox="1"/>
          <p:nvPr/>
        </p:nvSpPr>
        <p:spPr>
          <a:xfrm>
            <a:off x="9784080" y="4535423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$15,853</a:t>
            </a:r>
            <a:endParaRPr/>
          </a:p>
        </p:txBody>
      </p:sp>
      <p:sp>
        <p:nvSpPr>
          <p:cNvPr id="799" name="Google Shape;799;p7"/>
          <p:cNvSpPr/>
          <p:nvPr/>
        </p:nvSpPr>
        <p:spPr>
          <a:xfrm>
            <a:off x="457200" y="4809743"/>
            <a:ext cx="11338559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0" name="Google Shape;800;p7"/>
          <p:cNvSpPr txBox="1"/>
          <p:nvPr/>
        </p:nvSpPr>
        <p:spPr>
          <a:xfrm>
            <a:off x="457200" y="4846319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801" name="Google Shape;801;p7"/>
          <p:cNvSpPr txBox="1"/>
          <p:nvPr/>
        </p:nvSpPr>
        <p:spPr>
          <a:xfrm>
            <a:off x="466344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802" name="Google Shape;802;p7"/>
          <p:cNvSpPr txBox="1"/>
          <p:nvPr/>
        </p:nvSpPr>
        <p:spPr>
          <a:xfrm>
            <a:off x="594360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803" name="Google Shape;803;p7"/>
          <p:cNvSpPr txBox="1"/>
          <p:nvPr/>
        </p:nvSpPr>
        <p:spPr>
          <a:xfrm>
            <a:off x="722376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04" name="Google Shape;804;p7"/>
          <p:cNvSpPr txBox="1"/>
          <p:nvPr/>
        </p:nvSpPr>
        <p:spPr>
          <a:xfrm>
            <a:off x="8503920" y="4846319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805" name="Google Shape;805;p7"/>
          <p:cNvSpPr txBox="1"/>
          <p:nvPr/>
        </p:nvSpPr>
        <p:spPr>
          <a:xfrm>
            <a:off x="9784080" y="4846319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$12,488</a:t>
            </a:r>
            <a:endParaRPr/>
          </a:p>
        </p:txBody>
      </p:sp>
      <p:sp>
        <p:nvSpPr>
          <p:cNvPr id="806" name="Google Shape;806;p7"/>
          <p:cNvSpPr txBox="1"/>
          <p:nvPr/>
        </p:nvSpPr>
        <p:spPr>
          <a:xfrm>
            <a:off x="457200" y="5157215"/>
            <a:ext cx="42062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807" name="Google Shape;807;p7"/>
          <p:cNvSpPr txBox="1"/>
          <p:nvPr/>
        </p:nvSpPr>
        <p:spPr>
          <a:xfrm>
            <a:off x="466344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808" name="Google Shape;808;p7"/>
          <p:cNvSpPr txBox="1"/>
          <p:nvPr/>
        </p:nvSpPr>
        <p:spPr>
          <a:xfrm>
            <a:off x="594360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809" name="Google Shape;809;p7"/>
          <p:cNvSpPr txBox="1"/>
          <p:nvPr/>
        </p:nvSpPr>
        <p:spPr>
          <a:xfrm>
            <a:off x="722376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810" name="Google Shape;810;p7"/>
          <p:cNvSpPr txBox="1"/>
          <p:nvPr/>
        </p:nvSpPr>
        <p:spPr>
          <a:xfrm>
            <a:off x="8503920" y="5157215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811" name="Google Shape;811;p7"/>
          <p:cNvSpPr txBox="1"/>
          <p:nvPr/>
        </p:nvSpPr>
        <p:spPr>
          <a:xfrm>
            <a:off x="9784080" y="5157215"/>
            <a:ext cx="2011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$26,812</a:t>
            </a:r>
            <a:endParaRPr/>
          </a:p>
        </p:txBody>
      </p:sp>
      <p:sp>
        <p:nvSpPr>
          <p:cNvPr id="812" name="Google Shape;812;p7"/>
          <p:cNvSpPr txBox="1"/>
          <p:nvPr/>
        </p:nvSpPr>
        <p:spPr>
          <a:xfrm>
            <a:off x="457200" y="594360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States with DSG bound business in this book: CA, MS, NH, TX, VA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16" name="Shape 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Google Shape;817;p8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In My Portfolio — Ron Douglas</a:t>
            </a:r>
            <a:endParaRPr/>
          </a:p>
        </p:txBody>
      </p:sp>
      <p:sp>
        <p:nvSpPr>
          <p:cNvPr id="818" name="Google Shape;818;p8"/>
          <p:cNvSpPr txBox="1"/>
          <p:nvPr/>
        </p:nvSpPr>
        <p:spPr>
          <a:xfrm>
            <a:off x="457200" y="713232"/>
            <a:ext cx="1124712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business (4+ power units) across this bdm's agencies  |  2026 YTD</a:t>
            </a:r>
            <a:endParaRPr/>
          </a:p>
        </p:txBody>
      </p:sp>
      <p:sp>
        <p:nvSpPr>
          <p:cNvPr id="819" name="Google Shape;819;p8"/>
          <p:cNvSpPr/>
          <p:nvPr/>
        </p:nvSpPr>
        <p:spPr>
          <a:xfrm>
            <a:off x="54864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1,589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SUBMISSIONS</a:t>
            </a:r>
            <a:endParaRPr/>
          </a:p>
        </p:txBody>
      </p:sp>
      <p:sp>
        <p:nvSpPr>
          <p:cNvPr id="820" name="Google Shape;820;p8"/>
          <p:cNvSpPr/>
          <p:nvPr/>
        </p:nvSpPr>
        <p:spPr>
          <a:xfrm>
            <a:off x="333756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</a:t>
            </a:r>
            <a:endParaRPr/>
          </a:p>
        </p:txBody>
      </p:sp>
      <p:sp>
        <p:nvSpPr>
          <p:cNvPr id="821" name="Google Shape;821;p8"/>
          <p:cNvSpPr/>
          <p:nvPr/>
        </p:nvSpPr>
        <p:spPr>
          <a:xfrm>
            <a:off x="612648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$33,669,428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GWP</a:t>
            </a:r>
            <a:endParaRPr/>
          </a:p>
        </p:txBody>
      </p:sp>
      <p:sp>
        <p:nvSpPr>
          <p:cNvPr id="822" name="Google Shape;822;p8"/>
          <p:cNvSpPr/>
          <p:nvPr/>
        </p:nvSpPr>
        <p:spPr>
          <a:xfrm>
            <a:off x="8915400" y="1188720"/>
            <a:ext cx="260604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UNITS / SUB</a:t>
            </a:r>
            <a:endParaRPr/>
          </a:p>
        </p:txBody>
      </p:sp>
      <p:sp>
        <p:nvSpPr>
          <p:cNvPr id="823" name="Google Shape;823;p8"/>
          <p:cNvSpPr/>
          <p:nvPr/>
        </p:nvSpPr>
        <p:spPr>
          <a:xfrm>
            <a:off x="457200" y="2286000"/>
            <a:ext cx="69494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4" name="Google Shape;824;p8"/>
          <p:cNvSpPr txBox="1"/>
          <p:nvPr/>
        </p:nvSpPr>
        <p:spPr>
          <a:xfrm>
            <a:off x="566928" y="2322576"/>
            <a:ext cx="67665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BY AGENCY (top 8)</a:t>
            </a:r>
            <a:endParaRPr/>
          </a:p>
        </p:txBody>
      </p:sp>
      <p:sp>
        <p:nvSpPr>
          <p:cNvPr id="825" name="Google Shape;825;p8"/>
          <p:cNvSpPr txBox="1"/>
          <p:nvPr/>
        </p:nvSpPr>
        <p:spPr>
          <a:xfrm>
            <a:off x="457200" y="2670048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826" name="Google Shape;826;p8"/>
          <p:cNvSpPr txBox="1"/>
          <p:nvPr/>
        </p:nvSpPr>
        <p:spPr>
          <a:xfrm>
            <a:off x="3749039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827" name="Google Shape;827;p8"/>
          <p:cNvSpPr txBox="1"/>
          <p:nvPr/>
        </p:nvSpPr>
        <p:spPr>
          <a:xfrm>
            <a:off x="46634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</a:t>
            </a:r>
            <a:endParaRPr/>
          </a:p>
        </p:txBody>
      </p:sp>
      <p:sp>
        <p:nvSpPr>
          <p:cNvPr id="828" name="Google Shape;828;p8"/>
          <p:cNvSpPr txBox="1"/>
          <p:nvPr/>
        </p:nvSpPr>
        <p:spPr>
          <a:xfrm>
            <a:off x="55778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%</a:t>
            </a:r>
            <a:endParaRPr/>
          </a:p>
        </p:txBody>
      </p:sp>
      <p:sp>
        <p:nvSpPr>
          <p:cNvPr id="829" name="Google Shape;829;p8"/>
          <p:cNvSpPr txBox="1"/>
          <p:nvPr/>
        </p:nvSpPr>
        <p:spPr>
          <a:xfrm>
            <a:off x="6492240" y="2670048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830" name="Google Shape;830;p8"/>
          <p:cNvSpPr/>
          <p:nvPr/>
        </p:nvSpPr>
        <p:spPr>
          <a:xfrm>
            <a:off x="457200" y="2944368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1" name="Google Shape;831;p8"/>
          <p:cNvSpPr txBox="1"/>
          <p:nvPr/>
        </p:nvSpPr>
        <p:spPr>
          <a:xfrm>
            <a:off x="457200" y="298094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832" name="Google Shape;832;p8"/>
          <p:cNvSpPr txBox="1"/>
          <p:nvPr/>
        </p:nvSpPr>
        <p:spPr>
          <a:xfrm>
            <a:off x="3749039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414</a:t>
            </a:r>
            <a:endParaRPr/>
          </a:p>
        </p:txBody>
      </p:sp>
      <p:sp>
        <p:nvSpPr>
          <p:cNvPr id="833" name="Google Shape;833;p8"/>
          <p:cNvSpPr txBox="1"/>
          <p:nvPr/>
        </p:nvSpPr>
        <p:spPr>
          <a:xfrm>
            <a:off x="46634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834" name="Google Shape;834;p8"/>
          <p:cNvSpPr txBox="1"/>
          <p:nvPr/>
        </p:nvSpPr>
        <p:spPr>
          <a:xfrm>
            <a:off x="55778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15.2%</a:t>
            </a:r>
            <a:endParaRPr/>
          </a:p>
        </p:txBody>
      </p:sp>
      <p:sp>
        <p:nvSpPr>
          <p:cNvPr id="835" name="Google Shape;835;p8"/>
          <p:cNvSpPr txBox="1"/>
          <p:nvPr/>
        </p:nvSpPr>
        <p:spPr>
          <a:xfrm>
            <a:off x="649224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$5,370,497</a:t>
            </a:r>
            <a:endParaRPr/>
          </a:p>
        </p:txBody>
      </p:sp>
      <p:sp>
        <p:nvSpPr>
          <p:cNvPr id="836" name="Google Shape;836;p8"/>
          <p:cNvSpPr txBox="1"/>
          <p:nvPr/>
        </p:nvSpPr>
        <p:spPr>
          <a:xfrm>
            <a:off x="457200" y="329183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837" name="Google Shape;837;p8"/>
          <p:cNvSpPr txBox="1"/>
          <p:nvPr/>
        </p:nvSpPr>
        <p:spPr>
          <a:xfrm>
            <a:off x="3749039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331</a:t>
            </a:r>
            <a:endParaRPr/>
          </a:p>
        </p:txBody>
      </p:sp>
      <p:sp>
        <p:nvSpPr>
          <p:cNvPr id="838" name="Google Shape;838;p8"/>
          <p:cNvSpPr txBox="1"/>
          <p:nvPr/>
        </p:nvSpPr>
        <p:spPr>
          <a:xfrm>
            <a:off x="46634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839" name="Google Shape;839;p8"/>
          <p:cNvSpPr txBox="1"/>
          <p:nvPr/>
        </p:nvSpPr>
        <p:spPr>
          <a:xfrm>
            <a:off x="55778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16.3%</a:t>
            </a:r>
            <a:endParaRPr/>
          </a:p>
        </p:txBody>
      </p:sp>
      <p:sp>
        <p:nvSpPr>
          <p:cNvPr id="840" name="Google Shape;840;p8"/>
          <p:cNvSpPr txBox="1"/>
          <p:nvPr/>
        </p:nvSpPr>
        <p:spPr>
          <a:xfrm>
            <a:off x="649224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$2,793,601</a:t>
            </a:r>
            <a:endParaRPr/>
          </a:p>
        </p:txBody>
      </p:sp>
      <p:sp>
        <p:nvSpPr>
          <p:cNvPr id="841" name="Google Shape;841;p8"/>
          <p:cNvSpPr/>
          <p:nvPr/>
        </p:nvSpPr>
        <p:spPr>
          <a:xfrm>
            <a:off x="457200" y="3566159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2" name="Google Shape;842;p8"/>
          <p:cNvSpPr txBox="1"/>
          <p:nvPr/>
        </p:nvSpPr>
        <p:spPr>
          <a:xfrm>
            <a:off x="457200" y="360273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 Inc</a:t>
            </a:r>
            <a:endParaRPr/>
          </a:p>
        </p:txBody>
      </p:sp>
      <p:sp>
        <p:nvSpPr>
          <p:cNvPr id="843" name="Google Shape;843;p8"/>
          <p:cNvSpPr txBox="1"/>
          <p:nvPr/>
        </p:nvSpPr>
        <p:spPr>
          <a:xfrm>
            <a:off x="3749039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219</a:t>
            </a:r>
            <a:endParaRPr/>
          </a:p>
        </p:txBody>
      </p:sp>
      <p:sp>
        <p:nvSpPr>
          <p:cNvPr id="844" name="Google Shape;844;p8"/>
          <p:cNvSpPr txBox="1"/>
          <p:nvPr/>
        </p:nvSpPr>
        <p:spPr>
          <a:xfrm>
            <a:off x="46634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845" name="Google Shape;845;p8"/>
          <p:cNvSpPr txBox="1"/>
          <p:nvPr/>
        </p:nvSpPr>
        <p:spPr>
          <a:xfrm>
            <a:off x="55778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34.2%</a:t>
            </a:r>
            <a:endParaRPr/>
          </a:p>
        </p:txBody>
      </p:sp>
      <p:sp>
        <p:nvSpPr>
          <p:cNvPr id="846" name="Google Shape;846;p8"/>
          <p:cNvSpPr txBox="1"/>
          <p:nvPr/>
        </p:nvSpPr>
        <p:spPr>
          <a:xfrm>
            <a:off x="649224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$9,050,517</a:t>
            </a:r>
            <a:endParaRPr/>
          </a:p>
        </p:txBody>
      </p:sp>
      <p:sp>
        <p:nvSpPr>
          <p:cNvPr id="847" name="Google Shape;847;p8"/>
          <p:cNvSpPr txBox="1"/>
          <p:nvPr/>
        </p:nvSpPr>
        <p:spPr>
          <a:xfrm>
            <a:off x="457200" y="3913631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848" name="Google Shape;848;p8"/>
          <p:cNvSpPr txBox="1"/>
          <p:nvPr/>
        </p:nvSpPr>
        <p:spPr>
          <a:xfrm>
            <a:off x="3749039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849" name="Google Shape;849;p8"/>
          <p:cNvSpPr txBox="1"/>
          <p:nvPr/>
        </p:nvSpPr>
        <p:spPr>
          <a:xfrm>
            <a:off x="46634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850" name="Google Shape;850;p8"/>
          <p:cNvSpPr txBox="1"/>
          <p:nvPr/>
        </p:nvSpPr>
        <p:spPr>
          <a:xfrm>
            <a:off x="55778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28.2%</a:t>
            </a:r>
            <a:endParaRPr/>
          </a:p>
        </p:txBody>
      </p:sp>
      <p:sp>
        <p:nvSpPr>
          <p:cNvPr id="851" name="Google Shape;851;p8"/>
          <p:cNvSpPr txBox="1"/>
          <p:nvPr/>
        </p:nvSpPr>
        <p:spPr>
          <a:xfrm>
            <a:off x="649224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$1,983,765</a:t>
            </a:r>
            <a:endParaRPr/>
          </a:p>
        </p:txBody>
      </p:sp>
      <p:sp>
        <p:nvSpPr>
          <p:cNvPr id="852" name="Google Shape;852;p8"/>
          <p:cNvSpPr/>
          <p:nvPr/>
        </p:nvSpPr>
        <p:spPr>
          <a:xfrm>
            <a:off x="457200" y="4187951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3" name="Google Shape;853;p8"/>
          <p:cNvSpPr txBox="1"/>
          <p:nvPr/>
        </p:nvSpPr>
        <p:spPr>
          <a:xfrm>
            <a:off x="457200" y="42245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854" name="Google Shape;854;p8"/>
          <p:cNvSpPr txBox="1"/>
          <p:nvPr/>
        </p:nvSpPr>
        <p:spPr>
          <a:xfrm>
            <a:off x="3749039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855" name="Google Shape;855;p8"/>
          <p:cNvSpPr txBox="1"/>
          <p:nvPr/>
        </p:nvSpPr>
        <p:spPr>
          <a:xfrm>
            <a:off x="46634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856" name="Google Shape;856;p8"/>
          <p:cNvSpPr txBox="1"/>
          <p:nvPr/>
        </p:nvSpPr>
        <p:spPr>
          <a:xfrm>
            <a:off x="55778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22.9%</a:t>
            </a:r>
            <a:endParaRPr/>
          </a:p>
        </p:txBody>
      </p:sp>
      <p:sp>
        <p:nvSpPr>
          <p:cNvPr id="857" name="Google Shape;857;p8"/>
          <p:cNvSpPr txBox="1"/>
          <p:nvPr/>
        </p:nvSpPr>
        <p:spPr>
          <a:xfrm>
            <a:off x="649224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$1,128,131</a:t>
            </a:r>
            <a:endParaRPr/>
          </a:p>
        </p:txBody>
      </p:sp>
      <p:sp>
        <p:nvSpPr>
          <p:cNvPr id="858" name="Google Shape;858;p8"/>
          <p:cNvSpPr txBox="1"/>
          <p:nvPr/>
        </p:nvSpPr>
        <p:spPr>
          <a:xfrm>
            <a:off x="457200" y="4535423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925 Partners, LLC</a:t>
            </a:r>
            <a:endParaRPr/>
          </a:p>
        </p:txBody>
      </p:sp>
      <p:sp>
        <p:nvSpPr>
          <p:cNvPr id="859" name="Google Shape;859;p8"/>
          <p:cNvSpPr txBox="1"/>
          <p:nvPr/>
        </p:nvSpPr>
        <p:spPr>
          <a:xfrm>
            <a:off x="3749039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860" name="Google Shape;860;p8"/>
          <p:cNvSpPr txBox="1"/>
          <p:nvPr/>
        </p:nvSpPr>
        <p:spPr>
          <a:xfrm>
            <a:off x="46634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861" name="Google Shape;861;p8"/>
          <p:cNvSpPr txBox="1"/>
          <p:nvPr/>
        </p:nvSpPr>
        <p:spPr>
          <a:xfrm>
            <a:off x="55778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24.1%</a:t>
            </a:r>
            <a:endParaRPr/>
          </a:p>
        </p:txBody>
      </p:sp>
      <p:sp>
        <p:nvSpPr>
          <p:cNvPr id="862" name="Google Shape;862;p8"/>
          <p:cNvSpPr txBox="1"/>
          <p:nvPr/>
        </p:nvSpPr>
        <p:spPr>
          <a:xfrm>
            <a:off x="649224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$881,464</a:t>
            </a:r>
            <a:endParaRPr/>
          </a:p>
        </p:txBody>
      </p:sp>
      <p:sp>
        <p:nvSpPr>
          <p:cNvPr id="863" name="Google Shape;863;p8"/>
          <p:cNvSpPr/>
          <p:nvPr/>
        </p:nvSpPr>
        <p:spPr>
          <a:xfrm>
            <a:off x="457200" y="4809743"/>
            <a:ext cx="69494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4" name="Google Shape;864;p8"/>
          <p:cNvSpPr txBox="1"/>
          <p:nvPr/>
        </p:nvSpPr>
        <p:spPr>
          <a:xfrm>
            <a:off x="457200" y="4846319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865" name="Google Shape;865;p8"/>
          <p:cNvSpPr txBox="1"/>
          <p:nvPr/>
        </p:nvSpPr>
        <p:spPr>
          <a:xfrm>
            <a:off x="3749039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866" name="Google Shape;866;p8"/>
          <p:cNvSpPr txBox="1"/>
          <p:nvPr/>
        </p:nvSpPr>
        <p:spPr>
          <a:xfrm>
            <a:off x="46634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67" name="Google Shape;867;p8"/>
          <p:cNvSpPr txBox="1"/>
          <p:nvPr/>
        </p:nvSpPr>
        <p:spPr>
          <a:xfrm>
            <a:off x="55778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868" name="Google Shape;868;p8"/>
          <p:cNvSpPr txBox="1"/>
          <p:nvPr/>
        </p:nvSpPr>
        <p:spPr>
          <a:xfrm>
            <a:off x="649224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$671,849</a:t>
            </a:r>
            <a:endParaRPr/>
          </a:p>
        </p:txBody>
      </p:sp>
      <p:sp>
        <p:nvSpPr>
          <p:cNvPr id="869" name="Google Shape;869;p8"/>
          <p:cNvSpPr txBox="1"/>
          <p:nvPr/>
        </p:nvSpPr>
        <p:spPr>
          <a:xfrm>
            <a:off x="457200" y="5157215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Martin Noone Agency, LLC</a:t>
            </a:r>
            <a:endParaRPr/>
          </a:p>
        </p:txBody>
      </p:sp>
      <p:sp>
        <p:nvSpPr>
          <p:cNvPr id="870" name="Google Shape;870;p8"/>
          <p:cNvSpPr txBox="1"/>
          <p:nvPr/>
        </p:nvSpPr>
        <p:spPr>
          <a:xfrm>
            <a:off x="3749039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871" name="Google Shape;871;p8"/>
          <p:cNvSpPr txBox="1"/>
          <p:nvPr/>
        </p:nvSpPr>
        <p:spPr>
          <a:xfrm>
            <a:off x="46634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72" name="Google Shape;872;p8"/>
          <p:cNvSpPr txBox="1"/>
          <p:nvPr/>
        </p:nvSpPr>
        <p:spPr>
          <a:xfrm>
            <a:off x="55778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31.2%</a:t>
            </a:r>
            <a:endParaRPr/>
          </a:p>
        </p:txBody>
      </p:sp>
      <p:sp>
        <p:nvSpPr>
          <p:cNvPr id="873" name="Google Shape;873;p8"/>
          <p:cNvSpPr txBox="1"/>
          <p:nvPr/>
        </p:nvSpPr>
        <p:spPr>
          <a:xfrm>
            <a:off x="649224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$1,162,323</a:t>
            </a:r>
            <a:endParaRPr/>
          </a:p>
        </p:txBody>
      </p:sp>
      <p:sp>
        <p:nvSpPr>
          <p:cNvPr id="874" name="Google Shape;874;p8"/>
          <p:cNvSpPr/>
          <p:nvPr/>
        </p:nvSpPr>
        <p:spPr>
          <a:xfrm>
            <a:off x="7589520" y="2286000"/>
            <a:ext cx="420624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5" name="Google Shape;875;p8"/>
          <p:cNvSpPr txBox="1"/>
          <p:nvPr/>
        </p:nvSpPr>
        <p:spPr>
          <a:xfrm>
            <a:off x="7699248" y="2322576"/>
            <a:ext cx="4023359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SIZE MIX</a:t>
            </a:r>
            <a:endParaRPr/>
          </a:p>
        </p:txBody>
      </p:sp>
      <p:sp>
        <p:nvSpPr>
          <p:cNvPr id="876" name="Google Shape;876;p8"/>
          <p:cNvSpPr txBox="1"/>
          <p:nvPr/>
        </p:nvSpPr>
        <p:spPr>
          <a:xfrm>
            <a:off x="7680960" y="267004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4-5 units</a:t>
            </a:r>
            <a:endParaRPr/>
          </a:p>
        </p:txBody>
      </p:sp>
      <p:sp>
        <p:nvSpPr>
          <p:cNvPr id="877" name="Google Shape;877;p8"/>
          <p:cNvSpPr txBox="1"/>
          <p:nvPr/>
        </p:nvSpPr>
        <p:spPr>
          <a:xfrm>
            <a:off x="90982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1017</a:t>
            </a:r>
            <a:endParaRPr/>
          </a:p>
        </p:txBody>
      </p:sp>
      <p:sp>
        <p:nvSpPr>
          <p:cNvPr id="878" name="Google Shape;878;p8"/>
          <p:cNvSpPr txBox="1"/>
          <p:nvPr/>
        </p:nvSpPr>
        <p:spPr>
          <a:xfrm>
            <a:off x="10104120" y="267004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(64%)</a:t>
            </a:r>
            <a:endParaRPr/>
          </a:p>
        </p:txBody>
      </p:sp>
      <p:sp>
        <p:nvSpPr>
          <p:cNvPr id="879" name="Google Shape;879;p8"/>
          <p:cNvSpPr txBox="1"/>
          <p:nvPr/>
        </p:nvSpPr>
        <p:spPr>
          <a:xfrm>
            <a:off x="7680960" y="303580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6-10 units</a:t>
            </a:r>
            <a:endParaRPr/>
          </a:p>
        </p:txBody>
      </p:sp>
      <p:sp>
        <p:nvSpPr>
          <p:cNvPr id="880" name="Google Shape;880;p8"/>
          <p:cNvSpPr txBox="1"/>
          <p:nvPr/>
        </p:nvSpPr>
        <p:spPr>
          <a:xfrm>
            <a:off x="9098280" y="303580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464</a:t>
            </a:r>
            <a:endParaRPr/>
          </a:p>
        </p:txBody>
      </p:sp>
      <p:sp>
        <p:nvSpPr>
          <p:cNvPr id="881" name="Google Shape;881;p8"/>
          <p:cNvSpPr txBox="1"/>
          <p:nvPr/>
        </p:nvSpPr>
        <p:spPr>
          <a:xfrm>
            <a:off x="10104120" y="303580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(29%)</a:t>
            </a:r>
            <a:endParaRPr/>
          </a:p>
        </p:txBody>
      </p:sp>
      <p:sp>
        <p:nvSpPr>
          <p:cNvPr id="882" name="Google Shape;882;p8"/>
          <p:cNvSpPr txBox="1"/>
          <p:nvPr/>
        </p:nvSpPr>
        <p:spPr>
          <a:xfrm>
            <a:off x="7680960" y="340156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11-25 units</a:t>
            </a:r>
            <a:endParaRPr/>
          </a:p>
        </p:txBody>
      </p:sp>
      <p:sp>
        <p:nvSpPr>
          <p:cNvPr id="883" name="Google Shape;883;p8"/>
          <p:cNvSpPr txBox="1"/>
          <p:nvPr/>
        </p:nvSpPr>
        <p:spPr>
          <a:xfrm>
            <a:off x="9098280" y="340156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884" name="Google Shape;884;p8"/>
          <p:cNvSpPr txBox="1"/>
          <p:nvPr/>
        </p:nvSpPr>
        <p:spPr>
          <a:xfrm>
            <a:off x="10104120" y="340156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(6%)</a:t>
            </a:r>
            <a:endParaRPr/>
          </a:p>
        </p:txBody>
      </p:sp>
      <p:sp>
        <p:nvSpPr>
          <p:cNvPr id="885" name="Google Shape;885;p8"/>
          <p:cNvSpPr txBox="1"/>
          <p:nvPr/>
        </p:nvSpPr>
        <p:spPr>
          <a:xfrm>
            <a:off x="7680960" y="3767328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26-50 units</a:t>
            </a:r>
            <a:endParaRPr/>
          </a:p>
        </p:txBody>
      </p:sp>
      <p:sp>
        <p:nvSpPr>
          <p:cNvPr id="886" name="Google Shape;886;p8"/>
          <p:cNvSpPr txBox="1"/>
          <p:nvPr/>
        </p:nvSpPr>
        <p:spPr>
          <a:xfrm>
            <a:off x="9098280" y="376732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887" name="Google Shape;887;p8"/>
          <p:cNvSpPr txBox="1"/>
          <p:nvPr/>
        </p:nvSpPr>
        <p:spPr>
          <a:xfrm>
            <a:off x="10104120" y="3767328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(1%)</a:t>
            </a:r>
            <a:endParaRPr/>
          </a:p>
        </p:txBody>
      </p:sp>
      <p:sp>
        <p:nvSpPr>
          <p:cNvPr id="888" name="Google Shape;888;p8"/>
          <p:cNvSpPr txBox="1"/>
          <p:nvPr/>
        </p:nvSpPr>
        <p:spPr>
          <a:xfrm>
            <a:off x="7680960" y="413308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51+ units</a:t>
            </a:r>
            <a:endParaRPr/>
          </a:p>
        </p:txBody>
      </p:sp>
      <p:sp>
        <p:nvSpPr>
          <p:cNvPr id="889" name="Google Shape;889;p8"/>
          <p:cNvSpPr txBox="1"/>
          <p:nvPr/>
        </p:nvSpPr>
        <p:spPr>
          <a:xfrm>
            <a:off x="9098280" y="413308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890" name="Google Shape;890;p8"/>
          <p:cNvSpPr txBox="1"/>
          <p:nvPr/>
        </p:nvSpPr>
        <p:spPr>
          <a:xfrm>
            <a:off x="10104120" y="4133087"/>
            <a:ext cx="15544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(0%)</a:t>
            </a:r>
            <a:endParaRPr/>
          </a:p>
        </p:txBody>
      </p:sp>
      <p:sp>
        <p:nvSpPr>
          <p:cNvPr id="891" name="Google Shape;891;p8"/>
          <p:cNvSpPr txBox="1"/>
          <p:nvPr/>
        </p:nvSpPr>
        <p:spPr>
          <a:xfrm>
            <a:off x="457200" y="6126480"/>
            <a:ext cx="11338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rate on fleet: 23.3%  ·  Declined: 322  ·  Source: cw_rep.transportation_submissions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95" name="Shape 8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Google Shape;896;p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7" name="Google Shape;897;p9"/>
          <p:cNvSpPr txBox="1"/>
          <p:nvPr/>
        </p:nvSpPr>
        <p:spPr>
          <a:xfrm>
            <a:off x="365760" y="73152"/>
            <a:ext cx="9144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 Producers — Ron Douglas</a:t>
            </a:r>
            <a:endParaRPr/>
          </a:p>
        </p:txBody>
      </p:sp>
      <p:sp>
        <p:nvSpPr>
          <p:cNvPr id="898" name="Google Shape;898;p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Individual agents ranked by YTD submissions  |  Agent = broker_contact on submission  |  Trend = MoM</a:t>
            </a:r>
            <a:endParaRPr/>
          </a:p>
        </p:txBody>
      </p:sp>
      <p:sp>
        <p:nvSpPr>
          <p:cNvPr id="899" name="Google Shape;899;p9"/>
          <p:cNvSpPr/>
          <p:nvPr/>
        </p:nvSpPr>
        <p:spPr>
          <a:xfrm>
            <a:off x="182880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14356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Subs</a:t>
            </a:r>
            <a:endParaRPr/>
          </a:p>
        </p:txBody>
      </p:sp>
      <p:sp>
        <p:nvSpPr>
          <p:cNvPr id="900" name="Google Shape;900;p9"/>
          <p:cNvSpPr/>
          <p:nvPr/>
        </p:nvSpPr>
        <p:spPr>
          <a:xfrm>
            <a:off x="2569464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YTD Binds</a:t>
            </a:r>
            <a:endParaRPr/>
          </a:p>
        </p:txBody>
      </p:sp>
      <p:sp>
        <p:nvSpPr>
          <p:cNvPr id="901" name="Google Shape;901;p9"/>
          <p:cNvSpPr/>
          <p:nvPr/>
        </p:nvSpPr>
        <p:spPr>
          <a:xfrm>
            <a:off x="4956048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Portfolio Hit Ratio</a:t>
            </a:r>
            <a:endParaRPr/>
          </a:p>
        </p:txBody>
      </p:sp>
      <p:sp>
        <p:nvSpPr>
          <p:cNvPr id="902" name="Google Shape;902;p9"/>
          <p:cNvSpPr/>
          <p:nvPr/>
        </p:nvSpPr>
        <p:spPr>
          <a:xfrm>
            <a:off x="7342631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Active Agents</a:t>
            </a:r>
            <a:endParaRPr/>
          </a:p>
        </p:txBody>
      </p:sp>
      <p:sp>
        <p:nvSpPr>
          <p:cNvPr id="903" name="Google Shape;903;p9"/>
          <p:cNvSpPr/>
          <p:nvPr/>
        </p:nvSpPr>
        <p:spPr>
          <a:xfrm>
            <a:off x="9729215" y="841248"/>
            <a:ext cx="2249424" cy="566928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5 Agent Share</a:t>
            </a:r>
            <a:endParaRPr/>
          </a:p>
        </p:txBody>
      </p:sp>
      <p:sp>
        <p:nvSpPr>
          <p:cNvPr id="904" name="Google Shape;904;p9"/>
          <p:cNvSpPr/>
          <p:nvPr/>
        </p:nvSpPr>
        <p:spPr>
          <a:xfrm>
            <a:off x="137160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5" name="Google Shape;905;p9"/>
          <p:cNvSpPr txBox="1"/>
          <p:nvPr/>
        </p:nvSpPr>
        <p:spPr>
          <a:xfrm>
            <a:off x="246888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AGENTS BY SUBMISSIONS  —  Ranked 1–18</a:t>
            </a:r>
            <a:endParaRPr/>
          </a:p>
        </p:txBody>
      </p:sp>
      <p:sp>
        <p:nvSpPr>
          <p:cNvPr id="906" name="Google Shape;906;p9"/>
          <p:cNvSpPr txBox="1"/>
          <p:nvPr/>
        </p:nvSpPr>
        <p:spPr>
          <a:xfrm>
            <a:off x="246888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907" name="Google Shape;907;p9"/>
          <p:cNvSpPr txBox="1"/>
          <p:nvPr/>
        </p:nvSpPr>
        <p:spPr>
          <a:xfrm>
            <a:off x="1801368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908" name="Google Shape;908;p9"/>
          <p:cNvSpPr txBox="1"/>
          <p:nvPr/>
        </p:nvSpPr>
        <p:spPr>
          <a:xfrm>
            <a:off x="363016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909" name="Google Shape;909;p9"/>
          <p:cNvSpPr txBox="1"/>
          <p:nvPr/>
        </p:nvSpPr>
        <p:spPr>
          <a:xfrm>
            <a:off x="422452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910" name="Google Shape;910;p9"/>
          <p:cNvSpPr txBox="1"/>
          <p:nvPr/>
        </p:nvSpPr>
        <p:spPr>
          <a:xfrm>
            <a:off x="4818888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911" name="Google Shape;911;p9"/>
          <p:cNvSpPr txBox="1"/>
          <p:nvPr/>
        </p:nvSpPr>
        <p:spPr>
          <a:xfrm>
            <a:off x="5413248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912" name="Google Shape;912;p9"/>
          <p:cNvSpPr/>
          <p:nvPr/>
        </p:nvSpPr>
        <p:spPr>
          <a:xfrm>
            <a:off x="182880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3" name="Google Shape;913;p9"/>
          <p:cNvSpPr/>
          <p:nvPr/>
        </p:nvSpPr>
        <p:spPr>
          <a:xfrm>
            <a:off x="137160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4" name="Google Shape;914;p9"/>
          <p:cNvSpPr txBox="1"/>
          <p:nvPr/>
        </p:nvSpPr>
        <p:spPr>
          <a:xfrm>
            <a:off x="246888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API_USER API_USER</a:t>
            </a:r>
            <a:endParaRPr/>
          </a:p>
        </p:txBody>
      </p:sp>
      <p:sp>
        <p:nvSpPr>
          <p:cNvPr id="915" name="Google Shape;915;p9"/>
          <p:cNvSpPr txBox="1"/>
          <p:nvPr/>
        </p:nvSpPr>
        <p:spPr>
          <a:xfrm>
            <a:off x="1801368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 +1</a:t>
            </a:r>
            <a:endParaRPr/>
          </a:p>
        </p:txBody>
      </p:sp>
      <p:sp>
        <p:nvSpPr>
          <p:cNvPr id="916" name="Google Shape;916;p9"/>
          <p:cNvSpPr txBox="1"/>
          <p:nvPr/>
        </p:nvSpPr>
        <p:spPr>
          <a:xfrm>
            <a:off x="363016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4521</a:t>
            </a:r>
            <a:endParaRPr/>
          </a:p>
        </p:txBody>
      </p:sp>
      <p:sp>
        <p:nvSpPr>
          <p:cNvPr id="917" name="Google Shape;917;p9"/>
          <p:cNvSpPr txBox="1"/>
          <p:nvPr/>
        </p:nvSpPr>
        <p:spPr>
          <a:xfrm>
            <a:off x="422452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918" name="Google Shape;918;p9"/>
          <p:cNvSpPr txBox="1"/>
          <p:nvPr/>
        </p:nvSpPr>
        <p:spPr>
          <a:xfrm>
            <a:off x="4818888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0.7%</a:t>
            </a:r>
            <a:endParaRPr/>
          </a:p>
        </p:txBody>
      </p:sp>
      <p:sp>
        <p:nvSpPr>
          <p:cNvPr id="919" name="Google Shape;919;p9"/>
          <p:cNvSpPr txBox="1"/>
          <p:nvPr/>
        </p:nvSpPr>
        <p:spPr>
          <a:xfrm>
            <a:off x="5413248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0" name="Google Shape;920;p9"/>
          <p:cNvSpPr txBox="1"/>
          <p:nvPr/>
        </p:nvSpPr>
        <p:spPr>
          <a:xfrm>
            <a:off x="246888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921" name="Google Shape;921;p9"/>
          <p:cNvSpPr txBox="1"/>
          <p:nvPr/>
        </p:nvSpPr>
        <p:spPr>
          <a:xfrm>
            <a:off x="1801368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</a:t>
            </a:r>
            <a:endParaRPr/>
          </a:p>
        </p:txBody>
      </p:sp>
      <p:sp>
        <p:nvSpPr>
          <p:cNvPr id="922" name="Google Shape;922;p9"/>
          <p:cNvSpPr txBox="1"/>
          <p:nvPr/>
        </p:nvSpPr>
        <p:spPr>
          <a:xfrm>
            <a:off x="363016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3036</a:t>
            </a:r>
            <a:endParaRPr/>
          </a:p>
        </p:txBody>
      </p:sp>
      <p:sp>
        <p:nvSpPr>
          <p:cNvPr id="923" name="Google Shape;923;p9"/>
          <p:cNvSpPr txBox="1"/>
          <p:nvPr/>
        </p:nvSpPr>
        <p:spPr>
          <a:xfrm>
            <a:off x="422452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249</a:t>
            </a:r>
            <a:endParaRPr/>
          </a:p>
        </p:txBody>
      </p:sp>
      <p:sp>
        <p:nvSpPr>
          <p:cNvPr id="924" name="Google Shape;924;p9"/>
          <p:cNvSpPr txBox="1"/>
          <p:nvPr/>
        </p:nvSpPr>
        <p:spPr>
          <a:xfrm>
            <a:off x="4818888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8.2%</a:t>
            </a:r>
            <a:endParaRPr/>
          </a:p>
        </p:txBody>
      </p:sp>
      <p:sp>
        <p:nvSpPr>
          <p:cNvPr id="925" name="Google Shape;925;p9"/>
          <p:cNvSpPr txBox="1"/>
          <p:nvPr/>
        </p:nvSpPr>
        <p:spPr>
          <a:xfrm>
            <a:off x="5413248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26" name="Google Shape;926;p9"/>
          <p:cNvSpPr/>
          <p:nvPr/>
        </p:nvSpPr>
        <p:spPr>
          <a:xfrm>
            <a:off x="137160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7" name="Google Shape;927;p9"/>
          <p:cNvSpPr txBox="1"/>
          <p:nvPr/>
        </p:nvSpPr>
        <p:spPr>
          <a:xfrm>
            <a:off x="246888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928" name="Google Shape;928;p9"/>
          <p:cNvSpPr txBox="1"/>
          <p:nvPr/>
        </p:nvSpPr>
        <p:spPr>
          <a:xfrm>
            <a:off x="1801368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929" name="Google Shape;929;p9"/>
          <p:cNvSpPr txBox="1"/>
          <p:nvPr/>
        </p:nvSpPr>
        <p:spPr>
          <a:xfrm>
            <a:off x="363016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</p:txBody>
      </p:sp>
      <p:sp>
        <p:nvSpPr>
          <p:cNvPr id="930" name="Google Shape;930;p9"/>
          <p:cNvSpPr txBox="1"/>
          <p:nvPr/>
        </p:nvSpPr>
        <p:spPr>
          <a:xfrm>
            <a:off x="422452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931" name="Google Shape;931;p9"/>
          <p:cNvSpPr txBox="1"/>
          <p:nvPr/>
        </p:nvSpPr>
        <p:spPr>
          <a:xfrm>
            <a:off x="4818888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932" name="Google Shape;932;p9"/>
          <p:cNvSpPr txBox="1"/>
          <p:nvPr/>
        </p:nvSpPr>
        <p:spPr>
          <a:xfrm>
            <a:off x="5413248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3" name="Google Shape;933;p9"/>
          <p:cNvSpPr txBox="1"/>
          <p:nvPr/>
        </p:nvSpPr>
        <p:spPr>
          <a:xfrm>
            <a:off x="246888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Mary Davis-Spivak</a:t>
            </a:r>
            <a:endParaRPr/>
          </a:p>
        </p:txBody>
      </p:sp>
      <p:sp>
        <p:nvSpPr>
          <p:cNvPr id="934" name="Google Shape;934;p9"/>
          <p:cNvSpPr txBox="1"/>
          <p:nvPr/>
        </p:nvSpPr>
        <p:spPr>
          <a:xfrm>
            <a:off x="1801368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935" name="Google Shape;935;p9"/>
          <p:cNvSpPr txBox="1"/>
          <p:nvPr/>
        </p:nvSpPr>
        <p:spPr>
          <a:xfrm>
            <a:off x="363016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442</a:t>
            </a:r>
            <a:endParaRPr/>
          </a:p>
        </p:txBody>
      </p:sp>
      <p:sp>
        <p:nvSpPr>
          <p:cNvPr id="936" name="Google Shape;936;p9"/>
          <p:cNvSpPr txBox="1"/>
          <p:nvPr/>
        </p:nvSpPr>
        <p:spPr>
          <a:xfrm>
            <a:off x="422452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937" name="Google Shape;937;p9"/>
          <p:cNvSpPr txBox="1"/>
          <p:nvPr/>
        </p:nvSpPr>
        <p:spPr>
          <a:xfrm>
            <a:off x="4818888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938" name="Google Shape;938;p9"/>
          <p:cNvSpPr txBox="1"/>
          <p:nvPr/>
        </p:nvSpPr>
        <p:spPr>
          <a:xfrm>
            <a:off x="5413248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39" name="Google Shape;939;p9"/>
          <p:cNvSpPr/>
          <p:nvPr/>
        </p:nvSpPr>
        <p:spPr>
          <a:xfrm>
            <a:off x="137160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0" name="Google Shape;940;p9"/>
          <p:cNvSpPr txBox="1"/>
          <p:nvPr/>
        </p:nvSpPr>
        <p:spPr>
          <a:xfrm>
            <a:off x="246888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Vladimir Tesler</a:t>
            </a:r>
            <a:endParaRPr/>
          </a:p>
        </p:txBody>
      </p:sp>
      <p:sp>
        <p:nvSpPr>
          <p:cNvPr id="941" name="Google Shape;941;p9"/>
          <p:cNvSpPr txBox="1"/>
          <p:nvPr/>
        </p:nvSpPr>
        <p:spPr>
          <a:xfrm>
            <a:off x="1801368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942" name="Google Shape;942;p9"/>
          <p:cNvSpPr txBox="1"/>
          <p:nvPr/>
        </p:nvSpPr>
        <p:spPr>
          <a:xfrm>
            <a:off x="363016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295</a:t>
            </a:r>
            <a:endParaRPr/>
          </a:p>
        </p:txBody>
      </p:sp>
      <p:sp>
        <p:nvSpPr>
          <p:cNvPr id="943" name="Google Shape;943;p9"/>
          <p:cNvSpPr txBox="1"/>
          <p:nvPr/>
        </p:nvSpPr>
        <p:spPr>
          <a:xfrm>
            <a:off x="422452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944" name="Google Shape;944;p9"/>
          <p:cNvSpPr txBox="1"/>
          <p:nvPr/>
        </p:nvSpPr>
        <p:spPr>
          <a:xfrm>
            <a:off x="4818888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945" name="Google Shape;945;p9"/>
          <p:cNvSpPr txBox="1"/>
          <p:nvPr/>
        </p:nvSpPr>
        <p:spPr>
          <a:xfrm>
            <a:off x="5413248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46" name="Google Shape;946;p9"/>
          <p:cNvSpPr txBox="1"/>
          <p:nvPr/>
        </p:nvSpPr>
        <p:spPr>
          <a:xfrm>
            <a:off x="246888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KIMBERLY FEAR</a:t>
            </a:r>
            <a:endParaRPr/>
          </a:p>
        </p:txBody>
      </p:sp>
      <p:sp>
        <p:nvSpPr>
          <p:cNvPr id="947" name="Google Shape;947;p9"/>
          <p:cNvSpPr txBox="1"/>
          <p:nvPr/>
        </p:nvSpPr>
        <p:spPr>
          <a:xfrm>
            <a:off x="1801368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COASTAL TRUCKING INSURANCE LLC</a:t>
            </a:r>
            <a:endParaRPr/>
          </a:p>
        </p:txBody>
      </p:sp>
      <p:sp>
        <p:nvSpPr>
          <p:cNvPr id="948" name="Google Shape;948;p9"/>
          <p:cNvSpPr txBox="1"/>
          <p:nvPr/>
        </p:nvSpPr>
        <p:spPr>
          <a:xfrm>
            <a:off x="363016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278</a:t>
            </a:r>
            <a:endParaRPr/>
          </a:p>
        </p:txBody>
      </p:sp>
      <p:sp>
        <p:nvSpPr>
          <p:cNvPr id="949" name="Google Shape;949;p9"/>
          <p:cNvSpPr txBox="1"/>
          <p:nvPr/>
        </p:nvSpPr>
        <p:spPr>
          <a:xfrm>
            <a:off x="422452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950" name="Google Shape;950;p9"/>
          <p:cNvSpPr txBox="1"/>
          <p:nvPr/>
        </p:nvSpPr>
        <p:spPr>
          <a:xfrm>
            <a:off x="4818888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951" name="Google Shape;951;p9"/>
          <p:cNvSpPr txBox="1"/>
          <p:nvPr/>
        </p:nvSpPr>
        <p:spPr>
          <a:xfrm>
            <a:off x="5413248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52" name="Google Shape;952;p9"/>
          <p:cNvSpPr/>
          <p:nvPr/>
        </p:nvSpPr>
        <p:spPr>
          <a:xfrm>
            <a:off x="137160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3" name="Google Shape;953;p9"/>
          <p:cNvSpPr txBox="1"/>
          <p:nvPr/>
        </p:nvSpPr>
        <p:spPr>
          <a:xfrm>
            <a:off x="246888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William Brown</a:t>
            </a:r>
            <a:endParaRPr/>
          </a:p>
        </p:txBody>
      </p:sp>
      <p:sp>
        <p:nvSpPr>
          <p:cNvPr id="954" name="Google Shape;954;p9"/>
          <p:cNvSpPr txBox="1"/>
          <p:nvPr/>
        </p:nvSpPr>
        <p:spPr>
          <a:xfrm>
            <a:off x="1801368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955" name="Google Shape;955;p9"/>
          <p:cNvSpPr txBox="1"/>
          <p:nvPr/>
        </p:nvSpPr>
        <p:spPr>
          <a:xfrm>
            <a:off x="363016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239</a:t>
            </a:r>
            <a:endParaRPr/>
          </a:p>
        </p:txBody>
      </p:sp>
      <p:sp>
        <p:nvSpPr>
          <p:cNvPr id="956" name="Google Shape;956;p9"/>
          <p:cNvSpPr txBox="1"/>
          <p:nvPr/>
        </p:nvSpPr>
        <p:spPr>
          <a:xfrm>
            <a:off x="422452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957" name="Google Shape;957;p9"/>
          <p:cNvSpPr txBox="1"/>
          <p:nvPr/>
        </p:nvSpPr>
        <p:spPr>
          <a:xfrm>
            <a:off x="4818888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958" name="Google Shape;958;p9"/>
          <p:cNvSpPr txBox="1"/>
          <p:nvPr/>
        </p:nvSpPr>
        <p:spPr>
          <a:xfrm>
            <a:off x="5413248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59" name="Google Shape;959;p9"/>
          <p:cNvSpPr txBox="1"/>
          <p:nvPr/>
        </p:nvSpPr>
        <p:spPr>
          <a:xfrm>
            <a:off x="246888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Migdiel Garcia</a:t>
            </a:r>
            <a:endParaRPr/>
          </a:p>
        </p:txBody>
      </p:sp>
      <p:sp>
        <p:nvSpPr>
          <p:cNvPr id="960" name="Google Shape;960;p9"/>
          <p:cNvSpPr txBox="1"/>
          <p:nvPr/>
        </p:nvSpPr>
        <p:spPr>
          <a:xfrm>
            <a:off x="1801368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#42 - M&amp;o In</a:t>
            </a:r>
            <a:endParaRPr/>
          </a:p>
        </p:txBody>
      </p:sp>
      <p:sp>
        <p:nvSpPr>
          <p:cNvPr id="961" name="Google Shape;961;p9"/>
          <p:cNvSpPr txBox="1"/>
          <p:nvPr/>
        </p:nvSpPr>
        <p:spPr>
          <a:xfrm>
            <a:off x="363016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962" name="Google Shape;962;p9"/>
          <p:cNvSpPr txBox="1"/>
          <p:nvPr/>
        </p:nvSpPr>
        <p:spPr>
          <a:xfrm>
            <a:off x="422452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963" name="Google Shape;963;p9"/>
          <p:cNvSpPr txBox="1"/>
          <p:nvPr/>
        </p:nvSpPr>
        <p:spPr>
          <a:xfrm>
            <a:off x="4818888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964" name="Google Shape;964;p9"/>
          <p:cNvSpPr txBox="1"/>
          <p:nvPr/>
        </p:nvSpPr>
        <p:spPr>
          <a:xfrm>
            <a:off x="5413248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65" name="Google Shape;965;p9"/>
          <p:cNvSpPr/>
          <p:nvPr/>
        </p:nvSpPr>
        <p:spPr>
          <a:xfrm>
            <a:off x="137160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6" name="Google Shape;966;p9"/>
          <p:cNvSpPr txBox="1"/>
          <p:nvPr/>
        </p:nvSpPr>
        <p:spPr>
          <a:xfrm>
            <a:off x="246888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Donald Fernando Cordoba</a:t>
            </a:r>
            <a:endParaRPr/>
          </a:p>
        </p:txBody>
      </p:sp>
      <p:sp>
        <p:nvSpPr>
          <p:cNvPr id="967" name="Google Shape;967;p9"/>
          <p:cNvSpPr txBox="1"/>
          <p:nvPr/>
        </p:nvSpPr>
        <p:spPr>
          <a:xfrm>
            <a:off x="1801368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Interglobal Insurance Company</a:t>
            </a:r>
            <a:endParaRPr/>
          </a:p>
        </p:txBody>
      </p:sp>
      <p:sp>
        <p:nvSpPr>
          <p:cNvPr id="968" name="Google Shape;968;p9"/>
          <p:cNvSpPr txBox="1"/>
          <p:nvPr/>
        </p:nvSpPr>
        <p:spPr>
          <a:xfrm>
            <a:off x="363016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185</a:t>
            </a:r>
            <a:endParaRPr/>
          </a:p>
        </p:txBody>
      </p:sp>
      <p:sp>
        <p:nvSpPr>
          <p:cNvPr id="969" name="Google Shape;969;p9"/>
          <p:cNvSpPr txBox="1"/>
          <p:nvPr/>
        </p:nvSpPr>
        <p:spPr>
          <a:xfrm>
            <a:off x="422452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970" name="Google Shape;970;p9"/>
          <p:cNvSpPr txBox="1"/>
          <p:nvPr/>
        </p:nvSpPr>
        <p:spPr>
          <a:xfrm>
            <a:off x="4818888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0.5%</a:t>
            </a:r>
            <a:endParaRPr/>
          </a:p>
        </p:txBody>
      </p:sp>
      <p:sp>
        <p:nvSpPr>
          <p:cNvPr id="971" name="Google Shape;971;p9"/>
          <p:cNvSpPr txBox="1"/>
          <p:nvPr/>
        </p:nvSpPr>
        <p:spPr>
          <a:xfrm>
            <a:off x="5413248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72" name="Google Shape;972;p9"/>
          <p:cNvSpPr txBox="1"/>
          <p:nvPr/>
        </p:nvSpPr>
        <p:spPr>
          <a:xfrm>
            <a:off x="246888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Julio Batista</a:t>
            </a:r>
            <a:endParaRPr/>
          </a:p>
        </p:txBody>
      </p:sp>
      <p:sp>
        <p:nvSpPr>
          <p:cNvPr id="973" name="Google Shape;973;p9"/>
          <p:cNvSpPr txBox="1"/>
          <p:nvPr/>
        </p:nvSpPr>
        <p:spPr>
          <a:xfrm>
            <a:off x="1801368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 +1</a:t>
            </a:r>
            <a:endParaRPr/>
          </a:p>
        </p:txBody>
      </p:sp>
      <p:sp>
        <p:nvSpPr>
          <p:cNvPr id="974" name="Google Shape;974;p9"/>
          <p:cNvSpPr txBox="1"/>
          <p:nvPr/>
        </p:nvSpPr>
        <p:spPr>
          <a:xfrm>
            <a:off x="363016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176</a:t>
            </a:r>
            <a:endParaRPr/>
          </a:p>
        </p:txBody>
      </p:sp>
      <p:sp>
        <p:nvSpPr>
          <p:cNvPr id="975" name="Google Shape;975;p9"/>
          <p:cNvSpPr txBox="1"/>
          <p:nvPr/>
        </p:nvSpPr>
        <p:spPr>
          <a:xfrm>
            <a:off x="422452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976" name="Google Shape;976;p9"/>
          <p:cNvSpPr txBox="1"/>
          <p:nvPr/>
        </p:nvSpPr>
        <p:spPr>
          <a:xfrm>
            <a:off x="4818888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10.8%</a:t>
            </a:r>
            <a:endParaRPr/>
          </a:p>
        </p:txBody>
      </p:sp>
      <p:sp>
        <p:nvSpPr>
          <p:cNvPr id="977" name="Google Shape;977;p9"/>
          <p:cNvSpPr txBox="1"/>
          <p:nvPr/>
        </p:nvSpPr>
        <p:spPr>
          <a:xfrm>
            <a:off x="5413248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978" name="Google Shape;978;p9"/>
          <p:cNvSpPr/>
          <p:nvPr/>
        </p:nvSpPr>
        <p:spPr>
          <a:xfrm>
            <a:off x="137160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9" name="Google Shape;979;p9"/>
          <p:cNvSpPr txBox="1"/>
          <p:nvPr/>
        </p:nvSpPr>
        <p:spPr>
          <a:xfrm>
            <a:off x="246888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Harold Shealy</a:t>
            </a:r>
            <a:endParaRPr/>
          </a:p>
        </p:txBody>
      </p:sp>
      <p:sp>
        <p:nvSpPr>
          <p:cNvPr id="980" name="Google Shape;980;p9"/>
          <p:cNvSpPr txBox="1"/>
          <p:nvPr/>
        </p:nvSpPr>
        <p:spPr>
          <a:xfrm>
            <a:off x="1801368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Marble City Insurance</a:t>
            </a:r>
            <a:endParaRPr/>
          </a:p>
        </p:txBody>
      </p:sp>
      <p:sp>
        <p:nvSpPr>
          <p:cNvPr id="981" name="Google Shape;981;p9"/>
          <p:cNvSpPr txBox="1"/>
          <p:nvPr/>
        </p:nvSpPr>
        <p:spPr>
          <a:xfrm>
            <a:off x="363016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154</a:t>
            </a:r>
            <a:endParaRPr/>
          </a:p>
        </p:txBody>
      </p:sp>
      <p:sp>
        <p:nvSpPr>
          <p:cNvPr id="982" name="Google Shape;982;p9"/>
          <p:cNvSpPr txBox="1"/>
          <p:nvPr/>
        </p:nvSpPr>
        <p:spPr>
          <a:xfrm>
            <a:off x="422452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983" name="Google Shape;983;p9"/>
          <p:cNvSpPr txBox="1"/>
          <p:nvPr/>
        </p:nvSpPr>
        <p:spPr>
          <a:xfrm>
            <a:off x="4818888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984" name="Google Shape;984;p9"/>
          <p:cNvSpPr txBox="1"/>
          <p:nvPr/>
        </p:nvSpPr>
        <p:spPr>
          <a:xfrm>
            <a:off x="5413248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85" name="Google Shape;985;p9"/>
          <p:cNvSpPr txBox="1"/>
          <p:nvPr/>
        </p:nvSpPr>
        <p:spPr>
          <a:xfrm>
            <a:off x="246888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Idris Gani</a:t>
            </a:r>
            <a:endParaRPr/>
          </a:p>
        </p:txBody>
      </p:sp>
      <p:sp>
        <p:nvSpPr>
          <p:cNvPr id="986" name="Google Shape;986;p9"/>
          <p:cNvSpPr txBox="1"/>
          <p:nvPr/>
        </p:nvSpPr>
        <p:spPr>
          <a:xfrm>
            <a:off x="1801368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Talis Insurance Group, Inc</a:t>
            </a:r>
            <a:endParaRPr/>
          </a:p>
        </p:txBody>
      </p:sp>
      <p:sp>
        <p:nvSpPr>
          <p:cNvPr id="987" name="Google Shape;987;p9"/>
          <p:cNvSpPr txBox="1"/>
          <p:nvPr/>
        </p:nvSpPr>
        <p:spPr>
          <a:xfrm>
            <a:off x="363016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</p:txBody>
      </p:sp>
      <p:sp>
        <p:nvSpPr>
          <p:cNvPr id="988" name="Google Shape;988;p9"/>
          <p:cNvSpPr txBox="1"/>
          <p:nvPr/>
        </p:nvSpPr>
        <p:spPr>
          <a:xfrm>
            <a:off x="422452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989" name="Google Shape;989;p9"/>
          <p:cNvSpPr txBox="1"/>
          <p:nvPr/>
        </p:nvSpPr>
        <p:spPr>
          <a:xfrm>
            <a:off x="4818888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990" name="Google Shape;990;p9"/>
          <p:cNvSpPr txBox="1"/>
          <p:nvPr/>
        </p:nvSpPr>
        <p:spPr>
          <a:xfrm>
            <a:off x="5413248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1" name="Google Shape;991;p9"/>
          <p:cNvSpPr/>
          <p:nvPr/>
        </p:nvSpPr>
        <p:spPr>
          <a:xfrm>
            <a:off x="137160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2" name="Google Shape;992;p9"/>
          <p:cNvSpPr txBox="1"/>
          <p:nvPr/>
        </p:nvSpPr>
        <p:spPr>
          <a:xfrm>
            <a:off x="246888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Kanwaljeet Saluja</a:t>
            </a:r>
            <a:endParaRPr/>
          </a:p>
        </p:txBody>
      </p:sp>
      <p:sp>
        <p:nvSpPr>
          <p:cNvPr id="993" name="Google Shape;993;p9"/>
          <p:cNvSpPr txBox="1"/>
          <p:nvPr/>
        </p:nvSpPr>
        <p:spPr>
          <a:xfrm>
            <a:off x="1801368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 Era Insurance Agency</a:t>
            </a:r>
            <a:endParaRPr/>
          </a:p>
        </p:txBody>
      </p:sp>
      <p:sp>
        <p:nvSpPr>
          <p:cNvPr id="994" name="Google Shape;994;p9"/>
          <p:cNvSpPr txBox="1"/>
          <p:nvPr/>
        </p:nvSpPr>
        <p:spPr>
          <a:xfrm>
            <a:off x="363016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995" name="Google Shape;995;p9"/>
          <p:cNvSpPr txBox="1"/>
          <p:nvPr/>
        </p:nvSpPr>
        <p:spPr>
          <a:xfrm>
            <a:off x="422452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996" name="Google Shape;996;p9"/>
          <p:cNvSpPr txBox="1"/>
          <p:nvPr/>
        </p:nvSpPr>
        <p:spPr>
          <a:xfrm>
            <a:off x="4818888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997" name="Google Shape;997;p9"/>
          <p:cNvSpPr txBox="1"/>
          <p:nvPr/>
        </p:nvSpPr>
        <p:spPr>
          <a:xfrm>
            <a:off x="5413248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998" name="Google Shape;998;p9"/>
          <p:cNvSpPr txBox="1"/>
          <p:nvPr/>
        </p:nvSpPr>
        <p:spPr>
          <a:xfrm>
            <a:off x="246888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Keteline Bonhomme</a:t>
            </a:r>
            <a:endParaRPr/>
          </a:p>
        </p:txBody>
      </p:sp>
      <p:sp>
        <p:nvSpPr>
          <p:cNvPr id="999" name="Google Shape;999;p9"/>
          <p:cNvSpPr txBox="1"/>
          <p:nvPr/>
        </p:nvSpPr>
        <p:spPr>
          <a:xfrm>
            <a:off x="1801368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00" name="Google Shape;1000;p9"/>
          <p:cNvSpPr txBox="1"/>
          <p:nvPr/>
        </p:nvSpPr>
        <p:spPr>
          <a:xfrm>
            <a:off x="363016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1001" name="Google Shape;1001;p9"/>
          <p:cNvSpPr txBox="1"/>
          <p:nvPr/>
        </p:nvSpPr>
        <p:spPr>
          <a:xfrm>
            <a:off x="422452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02" name="Google Shape;1002;p9"/>
          <p:cNvSpPr txBox="1"/>
          <p:nvPr/>
        </p:nvSpPr>
        <p:spPr>
          <a:xfrm>
            <a:off x="4818888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1003" name="Google Shape;1003;p9"/>
          <p:cNvSpPr txBox="1"/>
          <p:nvPr/>
        </p:nvSpPr>
        <p:spPr>
          <a:xfrm>
            <a:off x="5413248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04" name="Google Shape;1004;p9"/>
          <p:cNvSpPr/>
          <p:nvPr/>
        </p:nvSpPr>
        <p:spPr>
          <a:xfrm>
            <a:off x="137160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5" name="Google Shape;1005;p9"/>
          <p:cNvSpPr txBox="1"/>
          <p:nvPr/>
        </p:nvSpPr>
        <p:spPr>
          <a:xfrm>
            <a:off x="246888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Rybak</a:t>
            </a:r>
            <a:endParaRPr/>
          </a:p>
        </p:txBody>
      </p:sp>
      <p:sp>
        <p:nvSpPr>
          <p:cNvPr id="1006" name="Google Shape;1006;p9"/>
          <p:cNvSpPr txBox="1"/>
          <p:nvPr/>
        </p:nvSpPr>
        <p:spPr>
          <a:xfrm>
            <a:off x="1801368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07" name="Google Shape;1007;p9"/>
          <p:cNvSpPr txBox="1"/>
          <p:nvPr/>
        </p:nvSpPr>
        <p:spPr>
          <a:xfrm>
            <a:off x="363016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1008" name="Google Shape;1008;p9"/>
          <p:cNvSpPr txBox="1"/>
          <p:nvPr/>
        </p:nvSpPr>
        <p:spPr>
          <a:xfrm>
            <a:off x="422452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009" name="Google Shape;1009;p9"/>
          <p:cNvSpPr txBox="1"/>
          <p:nvPr/>
        </p:nvSpPr>
        <p:spPr>
          <a:xfrm>
            <a:off x="4818888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9.7%</a:t>
            </a:r>
            <a:endParaRPr/>
          </a:p>
        </p:txBody>
      </p:sp>
      <p:sp>
        <p:nvSpPr>
          <p:cNvPr id="1010" name="Google Shape;1010;p9"/>
          <p:cNvSpPr txBox="1"/>
          <p:nvPr/>
        </p:nvSpPr>
        <p:spPr>
          <a:xfrm>
            <a:off x="5413248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11" name="Google Shape;1011;p9"/>
          <p:cNvSpPr txBox="1"/>
          <p:nvPr/>
        </p:nvSpPr>
        <p:spPr>
          <a:xfrm>
            <a:off x="246888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Kathy Armond</a:t>
            </a:r>
            <a:endParaRPr/>
          </a:p>
        </p:txBody>
      </p:sp>
      <p:sp>
        <p:nvSpPr>
          <p:cNvPr id="1012" name="Google Shape;1012;p9"/>
          <p:cNvSpPr txBox="1"/>
          <p:nvPr/>
        </p:nvSpPr>
        <p:spPr>
          <a:xfrm>
            <a:off x="1801368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13" name="Google Shape;1013;p9"/>
          <p:cNvSpPr txBox="1"/>
          <p:nvPr/>
        </p:nvSpPr>
        <p:spPr>
          <a:xfrm>
            <a:off x="363016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</a:t>
            </a:r>
            <a:endParaRPr/>
          </a:p>
        </p:txBody>
      </p:sp>
      <p:sp>
        <p:nvSpPr>
          <p:cNvPr id="1014" name="Google Shape;1014;p9"/>
          <p:cNvSpPr txBox="1"/>
          <p:nvPr/>
        </p:nvSpPr>
        <p:spPr>
          <a:xfrm>
            <a:off x="422452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15" name="Google Shape;1015;p9"/>
          <p:cNvSpPr txBox="1"/>
          <p:nvPr/>
        </p:nvSpPr>
        <p:spPr>
          <a:xfrm>
            <a:off x="4818888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1016" name="Google Shape;1016;p9"/>
          <p:cNvSpPr txBox="1"/>
          <p:nvPr/>
        </p:nvSpPr>
        <p:spPr>
          <a:xfrm>
            <a:off x="5413248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017" name="Google Shape;1017;p9"/>
          <p:cNvSpPr/>
          <p:nvPr/>
        </p:nvSpPr>
        <p:spPr>
          <a:xfrm>
            <a:off x="137160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8" name="Google Shape;1018;p9"/>
          <p:cNvSpPr txBox="1"/>
          <p:nvPr/>
        </p:nvSpPr>
        <p:spPr>
          <a:xfrm>
            <a:off x="246888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Chad Muller</a:t>
            </a:r>
            <a:endParaRPr/>
          </a:p>
        </p:txBody>
      </p:sp>
      <p:sp>
        <p:nvSpPr>
          <p:cNvPr id="1019" name="Google Shape;1019;p9"/>
          <p:cNvSpPr txBox="1"/>
          <p:nvPr/>
        </p:nvSpPr>
        <p:spPr>
          <a:xfrm>
            <a:off x="1801368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020" name="Google Shape;1020;p9"/>
          <p:cNvSpPr txBox="1"/>
          <p:nvPr/>
        </p:nvSpPr>
        <p:spPr>
          <a:xfrm>
            <a:off x="363016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1021" name="Google Shape;1021;p9"/>
          <p:cNvSpPr txBox="1"/>
          <p:nvPr/>
        </p:nvSpPr>
        <p:spPr>
          <a:xfrm>
            <a:off x="422452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022" name="Google Shape;1022;p9"/>
          <p:cNvSpPr txBox="1"/>
          <p:nvPr/>
        </p:nvSpPr>
        <p:spPr>
          <a:xfrm>
            <a:off x="4818888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7.0%</a:t>
            </a:r>
            <a:endParaRPr/>
          </a:p>
        </p:txBody>
      </p:sp>
      <p:sp>
        <p:nvSpPr>
          <p:cNvPr id="1023" name="Google Shape;1023;p9"/>
          <p:cNvSpPr txBox="1"/>
          <p:nvPr/>
        </p:nvSpPr>
        <p:spPr>
          <a:xfrm>
            <a:off x="5413248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24" name="Google Shape;1024;p9"/>
          <p:cNvSpPr txBox="1"/>
          <p:nvPr/>
        </p:nvSpPr>
        <p:spPr>
          <a:xfrm>
            <a:off x="246888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Kathy Macias</a:t>
            </a:r>
            <a:endParaRPr/>
          </a:p>
        </p:txBody>
      </p:sp>
      <p:sp>
        <p:nvSpPr>
          <p:cNvPr id="1025" name="Google Shape;1025;p9"/>
          <p:cNvSpPr txBox="1"/>
          <p:nvPr/>
        </p:nvSpPr>
        <p:spPr>
          <a:xfrm>
            <a:off x="1801368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26" name="Google Shape;1026;p9"/>
          <p:cNvSpPr txBox="1"/>
          <p:nvPr/>
        </p:nvSpPr>
        <p:spPr>
          <a:xfrm>
            <a:off x="363016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98</a:t>
            </a:r>
            <a:endParaRPr/>
          </a:p>
        </p:txBody>
      </p:sp>
      <p:sp>
        <p:nvSpPr>
          <p:cNvPr id="1027" name="Google Shape;1027;p9"/>
          <p:cNvSpPr txBox="1"/>
          <p:nvPr/>
        </p:nvSpPr>
        <p:spPr>
          <a:xfrm>
            <a:off x="422452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028" name="Google Shape;1028;p9"/>
          <p:cNvSpPr txBox="1"/>
          <p:nvPr/>
        </p:nvSpPr>
        <p:spPr>
          <a:xfrm>
            <a:off x="4818888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1.0%</a:t>
            </a:r>
            <a:endParaRPr/>
          </a:p>
        </p:txBody>
      </p:sp>
      <p:sp>
        <p:nvSpPr>
          <p:cNvPr id="1029" name="Google Shape;1029;p9"/>
          <p:cNvSpPr txBox="1"/>
          <p:nvPr/>
        </p:nvSpPr>
        <p:spPr>
          <a:xfrm>
            <a:off x="5413248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30" name="Google Shape;1030;p9"/>
          <p:cNvSpPr/>
          <p:nvPr/>
        </p:nvSpPr>
        <p:spPr>
          <a:xfrm>
            <a:off x="6245352" y="1536192"/>
            <a:ext cx="576072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1" name="Google Shape;1031;p9"/>
          <p:cNvSpPr txBox="1"/>
          <p:nvPr/>
        </p:nvSpPr>
        <p:spPr>
          <a:xfrm>
            <a:off x="6355080" y="1572768"/>
            <a:ext cx="5577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CONTINUED  —  Ranked 19–36</a:t>
            </a:r>
            <a:endParaRPr/>
          </a:p>
        </p:txBody>
      </p:sp>
      <p:sp>
        <p:nvSpPr>
          <p:cNvPr id="1032" name="Google Shape;1032;p9"/>
          <p:cNvSpPr txBox="1"/>
          <p:nvPr/>
        </p:nvSpPr>
        <p:spPr>
          <a:xfrm>
            <a:off x="6355080" y="1874519"/>
            <a:ext cx="15544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 Name</a:t>
            </a:r>
            <a:endParaRPr/>
          </a:p>
        </p:txBody>
      </p:sp>
      <p:sp>
        <p:nvSpPr>
          <p:cNvPr id="1033" name="Google Shape;1033;p9"/>
          <p:cNvSpPr txBox="1"/>
          <p:nvPr/>
        </p:nvSpPr>
        <p:spPr>
          <a:xfrm>
            <a:off x="7909560" y="1874519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034" name="Google Shape;1034;p9"/>
          <p:cNvSpPr txBox="1"/>
          <p:nvPr/>
        </p:nvSpPr>
        <p:spPr>
          <a:xfrm>
            <a:off x="973836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035" name="Google Shape;1035;p9"/>
          <p:cNvSpPr txBox="1"/>
          <p:nvPr/>
        </p:nvSpPr>
        <p:spPr>
          <a:xfrm>
            <a:off x="1033272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036" name="Google Shape;1036;p9"/>
          <p:cNvSpPr txBox="1"/>
          <p:nvPr/>
        </p:nvSpPr>
        <p:spPr>
          <a:xfrm>
            <a:off x="10927080" y="1874519"/>
            <a:ext cx="594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%</a:t>
            </a:r>
            <a:endParaRPr/>
          </a:p>
        </p:txBody>
      </p:sp>
      <p:sp>
        <p:nvSpPr>
          <p:cNvPr id="1037" name="Google Shape;1037;p9"/>
          <p:cNvSpPr txBox="1"/>
          <p:nvPr/>
        </p:nvSpPr>
        <p:spPr>
          <a:xfrm>
            <a:off x="11521440" y="1874519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</a:t>
            </a:r>
            <a:endParaRPr/>
          </a:p>
        </p:txBody>
      </p:sp>
      <p:sp>
        <p:nvSpPr>
          <p:cNvPr id="1038" name="Google Shape;1038;p9"/>
          <p:cNvSpPr/>
          <p:nvPr/>
        </p:nvSpPr>
        <p:spPr>
          <a:xfrm>
            <a:off x="6291072" y="2048255"/>
            <a:ext cx="5650992" cy="5486"/>
          </a:xfrm>
          <a:prstGeom prst="rect">
            <a:avLst/>
          </a:prstGeom>
          <a:solidFill>
            <a:srgbClr val="C4B5FD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9" name="Google Shape;1039;p9"/>
          <p:cNvSpPr/>
          <p:nvPr/>
        </p:nvSpPr>
        <p:spPr>
          <a:xfrm>
            <a:off x="6245352" y="2103120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0" name="Google Shape;1040;p9"/>
          <p:cNvSpPr txBox="1"/>
          <p:nvPr/>
        </p:nvSpPr>
        <p:spPr>
          <a:xfrm>
            <a:off x="6355080" y="21214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Thomas Olin Woodard</a:t>
            </a:r>
            <a:endParaRPr/>
          </a:p>
        </p:txBody>
      </p:sp>
      <p:sp>
        <p:nvSpPr>
          <p:cNvPr id="1041" name="Google Shape;1041;p9"/>
          <p:cNvSpPr txBox="1"/>
          <p:nvPr/>
        </p:nvSpPr>
        <p:spPr>
          <a:xfrm>
            <a:off x="7909560" y="21214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Woodard Agency Llc</a:t>
            </a:r>
            <a:endParaRPr/>
          </a:p>
        </p:txBody>
      </p:sp>
      <p:sp>
        <p:nvSpPr>
          <p:cNvPr id="1042" name="Google Shape;1042;p9"/>
          <p:cNvSpPr txBox="1"/>
          <p:nvPr/>
        </p:nvSpPr>
        <p:spPr>
          <a:xfrm>
            <a:off x="973836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1043" name="Google Shape;1043;p9"/>
          <p:cNvSpPr txBox="1"/>
          <p:nvPr/>
        </p:nvSpPr>
        <p:spPr>
          <a:xfrm>
            <a:off x="1033272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044" name="Google Shape;1044;p9"/>
          <p:cNvSpPr txBox="1"/>
          <p:nvPr/>
        </p:nvSpPr>
        <p:spPr>
          <a:xfrm>
            <a:off x="10927080" y="21214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1045" name="Google Shape;1045;p9"/>
          <p:cNvSpPr txBox="1"/>
          <p:nvPr/>
        </p:nvSpPr>
        <p:spPr>
          <a:xfrm>
            <a:off x="11521440" y="21214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46" name="Google Shape;1046;p9"/>
          <p:cNvSpPr txBox="1"/>
          <p:nvPr/>
        </p:nvSpPr>
        <p:spPr>
          <a:xfrm>
            <a:off x="6355080" y="236098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Katharine Barrison</a:t>
            </a:r>
            <a:endParaRPr/>
          </a:p>
        </p:txBody>
      </p:sp>
      <p:sp>
        <p:nvSpPr>
          <p:cNvPr id="1047" name="Google Shape;1047;p9"/>
          <p:cNvSpPr txBox="1"/>
          <p:nvPr/>
        </p:nvSpPr>
        <p:spPr>
          <a:xfrm>
            <a:off x="7909560" y="236098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48" name="Google Shape;1048;p9"/>
          <p:cNvSpPr txBox="1"/>
          <p:nvPr/>
        </p:nvSpPr>
        <p:spPr>
          <a:xfrm>
            <a:off x="973836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</a:t>
            </a:r>
            <a:endParaRPr/>
          </a:p>
        </p:txBody>
      </p:sp>
      <p:sp>
        <p:nvSpPr>
          <p:cNvPr id="1049" name="Google Shape;1049;p9"/>
          <p:cNvSpPr txBox="1"/>
          <p:nvPr/>
        </p:nvSpPr>
        <p:spPr>
          <a:xfrm>
            <a:off x="1033272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050" name="Google Shape;1050;p9"/>
          <p:cNvSpPr txBox="1"/>
          <p:nvPr/>
        </p:nvSpPr>
        <p:spPr>
          <a:xfrm>
            <a:off x="10927080" y="236098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051" name="Google Shape;1051;p9"/>
          <p:cNvSpPr txBox="1"/>
          <p:nvPr/>
        </p:nvSpPr>
        <p:spPr>
          <a:xfrm>
            <a:off x="11521440" y="236098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2" name="Google Shape;1052;p9"/>
          <p:cNvSpPr/>
          <p:nvPr/>
        </p:nvSpPr>
        <p:spPr>
          <a:xfrm>
            <a:off x="6245352" y="2582265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3" name="Google Shape;1053;p9"/>
          <p:cNvSpPr txBox="1"/>
          <p:nvPr/>
        </p:nvSpPr>
        <p:spPr>
          <a:xfrm>
            <a:off x="6355080" y="260055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Ashley Marinez</a:t>
            </a:r>
            <a:endParaRPr/>
          </a:p>
        </p:txBody>
      </p:sp>
      <p:sp>
        <p:nvSpPr>
          <p:cNvPr id="1054" name="Google Shape;1054;p9"/>
          <p:cNvSpPr txBox="1"/>
          <p:nvPr/>
        </p:nvSpPr>
        <p:spPr>
          <a:xfrm>
            <a:off x="7909560" y="260055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55" name="Google Shape;1055;p9"/>
          <p:cNvSpPr txBox="1"/>
          <p:nvPr/>
        </p:nvSpPr>
        <p:spPr>
          <a:xfrm>
            <a:off x="973836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1056" name="Google Shape;1056;p9"/>
          <p:cNvSpPr txBox="1"/>
          <p:nvPr/>
        </p:nvSpPr>
        <p:spPr>
          <a:xfrm>
            <a:off x="1033272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57" name="Google Shape;1057;p9"/>
          <p:cNvSpPr txBox="1"/>
          <p:nvPr/>
        </p:nvSpPr>
        <p:spPr>
          <a:xfrm>
            <a:off x="10927080" y="260055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2.2%</a:t>
            </a:r>
            <a:endParaRPr/>
          </a:p>
        </p:txBody>
      </p:sp>
      <p:sp>
        <p:nvSpPr>
          <p:cNvPr id="1058" name="Google Shape;1058;p9"/>
          <p:cNvSpPr txBox="1"/>
          <p:nvPr/>
        </p:nvSpPr>
        <p:spPr>
          <a:xfrm>
            <a:off x="11521440" y="260055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59" name="Google Shape;1059;p9"/>
          <p:cNvSpPr txBox="1"/>
          <p:nvPr/>
        </p:nvSpPr>
        <p:spPr>
          <a:xfrm>
            <a:off x="6355080" y="284012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Devin Link</a:t>
            </a:r>
            <a:endParaRPr/>
          </a:p>
        </p:txBody>
      </p:sp>
      <p:sp>
        <p:nvSpPr>
          <p:cNvPr id="1060" name="Google Shape;1060;p9"/>
          <p:cNvSpPr txBox="1"/>
          <p:nvPr/>
        </p:nvSpPr>
        <p:spPr>
          <a:xfrm>
            <a:off x="7909560" y="284012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925 Partners, Llc</a:t>
            </a:r>
            <a:endParaRPr/>
          </a:p>
        </p:txBody>
      </p:sp>
      <p:sp>
        <p:nvSpPr>
          <p:cNvPr id="1061" name="Google Shape;1061;p9"/>
          <p:cNvSpPr txBox="1"/>
          <p:nvPr/>
        </p:nvSpPr>
        <p:spPr>
          <a:xfrm>
            <a:off x="973836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1062" name="Google Shape;1062;p9"/>
          <p:cNvSpPr txBox="1"/>
          <p:nvPr/>
        </p:nvSpPr>
        <p:spPr>
          <a:xfrm>
            <a:off x="1033272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063" name="Google Shape;1063;p9"/>
          <p:cNvSpPr txBox="1"/>
          <p:nvPr/>
        </p:nvSpPr>
        <p:spPr>
          <a:xfrm>
            <a:off x="10927080" y="284012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1064" name="Google Shape;1064;p9"/>
          <p:cNvSpPr txBox="1"/>
          <p:nvPr/>
        </p:nvSpPr>
        <p:spPr>
          <a:xfrm>
            <a:off x="11521440" y="284012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65" name="Google Shape;1065;p9"/>
          <p:cNvSpPr/>
          <p:nvPr/>
        </p:nvSpPr>
        <p:spPr>
          <a:xfrm>
            <a:off x="6245352" y="3061411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6" name="Google Shape;1066;p9"/>
          <p:cNvSpPr txBox="1"/>
          <p:nvPr/>
        </p:nvSpPr>
        <p:spPr>
          <a:xfrm>
            <a:off x="6355080" y="3079699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Kasim Goluab</a:t>
            </a:r>
            <a:endParaRPr/>
          </a:p>
        </p:txBody>
      </p:sp>
      <p:sp>
        <p:nvSpPr>
          <p:cNvPr id="1067" name="Google Shape;1067;p9"/>
          <p:cNvSpPr txBox="1"/>
          <p:nvPr/>
        </p:nvSpPr>
        <p:spPr>
          <a:xfrm>
            <a:off x="7909560" y="3079699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068" name="Google Shape;1068;p9"/>
          <p:cNvSpPr txBox="1"/>
          <p:nvPr/>
        </p:nvSpPr>
        <p:spPr>
          <a:xfrm>
            <a:off x="973836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</a:t>
            </a:r>
            <a:endParaRPr/>
          </a:p>
        </p:txBody>
      </p:sp>
      <p:sp>
        <p:nvSpPr>
          <p:cNvPr id="1069" name="Google Shape;1069;p9"/>
          <p:cNvSpPr txBox="1"/>
          <p:nvPr/>
        </p:nvSpPr>
        <p:spPr>
          <a:xfrm>
            <a:off x="1033272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070" name="Google Shape;1070;p9"/>
          <p:cNvSpPr txBox="1"/>
          <p:nvPr/>
        </p:nvSpPr>
        <p:spPr>
          <a:xfrm>
            <a:off x="10927080" y="3079699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15.1%</a:t>
            </a:r>
            <a:endParaRPr/>
          </a:p>
        </p:txBody>
      </p:sp>
      <p:sp>
        <p:nvSpPr>
          <p:cNvPr id="1071" name="Google Shape;1071;p9"/>
          <p:cNvSpPr txBox="1"/>
          <p:nvPr/>
        </p:nvSpPr>
        <p:spPr>
          <a:xfrm>
            <a:off x="11521440" y="3079699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72" name="Google Shape;1072;p9"/>
          <p:cNvSpPr txBox="1"/>
          <p:nvPr/>
        </p:nvSpPr>
        <p:spPr>
          <a:xfrm>
            <a:off x="6355080" y="33192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Tracy Gough</a:t>
            </a:r>
            <a:endParaRPr/>
          </a:p>
        </p:txBody>
      </p:sp>
      <p:sp>
        <p:nvSpPr>
          <p:cNvPr id="1073" name="Google Shape;1073;p9"/>
          <p:cNvSpPr txBox="1"/>
          <p:nvPr/>
        </p:nvSpPr>
        <p:spPr>
          <a:xfrm>
            <a:off x="7909560" y="33192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Marble City Insurance</a:t>
            </a:r>
            <a:endParaRPr/>
          </a:p>
        </p:txBody>
      </p:sp>
      <p:sp>
        <p:nvSpPr>
          <p:cNvPr id="1074" name="Google Shape;1074;p9"/>
          <p:cNvSpPr txBox="1"/>
          <p:nvPr/>
        </p:nvSpPr>
        <p:spPr>
          <a:xfrm>
            <a:off x="973836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1075" name="Google Shape;1075;p9"/>
          <p:cNvSpPr txBox="1"/>
          <p:nvPr/>
        </p:nvSpPr>
        <p:spPr>
          <a:xfrm>
            <a:off x="1033272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76" name="Google Shape;1076;p9"/>
          <p:cNvSpPr txBox="1"/>
          <p:nvPr/>
        </p:nvSpPr>
        <p:spPr>
          <a:xfrm>
            <a:off x="10927080" y="33192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6.0%</a:t>
            </a:r>
            <a:endParaRPr/>
          </a:p>
        </p:txBody>
      </p:sp>
      <p:sp>
        <p:nvSpPr>
          <p:cNvPr id="1077" name="Google Shape;1077;p9"/>
          <p:cNvSpPr txBox="1"/>
          <p:nvPr/>
        </p:nvSpPr>
        <p:spPr>
          <a:xfrm>
            <a:off x="11521440" y="33192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78" name="Google Shape;1078;p9"/>
          <p:cNvSpPr/>
          <p:nvPr/>
        </p:nvSpPr>
        <p:spPr>
          <a:xfrm>
            <a:off x="6245352" y="3540556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9" name="Google Shape;1079;p9"/>
          <p:cNvSpPr txBox="1"/>
          <p:nvPr/>
        </p:nvSpPr>
        <p:spPr>
          <a:xfrm>
            <a:off x="6355080" y="355884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Brent Hardin</a:t>
            </a:r>
            <a:endParaRPr/>
          </a:p>
        </p:txBody>
      </p:sp>
      <p:sp>
        <p:nvSpPr>
          <p:cNvPr id="1080" name="Google Shape;1080;p9"/>
          <p:cNvSpPr txBox="1"/>
          <p:nvPr/>
        </p:nvSpPr>
        <p:spPr>
          <a:xfrm>
            <a:off x="7909560" y="355884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PMHLP LLC DBA Coverboxx</a:t>
            </a:r>
            <a:endParaRPr/>
          </a:p>
        </p:txBody>
      </p:sp>
      <p:sp>
        <p:nvSpPr>
          <p:cNvPr id="1081" name="Google Shape;1081;p9"/>
          <p:cNvSpPr txBox="1"/>
          <p:nvPr/>
        </p:nvSpPr>
        <p:spPr>
          <a:xfrm>
            <a:off x="973836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1082" name="Google Shape;1082;p9"/>
          <p:cNvSpPr txBox="1"/>
          <p:nvPr/>
        </p:nvSpPr>
        <p:spPr>
          <a:xfrm>
            <a:off x="1033272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83" name="Google Shape;1083;p9"/>
          <p:cNvSpPr txBox="1"/>
          <p:nvPr/>
        </p:nvSpPr>
        <p:spPr>
          <a:xfrm>
            <a:off x="10927080" y="355884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1084" name="Google Shape;1084;p9"/>
          <p:cNvSpPr txBox="1"/>
          <p:nvPr/>
        </p:nvSpPr>
        <p:spPr>
          <a:xfrm>
            <a:off x="11521440" y="355884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085" name="Google Shape;1085;p9"/>
          <p:cNvSpPr txBox="1"/>
          <p:nvPr/>
        </p:nvSpPr>
        <p:spPr>
          <a:xfrm>
            <a:off x="6355080" y="379841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Olga Conev</a:t>
            </a:r>
            <a:endParaRPr/>
          </a:p>
        </p:txBody>
      </p:sp>
      <p:sp>
        <p:nvSpPr>
          <p:cNvPr id="1086" name="Google Shape;1086;p9"/>
          <p:cNvSpPr txBox="1"/>
          <p:nvPr/>
        </p:nvSpPr>
        <p:spPr>
          <a:xfrm>
            <a:off x="7909560" y="379841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Five Star Insurance Services I</a:t>
            </a:r>
            <a:endParaRPr/>
          </a:p>
        </p:txBody>
      </p:sp>
      <p:sp>
        <p:nvSpPr>
          <p:cNvPr id="1087" name="Google Shape;1087;p9"/>
          <p:cNvSpPr txBox="1"/>
          <p:nvPr/>
        </p:nvSpPr>
        <p:spPr>
          <a:xfrm>
            <a:off x="973836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1088" name="Google Shape;1088;p9"/>
          <p:cNvSpPr txBox="1"/>
          <p:nvPr/>
        </p:nvSpPr>
        <p:spPr>
          <a:xfrm>
            <a:off x="1033272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089" name="Google Shape;1089;p9"/>
          <p:cNvSpPr txBox="1"/>
          <p:nvPr/>
        </p:nvSpPr>
        <p:spPr>
          <a:xfrm>
            <a:off x="10927080" y="379841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1090" name="Google Shape;1090;p9"/>
          <p:cNvSpPr txBox="1"/>
          <p:nvPr/>
        </p:nvSpPr>
        <p:spPr>
          <a:xfrm>
            <a:off x="11521440" y="379841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1" name="Google Shape;1091;p9"/>
          <p:cNvSpPr/>
          <p:nvPr/>
        </p:nvSpPr>
        <p:spPr>
          <a:xfrm>
            <a:off x="6245352" y="4019702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2" name="Google Shape;1092;p9"/>
          <p:cNvSpPr txBox="1"/>
          <p:nvPr/>
        </p:nvSpPr>
        <p:spPr>
          <a:xfrm>
            <a:off x="6355080" y="403799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Zachary Flowers</a:t>
            </a:r>
            <a:endParaRPr/>
          </a:p>
        </p:txBody>
      </p:sp>
      <p:sp>
        <p:nvSpPr>
          <p:cNvPr id="1093" name="Google Shape;1093;p9"/>
          <p:cNvSpPr txBox="1"/>
          <p:nvPr/>
        </p:nvSpPr>
        <p:spPr>
          <a:xfrm>
            <a:off x="7909560" y="403799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1094" name="Google Shape;1094;p9"/>
          <p:cNvSpPr txBox="1"/>
          <p:nvPr/>
        </p:nvSpPr>
        <p:spPr>
          <a:xfrm>
            <a:off x="973836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1095" name="Google Shape;1095;p9"/>
          <p:cNvSpPr txBox="1"/>
          <p:nvPr/>
        </p:nvSpPr>
        <p:spPr>
          <a:xfrm>
            <a:off x="1033272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096" name="Google Shape;1096;p9"/>
          <p:cNvSpPr txBox="1"/>
          <p:nvPr/>
        </p:nvSpPr>
        <p:spPr>
          <a:xfrm>
            <a:off x="10927080" y="403799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1097" name="Google Shape;1097;p9"/>
          <p:cNvSpPr txBox="1"/>
          <p:nvPr/>
        </p:nvSpPr>
        <p:spPr>
          <a:xfrm>
            <a:off x="11521440" y="403799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098" name="Google Shape;1098;p9"/>
          <p:cNvSpPr txBox="1"/>
          <p:nvPr/>
        </p:nvSpPr>
        <p:spPr>
          <a:xfrm>
            <a:off x="6355080" y="4277563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Natalie Soto</a:t>
            </a:r>
            <a:endParaRPr/>
          </a:p>
        </p:txBody>
      </p:sp>
      <p:sp>
        <p:nvSpPr>
          <p:cNvPr id="1099" name="Google Shape;1099;p9"/>
          <p:cNvSpPr txBox="1"/>
          <p:nvPr/>
        </p:nvSpPr>
        <p:spPr>
          <a:xfrm>
            <a:off x="7909560" y="4277563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100" name="Google Shape;1100;p9"/>
          <p:cNvSpPr txBox="1"/>
          <p:nvPr/>
        </p:nvSpPr>
        <p:spPr>
          <a:xfrm>
            <a:off x="973836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1101" name="Google Shape;1101;p9"/>
          <p:cNvSpPr txBox="1"/>
          <p:nvPr/>
        </p:nvSpPr>
        <p:spPr>
          <a:xfrm>
            <a:off x="1033272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02" name="Google Shape;1102;p9"/>
          <p:cNvSpPr txBox="1"/>
          <p:nvPr/>
        </p:nvSpPr>
        <p:spPr>
          <a:xfrm>
            <a:off x="10927080" y="4277563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03" name="Google Shape;1103;p9"/>
          <p:cNvSpPr txBox="1"/>
          <p:nvPr/>
        </p:nvSpPr>
        <p:spPr>
          <a:xfrm>
            <a:off x="11521440" y="4277563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04" name="Google Shape;1104;p9"/>
          <p:cNvSpPr/>
          <p:nvPr/>
        </p:nvSpPr>
        <p:spPr>
          <a:xfrm>
            <a:off x="6245352" y="4498848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5" name="Google Shape;1105;p9"/>
          <p:cNvSpPr txBox="1"/>
          <p:nvPr/>
        </p:nvSpPr>
        <p:spPr>
          <a:xfrm>
            <a:off x="6355080" y="4517136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Merryl Gerhardt</a:t>
            </a:r>
            <a:endParaRPr/>
          </a:p>
        </p:txBody>
      </p:sp>
      <p:sp>
        <p:nvSpPr>
          <p:cNvPr id="1106" name="Google Shape;1106;p9"/>
          <p:cNvSpPr txBox="1"/>
          <p:nvPr/>
        </p:nvSpPr>
        <p:spPr>
          <a:xfrm>
            <a:off x="7909560" y="4517136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107" name="Google Shape;1107;p9"/>
          <p:cNvSpPr txBox="1"/>
          <p:nvPr/>
        </p:nvSpPr>
        <p:spPr>
          <a:xfrm>
            <a:off x="973836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1108" name="Google Shape;1108;p9"/>
          <p:cNvSpPr txBox="1"/>
          <p:nvPr/>
        </p:nvSpPr>
        <p:spPr>
          <a:xfrm>
            <a:off x="1033272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09" name="Google Shape;1109;p9"/>
          <p:cNvSpPr txBox="1"/>
          <p:nvPr/>
        </p:nvSpPr>
        <p:spPr>
          <a:xfrm>
            <a:off x="10927080" y="4517136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9.5%</a:t>
            </a:r>
            <a:endParaRPr/>
          </a:p>
        </p:txBody>
      </p:sp>
      <p:sp>
        <p:nvSpPr>
          <p:cNvPr id="1110" name="Google Shape;1110;p9"/>
          <p:cNvSpPr txBox="1"/>
          <p:nvPr/>
        </p:nvSpPr>
        <p:spPr>
          <a:xfrm>
            <a:off x="11521440" y="4517136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11" name="Google Shape;1111;p9"/>
          <p:cNvSpPr txBox="1"/>
          <p:nvPr/>
        </p:nvSpPr>
        <p:spPr>
          <a:xfrm>
            <a:off x="6355080" y="4756708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Mika Leone-Pettit</a:t>
            </a:r>
            <a:endParaRPr/>
          </a:p>
        </p:txBody>
      </p:sp>
      <p:sp>
        <p:nvSpPr>
          <p:cNvPr id="1112" name="Google Shape;1112;p9"/>
          <p:cNvSpPr txBox="1"/>
          <p:nvPr/>
        </p:nvSpPr>
        <p:spPr>
          <a:xfrm>
            <a:off x="7909560" y="4756708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113" name="Google Shape;1113;p9"/>
          <p:cNvSpPr txBox="1"/>
          <p:nvPr/>
        </p:nvSpPr>
        <p:spPr>
          <a:xfrm>
            <a:off x="973836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1114" name="Google Shape;1114;p9"/>
          <p:cNvSpPr txBox="1"/>
          <p:nvPr/>
        </p:nvSpPr>
        <p:spPr>
          <a:xfrm>
            <a:off x="1033272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1115" name="Google Shape;1115;p9"/>
          <p:cNvSpPr txBox="1"/>
          <p:nvPr/>
        </p:nvSpPr>
        <p:spPr>
          <a:xfrm>
            <a:off x="10927080" y="4756708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35.6%</a:t>
            </a:r>
            <a:endParaRPr/>
          </a:p>
        </p:txBody>
      </p:sp>
      <p:sp>
        <p:nvSpPr>
          <p:cNvPr id="1116" name="Google Shape;1116;p9"/>
          <p:cNvSpPr txBox="1"/>
          <p:nvPr/>
        </p:nvSpPr>
        <p:spPr>
          <a:xfrm>
            <a:off x="11521440" y="4756708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17" name="Google Shape;1117;p9"/>
          <p:cNvSpPr/>
          <p:nvPr/>
        </p:nvSpPr>
        <p:spPr>
          <a:xfrm>
            <a:off x="6245352" y="4977993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8" name="Google Shape;1118;p9"/>
          <p:cNvSpPr txBox="1"/>
          <p:nvPr/>
        </p:nvSpPr>
        <p:spPr>
          <a:xfrm>
            <a:off x="6355080" y="4996281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Pederson</a:t>
            </a:r>
            <a:endParaRPr/>
          </a:p>
        </p:txBody>
      </p:sp>
      <p:sp>
        <p:nvSpPr>
          <p:cNvPr id="1119" name="Google Shape;1119;p9"/>
          <p:cNvSpPr txBox="1"/>
          <p:nvPr/>
        </p:nvSpPr>
        <p:spPr>
          <a:xfrm>
            <a:off x="7909560" y="4996281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120" name="Google Shape;1120;p9"/>
          <p:cNvSpPr txBox="1"/>
          <p:nvPr/>
        </p:nvSpPr>
        <p:spPr>
          <a:xfrm>
            <a:off x="973836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1121" name="Google Shape;1121;p9"/>
          <p:cNvSpPr txBox="1"/>
          <p:nvPr/>
        </p:nvSpPr>
        <p:spPr>
          <a:xfrm>
            <a:off x="1033272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122" name="Google Shape;1122;p9"/>
          <p:cNvSpPr txBox="1"/>
          <p:nvPr/>
        </p:nvSpPr>
        <p:spPr>
          <a:xfrm>
            <a:off x="10927080" y="4996281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10.6%</a:t>
            </a:r>
            <a:endParaRPr/>
          </a:p>
        </p:txBody>
      </p:sp>
      <p:sp>
        <p:nvSpPr>
          <p:cNvPr id="1123" name="Google Shape;1123;p9"/>
          <p:cNvSpPr txBox="1"/>
          <p:nvPr/>
        </p:nvSpPr>
        <p:spPr>
          <a:xfrm>
            <a:off x="11521440" y="4996281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24" name="Google Shape;1124;p9"/>
          <p:cNvSpPr txBox="1"/>
          <p:nvPr/>
        </p:nvSpPr>
        <p:spPr>
          <a:xfrm>
            <a:off x="6355080" y="5235854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Judd</a:t>
            </a:r>
            <a:endParaRPr/>
          </a:p>
        </p:txBody>
      </p:sp>
      <p:sp>
        <p:nvSpPr>
          <p:cNvPr id="1125" name="Google Shape;1125;p9"/>
          <p:cNvSpPr txBox="1"/>
          <p:nvPr/>
        </p:nvSpPr>
        <p:spPr>
          <a:xfrm>
            <a:off x="7909560" y="5235854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126" name="Google Shape;1126;p9"/>
          <p:cNvSpPr txBox="1"/>
          <p:nvPr/>
        </p:nvSpPr>
        <p:spPr>
          <a:xfrm>
            <a:off x="973836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1127" name="Google Shape;1127;p9"/>
          <p:cNvSpPr txBox="1"/>
          <p:nvPr/>
        </p:nvSpPr>
        <p:spPr>
          <a:xfrm>
            <a:off x="1033272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128" name="Google Shape;1128;p9"/>
          <p:cNvSpPr txBox="1"/>
          <p:nvPr/>
        </p:nvSpPr>
        <p:spPr>
          <a:xfrm>
            <a:off x="10927080" y="5235854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13.8%</a:t>
            </a:r>
            <a:endParaRPr/>
          </a:p>
        </p:txBody>
      </p:sp>
      <p:sp>
        <p:nvSpPr>
          <p:cNvPr id="1129" name="Google Shape;1129;p9"/>
          <p:cNvSpPr txBox="1"/>
          <p:nvPr/>
        </p:nvSpPr>
        <p:spPr>
          <a:xfrm>
            <a:off x="11521440" y="5235854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▲</a:t>
            </a:r>
            <a:endParaRPr/>
          </a:p>
        </p:txBody>
      </p:sp>
      <p:sp>
        <p:nvSpPr>
          <p:cNvPr id="1130" name="Google Shape;1130;p9"/>
          <p:cNvSpPr/>
          <p:nvPr/>
        </p:nvSpPr>
        <p:spPr>
          <a:xfrm>
            <a:off x="6245352" y="5457139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1" name="Google Shape;1131;p9"/>
          <p:cNvSpPr txBox="1"/>
          <p:nvPr/>
        </p:nvSpPr>
        <p:spPr>
          <a:xfrm>
            <a:off x="6355080" y="5475427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Luis Reyes</a:t>
            </a:r>
            <a:endParaRPr/>
          </a:p>
        </p:txBody>
      </p:sp>
      <p:sp>
        <p:nvSpPr>
          <p:cNvPr id="1132" name="Google Shape;1132;p9"/>
          <p:cNvSpPr txBox="1"/>
          <p:nvPr/>
        </p:nvSpPr>
        <p:spPr>
          <a:xfrm>
            <a:off x="7909560" y="5475427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Independence Insurance Agency </a:t>
            </a:r>
            <a:endParaRPr/>
          </a:p>
        </p:txBody>
      </p:sp>
      <p:sp>
        <p:nvSpPr>
          <p:cNvPr id="1133" name="Google Shape;1133;p9"/>
          <p:cNvSpPr txBox="1"/>
          <p:nvPr/>
        </p:nvSpPr>
        <p:spPr>
          <a:xfrm>
            <a:off x="973836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1134" name="Google Shape;1134;p9"/>
          <p:cNvSpPr txBox="1"/>
          <p:nvPr/>
        </p:nvSpPr>
        <p:spPr>
          <a:xfrm>
            <a:off x="1033272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135" name="Google Shape;1135;p9"/>
          <p:cNvSpPr txBox="1"/>
          <p:nvPr/>
        </p:nvSpPr>
        <p:spPr>
          <a:xfrm>
            <a:off x="10927080" y="5475427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1136" name="Google Shape;1136;p9"/>
          <p:cNvSpPr txBox="1"/>
          <p:nvPr/>
        </p:nvSpPr>
        <p:spPr>
          <a:xfrm>
            <a:off x="11521440" y="5475427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37" name="Google Shape;1137;p9"/>
          <p:cNvSpPr txBox="1"/>
          <p:nvPr/>
        </p:nvSpPr>
        <p:spPr>
          <a:xfrm>
            <a:off x="6355080" y="5715000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Michele Bell</a:t>
            </a:r>
            <a:endParaRPr/>
          </a:p>
        </p:txBody>
      </p:sp>
      <p:sp>
        <p:nvSpPr>
          <p:cNvPr id="1138" name="Google Shape;1138;p9"/>
          <p:cNvSpPr txBox="1"/>
          <p:nvPr/>
        </p:nvSpPr>
        <p:spPr>
          <a:xfrm>
            <a:off x="7909560" y="5715000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139" name="Google Shape;1139;p9"/>
          <p:cNvSpPr txBox="1"/>
          <p:nvPr/>
        </p:nvSpPr>
        <p:spPr>
          <a:xfrm>
            <a:off x="973836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1140" name="Google Shape;1140;p9"/>
          <p:cNvSpPr txBox="1"/>
          <p:nvPr/>
        </p:nvSpPr>
        <p:spPr>
          <a:xfrm>
            <a:off x="1033272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141" name="Google Shape;1141;p9"/>
          <p:cNvSpPr txBox="1"/>
          <p:nvPr/>
        </p:nvSpPr>
        <p:spPr>
          <a:xfrm>
            <a:off x="10927080" y="5715000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1142" name="Google Shape;1142;p9"/>
          <p:cNvSpPr txBox="1"/>
          <p:nvPr/>
        </p:nvSpPr>
        <p:spPr>
          <a:xfrm>
            <a:off x="11521440" y="5715000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→</a:t>
            </a:r>
            <a:endParaRPr/>
          </a:p>
        </p:txBody>
      </p:sp>
      <p:sp>
        <p:nvSpPr>
          <p:cNvPr id="1143" name="Google Shape;1143;p9"/>
          <p:cNvSpPr/>
          <p:nvPr/>
        </p:nvSpPr>
        <p:spPr>
          <a:xfrm>
            <a:off x="6245352" y="5936284"/>
            <a:ext cx="5760720" cy="248716"/>
          </a:xfrm>
          <a:prstGeom prst="rect">
            <a:avLst/>
          </a:prstGeom>
          <a:solidFill>
            <a:srgbClr val="F5F3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4" name="Google Shape;1144;p9"/>
          <p:cNvSpPr txBox="1"/>
          <p:nvPr/>
        </p:nvSpPr>
        <p:spPr>
          <a:xfrm>
            <a:off x="6355080" y="5954572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Jesselyn Kennedy</a:t>
            </a:r>
            <a:endParaRPr/>
          </a:p>
        </p:txBody>
      </p:sp>
      <p:sp>
        <p:nvSpPr>
          <p:cNvPr id="1145" name="Google Shape;1145;p9"/>
          <p:cNvSpPr txBox="1"/>
          <p:nvPr/>
        </p:nvSpPr>
        <p:spPr>
          <a:xfrm>
            <a:off x="7909560" y="5954572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146" name="Google Shape;1146;p9"/>
          <p:cNvSpPr txBox="1"/>
          <p:nvPr/>
        </p:nvSpPr>
        <p:spPr>
          <a:xfrm>
            <a:off x="973836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</a:t>
            </a:r>
            <a:endParaRPr/>
          </a:p>
        </p:txBody>
      </p:sp>
      <p:sp>
        <p:nvSpPr>
          <p:cNvPr id="1147" name="Google Shape;1147;p9"/>
          <p:cNvSpPr txBox="1"/>
          <p:nvPr/>
        </p:nvSpPr>
        <p:spPr>
          <a:xfrm>
            <a:off x="1033272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148" name="Google Shape;1148;p9"/>
          <p:cNvSpPr txBox="1"/>
          <p:nvPr/>
        </p:nvSpPr>
        <p:spPr>
          <a:xfrm>
            <a:off x="10927080" y="5954572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1149" name="Google Shape;1149;p9"/>
          <p:cNvSpPr txBox="1"/>
          <p:nvPr/>
        </p:nvSpPr>
        <p:spPr>
          <a:xfrm>
            <a:off x="11521440" y="5954572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50" name="Google Shape;1150;p9"/>
          <p:cNvSpPr txBox="1"/>
          <p:nvPr/>
        </p:nvSpPr>
        <p:spPr>
          <a:xfrm>
            <a:off x="6355080" y="6194145"/>
            <a:ext cx="155448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Ninderjit Kaur</a:t>
            </a:r>
            <a:endParaRPr/>
          </a:p>
        </p:txBody>
      </p:sp>
      <p:sp>
        <p:nvSpPr>
          <p:cNvPr id="1151" name="Google Shape;1151;p9"/>
          <p:cNvSpPr txBox="1"/>
          <p:nvPr/>
        </p:nvSpPr>
        <p:spPr>
          <a:xfrm>
            <a:off x="7909560" y="6194145"/>
            <a:ext cx="18288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Insurance Agency</a:t>
            </a:r>
            <a:endParaRPr/>
          </a:p>
        </p:txBody>
      </p:sp>
      <p:sp>
        <p:nvSpPr>
          <p:cNvPr id="1152" name="Google Shape;1152;p9"/>
          <p:cNvSpPr txBox="1"/>
          <p:nvPr/>
        </p:nvSpPr>
        <p:spPr>
          <a:xfrm>
            <a:off x="973836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1153" name="Google Shape;1153;p9"/>
          <p:cNvSpPr txBox="1"/>
          <p:nvPr/>
        </p:nvSpPr>
        <p:spPr>
          <a:xfrm>
            <a:off x="1033272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154" name="Google Shape;1154;p9"/>
          <p:cNvSpPr txBox="1"/>
          <p:nvPr/>
        </p:nvSpPr>
        <p:spPr>
          <a:xfrm>
            <a:off x="10927080" y="6194145"/>
            <a:ext cx="59436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5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</p:txBody>
      </p:sp>
      <p:sp>
        <p:nvSpPr>
          <p:cNvPr id="1155" name="Google Shape;1155;p9"/>
          <p:cNvSpPr txBox="1"/>
          <p:nvPr/>
        </p:nvSpPr>
        <p:spPr>
          <a:xfrm>
            <a:off x="11521440" y="6194145"/>
            <a:ext cx="457200" cy="2103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5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▼</a:t>
            </a:r>
            <a:endParaRPr/>
          </a:p>
        </p:txBody>
      </p:sp>
      <p:sp>
        <p:nvSpPr>
          <p:cNvPr id="1156" name="Google Shape;1156;p9"/>
          <p:cNvSpPr txBox="1"/>
          <p:nvPr/>
        </p:nvSpPr>
        <p:spPr>
          <a:xfrm>
            <a:off x="274320" y="6510528"/>
            <a:ext cx="1170432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Source: Metabase  |  Agent = broker_contact_user_id on submission record  |  Hit ratio = binds / subs  |  MoM = month-over-month  |  4 subs had no agent mapped (broker_contact_user_id not set)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160" name="Shape 1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Google Shape;1161;p1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2" name="Google Shape;1162;p10"/>
          <p:cNvSpPr txBox="1"/>
          <p:nvPr/>
        </p:nvSpPr>
        <p:spPr>
          <a:xfrm>
            <a:off x="365760" y="73152"/>
            <a:ext cx="11430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Performers vs Underperformers</a:t>
            </a:r>
            <a:endParaRPr/>
          </a:p>
        </p:txBody>
      </p:sp>
      <p:sp>
        <p:nvSpPr>
          <p:cNvPr id="1163" name="Google Shape;1163;p1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Jan–May 2026  |  Standouts and agencies needing attention</a:t>
            </a:r>
            <a:endParaRPr/>
          </a:p>
        </p:txBody>
      </p:sp>
      <p:sp>
        <p:nvSpPr>
          <p:cNvPr id="1164" name="Google Shape;1164;p10"/>
          <p:cNvSpPr/>
          <p:nvPr/>
        </p:nvSpPr>
        <p:spPr>
          <a:xfrm>
            <a:off x="365760" y="914400"/>
            <a:ext cx="5486400" cy="329184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5" name="Google Shape;1165;p10"/>
          <p:cNvSpPr txBox="1"/>
          <p:nvPr/>
        </p:nvSpPr>
        <p:spPr>
          <a:xfrm>
            <a:off x="502920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EXCEEDING — Top 5</a:t>
            </a:r>
            <a:endParaRPr/>
          </a:p>
        </p:txBody>
      </p:sp>
      <p:sp>
        <p:nvSpPr>
          <p:cNvPr id="1166" name="Google Shape;1166;p10"/>
          <p:cNvSpPr/>
          <p:nvPr/>
        </p:nvSpPr>
        <p:spPr>
          <a:xfrm>
            <a:off x="6336792" y="914400"/>
            <a:ext cx="5486400" cy="329184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7" name="Google Shape;1167;p10"/>
          <p:cNvSpPr txBox="1"/>
          <p:nvPr/>
        </p:nvSpPr>
        <p:spPr>
          <a:xfrm>
            <a:off x="6473952" y="960120"/>
            <a:ext cx="52120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— Bottom 5</a:t>
            </a:r>
            <a:endParaRPr/>
          </a:p>
        </p:txBody>
      </p:sp>
      <p:sp>
        <p:nvSpPr>
          <p:cNvPr id="1168" name="Google Shape;1168;p10"/>
          <p:cNvSpPr/>
          <p:nvPr/>
        </p:nvSpPr>
        <p:spPr>
          <a:xfrm>
            <a:off x="411480" y="137160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69" name="Google Shape;1169;p10"/>
          <p:cNvSpPr txBox="1"/>
          <p:nvPr/>
        </p:nvSpPr>
        <p:spPr>
          <a:xfrm>
            <a:off x="868680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1170" name="Google Shape;1170;p10"/>
          <p:cNvSpPr txBox="1"/>
          <p:nvPr/>
        </p:nvSpPr>
        <p:spPr>
          <a:xfrm>
            <a:off x="868680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$7,691,769  |  Subs 3091  |  Binds 250  |  HR 8.1%</a:t>
            </a:r>
            <a:endParaRPr/>
          </a:p>
        </p:txBody>
      </p:sp>
      <p:sp>
        <p:nvSpPr>
          <p:cNvPr id="1171" name="Google Shape;1171;p10"/>
          <p:cNvSpPr txBox="1"/>
          <p:nvPr/>
        </p:nvSpPr>
        <p:spPr>
          <a:xfrm>
            <a:off x="868680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8.1% (portfolio avg: 4.7%)  |  $7,691,769 YTD GWP</a:t>
            </a:r>
            <a:endParaRPr/>
          </a:p>
        </p:txBody>
      </p:sp>
      <p:sp>
        <p:nvSpPr>
          <p:cNvPr id="1172" name="Google Shape;1172;p10"/>
          <p:cNvSpPr/>
          <p:nvPr/>
        </p:nvSpPr>
        <p:spPr>
          <a:xfrm>
            <a:off x="411480" y="237744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73" name="Google Shape;1173;p10"/>
          <p:cNvSpPr txBox="1"/>
          <p:nvPr/>
        </p:nvSpPr>
        <p:spPr>
          <a:xfrm>
            <a:off x="868680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174" name="Google Shape;1174;p10"/>
          <p:cNvSpPr txBox="1"/>
          <p:nvPr/>
        </p:nvSpPr>
        <p:spPr>
          <a:xfrm>
            <a:off x="868680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$2,760,663  |  Subs 5399  |  Binds 123  |  HR 2.3%</a:t>
            </a:r>
            <a:endParaRPr/>
          </a:p>
        </p:txBody>
      </p:sp>
      <p:sp>
        <p:nvSpPr>
          <p:cNvPr id="1175" name="Google Shape;1175;p10"/>
          <p:cNvSpPr txBox="1"/>
          <p:nvPr/>
        </p:nvSpPr>
        <p:spPr>
          <a:xfrm>
            <a:off x="868680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$2,760,663 YTD GWP  |  123 binds in Q1</a:t>
            </a:r>
            <a:endParaRPr/>
          </a:p>
        </p:txBody>
      </p:sp>
      <p:sp>
        <p:nvSpPr>
          <p:cNvPr id="1176" name="Google Shape;1176;p10"/>
          <p:cNvSpPr/>
          <p:nvPr/>
        </p:nvSpPr>
        <p:spPr>
          <a:xfrm>
            <a:off x="411480" y="338328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77" name="Google Shape;1177;p10"/>
          <p:cNvSpPr txBox="1"/>
          <p:nvPr/>
        </p:nvSpPr>
        <p:spPr>
          <a:xfrm>
            <a:off x="868680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178" name="Google Shape;1178;p10"/>
          <p:cNvSpPr txBox="1"/>
          <p:nvPr/>
        </p:nvSpPr>
        <p:spPr>
          <a:xfrm>
            <a:off x="868680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$2,264,531  |  Subs 515  |  Binds 80  |  HR 15.5%</a:t>
            </a:r>
            <a:endParaRPr/>
          </a:p>
        </p:txBody>
      </p:sp>
      <p:sp>
        <p:nvSpPr>
          <p:cNvPr id="1179" name="Google Shape;1179;p10"/>
          <p:cNvSpPr txBox="1"/>
          <p:nvPr/>
        </p:nvSpPr>
        <p:spPr>
          <a:xfrm>
            <a:off x="868680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15.5% (portfolio avg: 4.7%)  |  $2,264,531 YTD GWP</a:t>
            </a:r>
            <a:endParaRPr/>
          </a:p>
        </p:txBody>
      </p:sp>
      <p:sp>
        <p:nvSpPr>
          <p:cNvPr id="1180" name="Google Shape;1180;p10"/>
          <p:cNvSpPr/>
          <p:nvPr/>
        </p:nvSpPr>
        <p:spPr>
          <a:xfrm>
            <a:off x="411480" y="438912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181" name="Google Shape;1181;p10"/>
          <p:cNvSpPr txBox="1"/>
          <p:nvPr/>
        </p:nvSpPr>
        <p:spPr>
          <a:xfrm>
            <a:off x="868680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 Inc</a:t>
            </a:r>
            <a:endParaRPr/>
          </a:p>
        </p:txBody>
      </p:sp>
      <p:sp>
        <p:nvSpPr>
          <p:cNvPr id="1182" name="Google Shape;1182;p10"/>
          <p:cNvSpPr txBox="1"/>
          <p:nvPr/>
        </p:nvSpPr>
        <p:spPr>
          <a:xfrm>
            <a:off x="868680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$1,419,489  |  Subs 1461  |  Binds 49  |  HR 3.4%</a:t>
            </a:r>
            <a:endParaRPr/>
          </a:p>
        </p:txBody>
      </p:sp>
      <p:sp>
        <p:nvSpPr>
          <p:cNvPr id="1183" name="Google Shape;1183;p10"/>
          <p:cNvSpPr txBox="1"/>
          <p:nvPr/>
        </p:nvSpPr>
        <p:spPr>
          <a:xfrm>
            <a:off x="868680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$1,419,489 YTD GWP  |  49 binds in Q1</a:t>
            </a:r>
            <a:endParaRPr/>
          </a:p>
        </p:txBody>
      </p:sp>
      <p:sp>
        <p:nvSpPr>
          <p:cNvPr id="1184" name="Google Shape;1184;p10"/>
          <p:cNvSpPr/>
          <p:nvPr/>
        </p:nvSpPr>
        <p:spPr>
          <a:xfrm>
            <a:off x="411480" y="5394960"/>
            <a:ext cx="365760" cy="365760"/>
          </a:xfrm>
          <a:prstGeom prst="rect">
            <a:avLst/>
          </a:prstGeom>
          <a:solidFill>
            <a:srgbClr val="05966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185" name="Google Shape;1185;p10"/>
          <p:cNvSpPr txBox="1"/>
          <p:nvPr/>
        </p:nvSpPr>
        <p:spPr>
          <a:xfrm>
            <a:off x="868680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186" name="Google Shape;1186;p10"/>
          <p:cNvSpPr txBox="1"/>
          <p:nvPr/>
        </p:nvSpPr>
        <p:spPr>
          <a:xfrm>
            <a:off x="868680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$851,003  |  Subs 787  |  Binds 18  |  HR 2.3%</a:t>
            </a:r>
            <a:endParaRPr/>
          </a:p>
        </p:txBody>
      </p:sp>
      <p:sp>
        <p:nvSpPr>
          <p:cNvPr id="1187" name="Google Shape;1187;p10"/>
          <p:cNvSpPr txBox="1"/>
          <p:nvPr/>
        </p:nvSpPr>
        <p:spPr>
          <a:xfrm>
            <a:off x="868680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$851,003 YTD GWP  |  18 binds in Q1</a:t>
            </a:r>
            <a:endParaRPr/>
          </a:p>
        </p:txBody>
      </p:sp>
      <p:sp>
        <p:nvSpPr>
          <p:cNvPr id="1188" name="Google Shape;1188;p10"/>
          <p:cNvSpPr/>
          <p:nvPr/>
        </p:nvSpPr>
        <p:spPr>
          <a:xfrm>
            <a:off x="6382512" y="137160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189" name="Google Shape;1189;p10"/>
          <p:cNvSpPr txBox="1"/>
          <p:nvPr/>
        </p:nvSpPr>
        <p:spPr>
          <a:xfrm>
            <a:off x="6839712" y="135331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COASTAL TRUCKING INSURANCE LLC</a:t>
            </a:r>
            <a:endParaRPr/>
          </a:p>
        </p:txBody>
      </p:sp>
      <p:sp>
        <p:nvSpPr>
          <p:cNvPr id="1190" name="Google Shape;1190;p10"/>
          <p:cNvSpPr txBox="1"/>
          <p:nvPr/>
        </p:nvSpPr>
        <p:spPr>
          <a:xfrm>
            <a:off x="6839712" y="155448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$43,119  |  Subs 289  |  Binds 4  |  HR 1.4%</a:t>
            </a:r>
            <a:endParaRPr/>
          </a:p>
        </p:txBody>
      </p:sp>
      <p:sp>
        <p:nvSpPr>
          <p:cNvPr id="1191" name="Google Shape;1191;p10"/>
          <p:cNvSpPr txBox="1"/>
          <p:nvPr/>
        </p:nvSpPr>
        <p:spPr>
          <a:xfrm>
            <a:off x="6839712" y="179222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1.4% on 289 subs  |  Cancellations are 157% of new business ($43,323 vs $27,571)</a:t>
            </a:r>
            <a:endParaRPr/>
          </a:p>
        </p:txBody>
      </p:sp>
      <p:sp>
        <p:nvSpPr>
          <p:cNvPr id="1192" name="Google Shape;1192;p10"/>
          <p:cNvSpPr/>
          <p:nvPr/>
        </p:nvSpPr>
        <p:spPr>
          <a:xfrm>
            <a:off x="6382512" y="237744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193" name="Google Shape;1193;p10"/>
          <p:cNvSpPr txBox="1"/>
          <p:nvPr/>
        </p:nvSpPr>
        <p:spPr>
          <a:xfrm>
            <a:off x="6839712" y="235915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Interglobal Insurance Company</a:t>
            </a:r>
            <a:endParaRPr/>
          </a:p>
        </p:txBody>
      </p:sp>
      <p:sp>
        <p:nvSpPr>
          <p:cNvPr id="1194" name="Google Shape;1194;p10"/>
          <p:cNvSpPr txBox="1"/>
          <p:nvPr/>
        </p:nvSpPr>
        <p:spPr>
          <a:xfrm>
            <a:off x="6839712" y="256032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$915  |  Subs 185  |  Binds 1  |  HR 0.5%</a:t>
            </a:r>
            <a:endParaRPr/>
          </a:p>
        </p:txBody>
      </p:sp>
      <p:sp>
        <p:nvSpPr>
          <p:cNvPr id="1195" name="Google Shape;1195;p10"/>
          <p:cNvSpPr txBox="1"/>
          <p:nvPr/>
        </p:nvSpPr>
        <p:spPr>
          <a:xfrm>
            <a:off x="6839712" y="279806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0.5% on 185 subs</a:t>
            </a:r>
            <a:endParaRPr/>
          </a:p>
        </p:txBody>
      </p:sp>
      <p:sp>
        <p:nvSpPr>
          <p:cNvPr id="1196" name="Google Shape;1196;p10"/>
          <p:cNvSpPr/>
          <p:nvPr/>
        </p:nvSpPr>
        <p:spPr>
          <a:xfrm>
            <a:off x="6382512" y="338328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197" name="Google Shape;1197;p10"/>
          <p:cNvSpPr txBox="1"/>
          <p:nvPr/>
        </p:nvSpPr>
        <p:spPr>
          <a:xfrm>
            <a:off x="6839712" y="336499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Durham Specialty Insurance LLC</a:t>
            </a:r>
            <a:endParaRPr/>
          </a:p>
        </p:txBody>
      </p:sp>
      <p:sp>
        <p:nvSpPr>
          <p:cNvPr id="1198" name="Google Shape;1198;p10"/>
          <p:cNvSpPr txBox="1"/>
          <p:nvPr/>
        </p:nvSpPr>
        <p:spPr>
          <a:xfrm>
            <a:off x="6839712" y="356616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$9,109  |  Subs 19  |  Binds 0  |  HR 0.0%</a:t>
            </a:r>
            <a:endParaRPr/>
          </a:p>
        </p:txBody>
      </p:sp>
      <p:sp>
        <p:nvSpPr>
          <p:cNvPr id="1199" name="Google Shape;1199;p10"/>
          <p:cNvSpPr txBox="1"/>
          <p:nvPr/>
        </p:nvSpPr>
        <p:spPr>
          <a:xfrm>
            <a:off x="6839712" y="380390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 submissions with 0 binds - zero conversion  |  15 quotes generated but 0 converted to binds</a:t>
            </a:r>
            <a:endParaRPr/>
          </a:p>
        </p:txBody>
      </p:sp>
      <p:sp>
        <p:nvSpPr>
          <p:cNvPr id="1200" name="Google Shape;1200;p10"/>
          <p:cNvSpPr/>
          <p:nvPr/>
        </p:nvSpPr>
        <p:spPr>
          <a:xfrm>
            <a:off x="6382512" y="438912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201" name="Google Shape;1201;p10"/>
          <p:cNvSpPr txBox="1"/>
          <p:nvPr/>
        </p:nvSpPr>
        <p:spPr>
          <a:xfrm>
            <a:off x="6839712" y="437083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1202" name="Google Shape;1202;p10"/>
          <p:cNvSpPr txBox="1"/>
          <p:nvPr/>
        </p:nvSpPr>
        <p:spPr>
          <a:xfrm>
            <a:off x="6839712" y="457200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$351,233  |  Subs 168  |  Binds 19  |  HR 11.3%</a:t>
            </a:r>
            <a:endParaRPr/>
          </a:p>
        </p:txBody>
      </p:sp>
      <p:sp>
        <p:nvSpPr>
          <p:cNvPr id="1203" name="Google Shape;1203;p10"/>
          <p:cNvSpPr txBox="1"/>
          <p:nvPr/>
        </p:nvSpPr>
        <p:spPr>
          <a:xfrm>
            <a:off x="6839712" y="480974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are 317% of new business ($261,730 vs $82,561)</a:t>
            </a:r>
            <a:endParaRPr/>
          </a:p>
        </p:txBody>
      </p:sp>
      <p:sp>
        <p:nvSpPr>
          <p:cNvPr id="1204" name="Google Shape;1204;p10"/>
          <p:cNvSpPr/>
          <p:nvPr/>
        </p:nvSpPr>
        <p:spPr>
          <a:xfrm>
            <a:off x="6382512" y="5394960"/>
            <a:ext cx="365760" cy="365760"/>
          </a:xfrm>
          <a:prstGeom prst="rect">
            <a:avLst/>
          </a:prstGeom>
          <a:solidFill>
            <a:srgbClr val="EF444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205" name="Google Shape;1205;p10"/>
          <p:cNvSpPr txBox="1"/>
          <p:nvPr/>
        </p:nvSpPr>
        <p:spPr>
          <a:xfrm>
            <a:off x="6839712" y="5376672"/>
            <a:ext cx="493776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1206" name="Google Shape;1206;p10"/>
          <p:cNvSpPr txBox="1"/>
          <p:nvPr/>
        </p:nvSpPr>
        <p:spPr>
          <a:xfrm>
            <a:off x="6839712" y="5577840"/>
            <a:ext cx="49377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 $168,923  |  Subs 269  |  Binds 4  |  HR 1.5%</a:t>
            </a:r>
            <a:endParaRPr/>
          </a:p>
        </p:txBody>
      </p:sp>
      <p:sp>
        <p:nvSpPr>
          <p:cNvPr id="1207" name="Google Shape;1207;p10"/>
          <p:cNvSpPr txBox="1"/>
          <p:nvPr/>
        </p:nvSpPr>
        <p:spPr>
          <a:xfrm>
            <a:off x="6839712" y="5815584"/>
            <a:ext cx="49377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 only 1.5% on 269 subs  |  New business dropped sharply MoM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11" name="Shape 1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Google Shape;1212;p1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3" name="Google Shape;1213;p11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Agencies I Appointed — Ron Douglas</a:t>
            </a:r>
            <a:endParaRPr/>
          </a:p>
        </p:txBody>
      </p:sp>
      <p:sp>
        <p:nvSpPr>
          <p:cNvPr id="1214" name="Google Shape;1214;p1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progress  |  Q2 goal: 4 new producing agencies  |  Source: HubSpot Net New Agency / Activated Won</a:t>
            </a:r>
            <a:endParaRPr/>
          </a:p>
        </p:txBody>
      </p:sp>
      <p:sp>
        <p:nvSpPr>
          <p:cNvPr id="1215" name="Google Shape;1215;p11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of 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Q2 OKR 4 PROGRESS</a:t>
            </a:r>
            <a:endParaRPr/>
          </a:p>
        </p:txBody>
      </p:sp>
      <p:sp>
        <p:nvSpPr>
          <p:cNvPr id="1216" name="Google Shape;1216;p11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YTD</a:t>
            </a:r>
            <a:endParaRPr/>
          </a:p>
        </p:txBody>
      </p:sp>
      <p:sp>
        <p:nvSpPr>
          <p:cNvPr id="1217" name="Google Shape;1217;p11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SUB</a:t>
            </a:r>
            <a:endParaRPr/>
          </a:p>
        </p:txBody>
      </p:sp>
      <p:sp>
        <p:nvSpPr>
          <p:cNvPr id="1218" name="Google Shape;1218;p11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AVG TIME TO 1ST BIND</a:t>
            </a:r>
            <a:endParaRPr/>
          </a:p>
        </p:txBody>
      </p:sp>
      <p:sp>
        <p:nvSpPr>
          <p:cNvPr id="1219" name="Google Shape;1219;p11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SUBS POST-APPT</a:t>
            </a:r>
            <a:endParaRPr/>
          </a:p>
        </p:txBody>
      </p:sp>
      <p:sp>
        <p:nvSpPr>
          <p:cNvPr id="1220" name="Google Shape;1220;p11"/>
          <p:cNvSpPr txBox="1"/>
          <p:nvPr/>
        </p:nvSpPr>
        <p:spPr>
          <a:xfrm>
            <a:off x="457200" y="1920240"/>
            <a:ext cx="11430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Activation: 0/5 appointed agencies have submitted (0%)  •  0/5 have bound (0%)  •  Total bound: 0  •  Total GWP: $0</a:t>
            </a:r>
            <a:endParaRPr/>
          </a:p>
        </p:txBody>
      </p:sp>
      <p:sp>
        <p:nvSpPr>
          <p:cNvPr id="1221" name="Google Shape;1221;p11"/>
          <p:cNvSpPr/>
          <p:nvPr/>
        </p:nvSpPr>
        <p:spPr>
          <a:xfrm>
            <a:off x="365760" y="2240280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2" name="Google Shape;1222;p11"/>
          <p:cNvSpPr txBox="1"/>
          <p:nvPr/>
        </p:nvSpPr>
        <p:spPr>
          <a:xfrm>
            <a:off x="475488" y="2276856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 AGENCIES (newest first)</a:t>
            </a:r>
            <a:endParaRPr/>
          </a:p>
        </p:txBody>
      </p:sp>
      <p:sp>
        <p:nvSpPr>
          <p:cNvPr id="1223" name="Google Shape;1223;p11"/>
          <p:cNvSpPr txBox="1"/>
          <p:nvPr/>
        </p:nvSpPr>
        <p:spPr>
          <a:xfrm>
            <a:off x="365760" y="2606040"/>
            <a:ext cx="3291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224" name="Google Shape;1224;p11"/>
          <p:cNvSpPr txBox="1"/>
          <p:nvPr/>
        </p:nvSpPr>
        <p:spPr>
          <a:xfrm>
            <a:off x="3657600" y="260604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Appointed</a:t>
            </a:r>
            <a:endParaRPr/>
          </a:p>
        </p:txBody>
      </p:sp>
      <p:sp>
        <p:nvSpPr>
          <p:cNvPr id="1225" name="Google Shape;1225;p11"/>
          <p:cNvSpPr txBox="1"/>
          <p:nvPr/>
        </p:nvSpPr>
        <p:spPr>
          <a:xfrm>
            <a:off x="475488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226" name="Google Shape;1226;p11"/>
          <p:cNvSpPr txBox="1"/>
          <p:nvPr/>
        </p:nvSpPr>
        <p:spPr>
          <a:xfrm>
            <a:off x="5623560" y="2606040"/>
            <a:ext cx="12801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Sub</a:t>
            </a:r>
            <a:endParaRPr/>
          </a:p>
        </p:txBody>
      </p:sp>
      <p:sp>
        <p:nvSpPr>
          <p:cNvPr id="1227" name="Google Shape;1227;p11"/>
          <p:cNvSpPr txBox="1"/>
          <p:nvPr/>
        </p:nvSpPr>
        <p:spPr>
          <a:xfrm>
            <a:off x="6903720" y="2606040"/>
            <a:ext cx="8686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228" name="Google Shape;1228;p11"/>
          <p:cNvSpPr txBox="1"/>
          <p:nvPr/>
        </p:nvSpPr>
        <p:spPr>
          <a:xfrm>
            <a:off x="77724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 to 1st Bind</a:t>
            </a:r>
            <a:endParaRPr/>
          </a:p>
        </p:txBody>
      </p:sp>
      <p:sp>
        <p:nvSpPr>
          <p:cNvPr id="1229" name="Google Shape;1229;p11"/>
          <p:cNvSpPr txBox="1"/>
          <p:nvPr/>
        </p:nvSpPr>
        <p:spPr>
          <a:xfrm>
            <a:off x="914400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230" name="Google Shape;1230;p11"/>
          <p:cNvSpPr/>
          <p:nvPr/>
        </p:nvSpPr>
        <p:spPr>
          <a:xfrm>
            <a:off x="365760" y="2880360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1" name="Google Shape;1231;p11"/>
          <p:cNvSpPr txBox="1"/>
          <p:nvPr/>
        </p:nvSpPr>
        <p:spPr>
          <a:xfrm>
            <a:off x="365760" y="2916936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Classic Truck Insurance</a:t>
            </a:r>
            <a:endParaRPr/>
          </a:p>
        </p:txBody>
      </p:sp>
      <p:sp>
        <p:nvSpPr>
          <p:cNvPr id="1232" name="Google Shape;1232;p11"/>
          <p:cNvSpPr txBox="1"/>
          <p:nvPr/>
        </p:nvSpPr>
        <p:spPr>
          <a:xfrm>
            <a:off x="3657600" y="2916936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2026-05-21</a:t>
            </a:r>
            <a:endParaRPr/>
          </a:p>
        </p:txBody>
      </p:sp>
      <p:sp>
        <p:nvSpPr>
          <p:cNvPr id="1233" name="Google Shape;1233;p11"/>
          <p:cNvSpPr txBox="1"/>
          <p:nvPr/>
        </p:nvSpPr>
        <p:spPr>
          <a:xfrm>
            <a:off x="475488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4" name="Google Shape;1234;p11"/>
          <p:cNvSpPr txBox="1"/>
          <p:nvPr/>
        </p:nvSpPr>
        <p:spPr>
          <a:xfrm>
            <a:off x="5623560" y="2916936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5" name="Google Shape;1235;p11"/>
          <p:cNvSpPr txBox="1"/>
          <p:nvPr/>
        </p:nvSpPr>
        <p:spPr>
          <a:xfrm>
            <a:off x="6903720" y="2916936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36" name="Google Shape;1236;p11"/>
          <p:cNvSpPr txBox="1"/>
          <p:nvPr/>
        </p:nvSpPr>
        <p:spPr>
          <a:xfrm>
            <a:off x="77724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7" name="Google Shape;1237;p11"/>
          <p:cNvSpPr txBox="1"/>
          <p:nvPr/>
        </p:nvSpPr>
        <p:spPr>
          <a:xfrm>
            <a:off x="9144000" y="2916936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38" name="Google Shape;1238;p11"/>
          <p:cNvSpPr txBox="1"/>
          <p:nvPr/>
        </p:nvSpPr>
        <p:spPr>
          <a:xfrm>
            <a:off x="365760" y="3227832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Deal created/pending paperwork - The Associate</a:t>
            </a:r>
            <a:endParaRPr/>
          </a:p>
        </p:txBody>
      </p:sp>
      <p:sp>
        <p:nvSpPr>
          <p:cNvPr id="1239" name="Google Shape;1239;p11"/>
          <p:cNvSpPr txBox="1"/>
          <p:nvPr/>
        </p:nvSpPr>
        <p:spPr>
          <a:xfrm>
            <a:off x="3657600" y="3227832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2026-04-23</a:t>
            </a:r>
            <a:endParaRPr/>
          </a:p>
        </p:txBody>
      </p:sp>
      <p:sp>
        <p:nvSpPr>
          <p:cNvPr id="1240" name="Google Shape;1240;p11"/>
          <p:cNvSpPr txBox="1"/>
          <p:nvPr/>
        </p:nvSpPr>
        <p:spPr>
          <a:xfrm>
            <a:off x="475488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1" name="Google Shape;1241;p11"/>
          <p:cNvSpPr txBox="1"/>
          <p:nvPr/>
        </p:nvSpPr>
        <p:spPr>
          <a:xfrm>
            <a:off x="5623560" y="3227832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2" name="Google Shape;1242;p11"/>
          <p:cNvSpPr txBox="1"/>
          <p:nvPr/>
        </p:nvSpPr>
        <p:spPr>
          <a:xfrm>
            <a:off x="6903720" y="3227832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3" name="Google Shape;1243;p11"/>
          <p:cNvSpPr txBox="1"/>
          <p:nvPr/>
        </p:nvSpPr>
        <p:spPr>
          <a:xfrm>
            <a:off x="77724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4" name="Google Shape;1244;p11"/>
          <p:cNvSpPr txBox="1"/>
          <p:nvPr/>
        </p:nvSpPr>
        <p:spPr>
          <a:xfrm>
            <a:off x="9144000" y="3227832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45" name="Google Shape;1245;p11"/>
          <p:cNvSpPr/>
          <p:nvPr/>
        </p:nvSpPr>
        <p:spPr>
          <a:xfrm>
            <a:off x="365760" y="3502151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6" name="Google Shape;1246;p11"/>
          <p:cNvSpPr txBox="1"/>
          <p:nvPr/>
        </p:nvSpPr>
        <p:spPr>
          <a:xfrm>
            <a:off x="365760" y="3538727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deal received - 10K Insurance Services Inc</a:t>
            </a:r>
            <a:endParaRPr/>
          </a:p>
        </p:txBody>
      </p:sp>
      <p:sp>
        <p:nvSpPr>
          <p:cNvPr id="1247" name="Google Shape;1247;p11"/>
          <p:cNvSpPr txBox="1"/>
          <p:nvPr/>
        </p:nvSpPr>
        <p:spPr>
          <a:xfrm>
            <a:off x="3657600" y="35387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2026-04-17</a:t>
            </a:r>
            <a:endParaRPr/>
          </a:p>
        </p:txBody>
      </p:sp>
      <p:sp>
        <p:nvSpPr>
          <p:cNvPr id="1248" name="Google Shape;1248;p11"/>
          <p:cNvSpPr txBox="1"/>
          <p:nvPr/>
        </p:nvSpPr>
        <p:spPr>
          <a:xfrm>
            <a:off x="475488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49" name="Google Shape;1249;p11"/>
          <p:cNvSpPr txBox="1"/>
          <p:nvPr/>
        </p:nvSpPr>
        <p:spPr>
          <a:xfrm>
            <a:off x="5623560" y="3538727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0" name="Google Shape;1250;p11"/>
          <p:cNvSpPr txBox="1"/>
          <p:nvPr/>
        </p:nvSpPr>
        <p:spPr>
          <a:xfrm>
            <a:off x="6903720" y="3538727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1" name="Google Shape;1251;p11"/>
          <p:cNvSpPr txBox="1"/>
          <p:nvPr/>
        </p:nvSpPr>
        <p:spPr>
          <a:xfrm>
            <a:off x="77724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2" name="Google Shape;1252;p11"/>
          <p:cNvSpPr txBox="1"/>
          <p:nvPr/>
        </p:nvSpPr>
        <p:spPr>
          <a:xfrm>
            <a:off x="9144000" y="3538727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3" name="Google Shape;1253;p11"/>
          <p:cNvSpPr txBox="1"/>
          <p:nvPr/>
        </p:nvSpPr>
        <p:spPr>
          <a:xfrm>
            <a:off x="365760" y="3849624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Alvix Insurance Group</a:t>
            </a:r>
            <a:endParaRPr/>
          </a:p>
        </p:txBody>
      </p:sp>
      <p:sp>
        <p:nvSpPr>
          <p:cNvPr id="1254" name="Google Shape;1254;p11"/>
          <p:cNvSpPr txBox="1"/>
          <p:nvPr/>
        </p:nvSpPr>
        <p:spPr>
          <a:xfrm>
            <a:off x="3657600" y="384962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2026-04-15</a:t>
            </a:r>
            <a:endParaRPr/>
          </a:p>
        </p:txBody>
      </p:sp>
      <p:sp>
        <p:nvSpPr>
          <p:cNvPr id="1255" name="Google Shape;1255;p11"/>
          <p:cNvSpPr txBox="1"/>
          <p:nvPr/>
        </p:nvSpPr>
        <p:spPr>
          <a:xfrm>
            <a:off x="475488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6" name="Google Shape;1256;p11"/>
          <p:cNvSpPr txBox="1"/>
          <p:nvPr/>
        </p:nvSpPr>
        <p:spPr>
          <a:xfrm>
            <a:off x="5623560" y="3849624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7" name="Google Shape;1257;p11"/>
          <p:cNvSpPr txBox="1"/>
          <p:nvPr/>
        </p:nvSpPr>
        <p:spPr>
          <a:xfrm>
            <a:off x="6903720" y="3849624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58" name="Google Shape;1258;p11"/>
          <p:cNvSpPr txBox="1"/>
          <p:nvPr/>
        </p:nvSpPr>
        <p:spPr>
          <a:xfrm>
            <a:off x="77724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59" name="Google Shape;1259;p11"/>
          <p:cNvSpPr txBox="1"/>
          <p:nvPr/>
        </p:nvSpPr>
        <p:spPr>
          <a:xfrm>
            <a:off x="9144000" y="3849624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0" name="Google Shape;1260;p11"/>
          <p:cNvSpPr/>
          <p:nvPr/>
        </p:nvSpPr>
        <p:spPr>
          <a:xfrm>
            <a:off x="365760" y="4123944"/>
            <a:ext cx="1014984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1" name="Google Shape;1261;p11"/>
          <p:cNvSpPr txBox="1"/>
          <p:nvPr/>
        </p:nvSpPr>
        <p:spPr>
          <a:xfrm>
            <a:off x="365760" y="4160520"/>
            <a:ext cx="3291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Salter Insurance Agency</a:t>
            </a:r>
            <a:endParaRPr/>
          </a:p>
        </p:txBody>
      </p:sp>
      <p:sp>
        <p:nvSpPr>
          <p:cNvPr id="1262" name="Google Shape;1262;p11"/>
          <p:cNvSpPr txBox="1"/>
          <p:nvPr/>
        </p:nvSpPr>
        <p:spPr>
          <a:xfrm>
            <a:off x="3657600" y="4160520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2026-03-19</a:t>
            </a:r>
            <a:endParaRPr/>
          </a:p>
        </p:txBody>
      </p:sp>
      <p:sp>
        <p:nvSpPr>
          <p:cNvPr id="1263" name="Google Shape;1263;p11"/>
          <p:cNvSpPr txBox="1"/>
          <p:nvPr/>
        </p:nvSpPr>
        <p:spPr>
          <a:xfrm>
            <a:off x="4754880" y="416052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4" name="Google Shape;1264;p11"/>
          <p:cNvSpPr txBox="1"/>
          <p:nvPr/>
        </p:nvSpPr>
        <p:spPr>
          <a:xfrm>
            <a:off x="5623560" y="4160520"/>
            <a:ext cx="12801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5" name="Google Shape;1265;p11"/>
          <p:cNvSpPr txBox="1"/>
          <p:nvPr/>
        </p:nvSpPr>
        <p:spPr>
          <a:xfrm>
            <a:off x="6903720" y="4160520"/>
            <a:ext cx="8686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1266" name="Google Shape;1266;p11"/>
          <p:cNvSpPr txBox="1"/>
          <p:nvPr/>
        </p:nvSpPr>
        <p:spPr>
          <a:xfrm>
            <a:off x="7772400" y="41605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7" name="Google Shape;1267;p11"/>
          <p:cNvSpPr txBox="1"/>
          <p:nvPr/>
        </p:nvSpPr>
        <p:spPr>
          <a:xfrm>
            <a:off x="9144000" y="4160520"/>
            <a:ext cx="1371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—</a:t>
            </a:r>
            <a:endParaRPr/>
          </a:p>
        </p:txBody>
      </p:sp>
      <p:sp>
        <p:nvSpPr>
          <p:cNvPr id="1268" name="Google Shape;1268;p11"/>
          <p:cNvSpPr txBox="1"/>
          <p:nvPr/>
        </p:nvSpPr>
        <p:spPr>
          <a:xfrm>
            <a:off x="365760" y="6492240"/>
            <a:ext cx="1143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OKR 4 source: HubSpot Net New Agency Prospect Pipeline · Activated Won stage · only 'Appointed - ' prefix deals count (matches BD Rep Scoreboard). BDMs scored on count vs goal of 4/quarter.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72" name="Shape 1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3" name="Google Shape;1273;p1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4" name="Google Shape;1274;p1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Assessment &amp; Priorities</a:t>
            </a:r>
            <a:endParaRPr/>
          </a:p>
        </p:txBody>
      </p:sp>
      <p:sp>
        <p:nvSpPr>
          <p:cNvPr id="1275" name="Google Shape;1275;p1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Portfolio  |  Jan–May 2026  |  Strengths, gaps, and ranked action items</a:t>
            </a:r>
            <a:endParaRPr/>
          </a:p>
        </p:txBody>
      </p:sp>
      <p:sp>
        <p:nvSpPr>
          <p:cNvPr id="1276" name="Google Shape;1276;p12"/>
          <p:cNvSpPr/>
          <p:nvPr/>
        </p:nvSpPr>
        <p:spPr>
          <a:xfrm>
            <a:off x="365760" y="914400"/>
            <a:ext cx="5486400" cy="365760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7" name="Google Shape;1277;p12"/>
          <p:cNvSpPr txBox="1"/>
          <p:nvPr/>
        </p:nvSpPr>
        <p:spPr>
          <a:xfrm>
            <a:off x="50292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278" name="Google Shape;1278;p12"/>
          <p:cNvSpPr txBox="1"/>
          <p:nvPr/>
        </p:nvSpPr>
        <p:spPr>
          <a:xfrm>
            <a:off x="457200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79" name="Google Shape;1279;p12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(Usa Specialty Insurance/d, Insurance4truckers Llc, Valion Security Llc) drive $12,716,963 (69%) of portfolio YTD GWP</a:t>
            </a:r>
            <a:endParaRPr/>
          </a:p>
        </p:txBody>
      </p:sp>
      <p:sp>
        <p:nvSpPr>
          <p:cNvPr id="1280" name="Google Shape;1280;p12"/>
          <p:cNvSpPr txBox="1"/>
          <p:nvPr/>
        </p:nvSpPr>
        <p:spPr>
          <a:xfrm>
            <a:off x="457200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81" name="Google Shape;1281;p12"/>
          <p:cNvSpPr txBox="1"/>
          <p:nvPr/>
        </p:nvSpPr>
        <p:spPr>
          <a:xfrm>
            <a:off x="64008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hit ratios: Ameritrans Risk Solu (22.2%), Lynne Ernest Insuran (21.7%), Eagle Insurance Agen (19.4%)</a:t>
            </a:r>
            <a:endParaRPr/>
          </a:p>
        </p:txBody>
      </p:sp>
      <p:sp>
        <p:nvSpPr>
          <p:cNvPr id="1282" name="Google Shape;1282;p12"/>
          <p:cNvSpPr txBox="1"/>
          <p:nvPr/>
        </p:nvSpPr>
        <p:spPr>
          <a:xfrm>
            <a:off x="457200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83" name="Google Shape;1283;p12"/>
          <p:cNvSpPr txBox="1"/>
          <p:nvPr/>
        </p:nvSpPr>
        <p:spPr>
          <a:xfrm>
            <a:off x="64008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 agencies converting submissions to bound business in Jan–May 2026</a:t>
            </a:r>
            <a:endParaRPr/>
          </a:p>
        </p:txBody>
      </p:sp>
      <p:sp>
        <p:nvSpPr>
          <p:cNvPr id="1284" name="Google Shape;1284;p12"/>
          <p:cNvSpPr txBox="1"/>
          <p:nvPr/>
        </p:nvSpPr>
        <p:spPr>
          <a:xfrm>
            <a:off x="457200" y="2304288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285" name="Google Shape;1285;p12"/>
          <p:cNvSpPr txBox="1"/>
          <p:nvPr/>
        </p:nvSpPr>
        <p:spPr>
          <a:xfrm>
            <a:off x="640080" y="230428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14,356 total submissions across 34 active agencies</a:t>
            </a:r>
            <a:endParaRPr/>
          </a:p>
        </p:txBody>
      </p:sp>
      <p:sp>
        <p:nvSpPr>
          <p:cNvPr id="1286" name="Google Shape;1286;p12"/>
          <p:cNvSpPr/>
          <p:nvPr/>
        </p:nvSpPr>
        <p:spPr>
          <a:xfrm>
            <a:off x="6217920" y="914400"/>
            <a:ext cx="5486400" cy="365760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7" name="Google Shape;1287;p12"/>
          <p:cNvSpPr txBox="1"/>
          <p:nvPr/>
        </p:nvSpPr>
        <p:spPr>
          <a:xfrm>
            <a:off x="6355080" y="960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 - Areas for Improvement</a:t>
            </a:r>
            <a:endParaRPr/>
          </a:p>
        </p:txBody>
      </p:sp>
      <p:sp>
        <p:nvSpPr>
          <p:cNvPr id="1288" name="Google Shape;1288;p12"/>
          <p:cNvSpPr txBox="1"/>
          <p:nvPr/>
        </p:nvSpPr>
        <p:spPr>
          <a:xfrm>
            <a:off x="6309359" y="1371600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89" name="Google Shape;1289;p12"/>
          <p:cNvSpPr txBox="1"/>
          <p:nvPr/>
        </p:nvSpPr>
        <p:spPr>
          <a:xfrm>
            <a:off x="6492240" y="1371600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agencies submitting but 0 binds (33 subs): Durham Specialty Ins (19), The Risk Management  (14)</a:t>
            </a:r>
            <a:endParaRPr/>
          </a:p>
        </p:txBody>
      </p:sp>
      <p:sp>
        <p:nvSpPr>
          <p:cNvPr id="1290" name="Google Shape;1290;p12"/>
          <p:cNvSpPr txBox="1"/>
          <p:nvPr/>
        </p:nvSpPr>
        <p:spPr>
          <a:xfrm>
            <a:off x="6309359" y="1682496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91" name="Google Shape;1291;p12"/>
          <p:cNvSpPr txBox="1"/>
          <p:nvPr/>
        </p:nvSpPr>
        <p:spPr>
          <a:xfrm>
            <a:off x="6492240" y="1682496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hit ratios need coaching: Interglobal Insuranc (0.5%), COASTAL TRUCKING INS (1.4%), S &amp; R Agency LLC (1.5%)</a:t>
            </a:r>
            <a:endParaRPr/>
          </a:p>
        </p:txBody>
      </p:sp>
      <p:sp>
        <p:nvSpPr>
          <p:cNvPr id="1292" name="Google Shape;1292;p12"/>
          <p:cNvSpPr txBox="1"/>
          <p:nvPr/>
        </p:nvSpPr>
        <p:spPr>
          <a:xfrm>
            <a:off x="6309359" y="1993392"/>
            <a:ext cx="182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293" name="Google Shape;1293;p12"/>
          <p:cNvSpPr txBox="1"/>
          <p:nvPr/>
        </p:nvSpPr>
        <p:spPr>
          <a:xfrm>
            <a:off x="6492240" y="1993392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Overall portfolio hit ratio 4.7% — below 5-8% target</a:t>
            </a:r>
            <a:endParaRPr/>
          </a:p>
        </p:txBody>
      </p:sp>
      <p:sp>
        <p:nvSpPr>
          <p:cNvPr id="1294" name="Google Shape;1294;p12"/>
          <p:cNvSpPr/>
          <p:nvPr/>
        </p:nvSpPr>
        <p:spPr>
          <a:xfrm>
            <a:off x="365760" y="2926080"/>
            <a:ext cx="1143000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5" name="Google Shape;1295;p12"/>
          <p:cNvSpPr txBox="1"/>
          <p:nvPr/>
        </p:nvSpPr>
        <p:spPr>
          <a:xfrm>
            <a:off x="548640" y="2971800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STRATEGIC PRIORITIES — Ranked by Estimated Impact</a:t>
            </a:r>
            <a:endParaRPr/>
          </a:p>
        </p:txBody>
      </p:sp>
      <p:sp>
        <p:nvSpPr>
          <p:cNvPr id="1296" name="Google Shape;1296;p12"/>
          <p:cNvSpPr/>
          <p:nvPr/>
        </p:nvSpPr>
        <p:spPr>
          <a:xfrm>
            <a:off x="274320" y="342900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/>
          </a:p>
        </p:txBody>
      </p:sp>
      <p:sp>
        <p:nvSpPr>
          <p:cNvPr id="1297" name="Google Shape;1297;p12"/>
          <p:cNvSpPr txBox="1"/>
          <p:nvPr/>
        </p:nvSpPr>
        <p:spPr>
          <a:xfrm>
            <a:off x="777240" y="341071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Reduce Cancellation Rates</a:t>
            </a:r>
            <a:endParaRPr/>
          </a:p>
        </p:txBody>
      </p:sp>
      <p:sp>
        <p:nvSpPr>
          <p:cNvPr id="1298" name="Google Shape;1298;p12"/>
          <p:cNvSpPr txBox="1"/>
          <p:nvPr/>
        </p:nvSpPr>
        <p:spPr>
          <a:xfrm>
            <a:off x="777240" y="363931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 agencies with cancellations &gt;40% of new biz: Usa Specialty Insurance/d, Insurance4truckers Llc, Valion Security Llc. $7,713,223 total cancellations - investigate retention.</a:t>
            </a:r>
            <a:endParaRPr/>
          </a:p>
        </p:txBody>
      </p:sp>
      <p:sp>
        <p:nvSpPr>
          <p:cNvPr id="1299" name="Google Shape;1299;p12"/>
          <p:cNvSpPr/>
          <p:nvPr/>
        </p:nvSpPr>
        <p:spPr>
          <a:xfrm>
            <a:off x="274320" y="406908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sp>
        <p:nvSpPr>
          <p:cNvPr id="1300" name="Google Shape;1300;p12"/>
          <p:cNvSpPr txBox="1"/>
          <p:nvPr/>
        </p:nvSpPr>
        <p:spPr>
          <a:xfrm>
            <a:off x="777240" y="405079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Improve Low Hit Ratio Agencies</a:t>
            </a:r>
            <a:endParaRPr/>
          </a:p>
        </p:txBody>
      </p:sp>
      <p:sp>
        <p:nvSpPr>
          <p:cNvPr id="1301" name="Google Shape;1301;p12"/>
          <p:cNvSpPr txBox="1"/>
          <p:nvPr/>
        </p:nvSpPr>
        <p:spPr>
          <a:xfrm>
            <a:off x="777240" y="427939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 agencies with 20+ subs but &lt;3% HR: Interglobal Insuranc (0.5%), COASTAL TRUCKING INS (1.4%), S &amp; R Agency LLC (1.5%). Conduct submission quality training to lift conversion 2-3 points.</a:t>
            </a:r>
            <a:endParaRPr/>
          </a:p>
        </p:txBody>
      </p:sp>
      <p:sp>
        <p:nvSpPr>
          <p:cNvPr id="1302" name="Google Shape;1302;p12"/>
          <p:cNvSpPr/>
          <p:nvPr/>
        </p:nvSpPr>
        <p:spPr>
          <a:xfrm>
            <a:off x="274320" y="470916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  <p:sp>
        <p:nvSpPr>
          <p:cNvPr id="1303" name="Google Shape;1303;p12"/>
          <p:cNvSpPr txBox="1"/>
          <p:nvPr/>
        </p:nvSpPr>
        <p:spPr>
          <a:xfrm>
            <a:off x="777240" y="469087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Develop High-Volume Growth Candidates</a:t>
            </a:r>
            <a:endParaRPr/>
          </a:p>
        </p:txBody>
      </p:sp>
      <p:sp>
        <p:nvSpPr>
          <p:cNvPr id="1304" name="Google Shape;1304;p12"/>
          <p:cNvSpPr txBox="1"/>
          <p:nvPr/>
        </p:nvSpPr>
        <p:spPr>
          <a:xfrm>
            <a:off x="777240" y="491947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 agencies with 30+ subs and some binds but &lt;5% HR: Insurance4truckers L (5399s/123b), Prestige Internation (1461s/49b), Vantage Ins Llc (787s/18b). Small HR improvements on large volume = significant premium lift.</a:t>
            </a:r>
            <a:endParaRPr/>
          </a:p>
        </p:txBody>
      </p:sp>
      <p:sp>
        <p:nvSpPr>
          <p:cNvPr id="1305" name="Google Shape;1305;p12"/>
          <p:cNvSpPr/>
          <p:nvPr/>
        </p:nvSpPr>
        <p:spPr>
          <a:xfrm>
            <a:off x="274320" y="534924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  <p:sp>
        <p:nvSpPr>
          <p:cNvPr id="1306" name="Google Shape;1306;p12"/>
          <p:cNvSpPr txBox="1"/>
          <p:nvPr/>
        </p:nvSpPr>
        <p:spPr>
          <a:xfrm>
            <a:off x="777240" y="533095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Diversify Revenue Base</a:t>
            </a:r>
            <a:endParaRPr/>
          </a:p>
        </p:txBody>
      </p:sp>
      <p:sp>
        <p:nvSpPr>
          <p:cNvPr id="1307" name="Google Shape;1307;p12"/>
          <p:cNvSpPr txBox="1"/>
          <p:nvPr/>
        </p:nvSpPr>
        <p:spPr>
          <a:xfrm>
            <a:off x="777240" y="555955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3 agencies drive 69% of premium. Develop mid-tier: Prestige International In, Vantage Ins Llc, Insurance Planet. Target 25-50% growth each.</a:t>
            </a:r>
            <a:endParaRPr/>
          </a:p>
        </p:txBody>
      </p:sp>
      <p:sp>
        <p:nvSpPr>
          <p:cNvPr id="1308" name="Google Shape;1308;p12"/>
          <p:cNvSpPr/>
          <p:nvPr/>
        </p:nvSpPr>
        <p:spPr>
          <a:xfrm>
            <a:off x="274320" y="5989320"/>
            <a:ext cx="365760" cy="365760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  <p:sp>
        <p:nvSpPr>
          <p:cNvPr id="1309" name="Google Shape;1309;p12"/>
          <p:cNvSpPr txBox="1"/>
          <p:nvPr/>
        </p:nvSpPr>
        <p:spPr>
          <a:xfrm>
            <a:off x="777240" y="5971032"/>
            <a:ext cx="45720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Scale Top Performers</a:t>
            </a:r>
            <a:endParaRPr/>
          </a:p>
        </p:txBody>
      </p:sp>
      <p:sp>
        <p:nvSpPr>
          <p:cNvPr id="1310" name="Google Shape;1310;p12"/>
          <p:cNvSpPr txBox="1"/>
          <p:nvPr/>
        </p:nvSpPr>
        <p:spPr>
          <a:xfrm>
            <a:off x="777240" y="6199632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4B5563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Double down on high-converting agencies: Usa Specialty Insurance/d, Valion Security Llc, Insurance Planet. Increase submission volume 20% through marketing support and referral incentives.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1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6" name="Google Shape;1316;p1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Recently Bound Submissions</a:t>
            </a:r>
            <a:endParaRPr/>
          </a:p>
        </p:txBody>
      </p:sp>
      <p:sp>
        <p:nvSpPr>
          <p:cNvPr id="1317" name="Google Shape;1317;p1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 |  Last 25 Bound Submissions  |  678 Total Bound in Portfolio</a:t>
            </a:r>
            <a:endParaRPr/>
          </a:p>
        </p:txBody>
      </p:sp>
      <p:sp>
        <p:nvSpPr>
          <p:cNvPr id="1318" name="Google Shape;1318;p13"/>
          <p:cNvSpPr txBox="1"/>
          <p:nvPr/>
        </p:nvSpPr>
        <p:spPr>
          <a:xfrm>
            <a:off x="548640" y="1005840"/>
            <a:ext cx="3657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#</a:t>
            </a:r>
            <a:endParaRPr/>
          </a:p>
        </p:txBody>
      </p:sp>
      <p:sp>
        <p:nvSpPr>
          <p:cNvPr id="1319" name="Google Shape;1319;p13"/>
          <p:cNvSpPr txBox="1"/>
          <p:nvPr/>
        </p:nvSpPr>
        <p:spPr>
          <a:xfrm>
            <a:off x="914400" y="1005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320" name="Google Shape;1320;p13"/>
          <p:cNvSpPr txBox="1"/>
          <p:nvPr/>
        </p:nvSpPr>
        <p:spPr>
          <a:xfrm>
            <a:off x="1828800" y="1005840"/>
            <a:ext cx="29718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321" name="Google Shape;1321;p13"/>
          <p:cNvSpPr txBox="1"/>
          <p:nvPr/>
        </p:nvSpPr>
        <p:spPr>
          <a:xfrm>
            <a:off x="4800600" y="1005840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(Account)</a:t>
            </a:r>
            <a:endParaRPr/>
          </a:p>
        </p:txBody>
      </p:sp>
      <p:sp>
        <p:nvSpPr>
          <p:cNvPr id="1322" name="Google Shape;1322;p13"/>
          <p:cNvSpPr txBox="1"/>
          <p:nvPr/>
        </p:nvSpPr>
        <p:spPr>
          <a:xfrm>
            <a:off x="7635240" y="1005840"/>
            <a:ext cx="23774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Agent</a:t>
            </a:r>
            <a:endParaRPr/>
          </a:p>
        </p:txBody>
      </p:sp>
      <p:sp>
        <p:nvSpPr>
          <p:cNvPr id="1323" name="Google Shape;1323;p13"/>
          <p:cNvSpPr txBox="1"/>
          <p:nvPr/>
        </p:nvSpPr>
        <p:spPr>
          <a:xfrm>
            <a:off x="10012680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</a:t>
            </a:r>
            <a:endParaRPr/>
          </a:p>
        </p:txBody>
      </p:sp>
      <p:sp>
        <p:nvSpPr>
          <p:cNvPr id="1324" name="Google Shape;1324;p13"/>
          <p:cNvSpPr txBox="1"/>
          <p:nvPr/>
        </p:nvSpPr>
        <p:spPr>
          <a:xfrm>
            <a:off x="11338559" y="1005840"/>
            <a:ext cx="13258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 Date</a:t>
            </a:r>
            <a:endParaRPr/>
          </a:p>
        </p:txBody>
      </p:sp>
      <p:sp>
        <p:nvSpPr>
          <p:cNvPr id="1325" name="Google Shape;1325;p13"/>
          <p:cNvSpPr/>
          <p:nvPr/>
        </p:nvSpPr>
        <p:spPr>
          <a:xfrm>
            <a:off x="548640" y="1207008"/>
            <a:ext cx="111556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6" name="Google Shape;1326;p13"/>
          <p:cNvSpPr txBox="1"/>
          <p:nvPr/>
        </p:nvSpPr>
        <p:spPr>
          <a:xfrm>
            <a:off x="548640" y="128016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1327" name="Google Shape;1327;p13"/>
          <p:cNvSpPr txBox="1"/>
          <p:nvPr/>
        </p:nvSpPr>
        <p:spPr>
          <a:xfrm>
            <a:off x="914400" y="12801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250567089767</a:t>
            </a:r>
            <a:endParaRPr/>
          </a:p>
        </p:txBody>
      </p:sp>
      <p:sp>
        <p:nvSpPr>
          <p:cNvPr id="1328" name="Google Shape;1328;p13"/>
          <p:cNvSpPr txBox="1"/>
          <p:nvPr/>
        </p:nvSpPr>
        <p:spPr>
          <a:xfrm>
            <a:off x="1828800" y="128016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29" name="Google Shape;1329;p13"/>
          <p:cNvSpPr txBox="1"/>
          <p:nvPr/>
        </p:nvSpPr>
        <p:spPr>
          <a:xfrm>
            <a:off x="4800600" y="128016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ALITRANS LLC</a:t>
            </a:r>
            <a:endParaRPr/>
          </a:p>
        </p:txBody>
      </p:sp>
      <p:sp>
        <p:nvSpPr>
          <p:cNvPr id="1330" name="Google Shape;1330;p13"/>
          <p:cNvSpPr txBox="1"/>
          <p:nvPr/>
        </p:nvSpPr>
        <p:spPr>
          <a:xfrm>
            <a:off x="7635240" y="128016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Judd</a:t>
            </a:r>
            <a:endParaRPr/>
          </a:p>
        </p:txBody>
      </p:sp>
      <p:sp>
        <p:nvSpPr>
          <p:cNvPr id="1331" name="Google Shape;1331;p13"/>
          <p:cNvSpPr txBox="1"/>
          <p:nvPr/>
        </p:nvSpPr>
        <p:spPr>
          <a:xfrm>
            <a:off x="10012680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$21,592</a:t>
            </a:r>
            <a:endParaRPr/>
          </a:p>
        </p:txBody>
      </p:sp>
      <p:sp>
        <p:nvSpPr>
          <p:cNvPr id="1332" name="Google Shape;1332;p13"/>
          <p:cNvSpPr txBox="1"/>
          <p:nvPr/>
        </p:nvSpPr>
        <p:spPr>
          <a:xfrm>
            <a:off x="11338559" y="128016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33" name="Google Shape;1333;p13"/>
          <p:cNvSpPr/>
          <p:nvPr/>
        </p:nvSpPr>
        <p:spPr>
          <a:xfrm>
            <a:off x="457200" y="146304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4" name="Google Shape;1334;p13"/>
          <p:cNvSpPr txBox="1"/>
          <p:nvPr/>
        </p:nvSpPr>
        <p:spPr>
          <a:xfrm>
            <a:off x="548640" y="148132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1335" name="Google Shape;1335;p13"/>
          <p:cNvSpPr txBox="1"/>
          <p:nvPr/>
        </p:nvSpPr>
        <p:spPr>
          <a:xfrm>
            <a:off x="914400" y="148132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263091297588</a:t>
            </a:r>
            <a:endParaRPr/>
          </a:p>
        </p:txBody>
      </p:sp>
      <p:sp>
        <p:nvSpPr>
          <p:cNvPr id="1336" name="Google Shape;1336;p13"/>
          <p:cNvSpPr txBox="1"/>
          <p:nvPr/>
        </p:nvSpPr>
        <p:spPr>
          <a:xfrm>
            <a:off x="1828800" y="148132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37" name="Google Shape;1337;p13"/>
          <p:cNvSpPr txBox="1"/>
          <p:nvPr/>
        </p:nvSpPr>
        <p:spPr>
          <a:xfrm>
            <a:off x="4800600" y="148132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STEPHEN CARGO &amp; MORE LLC</a:t>
            </a:r>
            <a:endParaRPr/>
          </a:p>
        </p:txBody>
      </p:sp>
      <p:sp>
        <p:nvSpPr>
          <p:cNvPr id="1338" name="Google Shape;1338;p13"/>
          <p:cNvSpPr txBox="1"/>
          <p:nvPr/>
        </p:nvSpPr>
        <p:spPr>
          <a:xfrm>
            <a:off x="7635240" y="148132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Judd</a:t>
            </a:r>
            <a:endParaRPr/>
          </a:p>
        </p:txBody>
      </p:sp>
      <p:sp>
        <p:nvSpPr>
          <p:cNvPr id="1339" name="Google Shape;1339;p13"/>
          <p:cNvSpPr txBox="1"/>
          <p:nvPr/>
        </p:nvSpPr>
        <p:spPr>
          <a:xfrm>
            <a:off x="10012680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$15,428</a:t>
            </a:r>
            <a:endParaRPr/>
          </a:p>
        </p:txBody>
      </p:sp>
      <p:sp>
        <p:nvSpPr>
          <p:cNvPr id="1340" name="Google Shape;1340;p13"/>
          <p:cNvSpPr txBox="1"/>
          <p:nvPr/>
        </p:nvSpPr>
        <p:spPr>
          <a:xfrm>
            <a:off x="11338559" y="148132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41" name="Google Shape;1341;p13"/>
          <p:cNvSpPr txBox="1"/>
          <p:nvPr/>
        </p:nvSpPr>
        <p:spPr>
          <a:xfrm>
            <a:off x="548640" y="168249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1342" name="Google Shape;1342;p13"/>
          <p:cNvSpPr txBox="1"/>
          <p:nvPr/>
        </p:nvSpPr>
        <p:spPr>
          <a:xfrm>
            <a:off x="914400" y="168249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266201739352</a:t>
            </a:r>
            <a:endParaRPr/>
          </a:p>
        </p:txBody>
      </p:sp>
      <p:sp>
        <p:nvSpPr>
          <p:cNvPr id="1343" name="Google Shape;1343;p13"/>
          <p:cNvSpPr txBox="1"/>
          <p:nvPr/>
        </p:nvSpPr>
        <p:spPr>
          <a:xfrm>
            <a:off x="1828800" y="168249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44" name="Google Shape;1344;p13"/>
          <p:cNvSpPr txBox="1"/>
          <p:nvPr/>
        </p:nvSpPr>
        <p:spPr>
          <a:xfrm>
            <a:off x="4800600" y="168249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ABSOLUTE BEST TRANSPORTATION LLC</a:t>
            </a:r>
            <a:endParaRPr/>
          </a:p>
        </p:txBody>
      </p:sp>
      <p:sp>
        <p:nvSpPr>
          <p:cNvPr id="1345" name="Google Shape;1345;p13"/>
          <p:cNvSpPr txBox="1"/>
          <p:nvPr/>
        </p:nvSpPr>
        <p:spPr>
          <a:xfrm>
            <a:off x="7635240" y="168249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James Painter</a:t>
            </a:r>
            <a:endParaRPr/>
          </a:p>
        </p:txBody>
      </p:sp>
      <p:sp>
        <p:nvSpPr>
          <p:cNvPr id="1346" name="Google Shape;1346;p13"/>
          <p:cNvSpPr txBox="1"/>
          <p:nvPr/>
        </p:nvSpPr>
        <p:spPr>
          <a:xfrm>
            <a:off x="10012680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1347" name="Google Shape;1347;p13"/>
          <p:cNvSpPr txBox="1"/>
          <p:nvPr/>
        </p:nvSpPr>
        <p:spPr>
          <a:xfrm>
            <a:off x="11338559" y="168249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48" name="Google Shape;1348;p13"/>
          <p:cNvSpPr/>
          <p:nvPr/>
        </p:nvSpPr>
        <p:spPr>
          <a:xfrm>
            <a:off x="457200" y="186537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9" name="Google Shape;1349;p13"/>
          <p:cNvSpPr txBox="1"/>
          <p:nvPr/>
        </p:nvSpPr>
        <p:spPr>
          <a:xfrm>
            <a:off x="548640" y="188366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1350" name="Google Shape;1350;p13"/>
          <p:cNvSpPr txBox="1"/>
          <p:nvPr/>
        </p:nvSpPr>
        <p:spPr>
          <a:xfrm>
            <a:off x="914400" y="188366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250259777795</a:t>
            </a:r>
            <a:endParaRPr/>
          </a:p>
        </p:txBody>
      </p:sp>
      <p:sp>
        <p:nvSpPr>
          <p:cNvPr id="1351" name="Google Shape;1351;p13"/>
          <p:cNvSpPr txBox="1"/>
          <p:nvPr/>
        </p:nvSpPr>
        <p:spPr>
          <a:xfrm>
            <a:off x="1828800" y="188366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52" name="Google Shape;1352;p13"/>
          <p:cNvSpPr txBox="1"/>
          <p:nvPr/>
        </p:nvSpPr>
        <p:spPr>
          <a:xfrm>
            <a:off x="4800600" y="188366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LATTE TRUCKING LLC</a:t>
            </a:r>
            <a:endParaRPr/>
          </a:p>
        </p:txBody>
      </p:sp>
      <p:sp>
        <p:nvSpPr>
          <p:cNvPr id="1353" name="Google Shape;1353;p13"/>
          <p:cNvSpPr txBox="1"/>
          <p:nvPr/>
        </p:nvSpPr>
        <p:spPr>
          <a:xfrm>
            <a:off x="7635240" y="188366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Michael Judd</a:t>
            </a:r>
            <a:endParaRPr/>
          </a:p>
        </p:txBody>
      </p:sp>
      <p:sp>
        <p:nvSpPr>
          <p:cNvPr id="1354" name="Google Shape;1354;p13"/>
          <p:cNvSpPr txBox="1"/>
          <p:nvPr/>
        </p:nvSpPr>
        <p:spPr>
          <a:xfrm>
            <a:off x="10012680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$17,411</a:t>
            </a:r>
            <a:endParaRPr/>
          </a:p>
        </p:txBody>
      </p:sp>
      <p:sp>
        <p:nvSpPr>
          <p:cNvPr id="1355" name="Google Shape;1355;p13"/>
          <p:cNvSpPr txBox="1"/>
          <p:nvPr/>
        </p:nvSpPr>
        <p:spPr>
          <a:xfrm>
            <a:off x="11338559" y="188366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27, 2026</a:t>
            </a:r>
            <a:endParaRPr/>
          </a:p>
        </p:txBody>
      </p:sp>
      <p:sp>
        <p:nvSpPr>
          <p:cNvPr id="1356" name="Google Shape;1356;p13"/>
          <p:cNvSpPr txBox="1"/>
          <p:nvPr/>
        </p:nvSpPr>
        <p:spPr>
          <a:xfrm>
            <a:off x="548640" y="208483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1357" name="Google Shape;1357;p13"/>
          <p:cNvSpPr txBox="1"/>
          <p:nvPr/>
        </p:nvSpPr>
        <p:spPr>
          <a:xfrm>
            <a:off x="914400" y="208483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259040991973</a:t>
            </a:r>
            <a:endParaRPr/>
          </a:p>
        </p:txBody>
      </p:sp>
      <p:sp>
        <p:nvSpPr>
          <p:cNvPr id="1358" name="Google Shape;1358;p13"/>
          <p:cNvSpPr txBox="1"/>
          <p:nvPr/>
        </p:nvSpPr>
        <p:spPr>
          <a:xfrm>
            <a:off x="1828800" y="208483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359" name="Google Shape;1359;p13"/>
          <p:cNvSpPr txBox="1"/>
          <p:nvPr/>
        </p:nvSpPr>
        <p:spPr>
          <a:xfrm>
            <a:off x="4800600" y="208483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YS TRANSPORT LLC</a:t>
            </a:r>
            <a:endParaRPr/>
          </a:p>
        </p:txBody>
      </p:sp>
      <p:sp>
        <p:nvSpPr>
          <p:cNvPr id="1360" name="Google Shape;1360;p13"/>
          <p:cNvSpPr txBox="1"/>
          <p:nvPr/>
        </p:nvSpPr>
        <p:spPr>
          <a:xfrm>
            <a:off x="7635240" y="208483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David Brady</a:t>
            </a:r>
            <a:endParaRPr/>
          </a:p>
        </p:txBody>
      </p:sp>
      <p:sp>
        <p:nvSpPr>
          <p:cNvPr id="1361" name="Google Shape;1361;p13"/>
          <p:cNvSpPr txBox="1"/>
          <p:nvPr/>
        </p:nvSpPr>
        <p:spPr>
          <a:xfrm>
            <a:off x="10012680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$15,080</a:t>
            </a:r>
            <a:endParaRPr/>
          </a:p>
        </p:txBody>
      </p:sp>
      <p:sp>
        <p:nvSpPr>
          <p:cNvPr id="1362" name="Google Shape;1362;p13"/>
          <p:cNvSpPr txBox="1"/>
          <p:nvPr/>
        </p:nvSpPr>
        <p:spPr>
          <a:xfrm>
            <a:off x="11338559" y="208483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63" name="Google Shape;1363;p13"/>
          <p:cNvSpPr/>
          <p:nvPr/>
        </p:nvSpPr>
        <p:spPr>
          <a:xfrm>
            <a:off x="457200" y="226771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4" name="Google Shape;1364;p13"/>
          <p:cNvSpPr txBox="1"/>
          <p:nvPr/>
        </p:nvSpPr>
        <p:spPr>
          <a:xfrm>
            <a:off x="548640" y="228600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1365" name="Google Shape;1365;p13"/>
          <p:cNvSpPr txBox="1"/>
          <p:nvPr/>
        </p:nvSpPr>
        <p:spPr>
          <a:xfrm>
            <a:off x="914400" y="228600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259236505448</a:t>
            </a:r>
            <a:endParaRPr/>
          </a:p>
        </p:txBody>
      </p:sp>
      <p:sp>
        <p:nvSpPr>
          <p:cNvPr id="1366" name="Google Shape;1366;p13"/>
          <p:cNvSpPr txBox="1"/>
          <p:nvPr/>
        </p:nvSpPr>
        <p:spPr>
          <a:xfrm>
            <a:off x="1828800" y="228600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1367" name="Google Shape;1367;p13"/>
          <p:cNvSpPr txBox="1"/>
          <p:nvPr/>
        </p:nvSpPr>
        <p:spPr>
          <a:xfrm>
            <a:off x="4800600" y="228600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ZGR LLC</a:t>
            </a:r>
            <a:endParaRPr/>
          </a:p>
        </p:txBody>
      </p:sp>
      <p:sp>
        <p:nvSpPr>
          <p:cNvPr id="1368" name="Google Shape;1368;p13"/>
          <p:cNvSpPr txBox="1"/>
          <p:nvPr/>
        </p:nvSpPr>
        <p:spPr>
          <a:xfrm>
            <a:off x="7635240" y="228600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Julio Batista</a:t>
            </a:r>
            <a:endParaRPr/>
          </a:p>
        </p:txBody>
      </p:sp>
      <p:sp>
        <p:nvSpPr>
          <p:cNvPr id="1369" name="Google Shape;1369;p13"/>
          <p:cNvSpPr txBox="1"/>
          <p:nvPr/>
        </p:nvSpPr>
        <p:spPr>
          <a:xfrm>
            <a:off x="10012680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$86,714</a:t>
            </a:r>
            <a:endParaRPr/>
          </a:p>
        </p:txBody>
      </p:sp>
      <p:sp>
        <p:nvSpPr>
          <p:cNvPr id="1370" name="Google Shape;1370;p13"/>
          <p:cNvSpPr txBox="1"/>
          <p:nvPr/>
        </p:nvSpPr>
        <p:spPr>
          <a:xfrm>
            <a:off x="11338559" y="228600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71" name="Google Shape;1371;p13"/>
          <p:cNvSpPr txBox="1"/>
          <p:nvPr/>
        </p:nvSpPr>
        <p:spPr>
          <a:xfrm>
            <a:off x="548640" y="248716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1372" name="Google Shape;1372;p13"/>
          <p:cNvSpPr txBox="1"/>
          <p:nvPr/>
        </p:nvSpPr>
        <p:spPr>
          <a:xfrm>
            <a:off x="914400" y="248716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262713798175</a:t>
            </a:r>
            <a:endParaRPr/>
          </a:p>
        </p:txBody>
      </p:sp>
      <p:sp>
        <p:nvSpPr>
          <p:cNvPr id="1373" name="Google Shape;1373;p13"/>
          <p:cNvSpPr txBox="1"/>
          <p:nvPr/>
        </p:nvSpPr>
        <p:spPr>
          <a:xfrm>
            <a:off x="1828800" y="248716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374" name="Google Shape;1374;p13"/>
          <p:cNvSpPr txBox="1"/>
          <p:nvPr/>
        </p:nvSpPr>
        <p:spPr>
          <a:xfrm>
            <a:off x="4800600" y="248716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EXCALIBUR LOGISTICS LLC</a:t>
            </a:r>
            <a:endParaRPr/>
          </a:p>
        </p:txBody>
      </p:sp>
      <p:sp>
        <p:nvSpPr>
          <p:cNvPr id="1375" name="Google Shape;1375;p13"/>
          <p:cNvSpPr txBox="1"/>
          <p:nvPr/>
        </p:nvSpPr>
        <p:spPr>
          <a:xfrm>
            <a:off x="7635240" y="248716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376" name="Google Shape;1376;p13"/>
          <p:cNvSpPr txBox="1"/>
          <p:nvPr/>
        </p:nvSpPr>
        <p:spPr>
          <a:xfrm>
            <a:off x="10012680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$12,071</a:t>
            </a:r>
            <a:endParaRPr/>
          </a:p>
        </p:txBody>
      </p:sp>
      <p:sp>
        <p:nvSpPr>
          <p:cNvPr id="1377" name="Google Shape;1377;p13"/>
          <p:cNvSpPr txBox="1"/>
          <p:nvPr/>
        </p:nvSpPr>
        <p:spPr>
          <a:xfrm>
            <a:off x="11338559" y="248716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78" name="Google Shape;1378;p13"/>
          <p:cNvSpPr/>
          <p:nvPr/>
        </p:nvSpPr>
        <p:spPr>
          <a:xfrm>
            <a:off x="457200" y="267004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9" name="Google Shape;1379;p13"/>
          <p:cNvSpPr txBox="1"/>
          <p:nvPr/>
        </p:nvSpPr>
        <p:spPr>
          <a:xfrm>
            <a:off x="548640" y="268833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1380" name="Google Shape;1380;p13"/>
          <p:cNvSpPr txBox="1"/>
          <p:nvPr/>
        </p:nvSpPr>
        <p:spPr>
          <a:xfrm>
            <a:off x="914400" y="268833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255008182541</a:t>
            </a:r>
            <a:endParaRPr/>
          </a:p>
        </p:txBody>
      </p:sp>
      <p:sp>
        <p:nvSpPr>
          <p:cNvPr id="1381" name="Google Shape;1381;p13"/>
          <p:cNvSpPr txBox="1"/>
          <p:nvPr/>
        </p:nvSpPr>
        <p:spPr>
          <a:xfrm>
            <a:off x="1828800" y="268833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82" name="Google Shape;1382;p13"/>
          <p:cNvSpPr txBox="1"/>
          <p:nvPr/>
        </p:nvSpPr>
        <p:spPr>
          <a:xfrm>
            <a:off x="4800600" y="268833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OS LOGISTICS LLC</a:t>
            </a:r>
            <a:endParaRPr/>
          </a:p>
        </p:txBody>
      </p:sp>
      <p:sp>
        <p:nvSpPr>
          <p:cNvPr id="1383" name="Google Shape;1383;p13"/>
          <p:cNvSpPr txBox="1"/>
          <p:nvPr/>
        </p:nvSpPr>
        <p:spPr>
          <a:xfrm>
            <a:off x="7635240" y="268833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84" name="Google Shape;1384;p13"/>
          <p:cNvSpPr txBox="1"/>
          <p:nvPr/>
        </p:nvSpPr>
        <p:spPr>
          <a:xfrm>
            <a:off x="10012680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$43,368</a:t>
            </a:r>
            <a:endParaRPr/>
          </a:p>
        </p:txBody>
      </p:sp>
      <p:sp>
        <p:nvSpPr>
          <p:cNvPr id="1385" name="Google Shape;1385;p13"/>
          <p:cNvSpPr txBox="1"/>
          <p:nvPr/>
        </p:nvSpPr>
        <p:spPr>
          <a:xfrm>
            <a:off x="11338559" y="268833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86" name="Google Shape;1386;p13"/>
          <p:cNvSpPr txBox="1"/>
          <p:nvPr/>
        </p:nvSpPr>
        <p:spPr>
          <a:xfrm>
            <a:off x="548640" y="288950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1387" name="Google Shape;1387;p13"/>
          <p:cNvSpPr txBox="1"/>
          <p:nvPr/>
        </p:nvSpPr>
        <p:spPr>
          <a:xfrm>
            <a:off x="914400" y="288950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261098435080</a:t>
            </a:r>
            <a:endParaRPr/>
          </a:p>
        </p:txBody>
      </p:sp>
      <p:sp>
        <p:nvSpPr>
          <p:cNvPr id="1388" name="Google Shape;1388;p13"/>
          <p:cNvSpPr txBox="1"/>
          <p:nvPr/>
        </p:nvSpPr>
        <p:spPr>
          <a:xfrm>
            <a:off x="1828800" y="288950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89" name="Google Shape;1389;p13"/>
          <p:cNvSpPr txBox="1"/>
          <p:nvPr/>
        </p:nvSpPr>
        <p:spPr>
          <a:xfrm>
            <a:off x="4800600" y="288950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METROHAUL LOGISTICS LLC</a:t>
            </a:r>
            <a:endParaRPr/>
          </a:p>
        </p:txBody>
      </p:sp>
      <p:sp>
        <p:nvSpPr>
          <p:cNvPr id="1390" name="Google Shape;1390;p13"/>
          <p:cNvSpPr txBox="1"/>
          <p:nvPr/>
        </p:nvSpPr>
        <p:spPr>
          <a:xfrm>
            <a:off x="7635240" y="288950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91" name="Google Shape;1391;p13"/>
          <p:cNvSpPr txBox="1"/>
          <p:nvPr/>
        </p:nvSpPr>
        <p:spPr>
          <a:xfrm>
            <a:off x="10012680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$119,943</a:t>
            </a:r>
            <a:endParaRPr/>
          </a:p>
        </p:txBody>
      </p:sp>
      <p:sp>
        <p:nvSpPr>
          <p:cNvPr id="1392" name="Google Shape;1392;p13"/>
          <p:cNvSpPr txBox="1"/>
          <p:nvPr/>
        </p:nvSpPr>
        <p:spPr>
          <a:xfrm>
            <a:off x="11338559" y="288950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393" name="Google Shape;1393;p13"/>
          <p:cNvSpPr/>
          <p:nvPr/>
        </p:nvSpPr>
        <p:spPr>
          <a:xfrm>
            <a:off x="457200" y="307238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4" name="Google Shape;1394;p13"/>
          <p:cNvSpPr txBox="1"/>
          <p:nvPr/>
        </p:nvSpPr>
        <p:spPr>
          <a:xfrm>
            <a:off x="548640" y="309067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1395" name="Google Shape;1395;p13"/>
          <p:cNvSpPr txBox="1"/>
          <p:nvPr/>
        </p:nvSpPr>
        <p:spPr>
          <a:xfrm>
            <a:off x="914400" y="309067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262793909054</a:t>
            </a:r>
            <a:endParaRPr/>
          </a:p>
        </p:txBody>
      </p:sp>
      <p:sp>
        <p:nvSpPr>
          <p:cNvPr id="1396" name="Google Shape;1396;p13"/>
          <p:cNvSpPr txBox="1"/>
          <p:nvPr/>
        </p:nvSpPr>
        <p:spPr>
          <a:xfrm>
            <a:off x="1828800" y="309067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1397" name="Google Shape;1397;p13"/>
          <p:cNvSpPr txBox="1"/>
          <p:nvPr/>
        </p:nvSpPr>
        <p:spPr>
          <a:xfrm>
            <a:off x="4800600" y="309067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LOGOS EXPRESS LLC</a:t>
            </a:r>
            <a:endParaRPr/>
          </a:p>
        </p:txBody>
      </p:sp>
      <p:sp>
        <p:nvSpPr>
          <p:cNvPr id="1398" name="Google Shape;1398;p13"/>
          <p:cNvSpPr txBox="1"/>
          <p:nvPr/>
        </p:nvSpPr>
        <p:spPr>
          <a:xfrm>
            <a:off x="7635240" y="309067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Koraima Pino</a:t>
            </a:r>
            <a:endParaRPr/>
          </a:p>
        </p:txBody>
      </p:sp>
      <p:sp>
        <p:nvSpPr>
          <p:cNvPr id="1399" name="Google Shape;1399;p13"/>
          <p:cNvSpPr txBox="1"/>
          <p:nvPr/>
        </p:nvSpPr>
        <p:spPr>
          <a:xfrm>
            <a:off x="10012680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$56,339</a:t>
            </a:r>
            <a:endParaRPr/>
          </a:p>
        </p:txBody>
      </p:sp>
      <p:sp>
        <p:nvSpPr>
          <p:cNvPr id="1400" name="Google Shape;1400;p13"/>
          <p:cNvSpPr txBox="1"/>
          <p:nvPr/>
        </p:nvSpPr>
        <p:spPr>
          <a:xfrm>
            <a:off x="11338559" y="309067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401" name="Google Shape;1401;p13"/>
          <p:cNvSpPr txBox="1"/>
          <p:nvPr/>
        </p:nvSpPr>
        <p:spPr>
          <a:xfrm>
            <a:off x="548640" y="329184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1402" name="Google Shape;1402;p13"/>
          <p:cNvSpPr txBox="1"/>
          <p:nvPr/>
        </p:nvSpPr>
        <p:spPr>
          <a:xfrm>
            <a:off x="914400" y="329184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255520512718</a:t>
            </a:r>
            <a:endParaRPr/>
          </a:p>
        </p:txBody>
      </p:sp>
      <p:sp>
        <p:nvSpPr>
          <p:cNvPr id="1403" name="Google Shape;1403;p13"/>
          <p:cNvSpPr txBox="1"/>
          <p:nvPr/>
        </p:nvSpPr>
        <p:spPr>
          <a:xfrm>
            <a:off x="1828800" y="329184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404" name="Google Shape;1404;p13"/>
          <p:cNvSpPr txBox="1"/>
          <p:nvPr/>
        </p:nvSpPr>
        <p:spPr>
          <a:xfrm>
            <a:off x="4800600" y="329184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SALAS 3 TRUCKING LLC</a:t>
            </a:r>
            <a:endParaRPr/>
          </a:p>
        </p:txBody>
      </p:sp>
      <p:sp>
        <p:nvSpPr>
          <p:cNvPr id="1405" name="Google Shape;1405;p13"/>
          <p:cNvSpPr txBox="1"/>
          <p:nvPr/>
        </p:nvSpPr>
        <p:spPr>
          <a:xfrm>
            <a:off x="7635240" y="329184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Mika Leone-Pettit</a:t>
            </a:r>
            <a:endParaRPr/>
          </a:p>
        </p:txBody>
      </p:sp>
      <p:sp>
        <p:nvSpPr>
          <p:cNvPr id="1406" name="Google Shape;1406;p13"/>
          <p:cNvSpPr txBox="1"/>
          <p:nvPr/>
        </p:nvSpPr>
        <p:spPr>
          <a:xfrm>
            <a:off x="10012680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$46,264</a:t>
            </a:r>
            <a:endParaRPr/>
          </a:p>
        </p:txBody>
      </p:sp>
      <p:sp>
        <p:nvSpPr>
          <p:cNvPr id="1407" name="Google Shape;1407;p13"/>
          <p:cNvSpPr txBox="1"/>
          <p:nvPr/>
        </p:nvSpPr>
        <p:spPr>
          <a:xfrm>
            <a:off x="11338559" y="329184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408" name="Google Shape;1408;p13"/>
          <p:cNvSpPr/>
          <p:nvPr/>
        </p:nvSpPr>
        <p:spPr>
          <a:xfrm>
            <a:off x="457200" y="347472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9" name="Google Shape;1409;p13"/>
          <p:cNvSpPr txBox="1"/>
          <p:nvPr/>
        </p:nvSpPr>
        <p:spPr>
          <a:xfrm>
            <a:off x="548640" y="349300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1410" name="Google Shape;1410;p13"/>
          <p:cNvSpPr txBox="1"/>
          <p:nvPr/>
        </p:nvSpPr>
        <p:spPr>
          <a:xfrm>
            <a:off x="914400" y="349300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265146025025</a:t>
            </a:r>
            <a:endParaRPr/>
          </a:p>
        </p:txBody>
      </p:sp>
      <p:sp>
        <p:nvSpPr>
          <p:cNvPr id="1411" name="Google Shape;1411;p13"/>
          <p:cNvSpPr txBox="1"/>
          <p:nvPr/>
        </p:nvSpPr>
        <p:spPr>
          <a:xfrm>
            <a:off x="1828800" y="349300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412" name="Google Shape;1412;p13"/>
          <p:cNvSpPr txBox="1"/>
          <p:nvPr/>
        </p:nvSpPr>
        <p:spPr>
          <a:xfrm>
            <a:off x="4800600" y="349300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SULTAN FREIGHT LOGISTICS LLC</a:t>
            </a:r>
            <a:endParaRPr/>
          </a:p>
        </p:txBody>
      </p:sp>
      <p:sp>
        <p:nvSpPr>
          <p:cNvPr id="1413" name="Google Shape;1413;p13"/>
          <p:cNvSpPr txBox="1"/>
          <p:nvPr/>
        </p:nvSpPr>
        <p:spPr>
          <a:xfrm>
            <a:off x="7635240" y="349300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Mary Davis-Spivak</a:t>
            </a:r>
            <a:endParaRPr/>
          </a:p>
        </p:txBody>
      </p:sp>
      <p:sp>
        <p:nvSpPr>
          <p:cNvPr id="1414" name="Google Shape;1414;p13"/>
          <p:cNvSpPr txBox="1"/>
          <p:nvPr/>
        </p:nvSpPr>
        <p:spPr>
          <a:xfrm>
            <a:off x="10012680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$14,200</a:t>
            </a:r>
            <a:endParaRPr/>
          </a:p>
        </p:txBody>
      </p:sp>
      <p:sp>
        <p:nvSpPr>
          <p:cNvPr id="1415" name="Google Shape;1415;p13"/>
          <p:cNvSpPr txBox="1"/>
          <p:nvPr/>
        </p:nvSpPr>
        <p:spPr>
          <a:xfrm>
            <a:off x="11338559" y="349300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416" name="Google Shape;1416;p13"/>
          <p:cNvSpPr txBox="1"/>
          <p:nvPr/>
        </p:nvSpPr>
        <p:spPr>
          <a:xfrm>
            <a:off x="548640" y="369417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1417" name="Google Shape;1417;p13"/>
          <p:cNvSpPr txBox="1"/>
          <p:nvPr/>
        </p:nvSpPr>
        <p:spPr>
          <a:xfrm>
            <a:off x="914400" y="369417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269155642766</a:t>
            </a:r>
            <a:endParaRPr/>
          </a:p>
        </p:txBody>
      </p:sp>
      <p:sp>
        <p:nvSpPr>
          <p:cNvPr id="1418" name="Google Shape;1418;p13"/>
          <p:cNvSpPr txBox="1"/>
          <p:nvPr/>
        </p:nvSpPr>
        <p:spPr>
          <a:xfrm>
            <a:off x="1828800" y="369417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 Era Insurance Agency</a:t>
            </a:r>
            <a:endParaRPr/>
          </a:p>
        </p:txBody>
      </p:sp>
      <p:sp>
        <p:nvSpPr>
          <p:cNvPr id="1419" name="Google Shape;1419;p13"/>
          <p:cNvSpPr txBox="1"/>
          <p:nvPr/>
        </p:nvSpPr>
        <p:spPr>
          <a:xfrm>
            <a:off x="4800600" y="369417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FREIGHT HUB LLC</a:t>
            </a:r>
            <a:endParaRPr/>
          </a:p>
        </p:txBody>
      </p:sp>
      <p:sp>
        <p:nvSpPr>
          <p:cNvPr id="1420" name="Google Shape;1420;p13"/>
          <p:cNvSpPr txBox="1"/>
          <p:nvPr/>
        </p:nvSpPr>
        <p:spPr>
          <a:xfrm>
            <a:off x="7635240" y="369417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Kanwaljeet Saluja</a:t>
            </a:r>
            <a:endParaRPr/>
          </a:p>
        </p:txBody>
      </p:sp>
      <p:sp>
        <p:nvSpPr>
          <p:cNvPr id="1421" name="Google Shape;1421;p13"/>
          <p:cNvSpPr txBox="1"/>
          <p:nvPr/>
        </p:nvSpPr>
        <p:spPr>
          <a:xfrm>
            <a:off x="10012680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$142,923</a:t>
            </a:r>
            <a:endParaRPr/>
          </a:p>
        </p:txBody>
      </p:sp>
      <p:sp>
        <p:nvSpPr>
          <p:cNvPr id="1422" name="Google Shape;1422;p13"/>
          <p:cNvSpPr txBox="1"/>
          <p:nvPr/>
        </p:nvSpPr>
        <p:spPr>
          <a:xfrm>
            <a:off x="11338559" y="369417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26, 2026</a:t>
            </a:r>
            <a:endParaRPr/>
          </a:p>
        </p:txBody>
      </p:sp>
      <p:sp>
        <p:nvSpPr>
          <p:cNvPr id="1423" name="Google Shape;1423;p13"/>
          <p:cNvSpPr/>
          <p:nvPr/>
        </p:nvSpPr>
        <p:spPr>
          <a:xfrm>
            <a:off x="457200" y="387705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4" name="Google Shape;1424;p13"/>
          <p:cNvSpPr txBox="1"/>
          <p:nvPr/>
        </p:nvSpPr>
        <p:spPr>
          <a:xfrm>
            <a:off x="548640" y="389534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1425" name="Google Shape;1425;p13"/>
          <p:cNvSpPr txBox="1"/>
          <p:nvPr/>
        </p:nvSpPr>
        <p:spPr>
          <a:xfrm>
            <a:off x="914400" y="389534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256594432625</a:t>
            </a:r>
            <a:endParaRPr/>
          </a:p>
        </p:txBody>
      </p:sp>
      <p:sp>
        <p:nvSpPr>
          <p:cNvPr id="1426" name="Google Shape;1426;p13"/>
          <p:cNvSpPr txBox="1"/>
          <p:nvPr/>
        </p:nvSpPr>
        <p:spPr>
          <a:xfrm>
            <a:off x="1828800" y="389534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27" name="Google Shape;1427;p13"/>
          <p:cNvSpPr txBox="1"/>
          <p:nvPr/>
        </p:nvSpPr>
        <p:spPr>
          <a:xfrm>
            <a:off x="4800600" y="389534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 STAR TRUCKING LLC</a:t>
            </a:r>
            <a:endParaRPr/>
          </a:p>
        </p:txBody>
      </p:sp>
      <p:sp>
        <p:nvSpPr>
          <p:cNvPr id="1428" name="Google Shape;1428;p13"/>
          <p:cNvSpPr txBox="1"/>
          <p:nvPr/>
        </p:nvSpPr>
        <p:spPr>
          <a:xfrm>
            <a:off x="7635240" y="389534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29" name="Google Shape;1429;p13"/>
          <p:cNvSpPr txBox="1"/>
          <p:nvPr/>
        </p:nvSpPr>
        <p:spPr>
          <a:xfrm>
            <a:off x="10012680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$13,141</a:t>
            </a:r>
            <a:endParaRPr/>
          </a:p>
        </p:txBody>
      </p:sp>
      <p:sp>
        <p:nvSpPr>
          <p:cNvPr id="1430" name="Google Shape;1430;p13"/>
          <p:cNvSpPr txBox="1"/>
          <p:nvPr/>
        </p:nvSpPr>
        <p:spPr>
          <a:xfrm>
            <a:off x="11338559" y="389534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25, 2026</a:t>
            </a:r>
            <a:endParaRPr/>
          </a:p>
        </p:txBody>
      </p:sp>
      <p:sp>
        <p:nvSpPr>
          <p:cNvPr id="1431" name="Google Shape;1431;p13"/>
          <p:cNvSpPr txBox="1"/>
          <p:nvPr/>
        </p:nvSpPr>
        <p:spPr>
          <a:xfrm>
            <a:off x="548640" y="409651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1432" name="Google Shape;1432;p13"/>
          <p:cNvSpPr txBox="1"/>
          <p:nvPr/>
        </p:nvSpPr>
        <p:spPr>
          <a:xfrm>
            <a:off x="914400" y="409651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265355022836</a:t>
            </a:r>
            <a:endParaRPr/>
          </a:p>
        </p:txBody>
      </p:sp>
      <p:sp>
        <p:nvSpPr>
          <p:cNvPr id="1433" name="Google Shape;1433;p13"/>
          <p:cNvSpPr txBox="1"/>
          <p:nvPr/>
        </p:nvSpPr>
        <p:spPr>
          <a:xfrm>
            <a:off x="1828800" y="409651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34" name="Google Shape;1434;p13"/>
          <p:cNvSpPr txBox="1"/>
          <p:nvPr/>
        </p:nvSpPr>
        <p:spPr>
          <a:xfrm>
            <a:off x="4800600" y="409651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WYN FLASH TRANSPORT LLC</a:t>
            </a:r>
            <a:endParaRPr/>
          </a:p>
        </p:txBody>
      </p:sp>
      <p:sp>
        <p:nvSpPr>
          <p:cNvPr id="1435" name="Google Shape;1435;p13"/>
          <p:cNvSpPr txBox="1"/>
          <p:nvPr/>
        </p:nvSpPr>
        <p:spPr>
          <a:xfrm>
            <a:off x="7635240" y="409651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36" name="Google Shape;1436;p13"/>
          <p:cNvSpPr txBox="1"/>
          <p:nvPr/>
        </p:nvSpPr>
        <p:spPr>
          <a:xfrm>
            <a:off x="10012680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$21,872</a:t>
            </a:r>
            <a:endParaRPr/>
          </a:p>
        </p:txBody>
      </p:sp>
      <p:sp>
        <p:nvSpPr>
          <p:cNvPr id="1437" name="Google Shape;1437;p13"/>
          <p:cNvSpPr txBox="1"/>
          <p:nvPr/>
        </p:nvSpPr>
        <p:spPr>
          <a:xfrm>
            <a:off x="11338559" y="409651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25, 2026</a:t>
            </a:r>
            <a:endParaRPr/>
          </a:p>
        </p:txBody>
      </p:sp>
      <p:sp>
        <p:nvSpPr>
          <p:cNvPr id="1438" name="Google Shape;1438;p13"/>
          <p:cNvSpPr/>
          <p:nvPr/>
        </p:nvSpPr>
        <p:spPr>
          <a:xfrm>
            <a:off x="457200" y="4279392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9" name="Google Shape;1439;p13"/>
          <p:cNvSpPr txBox="1"/>
          <p:nvPr/>
        </p:nvSpPr>
        <p:spPr>
          <a:xfrm>
            <a:off x="548640" y="429768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1440" name="Google Shape;1440;p13"/>
          <p:cNvSpPr txBox="1"/>
          <p:nvPr/>
        </p:nvSpPr>
        <p:spPr>
          <a:xfrm>
            <a:off x="914400" y="429768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264232638849</a:t>
            </a:r>
            <a:endParaRPr/>
          </a:p>
        </p:txBody>
      </p:sp>
      <p:sp>
        <p:nvSpPr>
          <p:cNvPr id="1441" name="Google Shape;1441;p13"/>
          <p:cNvSpPr txBox="1"/>
          <p:nvPr/>
        </p:nvSpPr>
        <p:spPr>
          <a:xfrm>
            <a:off x="1828800" y="429768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42" name="Google Shape;1442;p13"/>
          <p:cNvSpPr txBox="1"/>
          <p:nvPr/>
        </p:nvSpPr>
        <p:spPr>
          <a:xfrm>
            <a:off x="4800600" y="429768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SAN MIGUEL TRANSPORTATION LLC</a:t>
            </a:r>
            <a:endParaRPr/>
          </a:p>
        </p:txBody>
      </p:sp>
      <p:sp>
        <p:nvSpPr>
          <p:cNvPr id="1443" name="Google Shape;1443;p13"/>
          <p:cNvSpPr txBox="1"/>
          <p:nvPr/>
        </p:nvSpPr>
        <p:spPr>
          <a:xfrm>
            <a:off x="7635240" y="429768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44" name="Google Shape;1444;p13"/>
          <p:cNvSpPr txBox="1"/>
          <p:nvPr/>
        </p:nvSpPr>
        <p:spPr>
          <a:xfrm>
            <a:off x="10012680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$2,977</a:t>
            </a:r>
            <a:endParaRPr/>
          </a:p>
        </p:txBody>
      </p:sp>
      <p:sp>
        <p:nvSpPr>
          <p:cNvPr id="1445" name="Google Shape;1445;p13"/>
          <p:cNvSpPr txBox="1"/>
          <p:nvPr/>
        </p:nvSpPr>
        <p:spPr>
          <a:xfrm>
            <a:off x="11338559" y="429768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25, 2026</a:t>
            </a:r>
            <a:endParaRPr/>
          </a:p>
        </p:txBody>
      </p:sp>
      <p:sp>
        <p:nvSpPr>
          <p:cNvPr id="1446" name="Google Shape;1446;p13"/>
          <p:cNvSpPr txBox="1"/>
          <p:nvPr/>
        </p:nvSpPr>
        <p:spPr>
          <a:xfrm>
            <a:off x="548640" y="449884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1447" name="Google Shape;1447;p13"/>
          <p:cNvSpPr txBox="1"/>
          <p:nvPr/>
        </p:nvSpPr>
        <p:spPr>
          <a:xfrm>
            <a:off x="914400" y="449884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264256325876</a:t>
            </a:r>
            <a:endParaRPr/>
          </a:p>
        </p:txBody>
      </p:sp>
      <p:sp>
        <p:nvSpPr>
          <p:cNvPr id="1448" name="Google Shape;1448;p13"/>
          <p:cNvSpPr txBox="1"/>
          <p:nvPr/>
        </p:nvSpPr>
        <p:spPr>
          <a:xfrm>
            <a:off x="1828800" y="449884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49" name="Google Shape;1449;p13"/>
          <p:cNvSpPr txBox="1"/>
          <p:nvPr/>
        </p:nvSpPr>
        <p:spPr>
          <a:xfrm>
            <a:off x="4800600" y="449884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CALZADILLA CF TRANSPORT LLC</a:t>
            </a:r>
            <a:endParaRPr/>
          </a:p>
        </p:txBody>
      </p:sp>
      <p:sp>
        <p:nvSpPr>
          <p:cNvPr id="1450" name="Google Shape;1450;p13"/>
          <p:cNvSpPr txBox="1"/>
          <p:nvPr/>
        </p:nvSpPr>
        <p:spPr>
          <a:xfrm>
            <a:off x="7635240" y="449884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51" name="Google Shape;1451;p13"/>
          <p:cNvSpPr txBox="1"/>
          <p:nvPr/>
        </p:nvSpPr>
        <p:spPr>
          <a:xfrm>
            <a:off x="10012680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$36,456</a:t>
            </a:r>
            <a:endParaRPr/>
          </a:p>
        </p:txBody>
      </p:sp>
      <p:sp>
        <p:nvSpPr>
          <p:cNvPr id="1452" name="Google Shape;1452;p13"/>
          <p:cNvSpPr txBox="1"/>
          <p:nvPr/>
        </p:nvSpPr>
        <p:spPr>
          <a:xfrm>
            <a:off x="11338559" y="449884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25, 2026</a:t>
            </a:r>
            <a:endParaRPr/>
          </a:p>
        </p:txBody>
      </p:sp>
      <p:sp>
        <p:nvSpPr>
          <p:cNvPr id="1453" name="Google Shape;1453;p13"/>
          <p:cNvSpPr/>
          <p:nvPr/>
        </p:nvSpPr>
        <p:spPr>
          <a:xfrm>
            <a:off x="457200" y="4681728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4" name="Google Shape;1454;p13"/>
          <p:cNvSpPr txBox="1"/>
          <p:nvPr/>
        </p:nvSpPr>
        <p:spPr>
          <a:xfrm>
            <a:off x="548640" y="470001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1455" name="Google Shape;1455;p13"/>
          <p:cNvSpPr txBox="1"/>
          <p:nvPr/>
        </p:nvSpPr>
        <p:spPr>
          <a:xfrm>
            <a:off x="914400" y="470001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259060192294</a:t>
            </a:r>
            <a:endParaRPr/>
          </a:p>
        </p:txBody>
      </p:sp>
      <p:sp>
        <p:nvSpPr>
          <p:cNvPr id="1456" name="Google Shape;1456;p13"/>
          <p:cNvSpPr txBox="1"/>
          <p:nvPr/>
        </p:nvSpPr>
        <p:spPr>
          <a:xfrm>
            <a:off x="1828800" y="470001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457" name="Google Shape;1457;p13"/>
          <p:cNvSpPr txBox="1"/>
          <p:nvPr/>
        </p:nvSpPr>
        <p:spPr>
          <a:xfrm>
            <a:off x="4800600" y="470001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TW SOLUTIONS LLC</a:t>
            </a:r>
            <a:endParaRPr/>
          </a:p>
        </p:txBody>
      </p:sp>
      <p:sp>
        <p:nvSpPr>
          <p:cNvPr id="1458" name="Google Shape;1458;p13"/>
          <p:cNvSpPr txBox="1"/>
          <p:nvPr/>
        </p:nvSpPr>
        <p:spPr>
          <a:xfrm>
            <a:off x="7635240" y="470001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Kayla Sauer</a:t>
            </a:r>
            <a:endParaRPr/>
          </a:p>
        </p:txBody>
      </p:sp>
      <p:sp>
        <p:nvSpPr>
          <p:cNvPr id="1459" name="Google Shape;1459;p13"/>
          <p:cNvSpPr txBox="1"/>
          <p:nvPr/>
        </p:nvSpPr>
        <p:spPr>
          <a:xfrm>
            <a:off x="10012680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$28,174</a:t>
            </a:r>
            <a:endParaRPr/>
          </a:p>
        </p:txBody>
      </p:sp>
      <p:sp>
        <p:nvSpPr>
          <p:cNvPr id="1460" name="Google Shape;1460;p13"/>
          <p:cNvSpPr txBox="1"/>
          <p:nvPr/>
        </p:nvSpPr>
        <p:spPr>
          <a:xfrm>
            <a:off x="11338559" y="470001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61" name="Google Shape;1461;p13"/>
          <p:cNvSpPr txBox="1"/>
          <p:nvPr/>
        </p:nvSpPr>
        <p:spPr>
          <a:xfrm>
            <a:off x="548640" y="490118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1462" name="Google Shape;1462;p13"/>
          <p:cNvSpPr txBox="1"/>
          <p:nvPr/>
        </p:nvSpPr>
        <p:spPr>
          <a:xfrm>
            <a:off x="914400" y="490118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256706422074</a:t>
            </a:r>
            <a:endParaRPr/>
          </a:p>
        </p:txBody>
      </p:sp>
      <p:sp>
        <p:nvSpPr>
          <p:cNvPr id="1463" name="Google Shape;1463;p13"/>
          <p:cNvSpPr txBox="1"/>
          <p:nvPr/>
        </p:nvSpPr>
        <p:spPr>
          <a:xfrm>
            <a:off x="1828800" y="490118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64" name="Google Shape;1464;p13"/>
          <p:cNvSpPr txBox="1"/>
          <p:nvPr/>
        </p:nvSpPr>
        <p:spPr>
          <a:xfrm>
            <a:off x="4800600" y="490118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MLEON HAULING LLC</a:t>
            </a:r>
            <a:endParaRPr/>
          </a:p>
        </p:txBody>
      </p:sp>
      <p:sp>
        <p:nvSpPr>
          <p:cNvPr id="1465" name="Google Shape;1465;p13"/>
          <p:cNvSpPr txBox="1"/>
          <p:nvPr/>
        </p:nvSpPr>
        <p:spPr>
          <a:xfrm>
            <a:off x="7635240" y="490118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66" name="Google Shape;1466;p13"/>
          <p:cNvSpPr txBox="1"/>
          <p:nvPr/>
        </p:nvSpPr>
        <p:spPr>
          <a:xfrm>
            <a:off x="10012680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$22,592</a:t>
            </a:r>
            <a:endParaRPr/>
          </a:p>
        </p:txBody>
      </p:sp>
      <p:sp>
        <p:nvSpPr>
          <p:cNvPr id="1467" name="Google Shape;1467;p13"/>
          <p:cNvSpPr txBox="1"/>
          <p:nvPr/>
        </p:nvSpPr>
        <p:spPr>
          <a:xfrm>
            <a:off x="11338559" y="490118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68" name="Google Shape;1468;p13"/>
          <p:cNvSpPr/>
          <p:nvPr/>
        </p:nvSpPr>
        <p:spPr>
          <a:xfrm>
            <a:off x="457200" y="5084064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9" name="Google Shape;1469;p13"/>
          <p:cNvSpPr txBox="1"/>
          <p:nvPr/>
        </p:nvSpPr>
        <p:spPr>
          <a:xfrm>
            <a:off x="548640" y="510235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1470" name="Google Shape;1470;p13"/>
          <p:cNvSpPr txBox="1"/>
          <p:nvPr/>
        </p:nvSpPr>
        <p:spPr>
          <a:xfrm>
            <a:off x="914400" y="510235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265215634398</a:t>
            </a:r>
            <a:endParaRPr/>
          </a:p>
        </p:txBody>
      </p:sp>
      <p:sp>
        <p:nvSpPr>
          <p:cNvPr id="1471" name="Google Shape;1471;p13"/>
          <p:cNvSpPr txBox="1"/>
          <p:nvPr/>
        </p:nvSpPr>
        <p:spPr>
          <a:xfrm>
            <a:off x="1828800" y="510235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72" name="Google Shape;1472;p13"/>
          <p:cNvSpPr txBox="1"/>
          <p:nvPr/>
        </p:nvSpPr>
        <p:spPr>
          <a:xfrm>
            <a:off x="4800600" y="510235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JLC LOGISTICS GROUP INC</a:t>
            </a:r>
            <a:endParaRPr/>
          </a:p>
        </p:txBody>
      </p:sp>
      <p:sp>
        <p:nvSpPr>
          <p:cNvPr id="1473" name="Google Shape;1473;p13"/>
          <p:cNvSpPr txBox="1"/>
          <p:nvPr/>
        </p:nvSpPr>
        <p:spPr>
          <a:xfrm>
            <a:off x="7635240" y="510235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74" name="Google Shape;1474;p13"/>
          <p:cNvSpPr txBox="1"/>
          <p:nvPr/>
        </p:nvSpPr>
        <p:spPr>
          <a:xfrm>
            <a:off x="10012680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$12,468</a:t>
            </a:r>
            <a:endParaRPr/>
          </a:p>
        </p:txBody>
      </p:sp>
      <p:sp>
        <p:nvSpPr>
          <p:cNvPr id="1475" name="Google Shape;1475;p13"/>
          <p:cNvSpPr txBox="1"/>
          <p:nvPr/>
        </p:nvSpPr>
        <p:spPr>
          <a:xfrm>
            <a:off x="11338559" y="510235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76" name="Google Shape;1476;p13"/>
          <p:cNvSpPr txBox="1"/>
          <p:nvPr/>
        </p:nvSpPr>
        <p:spPr>
          <a:xfrm>
            <a:off x="548640" y="5303520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1477" name="Google Shape;1477;p13"/>
          <p:cNvSpPr txBox="1"/>
          <p:nvPr/>
        </p:nvSpPr>
        <p:spPr>
          <a:xfrm>
            <a:off x="914400" y="530352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261788795252</a:t>
            </a:r>
            <a:endParaRPr/>
          </a:p>
        </p:txBody>
      </p:sp>
      <p:sp>
        <p:nvSpPr>
          <p:cNvPr id="1478" name="Google Shape;1478;p13"/>
          <p:cNvSpPr txBox="1"/>
          <p:nvPr/>
        </p:nvSpPr>
        <p:spPr>
          <a:xfrm>
            <a:off x="1828800" y="5303520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</a:t>
            </a:r>
            <a:endParaRPr/>
          </a:p>
        </p:txBody>
      </p:sp>
      <p:sp>
        <p:nvSpPr>
          <p:cNvPr id="1479" name="Google Shape;1479;p13"/>
          <p:cNvSpPr txBox="1"/>
          <p:nvPr/>
        </p:nvSpPr>
        <p:spPr>
          <a:xfrm>
            <a:off x="4800600" y="5303520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MG FREIGHT SERVICES LLC</a:t>
            </a:r>
            <a:endParaRPr/>
          </a:p>
        </p:txBody>
      </p:sp>
      <p:sp>
        <p:nvSpPr>
          <p:cNvPr id="1480" name="Google Shape;1480;p13"/>
          <p:cNvSpPr txBox="1"/>
          <p:nvPr/>
        </p:nvSpPr>
        <p:spPr>
          <a:xfrm>
            <a:off x="7635240" y="5303520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John Medina</a:t>
            </a:r>
            <a:endParaRPr/>
          </a:p>
        </p:txBody>
      </p:sp>
      <p:sp>
        <p:nvSpPr>
          <p:cNvPr id="1481" name="Google Shape;1481;p13"/>
          <p:cNvSpPr txBox="1"/>
          <p:nvPr/>
        </p:nvSpPr>
        <p:spPr>
          <a:xfrm>
            <a:off x="10012680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$16,412</a:t>
            </a:r>
            <a:endParaRPr/>
          </a:p>
        </p:txBody>
      </p:sp>
      <p:sp>
        <p:nvSpPr>
          <p:cNvPr id="1482" name="Google Shape;1482;p13"/>
          <p:cNvSpPr txBox="1"/>
          <p:nvPr/>
        </p:nvSpPr>
        <p:spPr>
          <a:xfrm>
            <a:off x="11338559" y="5303520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83" name="Google Shape;1483;p13"/>
          <p:cNvSpPr/>
          <p:nvPr/>
        </p:nvSpPr>
        <p:spPr>
          <a:xfrm>
            <a:off x="457200" y="5486400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4" name="Google Shape;1484;p13"/>
          <p:cNvSpPr txBox="1"/>
          <p:nvPr/>
        </p:nvSpPr>
        <p:spPr>
          <a:xfrm>
            <a:off x="548640" y="5504688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1485" name="Google Shape;1485;p13"/>
          <p:cNvSpPr txBox="1"/>
          <p:nvPr/>
        </p:nvSpPr>
        <p:spPr>
          <a:xfrm>
            <a:off x="914400" y="5504688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254751580975</a:t>
            </a:r>
            <a:endParaRPr/>
          </a:p>
        </p:txBody>
      </p:sp>
      <p:sp>
        <p:nvSpPr>
          <p:cNvPr id="1486" name="Google Shape;1486;p13"/>
          <p:cNvSpPr txBox="1"/>
          <p:nvPr/>
        </p:nvSpPr>
        <p:spPr>
          <a:xfrm>
            <a:off x="1828800" y="5504688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487" name="Google Shape;1487;p13"/>
          <p:cNvSpPr txBox="1"/>
          <p:nvPr/>
        </p:nvSpPr>
        <p:spPr>
          <a:xfrm>
            <a:off x="4800600" y="5504688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HUSTLE EXPRESS INC</a:t>
            </a:r>
            <a:endParaRPr/>
          </a:p>
        </p:txBody>
      </p:sp>
      <p:sp>
        <p:nvSpPr>
          <p:cNvPr id="1488" name="Google Shape;1488;p13"/>
          <p:cNvSpPr txBox="1"/>
          <p:nvPr/>
        </p:nvSpPr>
        <p:spPr>
          <a:xfrm>
            <a:off x="7635240" y="5504688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Mika Leone-Pettit</a:t>
            </a:r>
            <a:endParaRPr/>
          </a:p>
        </p:txBody>
      </p:sp>
      <p:sp>
        <p:nvSpPr>
          <p:cNvPr id="1489" name="Google Shape;1489;p13"/>
          <p:cNvSpPr txBox="1"/>
          <p:nvPr/>
        </p:nvSpPr>
        <p:spPr>
          <a:xfrm>
            <a:off x="10012680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$12,855</a:t>
            </a:r>
            <a:endParaRPr/>
          </a:p>
        </p:txBody>
      </p:sp>
      <p:sp>
        <p:nvSpPr>
          <p:cNvPr id="1490" name="Google Shape;1490;p13"/>
          <p:cNvSpPr txBox="1"/>
          <p:nvPr/>
        </p:nvSpPr>
        <p:spPr>
          <a:xfrm>
            <a:off x="11338559" y="5504688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91" name="Google Shape;1491;p13"/>
          <p:cNvSpPr txBox="1"/>
          <p:nvPr/>
        </p:nvSpPr>
        <p:spPr>
          <a:xfrm>
            <a:off x="548640" y="5705856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1492" name="Google Shape;1492;p13"/>
          <p:cNvSpPr txBox="1"/>
          <p:nvPr/>
        </p:nvSpPr>
        <p:spPr>
          <a:xfrm>
            <a:off x="914400" y="5705856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258524418294</a:t>
            </a:r>
            <a:endParaRPr/>
          </a:p>
        </p:txBody>
      </p:sp>
      <p:sp>
        <p:nvSpPr>
          <p:cNvPr id="1493" name="Google Shape;1493;p13"/>
          <p:cNvSpPr txBox="1"/>
          <p:nvPr/>
        </p:nvSpPr>
        <p:spPr>
          <a:xfrm>
            <a:off x="1828800" y="5705856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494" name="Google Shape;1494;p13"/>
          <p:cNvSpPr txBox="1"/>
          <p:nvPr/>
        </p:nvSpPr>
        <p:spPr>
          <a:xfrm>
            <a:off x="4800600" y="5705856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JOM TRANSPORT LLC</a:t>
            </a:r>
            <a:endParaRPr/>
          </a:p>
        </p:txBody>
      </p:sp>
      <p:sp>
        <p:nvSpPr>
          <p:cNvPr id="1495" name="Google Shape;1495;p13"/>
          <p:cNvSpPr txBox="1"/>
          <p:nvPr/>
        </p:nvSpPr>
        <p:spPr>
          <a:xfrm>
            <a:off x="7635240" y="5705856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Mika Leone-Pettit</a:t>
            </a:r>
            <a:endParaRPr/>
          </a:p>
        </p:txBody>
      </p:sp>
      <p:sp>
        <p:nvSpPr>
          <p:cNvPr id="1496" name="Google Shape;1496;p13"/>
          <p:cNvSpPr txBox="1"/>
          <p:nvPr/>
        </p:nvSpPr>
        <p:spPr>
          <a:xfrm>
            <a:off x="10012680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$73,248</a:t>
            </a:r>
            <a:endParaRPr/>
          </a:p>
        </p:txBody>
      </p:sp>
      <p:sp>
        <p:nvSpPr>
          <p:cNvPr id="1497" name="Google Shape;1497;p13"/>
          <p:cNvSpPr txBox="1"/>
          <p:nvPr/>
        </p:nvSpPr>
        <p:spPr>
          <a:xfrm>
            <a:off x="11338559" y="5705856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498" name="Google Shape;1498;p13"/>
          <p:cNvSpPr/>
          <p:nvPr/>
        </p:nvSpPr>
        <p:spPr>
          <a:xfrm>
            <a:off x="457200" y="5888736"/>
            <a:ext cx="11338560" cy="201168"/>
          </a:xfrm>
          <a:prstGeom prst="rect">
            <a:avLst/>
          </a:prstGeom>
          <a:solidFill>
            <a:srgbClr val="F9FAF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9" name="Google Shape;1499;p13"/>
          <p:cNvSpPr txBox="1"/>
          <p:nvPr/>
        </p:nvSpPr>
        <p:spPr>
          <a:xfrm>
            <a:off x="548640" y="5907024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1500" name="Google Shape;1500;p13"/>
          <p:cNvSpPr txBox="1"/>
          <p:nvPr/>
        </p:nvSpPr>
        <p:spPr>
          <a:xfrm>
            <a:off x="914400" y="5907024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268094179926</a:t>
            </a:r>
            <a:endParaRPr/>
          </a:p>
        </p:txBody>
      </p:sp>
      <p:sp>
        <p:nvSpPr>
          <p:cNvPr id="1501" name="Google Shape;1501;p13"/>
          <p:cNvSpPr txBox="1"/>
          <p:nvPr/>
        </p:nvSpPr>
        <p:spPr>
          <a:xfrm>
            <a:off x="1828800" y="5907024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</a:t>
            </a:r>
            <a:endParaRPr/>
          </a:p>
        </p:txBody>
      </p:sp>
      <p:sp>
        <p:nvSpPr>
          <p:cNvPr id="1502" name="Google Shape;1502;p13"/>
          <p:cNvSpPr txBox="1"/>
          <p:nvPr/>
        </p:nvSpPr>
        <p:spPr>
          <a:xfrm>
            <a:off x="4800600" y="5907024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J&amp;J ENTERPRISE LLC</a:t>
            </a:r>
            <a:endParaRPr/>
          </a:p>
        </p:txBody>
      </p:sp>
      <p:sp>
        <p:nvSpPr>
          <p:cNvPr id="1503" name="Google Shape;1503;p13"/>
          <p:cNvSpPr txBox="1"/>
          <p:nvPr/>
        </p:nvSpPr>
        <p:spPr>
          <a:xfrm>
            <a:off x="7635240" y="5907024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Jeremy Rybak</a:t>
            </a:r>
            <a:endParaRPr/>
          </a:p>
        </p:txBody>
      </p:sp>
      <p:sp>
        <p:nvSpPr>
          <p:cNvPr id="1504" name="Google Shape;1504;p13"/>
          <p:cNvSpPr txBox="1"/>
          <p:nvPr/>
        </p:nvSpPr>
        <p:spPr>
          <a:xfrm>
            <a:off x="10012680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$33,686</a:t>
            </a:r>
            <a:endParaRPr/>
          </a:p>
        </p:txBody>
      </p:sp>
      <p:sp>
        <p:nvSpPr>
          <p:cNvPr id="1505" name="Google Shape;1505;p13"/>
          <p:cNvSpPr txBox="1"/>
          <p:nvPr/>
        </p:nvSpPr>
        <p:spPr>
          <a:xfrm>
            <a:off x="11338559" y="5907024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506" name="Google Shape;1506;p13"/>
          <p:cNvSpPr txBox="1"/>
          <p:nvPr/>
        </p:nvSpPr>
        <p:spPr>
          <a:xfrm>
            <a:off x="548640" y="6108192"/>
            <a:ext cx="3657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1507" name="Google Shape;1507;p13"/>
          <p:cNvSpPr txBox="1"/>
          <p:nvPr/>
        </p:nvSpPr>
        <p:spPr>
          <a:xfrm>
            <a:off x="914400" y="6108192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259773804190</a:t>
            </a:r>
            <a:endParaRPr/>
          </a:p>
        </p:txBody>
      </p:sp>
      <p:sp>
        <p:nvSpPr>
          <p:cNvPr id="1508" name="Google Shape;1508;p13"/>
          <p:cNvSpPr txBox="1"/>
          <p:nvPr/>
        </p:nvSpPr>
        <p:spPr>
          <a:xfrm>
            <a:off x="1828800" y="6108192"/>
            <a:ext cx="2971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Five Star Insurance Services Inc</a:t>
            </a:r>
            <a:endParaRPr/>
          </a:p>
        </p:txBody>
      </p:sp>
      <p:sp>
        <p:nvSpPr>
          <p:cNvPr id="1509" name="Google Shape;1509;p13"/>
          <p:cNvSpPr txBox="1"/>
          <p:nvPr/>
        </p:nvSpPr>
        <p:spPr>
          <a:xfrm>
            <a:off x="4800600" y="6108192"/>
            <a:ext cx="28346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A2B TRUCKING LLC</a:t>
            </a:r>
            <a:endParaRPr/>
          </a:p>
        </p:txBody>
      </p:sp>
      <p:sp>
        <p:nvSpPr>
          <p:cNvPr id="1510" name="Google Shape;1510;p13"/>
          <p:cNvSpPr txBox="1"/>
          <p:nvPr/>
        </p:nvSpPr>
        <p:spPr>
          <a:xfrm>
            <a:off x="7635240" y="6108192"/>
            <a:ext cx="23774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Olga Conev</a:t>
            </a:r>
            <a:endParaRPr/>
          </a:p>
        </p:txBody>
      </p:sp>
      <p:sp>
        <p:nvSpPr>
          <p:cNvPr id="1511" name="Google Shape;1511;p13"/>
          <p:cNvSpPr txBox="1"/>
          <p:nvPr/>
        </p:nvSpPr>
        <p:spPr>
          <a:xfrm>
            <a:off x="10012680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$61,002</a:t>
            </a:r>
            <a:endParaRPr/>
          </a:p>
        </p:txBody>
      </p:sp>
      <p:sp>
        <p:nvSpPr>
          <p:cNvPr id="1512" name="Google Shape;1512;p13"/>
          <p:cNvSpPr txBox="1"/>
          <p:nvPr/>
        </p:nvSpPr>
        <p:spPr>
          <a:xfrm>
            <a:off x="11338559" y="6108192"/>
            <a:ext cx="132588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22, 2026</a:t>
            </a:r>
            <a:endParaRPr/>
          </a:p>
        </p:txBody>
      </p:sp>
      <p:sp>
        <p:nvSpPr>
          <p:cNvPr id="1513" name="Google Shape;1513;p13"/>
          <p:cNvSpPr/>
          <p:nvPr/>
        </p:nvSpPr>
        <p:spPr>
          <a:xfrm>
            <a:off x="548640" y="6345936"/>
            <a:ext cx="11155680" cy="10972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4" name="Google Shape;1514;p13"/>
          <p:cNvSpPr txBox="1"/>
          <p:nvPr/>
        </p:nvSpPr>
        <p:spPr>
          <a:xfrm>
            <a:off x="548640" y="6400800"/>
            <a:ext cx="786384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(Last 25 Submissions)</a:t>
            </a:r>
            <a:endParaRPr/>
          </a:p>
        </p:txBody>
      </p:sp>
      <p:sp>
        <p:nvSpPr>
          <p:cNvPr id="1515" name="Google Shape;1515;p13"/>
          <p:cNvSpPr txBox="1"/>
          <p:nvPr/>
        </p:nvSpPr>
        <p:spPr>
          <a:xfrm>
            <a:off x="8412480" y="6400800"/>
            <a:ext cx="18288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$926,765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19" name="Shape 1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0" name="Google Shape;1520;p1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1" name="Google Shape;1521;p14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 Watch — Next 90 Days</a:t>
            </a:r>
            <a:endParaRPr/>
          </a:p>
        </p:txBody>
      </p:sp>
      <p:sp>
        <p:nvSpPr>
          <p:cNvPr id="1522" name="Google Shape;1522;p1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 |  Active in-force policies expiring through Aug 26, 2026</a:t>
            </a:r>
            <a:endParaRPr/>
          </a:p>
        </p:txBody>
      </p:sp>
      <p:sp>
        <p:nvSpPr>
          <p:cNvPr id="1523" name="Google Shape;1523;p14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UP</a:t>
            </a:r>
            <a:endParaRPr/>
          </a:p>
        </p:txBody>
      </p:sp>
      <p:sp>
        <p:nvSpPr>
          <p:cNvPr id="1524" name="Google Shape;1524;p14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$3,014,408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TOTAL PREMIUM AT RISK</a:t>
            </a:r>
            <a:endParaRPr/>
          </a:p>
        </p:txBody>
      </p:sp>
      <p:sp>
        <p:nvSpPr>
          <p:cNvPr id="1525" name="Google Shape;1525;p14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EXPIRE ≤30 DAYS</a:t>
            </a:r>
            <a:endParaRPr/>
          </a:p>
        </p:txBody>
      </p:sp>
      <p:sp>
        <p:nvSpPr>
          <p:cNvPr id="1526" name="Google Shape;1526;p14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31-60 DAYS</a:t>
            </a:r>
            <a:endParaRPr/>
          </a:p>
        </p:txBody>
      </p:sp>
      <p:sp>
        <p:nvSpPr>
          <p:cNvPr id="1527" name="Google Shape;1527;p14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61-90 DAYS</a:t>
            </a:r>
            <a:endParaRPr/>
          </a:p>
        </p:txBody>
      </p:sp>
      <p:sp>
        <p:nvSpPr>
          <p:cNvPr id="1528" name="Google Shape;1528;p14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9" name="Google Shape;1529;p14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EXPIRING (sorted by date — earliest first)</a:t>
            </a:r>
            <a:endParaRPr/>
          </a:p>
        </p:txBody>
      </p:sp>
      <p:sp>
        <p:nvSpPr>
          <p:cNvPr id="1530" name="Google Shape;1530;p14"/>
          <p:cNvSpPr txBox="1"/>
          <p:nvPr/>
        </p:nvSpPr>
        <p:spPr>
          <a:xfrm>
            <a:off x="36576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531" name="Google Shape;1531;p14"/>
          <p:cNvSpPr txBox="1"/>
          <p:nvPr/>
        </p:nvSpPr>
        <p:spPr>
          <a:xfrm>
            <a:off x="2743200" y="2359152"/>
            <a:ext cx="11887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532" name="Google Shape;1532;p14"/>
          <p:cNvSpPr txBox="1"/>
          <p:nvPr/>
        </p:nvSpPr>
        <p:spPr>
          <a:xfrm>
            <a:off x="3931920" y="2359152"/>
            <a:ext cx="30175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533" name="Google Shape;1533;p14"/>
          <p:cNvSpPr txBox="1"/>
          <p:nvPr/>
        </p:nvSpPr>
        <p:spPr>
          <a:xfrm>
            <a:off x="694944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Exp Date</a:t>
            </a:r>
            <a:endParaRPr/>
          </a:p>
        </p:txBody>
      </p:sp>
      <p:sp>
        <p:nvSpPr>
          <p:cNvPr id="1534" name="Google Shape;1534;p14"/>
          <p:cNvSpPr txBox="1"/>
          <p:nvPr/>
        </p:nvSpPr>
        <p:spPr>
          <a:xfrm>
            <a:off x="795527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535" name="Google Shape;1535;p14"/>
          <p:cNvSpPr txBox="1"/>
          <p:nvPr/>
        </p:nvSpPr>
        <p:spPr>
          <a:xfrm>
            <a:off x="8458200" y="2359152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Coverage</a:t>
            </a:r>
            <a:endParaRPr/>
          </a:p>
        </p:txBody>
      </p:sp>
      <p:sp>
        <p:nvSpPr>
          <p:cNvPr id="1536" name="Google Shape;1536;p14"/>
          <p:cNvSpPr txBox="1"/>
          <p:nvPr/>
        </p:nvSpPr>
        <p:spPr>
          <a:xfrm>
            <a:off x="9555480" y="2359152"/>
            <a:ext cx="132588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537" name="Google Shape;1537;p14"/>
          <p:cNvSpPr txBox="1"/>
          <p:nvPr/>
        </p:nvSpPr>
        <p:spPr>
          <a:xfrm>
            <a:off x="10881359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538" name="Google Shape;1538;p14"/>
          <p:cNvSpPr/>
          <p:nvPr/>
        </p:nvSpPr>
        <p:spPr>
          <a:xfrm>
            <a:off x="365760" y="2633472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9" name="Google Shape;1539;p14"/>
          <p:cNvSpPr txBox="1"/>
          <p:nvPr/>
        </p:nvSpPr>
        <p:spPr>
          <a:xfrm>
            <a:off x="36576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Five Star Insurance Services I</a:t>
            </a:r>
            <a:endParaRPr/>
          </a:p>
        </p:txBody>
      </p:sp>
      <p:sp>
        <p:nvSpPr>
          <p:cNvPr id="1540" name="Google Shape;1540;p14"/>
          <p:cNvSpPr txBox="1"/>
          <p:nvPr/>
        </p:nvSpPr>
        <p:spPr>
          <a:xfrm>
            <a:off x="2743200" y="2670048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251435509534</a:t>
            </a:r>
            <a:endParaRPr/>
          </a:p>
        </p:txBody>
      </p:sp>
      <p:sp>
        <p:nvSpPr>
          <p:cNvPr id="1541" name="Google Shape;1541;p14"/>
          <p:cNvSpPr txBox="1"/>
          <p:nvPr/>
        </p:nvSpPr>
        <p:spPr>
          <a:xfrm>
            <a:off x="3931920" y="2670048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LADD CORPORATION</a:t>
            </a:r>
            <a:endParaRPr/>
          </a:p>
        </p:txBody>
      </p:sp>
      <p:sp>
        <p:nvSpPr>
          <p:cNvPr id="1542" name="Google Shape;1542;p14"/>
          <p:cNvSpPr txBox="1"/>
          <p:nvPr/>
        </p:nvSpPr>
        <p:spPr>
          <a:xfrm>
            <a:off x="694944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43" name="Google Shape;1543;p14"/>
          <p:cNvSpPr txBox="1"/>
          <p:nvPr/>
        </p:nvSpPr>
        <p:spPr>
          <a:xfrm>
            <a:off x="795527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44" name="Google Shape;1544;p14"/>
          <p:cNvSpPr txBox="1"/>
          <p:nvPr/>
        </p:nvSpPr>
        <p:spPr>
          <a:xfrm>
            <a:off x="8458200" y="2670048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45" name="Google Shape;1545;p14"/>
          <p:cNvSpPr txBox="1"/>
          <p:nvPr/>
        </p:nvSpPr>
        <p:spPr>
          <a:xfrm>
            <a:off x="9555480" y="2670048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$7,112</a:t>
            </a:r>
            <a:endParaRPr/>
          </a:p>
        </p:txBody>
      </p:sp>
      <p:sp>
        <p:nvSpPr>
          <p:cNvPr id="1546" name="Google Shape;1546;p14"/>
          <p:cNvSpPr txBox="1"/>
          <p:nvPr/>
        </p:nvSpPr>
        <p:spPr>
          <a:xfrm>
            <a:off x="10881359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IL</a:t>
            </a:r>
            <a:endParaRPr/>
          </a:p>
        </p:txBody>
      </p:sp>
      <p:sp>
        <p:nvSpPr>
          <p:cNvPr id="1547" name="Google Shape;1547;p14"/>
          <p:cNvSpPr txBox="1"/>
          <p:nvPr/>
        </p:nvSpPr>
        <p:spPr>
          <a:xfrm>
            <a:off x="36576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Sunstar Insurance Group Llc Db</a:t>
            </a:r>
            <a:endParaRPr/>
          </a:p>
        </p:txBody>
      </p:sp>
      <p:sp>
        <p:nvSpPr>
          <p:cNvPr id="1548" name="Google Shape;1548;p14"/>
          <p:cNvSpPr txBox="1"/>
          <p:nvPr/>
        </p:nvSpPr>
        <p:spPr>
          <a:xfrm>
            <a:off x="2743200" y="298094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257927141856</a:t>
            </a:r>
            <a:endParaRPr/>
          </a:p>
        </p:txBody>
      </p:sp>
      <p:sp>
        <p:nvSpPr>
          <p:cNvPr id="1549" name="Google Shape;1549;p14"/>
          <p:cNvSpPr txBox="1"/>
          <p:nvPr/>
        </p:nvSpPr>
        <p:spPr>
          <a:xfrm>
            <a:off x="3931920" y="2980944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ONPOINT ELITE TRUCKING LLC</a:t>
            </a:r>
            <a:endParaRPr/>
          </a:p>
        </p:txBody>
      </p:sp>
      <p:sp>
        <p:nvSpPr>
          <p:cNvPr id="1550" name="Google Shape;1550;p14"/>
          <p:cNvSpPr txBox="1"/>
          <p:nvPr/>
        </p:nvSpPr>
        <p:spPr>
          <a:xfrm>
            <a:off x="694944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51" name="Google Shape;1551;p14"/>
          <p:cNvSpPr txBox="1"/>
          <p:nvPr/>
        </p:nvSpPr>
        <p:spPr>
          <a:xfrm>
            <a:off x="795527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52" name="Google Shape;1552;p14"/>
          <p:cNvSpPr txBox="1"/>
          <p:nvPr/>
        </p:nvSpPr>
        <p:spPr>
          <a:xfrm>
            <a:off x="8458200" y="2980944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53" name="Google Shape;1553;p14"/>
          <p:cNvSpPr txBox="1"/>
          <p:nvPr/>
        </p:nvSpPr>
        <p:spPr>
          <a:xfrm>
            <a:off x="9555480" y="2980944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$11,009</a:t>
            </a:r>
            <a:endParaRPr/>
          </a:p>
        </p:txBody>
      </p:sp>
      <p:sp>
        <p:nvSpPr>
          <p:cNvPr id="1554" name="Google Shape;1554;p14"/>
          <p:cNvSpPr txBox="1"/>
          <p:nvPr/>
        </p:nvSpPr>
        <p:spPr>
          <a:xfrm>
            <a:off x="10881359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GA</a:t>
            </a:r>
            <a:endParaRPr/>
          </a:p>
        </p:txBody>
      </p:sp>
      <p:sp>
        <p:nvSpPr>
          <p:cNvPr id="1555" name="Google Shape;1555;p14"/>
          <p:cNvSpPr/>
          <p:nvPr/>
        </p:nvSpPr>
        <p:spPr>
          <a:xfrm>
            <a:off x="365760" y="325526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6" name="Google Shape;1556;p14"/>
          <p:cNvSpPr txBox="1"/>
          <p:nvPr/>
        </p:nvSpPr>
        <p:spPr>
          <a:xfrm>
            <a:off x="36576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557" name="Google Shape;1557;p14"/>
          <p:cNvSpPr txBox="1"/>
          <p:nvPr/>
        </p:nvSpPr>
        <p:spPr>
          <a:xfrm>
            <a:off x="2743200" y="329183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251709863756</a:t>
            </a:r>
            <a:endParaRPr/>
          </a:p>
        </p:txBody>
      </p:sp>
      <p:sp>
        <p:nvSpPr>
          <p:cNvPr id="1558" name="Google Shape;1558;p14"/>
          <p:cNvSpPr txBox="1"/>
          <p:nvPr/>
        </p:nvSpPr>
        <p:spPr>
          <a:xfrm>
            <a:off x="3931920" y="329183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BCF TRANSPORT LLC</a:t>
            </a:r>
            <a:endParaRPr/>
          </a:p>
        </p:txBody>
      </p:sp>
      <p:sp>
        <p:nvSpPr>
          <p:cNvPr id="1559" name="Google Shape;1559;p14"/>
          <p:cNvSpPr txBox="1"/>
          <p:nvPr/>
        </p:nvSpPr>
        <p:spPr>
          <a:xfrm>
            <a:off x="694944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60" name="Google Shape;1560;p14"/>
          <p:cNvSpPr txBox="1"/>
          <p:nvPr/>
        </p:nvSpPr>
        <p:spPr>
          <a:xfrm>
            <a:off x="795527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61" name="Google Shape;1561;p14"/>
          <p:cNvSpPr txBox="1"/>
          <p:nvPr/>
        </p:nvSpPr>
        <p:spPr>
          <a:xfrm>
            <a:off x="8458200" y="329183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62" name="Google Shape;1562;p14"/>
          <p:cNvSpPr txBox="1"/>
          <p:nvPr/>
        </p:nvSpPr>
        <p:spPr>
          <a:xfrm>
            <a:off x="9555480" y="329183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$16,568</a:t>
            </a:r>
            <a:endParaRPr/>
          </a:p>
        </p:txBody>
      </p:sp>
      <p:sp>
        <p:nvSpPr>
          <p:cNvPr id="1563" name="Google Shape;1563;p14"/>
          <p:cNvSpPr txBox="1"/>
          <p:nvPr/>
        </p:nvSpPr>
        <p:spPr>
          <a:xfrm>
            <a:off x="10881359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64" name="Google Shape;1564;p14"/>
          <p:cNvSpPr txBox="1"/>
          <p:nvPr/>
        </p:nvSpPr>
        <p:spPr>
          <a:xfrm>
            <a:off x="36576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</a:t>
            </a:r>
            <a:endParaRPr/>
          </a:p>
        </p:txBody>
      </p:sp>
      <p:sp>
        <p:nvSpPr>
          <p:cNvPr id="1565" name="Google Shape;1565;p14"/>
          <p:cNvSpPr txBox="1"/>
          <p:nvPr/>
        </p:nvSpPr>
        <p:spPr>
          <a:xfrm>
            <a:off x="2743200" y="360273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252672752931</a:t>
            </a:r>
            <a:endParaRPr/>
          </a:p>
        </p:txBody>
      </p:sp>
      <p:sp>
        <p:nvSpPr>
          <p:cNvPr id="1566" name="Google Shape;1566;p14"/>
          <p:cNvSpPr txBox="1"/>
          <p:nvPr/>
        </p:nvSpPr>
        <p:spPr>
          <a:xfrm>
            <a:off x="3931920" y="360273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 A TRANSPORT LLC</a:t>
            </a:r>
            <a:endParaRPr/>
          </a:p>
        </p:txBody>
      </p:sp>
      <p:sp>
        <p:nvSpPr>
          <p:cNvPr id="1567" name="Google Shape;1567;p14"/>
          <p:cNvSpPr txBox="1"/>
          <p:nvPr/>
        </p:nvSpPr>
        <p:spPr>
          <a:xfrm>
            <a:off x="694944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2026-05-29</a:t>
            </a:r>
            <a:endParaRPr/>
          </a:p>
        </p:txBody>
      </p:sp>
      <p:sp>
        <p:nvSpPr>
          <p:cNvPr id="1568" name="Google Shape;1568;p14"/>
          <p:cNvSpPr txBox="1"/>
          <p:nvPr/>
        </p:nvSpPr>
        <p:spPr>
          <a:xfrm>
            <a:off x="795527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1d</a:t>
            </a:r>
            <a:endParaRPr/>
          </a:p>
        </p:txBody>
      </p:sp>
      <p:sp>
        <p:nvSpPr>
          <p:cNvPr id="1569" name="Google Shape;1569;p14"/>
          <p:cNvSpPr txBox="1"/>
          <p:nvPr/>
        </p:nvSpPr>
        <p:spPr>
          <a:xfrm>
            <a:off x="8458200" y="360273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70" name="Google Shape;1570;p14"/>
          <p:cNvSpPr txBox="1"/>
          <p:nvPr/>
        </p:nvSpPr>
        <p:spPr>
          <a:xfrm>
            <a:off x="9555480" y="360273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571" name="Google Shape;1571;p14"/>
          <p:cNvSpPr txBox="1"/>
          <p:nvPr/>
        </p:nvSpPr>
        <p:spPr>
          <a:xfrm>
            <a:off x="10881359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</a:t>
            </a:r>
            <a:endParaRPr/>
          </a:p>
        </p:txBody>
      </p:sp>
      <p:sp>
        <p:nvSpPr>
          <p:cNvPr id="1572" name="Google Shape;1572;p14"/>
          <p:cNvSpPr/>
          <p:nvPr/>
        </p:nvSpPr>
        <p:spPr>
          <a:xfrm>
            <a:off x="365760" y="3877055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3" name="Google Shape;1573;p14"/>
          <p:cNvSpPr txBox="1"/>
          <p:nvPr/>
        </p:nvSpPr>
        <p:spPr>
          <a:xfrm>
            <a:off x="36576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</a:t>
            </a:r>
            <a:endParaRPr/>
          </a:p>
        </p:txBody>
      </p:sp>
      <p:sp>
        <p:nvSpPr>
          <p:cNvPr id="1574" name="Google Shape;1574;p14"/>
          <p:cNvSpPr txBox="1"/>
          <p:nvPr/>
        </p:nvSpPr>
        <p:spPr>
          <a:xfrm>
            <a:off x="2743200" y="391363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256939815740</a:t>
            </a:r>
            <a:endParaRPr/>
          </a:p>
        </p:txBody>
      </p:sp>
      <p:sp>
        <p:nvSpPr>
          <p:cNvPr id="1575" name="Google Shape;1575;p14"/>
          <p:cNvSpPr txBox="1"/>
          <p:nvPr/>
        </p:nvSpPr>
        <p:spPr>
          <a:xfrm>
            <a:off x="3931920" y="391363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L&amp;M LOGISTICS LLC</a:t>
            </a:r>
            <a:endParaRPr/>
          </a:p>
        </p:txBody>
      </p:sp>
      <p:sp>
        <p:nvSpPr>
          <p:cNvPr id="1576" name="Google Shape;1576;p14"/>
          <p:cNvSpPr txBox="1"/>
          <p:nvPr/>
        </p:nvSpPr>
        <p:spPr>
          <a:xfrm>
            <a:off x="694944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577" name="Google Shape;1577;p14"/>
          <p:cNvSpPr txBox="1"/>
          <p:nvPr/>
        </p:nvSpPr>
        <p:spPr>
          <a:xfrm>
            <a:off x="795527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578" name="Google Shape;1578;p14"/>
          <p:cNvSpPr txBox="1"/>
          <p:nvPr/>
        </p:nvSpPr>
        <p:spPr>
          <a:xfrm>
            <a:off x="8458200" y="391363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579" name="Google Shape;1579;p14"/>
          <p:cNvSpPr txBox="1"/>
          <p:nvPr/>
        </p:nvSpPr>
        <p:spPr>
          <a:xfrm>
            <a:off x="9555480" y="391363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$2,147</a:t>
            </a:r>
            <a:endParaRPr/>
          </a:p>
        </p:txBody>
      </p:sp>
      <p:sp>
        <p:nvSpPr>
          <p:cNvPr id="1580" name="Google Shape;1580;p14"/>
          <p:cNvSpPr txBox="1"/>
          <p:nvPr/>
        </p:nvSpPr>
        <p:spPr>
          <a:xfrm>
            <a:off x="10881359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NV</a:t>
            </a:r>
            <a:endParaRPr/>
          </a:p>
        </p:txBody>
      </p:sp>
      <p:sp>
        <p:nvSpPr>
          <p:cNvPr id="1581" name="Google Shape;1581;p14"/>
          <p:cNvSpPr txBox="1"/>
          <p:nvPr/>
        </p:nvSpPr>
        <p:spPr>
          <a:xfrm>
            <a:off x="36576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</a:t>
            </a:r>
            <a:endParaRPr/>
          </a:p>
        </p:txBody>
      </p:sp>
      <p:sp>
        <p:nvSpPr>
          <p:cNvPr id="1582" name="Google Shape;1582;p14"/>
          <p:cNvSpPr txBox="1"/>
          <p:nvPr/>
        </p:nvSpPr>
        <p:spPr>
          <a:xfrm>
            <a:off x="2743200" y="422452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254328681307</a:t>
            </a:r>
            <a:endParaRPr/>
          </a:p>
        </p:txBody>
      </p:sp>
      <p:sp>
        <p:nvSpPr>
          <p:cNvPr id="1583" name="Google Shape;1583;p14"/>
          <p:cNvSpPr txBox="1"/>
          <p:nvPr/>
        </p:nvSpPr>
        <p:spPr>
          <a:xfrm>
            <a:off x="3931920" y="422452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ARIZON TRANSPORTATION LLC</a:t>
            </a:r>
            <a:endParaRPr/>
          </a:p>
        </p:txBody>
      </p:sp>
      <p:sp>
        <p:nvSpPr>
          <p:cNvPr id="1584" name="Google Shape;1584;p14"/>
          <p:cNvSpPr txBox="1"/>
          <p:nvPr/>
        </p:nvSpPr>
        <p:spPr>
          <a:xfrm>
            <a:off x="694944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585" name="Google Shape;1585;p14"/>
          <p:cNvSpPr txBox="1"/>
          <p:nvPr/>
        </p:nvSpPr>
        <p:spPr>
          <a:xfrm>
            <a:off x="795527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586" name="Google Shape;1586;p14"/>
          <p:cNvSpPr txBox="1"/>
          <p:nvPr/>
        </p:nvSpPr>
        <p:spPr>
          <a:xfrm>
            <a:off x="8458200" y="422452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587" name="Google Shape;1587;p14"/>
          <p:cNvSpPr txBox="1"/>
          <p:nvPr/>
        </p:nvSpPr>
        <p:spPr>
          <a:xfrm>
            <a:off x="9555480" y="422452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$28,835</a:t>
            </a:r>
            <a:endParaRPr/>
          </a:p>
        </p:txBody>
      </p:sp>
      <p:sp>
        <p:nvSpPr>
          <p:cNvPr id="1588" name="Google Shape;1588;p14"/>
          <p:cNvSpPr txBox="1"/>
          <p:nvPr/>
        </p:nvSpPr>
        <p:spPr>
          <a:xfrm>
            <a:off x="10881359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NV</a:t>
            </a:r>
            <a:endParaRPr/>
          </a:p>
        </p:txBody>
      </p:sp>
      <p:sp>
        <p:nvSpPr>
          <p:cNvPr id="1589" name="Google Shape;1589;p14"/>
          <p:cNvSpPr/>
          <p:nvPr/>
        </p:nvSpPr>
        <p:spPr>
          <a:xfrm>
            <a:off x="365760" y="4498847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0" name="Google Shape;1590;p14"/>
          <p:cNvSpPr txBox="1"/>
          <p:nvPr/>
        </p:nvSpPr>
        <p:spPr>
          <a:xfrm>
            <a:off x="36576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591" name="Google Shape;1591;p14"/>
          <p:cNvSpPr txBox="1"/>
          <p:nvPr/>
        </p:nvSpPr>
        <p:spPr>
          <a:xfrm>
            <a:off x="2743200" y="453542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250972280522</a:t>
            </a:r>
            <a:endParaRPr/>
          </a:p>
        </p:txBody>
      </p:sp>
      <p:sp>
        <p:nvSpPr>
          <p:cNvPr id="1592" name="Google Shape;1592;p14"/>
          <p:cNvSpPr txBox="1"/>
          <p:nvPr/>
        </p:nvSpPr>
        <p:spPr>
          <a:xfrm>
            <a:off x="3931920" y="453542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 CARGO LLC</a:t>
            </a:r>
            <a:endParaRPr/>
          </a:p>
        </p:txBody>
      </p:sp>
      <p:sp>
        <p:nvSpPr>
          <p:cNvPr id="1593" name="Google Shape;1593;p14"/>
          <p:cNvSpPr txBox="1"/>
          <p:nvPr/>
        </p:nvSpPr>
        <p:spPr>
          <a:xfrm>
            <a:off x="694944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2026-05-30</a:t>
            </a:r>
            <a:endParaRPr/>
          </a:p>
        </p:txBody>
      </p:sp>
      <p:sp>
        <p:nvSpPr>
          <p:cNvPr id="1594" name="Google Shape;1594;p14"/>
          <p:cNvSpPr txBox="1"/>
          <p:nvPr/>
        </p:nvSpPr>
        <p:spPr>
          <a:xfrm>
            <a:off x="795527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2d</a:t>
            </a:r>
            <a:endParaRPr/>
          </a:p>
        </p:txBody>
      </p:sp>
      <p:sp>
        <p:nvSpPr>
          <p:cNvPr id="1595" name="Google Shape;1595;p14"/>
          <p:cNvSpPr txBox="1"/>
          <p:nvPr/>
        </p:nvSpPr>
        <p:spPr>
          <a:xfrm>
            <a:off x="8458200" y="453542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596" name="Google Shape;1596;p14"/>
          <p:cNvSpPr txBox="1"/>
          <p:nvPr/>
        </p:nvSpPr>
        <p:spPr>
          <a:xfrm>
            <a:off x="9555480" y="453542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$836</a:t>
            </a:r>
            <a:endParaRPr/>
          </a:p>
        </p:txBody>
      </p:sp>
      <p:sp>
        <p:nvSpPr>
          <p:cNvPr id="1597" name="Google Shape;1597;p14"/>
          <p:cNvSpPr txBox="1"/>
          <p:nvPr/>
        </p:nvSpPr>
        <p:spPr>
          <a:xfrm>
            <a:off x="10881359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598" name="Google Shape;1598;p14"/>
          <p:cNvSpPr txBox="1"/>
          <p:nvPr/>
        </p:nvSpPr>
        <p:spPr>
          <a:xfrm>
            <a:off x="36576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599" name="Google Shape;1599;p14"/>
          <p:cNvSpPr txBox="1"/>
          <p:nvPr/>
        </p:nvSpPr>
        <p:spPr>
          <a:xfrm>
            <a:off x="2743200" y="484631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252049434988</a:t>
            </a:r>
            <a:endParaRPr/>
          </a:p>
        </p:txBody>
      </p:sp>
      <p:sp>
        <p:nvSpPr>
          <p:cNvPr id="1600" name="Google Shape;1600;p14"/>
          <p:cNvSpPr txBox="1"/>
          <p:nvPr/>
        </p:nvSpPr>
        <p:spPr>
          <a:xfrm>
            <a:off x="3931920" y="484631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PACMAN TRANSPORT LLC</a:t>
            </a:r>
            <a:endParaRPr/>
          </a:p>
        </p:txBody>
      </p:sp>
      <p:sp>
        <p:nvSpPr>
          <p:cNvPr id="1601" name="Google Shape;1601;p14"/>
          <p:cNvSpPr txBox="1"/>
          <p:nvPr/>
        </p:nvSpPr>
        <p:spPr>
          <a:xfrm>
            <a:off x="694944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2026-05-31</a:t>
            </a:r>
            <a:endParaRPr/>
          </a:p>
        </p:txBody>
      </p:sp>
      <p:sp>
        <p:nvSpPr>
          <p:cNvPr id="1602" name="Google Shape;1602;p14"/>
          <p:cNvSpPr txBox="1"/>
          <p:nvPr/>
        </p:nvSpPr>
        <p:spPr>
          <a:xfrm>
            <a:off x="795527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603" name="Google Shape;1603;p14"/>
          <p:cNvSpPr txBox="1"/>
          <p:nvPr/>
        </p:nvSpPr>
        <p:spPr>
          <a:xfrm>
            <a:off x="8458200" y="484631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604" name="Google Shape;1604;p14"/>
          <p:cNvSpPr txBox="1"/>
          <p:nvPr/>
        </p:nvSpPr>
        <p:spPr>
          <a:xfrm>
            <a:off x="9555480" y="484631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$1,449</a:t>
            </a:r>
            <a:endParaRPr/>
          </a:p>
        </p:txBody>
      </p:sp>
      <p:sp>
        <p:nvSpPr>
          <p:cNvPr id="1605" name="Google Shape;1605;p14"/>
          <p:cNvSpPr txBox="1"/>
          <p:nvPr/>
        </p:nvSpPr>
        <p:spPr>
          <a:xfrm>
            <a:off x="10881359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06" name="Google Shape;1606;p14"/>
          <p:cNvSpPr/>
          <p:nvPr/>
        </p:nvSpPr>
        <p:spPr>
          <a:xfrm>
            <a:off x="365760" y="5120639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7" name="Google Shape;1607;p14"/>
          <p:cNvSpPr txBox="1"/>
          <p:nvPr/>
        </p:nvSpPr>
        <p:spPr>
          <a:xfrm>
            <a:off x="36576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</a:t>
            </a:r>
            <a:endParaRPr/>
          </a:p>
        </p:txBody>
      </p:sp>
      <p:sp>
        <p:nvSpPr>
          <p:cNvPr id="1608" name="Google Shape;1608;p14"/>
          <p:cNvSpPr txBox="1"/>
          <p:nvPr/>
        </p:nvSpPr>
        <p:spPr>
          <a:xfrm>
            <a:off x="2743200" y="5157215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251497155621</a:t>
            </a:r>
            <a:endParaRPr/>
          </a:p>
        </p:txBody>
      </p:sp>
      <p:sp>
        <p:nvSpPr>
          <p:cNvPr id="1609" name="Google Shape;1609;p14"/>
          <p:cNvSpPr txBox="1"/>
          <p:nvPr/>
        </p:nvSpPr>
        <p:spPr>
          <a:xfrm>
            <a:off x="3931920" y="5157215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ELITE LOGISTICS SERVICES LLC</a:t>
            </a:r>
            <a:endParaRPr/>
          </a:p>
        </p:txBody>
      </p:sp>
      <p:sp>
        <p:nvSpPr>
          <p:cNvPr id="1610" name="Google Shape;1610;p14"/>
          <p:cNvSpPr txBox="1"/>
          <p:nvPr/>
        </p:nvSpPr>
        <p:spPr>
          <a:xfrm>
            <a:off x="694944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2026-05-31</a:t>
            </a:r>
            <a:endParaRPr/>
          </a:p>
        </p:txBody>
      </p:sp>
      <p:sp>
        <p:nvSpPr>
          <p:cNvPr id="1611" name="Google Shape;1611;p14"/>
          <p:cNvSpPr txBox="1"/>
          <p:nvPr/>
        </p:nvSpPr>
        <p:spPr>
          <a:xfrm>
            <a:off x="795527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3d</a:t>
            </a:r>
            <a:endParaRPr/>
          </a:p>
        </p:txBody>
      </p:sp>
      <p:sp>
        <p:nvSpPr>
          <p:cNvPr id="1612" name="Google Shape;1612;p14"/>
          <p:cNvSpPr txBox="1"/>
          <p:nvPr/>
        </p:nvSpPr>
        <p:spPr>
          <a:xfrm>
            <a:off x="8458200" y="5157215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13" name="Google Shape;1613;p14"/>
          <p:cNvSpPr txBox="1"/>
          <p:nvPr/>
        </p:nvSpPr>
        <p:spPr>
          <a:xfrm>
            <a:off x="9555480" y="5157215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$11,147</a:t>
            </a:r>
            <a:endParaRPr/>
          </a:p>
        </p:txBody>
      </p:sp>
      <p:sp>
        <p:nvSpPr>
          <p:cNvPr id="1614" name="Google Shape;1614;p14"/>
          <p:cNvSpPr txBox="1"/>
          <p:nvPr/>
        </p:nvSpPr>
        <p:spPr>
          <a:xfrm>
            <a:off x="10881359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</a:t>
            </a:r>
            <a:endParaRPr/>
          </a:p>
        </p:txBody>
      </p:sp>
      <p:sp>
        <p:nvSpPr>
          <p:cNvPr id="1615" name="Google Shape;1615;p14"/>
          <p:cNvSpPr txBox="1"/>
          <p:nvPr/>
        </p:nvSpPr>
        <p:spPr>
          <a:xfrm>
            <a:off x="36576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616" name="Google Shape;1616;p14"/>
          <p:cNvSpPr txBox="1"/>
          <p:nvPr/>
        </p:nvSpPr>
        <p:spPr>
          <a:xfrm>
            <a:off x="2743200" y="5468111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253029491205</a:t>
            </a:r>
            <a:endParaRPr/>
          </a:p>
        </p:txBody>
      </p:sp>
      <p:sp>
        <p:nvSpPr>
          <p:cNvPr id="1617" name="Google Shape;1617;p14"/>
          <p:cNvSpPr txBox="1"/>
          <p:nvPr/>
        </p:nvSpPr>
        <p:spPr>
          <a:xfrm>
            <a:off x="3931920" y="5468111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VIGIA INVESTMENT TRUCKS AND FREIGHT LLC</a:t>
            </a:r>
            <a:endParaRPr/>
          </a:p>
        </p:txBody>
      </p:sp>
      <p:sp>
        <p:nvSpPr>
          <p:cNvPr id="1618" name="Google Shape;1618;p14"/>
          <p:cNvSpPr txBox="1"/>
          <p:nvPr/>
        </p:nvSpPr>
        <p:spPr>
          <a:xfrm>
            <a:off x="694944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2026-06-02</a:t>
            </a:r>
            <a:endParaRPr/>
          </a:p>
        </p:txBody>
      </p:sp>
      <p:sp>
        <p:nvSpPr>
          <p:cNvPr id="1619" name="Google Shape;1619;p14"/>
          <p:cNvSpPr txBox="1"/>
          <p:nvPr/>
        </p:nvSpPr>
        <p:spPr>
          <a:xfrm>
            <a:off x="795527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5d</a:t>
            </a:r>
            <a:endParaRPr/>
          </a:p>
        </p:txBody>
      </p:sp>
      <p:sp>
        <p:nvSpPr>
          <p:cNvPr id="1620" name="Google Shape;1620;p14"/>
          <p:cNvSpPr txBox="1"/>
          <p:nvPr/>
        </p:nvSpPr>
        <p:spPr>
          <a:xfrm>
            <a:off x="8458200" y="5468111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21" name="Google Shape;1621;p14"/>
          <p:cNvSpPr txBox="1"/>
          <p:nvPr/>
        </p:nvSpPr>
        <p:spPr>
          <a:xfrm>
            <a:off x="9555480" y="5468111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$1,247</a:t>
            </a:r>
            <a:endParaRPr/>
          </a:p>
        </p:txBody>
      </p:sp>
      <p:sp>
        <p:nvSpPr>
          <p:cNvPr id="1622" name="Google Shape;1622;p14"/>
          <p:cNvSpPr txBox="1"/>
          <p:nvPr/>
        </p:nvSpPr>
        <p:spPr>
          <a:xfrm>
            <a:off x="10881359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</a:t>
            </a:r>
            <a:endParaRPr/>
          </a:p>
        </p:txBody>
      </p:sp>
      <p:sp>
        <p:nvSpPr>
          <p:cNvPr id="1623" name="Google Shape;1623;p14"/>
          <p:cNvSpPr/>
          <p:nvPr/>
        </p:nvSpPr>
        <p:spPr>
          <a:xfrm>
            <a:off x="365760" y="5742431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4" name="Google Shape;1624;p14"/>
          <p:cNvSpPr txBox="1"/>
          <p:nvPr/>
        </p:nvSpPr>
        <p:spPr>
          <a:xfrm>
            <a:off x="36576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1625" name="Google Shape;1625;p14"/>
          <p:cNvSpPr txBox="1"/>
          <p:nvPr/>
        </p:nvSpPr>
        <p:spPr>
          <a:xfrm>
            <a:off x="2743200" y="5779007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256890965907</a:t>
            </a:r>
            <a:endParaRPr/>
          </a:p>
        </p:txBody>
      </p:sp>
      <p:sp>
        <p:nvSpPr>
          <p:cNvPr id="1626" name="Google Shape;1626;p14"/>
          <p:cNvSpPr txBox="1"/>
          <p:nvPr/>
        </p:nvSpPr>
        <p:spPr>
          <a:xfrm>
            <a:off x="3931920" y="5779007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WET TRANSPORT LLC</a:t>
            </a:r>
            <a:endParaRPr/>
          </a:p>
        </p:txBody>
      </p:sp>
      <p:sp>
        <p:nvSpPr>
          <p:cNvPr id="1627" name="Google Shape;1627;p14"/>
          <p:cNvSpPr txBox="1"/>
          <p:nvPr/>
        </p:nvSpPr>
        <p:spPr>
          <a:xfrm>
            <a:off x="694944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2026-06-03</a:t>
            </a:r>
            <a:endParaRPr/>
          </a:p>
        </p:txBody>
      </p:sp>
      <p:sp>
        <p:nvSpPr>
          <p:cNvPr id="1628" name="Google Shape;1628;p14"/>
          <p:cNvSpPr txBox="1"/>
          <p:nvPr/>
        </p:nvSpPr>
        <p:spPr>
          <a:xfrm>
            <a:off x="795527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6d</a:t>
            </a:r>
            <a:endParaRPr/>
          </a:p>
        </p:txBody>
      </p:sp>
      <p:sp>
        <p:nvSpPr>
          <p:cNvPr id="1629" name="Google Shape;1629;p14"/>
          <p:cNvSpPr txBox="1"/>
          <p:nvPr/>
        </p:nvSpPr>
        <p:spPr>
          <a:xfrm>
            <a:off x="8458200" y="5779007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30" name="Google Shape;1630;p14"/>
          <p:cNvSpPr txBox="1"/>
          <p:nvPr/>
        </p:nvSpPr>
        <p:spPr>
          <a:xfrm>
            <a:off x="9555480" y="5779007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31" name="Google Shape;1631;p14"/>
          <p:cNvSpPr txBox="1"/>
          <p:nvPr/>
        </p:nvSpPr>
        <p:spPr>
          <a:xfrm>
            <a:off x="10881359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NC</a:t>
            </a:r>
            <a:endParaRPr/>
          </a:p>
        </p:txBody>
      </p:sp>
      <p:sp>
        <p:nvSpPr>
          <p:cNvPr id="1632" name="Google Shape;1632;p14"/>
          <p:cNvSpPr txBox="1"/>
          <p:nvPr/>
        </p:nvSpPr>
        <p:spPr>
          <a:xfrm>
            <a:off x="36576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</a:t>
            </a:r>
            <a:endParaRPr/>
          </a:p>
        </p:txBody>
      </p:sp>
      <p:sp>
        <p:nvSpPr>
          <p:cNvPr id="1633" name="Google Shape;1633;p14"/>
          <p:cNvSpPr txBox="1"/>
          <p:nvPr/>
        </p:nvSpPr>
        <p:spPr>
          <a:xfrm>
            <a:off x="2743200" y="6089903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255768834684</a:t>
            </a:r>
            <a:endParaRPr/>
          </a:p>
        </p:txBody>
      </p:sp>
      <p:sp>
        <p:nvSpPr>
          <p:cNvPr id="1634" name="Google Shape;1634;p14"/>
          <p:cNvSpPr txBox="1"/>
          <p:nvPr/>
        </p:nvSpPr>
        <p:spPr>
          <a:xfrm>
            <a:off x="3931920" y="6089903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GLOBAL TRANSPORT FREIGHT LLC</a:t>
            </a:r>
            <a:endParaRPr/>
          </a:p>
        </p:txBody>
      </p:sp>
      <p:sp>
        <p:nvSpPr>
          <p:cNvPr id="1635" name="Google Shape;1635;p14"/>
          <p:cNvSpPr txBox="1"/>
          <p:nvPr/>
        </p:nvSpPr>
        <p:spPr>
          <a:xfrm>
            <a:off x="694944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2026-06-03</a:t>
            </a:r>
            <a:endParaRPr/>
          </a:p>
        </p:txBody>
      </p:sp>
      <p:sp>
        <p:nvSpPr>
          <p:cNvPr id="1636" name="Google Shape;1636;p14"/>
          <p:cNvSpPr txBox="1"/>
          <p:nvPr/>
        </p:nvSpPr>
        <p:spPr>
          <a:xfrm>
            <a:off x="795527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6d</a:t>
            </a:r>
            <a:endParaRPr/>
          </a:p>
        </p:txBody>
      </p:sp>
      <p:sp>
        <p:nvSpPr>
          <p:cNvPr id="1637" name="Google Shape;1637;p14"/>
          <p:cNvSpPr txBox="1"/>
          <p:nvPr/>
        </p:nvSpPr>
        <p:spPr>
          <a:xfrm>
            <a:off x="8458200" y="6089903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38" name="Google Shape;1638;p14"/>
          <p:cNvSpPr txBox="1"/>
          <p:nvPr/>
        </p:nvSpPr>
        <p:spPr>
          <a:xfrm>
            <a:off x="9555480" y="6089903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$852</a:t>
            </a:r>
            <a:endParaRPr/>
          </a:p>
        </p:txBody>
      </p:sp>
      <p:sp>
        <p:nvSpPr>
          <p:cNvPr id="1639" name="Google Shape;1639;p14"/>
          <p:cNvSpPr txBox="1"/>
          <p:nvPr/>
        </p:nvSpPr>
        <p:spPr>
          <a:xfrm>
            <a:off x="10881359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TX</a:t>
            </a:r>
            <a:endParaRPr/>
          </a:p>
        </p:txBody>
      </p:sp>
      <p:sp>
        <p:nvSpPr>
          <p:cNvPr id="1640" name="Google Shape;1640;p14"/>
          <p:cNvSpPr/>
          <p:nvPr/>
        </p:nvSpPr>
        <p:spPr>
          <a:xfrm>
            <a:off x="365760" y="6364223"/>
            <a:ext cx="1101852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1" name="Google Shape;1641;p14"/>
          <p:cNvSpPr txBox="1"/>
          <p:nvPr/>
        </p:nvSpPr>
        <p:spPr>
          <a:xfrm>
            <a:off x="36576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</a:t>
            </a:r>
            <a:endParaRPr/>
          </a:p>
        </p:txBody>
      </p:sp>
      <p:sp>
        <p:nvSpPr>
          <p:cNvPr id="1642" name="Google Shape;1642;p14"/>
          <p:cNvSpPr txBox="1"/>
          <p:nvPr/>
        </p:nvSpPr>
        <p:spPr>
          <a:xfrm>
            <a:off x="2743200" y="6400799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253516958656</a:t>
            </a:r>
            <a:endParaRPr/>
          </a:p>
        </p:txBody>
      </p:sp>
      <p:sp>
        <p:nvSpPr>
          <p:cNvPr id="1643" name="Google Shape;1643;p14"/>
          <p:cNvSpPr txBox="1"/>
          <p:nvPr/>
        </p:nvSpPr>
        <p:spPr>
          <a:xfrm>
            <a:off x="3931920" y="6400799"/>
            <a:ext cx="30175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FRICE EXPRESS LLC</a:t>
            </a:r>
            <a:endParaRPr/>
          </a:p>
        </p:txBody>
      </p:sp>
      <p:sp>
        <p:nvSpPr>
          <p:cNvPr id="1644" name="Google Shape;1644;p14"/>
          <p:cNvSpPr txBox="1"/>
          <p:nvPr/>
        </p:nvSpPr>
        <p:spPr>
          <a:xfrm>
            <a:off x="694944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2026-06-03</a:t>
            </a:r>
            <a:endParaRPr/>
          </a:p>
        </p:txBody>
      </p:sp>
      <p:sp>
        <p:nvSpPr>
          <p:cNvPr id="1645" name="Google Shape;1645;p14"/>
          <p:cNvSpPr txBox="1"/>
          <p:nvPr/>
        </p:nvSpPr>
        <p:spPr>
          <a:xfrm>
            <a:off x="795527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6d</a:t>
            </a:r>
            <a:endParaRPr/>
          </a:p>
        </p:txBody>
      </p:sp>
      <p:sp>
        <p:nvSpPr>
          <p:cNvPr id="1646" name="Google Shape;1646;p14"/>
          <p:cNvSpPr txBox="1"/>
          <p:nvPr/>
        </p:nvSpPr>
        <p:spPr>
          <a:xfrm>
            <a:off x="8458200" y="6400799"/>
            <a:ext cx="10972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APD</a:t>
            </a:r>
            <a:endParaRPr/>
          </a:p>
        </p:txBody>
      </p:sp>
      <p:sp>
        <p:nvSpPr>
          <p:cNvPr id="1647" name="Google Shape;1647;p14"/>
          <p:cNvSpPr txBox="1"/>
          <p:nvPr/>
        </p:nvSpPr>
        <p:spPr>
          <a:xfrm>
            <a:off x="9555480" y="6400799"/>
            <a:ext cx="13258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$10,713</a:t>
            </a:r>
            <a:endParaRPr/>
          </a:p>
        </p:txBody>
      </p:sp>
      <p:sp>
        <p:nvSpPr>
          <p:cNvPr id="1648" name="Google Shape;1648;p14"/>
          <p:cNvSpPr txBox="1"/>
          <p:nvPr/>
        </p:nvSpPr>
        <p:spPr>
          <a:xfrm>
            <a:off x="10881359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MD</a:t>
            </a:r>
            <a:endParaRPr/>
          </a:p>
        </p:txBody>
      </p:sp>
      <p:sp>
        <p:nvSpPr>
          <p:cNvPr id="1649" name="Google Shape;1649;p14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220 upcoming renewals  |  Source: dw_reader.policy_premium  |  Active in-force only  |  Sorted by expiration date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53" name="Shape 1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4" name="Google Shape;1654;p1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5" name="Google Shape;1655;p15"/>
          <p:cNvSpPr txBox="1"/>
          <p:nvPr/>
        </p:nvSpPr>
        <p:spPr>
          <a:xfrm>
            <a:off x="365760" y="73152"/>
            <a:ext cx="10972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Cancellations — Save List — Next 90 Days</a:t>
            </a:r>
            <a:endParaRPr/>
          </a:p>
        </p:txBody>
      </p:sp>
      <p:sp>
        <p:nvSpPr>
          <p:cNvPr id="1656" name="Google Shape;1656;p1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0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Ron Douglas  |  Policies with cancellation_date on or before Aug 26, 2026  |  Sorted by urgency — call these agencies first</a:t>
            </a:r>
            <a:endParaRPr/>
          </a:p>
        </p:txBody>
      </p:sp>
      <p:sp>
        <p:nvSpPr>
          <p:cNvPr id="1657" name="Google Shape;1657;p15"/>
          <p:cNvSpPr/>
          <p:nvPr/>
        </p:nvSpPr>
        <p:spPr>
          <a:xfrm>
            <a:off x="36576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POLICIES PENDING CANCEL</a:t>
            </a:r>
            <a:endParaRPr/>
          </a:p>
        </p:txBody>
      </p:sp>
      <p:sp>
        <p:nvSpPr>
          <p:cNvPr id="1658" name="Google Shape;1658;p15"/>
          <p:cNvSpPr/>
          <p:nvPr/>
        </p:nvSpPr>
        <p:spPr>
          <a:xfrm>
            <a:off x="274320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$93,623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PREMIUM AT RISK</a:t>
            </a:r>
            <a:endParaRPr/>
          </a:p>
        </p:txBody>
      </p:sp>
      <p:sp>
        <p:nvSpPr>
          <p:cNvPr id="1659" name="Google Shape;1659;p15"/>
          <p:cNvSpPr/>
          <p:nvPr/>
        </p:nvSpPr>
        <p:spPr>
          <a:xfrm>
            <a:off x="512064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DAYS (URGENT)</a:t>
            </a:r>
            <a:endParaRPr/>
          </a:p>
        </p:txBody>
      </p:sp>
      <p:sp>
        <p:nvSpPr>
          <p:cNvPr id="1660" name="Google Shape;1660;p15"/>
          <p:cNvSpPr/>
          <p:nvPr/>
        </p:nvSpPr>
        <p:spPr>
          <a:xfrm>
            <a:off x="7498079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$93,623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≤30 DAY PREMIUM</a:t>
            </a:r>
            <a:endParaRPr/>
          </a:p>
        </p:txBody>
      </p:sp>
      <p:sp>
        <p:nvSpPr>
          <p:cNvPr id="1661" name="Google Shape;1661;p15"/>
          <p:cNvSpPr/>
          <p:nvPr/>
        </p:nvSpPr>
        <p:spPr>
          <a:xfrm>
            <a:off x="9875520" y="960120"/>
            <a:ext cx="2286000" cy="86868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TOP REASON</a:t>
            </a:r>
            <a:endParaRPr/>
          </a:p>
        </p:txBody>
      </p:sp>
      <p:sp>
        <p:nvSpPr>
          <p:cNvPr id="1662" name="Google Shape;1662;p15"/>
          <p:cNvSpPr/>
          <p:nvPr/>
        </p:nvSpPr>
        <p:spPr>
          <a:xfrm>
            <a:off x="365760" y="1993392"/>
            <a:ext cx="11430000" cy="27432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3" name="Google Shape;1663;p15"/>
          <p:cNvSpPr txBox="1"/>
          <p:nvPr/>
        </p:nvSpPr>
        <p:spPr>
          <a:xfrm>
            <a:off x="475488" y="2029968"/>
            <a:ext cx="112471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PENDING CANCELS (sorted by cancel date — earliest first)</a:t>
            </a:r>
            <a:endParaRPr/>
          </a:p>
        </p:txBody>
      </p:sp>
      <p:sp>
        <p:nvSpPr>
          <p:cNvPr id="1664" name="Google Shape;1664;p15"/>
          <p:cNvSpPr txBox="1"/>
          <p:nvPr/>
        </p:nvSpPr>
        <p:spPr>
          <a:xfrm>
            <a:off x="365760" y="2359152"/>
            <a:ext cx="5029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Days</a:t>
            </a:r>
            <a:endParaRPr/>
          </a:p>
        </p:txBody>
      </p:sp>
      <p:sp>
        <p:nvSpPr>
          <p:cNvPr id="1665" name="Google Shape;1665;p15"/>
          <p:cNvSpPr txBox="1"/>
          <p:nvPr/>
        </p:nvSpPr>
        <p:spPr>
          <a:xfrm>
            <a:off x="868680" y="2359152"/>
            <a:ext cx="914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 Date</a:t>
            </a:r>
            <a:endParaRPr/>
          </a:p>
        </p:txBody>
      </p:sp>
      <p:sp>
        <p:nvSpPr>
          <p:cNvPr id="1666" name="Google Shape;1666;p15"/>
          <p:cNvSpPr txBox="1"/>
          <p:nvPr/>
        </p:nvSpPr>
        <p:spPr>
          <a:xfrm>
            <a:off x="1783080" y="2359152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 #</a:t>
            </a:r>
            <a:endParaRPr/>
          </a:p>
        </p:txBody>
      </p:sp>
      <p:sp>
        <p:nvSpPr>
          <p:cNvPr id="1667" name="Google Shape;1667;p15"/>
          <p:cNvSpPr txBox="1"/>
          <p:nvPr/>
        </p:nvSpPr>
        <p:spPr>
          <a:xfrm>
            <a:off x="2788920" y="2359152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</a:t>
            </a:r>
            <a:endParaRPr/>
          </a:p>
        </p:txBody>
      </p:sp>
      <p:sp>
        <p:nvSpPr>
          <p:cNvPr id="1668" name="Google Shape;1668;p15"/>
          <p:cNvSpPr txBox="1"/>
          <p:nvPr/>
        </p:nvSpPr>
        <p:spPr>
          <a:xfrm>
            <a:off x="5394960" y="2359152"/>
            <a:ext cx="2057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Agency</a:t>
            </a:r>
            <a:endParaRPr/>
          </a:p>
        </p:txBody>
      </p:sp>
      <p:sp>
        <p:nvSpPr>
          <p:cNvPr id="1669" name="Google Shape;1669;p15"/>
          <p:cNvSpPr txBox="1"/>
          <p:nvPr/>
        </p:nvSpPr>
        <p:spPr>
          <a:xfrm>
            <a:off x="74523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LOB</a:t>
            </a:r>
            <a:endParaRPr/>
          </a:p>
        </p:txBody>
      </p:sp>
      <p:sp>
        <p:nvSpPr>
          <p:cNvPr id="1670" name="Google Shape;1670;p15"/>
          <p:cNvSpPr txBox="1"/>
          <p:nvPr/>
        </p:nvSpPr>
        <p:spPr>
          <a:xfrm>
            <a:off x="7909560" y="2359152"/>
            <a:ext cx="4572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State</a:t>
            </a:r>
            <a:endParaRPr/>
          </a:p>
        </p:txBody>
      </p:sp>
      <p:sp>
        <p:nvSpPr>
          <p:cNvPr id="1671" name="Google Shape;1671;p15"/>
          <p:cNvSpPr txBox="1"/>
          <p:nvPr/>
        </p:nvSpPr>
        <p:spPr>
          <a:xfrm>
            <a:off x="8366760" y="2359152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GWP</a:t>
            </a:r>
            <a:endParaRPr/>
          </a:p>
        </p:txBody>
      </p:sp>
      <p:sp>
        <p:nvSpPr>
          <p:cNvPr id="1672" name="Google Shape;1672;p15"/>
          <p:cNvSpPr txBox="1"/>
          <p:nvPr/>
        </p:nvSpPr>
        <p:spPr>
          <a:xfrm>
            <a:off x="9418320" y="2359152"/>
            <a:ext cx="237744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Reason</a:t>
            </a:r>
            <a:endParaRPr/>
          </a:p>
        </p:txBody>
      </p:sp>
      <p:sp>
        <p:nvSpPr>
          <p:cNvPr id="1673" name="Google Shape;1673;p15"/>
          <p:cNvSpPr/>
          <p:nvPr/>
        </p:nvSpPr>
        <p:spPr>
          <a:xfrm>
            <a:off x="365760" y="2633472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4" name="Google Shape;1674;p15"/>
          <p:cNvSpPr txBox="1"/>
          <p:nvPr/>
        </p:nvSpPr>
        <p:spPr>
          <a:xfrm>
            <a:off x="365760" y="267004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75" name="Google Shape;1675;p15"/>
          <p:cNvSpPr txBox="1"/>
          <p:nvPr/>
        </p:nvSpPr>
        <p:spPr>
          <a:xfrm>
            <a:off x="868680" y="2670048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76" name="Google Shape;1676;p15"/>
          <p:cNvSpPr txBox="1"/>
          <p:nvPr/>
        </p:nvSpPr>
        <p:spPr>
          <a:xfrm>
            <a:off x="1783080" y="2670048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258635346201</a:t>
            </a:r>
            <a:endParaRPr/>
          </a:p>
        </p:txBody>
      </p:sp>
      <p:sp>
        <p:nvSpPr>
          <p:cNvPr id="1677" name="Google Shape;1677;p15"/>
          <p:cNvSpPr txBox="1"/>
          <p:nvPr/>
        </p:nvSpPr>
        <p:spPr>
          <a:xfrm>
            <a:off x="2788920" y="2670048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SUPREME FREIGHT &amp; LOGISTICS CORPORA</a:t>
            </a:r>
            <a:endParaRPr/>
          </a:p>
        </p:txBody>
      </p:sp>
      <p:sp>
        <p:nvSpPr>
          <p:cNvPr id="1678" name="Google Shape;1678;p15"/>
          <p:cNvSpPr txBox="1"/>
          <p:nvPr/>
        </p:nvSpPr>
        <p:spPr>
          <a:xfrm>
            <a:off x="5394960" y="2670048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1679" name="Google Shape;1679;p15"/>
          <p:cNvSpPr txBox="1"/>
          <p:nvPr/>
        </p:nvSpPr>
        <p:spPr>
          <a:xfrm>
            <a:off x="74523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80" name="Google Shape;1680;p15"/>
          <p:cNvSpPr txBox="1"/>
          <p:nvPr/>
        </p:nvSpPr>
        <p:spPr>
          <a:xfrm>
            <a:off x="7909560" y="2670048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81" name="Google Shape;1681;p15"/>
          <p:cNvSpPr txBox="1"/>
          <p:nvPr/>
        </p:nvSpPr>
        <p:spPr>
          <a:xfrm>
            <a:off x="8366760" y="2670048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$15,784</a:t>
            </a:r>
            <a:endParaRPr/>
          </a:p>
        </p:txBody>
      </p:sp>
      <p:sp>
        <p:nvSpPr>
          <p:cNvPr id="1682" name="Google Shape;1682;p15"/>
          <p:cNvSpPr txBox="1"/>
          <p:nvPr/>
        </p:nvSpPr>
        <p:spPr>
          <a:xfrm>
            <a:off x="9418320" y="267004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Broker Request</a:t>
            </a:r>
            <a:endParaRPr/>
          </a:p>
        </p:txBody>
      </p:sp>
      <p:sp>
        <p:nvSpPr>
          <p:cNvPr id="1683" name="Google Shape;1683;p15"/>
          <p:cNvSpPr txBox="1"/>
          <p:nvPr/>
        </p:nvSpPr>
        <p:spPr>
          <a:xfrm>
            <a:off x="365760" y="2980944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84" name="Google Shape;1684;p15"/>
          <p:cNvSpPr txBox="1"/>
          <p:nvPr/>
        </p:nvSpPr>
        <p:spPr>
          <a:xfrm>
            <a:off x="868680" y="2980944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85" name="Google Shape;1685;p15"/>
          <p:cNvSpPr txBox="1"/>
          <p:nvPr/>
        </p:nvSpPr>
        <p:spPr>
          <a:xfrm>
            <a:off x="1783080" y="2980944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261390948653</a:t>
            </a:r>
            <a:endParaRPr/>
          </a:p>
        </p:txBody>
      </p:sp>
      <p:sp>
        <p:nvSpPr>
          <p:cNvPr id="1686" name="Google Shape;1686;p15"/>
          <p:cNvSpPr txBox="1"/>
          <p:nvPr/>
        </p:nvSpPr>
        <p:spPr>
          <a:xfrm>
            <a:off x="2788920" y="2980944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SENANIK TEXAS LLC</a:t>
            </a:r>
            <a:endParaRPr/>
          </a:p>
        </p:txBody>
      </p:sp>
      <p:sp>
        <p:nvSpPr>
          <p:cNvPr id="1687" name="Google Shape;1687;p15"/>
          <p:cNvSpPr txBox="1"/>
          <p:nvPr/>
        </p:nvSpPr>
        <p:spPr>
          <a:xfrm>
            <a:off x="5394960" y="2980944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</a:t>
            </a:r>
            <a:endParaRPr/>
          </a:p>
        </p:txBody>
      </p:sp>
      <p:sp>
        <p:nvSpPr>
          <p:cNvPr id="1688" name="Google Shape;1688;p15"/>
          <p:cNvSpPr txBox="1"/>
          <p:nvPr/>
        </p:nvSpPr>
        <p:spPr>
          <a:xfrm>
            <a:off x="74523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689" name="Google Shape;1689;p15"/>
          <p:cNvSpPr txBox="1"/>
          <p:nvPr/>
        </p:nvSpPr>
        <p:spPr>
          <a:xfrm>
            <a:off x="7909560" y="2980944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IL</a:t>
            </a:r>
            <a:endParaRPr/>
          </a:p>
        </p:txBody>
      </p:sp>
      <p:sp>
        <p:nvSpPr>
          <p:cNvPr id="1690" name="Google Shape;1690;p15"/>
          <p:cNvSpPr txBox="1"/>
          <p:nvPr/>
        </p:nvSpPr>
        <p:spPr>
          <a:xfrm>
            <a:off x="8366760" y="2980944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691" name="Google Shape;1691;p15"/>
          <p:cNvSpPr txBox="1"/>
          <p:nvPr/>
        </p:nvSpPr>
        <p:spPr>
          <a:xfrm>
            <a:off x="9418320" y="2980944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 Internal</a:t>
            </a:r>
            <a:endParaRPr/>
          </a:p>
        </p:txBody>
      </p:sp>
      <p:sp>
        <p:nvSpPr>
          <p:cNvPr id="1692" name="Google Shape;1692;p15"/>
          <p:cNvSpPr/>
          <p:nvPr/>
        </p:nvSpPr>
        <p:spPr>
          <a:xfrm>
            <a:off x="365760" y="325526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3" name="Google Shape;1693;p15"/>
          <p:cNvSpPr txBox="1"/>
          <p:nvPr/>
        </p:nvSpPr>
        <p:spPr>
          <a:xfrm>
            <a:off x="365760" y="329183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694" name="Google Shape;1694;p15"/>
          <p:cNvSpPr txBox="1"/>
          <p:nvPr/>
        </p:nvSpPr>
        <p:spPr>
          <a:xfrm>
            <a:off x="868680" y="329183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695" name="Google Shape;1695;p15"/>
          <p:cNvSpPr txBox="1"/>
          <p:nvPr/>
        </p:nvSpPr>
        <p:spPr>
          <a:xfrm>
            <a:off x="1783080" y="329183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254912020538</a:t>
            </a:r>
            <a:endParaRPr/>
          </a:p>
        </p:txBody>
      </p:sp>
      <p:sp>
        <p:nvSpPr>
          <p:cNvPr id="1696" name="Google Shape;1696;p15"/>
          <p:cNvSpPr txBox="1"/>
          <p:nvPr/>
        </p:nvSpPr>
        <p:spPr>
          <a:xfrm>
            <a:off x="2788920" y="329183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JAMESON WADE TRANSPORTATION LLC</a:t>
            </a:r>
            <a:endParaRPr/>
          </a:p>
        </p:txBody>
      </p:sp>
      <p:sp>
        <p:nvSpPr>
          <p:cNvPr id="1697" name="Google Shape;1697;p15"/>
          <p:cNvSpPr txBox="1"/>
          <p:nvPr/>
        </p:nvSpPr>
        <p:spPr>
          <a:xfrm>
            <a:off x="5394960" y="329183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1698" name="Google Shape;1698;p15"/>
          <p:cNvSpPr txBox="1"/>
          <p:nvPr/>
        </p:nvSpPr>
        <p:spPr>
          <a:xfrm>
            <a:off x="74523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699" name="Google Shape;1699;p15"/>
          <p:cNvSpPr txBox="1"/>
          <p:nvPr/>
        </p:nvSpPr>
        <p:spPr>
          <a:xfrm>
            <a:off x="7909560" y="329183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TN</a:t>
            </a:r>
            <a:endParaRPr/>
          </a:p>
        </p:txBody>
      </p:sp>
      <p:sp>
        <p:nvSpPr>
          <p:cNvPr id="1700" name="Google Shape;1700;p15"/>
          <p:cNvSpPr txBox="1"/>
          <p:nvPr/>
        </p:nvSpPr>
        <p:spPr>
          <a:xfrm>
            <a:off x="8366760" y="329183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$3,044</a:t>
            </a:r>
            <a:endParaRPr/>
          </a:p>
        </p:txBody>
      </p:sp>
      <p:sp>
        <p:nvSpPr>
          <p:cNvPr id="1701" name="Google Shape;1701;p15"/>
          <p:cNvSpPr txBox="1"/>
          <p:nvPr/>
        </p:nvSpPr>
        <p:spPr>
          <a:xfrm>
            <a:off x="9418320" y="329183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702" name="Google Shape;1702;p15"/>
          <p:cNvSpPr txBox="1"/>
          <p:nvPr/>
        </p:nvSpPr>
        <p:spPr>
          <a:xfrm>
            <a:off x="365760" y="360273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03" name="Google Shape;1703;p15"/>
          <p:cNvSpPr txBox="1"/>
          <p:nvPr/>
        </p:nvSpPr>
        <p:spPr>
          <a:xfrm>
            <a:off x="868680" y="360273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04" name="Google Shape;1704;p15"/>
          <p:cNvSpPr txBox="1"/>
          <p:nvPr/>
        </p:nvSpPr>
        <p:spPr>
          <a:xfrm>
            <a:off x="1783080" y="360273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256790564372</a:t>
            </a:r>
            <a:endParaRPr/>
          </a:p>
        </p:txBody>
      </p:sp>
      <p:sp>
        <p:nvSpPr>
          <p:cNvPr id="1705" name="Google Shape;1705;p15"/>
          <p:cNvSpPr txBox="1"/>
          <p:nvPr/>
        </p:nvSpPr>
        <p:spPr>
          <a:xfrm>
            <a:off x="2788920" y="3602735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H&amp;R TRUCKING COMPANY LLC</a:t>
            </a:r>
            <a:endParaRPr/>
          </a:p>
        </p:txBody>
      </p:sp>
      <p:sp>
        <p:nvSpPr>
          <p:cNvPr id="1706" name="Google Shape;1706;p15"/>
          <p:cNvSpPr txBox="1"/>
          <p:nvPr/>
        </p:nvSpPr>
        <p:spPr>
          <a:xfrm>
            <a:off x="5394960" y="3602735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707" name="Google Shape;1707;p15"/>
          <p:cNvSpPr txBox="1"/>
          <p:nvPr/>
        </p:nvSpPr>
        <p:spPr>
          <a:xfrm>
            <a:off x="7452360" y="360273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708" name="Google Shape;1708;p15"/>
          <p:cNvSpPr txBox="1"/>
          <p:nvPr/>
        </p:nvSpPr>
        <p:spPr>
          <a:xfrm>
            <a:off x="7909560" y="360273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709" name="Google Shape;1709;p15"/>
          <p:cNvSpPr txBox="1"/>
          <p:nvPr/>
        </p:nvSpPr>
        <p:spPr>
          <a:xfrm>
            <a:off x="8366760" y="3602735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$1,308</a:t>
            </a:r>
            <a:endParaRPr/>
          </a:p>
        </p:txBody>
      </p:sp>
      <p:sp>
        <p:nvSpPr>
          <p:cNvPr id="1710" name="Google Shape;1710;p15"/>
          <p:cNvSpPr txBox="1"/>
          <p:nvPr/>
        </p:nvSpPr>
        <p:spPr>
          <a:xfrm>
            <a:off x="9418320" y="360273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11" name="Google Shape;1711;p15"/>
          <p:cNvSpPr/>
          <p:nvPr/>
        </p:nvSpPr>
        <p:spPr>
          <a:xfrm>
            <a:off x="365760" y="3877055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2" name="Google Shape;1712;p15"/>
          <p:cNvSpPr txBox="1"/>
          <p:nvPr/>
        </p:nvSpPr>
        <p:spPr>
          <a:xfrm>
            <a:off x="365760" y="391363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13" name="Google Shape;1713;p15"/>
          <p:cNvSpPr txBox="1"/>
          <p:nvPr/>
        </p:nvSpPr>
        <p:spPr>
          <a:xfrm>
            <a:off x="868680" y="391363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14" name="Google Shape;1714;p15"/>
          <p:cNvSpPr txBox="1"/>
          <p:nvPr/>
        </p:nvSpPr>
        <p:spPr>
          <a:xfrm>
            <a:off x="1783080" y="391363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258635346201</a:t>
            </a:r>
            <a:endParaRPr/>
          </a:p>
        </p:txBody>
      </p:sp>
      <p:sp>
        <p:nvSpPr>
          <p:cNvPr id="1715" name="Google Shape;1715;p15"/>
          <p:cNvSpPr txBox="1"/>
          <p:nvPr/>
        </p:nvSpPr>
        <p:spPr>
          <a:xfrm>
            <a:off x="2788920" y="3913631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SUPREME FREIGHT &amp; LOGISTICS CORPORA</a:t>
            </a:r>
            <a:endParaRPr/>
          </a:p>
        </p:txBody>
      </p:sp>
      <p:sp>
        <p:nvSpPr>
          <p:cNvPr id="1716" name="Google Shape;1716;p15"/>
          <p:cNvSpPr txBox="1"/>
          <p:nvPr/>
        </p:nvSpPr>
        <p:spPr>
          <a:xfrm>
            <a:off x="5394960" y="3913631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1717" name="Google Shape;1717;p15"/>
          <p:cNvSpPr txBox="1"/>
          <p:nvPr/>
        </p:nvSpPr>
        <p:spPr>
          <a:xfrm>
            <a:off x="7452360" y="391363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718" name="Google Shape;1718;p15"/>
          <p:cNvSpPr txBox="1"/>
          <p:nvPr/>
        </p:nvSpPr>
        <p:spPr>
          <a:xfrm>
            <a:off x="7909560" y="391363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719" name="Google Shape;1719;p15"/>
          <p:cNvSpPr txBox="1"/>
          <p:nvPr/>
        </p:nvSpPr>
        <p:spPr>
          <a:xfrm>
            <a:off x="8366760" y="3913631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$918</a:t>
            </a:r>
            <a:endParaRPr/>
          </a:p>
        </p:txBody>
      </p:sp>
      <p:sp>
        <p:nvSpPr>
          <p:cNvPr id="1720" name="Google Shape;1720;p15"/>
          <p:cNvSpPr txBox="1"/>
          <p:nvPr/>
        </p:nvSpPr>
        <p:spPr>
          <a:xfrm>
            <a:off x="9418320" y="391363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Broker Request</a:t>
            </a:r>
            <a:endParaRPr/>
          </a:p>
        </p:txBody>
      </p:sp>
      <p:sp>
        <p:nvSpPr>
          <p:cNvPr id="1721" name="Google Shape;1721;p15"/>
          <p:cNvSpPr txBox="1"/>
          <p:nvPr/>
        </p:nvSpPr>
        <p:spPr>
          <a:xfrm>
            <a:off x="365760" y="422452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22" name="Google Shape;1722;p15"/>
          <p:cNvSpPr txBox="1"/>
          <p:nvPr/>
        </p:nvSpPr>
        <p:spPr>
          <a:xfrm>
            <a:off x="868680" y="422452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23" name="Google Shape;1723;p15"/>
          <p:cNvSpPr txBox="1"/>
          <p:nvPr/>
        </p:nvSpPr>
        <p:spPr>
          <a:xfrm>
            <a:off x="1783080" y="422452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263948734330</a:t>
            </a:r>
            <a:endParaRPr/>
          </a:p>
        </p:txBody>
      </p:sp>
      <p:sp>
        <p:nvSpPr>
          <p:cNvPr id="1724" name="Google Shape;1724;p15"/>
          <p:cNvSpPr txBox="1"/>
          <p:nvPr/>
        </p:nvSpPr>
        <p:spPr>
          <a:xfrm>
            <a:off x="2788920" y="4224527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 RUNNER LOGISTICS LLC</a:t>
            </a:r>
            <a:endParaRPr/>
          </a:p>
        </p:txBody>
      </p:sp>
      <p:sp>
        <p:nvSpPr>
          <p:cNvPr id="1725" name="Google Shape;1725;p15"/>
          <p:cNvSpPr txBox="1"/>
          <p:nvPr/>
        </p:nvSpPr>
        <p:spPr>
          <a:xfrm>
            <a:off x="5394960" y="4224527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726" name="Google Shape;1726;p15"/>
          <p:cNvSpPr txBox="1"/>
          <p:nvPr/>
        </p:nvSpPr>
        <p:spPr>
          <a:xfrm>
            <a:off x="7452360" y="422452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MTC</a:t>
            </a:r>
            <a:endParaRPr/>
          </a:p>
        </p:txBody>
      </p:sp>
      <p:sp>
        <p:nvSpPr>
          <p:cNvPr id="1727" name="Google Shape;1727;p15"/>
          <p:cNvSpPr txBox="1"/>
          <p:nvPr/>
        </p:nvSpPr>
        <p:spPr>
          <a:xfrm>
            <a:off x="7909560" y="422452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728" name="Google Shape;1728;p15"/>
          <p:cNvSpPr txBox="1"/>
          <p:nvPr/>
        </p:nvSpPr>
        <p:spPr>
          <a:xfrm>
            <a:off x="8366760" y="4224527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1729" name="Google Shape;1729;p15"/>
          <p:cNvSpPr txBox="1"/>
          <p:nvPr/>
        </p:nvSpPr>
        <p:spPr>
          <a:xfrm>
            <a:off x="9418320" y="422452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30" name="Google Shape;1730;p15"/>
          <p:cNvSpPr/>
          <p:nvPr/>
        </p:nvSpPr>
        <p:spPr>
          <a:xfrm>
            <a:off x="365760" y="4498847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1" name="Google Shape;1731;p15"/>
          <p:cNvSpPr txBox="1"/>
          <p:nvPr/>
        </p:nvSpPr>
        <p:spPr>
          <a:xfrm>
            <a:off x="365760" y="453542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32" name="Google Shape;1732;p15"/>
          <p:cNvSpPr txBox="1"/>
          <p:nvPr/>
        </p:nvSpPr>
        <p:spPr>
          <a:xfrm>
            <a:off x="868680" y="453542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33" name="Google Shape;1733;p15"/>
          <p:cNvSpPr txBox="1"/>
          <p:nvPr/>
        </p:nvSpPr>
        <p:spPr>
          <a:xfrm>
            <a:off x="1783080" y="453542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258635346201</a:t>
            </a:r>
            <a:endParaRPr/>
          </a:p>
        </p:txBody>
      </p:sp>
      <p:sp>
        <p:nvSpPr>
          <p:cNvPr id="1734" name="Google Shape;1734;p15"/>
          <p:cNvSpPr txBox="1"/>
          <p:nvPr/>
        </p:nvSpPr>
        <p:spPr>
          <a:xfrm>
            <a:off x="2788920" y="4535423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SUPREME FREIGHT &amp; LOGISTICS CORPORA</a:t>
            </a:r>
            <a:endParaRPr/>
          </a:p>
        </p:txBody>
      </p:sp>
      <p:sp>
        <p:nvSpPr>
          <p:cNvPr id="1735" name="Google Shape;1735;p15"/>
          <p:cNvSpPr txBox="1"/>
          <p:nvPr/>
        </p:nvSpPr>
        <p:spPr>
          <a:xfrm>
            <a:off x="5394960" y="4535423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1736" name="Google Shape;1736;p15"/>
          <p:cNvSpPr txBox="1"/>
          <p:nvPr/>
        </p:nvSpPr>
        <p:spPr>
          <a:xfrm>
            <a:off x="7452360" y="4535423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737" name="Google Shape;1737;p15"/>
          <p:cNvSpPr txBox="1"/>
          <p:nvPr/>
        </p:nvSpPr>
        <p:spPr>
          <a:xfrm>
            <a:off x="7909560" y="4535423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738" name="Google Shape;1738;p15"/>
          <p:cNvSpPr txBox="1"/>
          <p:nvPr/>
        </p:nvSpPr>
        <p:spPr>
          <a:xfrm>
            <a:off x="8366760" y="4535423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$604</a:t>
            </a:r>
            <a:endParaRPr/>
          </a:p>
        </p:txBody>
      </p:sp>
      <p:sp>
        <p:nvSpPr>
          <p:cNvPr id="1739" name="Google Shape;1739;p15"/>
          <p:cNvSpPr txBox="1"/>
          <p:nvPr/>
        </p:nvSpPr>
        <p:spPr>
          <a:xfrm>
            <a:off x="9418320" y="453542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Insured Broker Request</a:t>
            </a:r>
            <a:endParaRPr/>
          </a:p>
        </p:txBody>
      </p:sp>
      <p:sp>
        <p:nvSpPr>
          <p:cNvPr id="1740" name="Google Shape;1740;p15"/>
          <p:cNvSpPr txBox="1"/>
          <p:nvPr/>
        </p:nvSpPr>
        <p:spPr>
          <a:xfrm>
            <a:off x="365760" y="484631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41" name="Google Shape;1741;p15"/>
          <p:cNvSpPr txBox="1"/>
          <p:nvPr/>
        </p:nvSpPr>
        <p:spPr>
          <a:xfrm>
            <a:off x="868680" y="484631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42" name="Google Shape;1742;p15"/>
          <p:cNvSpPr txBox="1"/>
          <p:nvPr/>
        </p:nvSpPr>
        <p:spPr>
          <a:xfrm>
            <a:off x="1783080" y="484631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265608133681</a:t>
            </a:r>
            <a:endParaRPr/>
          </a:p>
        </p:txBody>
      </p:sp>
      <p:sp>
        <p:nvSpPr>
          <p:cNvPr id="1743" name="Google Shape;1743;p15"/>
          <p:cNvSpPr txBox="1"/>
          <p:nvPr/>
        </p:nvSpPr>
        <p:spPr>
          <a:xfrm>
            <a:off x="2788920" y="484631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AMC TRANSPOR SERVICES LLC</a:t>
            </a:r>
            <a:endParaRPr/>
          </a:p>
        </p:txBody>
      </p:sp>
      <p:sp>
        <p:nvSpPr>
          <p:cNvPr id="1744" name="Google Shape;1744;p15"/>
          <p:cNvSpPr txBox="1"/>
          <p:nvPr/>
        </p:nvSpPr>
        <p:spPr>
          <a:xfrm>
            <a:off x="5394960" y="484631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</a:t>
            </a:r>
            <a:endParaRPr/>
          </a:p>
        </p:txBody>
      </p:sp>
      <p:sp>
        <p:nvSpPr>
          <p:cNvPr id="1745" name="Google Shape;1745;p15"/>
          <p:cNvSpPr txBox="1"/>
          <p:nvPr/>
        </p:nvSpPr>
        <p:spPr>
          <a:xfrm>
            <a:off x="7452360" y="484631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746" name="Google Shape;1746;p15"/>
          <p:cNvSpPr txBox="1"/>
          <p:nvPr/>
        </p:nvSpPr>
        <p:spPr>
          <a:xfrm>
            <a:off x="7909560" y="484631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UT</a:t>
            </a:r>
            <a:endParaRPr/>
          </a:p>
        </p:txBody>
      </p:sp>
      <p:sp>
        <p:nvSpPr>
          <p:cNvPr id="1747" name="Google Shape;1747;p15"/>
          <p:cNvSpPr txBox="1"/>
          <p:nvPr/>
        </p:nvSpPr>
        <p:spPr>
          <a:xfrm>
            <a:off x="8366760" y="484631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</a:t>
            </a:r>
            <a:endParaRPr/>
          </a:p>
        </p:txBody>
      </p:sp>
      <p:sp>
        <p:nvSpPr>
          <p:cNvPr id="1748" name="Google Shape;1748;p15"/>
          <p:cNvSpPr txBox="1"/>
          <p:nvPr/>
        </p:nvSpPr>
        <p:spPr>
          <a:xfrm>
            <a:off x="9418320" y="484631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749" name="Google Shape;1749;p15"/>
          <p:cNvSpPr/>
          <p:nvPr/>
        </p:nvSpPr>
        <p:spPr>
          <a:xfrm>
            <a:off x="365760" y="5120639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0" name="Google Shape;1750;p15"/>
          <p:cNvSpPr txBox="1"/>
          <p:nvPr/>
        </p:nvSpPr>
        <p:spPr>
          <a:xfrm>
            <a:off x="365760" y="5157215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51" name="Google Shape;1751;p15"/>
          <p:cNvSpPr txBox="1"/>
          <p:nvPr/>
        </p:nvSpPr>
        <p:spPr>
          <a:xfrm>
            <a:off x="868680" y="515721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52" name="Google Shape;1752;p15"/>
          <p:cNvSpPr txBox="1"/>
          <p:nvPr/>
        </p:nvSpPr>
        <p:spPr>
          <a:xfrm>
            <a:off x="1783080" y="5157215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261390948653</a:t>
            </a:r>
            <a:endParaRPr/>
          </a:p>
        </p:txBody>
      </p:sp>
      <p:sp>
        <p:nvSpPr>
          <p:cNvPr id="1753" name="Google Shape;1753;p15"/>
          <p:cNvSpPr txBox="1"/>
          <p:nvPr/>
        </p:nvSpPr>
        <p:spPr>
          <a:xfrm>
            <a:off x="2788920" y="5157215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SENANIK TEXAS LLC</a:t>
            </a:r>
            <a:endParaRPr/>
          </a:p>
        </p:txBody>
      </p:sp>
      <p:sp>
        <p:nvSpPr>
          <p:cNvPr id="1754" name="Google Shape;1754;p15"/>
          <p:cNvSpPr txBox="1"/>
          <p:nvPr/>
        </p:nvSpPr>
        <p:spPr>
          <a:xfrm>
            <a:off x="5394960" y="5157215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</a:t>
            </a:r>
            <a:endParaRPr/>
          </a:p>
        </p:txBody>
      </p:sp>
      <p:sp>
        <p:nvSpPr>
          <p:cNvPr id="1755" name="Google Shape;1755;p15"/>
          <p:cNvSpPr txBox="1"/>
          <p:nvPr/>
        </p:nvSpPr>
        <p:spPr>
          <a:xfrm>
            <a:off x="7452360" y="515721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TGL</a:t>
            </a:r>
            <a:endParaRPr/>
          </a:p>
        </p:txBody>
      </p:sp>
      <p:sp>
        <p:nvSpPr>
          <p:cNvPr id="1756" name="Google Shape;1756;p15"/>
          <p:cNvSpPr txBox="1"/>
          <p:nvPr/>
        </p:nvSpPr>
        <p:spPr>
          <a:xfrm>
            <a:off x="7909560" y="5157215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IL</a:t>
            </a:r>
            <a:endParaRPr/>
          </a:p>
        </p:txBody>
      </p:sp>
      <p:sp>
        <p:nvSpPr>
          <p:cNvPr id="1757" name="Google Shape;1757;p15"/>
          <p:cNvSpPr txBox="1"/>
          <p:nvPr/>
        </p:nvSpPr>
        <p:spPr>
          <a:xfrm>
            <a:off x="8366760" y="5157215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1758" name="Google Shape;1758;p15"/>
          <p:cNvSpPr txBox="1"/>
          <p:nvPr/>
        </p:nvSpPr>
        <p:spPr>
          <a:xfrm>
            <a:off x="9418320" y="5157215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 Internal</a:t>
            </a:r>
            <a:endParaRPr/>
          </a:p>
        </p:txBody>
      </p:sp>
      <p:sp>
        <p:nvSpPr>
          <p:cNvPr id="1759" name="Google Shape;1759;p15"/>
          <p:cNvSpPr txBox="1"/>
          <p:nvPr/>
        </p:nvSpPr>
        <p:spPr>
          <a:xfrm>
            <a:off x="365760" y="5468111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60" name="Google Shape;1760;p15"/>
          <p:cNvSpPr txBox="1"/>
          <p:nvPr/>
        </p:nvSpPr>
        <p:spPr>
          <a:xfrm>
            <a:off x="868680" y="5468111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61" name="Google Shape;1761;p15"/>
          <p:cNvSpPr txBox="1"/>
          <p:nvPr/>
        </p:nvSpPr>
        <p:spPr>
          <a:xfrm>
            <a:off x="1783080" y="5468111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256790564372</a:t>
            </a:r>
            <a:endParaRPr/>
          </a:p>
        </p:txBody>
      </p:sp>
      <p:sp>
        <p:nvSpPr>
          <p:cNvPr id="1762" name="Google Shape;1762;p15"/>
          <p:cNvSpPr txBox="1"/>
          <p:nvPr/>
        </p:nvSpPr>
        <p:spPr>
          <a:xfrm>
            <a:off x="2788920" y="5468111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H&amp;R TRUCKING COMPANY LLC</a:t>
            </a:r>
            <a:endParaRPr/>
          </a:p>
        </p:txBody>
      </p:sp>
      <p:sp>
        <p:nvSpPr>
          <p:cNvPr id="1763" name="Google Shape;1763;p15"/>
          <p:cNvSpPr txBox="1"/>
          <p:nvPr/>
        </p:nvSpPr>
        <p:spPr>
          <a:xfrm>
            <a:off x="5394960" y="5468111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1764" name="Google Shape;1764;p15"/>
          <p:cNvSpPr txBox="1"/>
          <p:nvPr/>
        </p:nvSpPr>
        <p:spPr>
          <a:xfrm>
            <a:off x="7452360" y="546811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765" name="Google Shape;1765;p15"/>
          <p:cNvSpPr txBox="1"/>
          <p:nvPr/>
        </p:nvSpPr>
        <p:spPr>
          <a:xfrm>
            <a:off x="7909560" y="5468111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NJ</a:t>
            </a:r>
            <a:endParaRPr/>
          </a:p>
        </p:txBody>
      </p:sp>
      <p:sp>
        <p:nvSpPr>
          <p:cNvPr id="1766" name="Google Shape;1766;p15"/>
          <p:cNvSpPr txBox="1"/>
          <p:nvPr/>
        </p:nvSpPr>
        <p:spPr>
          <a:xfrm>
            <a:off x="8366760" y="5468111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$16,520</a:t>
            </a:r>
            <a:endParaRPr/>
          </a:p>
        </p:txBody>
      </p:sp>
      <p:sp>
        <p:nvSpPr>
          <p:cNvPr id="1767" name="Google Shape;1767;p15"/>
          <p:cNvSpPr txBox="1"/>
          <p:nvPr/>
        </p:nvSpPr>
        <p:spPr>
          <a:xfrm>
            <a:off x="9418320" y="5468111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68" name="Google Shape;1768;p15"/>
          <p:cNvSpPr/>
          <p:nvPr/>
        </p:nvSpPr>
        <p:spPr>
          <a:xfrm>
            <a:off x="365760" y="5742431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9" name="Google Shape;1769;p15"/>
          <p:cNvSpPr txBox="1"/>
          <p:nvPr/>
        </p:nvSpPr>
        <p:spPr>
          <a:xfrm>
            <a:off x="365760" y="5779007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70" name="Google Shape;1770;p15"/>
          <p:cNvSpPr txBox="1"/>
          <p:nvPr/>
        </p:nvSpPr>
        <p:spPr>
          <a:xfrm>
            <a:off x="868680" y="577900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71" name="Google Shape;1771;p15"/>
          <p:cNvSpPr txBox="1"/>
          <p:nvPr/>
        </p:nvSpPr>
        <p:spPr>
          <a:xfrm>
            <a:off x="1783080" y="5779007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254912020538</a:t>
            </a:r>
            <a:endParaRPr/>
          </a:p>
        </p:txBody>
      </p:sp>
      <p:sp>
        <p:nvSpPr>
          <p:cNvPr id="1772" name="Google Shape;1772;p15"/>
          <p:cNvSpPr txBox="1"/>
          <p:nvPr/>
        </p:nvSpPr>
        <p:spPr>
          <a:xfrm>
            <a:off x="2788920" y="5779007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JAMESON WADE TRANSPORTATION LLC</a:t>
            </a:r>
            <a:endParaRPr/>
          </a:p>
        </p:txBody>
      </p:sp>
      <p:sp>
        <p:nvSpPr>
          <p:cNvPr id="1773" name="Google Shape;1773;p15"/>
          <p:cNvSpPr txBox="1"/>
          <p:nvPr/>
        </p:nvSpPr>
        <p:spPr>
          <a:xfrm>
            <a:off x="5394960" y="5779007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1774" name="Google Shape;1774;p15"/>
          <p:cNvSpPr txBox="1"/>
          <p:nvPr/>
        </p:nvSpPr>
        <p:spPr>
          <a:xfrm>
            <a:off x="7452360" y="577900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775" name="Google Shape;1775;p15"/>
          <p:cNvSpPr txBox="1"/>
          <p:nvPr/>
        </p:nvSpPr>
        <p:spPr>
          <a:xfrm>
            <a:off x="7909560" y="5779007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TN</a:t>
            </a:r>
            <a:endParaRPr/>
          </a:p>
        </p:txBody>
      </p:sp>
      <p:sp>
        <p:nvSpPr>
          <p:cNvPr id="1776" name="Google Shape;1776;p15"/>
          <p:cNvSpPr txBox="1"/>
          <p:nvPr/>
        </p:nvSpPr>
        <p:spPr>
          <a:xfrm>
            <a:off x="8366760" y="5779007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$31,241</a:t>
            </a:r>
            <a:endParaRPr/>
          </a:p>
        </p:txBody>
      </p:sp>
      <p:sp>
        <p:nvSpPr>
          <p:cNvPr id="1777" name="Google Shape;1777;p15"/>
          <p:cNvSpPr txBox="1"/>
          <p:nvPr/>
        </p:nvSpPr>
        <p:spPr>
          <a:xfrm>
            <a:off x="9418320" y="5779007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778" name="Google Shape;1778;p15"/>
          <p:cNvSpPr txBox="1"/>
          <p:nvPr/>
        </p:nvSpPr>
        <p:spPr>
          <a:xfrm>
            <a:off x="365760" y="6089903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79" name="Google Shape;1779;p15"/>
          <p:cNvSpPr txBox="1"/>
          <p:nvPr/>
        </p:nvSpPr>
        <p:spPr>
          <a:xfrm>
            <a:off x="868680" y="6089903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80" name="Google Shape;1780;p15"/>
          <p:cNvSpPr txBox="1"/>
          <p:nvPr/>
        </p:nvSpPr>
        <p:spPr>
          <a:xfrm>
            <a:off x="1783080" y="6089903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265608133681</a:t>
            </a:r>
            <a:endParaRPr/>
          </a:p>
        </p:txBody>
      </p:sp>
      <p:sp>
        <p:nvSpPr>
          <p:cNvPr id="1781" name="Google Shape;1781;p15"/>
          <p:cNvSpPr txBox="1"/>
          <p:nvPr/>
        </p:nvSpPr>
        <p:spPr>
          <a:xfrm>
            <a:off x="2788920" y="6089903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AMC TRANSPOR SERVICES LLC</a:t>
            </a:r>
            <a:endParaRPr/>
          </a:p>
        </p:txBody>
      </p:sp>
      <p:sp>
        <p:nvSpPr>
          <p:cNvPr id="1782" name="Google Shape;1782;p15"/>
          <p:cNvSpPr txBox="1"/>
          <p:nvPr/>
        </p:nvSpPr>
        <p:spPr>
          <a:xfrm>
            <a:off x="5394960" y="6089903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</a:t>
            </a:r>
            <a:endParaRPr/>
          </a:p>
        </p:txBody>
      </p:sp>
      <p:sp>
        <p:nvSpPr>
          <p:cNvPr id="1783" name="Google Shape;1783;p15"/>
          <p:cNvSpPr txBox="1"/>
          <p:nvPr/>
        </p:nvSpPr>
        <p:spPr>
          <a:xfrm>
            <a:off x="7452360" y="6089903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784" name="Google Shape;1784;p15"/>
          <p:cNvSpPr txBox="1"/>
          <p:nvPr/>
        </p:nvSpPr>
        <p:spPr>
          <a:xfrm>
            <a:off x="7909560" y="6089903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UT</a:t>
            </a:r>
            <a:endParaRPr/>
          </a:p>
        </p:txBody>
      </p:sp>
      <p:sp>
        <p:nvSpPr>
          <p:cNvPr id="1785" name="Google Shape;1785;p15"/>
          <p:cNvSpPr txBox="1"/>
          <p:nvPr/>
        </p:nvSpPr>
        <p:spPr>
          <a:xfrm>
            <a:off x="8366760" y="6089903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$3,937</a:t>
            </a:r>
            <a:endParaRPr/>
          </a:p>
        </p:txBody>
      </p:sp>
      <p:sp>
        <p:nvSpPr>
          <p:cNvPr id="1786" name="Google Shape;1786;p15"/>
          <p:cNvSpPr txBox="1"/>
          <p:nvPr/>
        </p:nvSpPr>
        <p:spPr>
          <a:xfrm>
            <a:off x="9418320" y="6089903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 Payment</a:t>
            </a:r>
            <a:endParaRPr/>
          </a:p>
        </p:txBody>
      </p:sp>
      <p:sp>
        <p:nvSpPr>
          <p:cNvPr id="1787" name="Google Shape;1787;p15"/>
          <p:cNvSpPr/>
          <p:nvPr/>
        </p:nvSpPr>
        <p:spPr>
          <a:xfrm>
            <a:off x="365760" y="6364223"/>
            <a:ext cx="11430000" cy="310896"/>
          </a:xfrm>
          <a:prstGeom prst="rect">
            <a:avLst/>
          </a:prstGeom>
          <a:solidFill>
            <a:srgbClr val="FAF8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8" name="Google Shape;1788;p15"/>
          <p:cNvSpPr txBox="1"/>
          <p:nvPr/>
        </p:nvSpPr>
        <p:spPr>
          <a:xfrm>
            <a:off x="365760" y="6400799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0d</a:t>
            </a:r>
            <a:endParaRPr/>
          </a:p>
        </p:txBody>
      </p:sp>
      <p:sp>
        <p:nvSpPr>
          <p:cNvPr id="1789" name="Google Shape;1789;p15"/>
          <p:cNvSpPr txBox="1"/>
          <p:nvPr/>
        </p:nvSpPr>
        <p:spPr>
          <a:xfrm>
            <a:off x="868680" y="6400799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2026-05-28</a:t>
            </a:r>
            <a:endParaRPr/>
          </a:p>
        </p:txBody>
      </p:sp>
      <p:sp>
        <p:nvSpPr>
          <p:cNvPr id="1790" name="Google Shape;1790;p15"/>
          <p:cNvSpPr txBox="1"/>
          <p:nvPr/>
        </p:nvSpPr>
        <p:spPr>
          <a:xfrm>
            <a:off x="1783080" y="6400799"/>
            <a:ext cx="10058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263948734330</a:t>
            </a:r>
            <a:endParaRPr/>
          </a:p>
        </p:txBody>
      </p:sp>
      <p:sp>
        <p:nvSpPr>
          <p:cNvPr id="1791" name="Google Shape;1791;p15"/>
          <p:cNvSpPr txBox="1"/>
          <p:nvPr/>
        </p:nvSpPr>
        <p:spPr>
          <a:xfrm>
            <a:off x="2788920" y="6400799"/>
            <a:ext cx="26060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ROAD RUNNER LOGISTICS LLC</a:t>
            </a:r>
            <a:endParaRPr/>
          </a:p>
        </p:txBody>
      </p:sp>
      <p:sp>
        <p:nvSpPr>
          <p:cNvPr id="1792" name="Google Shape;1792;p15"/>
          <p:cNvSpPr txBox="1"/>
          <p:nvPr/>
        </p:nvSpPr>
        <p:spPr>
          <a:xfrm>
            <a:off x="5394960" y="6400799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793" name="Google Shape;1793;p15"/>
          <p:cNvSpPr txBox="1"/>
          <p:nvPr/>
        </p:nvSpPr>
        <p:spPr>
          <a:xfrm>
            <a:off x="7452360" y="640079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AL</a:t>
            </a:r>
            <a:endParaRPr/>
          </a:p>
        </p:txBody>
      </p:sp>
      <p:sp>
        <p:nvSpPr>
          <p:cNvPr id="1794" name="Google Shape;1794;p15"/>
          <p:cNvSpPr txBox="1"/>
          <p:nvPr/>
        </p:nvSpPr>
        <p:spPr>
          <a:xfrm>
            <a:off x="7909560" y="6400799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</a:t>
            </a:r>
            <a:endParaRPr/>
          </a:p>
        </p:txBody>
      </p:sp>
      <p:sp>
        <p:nvSpPr>
          <p:cNvPr id="1795" name="Google Shape;1795;p15"/>
          <p:cNvSpPr txBox="1"/>
          <p:nvPr/>
        </p:nvSpPr>
        <p:spPr>
          <a:xfrm>
            <a:off x="8366760" y="6400799"/>
            <a:ext cx="10515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$15,082</a:t>
            </a:r>
            <a:endParaRPr/>
          </a:p>
        </p:txBody>
      </p:sp>
      <p:sp>
        <p:nvSpPr>
          <p:cNvPr id="1796" name="Google Shape;1796;p15"/>
          <p:cNvSpPr txBox="1"/>
          <p:nvPr/>
        </p:nvSpPr>
        <p:spPr>
          <a:xfrm>
            <a:off x="9418320" y="6400799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Material Changes</a:t>
            </a:r>
            <a:endParaRPr/>
          </a:p>
        </p:txBody>
      </p:sp>
      <p:sp>
        <p:nvSpPr>
          <p:cNvPr id="1797" name="Google Shape;1797;p15"/>
          <p:cNvSpPr txBox="1"/>
          <p:nvPr/>
        </p:nvSpPr>
        <p:spPr>
          <a:xfrm>
            <a:off x="365760" y="6492240"/>
            <a:ext cx="114300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Showing 13 of 15 pending cancels  |  Source: dw_reader.policy_premium  |  Non-payment = green (most savable), Insured-requested = red, Days ≤14 = red  |  Action: contact agency, confirm reinstatement plan, escalate non-payment cases for billing fix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1" name="Shape 18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2" name="Google Shape;1802;p1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3" name="Google Shape;1803;p1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Usa Specialty Insurance/dba Preventty</a:t>
            </a:r>
            <a:endParaRPr/>
          </a:p>
        </p:txBody>
      </p:sp>
      <p:sp>
        <p:nvSpPr>
          <p:cNvPr id="1804" name="Google Shape;1804;p1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  |  City: Orlando</a:t>
            </a:r>
            <a:endParaRPr/>
          </a:p>
        </p:txBody>
      </p:sp>
      <p:sp>
        <p:nvSpPr>
          <p:cNvPr id="1805" name="Google Shape;1805;p1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$7,691,769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806" name="Google Shape;1806;p1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$6,020,384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07" name="Google Shape;1807;p1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$546,787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08" name="Google Shape;1808;p1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$1,124,597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09" name="Google Shape;1809;p1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$-3,606,554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10" name="Google Shape;1810;p1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$13,138,537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811" name="Google Shape;1811;p1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$16,245,459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812" name="Google Shape;1812;p1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813" name="Google Shape;1813;p1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814" name="Google Shape;1814;p1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15" name="Google Shape;1815;p1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16" name="Google Shape;1816;p1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$1,538,131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817" name="Google Shape;1817;p1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$5,071,667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818" name="Google Shape;1818;p1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9" name="Google Shape;1819;p1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820" name="Google Shape;1820;p1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21" name="Google Shape;1821;p1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822" name="Google Shape;1822;p1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823" name="Google Shape;1823;p1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824" name="Google Shape;1824;p1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825" name="Google Shape;1825;p1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826" name="Google Shape;1826;p1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7" name="Google Shape;1827;p1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28" name="Google Shape;1828;p1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$1,141,804</a:t>
            </a:r>
            <a:endParaRPr/>
          </a:p>
        </p:txBody>
      </p:sp>
      <p:sp>
        <p:nvSpPr>
          <p:cNvPr id="1829" name="Google Shape;1829;p1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$928,842</a:t>
            </a:r>
            <a:endParaRPr/>
          </a:p>
        </p:txBody>
      </p:sp>
      <p:sp>
        <p:nvSpPr>
          <p:cNvPr id="1830" name="Google Shape;1830;p1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$31,846</a:t>
            </a:r>
            <a:endParaRPr/>
          </a:p>
        </p:txBody>
      </p:sp>
      <p:sp>
        <p:nvSpPr>
          <p:cNvPr id="1831" name="Google Shape;1831;p1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$181,117</a:t>
            </a:r>
            <a:endParaRPr/>
          </a:p>
        </p:txBody>
      </p:sp>
      <p:sp>
        <p:nvSpPr>
          <p:cNvPr id="1832" name="Google Shape;1832;p1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$-591,526</a:t>
            </a:r>
            <a:endParaRPr/>
          </a:p>
        </p:txBody>
      </p:sp>
      <p:sp>
        <p:nvSpPr>
          <p:cNvPr id="1833" name="Google Shape;1833;p1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4" name="Google Shape;1834;p1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35" name="Google Shape;1835;p1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$1,336,794</a:t>
            </a:r>
            <a:endParaRPr/>
          </a:p>
        </p:txBody>
      </p:sp>
      <p:sp>
        <p:nvSpPr>
          <p:cNvPr id="1836" name="Google Shape;1836;p1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$984,986</a:t>
            </a:r>
            <a:endParaRPr/>
          </a:p>
        </p:txBody>
      </p:sp>
      <p:sp>
        <p:nvSpPr>
          <p:cNvPr id="1837" name="Google Shape;1837;p1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$131,900</a:t>
            </a:r>
            <a:endParaRPr/>
          </a:p>
        </p:txBody>
      </p:sp>
      <p:sp>
        <p:nvSpPr>
          <p:cNvPr id="1838" name="Google Shape;1838;p1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$219,908</a:t>
            </a:r>
            <a:endParaRPr/>
          </a:p>
        </p:txBody>
      </p:sp>
      <p:sp>
        <p:nvSpPr>
          <p:cNvPr id="1839" name="Google Shape;1839;p1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$-433,222</a:t>
            </a:r>
            <a:endParaRPr/>
          </a:p>
        </p:txBody>
      </p:sp>
      <p:sp>
        <p:nvSpPr>
          <p:cNvPr id="1840" name="Google Shape;1840;p1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1" name="Google Shape;1841;p1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42" name="Google Shape;1842;p1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$1,775,629</a:t>
            </a:r>
            <a:endParaRPr/>
          </a:p>
        </p:txBody>
      </p:sp>
      <p:sp>
        <p:nvSpPr>
          <p:cNvPr id="1843" name="Google Shape;1843;p1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$1,585,412</a:t>
            </a:r>
            <a:endParaRPr/>
          </a:p>
        </p:txBody>
      </p:sp>
      <p:sp>
        <p:nvSpPr>
          <p:cNvPr id="1844" name="Google Shape;1844;p1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$21,874</a:t>
            </a:r>
            <a:endParaRPr/>
          </a:p>
        </p:txBody>
      </p:sp>
      <p:sp>
        <p:nvSpPr>
          <p:cNvPr id="1845" name="Google Shape;1845;p1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$168,343</a:t>
            </a:r>
            <a:endParaRPr/>
          </a:p>
        </p:txBody>
      </p:sp>
      <p:sp>
        <p:nvSpPr>
          <p:cNvPr id="1846" name="Google Shape;1846;p1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$-724,452</a:t>
            </a:r>
            <a:endParaRPr/>
          </a:p>
        </p:txBody>
      </p:sp>
      <p:sp>
        <p:nvSpPr>
          <p:cNvPr id="1847" name="Google Shape;1847;p1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8" name="Google Shape;1848;p1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49" name="Google Shape;1849;p1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$1,844,234</a:t>
            </a:r>
            <a:endParaRPr/>
          </a:p>
        </p:txBody>
      </p:sp>
      <p:sp>
        <p:nvSpPr>
          <p:cNvPr id="1850" name="Google Shape;1850;p1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$1,397,247</a:t>
            </a:r>
            <a:endParaRPr/>
          </a:p>
        </p:txBody>
      </p:sp>
      <p:sp>
        <p:nvSpPr>
          <p:cNvPr id="1851" name="Google Shape;1851;p1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$127,200</a:t>
            </a:r>
            <a:endParaRPr/>
          </a:p>
        </p:txBody>
      </p:sp>
      <p:sp>
        <p:nvSpPr>
          <p:cNvPr id="1852" name="Google Shape;1852;p1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$319,787</a:t>
            </a:r>
            <a:endParaRPr/>
          </a:p>
        </p:txBody>
      </p:sp>
      <p:sp>
        <p:nvSpPr>
          <p:cNvPr id="1853" name="Google Shape;1853;p1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$-977,679</a:t>
            </a:r>
            <a:endParaRPr/>
          </a:p>
        </p:txBody>
      </p:sp>
      <p:sp>
        <p:nvSpPr>
          <p:cNvPr id="1854" name="Google Shape;1854;p1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5" name="Google Shape;1855;p1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856" name="Google Shape;1856;p1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$1,593,307</a:t>
            </a:r>
            <a:endParaRPr/>
          </a:p>
        </p:txBody>
      </p:sp>
      <p:sp>
        <p:nvSpPr>
          <p:cNvPr id="1857" name="Google Shape;1857;p1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$1,123,898</a:t>
            </a:r>
            <a:endParaRPr/>
          </a:p>
        </p:txBody>
      </p:sp>
      <p:sp>
        <p:nvSpPr>
          <p:cNvPr id="1858" name="Google Shape;1858;p1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$233,967</a:t>
            </a:r>
            <a:endParaRPr/>
          </a:p>
        </p:txBody>
      </p:sp>
      <p:sp>
        <p:nvSpPr>
          <p:cNvPr id="1859" name="Google Shape;1859;p1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$235,442</a:t>
            </a:r>
            <a:endParaRPr/>
          </a:p>
        </p:txBody>
      </p:sp>
      <p:sp>
        <p:nvSpPr>
          <p:cNvPr id="1860" name="Google Shape;1860;p1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$-879,676</a:t>
            </a:r>
            <a:endParaRPr/>
          </a:p>
        </p:txBody>
      </p:sp>
      <p:sp>
        <p:nvSpPr>
          <p:cNvPr id="1861" name="Google Shape;1861;p1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2" name="Google Shape;1862;p1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863" name="Google Shape;1863;p1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$7,691,769</a:t>
            </a:r>
            <a:endParaRPr/>
          </a:p>
        </p:txBody>
      </p:sp>
      <p:sp>
        <p:nvSpPr>
          <p:cNvPr id="1864" name="Google Shape;1864;p1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$6,020,384</a:t>
            </a:r>
            <a:endParaRPr/>
          </a:p>
        </p:txBody>
      </p:sp>
      <p:sp>
        <p:nvSpPr>
          <p:cNvPr id="1865" name="Google Shape;1865;p1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$546,787</a:t>
            </a:r>
            <a:endParaRPr/>
          </a:p>
        </p:txBody>
      </p:sp>
      <p:sp>
        <p:nvSpPr>
          <p:cNvPr id="1866" name="Google Shape;1866;p1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$1,124,597</a:t>
            </a:r>
            <a:endParaRPr/>
          </a:p>
        </p:txBody>
      </p:sp>
      <p:sp>
        <p:nvSpPr>
          <p:cNvPr id="1867" name="Google Shape;1867;p1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$-3,606,554</a:t>
            </a:r>
            <a:endParaRPr/>
          </a:p>
        </p:txBody>
      </p:sp>
      <p:sp>
        <p:nvSpPr>
          <p:cNvPr id="1868" name="Google Shape;1868;p1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9" name="Google Shape;1869;p1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1870" name="Google Shape;1870;p1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871" name="Google Shape;1871;p1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1872" name="Google Shape;1872;p1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1873" name="Google Shape;1873;p1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1874" name="Google Shape;1874;p1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875" name="Google Shape;1875;p1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876" name="Google Shape;1876;p1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7" name="Google Shape;1877;p1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1878" name="Google Shape;1878;p1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601</a:t>
            </a:r>
            <a:endParaRPr/>
          </a:p>
        </p:txBody>
      </p:sp>
      <p:sp>
        <p:nvSpPr>
          <p:cNvPr id="1879" name="Google Shape;1879;p1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1880" name="Google Shape;1880;p1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546</a:t>
            </a:r>
            <a:endParaRPr/>
          </a:p>
        </p:txBody>
      </p:sp>
      <p:sp>
        <p:nvSpPr>
          <p:cNvPr id="1881" name="Google Shape;1881;p1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1882" name="Google Shape;1882;p1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13.8%</a:t>
            </a:r>
            <a:endParaRPr/>
          </a:p>
        </p:txBody>
      </p:sp>
      <p:sp>
        <p:nvSpPr>
          <p:cNvPr id="1883" name="Google Shape;1883;p1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4" name="Google Shape;1884;p1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1885" name="Google Shape;1885;p1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649</a:t>
            </a:r>
            <a:endParaRPr/>
          </a:p>
        </p:txBody>
      </p:sp>
      <p:sp>
        <p:nvSpPr>
          <p:cNvPr id="1886" name="Google Shape;1886;p1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1887" name="Google Shape;1887;p1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583</a:t>
            </a:r>
            <a:endParaRPr/>
          </a:p>
        </p:txBody>
      </p:sp>
      <p:sp>
        <p:nvSpPr>
          <p:cNvPr id="1888" name="Google Shape;1888;p1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</a:t>
            </a:r>
            <a:endParaRPr/>
          </a:p>
        </p:txBody>
      </p:sp>
      <p:sp>
        <p:nvSpPr>
          <p:cNvPr id="1889" name="Google Shape;1889;p1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1890" name="Google Shape;1890;p1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1" name="Google Shape;1891;p1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1892" name="Google Shape;1892;p1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748</a:t>
            </a:r>
            <a:endParaRPr/>
          </a:p>
        </p:txBody>
      </p:sp>
      <p:sp>
        <p:nvSpPr>
          <p:cNvPr id="1893" name="Google Shape;1893;p1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1894" name="Google Shape;1894;p1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680</a:t>
            </a:r>
            <a:endParaRPr/>
          </a:p>
        </p:txBody>
      </p:sp>
      <p:sp>
        <p:nvSpPr>
          <p:cNvPr id="1895" name="Google Shape;1895;p1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84</a:t>
            </a:r>
            <a:endParaRPr/>
          </a:p>
        </p:txBody>
      </p:sp>
      <p:sp>
        <p:nvSpPr>
          <p:cNvPr id="1896" name="Google Shape;1896;p1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11.2%</a:t>
            </a:r>
            <a:endParaRPr/>
          </a:p>
        </p:txBody>
      </p:sp>
      <p:sp>
        <p:nvSpPr>
          <p:cNvPr id="1897" name="Google Shape;1897;p1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8" name="Google Shape;1898;p1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1899" name="Google Shape;1899;p1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889</a:t>
            </a:r>
            <a:endParaRPr/>
          </a:p>
        </p:txBody>
      </p:sp>
      <p:sp>
        <p:nvSpPr>
          <p:cNvPr id="1900" name="Google Shape;1900;p1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1901" name="Google Shape;1901;p1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817</a:t>
            </a:r>
            <a:endParaRPr/>
          </a:p>
        </p:txBody>
      </p:sp>
      <p:sp>
        <p:nvSpPr>
          <p:cNvPr id="1902" name="Google Shape;1902;p1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107</a:t>
            </a:r>
            <a:endParaRPr/>
          </a:p>
        </p:txBody>
      </p:sp>
      <p:sp>
        <p:nvSpPr>
          <p:cNvPr id="1903" name="Google Shape;1903;p1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12.0%</a:t>
            </a:r>
            <a:endParaRPr/>
          </a:p>
        </p:txBody>
      </p:sp>
      <p:sp>
        <p:nvSpPr>
          <p:cNvPr id="1904" name="Google Shape;1904;p1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5" name="Google Shape;1905;p1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1906" name="Google Shape;1906;p1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622</a:t>
            </a:r>
            <a:endParaRPr/>
          </a:p>
        </p:txBody>
      </p:sp>
      <p:sp>
        <p:nvSpPr>
          <p:cNvPr id="1907" name="Google Shape;1907;p1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1908" name="Google Shape;1908;p1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563</a:t>
            </a:r>
            <a:endParaRPr/>
          </a:p>
        </p:txBody>
      </p:sp>
      <p:sp>
        <p:nvSpPr>
          <p:cNvPr id="1909" name="Google Shape;1909;p1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1910" name="Google Shape;1910;p1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1911" name="Google Shape;1911;p1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2" name="Google Shape;1912;p1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1913" name="Google Shape;1913;p1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3091</a:t>
            </a:r>
            <a:endParaRPr/>
          </a:p>
        </p:txBody>
      </p:sp>
      <p:sp>
        <p:nvSpPr>
          <p:cNvPr id="1914" name="Google Shape;1914;p1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291</a:t>
            </a:r>
            <a:endParaRPr/>
          </a:p>
        </p:txBody>
      </p:sp>
      <p:sp>
        <p:nvSpPr>
          <p:cNvPr id="1915" name="Google Shape;1915;p1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2800</a:t>
            </a:r>
            <a:endParaRPr/>
          </a:p>
        </p:txBody>
      </p:sp>
      <p:sp>
        <p:nvSpPr>
          <p:cNvPr id="1916" name="Google Shape;1916;p1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250</a:t>
            </a:r>
            <a:endParaRPr/>
          </a:p>
        </p:txBody>
      </p:sp>
      <p:sp>
        <p:nvSpPr>
          <p:cNvPr id="1917" name="Google Shape;1917;p1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8.1%</a:t>
            </a:r>
            <a:endParaRPr/>
          </a:p>
        </p:txBody>
      </p:sp>
      <p:sp>
        <p:nvSpPr>
          <p:cNvPr id="1918" name="Google Shape;1918;p1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9" name="Google Shape;1919;p1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1920" name="Google Shape;1920;p1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1921" name="Google Shape;1921;p1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1922" name="Google Shape;1922;p1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1923" name="Google Shape;1923;p1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1924" name="Google Shape;1924;p1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1925" name="Google Shape;1925;p1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1926" name="Google Shape;1926;p1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1927" name="Google Shape;1927;p1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1928" name="Google Shape;1928;p1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1929" name="Google Shape;1929;p1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1930" name="Google Shape;1930;p1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1931" name="Google Shape;1931;p1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1932" name="Google Shape;1932;p1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1933" name="Google Shape;1933;p1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34" name="Google Shape;1934;p1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563</a:t>
            </a:r>
            <a:endParaRPr/>
          </a:p>
        </p:txBody>
      </p:sp>
      <p:sp>
        <p:nvSpPr>
          <p:cNvPr id="1935" name="Google Shape;1935;p1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601</a:t>
            </a:r>
            <a:endParaRPr/>
          </a:p>
        </p:txBody>
      </p:sp>
      <p:sp>
        <p:nvSpPr>
          <p:cNvPr id="1936" name="Google Shape;1936;p1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533</a:t>
            </a:r>
            <a:endParaRPr/>
          </a:p>
        </p:txBody>
      </p:sp>
      <p:sp>
        <p:nvSpPr>
          <p:cNvPr id="1937" name="Google Shape;1937;p1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649</a:t>
            </a:r>
            <a:endParaRPr/>
          </a:p>
        </p:txBody>
      </p:sp>
      <p:sp>
        <p:nvSpPr>
          <p:cNvPr id="1938" name="Google Shape;1938;p1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666</a:t>
            </a:r>
            <a:endParaRPr/>
          </a:p>
        </p:txBody>
      </p:sp>
      <p:sp>
        <p:nvSpPr>
          <p:cNvPr id="1939" name="Google Shape;1939;p1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748</a:t>
            </a:r>
            <a:endParaRPr/>
          </a:p>
        </p:txBody>
      </p:sp>
      <p:sp>
        <p:nvSpPr>
          <p:cNvPr id="1940" name="Google Shape;1940;p1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747</a:t>
            </a:r>
            <a:endParaRPr/>
          </a:p>
        </p:txBody>
      </p:sp>
      <p:sp>
        <p:nvSpPr>
          <p:cNvPr id="1941" name="Google Shape;1941;p1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889</a:t>
            </a:r>
            <a:endParaRPr/>
          </a:p>
        </p:txBody>
      </p:sp>
      <p:sp>
        <p:nvSpPr>
          <p:cNvPr id="1942" name="Google Shape;1942;p1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741</a:t>
            </a:r>
            <a:endParaRPr/>
          </a:p>
        </p:txBody>
      </p:sp>
      <p:sp>
        <p:nvSpPr>
          <p:cNvPr id="1943" name="Google Shape;1943;p1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622</a:t>
            </a:r>
            <a:endParaRPr/>
          </a:p>
        </p:txBody>
      </p:sp>
      <p:sp>
        <p:nvSpPr>
          <p:cNvPr id="1944" name="Google Shape;1944;p1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3250</a:t>
            </a:r>
            <a:endParaRPr/>
          </a:p>
        </p:txBody>
      </p:sp>
      <p:sp>
        <p:nvSpPr>
          <p:cNvPr id="1945" name="Google Shape;1945;p1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3509</a:t>
            </a:r>
            <a:endParaRPr/>
          </a:p>
        </p:txBody>
      </p:sp>
      <p:sp>
        <p:nvSpPr>
          <p:cNvPr id="1946" name="Google Shape;1946;p1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1947" name="Google Shape;1947;p1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$598K</a:t>
            </a:r>
            <a:endParaRPr/>
          </a:p>
        </p:txBody>
      </p:sp>
      <p:sp>
        <p:nvSpPr>
          <p:cNvPr id="1948" name="Google Shape;1948;p1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$1.1M</a:t>
            </a:r>
            <a:endParaRPr/>
          </a:p>
        </p:txBody>
      </p:sp>
      <p:sp>
        <p:nvSpPr>
          <p:cNvPr id="1949" name="Google Shape;1949;p1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$634K</a:t>
            </a:r>
            <a:endParaRPr/>
          </a:p>
        </p:txBody>
      </p:sp>
      <p:sp>
        <p:nvSpPr>
          <p:cNvPr id="1950" name="Google Shape;1950;p1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1951" name="Google Shape;1951;p1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$816K</a:t>
            </a:r>
            <a:endParaRPr/>
          </a:p>
        </p:txBody>
      </p:sp>
      <p:sp>
        <p:nvSpPr>
          <p:cNvPr id="1952" name="Google Shape;1952;p1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$1.8M</a:t>
            </a:r>
            <a:endParaRPr/>
          </a:p>
        </p:txBody>
      </p:sp>
      <p:sp>
        <p:nvSpPr>
          <p:cNvPr id="1953" name="Google Shape;1953;p1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$1.2M</a:t>
            </a:r>
            <a:endParaRPr/>
          </a:p>
        </p:txBody>
      </p:sp>
      <p:sp>
        <p:nvSpPr>
          <p:cNvPr id="1954" name="Google Shape;1954;p1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$1.8M</a:t>
            </a:r>
            <a:endParaRPr/>
          </a:p>
        </p:txBody>
      </p:sp>
      <p:sp>
        <p:nvSpPr>
          <p:cNvPr id="1955" name="Google Shape;1955;p1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$1.3M</a:t>
            </a:r>
            <a:endParaRPr/>
          </a:p>
        </p:txBody>
      </p:sp>
      <p:sp>
        <p:nvSpPr>
          <p:cNvPr id="1956" name="Google Shape;1956;p1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$1.6M</a:t>
            </a:r>
            <a:endParaRPr/>
          </a:p>
        </p:txBody>
      </p:sp>
      <p:sp>
        <p:nvSpPr>
          <p:cNvPr id="1957" name="Google Shape;1957;p1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$4.6M</a:t>
            </a:r>
            <a:endParaRPr/>
          </a:p>
        </p:txBody>
      </p:sp>
      <p:sp>
        <p:nvSpPr>
          <p:cNvPr id="1958" name="Google Shape;1958;p1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$7.7M</a:t>
            </a:r>
            <a:endParaRPr/>
          </a:p>
        </p:txBody>
      </p:sp>
      <p:sp>
        <p:nvSpPr>
          <p:cNvPr id="1959" name="Google Shape;1959;p1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0" name="Google Shape;1960;p1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1961" name="Google Shape;1961;p1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62" name="Google Shape;1962;p1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$7,691,769 YTD gross written premium</a:t>
            </a:r>
            <a:endParaRPr/>
          </a:p>
        </p:txBody>
      </p:sp>
      <p:sp>
        <p:nvSpPr>
          <p:cNvPr id="1963" name="Google Shape;1963;p1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1964" name="Google Shape;1964;p1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$6,020,384 in new business production</a:t>
            </a:r>
            <a:endParaRPr/>
          </a:p>
        </p:txBody>
      </p:sp>
      <p:sp>
        <p:nvSpPr>
          <p:cNvPr id="1965" name="Google Shape;1965;p1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6" name="Google Shape;1966;p1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1967" name="Google Shape;1967;p1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1968" name="Google Shape;1968;p1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60% of new business ($3,606,554)</a:t>
            </a:r>
            <a:endParaRPr/>
          </a:p>
        </p:txBody>
      </p:sp>
      <p:sp>
        <p:nvSpPr>
          <p:cNvPr id="1969" name="Google Shape;1969;p1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0" name="Google Shape;1970;p1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1971" name="Google Shape;1971;p1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1972" name="Google Shape;1972;p1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$6,020,384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1973" name="Google Shape;1973;p1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1974" name="Google Shape;1974;p1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$3,606,554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78" name="Shape 19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9" name="Google Shape;1979;p1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0" name="Google Shape;1980;p1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Insurance4truckers Llc</a:t>
            </a:r>
            <a:endParaRPr/>
          </a:p>
        </p:txBody>
      </p:sp>
      <p:sp>
        <p:nvSpPr>
          <p:cNvPr id="1981" name="Google Shape;1981;p1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TN  |  City: Fredericksburg</a:t>
            </a:r>
            <a:endParaRPr/>
          </a:p>
        </p:txBody>
      </p:sp>
      <p:sp>
        <p:nvSpPr>
          <p:cNvPr id="1982" name="Google Shape;1982;p1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$2,760,663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1983" name="Google Shape;1983;p1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$1,883,736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1984" name="Google Shape;1984;p1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$333,370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1985" name="Google Shape;1985;p1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$543,556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1986" name="Google Shape;1986;p1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$-973,668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1987" name="Google Shape;1987;p1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$4,955,246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1988" name="Google Shape;1988;p1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$5,709,702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1989" name="Google Shape;1989;p1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1990" name="Google Shape;1990;p1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1991" name="Google Shape;1991;p1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1992" name="Google Shape;1992;p1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1993" name="Google Shape;1993;p1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$420,201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1994" name="Google Shape;1994;p1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$2,271,295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1995" name="Google Shape;1995;p1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6" name="Google Shape;1996;p1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1997" name="Google Shape;1997;p1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1998" name="Google Shape;1998;p1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1999" name="Google Shape;1999;p1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000" name="Google Shape;2000;p1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001" name="Google Shape;2001;p1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002" name="Google Shape;2002;p1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003" name="Google Shape;2003;p1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4" name="Google Shape;2004;p1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05" name="Google Shape;2005;p1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$556,812</a:t>
            </a:r>
            <a:endParaRPr/>
          </a:p>
        </p:txBody>
      </p:sp>
      <p:sp>
        <p:nvSpPr>
          <p:cNvPr id="2006" name="Google Shape;2006;p1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$452,159</a:t>
            </a:r>
            <a:endParaRPr/>
          </a:p>
        </p:txBody>
      </p:sp>
      <p:sp>
        <p:nvSpPr>
          <p:cNvPr id="2007" name="Google Shape;2007;p1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$15,497</a:t>
            </a:r>
            <a:endParaRPr/>
          </a:p>
        </p:txBody>
      </p:sp>
      <p:sp>
        <p:nvSpPr>
          <p:cNvPr id="2008" name="Google Shape;2008;p1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$89,156</a:t>
            </a:r>
            <a:endParaRPr/>
          </a:p>
        </p:txBody>
      </p:sp>
      <p:sp>
        <p:nvSpPr>
          <p:cNvPr id="2009" name="Google Shape;2009;p1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$-178,793</a:t>
            </a:r>
            <a:endParaRPr/>
          </a:p>
        </p:txBody>
      </p:sp>
      <p:sp>
        <p:nvSpPr>
          <p:cNvPr id="2010" name="Google Shape;2010;p1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1" name="Google Shape;2011;p1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12" name="Google Shape;2012;p1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$577,769</a:t>
            </a:r>
            <a:endParaRPr/>
          </a:p>
        </p:txBody>
      </p:sp>
      <p:sp>
        <p:nvSpPr>
          <p:cNvPr id="2013" name="Google Shape;2013;p1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$385,510</a:t>
            </a:r>
            <a:endParaRPr/>
          </a:p>
        </p:txBody>
      </p:sp>
      <p:sp>
        <p:nvSpPr>
          <p:cNvPr id="2014" name="Google Shape;2014;p1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$111,103</a:t>
            </a:r>
            <a:endParaRPr/>
          </a:p>
        </p:txBody>
      </p:sp>
      <p:sp>
        <p:nvSpPr>
          <p:cNvPr id="2015" name="Google Shape;2015;p1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$81,156</a:t>
            </a:r>
            <a:endParaRPr/>
          </a:p>
        </p:txBody>
      </p:sp>
      <p:sp>
        <p:nvSpPr>
          <p:cNvPr id="2016" name="Google Shape;2016;p1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$-143,092</a:t>
            </a:r>
            <a:endParaRPr/>
          </a:p>
        </p:txBody>
      </p:sp>
      <p:sp>
        <p:nvSpPr>
          <p:cNvPr id="2017" name="Google Shape;2017;p1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8" name="Google Shape;2018;p1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19" name="Google Shape;2019;p1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$466,148</a:t>
            </a:r>
            <a:endParaRPr/>
          </a:p>
        </p:txBody>
      </p:sp>
      <p:sp>
        <p:nvSpPr>
          <p:cNvPr id="2020" name="Google Shape;2020;p1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$301,112</a:t>
            </a:r>
            <a:endParaRPr/>
          </a:p>
        </p:txBody>
      </p:sp>
      <p:sp>
        <p:nvSpPr>
          <p:cNvPr id="2021" name="Google Shape;2021;p1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$85,585</a:t>
            </a:r>
            <a:endParaRPr/>
          </a:p>
        </p:txBody>
      </p:sp>
      <p:sp>
        <p:nvSpPr>
          <p:cNvPr id="2022" name="Google Shape;2022;p1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$79,451</a:t>
            </a:r>
            <a:endParaRPr/>
          </a:p>
        </p:txBody>
      </p:sp>
      <p:sp>
        <p:nvSpPr>
          <p:cNvPr id="2023" name="Google Shape;2023;p1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$-216,994</a:t>
            </a:r>
            <a:endParaRPr/>
          </a:p>
        </p:txBody>
      </p:sp>
      <p:sp>
        <p:nvSpPr>
          <p:cNvPr id="2024" name="Google Shape;2024;p1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5" name="Google Shape;2025;p1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26" name="Google Shape;2026;p1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$482,724</a:t>
            </a:r>
            <a:endParaRPr/>
          </a:p>
        </p:txBody>
      </p:sp>
      <p:sp>
        <p:nvSpPr>
          <p:cNvPr id="2027" name="Google Shape;2027;p1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$338,286</a:t>
            </a:r>
            <a:endParaRPr/>
          </a:p>
        </p:txBody>
      </p:sp>
      <p:sp>
        <p:nvSpPr>
          <p:cNvPr id="2028" name="Google Shape;2028;p1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$33,425</a:t>
            </a:r>
            <a:endParaRPr/>
          </a:p>
        </p:txBody>
      </p:sp>
      <p:sp>
        <p:nvSpPr>
          <p:cNvPr id="2029" name="Google Shape;2029;p1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$111,013</a:t>
            </a:r>
            <a:endParaRPr/>
          </a:p>
        </p:txBody>
      </p:sp>
      <p:sp>
        <p:nvSpPr>
          <p:cNvPr id="2030" name="Google Shape;2030;p1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$-218,936</a:t>
            </a:r>
            <a:endParaRPr/>
          </a:p>
        </p:txBody>
      </p:sp>
      <p:sp>
        <p:nvSpPr>
          <p:cNvPr id="2031" name="Google Shape;2031;p1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2" name="Google Shape;2032;p1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33" name="Google Shape;2033;p1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$677,210</a:t>
            </a:r>
            <a:endParaRPr/>
          </a:p>
        </p:txBody>
      </p:sp>
      <p:sp>
        <p:nvSpPr>
          <p:cNvPr id="2034" name="Google Shape;2034;p1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$406,670</a:t>
            </a:r>
            <a:endParaRPr/>
          </a:p>
        </p:txBody>
      </p:sp>
      <p:sp>
        <p:nvSpPr>
          <p:cNvPr id="2035" name="Google Shape;2035;p1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$87,760</a:t>
            </a:r>
            <a:endParaRPr/>
          </a:p>
        </p:txBody>
      </p:sp>
      <p:sp>
        <p:nvSpPr>
          <p:cNvPr id="2036" name="Google Shape;2036;p1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$182,780</a:t>
            </a:r>
            <a:endParaRPr/>
          </a:p>
        </p:txBody>
      </p:sp>
      <p:sp>
        <p:nvSpPr>
          <p:cNvPr id="2037" name="Google Shape;2037;p1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$-215,854</a:t>
            </a:r>
            <a:endParaRPr/>
          </a:p>
        </p:txBody>
      </p:sp>
      <p:sp>
        <p:nvSpPr>
          <p:cNvPr id="2038" name="Google Shape;2038;p1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9" name="Google Shape;2039;p1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40" name="Google Shape;2040;p1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$2,760,663</a:t>
            </a:r>
            <a:endParaRPr/>
          </a:p>
        </p:txBody>
      </p:sp>
      <p:sp>
        <p:nvSpPr>
          <p:cNvPr id="2041" name="Google Shape;2041;p1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$1,883,736</a:t>
            </a:r>
            <a:endParaRPr/>
          </a:p>
        </p:txBody>
      </p:sp>
      <p:sp>
        <p:nvSpPr>
          <p:cNvPr id="2042" name="Google Shape;2042;p1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$333,370</a:t>
            </a:r>
            <a:endParaRPr/>
          </a:p>
        </p:txBody>
      </p:sp>
      <p:sp>
        <p:nvSpPr>
          <p:cNvPr id="2043" name="Google Shape;2043;p1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$543,556</a:t>
            </a:r>
            <a:endParaRPr/>
          </a:p>
        </p:txBody>
      </p:sp>
      <p:sp>
        <p:nvSpPr>
          <p:cNvPr id="2044" name="Google Shape;2044;p1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$-973,668</a:t>
            </a:r>
            <a:endParaRPr/>
          </a:p>
        </p:txBody>
      </p:sp>
      <p:sp>
        <p:nvSpPr>
          <p:cNvPr id="2045" name="Google Shape;2045;p1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6" name="Google Shape;2046;p1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047" name="Google Shape;2047;p1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048" name="Google Shape;2048;p1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049" name="Google Shape;2049;p1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050" name="Google Shape;2050;p1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051" name="Google Shape;2051;p1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052" name="Google Shape;2052;p1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053" name="Google Shape;2053;p1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4" name="Google Shape;2054;p1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055" name="Google Shape;2055;p1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1160</a:t>
            </a:r>
            <a:endParaRPr/>
          </a:p>
        </p:txBody>
      </p:sp>
      <p:sp>
        <p:nvSpPr>
          <p:cNvPr id="2056" name="Google Shape;2056;p1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057" name="Google Shape;2057;p1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1098</a:t>
            </a:r>
            <a:endParaRPr/>
          </a:p>
        </p:txBody>
      </p:sp>
      <p:sp>
        <p:nvSpPr>
          <p:cNvPr id="2058" name="Google Shape;2058;p1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2059" name="Google Shape;2059;p1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2060" name="Google Shape;2060;p1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1" name="Google Shape;2061;p1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062" name="Google Shape;2062;p1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1179</a:t>
            </a:r>
            <a:endParaRPr/>
          </a:p>
        </p:txBody>
      </p:sp>
      <p:sp>
        <p:nvSpPr>
          <p:cNvPr id="2063" name="Google Shape;2063;p1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2064" name="Google Shape;2064;p1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1114</a:t>
            </a:r>
            <a:endParaRPr/>
          </a:p>
        </p:txBody>
      </p:sp>
      <p:sp>
        <p:nvSpPr>
          <p:cNvPr id="2065" name="Google Shape;2065;p1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2066" name="Google Shape;2066;p1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2067" name="Google Shape;2067;p1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8" name="Google Shape;2068;p1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069" name="Google Shape;2069;p1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1082</a:t>
            </a:r>
            <a:endParaRPr/>
          </a:p>
        </p:txBody>
      </p:sp>
      <p:sp>
        <p:nvSpPr>
          <p:cNvPr id="2070" name="Google Shape;2070;p1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071" name="Google Shape;2071;p1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1041</a:t>
            </a:r>
            <a:endParaRPr/>
          </a:p>
        </p:txBody>
      </p:sp>
      <p:sp>
        <p:nvSpPr>
          <p:cNvPr id="2072" name="Google Shape;2072;p1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2073" name="Google Shape;2073;p1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2074" name="Google Shape;2074;p1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5" name="Google Shape;2075;p1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076" name="Google Shape;2076;p1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1291</a:t>
            </a:r>
            <a:endParaRPr/>
          </a:p>
        </p:txBody>
      </p:sp>
      <p:sp>
        <p:nvSpPr>
          <p:cNvPr id="2077" name="Google Shape;2077;p1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2078" name="Google Shape;2078;p1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1245</a:t>
            </a:r>
            <a:endParaRPr/>
          </a:p>
        </p:txBody>
      </p:sp>
      <p:sp>
        <p:nvSpPr>
          <p:cNvPr id="2079" name="Google Shape;2079;p1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2080" name="Google Shape;2080;p1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4.6%</a:t>
            </a:r>
            <a:endParaRPr/>
          </a:p>
        </p:txBody>
      </p:sp>
      <p:sp>
        <p:nvSpPr>
          <p:cNvPr id="2081" name="Google Shape;2081;p1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2" name="Google Shape;2082;p1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083" name="Google Shape;2083;p1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914</a:t>
            </a:r>
            <a:endParaRPr/>
          </a:p>
        </p:txBody>
      </p:sp>
      <p:sp>
        <p:nvSpPr>
          <p:cNvPr id="2084" name="Google Shape;2084;p1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085" name="Google Shape;2085;p1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865</a:t>
            </a:r>
            <a:endParaRPr/>
          </a:p>
        </p:txBody>
      </p:sp>
      <p:sp>
        <p:nvSpPr>
          <p:cNvPr id="2086" name="Google Shape;2086;p1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087" name="Google Shape;2087;p1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4.5%</a:t>
            </a:r>
            <a:endParaRPr/>
          </a:p>
        </p:txBody>
      </p:sp>
      <p:sp>
        <p:nvSpPr>
          <p:cNvPr id="2088" name="Google Shape;2088;p1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9" name="Google Shape;2089;p1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090" name="Google Shape;2090;p1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5399</a:t>
            </a:r>
            <a:endParaRPr/>
          </a:p>
        </p:txBody>
      </p:sp>
      <p:sp>
        <p:nvSpPr>
          <p:cNvPr id="2091" name="Google Shape;2091;p1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2092" name="Google Shape;2092;p1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5158</a:t>
            </a:r>
            <a:endParaRPr/>
          </a:p>
        </p:txBody>
      </p:sp>
      <p:sp>
        <p:nvSpPr>
          <p:cNvPr id="2093" name="Google Shape;2093;p1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2094" name="Google Shape;2094;p1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2095" name="Google Shape;2095;p1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6" name="Google Shape;2096;p1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097" name="Google Shape;2097;p1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098" name="Google Shape;2098;p1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099" name="Google Shape;2099;p1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100" name="Google Shape;2100;p1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101" name="Google Shape;2101;p1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102" name="Google Shape;2102;p1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103" name="Google Shape;2103;p1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104" name="Google Shape;2104;p1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105" name="Google Shape;2105;p1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106" name="Google Shape;2106;p1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107" name="Google Shape;2107;p1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108" name="Google Shape;2108;p1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109" name="Google Shape;2109;p1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110" name="Google Shape;2110;p1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11" name="Google Shape;2111;p1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728</a:t>
            </a:r>
            <a:endParaRPr/>
          </a:p>
        </p:txBody>
      </p:sp>
      <p:sp>
        <p:nvSpPr>
          <p:cNvPr id="2112" name="Google Shape;2112;p1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1160</a:t>
            </a:r>
            <a:endParaRPr/>
          </a:p>
        </p:txBody>
      </p:sp>
      <p:sp>
        <p:nvSpPr>
          <p:cNvPr id="2113" name="Google Shape;2113;p1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699</a:t>
            </a:r>
            <a:endParaRPr/>
          </a:p>
        </p:txBody>
      </p:sp>
      <p:sp>
        <p:nvSpPr>
          <p:cNvPr id="2114" name="Google Shape;2114;p1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1179</a:t>
            </a:r>
            <a:endParaRPr/>
          </a:p>
        </p:txBody>
      </p:sp>
      <p:sp>
        <p:nvSpPr>
          <p:cNvPr id="2115" name="Google Shape;2115;p1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699</a:t>
            </a:r>
            <a:endParaRPr/>
          </a:p>
        </p:txBody>
      </p:sp>
      <p:sp>
        <p:nvSpPr>
          <p:cNvPr id="2116" name="Google Shape;2116;p1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1082</a:t>
            </a:r>
            <a:endParaRPr/>
          </a:p>
        </p:txBody>
      </p:sp>
      <p:sp>
        <p:nvSpPr>
          <p:cNvPr id="2117" name="Google Shape;2117;p1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637</a:t>
            </a:r>
            <a:endParaRPr/>
          </a:p>
        </p:txBody>
      </p:sp>
      <p:sp>
        <p:nvSpPr>
          <p:cNvPr id="2118" name="Google Shape;2118;p1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1291</a:t>
            </a:r>
            <a:endParaRPr/>
          </a:p>
        </p:txBody>
      </p:sp>
      <p:sp>
        <p:nvSpPr>
          <p:cNvPr id="2119" name="Google Shape;2119;p1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665</a:t>
            </a:r>
            <a:endParaRPr/>
          </a:p>
        </p:txBody>
      </p:sp>
      <p:sp>
        <p:nvSpPr>
          <p:cNvPr id="2120" name="Google Shape;2120;p1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914</a:t>
            </a:r>
            <a:endParaRPr/>
          </a:p>
        </p:txBody>
      </p:sp>
      <p:sp>
        <p:nvSpPr>
          <p:cNvPr id="2121" name="Google Shape;2121;p1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3428</a:t>
            </a:r>
            <a:endParaRPr/>
          </a:p>
        </p:txBody>
      </p:sp>
      <p:sp>
        <p:nvSpPr>
          <p:cNvPr id="2122" name="Google Shape;2122;p1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5626</a:t>
            </a:r>
            <a:endParaRPr/>
          </a:p>
        </p:txBody>
      </p:sp>
      <p:sp>
        <p:nvSpPr>
          <p:cNvPr id="2123" name="Google Shape;2123;p1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124" name="Google Shape;2124;p1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$184K</a:t>
            </a:r>
            <a:endParaRPr/>
          </a:p>
        </p:txBody>
      </p:sp>
      <p:sp>
        <p:nvSpPr>
          <p:cNvPr id="2125" name="Google Shape;2125;p1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$557K</a:t>
            </a:r>
            <a:endParaRPr/>
          </a:p>
        </p:txBody>
      </p:sp>
      <p:sp>
        <p:nvSpPr>
          <p:cNvPr id="2126" name="Google Shape;2126;p1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$262K</a:t>
            </a:r>
            <a:endParaRPr/>
          </a:p>
        </p:txBody>
      </p:sp>
      <p:sp>
        <p:nvSpPr>
          <p:cNvPr id="2127" name="Google Shape;2127;p1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$578K</a:t>
            </a:r>
            <a:endParaRPr/>
          </a:p>
        </p:txBody>
      </p:sp>
      <p:sp>
        <p:nvSpPr>
          <p:cNvPr id="2128" name="Google Shape;2128;p1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$534K</a:t>
            </a:r>
            <a:endParaRPr/>
          </a:p>
        </p:txBody>
      </p:sp>
      <p:sp>
        <p:nvSpPr>
          <p:cNvPr id="2129" name="Google Shape;2129;p1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$466K</a:t>
            </a:r>
            <a:endParaRPr/>
          </a:p>
        </p:txBody>
      </p:sp>
      <p:sp>
        <p:nvSpPr>
          <p:cNvPr id="2130" name="Google Shape;2130;p1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$560K</a:t>
            </a:r>
            <a:endParaRPr/>
          </a:p>
        </p:txBody>
      </p:sp>
      <p:sp>
        <p:nvSpPr>
          <p:cNvPr id="2131" name="Google Shape;2131;p1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$483K</a:t>
            </a:r>
            <a:endParaRPr/>
          </a:p>
        </p:txBody>
      </p:sp>
      <p:sp>
        <p:nvSpPr>
          <p:cNvPr id="2132" name="Google Shape;2132;p1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$467K</a:t>
            </a:r>
            <a:endParaRPr/>
          </a:p>
        </p:txBody>
      </p:sp>
      <p:sp>
        <p:nvSpPr>
          <p:cNvPr id="2133" name="Google Shape;2133;p1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$677K</a:t>
            </a:r>
            <a:endParaRPr/>
          </a:p>
        </p:txBody>
      </p:sp>
      <p:sp>
        <p:nvSpPr>
          <p:cNvPr id="2134" name="Google Shape;2134;p1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$2.0M</a:t>
            </a:r>
            <a:endParaRPr/>
          </a:p>
        </p:txBody>
      </p:sp>
      <p:sp>
        <p:nvSpPr>
          <p:cNvPr id="2135" name="Google Shape;2135;p1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$2.8M</a:t>
            </a:r>
            <a:endParaRPr/>
          </a:p>
        </p:txBody>
      </p:sp>
      <p:sp>
        <p:nvSpPr>
          <p:cNvPr id="2136" name="Google Shape;2136;p1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7" name="Google Shape;2137;p1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138" name="Google Shape;2138;p1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39" name="Google Shape;2139;p1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$2,760,663 YTD gross written premium</a:t>
            </a:r>
            <a:endParaRPr/>
          </a:p>
        </p:txBody>
      </p:sp>
      <p:sp>
        <p:nvSpPr>
          <p:cNvPr id="2140" name="Google Shape;2140;p1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141" name="Google Shape;2141;p1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$1,883,736 in new business production</a:t>
            </a:r>
            <a:endParaRPr/>
          </a:p>
        </p:txBody>
      </p:sp>
      <p:sp>
        <p:nvSpPr>
          <p:cNvPr id="2142" name="Google Shape;2142;p1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3" name="Google Shape;2143;p1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144" name="Google Shape;2144;p1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45" name="Google Shape;2145;p1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2.3% hit ratio on 5399 subs - needs coaching</a:t>
            </a:r>
            <a:endParaRPr/>
          </a:p>
        </p:txBody>
      </p:sp>
      <p:sp>
        <p:nvSpPr>
          <p:cNvPr id="2146" name="Google Shape;2146;p1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147" name="Google Shape;2147;p1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52% of new business ($973,668)</a:t>
            </a:r>
            <a:endParaRPr/>
          </a:p>
        </p:txBody>
      </p:sp>
      <p:sp>
        <p:nvSpPr>
          <p:cNvPr id="2148" name="Google Shape;2148;p1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9" name="Google Shape;2149;p1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150" name="Google Shape;2150;p1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151" name="Google Shape;2151;p1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(5399 subs, only 123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152" name="Google Shape;2152;p1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153" name="Google Shape;2153;p1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$1,883,736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57" name="Shape 2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8" name="Google Shape;2158;p1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9" name="Google Shape;2159;p1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Valion Security Llc</a:t>
            </a:r>
            <a:endParaRPr/>
          </a:p>
        </p:txBody>
      </p:sp>
      <p:sp>
        <p:nvSpPr>
          <p:cNvPr id="2160" name="Google Shape;2160;p1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  |  City: N/A</a:t>
            </a:r>
            <a:endParaRPr/>
          </a:p>
        </p:txBody>
      </p:sp>
      <p:sp>
        <p:nvSpPr>
          <p:cNvPr id="2161" name="Google Shape;2161;p1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$2,264,531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162" name="Google Shape;2162;p1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$1,648,524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63" name="Google Shape;2163;p1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$205,019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64" name="Google Shape;2164;p1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$410,988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65" name="Google Shape;2165;p1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$-760,332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66" name="Google Shape;2166;p1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$2,381,365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167" name="Google Shape;2167;p1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$4,223,682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168" name="Google Shape;2168;p1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169" name="Google Shape;2169;p1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170" name="Google Shape;2170;p1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171" name="Google Shape;2171;p1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172" name="Google Shape;2172;p1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$415,933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173" name="Google Shape;2173;p1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$1,583,216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174" name="Google Shape;2174;p1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5" name="Google Shape;2175;p1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176" name="Google Shape;2176;p1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177" name="Google Shape;2177;p1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178" name="Google Shape;2178;p1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179" name="Google Shape;2179;p1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180" name="Google Shape;2180;p1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181" name="Google Shape;2181;p1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182" name="Google Shape;2182;p1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3" name="Google Shape;2183;p1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184" name="Google Shape;2184;p1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$559,429</a:t>
            </a:r>
            <a:endParaRPr/>
          </a:p>
        </p:txBody>
      </p:sp>
      <p:sp>
        <p:nvSpPr>
          <p:cNvPr id="2185" name="Google Shape;2185;p1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$460,080</a:t>
            </a:r>
            <a:endParaRPr/>
          </a:p>
        </p:txBody>
      </p:sp>
      <p:sp>
        <p:nvSpPr>
          <p:cNvPr id="2186" name="Google Shape;2186;p1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187" name="Google Shape;2187;p1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$99,349</a:t>
            </a:r>
            <a:endParaRPr/>
          </a:p>
        </p:txBody>
      </p:sp>
      <p:sp>
        <p:nvSpPr>
          <p:cNvPr id="2188" name="Google Shape;2188;p1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$-171,158</a:t>
            </a:r>
            <a:endParaRPr/>
          </a:p>
        </p:txBody>
      </p:sp>
      <p:sp>
        <p:nvSpPr>
          <p:cNvPr id="2189" name="Google Shape;2189;p1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0" name="Google Shape;2190;p1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191" name="Google Shape;2191;p1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$289,143</a:t>
            </a:r>
            <a:endParaRPr/>
          </a:p>
        </p:txBody>
      </p:sp>
      <p:sp>
        <p:nvSpPr>
          <p:cNvPr id="2192" name="Google Shape;2192;p1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$178,724</a:t>
            </a:r>
            <a:endParaRPr/>
          </a:p>
        </p:txBody>
      </p:sp>
      <p:sp>
        <p:nvSpPr>
          <p:cNvPr id="2193" name="Google Shape;2193;p1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$38,877</a:t>
            </a:r>
            <a:endParaRPr/>
          </a:p>
        </p:txBody>
      </p:sp>
      <p:sp>
        <p:nvSpPr>
          <p:cNvPr id="2194" name="Google Shape;2194;p1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$71,542</a:t>
            </a:r>
            <a:endParaRPr/>
          </a:p>
        </p:txBody>
      </p:sp>
      <p:sp>
        <p:nvSpPr>
          <p:cNvPr id="2195" name="Google Shape;2195;p1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$-141,657</a:t>
            </a:r>
            <a:endParaRPr/>
          </a:p>
        </p:txBody>
      </p:sp>
      <p:sp>
        <p:nvSpPr>
          <p:cNvPr id="2196" name="Google Shape;2196;p1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7" name="Google Shape;2197;p1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198" name="Google Shape;2198;p1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$556,394</a:t>
            </a:r>
            <a:endParaRPr/>
          </a:p>
        </p:txBody>
      </p:sp>
      <p:sp>
        <p:nvSpPr>
          <p:cNvPr id="2199" name="Google Shape;2199;p1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$412,390</a:t>
            </a:r>
            <a:endParaRPr/>
          </a:p>
        </p:txBody>
      </p:sp>
      <p:sp>
        <p:nvSpPr>
          <p:cNvPr id="2200" name="Google Shape;2200;p1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201" name="Google Shape;2201;p1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$144,004</a:t>
            </a:r>
            <a:endParaRPr/>
          </a:p>
        </p:txBody>
      </p:sp>
      <p:sp>
        <p:nvSpPr>
          <p:cNvPr id="2202" name="Google Shape;2202;p1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$-158,552</a:t>
            </a:r>
            <a:endParaRPr/>
          </a:p>
        </p:txBody>
      </p:sp>
      <p:sp>
        <p:nvSpPr>
          <p:cNvPr id="2203" name="Google Shape;2203;p1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4" name="Google Shape;2204;p1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05" name="Google Shape;2205;p1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$394,946</a:t>
            </a:r>
            <a:endParaRPr/>
          </a:p>
        </p:txBody>
      </p:sp>
      <p:sp>
        <p:nvSpPr>
          <p:cNvPr id="2206" name="Google Shape;2206;p1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$258,387</a:t>
            </a:r>
            <a:endParaRPr/>
          </a:p>
        </p:txBody>
      </p:sp>
      <p:sp>
        <p:nvSpPr>
          <p:cNvPr id="2207" name="Google Shape;2207;p1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$64,692</a:t>
            </a:r>
            <a:endParaRPr/>
          </a:p>
        </p:txBody>
      </p:sp>
      <p:sp>
        <p:nvSpPr>
          <p:cNvPr id="2208" name="Google Shape;2208;p1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$71,866</a:t>
            </a:r>
            <a:endParaRPr/>
          </a:p>
        </p:txBody>
      </p:sp>
      <p:sp>
        <p:nvSpPr>
          <p:cNvPr id="2209" name="Google Shape;2209;p1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$-99,483</a:t>
            </a:r>
            <a:endParaRPr/>
          </a:p>
        </p:txBody>
      </p:sp>
      <p:sp>
        <p:nvSpPr>
          <p:cNvPr id="2210" name="Google Shape;2210;p1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1" name="Google Shape;2211;p1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12" name="Google Shape;2212;p1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$464,619</a:t>
            </a:r>
            <a:endParaRPr/>
          </a:p>
        </p:txBody>
      </p:sp>
      <p:sp>
        <p:nvSpPr>
          <p:cNvPr id="2213" name="Google Shape;2213;p1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$338,944</a:t>
            </a:r>
            <a:endParaRPr/>
          </a:p>
        </p:txBody>
      </p:sp>
      <p:sp>
        <p:nvSpPr>
          <p:cNvPr id="2214" name="Google Shape;2214;p1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$101,450</a:t>
            </a:r>
            <a:endParaRPr/>
          </a:p>
        </p:txBody>
      </p:sp>
      <p:sp>
        <p:nvSpPr>
          <p:cNvPr id="2215" name="Google Shape;2215;p1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$24,226</a:t>
            </a:r>
            <a:endParaRPr/>
          </a:p>
        </p:txBody>
      </p:sp>
      <p:sp>
        <p:nvSpPr>
          <p:cNvPr id="2216" name="Google Shape;2216;p1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$-189,481</a:t>
            </a:r>
            <a:endParaRPr/>
          </a:p>
        </p:txBody>
      </p:sp>
      <p:sp>
        <p:nvSpPr>
          <p:cNvPr id="2217" name="Google Shape;2217;p1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8" name="Google Shape;2218;p1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19" name="Google Shape;2219;p1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$2,264,531</a:t>
            </a:r>
            <a:endParaRPr/>
          </a:p>
        </p:txBody>
      </p:sp>
      <p:sp>
        <p:nvSpPr>
          <p:cNvPr id="2220" name="Google Shape;2220;p1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$1,648,524</a:t>
            </a:r>
            <a:endParaRPr/>
          </a:p>
        </p:txBody>
      </p:sp>
      <p:sp>
        <p:nvSpPr>
          <p:cNvPr id="2221" name="Google Shape;2221;p1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$205,019</a:t>
            </a:r>
            <a:endParaRPr/>
          </a:p>
        </p:txBody>
      </p:sp>
      <p:sp>
        <p:nvSpPr>
          <p:cNvPr id="2222" name="Google Shape;2222;p1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$410,988</a:t>
            </a:r>
            <a:endParaRPr/>
          </a:p>
        </p:txBody>
      </p:sp>
      <p:sp>
        <p:nvSpPr>
          <p:cNvPr id="2223" name="Google Shape;2223;p1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$-760,332</a:t>
            </a:r>
            <a:endParaRPr/>
          </a:p>
        </p:txBody>
      </p:sp>
      <p:sp>
        <p:nvSpPr>
          <p:cNvPr id="2224" name="Google Shape;2224;p1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5" name="Google Shape;2225;p1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226" name="Google Shape;2226;p1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227" name="Google Shape;2227;p1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228" name="Google Shape;2228;p1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229" name="Google Shape;2229;p1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230" name="Google Shape;2230;p1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231" name="Google Shape;2231;p1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232" name="Google Shape;2232;p1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3" name="Google Shape;2233;p1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234" name="Google Shape;2234;p1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235" name="Google Shape;2235;p1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236" name="Google Shape;2236;p1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2237" name="Google Shape;2237;p1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2238" name="Google Shape;2238;p1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26.7%</a:t>
            </a:r>
            <a:endParaRPr/>
          </a:p>
        </p:txBody>
      </p:sp>
      <p:sp>
        <p:nvSpPr>
          <p:cNvPr id="2239" name="Google Shape;2239;p1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0" name="Google Shape;2240;p1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241" name="Google Shape;2241;p1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242" name="Google Shape;2242;p1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2243" name="Google Shape;2243;p1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2244" name="Google Shape;2244;p1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245" name="Google Shape;2245;p1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23.3%</a:t>
            </a:r>
            <a:endParaRPr/>
          </a:p>
        </p:txBody>
      </p:sp>
      <p:sp>
        <p:nvSpPr>
          <p:cNvPr id="2246" name="Google Shape;2246;p1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7" name="Google Shape;2247;p1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248" name="Google Shape;2248;p1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156</a:t>
            </a:r>
            <a:endParaRPr/>
          </a:p>
        </p:txBody>
      </p:sp>
      <p:sp>
        <p:nvSpPr>
          <p:cNvPr id="2249" name="Google Shape;2249;p1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250" name="Google Shape;2250;p1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2251" name="Google Shape;2251;p1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252" name="Google Shape;2252;p1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26.3%</a:t>
            </a:r>
            <a:endParaRPr/>
          </a:p>
        </p:txBody>
      </p:sp>
      <p:sp>
        <p:nvSpPr>
          <p:cNvPr id="2253" name="Google Shape;2253;p1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4" name="Google Shape;2254;p1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255" name="Google Shape;2255;p1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165</a:t>
            </a:r>
            <a:endParaRPr/>
          </a:p>
        </p:txBody>
      </p:sp>
      <p:sp>
        <p:nvSpPr>
          <p:cNvPr id="2256" name="Google Shape;2256;p1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2257" name="Google Shape;2257;p1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</a:t>
            </a:r>
            <a:endParaRPr/>
          </a:p>
        </p:txBody>
      </p:sp>
      <p:sp>
        <p:nvSpPr>
          <p:cNvPr id="2258" name="Google Shape;2258;p1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2259" name="Google Shape;2259;p1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21.2%</a:t>
            </a:r>
            <a:endParaRPr/>
          </a:p>
        </p:txBody>
      </p:sp>
      <p:sp>
        <p:nvSpPr>
          <p:cNvPr id="2260" name="Google Shape;2260;p1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1" name="Google Shape;2261;p1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262" name="Google Shape;2262;p1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2263" name="Google Shape;2263;p1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264" name="Google Shape;2264;p1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265" name="Google Shape;2265;p1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266" name="Google Shape;2266;p1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19.5%</a:t>
            </a:r>
            <a:endParaRPr/>
          </a:p>
        </p:txBody>
      </p:sp>
      <p:sp>
        <p:nvSpPr>
          <p:cNvPr id="2267" name="Google Shape;2267;p1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8" name="Google Shape;2268;p1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269" name="Google Shape;2269;p1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515</a:t>
            </a:r>
            <a:endParaRPr/>
          </a:p>
        </p:txBody>
      </p:sp>
      <p:sp>
        <p:nvSpPr>
          <p:cNvPr id="2270" name="Google Shape;2270;p1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2271" name="Google Shape;2271;p1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473</a:t>
            </a:r>
            <a:endParaRPr/>
          </a:p>
        </p:txBody>
      </p:sp>
      <p:sp>
        <p:nvSpPr>
          <p:cNvPr id="2272" name="Google Shape;2272;p1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2273" name="Google Shape;2273;p1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15.5%</a:t>
            </a:r>
            <a:endParaRPr/>
          </a:p>
        </p:txBody>
      </p:sp>
      <p:sp>
        <p:nvSpPr>
          <p:cNvPr id="2274" name="Google Shape;2274;p1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5" name="Google Shape;2275;p1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276" name="Google Shape;2276;p1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277" name="Google Shape;2277;p1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278" name="Google Shape;2278;p1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279" name="Google Shape;2279;p1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280" name="Google Shape;2280;p1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281" name="Google Shape;2281;p1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282" name="Google Shape;2282;p1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283" name="Google Shape;2283;p1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284" name="Google Shape;2284;p1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285" name="Google Shape;2285;p1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286" name="Google Shape;2286;p1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287" name="Google Shape;2287;p1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288" name="Google Shape;2288;p1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289" name="Google Shape;2289;p1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290" name="Google Shape;2290;p1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91" name="Google Shape;2291;p1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292" name="Google Shape;2292;p1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93" name="Google Shape;2293;p1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116</a:t>
            </a:r>
            <a:endParaRPr/>
          </a:p>
        </p:txBody>
      </p:sp>
      <p:sp>
        <p:nvSpPr>
          <p:cNvPr id="2294" name="Google Shape;2294;p1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295" name="Google Shape;2295;p1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156</a:t>
            </a:r>
            <a:endParaRPr/>
          </a:p>
        </p:txBody>
      </p:sp>
      <p:sp>
        <p:nvSpPr>
          <p:cNvPr id="2296" name="Google Shape;2296;p1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82</a:t>
            </a:r>
            <a:endParaRPr/>
          </a:p>
        </p:txBody>
      </p:sp>
      <p:sp>
        <p:nvSpPr>
          <p:cNvPr id="2297" name="Google Shape;2297;p1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165</a:t>
            </a:r>
            <a:endParaRPr/>
          </a:p>
        </p:txBody>
      </p:sp>
      <p:sp>
        <p:nvSpPr>
          <p:cNvPr id="2298" name="Google Shape;2298;p1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2299" name="Google Shape;2299;p1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128</a:t>
            </a:r>
            <a:endParaRPr/>
          </a:p>
        </p:txBody>
      </p:sp>
      <p:sp>
        <p:nvSpPr>
          <p:cNvPr id="2300" name="Google Shape;2300;p1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155</a:t>
            </a:r>
            <a:endParaRPr/>
          </a:p>
        </p:txBody>
      </p:sp>
      <p:sp>
        <p:nvSpPr>
          <p:cNvPr id="2301" name="Google Shape;2301;p1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681</a:t>
            </a:r>
            <a:endParaRPr/>
          </a:p>
        </p:txBody>
      </p:sp>
      <p:sp>
        <p:nvSpPr>
          <p:cNvPr id="2302" name="Google Shape;2302;p1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303" name="Google Shape;2303;p1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4" name="Google Shape;2304;p1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$559K</a:t>
            </a:r>
            <a:endParaRPr/>
          </a:p>
        </p:txBody>
      </p:sp>
      <p:sp>
        <p:nvSpPr>
          <p:cNvPr id="2305" name="Google Shape;2305;p1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6" name="Google Shape;2306;p1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$289K</a:t>
            </a:r>
            <a:endParaRPr/>
          </a:p>
        </p:txBody>
      </p:sp>
      <p:sp>
        <p:nvSpPr>
          <p:cNvPr id="2307" name="Google Shape;2307;p1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308" name="Google Shape;2308;p1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$556K</a:t>
            </a:r>
            <a:endParaRPr/>
          </a:p>
        </p:txBody>
      </p:sp>
      <p:sp>
        <p:nvSpPr>
          <p:cNvPr id="2309" name="Google Shape;2309;p1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$110K</a:t>
            </a:r>
            <a:endParaRPr/>
          </a:p>
        </p:txBody>
      </p:sp>
      <p:sp>
        <p:nvSpPr>
          <p:cNvPr id="2310" name="Google Shape;2310;p1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$395K</a:t>
            </a:r>
            <a:endParaRPr/>
          </a:p>
        </p:txBody>
      </p:sp>
      <p:sp>
        <p:nvSpPr>
          <p:cNvPr id="2311" name="Google Shape;2311;p1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$312K</a:t>
            </a:r>
            <a:endParaRPr/>
          </a:p>
        </p:txBody>
      </p:sp>
      <p:sp>
        <p:nvSpPr>
          <p:cNvPr id="2312" name="Google Shape;2312;p1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$465K</a:t>
            </a:r>
            <a:endParaRPr/>
          </a:p>
        </p:txBody>
      </p:sp>
      <p:sp>
        <p:nvSpPr>
          <p:cNvPr id="2313" name="Google Shape;2313;p1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$422K</a:t>
            </a:r>
            <a:endParaRPr/>
          </a:p>
        </p:txBody>
      </p:sp>
      <p:sp>
        <p:nvSpPr>
          <p:cNvPr id="2314" name="Google Shape;2314;p1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$2.3M</a:t>
            </a:r>
            <a:endParaRPr/>
          </a:p>
        </p:txBody>
      </p:sp>
      <p:sp>
        <p:nvSpPr>
          <p:cNvPr id="2315" name="Google Shape;2315;p1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6" name="Google Shape;2316;p1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317" name="Google Shape;2317;p1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18" name="Google Shape;2318;p1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$2,264,531 YTD gross written premium</a:t>
            </a:r>
            <a:endParaRPr/>
          </a:p>
        </p:txBody>
      </p:sp>
      <p:sp>
        <p:nvSpPr>
          <p:cNvPr id="2319" name="Google Shape;2319;p1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320" name="Google Shape;2320;p1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$1,648,524 in new business production</a:t>
            </a:r>
            <a:endParaRPr/>
          </a:p>
        </p:txBody>
      </p:sp>
      <p:sp>
        <p:nvSpPr>
          <p:cNvPr id="2321" name="Google Shape;2321;p1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2" name="Google Shape;2322;p1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323" name="Google Shape;2323;p1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324" name="Google Shape;2324;p1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46% of new business ($760,332)</a:t>
            </a:r>
            <a:endParaRPr/>
          </a:p>
        </p:txBody>
      </p:sp>
      <p:sp>
        <p:nvSpPr>
          <p:cNvPr id="2325" name="Google Shape;2325;p1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6" name="Google Shape;2326;p1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327" name="Google Shape;2327;p1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328" name="Google Shape;2328;p1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$1,648,524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329" name="Google Shape;2329;p1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330" name="Google Shape;2330;p1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$760,332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34" name="Shape 2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5" name="Google Shape;2335;p1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6" name="Google Shape;2336;p1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Prestige International Insurance Group Inc Dba Prestige Trucking Insurance Inc</a:t>
            </a:r>
            <a:endParaRPr/>
          </a:p>
        </p:txBody>
      </p:sp>
      <p:sp>
        <p:nvSpPr>
          <p:cNvPr id="2337" name="Google Shape;2337;p1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  |  City: Fort Lauderdale</a:t>
            </a:r>
            <a:endParaRPr/>
          </a:p>
        </p:txBody>
      </p:sp>
      <p:sp>
        <p:nvSpPr>
          <p:cNvPr id="2338" name="Google Shape;2338;p1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$1,419,489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339" name="Google Shape;2339;p1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$739,603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40" name="Google Shape;2340;p1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$345,285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41" name="Google Shape;2341;p1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$334,602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42" name="Google Shape;2342;p1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$-674,225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43" name="Google Shape;2343;p1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$5,400,437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344" name="Google Shape;2344;p1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$4,625,086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345" name="Google Shape;2345;p1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346" name="Google Shape;2346;p1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347" name="Google Shape;2347;p1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348" name="Google Shape;2348;p1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349" name="Google Shape;2349;p1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$959,340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350" name="Google Shape;2350;p1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$842,654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351" name="Google Shape;2351;p1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2" name="Google Shape;2352;p1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353" name="Google Shape;2353;p1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354" name="Google Shape;2354;p1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355" name="Google Shape;2355;p1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356" name="Google Shape;2356;p1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357" name="Google Shape;2357;p1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358" name="Google Shape;2358;p1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359" name="Google Shape;2359;p1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0" name="Google Shape;2360;p1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361" name="Google Shape;2361;p1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$284,996</a:t>
            </a:r>
            <a:endParaRPr/>
          </a:p>
        </p:txBody>
      </p:sp>
      <p:sp>
        <p:nvSpPr>
          <p:cNvPr id="2362" name="Google Shape;2362;p1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$218,129</a:t>
            </a:r>
            <a:endParaRPr/>
          </a:p>
        </p:txBody>
      </p:sp>
      <p:sp>
        <p:nvSpPr>
          <p:cNvPr id="2363" name="Google Shape;2363;p1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$19,345</a:t>
            </a:r>
            <a:endParaRPr/>
          </a:p>
        </p:txBody>
      </p:sp>
      <p:sp>
        <p:nvSpPr>
          <p:cNvPr id="2364" name="Google Shape;2364;p1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$47,521</a:t>
            </a:r>
            <a:endParaRPr/>
          </a:p>
        </p:txBody>
      </p:sp>
      <p:sp>
        <p:nvSpPr>
          <p:cNvPr id="2365" name="Google Shape;2365;p1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$-35,198</a:t>
            </a:r>
            <a:endParaRPr/>
          </a:p>
        </p:txBody>
      </p:sp>
      <p:sp>
        <p:nvSpPr>
          <p:cNvPr id="2366" name="Google Shape;2366;p1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7" name="Google Shape;2367;p1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368" name="Google Shape;2368;p1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$298,282</a:t>
            </a:r>
            <a:endParaRPr/>
          </a:p>
        </p:txBody>
      </p:sp>
      <p:sp>
        <p:nvSpPr>
          <p:cNvPr id="2369" name="Google Shape;2369;p1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$176,724</a:t>
            </a:r>
            <a:endParaRPr/>
          </a:p>
        </p:txBody>
      </p:sp>
      <p:sp>
        <p:nvSpPr>
          <p:cNvPr id="2370" name="Google Shape;2370;p1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$42,731</a:t>
            </a:r>
            <a:endParaRPr/>
          </a:p>
        </p:txBody>
      </p:sp>
      <p:sp>
        <p:nvSpPr>
          <p:cNvPr id="2371" name="Google Shape;2371;p1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$78,827</a:t>
            </a:r>
            <a:endParaRPr/>
          </a:p>
        </p:txBody>
      </p:sp>
      <p:sp>
        <p:nvSpPr>
          <p:cNvPr id="2372" name="Google Shape;2372;p1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$-204,175</a:t>
            </a:r>
            <a:endParaRPr/>
          </a:p>
        </p:txBody>
      </p:sp>
      <p:sp>
        <p:nvSpPr>
          <p:cNvPr id="2373" name="Google Shape;2373;p1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4" name="Google Shape;2374;p1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375" name="Google Shape;2375;p1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$167,384</a:t>
            </a:r>
            <a:endParaRPr/>
          </a:p>
        </p:txBody>
      </p:sp>
      <p:sp>
        <p:nvSpPr>
          <p:cNvPr id="2376" name="Google Shape;2376;p1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$137,894</a:t>
            </a:r>
            <a:endParaRPr/>
          </a:p>
        </p:txBody>
      </p:sp>
      <p:sp>
        <p:nvSpPr>
          <p:cNvPr id="2377" name="Google Shape;2377;p1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$32,214</a:t>
            </a:r>
            <a:endParaRPr/>
          </a:p>
        </p:txBody>
      </p:sp>
      <p:sp>
        <p:nvSpPr>
          <p:cNvPr id="2378" name="Google Shape;2378;p1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$-2,724</a:t>
            </a:r>
            <a:endParaRPr/>
          </a:p>
        </p:txBody>
      </p:sp>
      <p:sp>
        <p:nvSpPr>
          <p:cNvPr id="2379" name="Google Shape;2379;p1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$-24,309</a:t>
            </a:r>
            <a:endParaRPr/>
          </a:p>
        </p:txBody>
      </p:sp>
      <p:sp>
        <p:nvSpPr>
          <p:cNvPr id="2380" name="Google Shape;2380;p1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1" name="Google Shape;2381;p1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382" name="Google Shape;2382;p1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$470,143</a:t>
            </a:r>
            <a:endParaRPr/>
          </a:p>
        </p:txBody>
      </p:sp>
      <p:sp>
        <p:nvSpPr>
          <p:cNvPr id="2383" name="Google Shape;2383;p1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$118,841</a:t>
            </a:r>
            <a:endParaRPr/>
          </a:p>
        </p:txBody>
      </p:sp>
      <p:sp>
        <p:nvSpPr>
          <p:cNvPr id="2384" name="Google Shape;2384;p1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$137,438</a:t>
            </a:r>
            <a:endParaRPr/>
          </a:p>
        </p:txBody>
      </p:sp>
      <p:sp>
        <p:nvSpPr>
          <p:cNvPr id="2385" name="Google Shape;2385;p1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$213,864</a:t>
            </a:r>
            <a:endParaRPr/>
          </a:p>
        </p:txBody>
      </p:sp>
      <p:sp>
        <p:nvSpPr>
          <p:cNvPr id="2386" name="Google Shape;2386;p1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$-347,386</a:t>
            </a:r>
            <a:endParaRPr/>
          </a:p>
        </p:txBody>
      </p:sp>
      <p:sp>
        <p:nvSpPr>
          <p:cNvPr id="2387" name="Google Shape;2387;p1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8" name="Google Shape;2388;p1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389" name="Google Shape;2389;p1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$198,685</a:t>
            </a:r>
            <a:endParaRPr/>
          </a:p>
        </p:txBody>
      </p:sp>
      <p:sp>
        <p:nvSpPr>
          <p:cNvPr id="2390" name="Google Shape;2390;p1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$88,016</a:t>
            </a:r>
            <a:endParaRPr/>
          </a:p>
        </p:txBody>
      </p:sp>
      <p:sp>
        <p:nvSpPr>
          <p:cNvPr id="2391" name="Google Shape;2391;p1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$113,556</a:t>
            </a:r>
            <a:endParaRPr/>
          </a:p>
        </p:txBody>
      </p:sp>
      <p:sp>
        <p:nvSpPr>
          <p:cNvPr id="2392" name="Google Shape;2392;p1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$-2,887</a:t>
            </a:r>
            <a:endParaRPr/>
          </a:p>
        </p:txBody>
      </p:sp>
      <p:sp>
        <p:nvSpPr>
          <p:cNvPr id="2393" name="Google Shape;2393;p1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$-63,157</a:t>
            </a:r>
            <a:endParaRPr/>
          </a:p>
        </p:txBody>
      </p:sp>
      <p:sp>
        <p:nvSpPr>
          <p:cNvPr id="2394" name="Google Shape;2394;p1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5" name="Google Shape;2395;p1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396" name="Google Shape;2396;p1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$1,419,489</a:t>
            </a:r>
            <a:endParaRPr/>
          </a:p>
        </p:txBody>
      </p:sp>
      <p:sp>
        <p:nvSpPr>
          <p:cNvPr id="2397" name="Google Shape;2397;p1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$739,603</a:t>
            </a:r>
            <a:endParaRPr/>
          </a:p>
        </p:txBody>
      </p:sp>
      <p:sp>
        <p:nvSpPr>
          <p:cNvPr id="2398" name="Google Shape;2398;p1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$345,285</a:t>
            </a:r>
            <a:endParaRPr/>
          </a:p>
        </p:txBody>
      </p:sp>
      <p:sp>
        <p:nvSpPr>
          <p:cNvPr id="2399" name="Google Shape;2399;p1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$334,602</a:t>
            </a:r>
            <a:endParaRPr/>
          </a:p>
        </p:txBody>
      </p:sp>
      <p:sp>
        <p:nvSpPr>
          <p:cNvPr id="2400" name="Google Shape;2400;p1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$-674,225</a:t>
            </a:r>
            <a:endParaRPr/>
          </a:p>
        </p:txBody>
      </p:sp>
      <p:sp>
        <p:nvSpPr>
          <p:cNvPr id="2401" name="Google Shape;2401;p1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2" name="Google Shape;2402;p1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403" name="Google Shape;2403;p1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404" name="Google Shape;2404;p1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405" name="Google Shape;2405;p1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406" name="Google Shape;2406;p1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407" name="Google Shape;2407;p1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408" name="Google Shape;2408;p1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409" name="Google Shape;2409;p1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0" name="Google Shape;2410;p1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411" name="Google Shape;2411;p1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</a:t>
            </a:r>
            <a:endParaRPr/>
          </a:p>
        </p:txBody>
      </p:sp>
      <p:sp>
        <p:nvSpPr>
          <p:cNvPr id="2412" name="Google Shape;2412;p1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413" name="Google Shape;2413;p1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229</a:t>
            </a:r>
            <a:endParaRPr/>
          </a:p>
        </p:txBody>
      </p:sp>
      <p:sp>
        <p:nvSpPr>
          <p:cNvPr id="2414" name="Google Shape;2414;p1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2415" name="Google Shape;2415;p1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2416" name="Google Shape;2416;p1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7" name="Google Shape;2417;p1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418" name="Google Shape;2418;p1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327</a:t>
            </a:r>
            <a:endParaRPr/>
          </a:p>
        </p:txBody>
      </p:sp>
      <p:sp>
        <p:nvSpPr>
          <p:cNvPr id="2419" name="Google Shape;2419;p1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20" name="Google Shape;2420;p1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302</a:t>
            </a:r>
            <a:endParaRPr/>
          </a:p>
        </p:txBody>
      </p:sp>
      <p:sp>
        <p:nvSpPr>
          <p:cNvPr id="2421" name="Google Shape;2421;p1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422" name="Google Shape;2422;p1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2423" name="Google Shape;2423;p1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4" name="Google Shape;2424;p1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425" name="Google Shape;2425;p1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371</a:t>
            </a:r>
            <a:endParaRPr/>
          </a:p>
        </p:txBody>
      </p:sp>
      <p:sp>
        <p:nvSpPr>
          <p:cNvPr id="2426" name="Google Shape;2426;p1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2427" name="Google Shape;2427;p1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346</a:t>
            </a:r>
            <a:endParaRPr/>
          </a:p>
        </p:txBody>
      </p:sp>
      <p:sp>
        <p:nvSpPr>
          <p:cNvPr id="2428" name="Google Shape;2428;p1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2429" name="Google Shape;2429;p1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5.4%</a:t>
            </a:r>
            <a:endParaRPr/>
          </a:p>
        </p:txBody>
      </p:sp>
      <p:sp>
        <p:nvSpPr>
          <p:cNvPr id="2430" name="Google Shape;2430;p1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1" name="Google Shape;2431;p1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432" name="Google Shape;2432;p1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354</a:t>
            </a:r>
            <a:endParaRPr/>
          </a:p>
        </p:txBody>
      </p:sp>
      <p:sp>
        <p:nvSpPr>
          <p:cNvPr id="2433" name="Google Shape;2433;p1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2434" name="Google Shape;2434;p1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325</a:t>
            </a:r>
            <a:endParaRPr/>
          </a:p>
        </p:txBody>
      </p:sp>
      <p:sp>
        <p:nvSpPr>
          <p:cNvPr id="2435" name="Google Shape;2435;p1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436" name="Google Shape;2436;p1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2437" name="Google Shape;2437;p1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8" name="Google Shape;2438;p1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439" name="Google Shape;2439;p1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</a:t>
            </a:r>
            <a:endParaRPr/>
          </a:p>
        </p:txBody>
      </p:sp>
      <p:sp>
        <p:nvSpPr>
          <p:cNvPr id="2440" name="Google Shape;2440;p1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441" name="Google Shape;2441;p1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238</a:t>
            </a:r>
            <a:endParaRPr/>
          </a:p>
        </p:txBody>
      </p:sp>
      <p:sp>
        <p:nvSpPr>
          <p:cNvPr id="2442" name="Google Shape;2442;p1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443" name="Google Shape;2443;p1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4.7%</a:t>
            </a:r>
            <a:endParaRPr/>
          </a:p>
        </p:txBody>
      </p:sp>
      <p:sp>
        <p:nvSpPr>
          <p:cNvPr id="2444" name="Google Shape;2444;p1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5" name="Google Shape;2445;p1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446" name="Google Shape;2446;p1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1461</a:t>
            </a:r>
            <a:endParaRPr/>
          </a:p>
        </p:txBody>
      </p:sp>
      <p:sp>
        <p:nvSpPr>
          <p:cNvPr id="2447" name="Google Shape;2447;p1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96</a:t>
            </a:r>
            <a:endParaRPr/>
          </a:p>
        </p:txBody>
      </p:sp>
      <p:sp>
        <p:nvSpPr>
          <p:cNvPr id="2448" name="Google Shape;2448;p1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1365</a:t>
            </a:r>
            <a:endParaRPr/>
          </a:p>
        </p:txBody>
      </p:sp>
      <p:sp>
        <p:nvSpPr>
          <p:cNvPr id="2449" name="Google Shape;2449;p1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2450" name="Google Shape;2450;p1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2451" name="Google Shape;2451;p1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2" name="Google Shape;2452;p1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453" name="Google Shape;2453;p1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454" name="Google Shape;2454;p1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455" name="Google Shape;2455;p1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456" name="Google Shape;2456;p1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457" name="Google Shape;2457;p1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458" name="Google Shape;2458;p1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459" name="Google Shape;2459;p1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460" name="Google Shape;2460;p1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461" name="Google Shape;2461;p1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462" name="Google Shape;2462;p1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463" name="Google Shape;2463;p1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464" name="Google Shape;2464;p1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465" name="Google Shape;2465;p1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466" name="Google Shape;2466;p1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467" name="Google Shape;2467;p1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261</a:t>
            </a:r>
            <a:endParaRPr/>
          </a:p>
        </p:txBody>
      </p:sp>
      <p:sp>
        <p:nvSpPr>
          <p:cNvPr id="2468" name="Google Shape;2468;p1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256</a:t>
            </a:r>
            <a:endParaRPr/>
          </a:p>
        </p:txBody>
      </p:sp>
      <p:sp>
        <p:nvSpPr>
          <p:cNvPr id="2469" name="Google Shape;2469;p1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176</a:t>
            </a:r>
            <a:endParaRPr/>
          </a:p>
        </p:txBody>
      </p:sp>
      <p:sp>
        <p:nvSpPr>
          <p:cNvPr id="2470" name="Google Shape;2470;p1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327</a:t>
            </a:r>
            <a:endParaRPr/>
          </a:p>
        </p:txBody>
      </p:sp>
      <p:sp>
        <p:nvSpPr>
          <p:cNvPr id="2471" name="Google Shape;2471;p1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264</a:t>
            </a:r>
            <a:endParaRPr/>
          </a:p>
        </p:txBody>
      </p:sp>
      <p:sp>
        <p:nvSpPr>
          <p:cNvPr id="2472" name="Google Shape;2472;p1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371</a:t>
            </a:r>
            <a:endParaRPr/>
          </a:p>
        </p:txBody>
      </p:sp>
      <p:sp>
        <p:nvSpPr>
          <p:cNvPr id="2473" name="Google Shape;2473;p1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201</a:t>
            </a:r>
            <a:endParaRPr/>
          </a:p>
        </p:txBody>
      </p:sp>
      <p:sp>
        <p:nvSpPr>
          <p:cNvPr id="2474" name="Google Shape;2474;p1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354</a:t>
            </a:r>
            <a:endParaRPr/>
          </a:p>
        </p:txBody>
      </p:sp>
      <p:sp>
        <p:nvSpPr>
          <p:cNvPr id="2475" name="Google Shape;2475;p1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203</a:t>
            </a:r>
            <a:endParaRPr/>
          </a:p>
        </p:txBody>
      </p:sp>
      <p:sp>
        <p:nvSpPr>
          <p:cNvPr id="2476" name="Google Shape;2476;p1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254</a:t>
            </a:r>
            <a:endParaRPr/>
          </a:p>
        </p:txBody>
      </p:sp>
      <p:sp>
        <p:nvSpPr>
          <p:cNvPr id="2477" name="Google Shape;2477;p1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1105</a:t>
            </a:r>
            <a:endParaRPr/>
          </a:p>
        </p:txBody>
      </p:sp>
      <p:sp>
        <p:nvSpPr>
          <p:cNvPr id="2478" name="Google Shape;2478;p1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1562</a:t>
            </a:r>
            <a:endParaRPr/>
          </a:p>
        </p:txBody>
      </p:sp>
      <p:sp>
        <p:nvSpPr>
          <p:cNvPr id="2479" name="Google Shape;2479;p1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480" name="Google Shape;2480;p1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$372K</a:t>
            </a:r>
            <a:endParaRPr/>
          </a:p>
        </p:txBody>
      </p:sp>
      <p:sp>
        <p:nvSpPr>
          <p:cNvPr id="2481" name="Google Shape;2481;p1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$285K</a:t>
            </a:r>
            <a:endParaRPr/>
          </a:p>
        </p:txBody>
      </p:sp>
      <p:sp>
        <p:nvSpPr>
          <p:cNvPr id="2482" name="Google Shape;2482;p1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$450K</a:t>
            </a:r>
            <a:endParaRPr/>
          </a:p>
        </p:txBody>
      </p:sp>
      <p:sp>
        <p:nvSpPr>
          <p:cNvPr id="2483" name="Google Shape;2483;p1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$298K</a:t>
            </a:r>
            <a:endParaRPr/>
          </a:p>
        </p:txBody>
      </p:sp>
      <p:sp>
        <p:nvSpPr>
          <p:cNvPr id="2484" name="Google Shape;2484;p1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$447K</a:t>
            </a:r>
            <a:endParaRPr/>
          </a:p>
        </p:txBody>
      </p:sp>
      <p:sp>
        <p:nvSpPr>
          <p:cNvPr id="2485" name="Google Shape;2485;p1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2486" name="Google Shape;2486;p1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$566K</a:t>
            </a:r>
            <a:endParaRPr/>
          </a:p>
        </p:txBody>
      </p:sp>
      <p:sp>
        <p:nvSpPr>
          <p:cNvPr id="2487" name="Google Shape;2487;p1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$470K</a:t>
            </a:r>
            <a:endParaRPr/>
          </a:p>
        </p:txBody>
      </p:sp>
      <p:sp>
        <p:nvSpPr>
          <p:cNvPr id="2488" name="Google Shape;2488;p1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$360K</a:t>
            </a:r>
            <a:endParaRPr/>
          </a:p>
        </p:txBody>
      </p:sp>
      <p:sp>
        <p:nvSpPr>
          <p:cNvPr id="2489" name="Google Shape;2489;p1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$199K</a:t>
            </a:r>
            <a:endParaRPr/>
          </a:p>
        </p:txBody>
      </p:sp>
      <p:sp>
        <p:nvSpPr>
          <p:cNvPr id="2490" name="Google Shape;2490;p1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$2.2M</a:t>
            </a:r>
            <a:endParaRPr/>
          </a:p>
        </p:txBody>
      </p:sp>
      <p:sp>
        <p:nvSpPr>
          <p:cNvPr id="2491" name="Google Shape;2491;p1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$1.4M</a:t>
            </a:r>
            <a:endParaRPr/>
          </a:p>
        </p:txBody>
      </p:sp>
      <p:sp>
        <p:nvSpPr>
          <p:cNvPr id="2492" name="Google Shape;2492;p1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3" name="Google Shape;2493;p1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494" name="Google Shape;2494;p1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95" name="Google Shape;2495;p1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$1,419,489 YTD gross written premium</a:t>
            </a:r>
            <a:endParaRPr/>
          </a:p>
        </p:txBody>
      </p:sp>
      <p:sp>
        <p:nvSpPr>
          <p:cNvPr id="2496" name="Google Shape;2496;p1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497" name="Google Shape;2497;p1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$739,603 in new business production</a:t>
            </a:r>
            <a:endParaRPr/>
          </a:p>
        </p:txBody>
      </p:sp>
      <p:sp>
        <p:nvSpPr>
          <p:cNvPr id="2498" name="Google Shape;2498;p1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9" name="Google Shape;2499;p1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500" name="Google Shape;2500;p1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01" name="Google Shape;2501;p1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91% of new business ($674,225)</a:t>
            </a:r>
            <a:endParaRPr/>
          </a:p>
        </p:txBody>
      </p:sp>
      <p:sp>
        <p:nvSpPr>
          <p:cNvPr id="2502" name="Google Shape;2502;p1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503" name="Google Shape;2503;p1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58% month-over-month</a:t>
            </a:r>
            <a:endParaRPr/>
          </a:p>
        </p:txBody>
      </p:sp>
      <p:sp>
        <p:nvSpPr>
          <p:cNvPr id="2504" name="Google Shape;2504;p1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5" name="Google Shape;2505;p1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506" name="Google Shape;2506;p1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507" name="Google Shape;2507;p1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$739,603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508" name="Google Shape;2508;p1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509" name="Google Shape;2509;p1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$674,225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p2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5" name="Google Shape;2515;p2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Vantage Ins Llc</a:t>
            </a:r>
            <a:endParaRPr/>
          </a:p>
        </p:txBody>
      </p:sp>
      <p:sp>
        <p:nvSpPr>
          <p:cNvPr id="2516" name="Google Shape;2516;p2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3  |  Region: Southeast  |  State: N/A  |  City: N/A</a:t>
            </a:r>
            <a:endParaRPr/>
          </a:p>
        </p:txBody>
      </p:sp>
      <p:sp>
        <p:nvSpPr>
          <p:cNvPr id="2517" name="Google Shape;2517;p2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$851,003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518" name="Google Shape;2518;p2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$525,662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19" name="Google Shape;2519;p2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20" name="Google Shape;2520;p2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$281,234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21" name="Google Shape;2521;p2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$-374,009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22" name="Google Shape;2522;p2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$761,577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523" name="Google Shape;2523;p2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$1,507,686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524" name="Google Shape;2524;p2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525" name="Google Shape;2525;p2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526" name="Google Shape;2526;p2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27" name="Google Shape;2527;p2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28" name="Google Shape;2528;p2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$223,792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529" name="Google Shape;2529;p2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$357,438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530" name="Google Shape;2530;p2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1" name="Google Shape;2531;p2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532" name="Google Shape;2532;p2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33" name="Google Shape;2533;p2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534" name="Google Shape;2534;p2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535" name="Google Shape;2535;p2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536" name="Google Shape;2536;p2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537" name="Google Shape;2537;p2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538" name="Google Shape;2538;p2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9" name="Google Shape;2539;p2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40" name="Google Shape;2540;p2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$86,046</a:t>
            </a:r>
            <a:endParaRPr/>
          </a:p>
        </p:txBody>
      </p:sp>
      <p:sp>
        <p:nvSpPr>
          <p:cNvPr id="2541" name="Google Shape;2541;p2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$68,097</a:t>
            </a:r>
            <a:endParaRPr/>
          </a:p>
        </p:txBody>
      </p:sp>
      <p:sp>
        <p:nvSpPr>
          <p:cNvPr id="2542" name="Google Shape;2542;p2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43" name="Google Shape;2543;p2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$17,948</a:t>
            </a:r>
            <a:endParaRPr/>
          </a:p>
        </p:txBody>
      </p:sp>
      <p:sp>
        <p:nvSpPr>
          <p:cNvPr id="2544" name="Google Shape;2544;p2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$-17,037</a:t>
            </a:r>
            <a:endParaRPr/>
          </a:p>
        </p:txBody>
      </p:sp>
      <p:sp>
        <p:nvSpPr>
          <p:cNvPr id="2545" name="Google Shape;2545;p2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6" name="Google Shape;2546;p2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47" name="Google Shape;2547;p2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$196,128</a:t>
            </a:r>
            <a:endParaRPr/>
          </a:p>
        </p:txBody>
      </p:sp>
      <p:sp>
        <p:nvSpPr>
          <p:cNvPr id="2548" name="Google Shape;2548;p2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$103,155</a:t>
            </a:r>
            <a:endParaRPr/>
          </a:p>
        </p:txBody>
      </p:sp>
      <p:sp>
        <p:nvSpPr>
          <p:cNvPr id="2549" name="Google Shape;2549;p2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2550" name="Google Shape;2550;p2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$48,865</a:t>
            </a:r>
            <a:endParaRPr/>
          </a:p>
        </p:txBody>
      </p:sp>
      <p:sp>
        <p:nvSpPr>
          <p:cNvPr id="2551" name="Google Shape;2551;p2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$-114,675</a:t>
            </a:r>
            <a:endParaRPr/>
          </a:p>
        </p:txBody>
      </p:sp>
      <p:sp>
        <p:nvSpPr>
          <p:cNvPr id="2552" name="Google Shape;2552;p2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3" name="Google Shape;2553;p2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554" name="Google Shape;2554;p2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$114,149</a:t>
            </a:r>
            <a:endParaRPr/>
          </a:p>
        </p:txBody>
      </p:sp>
      <p:sp>
        <p:nvSpPr>
          <p:cNvPr id="2555" name="Google Shape;2555;p2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$48,762</a:t>
            </a:r>
            <a:endParaRPr/>
          </a:p>
        </p:txBody>
      </p:sp>
      <p:sp>
        <p:nvSpPr>
          <p:cNvPr id="2556" name="Google Shape;2556;p2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57" name="Google Shape;2557;p2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$65,388</a:t>
            </a:r>
            <a:endParaRPr/>
          </a:p>
        </p:txBody>
      </p:sp>
      <p:sp>
        <p:nvSpPr>
          <p:cNvPr id="2558" name="Google Shape;2558;p2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$-62,815</a:t>
            </a:r>
            <a:endParaRPr/>
          </a:p>
        </p:txBody>
      </p:sp>
      <p:sp>
        <p:nvSpPr>
          <p:cNvPr id="2559" name="Google Shape;2559;p2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0" name="Google Shape;2560;p2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561" name="Google Shape;2561;p2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$199,219</a:t>
            </a:r>
            <a:endParaRPr/>
          </a:p>
        </p:txBody>
      </p:sp>
      <p:sp>
        <p:nvSpPr>
          <p:cNvPr id="2562" name="Google Shape;2562;p2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$178,418</a:t>
            </a:r>
            <a:endParaRPr/>
          </a:p>
        </p:txBody>
      </p:sp>
      <p:sp>
        <p:nvSpPr>
          <p:cNvPr id="2563" name="Google Shape;2563;p2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64" name="Google Shape;2564;p2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$20,801</a:t>
            </a:r>
            <a:endParaRPr/>
          </a:p>
        </p:txBody>
      </p:sp>
      <p:sp>
        <p:nvSpPr>
          <p:cNvPr id="2565" name="Google Shape;2565;p2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$-36,967</a:t>
            </a:r>
            <a:endParaRPr/>
          </a:p>
        </p:txBody>
      </p:sp>
      <p:sp>
        <p:nvSpPr>
          <p:cNvPr id="2566" name="Google Shape;2566;p2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7" name="Google Shape;2567;p2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568" name="Google Shape;2568;p2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$255,461</a:t>
            </a:r>
            <a:endParaRPr/>
          </a:p>
        </p:txBody>
      </p:sp>
      <p:sp>
        <p:nvSpPr>
          <p:cNvPr id="2569" name="Google Shape;2569;p2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$127,230</a:t>
            </a:r>
            <a:endParaRPr/>
          </a:p>
        </p:txBody>
      </p:sp>
      <p:sp>
        <p:nvSpPr>
          <p:cNvPr id="2570" name="Google Shape;2570;p2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571" name="Google Shape;2571;p2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$128,231</a:t>
            </a:r>
            <a:endParaRPr/>
          </a:p>
        </p:txBody>
      </p:sp>
      <p:sp>
        <p:nvSpPr>
          <p:cNvPr id="2572" name="Google Shape;2572;p2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$-142,515</a:t>
            </a:r>
            <a:endParaRPr/>
          </a:p>
        </p:txBody>
      </p:sp>
      <p:sp>
        <p:nvSpPr>
          <p:cNvPr id="2573" name="Google Shape;2573;p2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4" name="Google Shape;2574;p2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575" name="Google Shape;2575;p2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$851,003</a:t>
            </a:r>
            <a:endParaRPr/>
          </a:p>
        </p:txBody>
      </p:sp>
      <p:sp>
        <p:nvSpPr>
          <p:cNvPr id="2576" name="Google Shape;2576;p2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$525,662</a:t>
            </a:r>
            <a:endParaRPr/>
          </a:p>
        </p:txBody>
      </p:sp>
      <p:sp>
        <p:nvSpPr>
          <p:cNvPr id="2577" name="Google Shape;2577;p2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$44,107</a:t>
            </a:r>
            <a:endParaRPr/>
          </a:p>
        </p:txBody>
      </p:sp>
      <p:sp>
        <p:nvSpPr>
          <p:cNvPr id="2578" name="Google Shape;2578;p2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$281,234</a:t>
            </a:r>
            <a:endParaRPr/>
          </a:p>
        </p:txBody>
      </p:sp>
      <p:sp>
        <p:nvSpPr>
          <p:cNvPr id="2579" name="Google Shape;2579;p2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$-374,009</a:t>
            </a:r>
            <a:endParaRPr/>
          </a:p>
        </p:txBody>
      </p:sp>
      <p:sp>
        <p:nvSpPr>
          <p:cNvPr id="2580" name="Google Shape;2580;p2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1" name="Google Shape;2581;p2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582" name="Google Shape;2582;p2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583" name="Google Shape;2583;p2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584" name="Google Shape;2584;p2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585" name="Google Shape;2585;p2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586" name="Google Shape;2586;p2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587" name="Google Shape;2587;p2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588" name="Google Shape;2588;p2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9" name="Google Shape;2589;p2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590" name="Google Shape;2590;p2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2591" name="Google Shape;2591;p2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592" name="Google Shape;2592;p2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183</a:t>
            </a:r>
            <a:endParaRPr/>
          </a:p>
        </p:txBody>
      </p:sp>
      <p:sp>
        <p:nvSpPr>
          <p:cNvPr id="2593" name="Google Shape;2593;p2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594" name="Google Shape;2594;p2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595" name="Google Shape;2595;p2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6" name="Google Shape;2596;p2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597" name="Google Shape;2597;p2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2598" name="Google Shape;2598;p2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2599" name="Google Shape;2599;p2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150</a:t>
            </a:r>
            <a:endParaRPr/>
          </a:p>
        </p:txBody>
      </p:sp>
      <p:sp>
        <p:nvSpPr>
          <p:cNvPr id="2600" name="Google Shape;2600;p2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601" name="Google Shape;2601;p2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4.2%</a:t>
            </a:r>
            <a:endParaRPr/>
          </a:p>
        </p:txBody>
      </p:sp>
      <p:sp>
        <p:nvSpPr>
          <p:cNvPr id="2602" name="Google Shape;2602;p2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3" name="Google Shape;2603;p2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604" name="Google Shape;2604;p2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2605" name="Google Shape;2605;p2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606" name="Google Shape;2606;p2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2607" name="Google Shape;2607;p2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608" name="Google Shape;2608;p2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2609" name="Google Shape;2609;p2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0" name="Google Shape;2610;p2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611" name="Google Shape;2611;p2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191</a:t>
            </a:r>
            <a:endParaRPr/>
          </a:p>
        </p:txBody>
      </p:sp>
      <p:sp>
        <p:nvSpPr>
          <p:cNvPr id="2612" name="Google Shape;2612;p2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613" name="Google Shape;2613;p2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173</a:t>
            </a:r>
            <a:endParaRPr/>
          </a:p>
        </p:txBody>
      </p:sp>
      <p:sp>
        <p:nvSpPr>
          <p:cNvPr id="2614" name="Google Shape;2614;p2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615" name="Google Shape;2615;p2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2616" name="Google Shape;2616;p2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7" name="Google Shape;2617;p2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618" name="Google Shape;2618;p2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2619" name="Google Shape;2619;p2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620" name="Google Shape;2620;p2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127</a:t>
            </a:r>
            <a:endParaRPr/>
          </a:p>
        </p:txBody>
      </p:sp>
      <p:sp>
        <p:nvSpPr>
          <p:cNvPr id="2621" name="Google Shape;2621;p2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2622" name="Google Shape;2622;p2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2623" name="Google Shape;2623;p2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4" name="Google Shape;2624;p2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625" name="Google Shape;2625;p2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787</a:t>
            </a:r>
            <a:endParaRPr/>
          </a:p>
        </p:txBody>
      </p:sp>
      <p:sp>
        <p:nvSpPr>
          <p:cNvPr id="2626" name="Google Shape;2626;p2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67</a:t>
            </a:r>
            <a:endParaRPr/>
          </a:p>
        </p:txBody>
      </p:sp>
      <p:sp>
        <p:nvSpPr>
          <p:cNvPr id="2627" name="Google Shape;2627;p2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720</a:t>
            </a:r>
            <a:endParaRPr/>
          </a:p>
        </p:txBody>
      </p:sp>
      <p:sp>
        <p:nvSpPr>
          <p:cNvPr id="2628" name="Google Shape;2628;p2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2629" name="Google Shape;2629;p2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2.3%</a:t>
            </a:r>
            <a:endParaRPr/>
          </a:p>
        </p:txBody>
      </p:sp>
      <p:sp>
        <p:nvSpPr>
          <p:cNvPr id="2630" name="Google Shape;2630;p2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1" name="Google Shape;2631;p2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632" name="Google Shape;2632;p2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633" name="Google Shape;2633;p2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634" name="Google Shape;2634;p2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635" name="Google Shape;2635;p2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636" name="Google Shape;2636;p2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637" name="Google Shape;2637;p2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638" name="Google Shape;2638;p2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639" name="Google Shape;2639;p2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640" name="Google Shape;2640;p2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641" name="Google Shape;2641;p2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642" name="Google Shape;2642;p2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643" name="Google Shape;2643;p2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644" name="Google Shape;2644;p2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645" name="Google Shape;2645;p2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646" name="Google Shape;2646;p2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47" name="Google Shape;2647;p2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198</a:t>
            </a:r>
            <a:endParaRPr/>
          </a:p>
        </p:txBody>
      </p:sp>
      <p:sp>
        <p:nvSpPr>
          <p:cNvPr id="2648" name="Google Shape;2648;p2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649" name="Google Shape;2649;p2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2650" name="Google Shape;2650;p2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651" name="Google Shape;2651;p2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144</a:t>
            </a:r>
            <a:endParaRPr/>
          </a:p>
        </p:txBody>
      </p:sp>
      <p:sp>
        <p:nvSpPr>
          <p:cNvPr id="2652" name="Google Shape;2652;p2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2653" name="Google Shape;2653;p2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191</a:t>
            </a:r>
            <a:endParaRPr/>
          </a:p>
        </p:txBody>
      </p:sp>
      <p:sp>
        <p:nvSpPr>
          <p:cNvPr id="2654" name="Google Shape;2654;p2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135</a:t>
            </a:r>
            <a:endParaRPr/>
          </a:p>
        </p:txBody>
      </p:sp>
      <p:sp>
        <p:nvSpPr>
          <p:cNvPr id="2655" name="Google Shape;2655;p2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139</a:t>
            </a:r>
            <a:endParaRPr/>
          </a:p>
        </p:txBody>
      </p:sp>
      <p:sp>
        <p:nvSpPr>
          <p:cNvPr id="2656" name="Google Shape;2656;p2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219</a:t>
            </a:r>
            <a:endParaRPr/>
          </a:p>
        </p:txBody>
      </p:sp>
      <p:sp>
        <p:nvSpPr>
          <p:cNvPr id="2657" name="Google Shape;2657;p2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839</a:t>
            </a:r>
            <a:endParaRPr/>
          </a:p>
        </p:txBody>
      </p:sp>
      <p:sp>
        <p:nvSpPr>
          <p:cNvPr id="2658" name="Google Shape;2658;p2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659" name="Google Shape;2659;p2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0" name="Google Shape;2660;p2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$86K</a:t>
            </a:r>
            <a:endParaRPr/>
          </a:p>
        </p:txBody>
      </p:sp>
      <p:sp>
        <p:nvSpPr>
          <p:cNvPr id="2661" name="Google Shape;2661;p2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2" name="Google Shape;2662;p2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$196K</a:t>
            </a:r>
            <a:endParaRPr/>
          </a:p>
        </p:txBody>
      </p:sp>
      <p:sp>
        <p:nvSpPr>
          <p:cNvPr id="2663" name="Google Shape;2663;p2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664" name="Google Shape;2664;p2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2665" name="Google Shape;2665;p2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2666" name="Google Shape;2666;p2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$199K</a:t>
            </a:r>
            <a:endParaRPr/>
          </a:p>
        </p:txBody>
      </p:sp>
      <p:sp>
        <p:nvSpPr>
          <p:cNvPr id="2667" name="Google Shape;2667;p2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2668" name="Google Shape;2668;p2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$255K</a:t>
            </a:r>
            <a:endParaRPr/>
          </a:p>
        </p:txBody>
      </p:sp>
      <p:sp>
        <p:nvSpPr>
          <p:cNvPr id="2669" name="Google Shape;2669;p2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$105K</a:t>
            </a:r>
            <a:endParaRPr/>
          </a:p>
        </p:txBody>
      </p:sp>
      <p:sp>
        <p:nvSpPr>
          <p:cNvPr id="2670" name="Google Shape;2670;p2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$851K</a:t>
            </a:r>
            <a:endParaRPr/>
          </a:p>
        </p:txBody>
      </p:sp>
      <p:sp>
        <p:nvSpPr>
          <p:cNvPr id="2671" name="Google Shape;2671;p2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2" name="Google Shape;2672;p2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673" name="Google Shape;2673;p2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74" name="Google Shape;2674;p2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$851,003 YTD gross written premium</a:t>
            </a:r>
            <a:endParaRPr/>
          </a:p>
        </p:txBody>
      </p:sp>
      <p:sp>
        <p:nvSpPr>
          <p:cNvPr id="2675" name="Google Shape;2675;p2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676" name="Google Shape;2676;p2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$525,662 in new business production</a:t>
            </a:r>
            <a:endParaRPr/>
          </a:p>
        </p:txBody>
      </p:sp>
      <p:sp>
        <p:nvSpPr>
          <p:cNvPr id="2677" name="Google Shape;2677;p2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78" name="Google Shape;2678;p2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679" name="Google Shape;2679;p2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680" name="Google Shape;2680;p2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2.3% hit ratio on 787 subs - needs coaching</a:t>
            </a:r>
            <a:endParaRPr/>
          </a:p>
        </p:txBody>
      </p:sp>
      <p:sp>
        <p:nvSpPr>
          <p:cNvPr id="2681" name="Google Shape;2681;p2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682" name="Google Shape;2682;p2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71% of new business ($374,009)</a:t>
            </a:r>
            <a:endParaRPr/>
          </a:p>
        </p:txBody>
      </p:sp>
      <p:sp>
        <p:nvSpPr>
          <p:cNvPr id="2683" name="Google Shape;2683;p2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4" name="Google Shape;2684;p2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685" name="Google Shape;2685;p2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686" name="Google Shape;2686;p2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(787 subs, only 18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2687" name="Google Shape;2687;p2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688" name="Google Shape;2688;p2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$525,662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92" name="Shape 2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3" name="Google Shape;2693;p2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4" name="Google Shape;2694;p2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Insurance Planet</a:t>
            </a:r>
            <a:endParaRPr/>
          </a:p>
        </p:txBody>
      </p:sp>
      <p:sp>
        <p:nvSpPr>
          <p:cNvPr id="2695" name="Google Shape;2695;p2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Florida  |  City: Jacksonville</a:t>
            </a:r>
            <a:endParaRPr/>
          </a:p>
        </p:txBody>
      </p:sp>
      <p:sp>
        <p:nvSpPr>
          <p:cNvPr id="2696" name="Google Shape;2696;p2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$608,829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697" name="Google Shape;2697;p2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$417,441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698" name="Google Shape;2698;p2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$70,501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699" name="Google Shape;2699;p2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$120,887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00" name="Google Shape;2700;p2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$-233,032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01" name="Google Shape;2701;p2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$1,163,463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702" name="Google Shape;2702;p2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$1,314,850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703" name="Google Shape;2703;p2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704" name="Google Shape;2704;p2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705" name="Google Shape;2705;p2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06" name="Google Shape;2706;p2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07" name="Google Shape;2707;p2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$193,376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708" name="Google Shape;2708;p2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$329,710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709" name="Google Shape;2709;p2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0" name="Google Shape;2710;p2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711" name="Google Shape;2711;p2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12" name="Google Shape;2712;p2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713" name="Google Shape;2713;p2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714" name="Google Shape;2714;p2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715" name="Google Shape;2715;p2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716" name="Google Shape;2716;p2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717" name="Google Shape;2717;p2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8" name="Google Shape;2718;p2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19" name="Google Shape;2719;p2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$36,300</a:t>
            </a:r>
            <a:endParaRPr/>
          </a:p>
        </p:txBody>
      </p:sp>
      <p:sp>
        <p:nvSpPr>
          <p:cNvPr id="2720" name="Google Shape;2720;p2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1" name="Google Shape;2721;p2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2" name="Google Shape;2722;p2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$36,300</a:t>
            </a:r>
            <a:endParaRPr/>
          </a:p>
        </p:txBody>
      </p:sp>
      <p:sp>
        <p:nvSpPr>
          <p:cNvPr id="2723" name="Google Shape;2723;p2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4" name="Google Shape;2724;p2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5" name="Google Shape;2725;p2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26" name="Google Shape;2726;p2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$31,165</a:t>
            </a:r>
            <a:endParaRPr/>
          </a:p>
        </p:txBody>
      </p:sp>
      <p:sp>
        <p:nvSpPr>
          <p:cNvPr id="2727" name="Google Shape;2727;p2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8" name="Google Shape;2728;p2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29" name="Google Shape;2729;p2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$31,165</a:t>
            </a:r>
            <a:endParaRPr/>
          </a:p>
        </p:txBody>
      </p:sp>
      <p:sp>
        <p:nvSpPr>
          <p:cNvPr id="2730" name="Google Shape;2730;p2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$-29,647</a:t>
            </a:r>
            <a:endParaRPr/>
          </a:p>
        </p:txBody>
      </p:sp>
      <p:sp>
        <p:nvSpPr>
          <p:cNvPr id="2731" name="Google Shape;2731;p2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2" name="Google Shape;2732;p2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33" name="Google Shape;2733;p2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$129,301</a:t>
            </a:r>
            <a:endParaRPr/>
          </a:p>
        </p:txBody>
      </p:sp>
      <p:sp>
        <p:nvSpPr>
          <p:cNvPr id="2734" name="Google Shape;2734;p2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$105,465</a:t>
            </a:r>
            <a:endParaRPr/>
          </a:p>
        </p:txBody>
      </p:sp>
      <p:sp>
        <p:nvSpPr>
          <p:cNvPr id="2735" name="Google Shape;2735;p2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36" name="Google Shape;2736;p2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$23,836</a:t>
            </a:r>
            <a:endParaRPr/>
          </a:p>
        </p:txBody>
      </p:sp>
      <p:sp>
        <p:nvSpPr>
          <p:cNvPr id="2737" name="Google Shape;2737;p2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$-25,797</a:t>
            </a:r>
            <a:endParaRPr/>
          </a:p>
        </p:txBody>
      </p:sp>
      <p:sp>
        <p:nvSpPr>
          <p:cNvPr id="2738" name="Google Shape;2738;p2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9" name="Google Shape;2739;p2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40" name="Google Shape;2740;p2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$109,280</a:t>
            </a:r>
            <a:endParaRPr/>
          </a:p>
        </p:txBody>
      </p:sp>
      <p:sp>
        <p:nvSpPr>
          <p:cNvPr id="2741" name="Google Shape;2741;p2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$81,468</a:t>
            </a:r>
            <a:endParaRPr/>
          </a:p>
        </p:txBody>
      </p:sp>
      <p:sp>
        <p:nvSpPr>
          <p:cNvPr id="2742" name="Google Shape;2742;p2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743" name="Google Shape;2743;p2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$27,812</a:t>
            </a:r>
            <a:endParaRPr/>
          </a:p>
        </p:txBody>
      </p:sp>
      <p:sp>
        <p:nvSpPr>
          <p:cNvPr id="2744" name="Google Shape;2744;p2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$-145,340</a:t>
            </a:r>
            <a:endParaRPr/>
          </a:p>
        </p:txBody>
      </p:sp>
      <p:sp>
        <p:nvSpPr>
          <p:cNvPr id="2745" name="Google Shape;2745;p2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6" name="Google Shape;2746;p2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47" name="Google Shape;2747;p2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$302,782</a:t>
            </a:r>
            <a:endParaRPr/>
          </a:p>
        </p:txBody>
      </p:sp>
      <p:sp>
        <p:nvSpPr>
          <p:cNvPr id="2748" name="Google Shape;2748;p2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$230,508</a:t>
            </a:r>
            <a:endParaRPr/>
          </a:p>
        </p:txBody>
      </p:sp>
      <p:sp>
        <p:nvSpPr>
          <p:cNvPr id="2749" name="Google Shape;2749;p2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$70,501</a:t>
            </a:r>
            <a:endParaRPr/>
          </a:p>
        </p:txBody>
      </p:sp>
      <p:sp>
        <p:nvSpPr>
          <p:cNvPr id="2750" name="Google Shape;2750;p2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$1,773</a:t>
            </a:r>
            <a:endParaRPr/>
          </a:p>
        </p:txBody>
      </p:sp>
      <p:sp>
        <p:nvSpPr>
          <p:cNvPr id="2751" name="Google Shape;2751;p2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$-32,247</a:t>
            </a:r>
            <a:endParaRPr/>
          </a:p>
        </p:txBody>
      </p:sp>
      <p:sp>
        <p:nvSpPr>
          <p:cNvPr id="2752" name="Google Shape;2752;p2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3" name="Google Shape;2753;p2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754" name="Google Shape;2754;p2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$608,829</a:t>
            </a:r>
            <a:endParaRPr/>
          </a:p>
        </p:txBody>
      </p:sp>
      <p:sp>
        <p:nvSpPr>
          <p:cNvPr id="2755" name="Google Shape;2755;p2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$417,441</a:t>
            </a:r>
            <a:endParaRPr/>
          </a:p>
        </p:txBody>
      </p:sp>
      <p:sp>
        <p:nvSpPr>
          <p:cNvPr id="2756" name="Google Shape;2756;p2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$70,501</a:t>
            </a:r>
            <a:endParaRPr/>
          </a:p>
        </p:txBody>
      </p:sp>
      <p:sp>
        <p:nvSpPr>
          <p:cNvPr id="2757" name="Google Shape;2757;p2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$120,887</a:t>
            </a:r>
            <a:endParaRPr/>
          </a:p>
        </p:txBody>
      </p:sp>
      <p:sp>
        <p:nvSpPr>
          <p:cNvPr id="2758" name="Google Shape;2758;p2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$-233,032</a:t>
            </a:r>
            <a:endParaRPr/>
          </a:p>
        </p:txBody>
      </p:sp>
      <p:sp>
        <p:nvSpPr>
          <p:cNvPr id="2759" name="Google Shape;2759;p2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0" name="Google Shape;2760;p2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761" name="Google Shape;2761;p2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762" name="Google Shape;2762;p2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763" name="Google Shape;2763;p2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764" name="Google Shape;2764;p2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765" name="Google Shape;2765;p2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766" name="Google Shape;2766;p2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767" name="Google Shape;2767;p2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8" name="Google Shape;2768;p2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769" name="Google Shape;2769;p2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770" name="Google Shape;2770;p2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71" name="Google Shape;2771;p2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2772" name="Google Shape;2772;p2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73" name="Google Shape;2773;p2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11.1%</a:t>
            </a:r>
            <a:endParaRPr/>
          </a:p>
        </p:txBody>
      </p:sp>
      <p:sp>
        <p:nvSpPr>
          <p:cNvPr id="2774" name="Google Shape;2774;p2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5" name="Google Shape;2775;p2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776" name="Google Shape;2776;p2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777" name="Google Shape;2777;p2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2778" name="Google Shape;2778;p2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34</a:t>
            </a:r>
            <a:endParaRPr/>
          </a:p>
        </p:txBody>
      </p:sp>
      <p:sp>
        <p:nvSpPr>
          <p:cNvPr id="2779" name="Google Shape;2779;p2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80" name="Google Shape;2780;p2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9.8%</a:t>
            </a:r>
            <a:endParaRPr/>
          </a:p>
        </p:txBody>
      </p:sp>
      <p:sp>
        <p:nvSpPr>
          <p:cNvPr id="2781" name="Google Shape;2781;p2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2" name="Google Shape;2782;p2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783" name="Google Shape;2783;p2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784" name="Google Shape;2784;p2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785" name="Google Shape;2785;p2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2786" name="Google Shape;2786;p2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87" name="Google Shape;2787;p2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2788" name="Google Shape;2788;p2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9" name="Google Shape;2789;p2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790" name="Google Shape;2790;p2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791" name="Google Shape;2791;p2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792" name="Google Shape;2792;p2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2793" name="Google Shape;2793;p2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2794" name="Google Shape;2794;p2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2795" name="Google Shape;2795;p2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6" name="Google Shape;2796;p2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797" name="Google Shape;2797;p2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2798" name="Google Shape;2798;p2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799" name="Google Shape;2799;p2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2800" name="Google Shape;2800;p2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801" name="Google Shape;2801;p2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13.7%</a:t>
            </a:r>
            <a:endParaRPr/>
          </a:p>
        </p:txBody>
      </p:sp>
      <p:sp>
        <p:nvSpPr>
          <p:cNvPr id="2802" name="Google Shape;2802;p2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3" name="Google Shape;2803;p2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804" name="Google Shape;2804;p2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295</a:t>
            </a:r>
            <a:endParaRPr/>
          </a:p>
        </p:txBody>
      </p:sp>
      <p:sp>
        <p:nvSpPr>
          <p:cNvPr id="2805" name="Google Shape;2805;p2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2806" name="Google Shape;2806;p2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267</a:t>
            </a:r>
            <a:endParaRPr/>
          </a:p>
        </p:txBody>
      </p:sp>
      <p:sp>
        <p:nvSpPr>
          <p:cNvPr id="2807" name="Google Shape;2807;p2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2808" name="Google Shape;2808;p2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2809" name="Google Shape;2809;p2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0" name="Google Shape;2810;p2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811" name="Google Shape;2811;p2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812" name="Google Shape;2812;p2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813" name="Google Shape;2813;p2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814" name="Google Shape;2814;p2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815" name="Google Shape;2815;p2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816" name="Google Shape;2816;p2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817" name="Google Shape;2817;p2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818" name="Google Shape;2818;p2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819" name="Google Shape;2819;p2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820" name="Google Shape;2820;p2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821" name="Google Shape;2821;p2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822" name="Google Shape;2822;p2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2823" name="Google Shape;2823;p2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2824" name="Google Shape;2824;p2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25" name="Google Shape;2825;p2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2826" name="Google Shape;2826;p2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827" name="Google Shape;2827;p2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2828" name="Google Shape;2828;p2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829" name="Google Shape;2829;p2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2830" name="Google Shape;2830;p2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2831" name="Google Shape;2831;p2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2832" name="Google Shape;2832;p2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83</a:t>
            </a:r>
            <a:endParaRPr/>
          </a:p>
        </p:txBody>
      </p:sp>
      <p:sp>
        <p:nvSpPr>
          <p:cNvPr id="2833" name="Google Shape;2833;p2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2834" name="Google Shape;2834;p2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2835" name="Google Shape;2835;p2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273</a:t>
            </a:r>
            <a:endParaRPr/>
          </a:p>
        </p:txBody>
      </p:sp>
      <p:sp>
        <p:nvSpPr>
          <p:cNvPr id="2836" name="Google Shape;2836;p2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317</a:t>
            </a:r>
            <a:endParaRPr/>
          </a:p>
        </p:txBody>
      </p:sp>
      <p:sp>
        <p:nvSpPr>
          <p:cNvPr id="2837" name="Google Shape;2837;p2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2838" name="Google Shape;2838;p2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2839" name="Google Shape;2839;p2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2840" name="Google Shape;2840;p2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$56K</a:t>
            </a:r>
            <a:endParaRPr/>
          </a:p>
        </p:txBody>
      </p:sp>
      <p:sp>
        <p:nvSpPr>
          <p:cNvPr id="2841" name="Google Shape;2841;p2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2842" name="Google Shape;2842;p2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$258K</a:t>
            </a:r>
            <a:endParaRPr/>
          </a:p>
        </p:txBody>
      </p:sp>
      <p:sp>
        <p:nvSpPr>
          <p:cNvPr id="2843" name="Google Shape;2843;p2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$129K</a:t>
            </a:r>
            <a:endParaRPr/>
          </a:p>
        </p:txBody>
      </p:sp>
      <p:sp>
        <p:nvSpPr>
          <p:cNvPr id="2844" name="Google Shape;2844;p2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2845" name="Google Shape;2845;p2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$109K</a:t>
            </a:r>
            <a:endParaRPr/>
          </a:p>
        </p:txBody>
      </p:sp>
      <p:sp>
        <p:nvSpPr>
          <p:cNvPr id="2846" name="Google Shape;2846;p2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$76K</a:t>
            </a:r>
            <a:endParaRPr/>
          </a:p>
        </p:txBody>
      </p:sp>
      <p:sp>
        <p:nvSpPr>
          <p:cNvPr id="2847" name="Google Shape;2847;p2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$303K</a:t>
            </a:r>
            <a:endParaRPr/>
          </a:p>
        </p:txBody>
      </p:sp>
      <p:sp>
        <p:nvSpPr>
          <p:cNvPr id="2848" name="Google Shape;2848;p2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$457K</a:t>
            </a:r>
            <a:endParaRPr/>
          </a:p>
        </p:txBody>
      </p:sp>
      <p:sp>
        <p:nvSpPr>
          <p:cNvPr id="2849" name="Google Shape;2849;p2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$609K</a:t>
            </a:r>
            <a:endParaRPr/>
          </a:p>
        </p:txBody>
      </p:sp>
      <p:sp>
        <p:nvSpPr>
          <p:cNvPr id="2850" name="Google Shape;2850;p2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1" name="Google Shape;2851;p2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2852" name="Google Shape;2852;p2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53" name="Google Shape;2853;p2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$608,829 YTD gross written premium</a:t>
            </a:r>
            <a:endParaRPr/>
          </a:p>
        </p:txBody>
      </p:sp>
      <p:sp>
        <p:nvSpPr>
          <p:cNvPr id="2854" name="Google Shape;2854;p2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2855" name="Google Shape;2855;p2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$417,441 in new business production</a:t>
            </a:r>
            <a:endParaRPr/>
          </a:p>
        </p:txBody>
      </p:sp>
      <p:sp>
        <p:nvSpPr>
          <p:cNvPr id="2856" name="Google Shape;2856;p2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7" name="Google Shape;2857;p2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2858" name="Google Shape;2858;p2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2859" name="Google Shape;2859;p2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56% of new business ($233,032)</a:t>
            </a:r>
            <a:endParaRPr/>
          </a:p>
        </p:txBody>
      </p:sp>
      <p:sp>
        <p:nvSpPr>
          <p:cNvPr id="2860" name="Google Shape;2860;p2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1" name="Google Shape;2861;p2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2862" name="Google Shape;2862;p2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2863" name="Google Shape;2863;p2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$417,441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2864" name="Google Shape;2864;p2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2865" name="Google Shape;2865;p2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$233,032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69" name="Shape 2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0" name="Google Shape;2870;p2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1" name="Google Shape;2871;p2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Stone Era Insurance Agency</a:t>
            </a:r>
            <a:endParaRPr/>
          </a:p>
        </p:txBody>
      </p:sp>
      <p:sp>
        <p:nvSpPr>
          <p:cNvPr id="2872" name="Google Shape;2872;p2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Naples</a:t>
            </a:r>
            <a:endParaRPr/>
          </a:p>
        </p:txBody>
      </p:sp>
      <p:sp>
        <p:nvSpPr>
          <p:cNvPr id="2873" name="Google Shape;2873;p2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$429,456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2874" name="Google Shape;2874;p2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$343,460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75" name="Google Shape;2875;p2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76" name="Google Shape;2876;p2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$-10,330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77" name="Google Shape;2877;p2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78" name="Google Shape;2878;p2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$173,908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2879" name="Google Shape;2879;p2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$603,364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2880" name="Google Shape;2880;p2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2881" name="Google Shape;2881;p2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2882" name="Google Shape;2882;p2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883" name="Google Shape;2883;p2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884" name="Google Shape;2884;p2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$142,923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2885" name="Google Shape;2885;p2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$117,591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2886" name="Google Shape;2886;p2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7" name="Google Shape;2887;p2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2888" name="Google Shape;2888;p2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889" name="Google Shape;2889;p2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2890" name="Google Shape;2890;p2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2891" name="Google Shape;2891;p2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2892" name="Google Shape;2892;p2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2893" name="Google Shape;2893;p2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2894" name="Google Shape;2894;p2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95" name="Google Shape;2895;p2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896" name="Google Shape;2896;p2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7" name="Google Shape;2897;p2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8" name="Google Shape;2898;p2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899" name="Google Shape;2899;p2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0" name="Google Shape;2900;p2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1" name="Google Shape;2901;p2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2" name="Google Shape;2902;p2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03" name="Google Shape;2903;p2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$142,651</a:t>
            </a:r>
            <a:endParaRPr/>
          </a:p>
        </p:txBody>
      </p:sp>
      <p:sp>
        <p:nvSpPr>
          <p:cNvPr id="2904" name="Google Shape;2904;p2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$142,651</a:t>
            </a:r>
            <a:endParaRPr/>
          </a:p>
        </p:txBody>
      </p:sp>
      <p:sp>
        <p:nvSpPr>
          <p:cNvPr id="2905" name="Google Shape;2905;p2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6" name="Google Shape;2906;p2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7" name="Google Shape;2907;p2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08" name="Google Shape;2908;p2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9" name="Google Shape;2909;p2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10" name="Google Shape;2910;p2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$94,328</a:t>
            </a:r>
            <a:endParaRPr/>
          </a:p>
        </p:txBody>
      </p:sp>
      <p:sp>
        <p:nvSpPr>
          <p:cNvPr id="2911" name="Google Shape;2911;p2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$96,952</a:t>
            </a:r>
            <a:endParaRPr/>
          </a:p>
        </p:txBody>
      </p:sp>
      <p:sp>
        <p:nvSpPr>
          <p:cNvPr id="2912" name="Google Shape;2912;p2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$20,262</a:t>
            </a:r>
            <a:endParaRPr/>
          </a:p>
        </p:txBody>
      </p:sp>
      <p:sp>
        <p:nvSpPr>
          <p:cNvPr id="2913" name="Google Shape;2913;p2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$-22,886</a:t>
            </a:r>
            <a:endParaRPr/>
          </a:p>
        </p:txBody>
      </p:sp>
      <p:sp>
        <p:nvSpPr>
          <p:cNvPr id="2914" name="Google Shape;2914;p2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5" name="Google Shape;2915;p2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6" name="Google Shape;2916;p2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17" name="Google Shape;2917;p2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$57,581</a:t>
            </a:r>
            <a:endParaRPr/>
          </a:p>
        </p:txBody>
      </p:sp>
      <p:sp>
        <p:nvSpPr>
          <p:cNvPr id="2918" name="Google Shape;2918;p2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19" name="Google Shape;2919;p2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$56,526</a:t>
            </a:r>
            <a:endParaRPr/>
          </a:p>
        </p:txBody>
      </p:sp>
      <p:sp>
        <p:nvSpPr>
          <p:cNvPr id="2920" name="Google Shape;2920;p2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$1,055</a:t>
            </a:r>
            <a:endParaRPr/>
          </a:p>
        </p:txBody>
      </p:sp>
      <p:sp>
        <p:nvSpPr>
          <p:cNvPr id="2921" name="Google Shape;2921;p2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2" name="Google Shape;2922;p2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3" name="Google Shape;2923;p2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24" name="Google Shape;2924;p2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$134,897</a:t>
            </a:r>
            <a:endParaRPr/>
          </a:p>
        </p:txBody>
      </p:sp>
      <p:sp>
        <p:nvSpPr>
          <p:cNvPr id="2925" name="Google Shape;2925;p2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$103,857</a:t>
            </a:r>
            <a:endParaRPr/>
          </a:p>
        </p:txBody>
      </p:sp>
      <p:sp>
        <p:nvSpPr>
          <p:cNvPr id="2926" name="Google Shape;2926;p2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$19,539</a:t>
            </a:r>
            <a:endParaRPr/>
          </a:p>
        </p:txBody>
      </p:sp>
      <p:sp>
        <p:nvSpPr>
          <p:cNvPr id="2927" name="Google Shape;2927;p2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$11,502</a:t>
            </a:r>
            <a:endParaRPr/>
          </a:p>
        </p:txBody>
      </p:sp>
      <p:sp>
        <p:nvSpPr>
          <p:cNvPr id="2928" name="Google Shape;2928;p2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29" name="Google Shape;2929;p2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0" name="Google Shape;2930;p2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31" name="Google Shape;2931;p2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$429,456</a:t>
            </a:r>
            <a:endParaRPr/>
          </a:p>
        </p:txBody>
      </p:sp>
      <p:sp>
        <p:nvSpPr>
          <p:cNvPr id="2932" name="Google Shape;2932;p2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$343,460</a:t>
            </a:r>
            <a:endParaRPr/>
          </a:p>
        </p:txBody>
      </p:sp>
      <p:sp>
        <p:nvSpPr>
          <p:cNvPr id="2933" name="Google Shape;2933;p2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$96,326</a:t>
            </a:r>
            <a:endParaRPr/>
          </a:p>
        </p:txBody>
      </p:sp>
      <p:sp>
        <p:nvSpPr>
          <p:cNvPr id="2934" name="Google Shape;2934;p2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$-10,330</a:t>
            </a:r>
            <a:endParaRPr/>
          </a:p>
        </p:txBody>
      </p:sp>
      <p:sp>
        <p:nvSpPr>
          <p:cNvPr id="2935" name="Google Shape;2935;p2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2936" name="Google Shape;2936;p2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7" name="Google Shape;2937;p2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2938" name="Google Shape;2938;p2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2939" name="Google Shape;2939;p2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2940" name="Google Shape;2940;p2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2941" name="Google Shape;2941;p2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2942" name="Google Shape;2942;p2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2943" name="Google Shape;2943;p2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2944" name="Google Shape;2944;p2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5" name="Google Shape;2945;p2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2946" name="Google Shape;2946;p2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947" name="Google Shape;2947;p2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2948" name="Google Shape;2948;p2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2949" name="Google Shape;2949;p2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50" name="Google Shape;2950;p2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15.4%</a:t>
            </a:r>
            <a:endParaRPr/>
          </a:p>
        </p:txBody>
      </p:sp>
      <p:sp>
        <p:nvSpPr>
          <p:cNvPr id="2951" name="Google Shape;2951;p2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2" name="Google Shape;2952;p2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2953" name="Google Shape;2953;p2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2954" name="Google Shape;2954;p2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2955" name="Google Shape;2955;p2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2956" name="Google Shape;2956;p2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2957" name="Google Shape;2957;p2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2958" name="Google Shape;2958;p2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9" name="Google Shape;2959;p2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2960" name="Google Shape;2960;p2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2961" name="Google Shape;2961;p2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2962" name="Google Shape;2962;p2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2963" name="Google Shape;2963;p2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2964" name="Google Shape;2964;p2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2965" name="Google Shape;2965;p2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6" name="Google Shape;2966;p2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2967" name="Google Shape;2967;p2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2968" name="Google Shape;2968;p2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969" name="Google Shape;2969;p2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2970" name="Google Shape;2970;p2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971" name="Google Shape;2971;p2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7.3%</a:t>
            </a:r>
            <a:endParaRPr/>
          </a:p>
        </p:txBody>
      </p:sp>
      <p:sp>
        <p:nvSpPr>
          <p:cNvPr id="2972" name="Google Shape;2972;p2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3" name="Google Shape;2973;p2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2974" name="Google Shape;2974;p2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2975" name="Google Shape;2975;p2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2976" name="Google Shape;2976;p2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2977" name="Google Shape;2977;p2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2978" name="Google Shape;2978;p2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6.8%</a:t>
            </a:r>
            <a:endParaRPr/>
          </a:p>
        </p:txBody>
      </p:sp>
      <p:sp>
        <p:nvSpPr>
          <p:cNvPr id="2979" name="Google Shape;2979;p2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0" name="Google Shape;2980;p2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2981" name="Google Shape;2981;p2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126</a:t>
            </a:r>
            <a:endParaRPr/>
          </a:p>
        </p:txBody>
      </p:sp>
      <p:sp>
        <p:nvSpPr>
          <p:cNvPr id="2982" name="Google Shape;2982;p2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2983" name="Google Shape;2983;p2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103</a:t>
            </a:r>
            <a:endParaRPr/>
          </a:p>
        </p:txBody>
      </p:sp>
      <p:sp>
        <p:nvSpPr>
          <p:cNvPr id="2984" name="Google Shape;2984;p2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2985" name="Google Shape;2985;p2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2986" name="Google Shape;2986;p2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7" name="Google Shape;2987;p2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2988" name="Google Shape;2988;p2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2989" name="Google Shape;2989;p2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2990" name="Google Shape;2990;p2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2991" name="Google Shape;2991;p2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2992" name="Google Shape;2992;p2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2993" name="Google Shape;2993;p2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2994" name="Google Shape;2994;p2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2995" name="Google Shape;2995;p2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2996" name="Google Shape;2996;p2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2997" name="Google Shape;2997;p2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2998" name="Google Shape;2998;p2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2999" name="Google Shape;2999;p2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000" name="Google Shape;3000;p2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001" name="Google Shape;3001;p2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02" name="Google Shape;3002;p2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3" name="Google Shape;3003;p2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004" name="Google Shape;3004;p2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5" name="Google Shape;3005;p2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006" name="Google Shape;3006;p2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7" name="Google Shape;3007;p2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008" name="Google Shape;3008;p2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09" name="Google Shape;3009;p2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3010" name="Google Shape;3010;p2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1" name="Google Shape;3011;p2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3012" name="Google Shape;3012;p2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013" name="Google Shape;3013;p2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</p:txBody>
      </p:sp>
      <p:sp>
        <p:nvSpPr>
          <p:cNvPr id="3014" name="Google Shape;3014;p2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015" name="Google Shape;3015;p2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6" name="Google Shape;3016;p2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7" name="Google Shape;3017;p2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18" name="Google Shape;3018;p2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$143K</a:t>
            </a:r>
            <a:endParaRPr/>
          </a:p>
        </p:txBody>
      </p:sp>
      <p:sp>
        <p:nvSpPr>
          <p:cNvPr id="3019" name="Google Shape;3019;p2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0" name="Google Shape;3020;p2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$94K</a:t>
            </a:r>
            <a:endParaRPr/>
          </a:p>
        </p:txBody>
      </p:sp>
      <p:sp>
        <p:nvSpPr>
          <p:cNvPr id="3021" name="Google Shape;3021;p2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2" name="Google Shape;3022;p2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$58K</a:t>
            </a:r>
            <a:endParaRPr/>
          </a:p>
        </p:txBody>
      </p:sp>
      <p:sp>
        <p:nvSpPr>
          <p:cNvPr id="3023" name="Google Shape;3023;p2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4" name="Google Shape;3024;p2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$135K</a:t>
            </a:r>
            <a:endParaRPr/>
          </a:p>
        </p:txBody>
      </p:sp>
      <p:sp>
        <p:nvSpPr>
          <p:cNvPr id="3025" name="Google Shape;3025;p2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26" name="Google Shape;3026;p2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$429K</a:t>
            </a:r>
            <a:endParaRPr/>
          </a:p>
        </p:txBody>
      </p:sp>
      <p:sp>
        <p:nvSpPr>
          <p:cNvPr id="3027" name="Google Shape;3027;p2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8" name="Google Shape;3028;p2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029" name="Google Shape;3029;p2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30" name="Google Shape;3030;p2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$429,456 YTD gross written premium</a:t>
            </a:r>
            <a:endParaRPr/>
          </a:p>
        </p:txBody>
      </p:sp>
      <p:sp>
        <p:nvSpPr>
          <p:cNvPr id="3031" name="Google Shape;3031;p2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032" name="Google Shape;3032;p2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$343,460 in new business production</a:t>
            </a:r>
            <a:endParaRPr/>
          </a:p>
        </p:txBody>
      </p:sp>
      <p:sp>
        <p:nvSpPr>
          <p:cNvPr id="3033" name="Google Shape;3033;p2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34" name="Google Shape;3034;p2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035" name="Google Shape;3035;p2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36" name="Google Shape;3036;p2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significant concerns identified this quarter</a:t>
            </a:r>
            <a:endParaRPr/>
          </a:p>
        </p:txBody>
      </p:sp>
      <p:sp>
        <p:nvSpPr>
          <p:cNvPr id="3037" name="Google Shape;3037;p2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038" name="Google Shape;3038;p2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Continue monitoring performance metrics</a:t>
            </a:r>
            <a:endParaRPr/>
          </a:p>
        </p:txBody>
      </p:sp>
      <p:sp>
        <p:nvSpPr>
          <p:cNvPr id="3039" name="Google Shape;3039;p2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0" name="Google Shape;3040;p2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041" name="Google Shape;3041;p2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042" name="Google Shape;3042;p2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$343,460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043" name="Google Shape;3043;p2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044" name="Google Shape;3044;p2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$96,326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48" name="Shape 3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9" name="Google Shape;3049;p2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0" name="Google Shape;3050;p2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Peco Insurance LLC</a:t>
            </a:r>
            <a:endParaRPr/>
          </a:p>
        </p:txBody>
      </p:sp>
      <p:sp>
        <p:nvSpPr>
          <p:cNvPr id="3051" name="Google Shape;3051;p2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1  |  Region: Southeast  |  State: FL  |  City: Medley</a:t>
            </a:r>
            <a:endParaRPr/>
          </a:p>
        </p:txBody>
      </p:sp>
      <p:sp>
        <p:nvSpPr>
          <p:cNvPr id="3052" name="Google Shape;3052;p2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$351,233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053" name="Google Shape;3053;p2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54" name="Google Shape;3054;p2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$101,971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55" name="Google Shape;3055;p2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$166,700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56" name="Google Shape;3056;p2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$-261,730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57" name="Google Shape;3057;p2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$2,449,765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058" name="Google Shape;3058;p2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$1,967,701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059" name="Google Shape;3059;p2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060" name="Google Shape;3060;p2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061" name="Google Shape;3061;p2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062" name="Google Shape;3062;p2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063" name="Google Shape;3063;p2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$155,587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064" name="Google Shape;3064;p2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$417,811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065" name="Google Shape;3065;p2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6" name="Google Shape;3066;p2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067" name="Google Shape;3067;p2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068" name="Google Shape;3068;p2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069" name="Google Shape;3069;p2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070" name="Google Shape;3070;p2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071" name="Google Shape;3071;p2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072" name="Google Shape;3072;p2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073" name="Google Shape;3073;p2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4" name="Google Shape;3074;p2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075" name="Google Shape;3075;p2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$111,392</a:t>
            </a:r>
            <a:endParaRPr/>
          </a:p>
        </p:txBody>
      </p:sp>
      <p:sp>
        <p:nvSpPr>
          <p:cNvPr id="3076" name="Google Shape;3076;p2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$29,394</a:t>
            </a:r>
            <a:endParaRPr/>
          </a:p>
        </p:txBody>
      </p:sp>
      <p:sp>
        <p:nvSpPr>
          <p:cNvPr id="3077" name="Google Shape;3077;p2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$42,618</a:t>
            </a:r>
            <a:endParaRPr/>
          </a:p>
        </p:txBody>
      </p:sp>
      <p:sp>
        <p:nvSpPr>
          <p:cNvPr id="3078" name="Google Shape;3078;p2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$39,381</a:t>
            </a:r>
            <a:endParaRPr/>
          </a:p>
        </p:txBody>
      </p:sp>
      <p:sp>
        <p:nvSpPr>
          <p:cNvPr id="3079" name="Google Shape;3079;p2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$-70,544</a:t>
            </a:r>
            <a:endParaRPr/>
          </a:p>
        </p:txBody>
      </p:sp>
      <p:sp>
        <p:nvSpPr>
          <p:cNvPr id="3080" name="Google Shape;3080;p2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1" name="Google Shape;3081;p2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082" name="Google Shape;3082;p2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$94,504</a:t>
            </a:r>
            <a:endParaRPr/>
          </a:p>
        </p:txBody>
      </p:sp>
      <p:sp>
        <p:nvSpPr>
          <p:cNvPr id="3083" name="Google Shape;3083;p2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$53,168</a:t>
            </a:r>
            <a:endParaRPr/>
          </a:p>
        </p:txBody>
      </p:sp>
      <p:sp>
        <p:nvSpPr>
          <p:cNvPr id="3084" name="Google Shape;3084;p2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5" name="Google Shape;3085;p2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$41,336</a:t>
            </a:r>
            <a:endParaRPr/>
          </a:p>
        </p:txBody>
      </p:sp>
      <p:sp>
        <p:nvSpPr>
          <p:cNvPr id="3086" name="Google Shape;3086;p2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87" name="Google Shape;3087;p2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8" name="Google Shape;3088;p2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089" name="Google Shape;3089;p2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$127,240</a:t>
            </a:r>
            <a:endParaRPr/>
          </a:p>
        </p:txBody>
      </p:sp>
      <p:sp>
        <p:nvSpPr>
          <p:cNvPr id="3090" name="Google Shape;3090;p2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1" name="Google Shape;3091;p2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$59,354</a:t>
            </a:r>
            <a:endParaRPr/>
          </a:p>
        </p:txBody>
      </p:sp>
      <p:sp>
        <p:nvSpPr>
          <p:cNvPr id="3092" name="Google Shape;3092;p2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$67,886</a:t>
            </a:r>
            <a:endParaRPr/>
          </a:p>
        </p:txBody>
      </p:sp>
      <p:sp>
        <p:nvSpPr>
          <p:cNvPr id="3093" name="Google Shape;3093;p2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$-172,172</a:t>
            </a:r>
            <a:endParaRPr/>
          </a:p>
        </p:txBody>
      </p:sp>
      <p:sp>
        <p:nvSpPr>
          <p:cNvPr id="3094" name="Google Shape;3094;p2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95" name="Google Shape;3095;p2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096" name="Google Shape;3096;p2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$18,194</a:t>
            </a:r>
            <a:endParaRPr/>
          </a:p>
        </p:txBody>
      </p:sp>
      <p:sp>
        <p:nvSpPr>
          <p:cNvPr id="3097" name="Google Shape;3097;p2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8" name="Google Shape;3098;p2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099" name="Google Shape;3099;p2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$18,194</a:t>
            </a:r>
            <a:endParaRPr/>
          </a:p>
        </p:txBody>
      </p:sp>
      <p:sp>
        <p:nvSpPr>
          <p:cNvPr id="3100" name="Google Shape;3100;p2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$-19,014</a:t>
            </a:r>
            <a:endParaRPr/>
          </a:p>
        </p:txBody>
      </p:sp>
      <p:sp>
        <p:nvSpPr>
          <p:cNvPr id="3101" name="Google Shape;3101;p2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2" name="Google Shape;3102;p2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03" name="Google Shape;3103;p2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$-98</a:t>
            </a:r>
            <a:endParaRPr/>
          </a:p>
        </p:txBody>
      </p:sp>
      <p:sp>
        <p:nvSpPr>
          <p:cNvPr id="3104" name="Google Shape;3104;p2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5" name="Google Shape;3105;p2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6" name="Google Shape;3106;p2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$-98</a:t>
            </a:r>
            <a:endParaRPr/>
          </a:p>
        </p:txBody>
      </p:sp>
      <p:sp>
        <p:nvSpPr>
          <p:cNvPr id="3107" name="Google Shape;3107;p2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108" name="Google Shape;3108;p2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9" name="Google Shape;3109;p2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10" name="Google Shape;3110;p2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$351,233</a:t>
            </a:r>
            <a:endParaRPr/>
          </a:p>
        </p:txBody>
      </p:sp>
      <p:sp>
        <p:nvSpPr>
          <p:cNvPr id="3111" name="Google Shape;3111;p2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$82,561</a:t>
            </a:r>
            <a:endParaRPr/>
          </a:p>
        </p:txBody>
      </p:sp>
      <p:sp>
        <p:nvSpPr>
          <p:cNvPr id="3112" name="Google Shape;3112;p2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$101,971</a:t>
            </a:r>
            <a:endParaRPr/>
          </a:p>
        </p:txBody>
      </p:sp>
      <p:sp>
        <p:nvSpPr>
          <p:cNvPr id="3113" name="Google Shape;3113;p2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$166,700</a:t>
            </a:r>
            <a:endParaRPr/>
          </a:p>
        </p:txBody>
      </p:sp>
      <p:sp>
        <p:nvSpPr>
          <p:cNvPr id="3114" name="Google Shape;3114;p2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$-261,730</a:t>
            </a:r>
            <a:endParaRPr/>
          </a:p>
        </p:txBody>
      </p:sp>
      <p:sp>
        <p:nvSpPr>
          <p:cNvPr id="3115" name="Google Shape;3115;p2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6" name="Google Shape;3116;p2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117" name="Google Shape;3117;p2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118" name="Google Shape;3118;p2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119" name="Google Shape;3119;p2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120" name="Google Shape;3120;p2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121" name="Google Shape;3121;p2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122" name="Google Shape;3122;p2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123" name="Google Shape;3123;p2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4" name="Google Shape;3124;p2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125" name="Google Shape;3125;p2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3126" name="Google Shape;3126;p2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127" name="Google Shape;3127;p2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3128" name="Google Shape;3128;p2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129" name="Google Shape;3129;p2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11.4%</a:t>
            </a:r>
            <a:endParaRPr/>
          </a:p>
        </p:txBody>
      </p:sp>
      <p:sp>
        <p:nvSpPr>
          <p:cNvPr id="3130" name="Google Shape;3130;p2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1" name="Google Shape;3131;p2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132" name="Google Shape;3132;p2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3133" name="Google Shape;3133;p2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34" name="Google Shape;3134;p2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135" name="Google Shape;3135;p2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3136" name="Google Shape;3136;p2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24.6%</a:t>
            </a:r>
            <a:endParaRPr/>
          </a:p>
        </p:txBody>
      </p:sp>
      <p:sp>
        <p:nvSpPr>
          <p:cNvPr id="3137" name="Google Shape;3137;p2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8" name="Google Shape;3138;p2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139" name="Google Shape;3139;p2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140" name="Google Shape;3140;p2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141" name="Google Shape;3141;p2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3142" name="Google Shape;3142;p2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3143" name="Google Shape;3143;p2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3144" name="Google Shape;3144;p2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5" name="Google Shape;3145;p2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146" name="Google Shape;3146;p2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147" name="Google Shape;3147;p2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148" name="Google Shape;3148;p2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149" name="Google Shape;3149;p2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150" name="Google Shape;3150;p2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16.1%</a:t>
            </a:r>
            <a:endParaRPr/>
          </a:p>
        </p:txBody>
      </p:sp>
      <p:sp>
        <p:nvSpPr>
          <p:cNvPr id="3151" name="Google Shape;3151;p2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2" name="Google Shape;3152;p2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153" name="Google Shape;3153;p2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154" name="Google Shape;3154;p2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155" name="Google Shape;3155;p2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3156" name="Google Shape;3156;p2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157" name="Google Shape;3157;p2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21.1%</a:t>
            </a:r>
            <a:endParaRPr/>
          </a:p>
        </p:txBody>
      </p:sp>
      <p:sp>
        <p:nvSpPr>
          <p:cNvPr id="3158" name="Google Shape;3158;p2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9" name="Google Shape;3159;p2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160" name="Google Shape;3160;p2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168</a:t>
            </a:r>
            <a:endParaRPr/>
          </a:p>
        </p:txBody>
      </p:sp>
      <p:sp>
        <p:nvSpPr>
          <p:cNvPr id="3161" name="Google Shape;3161;p2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162" name="Google Shape;3162;p2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162</a:t>
            </a:r>
            <a:endParaRPr/>
          </a:p>
        </p:txBody>
      </p:sp>
      <p:sp>
        <p:nvSpPr>
          <p:cNvPr id="3163" name="Google Shape;3163;p2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164" name="Google Shape;3164;p2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11.3%</a:t>
            </a:r>
            <a:endParaRPr/>
          </a:p>
        </p:txBody>
      </p:sp>
      <p:sp>
        <p:nvSpPr>
          <p:cNvPr id="3165" name="Google Shape;3165;p2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6" name="Google Shape;3166;p2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167" name="Google Shape;3167;p2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168" name="Google Shape;3168;p2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169" name="Google Shape;3169;p2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170" name="Google Shape;3170;p2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171" name="Google Shape;3171;p2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172" name="Google Shape;3172;p2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173" name="Google Shape;3173;p2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174" name="Google Shape;3174;p2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175" name="Google Shape;3175;p2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176" name="Google Shape;3176;p2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177" name="Google Shape;3177;p2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178" name="Google Shape;3178;p2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179" name="Google Shape;3179;p2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180" name="Google Shape;3180;p2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181" name="Google Shape;3181;p2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167</a:t>
            </a:r>
            <a:endParaRPr/>
          </a:p>
        </p:txBody>
      </p:sp>
      <p:sp>
        <p:nvSpPr>
          <p:cNvPr id="3182" name="Google Shape;3182;p2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79</a:t>
            </a:r>
            <a:endParaRPr/>
          </a:p>
        </p:txBody>
      </p:sp>
      <p:sp>
        <p:nvSpPr>
          <p:cNvPr id="3183" name="Google Shape;3183;p2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100</a:t>
            </a:r>
            <a:endParaRPr/>
          </a:p>
        </p:txBody>
      </p:sp>
      <p:sp>
        <p:nvSpPr>
          <p:cNvPr id="3184" name="Google Shape;3184;p2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3185" name="Google Shape;3185;p2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111</a:t>
            </a:r>
            <a:endParaRPr/>
          </a:p>
        </p:txBody>
      </p:sp>
      <p:sp>
        <p:nvSpPr>
          <p:cNvPr id="3186" name="Google Shape;3186;p2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187" name="Google Shape;3187;p2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3188" name="Google Shape;3188;p2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189" name="Google Shape;3189;p2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137</a:t>
            </a:r>
            <a:endParaRPr/>
          </a:p>
        </p:txBody>
      </p:sp>
      <p:sp>
        <p:nvSpPr>
          <p:cNvPr id="3190" name="Google Shape;3190;p2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191" name="Google Shape;3191;p2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681</a:t>
            </a:r>
            <a:endParaRPr/>
          </a:p>
        </p:txBody>
      </p:sp>
      <p:sp>
        <p:nvSpPr>
          <p:cNvPr id="3192" name="Google Shape;3192;p2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226</a:t>
            </a:r>
            <a:endParaRPr/>
          </a:p>
        </p:txBody>
      </p:sp>
      <p:sp>
        <p:nvSpPr>
          <p:cNvPr id="3193" name="Google Shape;3193;p2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194" name="Google Shape;3194;p2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$181K</a:t>
            </a:r>
            <a:endParaRPr/>
          </a:p>
        </p:txBody>
      </p:sp>
      <p:sp>
        <p:nvSpPr>
          <p:cNvPr id="3195" name="Google Shape;3195;p2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$111K</a:t>
            </a:r>
            <a:endParaRPr/>
          </a:p>
        </p:txBody>
      </p:sp>
      <p:sp>
        <p:nvSpPr>
          <p:cNvPr id="3196" name="Google Shape;3196;p2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$162K</a:t>
            </a:r>
            <a:endParaRPr/>
          </a:p>
        </p:txBody>
      </p:sp>
      <p:sp>
        <p:nvSpPr>
          <p:cNvPr id="3197" name="Google Shape;3197;p2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$95K</a:t>
            </a:r>
            <a:endParaRPr/>
          </a:p>
        </p:txBody>
      </p:sp>
      <p:sp>
        <p:nvSpPr>
          <p:cNvPr id="3198" name="Google Shape;3198;p2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$203K</a:t>
            </a:r>
            <a:endParaRPr/>
          </a:p>
        </p:txBody>
      </p:sp>
      <p:sp>
        <p:nvSpPr>
          <p:cNvPr id="3199" name="Google Shape;3199;p2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$127K</a:t>
            </a:r>
            <a:endParaRPr/>
          </a:p>
        </p:txBody>
      </p:sp>
      <p:sp>
        <p:nvSpPr>
          <p:cNvPr id="3200" name="Google Shape;3200;p2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$172K</a:t>
            </a:r>
            <a:endParaRPr/>
          </a:p>
        </p:txBody>
      </p:sp>
      <p:sp>
        <p:nvSpPr>
          <p:cNvPr id="3201" name="Google Shape;3201;p2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3202" name="Google Shape;3202;p2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$115K</a:t>
            </a:r>
            <a:endParaRPr/>
          </a:p>
        </p:txBody>
      </p:sp>
      <p:sp>
        <p:nvSpPr>
          <p:cNvPr id="3203" name="Google Shape;3203;p2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$-98</a:t>
            </a:r>
            <a:endParaRPr/>
          </a:p>
        </p:txBody>
      </p:sp>
      <p:sp>
        <p:nvSpPr>
          <p:cNvPr id="3204" name="Google Shape;3204;p2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$833K</a:t>
            </a:r>
            <a:endParaRPr/>
          </a:p>
        </p:txBody>
      </p:sp>
      <p:sp>
        <p:nvSpPr>
          <p:cNvPr id="3205" name="Google Shape;3205;p2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$351K</a:t>
            </a:r>
            <a:endParaRPr/>
          </a:p>
        </p:txBody>
      </p:sp>
      <p:sp>
        <p:nvSpPr>
          <p:cNvPr id="3206" name="Google Shape;3206;p2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7" name="Google Shape;3207;p2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208" name="Google Shape;3208;p2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09" name="Google Shape;3209;p2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$351,233 YTD gross written premium</a:t>
            </a:r>
            <a:endParaRPr/>
          </a:p>
        </p:txBody>
      </p:sp>
      <p:sp>
        <p:nvSpPr>
          <p:cNvPr id="3210" name="Google Shape;3210;p2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211" name="Google Shape;3211;p2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$82,561 in new business production</a:t>
            </a:r>
            <a:endParaRPr/>
          </a:p>
        </p:txBody>
      </p:sp>
      <p:sp>
        <p:nvSpPr>
          <p:cNvPr id="3212" name="Google Shape;3212;p2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3" name="Google Shape;3213;p2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214" name="Google Shape;3214;p2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15" name="Google Shape;3215;p2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317% of new business ($261,730)</a:t>
            </a:r>
            <a:endParaRPr/>
          </a:p>
        </p:txBody>
      </p:sp>
      <p:sp>
        <p:nvSpPr>
          <p:cNvPr id="3216" name="Google Shape;3216;p2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217" name="Google Shape;3217;p2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101% month-over-month</a:t>
            </a:r>
            <a:endParaRPr/>
          </a:p>
        </p:txBody>
      </p:sp>
      <p:sp>
        <p:nvSpPr>
          <p:cNvPr id="3218" name="Google Shape;3218;p2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9" name="Google Shape;3219;p2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220" name="Google Shape;3220;p2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221" name="Google Shape;3221;p2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$82,561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222" name="Google Shape;3222;p2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223" name="Google Shape;3223;p2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$261,730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227" name="Shape 3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8" name="Google Shape;3228;p2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9" name="Google Shape;3229;p2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National Insurance Services, Inc.</a:t>
            </a:r>
            <a:endParaRPr/>
          </a:p>
        </p:txBody>
      </p:sp>
      <p:sp>
        <p:nvSpPr>
          <p:cNvPr id="3230" name="Google Shape;3230;p2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Miami</a:t>
            </a:r>
            <a:endParaRPr/>
          </a:p>
        </p:txBody>
      </p:sp>
      <p:sp>
        <p:nvSpPr>
          <p:cNvPr id="3231" name="Google Shape;3231;p2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$233,845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232" name="Google Shape;3232;p2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$145,982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33" name="Google Shape;3233;p2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34" name="Google Shape;3234;p2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35" name="Google Shape;3235;p2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36" name="Google Shape;3236;p2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$631,182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237" name="Google Shape;3237;p2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$543,359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238" name="Google Shape;3238;p2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239" name="Google Shape;3239;p2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240" name="Google Shape;3240;p2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241" name="Google Shape;3241;p2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242" name="Google Shape;3242;p2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$393,906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243" name="Google Shape;3243;p2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$70,153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244" name="Google Shape;3244;p2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5" name="Google Shape;3245;p2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246" name="Google Shape;3246;p2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47" name="Google Shape;3247;p2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248" name="Google Shape;3248;p2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249" name="Google Shape;3249;p2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250" name="Google Shape;3250;p2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251" name="Google Shape;3251;p2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252" name="Google Shape;3252;p2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3" name="Google Shape;3253;p2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254" name="Google Shape;3254;p2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</p:txBody>
      </p:sp>
      <p:sp>
        <p:nvSpPr>
          <p:cNvPr id="3255" name="Google Shape;3255;p2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6" name="Google Shape;3256;p2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</p:txBody>
      </p:sp>
      <p:sp>
        <p:nvSpPr>
          <p:cNvPr id="3257" name="Google Shape;3257;p2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8" name="Google Shape;3258;p2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59" name="Google Shape;3259;p2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0" name="Google Shape;3260;p2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261" name="Google Shape;3261;p2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2" name="Google Shape;3262;p2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3" name="Google Shape;3263;p2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4" name="Google Shape;3264;p2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5" name="Google Shape;3265;p2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6" name="Google Shape;3266;p2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7" name="Google Shape;3267;p2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268" name="Google Shape;3268;p2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69" name="Google Shape;3269;p2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0" name="Google Shape;3270;p2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1" name="Google Shape;3271;p2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2" name="Google Shape;3272;p2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3" name="Google Shape;3273;p2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4" name="Google Shape;3274;p2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275" name="Google Shape;3275;p2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$138,470</a:t>
            </a:r>
            <a:endParaRPr/>
          </a:p>
        </p:txBody>
      </p:sp>
      <p:sp>
        <p:nvSpPr>
          <p:cNvPr id="3276" name="Google Shape;3276;p2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$118,947</a:t>
            </a:r>
            <a:endParaRPr/>
          </a:p>
        </p:txBody>
      </p:sp>
      <p:sp>
        <p:nvSpPr>
          <p:cNvPr id="3277" name="Google Shape;3277;p2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78" name="Google Shape;3278;p2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$19,524</a:t>
            </a:r>
            <a:endParaRPr/>
          </a:p>
        </p:txBody>
      </p:sp>
      <p:sp>
        <p:nvSpPr>
          <p:cNvPr id="3279" name="Google Shape;3279;p2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0" name="Google Shape;3280;p2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1" name="Google Shape;3281;p2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282" name="Google Shape;3282;p2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$34,266</a:t>
            </a:r>
            <a:endParaRPr/>
          </a:p>
        </p:txBody>
      </p:sp>
      <p:sp>
        <p:nvSpPr>
          <p:cNvPr id="3283" name="Google Shape;3283;p2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$27,036</a:t>
            </a:r>
            <a:endParaRPr/>
          </a:p>
        </p:txBody>
      </p:sp>
      <p:sp>
        <p:nvSpPr>
          <p:cNvPr id="3284" name="Google Shape;3284;p2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5" name="Google Shape;3285;p2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$7,231</a:t>
            </a:r>
            <a:endParaRPr/>
          </a:p>
        </p:txBody>
      </p:sp>
      <p:sp>
        <p:nvSpPr>
          <p:cNvPr id="3286" name="Google Shape;3286;p2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87" name="Google Shape;3287;p2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8" name="Google Shape;3288;p2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289" name="Google Shape;3289;p2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$233,845</a:t>
            </a:r>
            <a:endParaRPr/>
          </a:p>
        </p:txBody>
      </p:sp>
      <p:sp>
        <p:nvSpPr>
          <p:cNvPr id="3290" name="Google Shape;3290;p2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$145,982</a:t>
            </a:r>
            <a:endParaRPr/>
          </a:p>
        </p:txBody>
      </p:sp>
      <p:sp>
        <p:nvSpPr>
          <p:cNvPr id="3291" name="Google Shape;3291;p2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$61,108</a:t>
            </a:r>
            <a:endParaRPr/>
          </a:p>
        </p:txBody>
      </p:sp>
      <p:sp>
        <p:nvSpPr>
          <p:cNvPr id="3292" name="Google Shape;3292;p2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$26,754</a:t>
            </a:r>
            <a:endParaRPr/>
          </a:p>
        </p:txBody>
      </p:sp>
      <p:sp>
        <p:nvSpPr>
          <p:cNvPr id="3293" name="Google Shape;3293;p2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294" name="Google Shape;3294;p2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5" name="Google Shape;3295;p2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296" name="Google Shape;3296;p2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297" name="Google Shape;3297;p2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298" name="Google Shape;3298;p2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299" name="Google Shape;3299;p2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300" name="Google Shape;3300;p2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301" name="Google Shape;3301;p2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302" name="Google Shape;3302;p2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3" name="Google Shape;3303;p2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304" name="Google Shape;3304;p2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05" name="Google Shape;3305;p2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06" name="Google Shape;3306;p2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07" name="Google Shape;3307;p2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08" name="Google Shape;3308;p2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28.6%</a:t>
            </a:r>
            <a:endParaRPr/>
          </a:p>
        </p:txBody>
      </p:sp>
      <p:sp>
        <p:nvSpPr>
          <p:cNvPr id="3309" name="Google Shape;3309;p2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0" name="Google Shape;3310;p2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311" name="Google Shape;3311;p2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12" name="Google Shape;3312;p2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313" name="Google Shape;3313;p2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14" name="Google Shape;3314;p2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315" name="Google Shape;3315;p2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3316" name="Google Shape;3316;p2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7" name="Google Shape;3317;p2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318" name="Google Shape;3318;p2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319" name="Google Shape;3319;p2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20" name="Google Shape;3320;p2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21" name="Google Shape;3321;p2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22" name="Google Shape;3322;p2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30.0%</a:t>
            </a:r>
            <a:endParaRPr/>
          </a:p>
        </p:txBody>
      </p:sp>
      <p:sp>
        <p:nvSpPr>
          <p:cNvPr id="3323" name="Google Shape;3323;p2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4" name="Google Shape;3324;p2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325" name="Google Shape;3325;p2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26" name="Google Shape;3326;p2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27" name="Google Shape;3327;p2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328" name="Google Shape;3328;p2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329" name="Google Shape;3329;p2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30.8%</a:t>
            </a:r>
            <a:endParaRPr/>
          </a:p>
        </p:txBody>
      </p:sp>
      <p:sp>
        <p:nvSpPr>
          <p:cNvPr id="3330" name="Google Shape;3330;p2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1" name="Google Shape;3331;p2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332" name="Google Shape;3332;p2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333" name="Google Shape;3333;p2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334" name="Google Shape;3334;p2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335" name="Google Shape;3335;p2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336" name="Google Shape;3336;p2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17.6%</a:t>
            </a:r>
            <a:endParaRPr/>
          </a:p>
        </p:txBody>
      </p:sp>
      <p:sp>
        <p:nvSpPr>
          <p:cNvPr id="3337" name="Google Shape;3337;p2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8" name="Google Shape;3338;p2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339" name="Google Shape;3339;p2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3340" name="Google Shape;3340;p2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341" name="Google Shape;3341;p2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342" name="Google Shape;3342;p2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343" name="Google Shape;3343;p2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3344" name="Google Shape;3344;p2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5" name="Google Shape;3345;p2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346" name="Google Shape;3346;p2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347" name="Google Shape;3347;p2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348" name="Google Shape;3348;p2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349" name="Google Shape;3349;p2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350" name="Google Shape;3350;p2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351" name="Google Shape;3351;p2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352" name="Google Shape;3352;p2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353" name="Google Shape;3353;p2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354" name="Google Shape;3354;p2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355" name="Google Shape;3355;p2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356" name="Google Shape;3356;p2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357" name="Google Shape;3357;p2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358" name="Google Shape;3358;p2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359" name="Google Shape;3359;p2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360" name="Google Shape;3360;p2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61" name="Google Shape;3361;p2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362" name="Google Shape;3362;p2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3363" name="Google Shape;3363;p2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364" name="Google Shape;3364;p2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365" name="Google Shape;3365;p2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366" name="Google Shape;3366;p2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367" name="Google Shape;3367;p2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368" name="Google Shape;3368;p2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369" name="Google Shape;3369;p2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370" name="Google Shape;3370;p2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</a:t>
            </a:r>
            <a:endParaRPr/>
          </a:p>
        </p:txBody>
      </p:sp>
      <p:sp>
        <p:nvSpPr>
          <p:cNvPr id="3371" name="Google Shape;3371;p2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3372" name="Google Shape;3372;p2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373" name="Google Shape;3373;p2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$191K</a:t>
            </a:r>
            <a:endParaRPr/>
          </a:p>
        </p:txBody>
      </p:sp>
      <p:sp>
        <p:nvSpPr>
          <p:cNvPr id="3374" name="Google Shape;3374;p2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$61K</a:t>
            </a:r>
            <a:endParaRPr/>
          </a:p>
        </p:txBody>
      </p:sp>
      <p:sp>
        <p:nvSpPr>
          <p:cNvPr id="3375" name="Google Shape;3375;p2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3376" name="Google Shape;3376;p2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7" name="Google Shape;3377;p2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$44K</a:t>
            </a:r>
            <a:endParaRPr/>
          </a:p>
        </p:txBody>
      </p:sp>
      <p:sp>
        <p:nvSpPr>
          <p:cNvPr id="3378" name="Google Shape;3378;p2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379" name="Google Shape;3379;p2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3380" name="Google Shape;3380;p2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$138K</a:t>
            </a:r>
            <a:endParaRPr/>
          </a:p>
        </p:txBody>
      </p:sp>
      <p:sp>
        <p:nvSpPr>
          <p:cNvPr id="3381" name="Google Shape;3381;p2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382" name="Google Shape;3382;p2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3383" name="Google Shape;3383;p2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$322K</a:t>
            </a:r>
            <a:endParaRPr/>
          </a:p>
        </p:txBody>
      </p:sp>
      <p:sp>
        <p:nvSpPr>
          <p:cNvPr id="3384" name="Google Shape;3384;p2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$234K</a:t>
            </a:r>
            <a:endParaRPr/>
          </a:p>
        </p:txBody>
      </p:sp>
      <p:sp>
        <p:nvSpPr>
          <p:cNvPr id="3385" name="Google Shape;3385;p2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6" name="Google Shape;3386;p2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387" name="Google Shape;3387;p2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88" name="Google Shape;3388;p2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$233,845 YTD gross written premium</a:t>
            </a:r>
            <a:endParaRPr/>
          </a:p>
        </p:txBody>
      </p:sp>
      <p:sp>
        <p:nvSpPr>
          <p:cNvPr id="3389" name="Google Shape;3389;p2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390" name="Google Shape;3390;p2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$145,982 in new business production</a:t>
            </a:r>
            <a:endParaRPr/>
          </a:p>
        </p:txBody>
      </p:sp>
      <p:sp>
        <p:nvSpPr>
          <p:cNvPr id="3391" name="Google Shape;3391;p2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2" name="Google Shape;3392;p2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393" name="Google Shape;3393;p2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394" name="Google Shape;3394;p2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75% month-over-month</a:t>
            </a:r>
            <a:endParaRPr/>
          </a:p>
        </p:txBody>
      </p:sp>
      <p:sp>
        <p:nvSpPr>
          <p:cNvPr id="3395" name="Google Shape;3395;p2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6" name="Google Shape;3396;p2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397" name="Google Shape;3397;p2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398" name="Google Shape;3398;p2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$145,982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399" name="Google Shape;3399;p2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400" name="Google Shape;3400;p2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$61,108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04" name="Shape 3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5" name="Google Shape;3405;p2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06" name="Google Shape;3406;p2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Charles Cain Group</a:t>
            </a:r>
            <a:endParaRPr/>
          </a:p>
        </p:txBody>
      </p:sp>
      <p:sp>
        <p:nvSpPr>
          <p:cNvPr id="3407" name="Google Shape;3407;p2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Marietta</a:t>
            </a:r>
            <a:endParaRPr/>
          </a:p>
        </p:txBody>
      </p:sp>
      <p:sp>
        <p:nvSpPr>
          <p:cNvPr id="3408" name="Google Shape;3408;p2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409" name="Google Shape;3409;p2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10" name="Google Shape;3410;p2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11" name="Google Shape;3411;p2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12" name="Google Shape;3412;p2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13" name="Google Shape;3413;p2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414" name="Google Shape;3414;p2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415" name="Google Shape;3415;p2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416" name="Google Shape;3416;p2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417" name="Google Shape;3417;p2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18" name="Google Shape;3418;p2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19" name="Google Shape;3419;p2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420" name="Google Shape;3420;p2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421" name="Google Shape;3421;p2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2" name="Google Shape;3422;p2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423" name="Google Shape;3423;p2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24" name="Google Shape;3424;p2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425" name="Google Shape;3425;p2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426" name="Google Shape;3426;p2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427" name="Google Shape;3427;p2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428" name="Google Shape;3428;p2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429" name="Google Shape;3429;p2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0" name="Google Shape;3430;p2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31" name="Google Shape;3431;p2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3432" name="Google Shape;3432;p2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3433" name="Google Shape;3433;p2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4" name="Google Shape;3434;p2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5" name="Google Shape;3435;p2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$-220,836</a:t>
            </a:r>
            <a:endParaRPr/>
          </a:p>
        </p:txBody>
      </p:sp>
      <p:sp>
        <p:nvSpPr>
          <p:cNvPr id="3436" name="Google Shape;3436;p2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7" name="Google Shape;3437;p2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38" name="Google Shape;3438;p2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39" name="Google Shape;3439;p2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0" name="Google Shape;3440;p2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1" name="Google Shape;3441;p2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2" name="Google Shape;3442;p2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3" name="Google Shape;3443;p2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4" name="Google Shape;3444;p2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45" name="Google Shape;3445;p2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6" name="Google Shape;3446;p2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7" name="Google Shape;3447;p2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8" name="Google Shape;3448;p2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49" name="Google Shape;3449;p2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0" name="Google Shape;3450;p2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1" name="Google Shape;3451;p2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452" name="Google Shape;3452;p2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3" name="Google Shape;3453;p2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4" name="Google Shape;3454;p2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5" name="Google Shape;3455;p2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6" name="Google Shape;3456;p2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57" name="Google Shape;3457;p2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8" name="Google Shape;3458;p2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459" name="Google Shape;3459;p2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0" name="Google Shape;3460;p2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1" name="Google Shape;3461;p2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2" name="Google Shape;3462;p2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3" name="Google Shape;3463;p2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4" name="Google Shape;3464;p2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5" name="Google Shape;3465;p2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466" name="Google Shape;3466;p2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3467" name="Google Shape;3467;p2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</a:t>
            </a:r>
            <a:endParaRPr/>
          </a:p>
        </p:txBody>
      </p:sp>
      <p:sp>
        <p:nvSpPr>
          <p:cNvPr id="3468" name="Google Shape;3468;p2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69" name="Google Shape;3469;p2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470" name="Google Shape;3470;p2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$-220,836</a:t>
            </a:r>
            <a:endParaRPr/>
          </a:p>
        </p:txBody>
      </p:sp>
      <p:sp>
        <p:nvSpPr>
          <p:cNvPr id="3471" name="Google Shape;3471;p2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2" name="Google Shape;3472;p2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473" name="Google Shape;3473;p2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474" name="Google Shape;3474;p2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475" name="Google Shape;3475;p2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476" name="Google Shape;3476;p2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477" name="Google Shape;3477;p2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478" name="Google Shape;3478;p2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479" name="Google Shape;3479;p2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0" name="Google Shape;3480;p2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481" name="Google Shape;3481;p2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482" name="Google Shape;3482;p2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483" name="Google Shape;3483;p2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84" name="Google Shape;3484;p2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485" name="Google Shape;3485;p2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16.7%</a:t>
            </a:r>
            <a:endParaRPr/>
          </a:p>
        </p:txBody>
      </p:sp>
      <p:sp>
        <p:nvSpPr>
          <p:cNvPr id="3486" name="Google Shape;3486;p2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7" name="Google Shape;3487;p2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488" name="Google Shape;3488;p2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489" name="Google Shape;3489;p2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90" name="Google Shape;3490;p2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491" name="Google Shape;3491;p2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92" name="Google Shape;3492;p2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493" name="Google Shape;3493;p2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4" name="Google Shape;3494;p2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495" name="Google Shape;3495;p2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96" name="Google Shape;3496;p2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497" name="Google Shape;3497;p2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98" name="Google Shape;3498;p2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499" name="Google Shape;3499;p2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00" name="Google Shape;3500;p2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1" name="Google Shape;3501;p2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502" name="Google Shape;3502;p2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3" name="Google Shape;3503;p2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4" name="Google Shape;3504;p2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5" name="Google Shape;3505;p2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06" name="Google Shape;3506;p2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07" name="Google Shape;3507;p2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8" name="Google Shape;3508;p2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509" name="Google Shape;3509;p2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10" name="Google Shape;3510;p2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11" name="Google Shape;3511;p2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12" name="Google Shape;3512;p2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13" name="Google Shape;3513;p2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3514" name="Google Shape;3514;p2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5" name="Google Shape;3515;p2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516" name="Google Shape;3516;p2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517" name="Google Shape;3517;p2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18" name="Google Shape;3518;p2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519" name="Google Shape;3519;p2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20" name="Google Shape;3520;p2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3521" name="Google Shape;3521;p2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2" name="Google Shape;3522;p2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523" name="Google Shape;3523;p2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524" name="Google Shape;3524;p2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525" name="Google Shape;3525;p2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526" name="Google Shape;3526;p2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527" name="Google Shape;3527;p2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528" name="Google Shape;3528;p2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529" name="Google Shape;3529;p2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530" name="Google Shape;3530;p2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531" name="Google Shape;3531;p2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532" name="Google Shape;3532;p2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533" name="Google Shape;3533;p2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534" name="Google Shape;3534;p2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535" name="Google Shape;3535;p2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536" name="Google Shape;3536;p2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37" name="Google Shape;3537;p2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38" name="Google Shape;3538;p2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539" name="Google Shape;3539;p2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0" name="Google Shape;3540;p2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541" name="Google Shape;3541;p2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2" name="Google Shape;3542;p2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543" name="Google Shape;3543;p2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4" name="Google Shape;3544;p2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5" name="Google Shape;3545;p2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6" name="Google Shape;3546;p2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547" name="Google Shape;3547;p2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548" name="Google Shape;3548;p2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549" name="Google Shape;3549;p2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550" name="Google Shape;3550;p2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1" name="Google Shape;3551;p2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$221K</a:t>
            </a:r>
            <a:endParaRPr/>
          </a:p>
        </p:txBody>
      </p:sp>
      <p:sp>
        <p:nvSpPr>
          <p:cNvPr id="3552" name="Google Shape;3552;p2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3" name="Google Shape;3553;p2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4" name="Google Shape;3554;p2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5" name="Google Shape;3555;p2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6" name="Google Shape;3556;p2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7" name="Google Shape;3557;p2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8" name="Google Shape;3558;p2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59" name="Google Shape;3559;p2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60" name="Google Shape;3560;p2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561" name="Google Shape;3561;p2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$221K</a:t>
            </a:r>
            <a:endParaRPr/>
          </a:p>
        </p:txBody>
      </p:sp>
      <p:sp>
        <p:nvSpPr>
          <p:cNvPr id="3562" name="Google Shape;3562;p2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3" name="Google Shape;3563;p2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564" name="Google Shape;3564;p2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65" name="Google Shape;3565;p2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 YTD gross written premium</a:t>
            </a:r>
            <a:endParaRPr/>
          </a:p>
        </p:txBody>
      </p:sp>
      <p:sp>
        <p:nvSpPr>
          <p:cNvPr id="3566" name="Google Shape;3566;p2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567" name="Google Shape;3567;p2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$220,836 in new business production</a:t>
            </a:r>
            <a:endParaRPr/>
          </a:p>
        </p:txBody>
      </p:sp>
      <p:sp>
        <p:nvSpPr>
          <p:cNvPr id="3568" name="Google Shape;3568;p2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9" name="Google Shape;3569;p2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570" name="Google Shape;3570;p2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571" name="Google Shape;3571;p2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($220,836)</a:t>
            </a:r>
            <a:endParaRPr/>
          </a:p>
        </p:txBody>
      </p:sp>
      <p:sp>
        <p:nvSpPr>
          <p:cNvPr id="3572" name="Google Shape;3572;p2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3" name="Google Shape;3573;p2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574" name="Google Shape;3574;p2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575" name="Google Shape;3575;p2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$220,836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576" name="Google Shape;3576;p2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577" name="Google Shape;3577;p2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$220,836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81" name="Shape 3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2" name="Google Shape;3582;p2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3" name="Google Shape;3583;p2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Eagle Insurance Agency</a:t>
            </a:r>
            <a:endParaRPr/>
          </a:p>
        </p:txBody>
      </p:sp>
      <p:sp>
        <p:nvSpPr>
          <p:cNvPr id="3584" name="Google Shape;3584;p2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Lawrenceville</a:t>
            </a:r>
            <a:endParaRPr/>
          </a:p>
        </p:txBody>
      </p:sp>
      <p:sp>
        <p:nvSpPr>
          <p:cNvPr id="3585" name="Google Shape;3585;p2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$194,054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586" name="Google Shape;3586;p2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$130,379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587" name="Google Shape;3587;p2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588" name="Google Shape;3588;p2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589" name="Google Shape;3589;p2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$-73,735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590" name="Google Shape;3590;p2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$579,876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591" name="Google Shape;3591;p2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$439,993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592" name="Google Shape;3592;p2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593" name="Google Shape;3593;p2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594" name="Google Shape;3594;p2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595" name="Google Shape;3595;p2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596" name="Google Shape;3596;p2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597" name="Google Shape;3597;p2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$227,355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598" name="Google Shape;3598;p2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9" name="Google Shape;3599;p2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600" name="Google Shape;3600;p2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01" name="Google Shape;3601;p2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602" name="Google Shape;3602;p2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603" name="Google Shape;3603;p2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604" name="Google Shape;3604;p2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605" name="Google Shape;3605;p2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606" name="Google Shape;3606;p2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7" name="Google Shape;3607;p2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08" name="Google Shape;3608;p2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$36,009</a:t>
            </a:r>
            <a:endParaRPr/>
          </a:p>
        </p:txBody>
      </p:sp>
      <p:sp>
        <p:nvSpPr>
          <p:cNvPr id="3609" name="Google Shape;3609;p2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0" name="Google Shape;3610;p2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1" name="Google Shape;3611;p2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$36,009</a:t>
            </a:r>
            <a:endParaRPr/>
          </a:p>
        </p:txBody>
      </p:sp>
      <p:sp>
        <p:nvSpPr>
          <p:cNvPr id="3612" name="Google Shape;3612;p2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$-35,149</a:t>
            </a:r>
            <a:endParaRPr/>
          </a:p>
        </p:txBody>
      </p:sp>
      <p:sp>
        <p:nvSpPr>
          <p:cNvPr id="3613" name="Google Shape;3613;p2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4" name="Google Shape;3614;p2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15" name="Google Shape;3615;p2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$29,693</a:t>
            </a:r>
            <a:endParaRPr/>
          </a:p>
        </p:txBody>
      </p:sp>
      <p:sp>
        <p:nvSpPr>
          <p:cNvPr id="3616" name="Google Shape;3616;p2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$29,233</a:t>
            </a:r>
            <a:endParaRPr/>
          </a:p>
        </p:txBody>
      </p:sp>
      <p:sp>
        <p:nvSpPr>
          <p:cNvPr id="3617" name="Google Shape;3617;p2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18" name="Google Shape;3618;p2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$460</a:t>
            </a:r>
            <a:endParaRPr/>
          </a:p>
        </p:txBody>
      </p:sp>
      <p:sp>
        <p:nvSpPr>
          <p:cNvPr id="3619" name="Google Shape;3619;p2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$-6,254</a:t>
            </a:r>
            <a:endParaRPr/>
          </a:p>
        </p:txBody>
      </p:sp>
      <p:sp>
        <p:nvSpPr>
          <p:cNvPr id="3620" name="Google Shape;3620;p2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1" name="Google Shape;3621;p2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22" name="Google Shape;3622;p2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$78,999</a:t>
            </a:r>
            <a:endParaRPr/>
          </a:p>
        </p:txBody>
      </p:sp>
      <p:sp>
        <p:nvSpPr>
          <p:cNvPr id="3623" name="Google Shape;3623;p2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$59,192</a:t>
            </a:r>
            <a:endParaRPr/>
          </a:p>
        </p:txBody>
      </p:sp>
      <p:sp>
        <p:nvSpPr>
          <p:cNvPr id="3624" name="Google Shape;3624;p2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$14,835</a:t>
            </a:r>
            <a:endParaRPr/>
          </a:p>
        </p:txBody>
      </p:sp>
      <p:sp>
        <p:nvSpPr>
          <p:cNvPr id="3625" name="Google Shape;3625;p2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$4,972</a:t>
            </a:r>
            <a:endParaRPr/>
          </a:p>
        </p:txBody>
      </p:sp>
      <p:sp>
        <p:nvSpPr>
          <p:cNvPr id="3626" name="Google Shape;3626;p2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$-29,218</a:t>
            </a:r>
            <a:endParaRPr/>
          </a:p>
        </p:txBody>
      </p:sp>
      <p:sp>
        <p:nvSpPr>
          <p:cNvPr id="3627" name="Google Shape;3627;p2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28" name="Google Shape;3628;p2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29" name="Google Shape;3629;p2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$8,124</a:t>
            </a:r>
            <a:endParaRPr/>
          </a:p>
        </p:txBody>
      </p:sp>
      <p:sp>
        <p:nvSpPr>
          <p:cNvPr id="3630" name="Google Shape;3630;p2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$4,224</a:t>
            </a:r>
            <a:endParaRPr/>
          </a:p>
        </p:txBody>
      </p:sp>
      <p:sp>
        <p:nvSpPr>
          <p:cNvPr id="3631" name="Google Shape;3631;p2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2" name="Google Shape;3632;p2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$3,900</a:t>
            </a:r>
            <a:endParaRPr/>
          </a:p>
        </p:txBody>
      </p:sp>
      <p:sp>
        <p:nvSpPr>
          <p:cNvPr id="3633" name="Google Shape;3633;p2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$-3,114</a:t>
            </a:r>
            <a:endParaRPr/>
          </a:p>
        </p:txBody>
      </p:sp>
      <p:sp>
        <p:nvSpPr>
          <p:cNvPr id="3634" name="Google Shape;3634;p2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5" name="Google Shape;3635;p2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36" name="Google Shape;3636;p2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$41,228</a:t>
            </a:r>
            <a:endParaRPr/>
          </a:p>
        </p:txBody>
      </p:sp>
      <p:sp>
        <p:nvSpPr>
          <p:cNvPr id="3637" name="Google Shape;3637;p2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$37,730</a:t>
            </a:r>
            <a:endParaRPr/>
          </a:p>
        </p:txBody>
      </p:sp>
      <p:sp>
        <p:nvSpPr>
          <p:cNvPr id="3638" name="Google Shape;3638;p2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39" name="Google Shape;3639;p2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$3,499</a:t>
            </a:r>
            <a:endParaRPr/>
          </a:p>
        </p:txBody>
      </p:sp>
      <p:sp>
        <p:nvSpPr>
          <p:cNvPr id="3640" name="Google Shape;3640;p2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641" name="Google Shape;3641;p2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2" name="Google Shape;3642;p2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43" name="Google Shape;3643;p2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$194,054</a:t>
            </a:r>
            <a:endParaRPr/>
          </a:p>
        </p:txBody>
      </p:sp>
      <p:sp>
        <p:nvSpPr>
          <p:cNvPr id="3644" name="Google Shape;3644;p2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$130,379</a:t>
            </a:r>
            <a:endParaRPr/>
          </a:p>
        </p:txBody>
      </p:sp>
      <p:sp>
        <p:nvSpPr>
          <p:cNvPr id="3645" name="Google Shape;3645;p2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$14,835</a:t>
            </a:r>
            <a:endParaRPr/>
          </a:p>
        </p:txBody>
      </p:sp>
      <p:sp>
        <p:nvSpPr>
          <p:cNvPr id="3646" name="Google Shape;3646;p2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$48,840</a:t>
            </a:r>
            <a:endParaRPr/>
          </a:p>
        </p:txBody>
      </p:sp>
      <p:sp>
        <p:nvSpPr>
          <p:cNvPr id="3647" name="Google Shape;3647;p2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$-73,735</a:t>
            </a:r>
            <a:endParaRPr/>
          </a:p>
        </p:txBody>
      </p:sp>
      <p:sp>
        <p:nvSpPr>
          <p:cNvPr id="3648" name="Google Shape;3648;p2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9" name="Google Shape;3649;p2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650" name="Google Shape;3650;p2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651" name="Google Shape;3651;p2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652" name="Google Shape;3652;p2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653" name="Google Shape;3653;p2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654" name="Google Shape;3654;p2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655" name="Google Shape;3655;p2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656" name="Google Shape;3656;p2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7" name="Google Shape;3657;p2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658" name="Google Shape;3658;p2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659" name="Google Shape;3659;p2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0" name="Google Shape;3660;p2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661" name="Google Shape;3661;p2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662" name="Google Shape;3662;p2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15.8%</a:t>
            </a:r>
            <a:endParaRPr/>
          </a:p>
        </p:txBody>
      </p:sp>
      <p:sp>
        <p:nvSpPr>
          <p:cNvPr id="3663" name="Google Shape;3663;p2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4" name="Google Shape;3664;p2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665" name="Google Shape;3665;p2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666" name="Google Shape;3666;p2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67" name="Google Shape;3667;p2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668" name="Google Shape;3668;p2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69" name="Google Shape;3669;p2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11.8%</a:t>
            </a:r>
            <a:endParaRPr/>
          </a:p>
        </p:txBody>
      </p:sp>
      <p:sp>
        <p:nvSpPr>
          <p:cNvPr id="3670" name="Google Shape;3670;p2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1" name="Google Shape;3671;p2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672" name="Google Shape;3672;p2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673" name="Google Shape;3673;p2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74" name="Google Shape;3674;p2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675" name="Google Shape;3675;p2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676" name="Google Shape;3676;p2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35.7%</a:t>
            </a:r>
            <a:endParaRPr/>
          </a:p>
        </p:txBody>
      </p:sp>
      <p:sp>
        <p:nvSpPr>
          <p:cNvPr id="3677" name="Google Shape;3677;p2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8" name="Google Shape;3678;p2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679" name="Google Shape;3679;p2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680" name="Google Shape;3680;p2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81" name="Google Shape;3681;p2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682" name="Google Shape;3682;p2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683" name="Google Shape;3683;p2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3684" name="Google Shape;3684;p2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5" name="Google Shape;3685;p2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686" name="Google Shape;3686;p2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687" name="Google Shape;3687;p2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3688" name="Google Shape;3688;p2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689" name="Google Shape;3689;p2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3690" name="Google Shape;3690;p2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30.8%</a:t>
            </a:r>
            <a:endParaRPr/>
          </a:p>
        </p:txBody>
      </p:sp>
      <p:sp>
        <p:nvSpPr>
          <p:cNvPr id="3691" name="Google Shape;3691;p2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2" name="Google Shape;3692;p2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693" name="Google Shape;3693;p2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3694" name="Google Shape;3694;p2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695" name="Google Shape;3695;p2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3696" name="Google Shape;3696;p2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697" name="Google Shape;3697;p2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</p:txBody>
      </p:sp>
      <p:sp>
        <p:nvSpPr>
          <p:cNvPr id="3698" name="Google Shape;3698;p2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9" name="Google Shape;3699;p2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700" name="Google Shape;3700;p2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701" name="Google Shape;3701;p2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702" name="Google Shape;3702;p2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703" name="Google Shape;3703;p2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704" name="Google Shape;3704;p2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705" name="Google Shape;3705;p2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706" name="Google Shape;3706;p2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707" name="Google Shape;3707;p2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708" name="Google Shape;3708;p2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709" name="Google Shape;3709;p2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710" name="Google Shape;3710;p2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711" name="Google Shape;3711;p2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712" name="Google Shape;3712;p2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713" name="Google Shape;3713;p2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14" name="Google Shape;3714;p2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715" name="Google Shape;3715;p2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716" name="Google Shape;3716;p2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3717" name="Google Shape;3717;p2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718" name="Google Shape;3718;p2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3719" name="Google Shape;3719;p2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720" name="Google Shape;3720;p2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3721" name="Google Shape;3721;p2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3722" name="Google Shape;3722;p2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3723" name="Google Shape;3723;p2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724" name="Google Shape;3724;p2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3725" name="Google Shape;3725;p2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3726" name="Google Shape;3726;p2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727" name="Google Shape;3727;p2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$170K</a:t>
            </a:r>
            <a:endParaRPr/>
          </a:p>
        </p:txBody>
      </p:sp>
      <p:sp>
        <p:nvSpPr>
          <p:cNvPr id="3728" name="Google Shape;3728;p2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3729" name="Google Shape;3729;p2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3730" name="Google Shape;3730;p2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3731" name="Google Shape;3731;p2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732" name="Google Shape;3732;p2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3733" name="Google Shape;3733;p2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$77K</a:t>
            </a:r>
            <a:endParaRPr/>
          </a:p>
        </p:txBody>
      </p:sp>
      <p:sp>
        <p:nvSpPr>
          <p:cNvPr id="3734" name="Google Shape;3734;p2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3735" name="Google Shape;3735;p2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736" name="Google Shape;3736;p2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3737" name="Google Shape;3737;p2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$334K</a:t>
            </a:r>
            <a:endParaRPr/>
          </a:p>
        </p:txBody>
      </p:sp>
      <p:sp>
        <p:nvSpPr>
          <p:cNvPr id="3738" name="Google Shape;3738;p2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$194K</a:t>
            </a:r>
            <a:endParaRPr/>
          </a:p>
        </p:txBody>
      </p:sp>
      <p:sp>
        <p:nvSpPr>
          <p:cNvPr id="3739" name="Google Shape;3739;p2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0" name="Google Shape;3740;p2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741" name="Google Shape;3741;p2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42" name="Google Shape;3742;p2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$194,054 YTD gross written premium</a:t>
            </a:r>
            <a:endParaRPr/>
          </a:p>
        </p:txBody>
      </p:sp>
      <p:sp>
        <p:nvSpPr>
          <p:cNvPr id="3743" name="Google Shape;3743;p2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744" name="Google Shape;3744;p2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$130,379 in new business production</a:t>
            </a:r>
            <a:endParaRPr/>
          </a:p>
        </p:txBody>
      </p:sp>
      <p:sp>
        <p:nvSpPr>
          <p:cNvPr id="3745" name="Google Shape;3745;p2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6" name="Google Shape;3746;p2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747" name="Google Shape;3747;p2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748" name="Google Shape;3748;p2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57% of new business ($73,735)</a:t>
            </a:r>
            <a:endParaRPr/>
          </a:p>
        </p:txBody>
      </p:sp>
      <p:sp>
        <p:nvSpPr>
          <p:cNvPr id="3749" name="Google Shape;3749;p2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0" name="Google Shape;3750;p2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751" name="Google Shape;3751;p2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752" name="Google Shape;3752;p2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$130,379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3753" name="Google Shape;3753;p2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754" name="Google Shape;3754;p2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$73,735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58" name="Shape 3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9" name="Google Shape;3759;p2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0" name="Google Shape;3760;p2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Talis Insurance Group, Inc</a:t>
            </a:r>
            <a:endParaRPr/>
          </a:p>
        </p:txBody>
      </p:sp>
      <p:sp>
        <p:nvSpPr>
          <p:cNvPr id="3761" name="Google Shape;3761;p2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Scottdale</a:t>
            </a:r>
            <a:endParaRPr/>
          </a:p>
        </p:txBody>
      </p:sp>
      <p:sp>
        <p:nvSpPr>
          <p:cNvPr id="3762" name="Google Shape;3762;p2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$180,751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763" name="Google Shape;3763;p2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64" name="Google Shape;3764;p2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65" name="Google Shape;3765;p2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66" name="Google Shape;3766;p2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67" name="Google Shape;3767;p2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$633,686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768" name="Google Shape;3768;p2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$563,751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769" name="Google Shape;3769;p2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770" name="Google Shape;3770;p2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771" name="Google Shape;3771;p2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772" name="Google Shape;3772;p2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773" name="Google Shape;3773;p2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$303,895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774" name="Google Shape;3774;p2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$79,804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775" name="Google Shape;3775;p2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6" name="Google Shape;3776;p2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777" name="Google Shape;3777;p2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778" name="Google Shape;3778;p2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779" name="Google Shape;3779;p2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780" name="Google Shape;3780;p2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781" name="Google Shape;3781;p2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782" name="Google Shape;3782;p2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783" name="Google Shape;3783;p2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4" name="Google Shape;3784;p2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785" name="Google Shape;3785;p2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$325</a:t>
            </a:r>
            <a:endParaRPr/>
          </a:p>
        </p:txBody>
      </p:sp>
      <p:sp>
        <p:nvSpPr>
          <p:cNvPr id="3786" name="Google Shape;3786;p2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7" name="Google Shape;3787;p2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88" name="Google Shape;3788;p2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$325</a:t>
            </a:r>
            <a:endParaRPr/>
          </a:p>
        </p:txBody>
      </p:sp>
      <p:sp>
        <p:nvSpPr>
          <p:cNvPr id="3789" name="Google Shape;3789;p2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0" name="Google Shape;3790;p2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1" name="Google Shape;3791;p2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792" name="Google Shape;3792;p2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3" name="Google Shape;3793;p2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4" name="Google Shape;3794;p2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5" name="Google Shape;3795;p2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796" name="Google Shape;3796;p2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$-500</a:t>
            </a:r>
            <a:endParaRPr/>
          </a:p>
        </p:txBody>
      </p:sp>
      <p:sp>
        <p:nvSpPr>
          <p:cNvPr id="3797" name="Google Shape;3797;p2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8" name="Google Shape;3798;p2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799" name="Google Shape;3799;p2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$12,969</a:t>
            </a:r>
            <a:endParaRPr/>
          </a:p>
        </p:txBody>
      </p:sp>
      <p:sp>
        <p:nvSpPr>
          <p:cNvPr id="3800" name="Google Shape;3800;p2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$12,969</a:t>
            </a:r>
            <a:endParaRPr/>
          </a:p>
        </p:txBody>
      </p:sp>
      <p:sp>
        <p:nvSpPr>
          <p:cNvPr id="3801" name="Google Shape;3801;p2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2" name="Google Shape;3802;p2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3" name="Google Shape;3803;p2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04" name="Google Shape;3804;p2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5" name="Google Shape;3805;p2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06" name="Google Shape;3806;p2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$167,457</a:t>
            </a:r>
            <a:endParaRPr/>
          </a:p>
        </p:txBody>
      </p:sp>
      <p:sp>
        <p:nvSpPr>
          <p:cNvPr id="3807" name="Google Shape;3807;p2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$4,166</a:t>
            </a:r>
            <a:endParaRPr/>
          </a:p>
        </p:txBody>
      </p:sp>
      <p:sp>
        <p:nvSpPr>
          <p:cNvPr id="3808" name="Google Shape;3808;p2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$162,876</a:t>
            </a:r>
            <a:endParaRPr/>
          </a:p>
        </p:txBody>
      </p:sp>
      <p:sp>
        <p:nvSpPr>
          <p:cNvPr id="3809" name="Google Shape;3809;p2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$414</a:t>
            </a:r>
            <a:endParaRPr/>
          </a:p>
        </p:txBody>
      </p:sp>
      <p:sp>
        <p:nvSpPr>
          <p:cNvPr id="3810" name="Google Shape;3810;p2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1" name="Google Shape;3811;p2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2" name="Google Shape;3812;p2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13" name="Google Shape;3813;p2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4" name="Google Shape;3814;p2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5" name="Google Shape;3815;p2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6" name="Google Shape;3816;p2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7" name="Google Shape;3817;p2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818" name="Google Shape;3818;p2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9" name="Google Shape;3819;p2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20" name="Google Shape;3820;p2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$180,751</a:t>
            </a:r>
            <a:endParaRPr/>
          </a:p>
        </p:txBody>
      </p:sp>
      <p:sp>
        <p:nvSpPr>
          <p:cNvPr id="3821" name="Google Shape;3821;p2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$17,135</a:t>
            </a:r>
            <a:endParaRPr/>
          </a:p>
        </p:txBody>
      </p:sp>
      <p:sp>
        <p:nvSpPr>
          <p:cNvPr id="3822" name="Google Shape;3822;p2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$162,876</a:t>
            </a:r>
            <a:endParaRPr/>
          </a:p>
        </p:txBody>
      </p:sp>
      <p:sp>
        <p:nvSpPr>
          <p:cNvPr id="3823" name="Google Shape;3823;p2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$740</a:t>
            </a:r>
            <a:endParaRPr/>
          </a:p>
        </p:txBody>
      </p:sp>
      <p:sp>
        <p:nvSpPr>
          <p:cNvPr id="3824" name="Google Shape;3824;p2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$-500</a:t>
            </a:r>
            <a:endParaRPr/>
          </a:p>
        </p:txBody>
      </p:sp>
      <p:sp>
        <p:nvSpPr>
          <p:cNvPr id="3825" name="Google Shape;3825;p2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6" name="Google Shape;3826;p2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3827" name="Google Shape;3827;p2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828" name="Google Shape;3828;p2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3829" name="Google Shape;3829;p2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3830" name="Google Shape;3830;p2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3831" name="Google Shape;3831;p2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832" name="Google Shape;3832;p2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833" name="Google Shape;3833;p2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4" name="Google Shape;3834;p2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835" name="Google Shape;3835;p2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836" name="Google Shape;3836;p2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3837" name="Google Shape;3837;p2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3838" name="Google Shape;3838;p2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3839" name="Google Shape;3839;p2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24.1%</a:t>
            </a:r>
            <a:endParaRPr/>
          </a:p>
        </p:txBody>
      </p:sp>
      <p:sp>
        <p:nvSpPr>
          <p:cNvPr id="3840" name="Google Shape;3840;p2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1" name="Google Shape;3841;p2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842" name="Google Shape;3842;p2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843" name="Google Shape;3843;p2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44" name="Google Shape;3844;p2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3845" name="Google Shape;3845;p2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46" name="Google Shape;3846;p2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3847" name="Google Shape;3847;p2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48" name="Google Shape;3848;p2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849" name="Google Shape;3849;p2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850" name="Google Shape;3850;p2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3851" name="Google Shape;3851;p2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3852" name="Google Shape;3852;p2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53" name="Google Shape;3853;p2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3854" name="Google Shape;3854;p2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5" name="Google Shape;3855;p2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856" name="Google Shape;3856;p2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857" name="Google Shape;3857;p2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58" name="Google Shape;3858;p2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3859" name="Google Shape;3859;p2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3860" name="Google Shape;3860;p2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6.1%</a:t>
            </a:r>
            <a:endParaRPr/>
          </a:p>
        </p:txBody>
      </p:sp>
      <p:sp>
        <p:nvSpPr>
          <p:cNvPr id="3861" name="Google Shape;3861;p2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2" name="Google Shape;3862;p2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863" name="Google Shape;3863;p2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864" name="Google Shape;3864;p2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3865" name="Google Shape;3865;p2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3866" name="Google Shape;3866;p2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3867" name="Google Shape;3867;p2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3868" name="Google Shape;3868;p2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9" name="Google Shape;3869;p2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870" name="Google Shape;3870;p2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133</a:t>
            </a:r>
            <a:endParaRPr/>
          </a:p>
        </p:txBody>
      </p:sp>
      <p:sp>
        <p:nvSpPr>
          <p:cNvPr id="3871" name="Google Shape;3871;p2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3872" name="Google Shape;3872;p2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120</a:t>
            </a:r>
            <a:endParaRPr/>
          </a:p>
        </p:txBody>
      </p:sp>
      <p:sp>
        <p:nvSpPr>
          <p:cNvPr id="3873" name="Google Shape;3873;p2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3874" name="Google Shape;3874;p2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3875" name="Google Shape;3875;p2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6" name="Google Shape;3876;p2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3877" name="Google Shape;3877;p2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3878" name="Google Shape;3878;p2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3879" name="Google Shape;3879;p2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3880" name="Google Shape;3880;p2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3881" name="Google Shape;3881;p2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3882" name="Google Shape;3882;p2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3883" name="Google Shape;3883;p2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3884" name="Google Shape;3884;p2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3885" name="Google Shape;3885;p2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3886" name="Google Shape;3886;p2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3887" name="Google Shape;3887;p2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3888" name="Google Shape;3888;p2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3889" name="Google Shape;3889;p2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3890" name="Google Shape;3890;p2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891" name="Google Shape;3891;p2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3892" name="Google Shape;3892;p2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893" name="Google Shape;3893;p2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894" name="Google Shape;3894;p2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895" name="Google Shape;3895;p2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3896" name="Google Shape;3896;p2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897" name="Google Shape;3897;p2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3898" name="Google Shape;3898;p2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3899" name="Google Shape;3899;p2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3900" name="Google Shape;3900;p2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3901" name="Google Shape;3901;p2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124</a:t>
            </a:r>
            <a:endParaRPr/>
          </a:p>
        </p:txBody>
      </p:sp>
      <p:sp>
        <p:nvSpPr>
          <p:cNvPr id="3902" name="Google Shape;3902;p2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140</a:t>
            </a:r>
            <a:endParaRPr/>
          </a:p>
        </p:txBody>
      </p:sp>
      <p:sp>
        <p:nvSpPr>
          <p:cNvPr id="3903" name="Google Shape;3903;p2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3904" name="Google Shape;3904;p2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3905" name="Google Shape;3905;p2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$325</a:t>
            </a:r>
            <a:endParaRPr/>
          </a:p>
        </p:txBody>
      </p:sp>
      <p:sp>
        <p:nvSpPr>
          <p:cNvPr id="3906" name="Google Shape;3906;p2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$-25,219</a:t>
            </a:r>
            <a:endParaRPr/>
          </a:p>
        </p:txBody>
      </p:sp>
      <p:sp>
        <p:nvSpPr>
          <p:cNvPr id="3907" name="Google Shape;3907;p2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08" name="Google Shape;3908;p2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3909" name="Google Shape;3909;p2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3910" name="Google Shape;3910;p2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$141K</a:t>
            </a:r>
            <a:endParaRPr/>
          </a:p>
        </p:txBody>
      </p:sp>
      <p:sp>
        <p:nvSpPr>
          <p:cNvPr id="3911" name="Google Shape;3911;p2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3912" name="Google Shape;3912;p2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$84K</a:t>
            </a:r>
            <a:endParaRPr/>
          </a:p>
        </p:txBody>
      </p:sp>
      <p:sp>
        <p:nvSpPr>
          <p:cNvPr id="3913" name="Google Shape;3913;p2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14" name="Google Shape;3914;p2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$251K</a:t>
            </a:r>
            <a:endParaRPr/>
          </a:p>
        </p:txBody>
      </p:sp>
      <p:sp>
        <p:nvSpPr>
          <p:cNvPr id="3915" name="Google Shape;3915;p2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$181K</a:t>
            </a:r>
            <a:endParaRPr/>
          </a:p>
        </p:txBody>
      </p:sp>
      <p:sp>
        <p:nvSpPr>
          <p:cNvPr id="3916" name="Google Shape;3916;p2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7" name="Google Shape;3917;p2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3918" name="Google Shape;3918;p2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19" name="Google Shape;3919;p2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$180,751 YTD gross written premium</a:t>
            </a:r>
            <a:endParaRPr/>
          </a:p>
        </p:txBody>
      </p:sp>
      <p:sp>
        <p:nvSpPr>
          <p:cNvPr id="3920" name="Google Shape;3920;p2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3921" name="Google Shape;3921;p2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$17,135 in new business production</a:t>
            </a:r>
            <a:endParaRPr/>
          </a:p>
        </p:txBody>
      </p:sp>
      <p:sp>
        <p:nvSpPr>
          <p:cNvPr id="3922" name="Google Shape;3922;p2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3" name="Google Shape;3923;p2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3924" name="Google Shape;3924;p2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3925" name="Google Shape;3925;p2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3926" name="Google Shape;3926;p2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7" name="Google Shape;3927;p2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3928" name="Google Shape;3928;p2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3929" name="Google Shape;3929;p2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$17,135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3930" name="Google Shape;3930;p2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3931" name="Google Shape;3931;p2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Strong $162,876 renewal book. Use this as proof of value: "Your retention shows we're delivering - let's find more accounts like these in your pipeline."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35" name="Shape 3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6" name="Google Shape;3936;p2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7" name="Google Shape;3937;p2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 &amp; R Agency LLC</a:t>
            </a:r>
            <a:endParaRPr/>
          </a:p>
        </p:txBody>
      </p:sp>
      <p:sp>
        <p:nvSpPr>
          <p:cNvPr id="3938" name="Google Shape;3938;p2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MS  |  City: New Albany</a:t>
            </a:r>
            <a:endParaRPr/>
          </a:p>
        </p:txBody>
      </p:sp>
      <p:sp>
        <p:nvSpPr>
          <p:cNvPr id="3939" name="Google Shape;3939;p2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$168,923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3940" name="Google Shape;3940;p2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$145,252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41" name="Google Shape;3941;p2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42" name="Google Shape;3942;p2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43" name="Google Shape;3943;p2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$-57,409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44" name="Google Shape;3944;p2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$685,354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3945" name="Google Shape;3945;p2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$667,522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3946" name="Google Shape;3946;p2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3947" name="Google Shape;3947;p2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3948" name="Google Shape;3948;p2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3949" name="Google Shape;3949;p2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3950" name="Google Shape;3950;p2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$98,726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3951" name="Google Shape;3951;p2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$93,608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3952" name="Google Shape;3952;p2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3" name="Google Shape;3953;p2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3954" name="Google Shape;3954;p2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3955" name="Google Shape;3955;p2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3956" name="Google Shape;3956;p2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3957" name="Google Shape;3957;p2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3958" name="Google Shape;3958;p2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3959" name="Google Shape;3959;p2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3960" name="Google Shape;3960;p2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1" name="Google Shape;3961;p2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3962" name="Google Shape;3962;p2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$-227</a:t>
            </a:r>
            <a:endParaRPr/>
          </a:p>
        </p:txBody>
      </p:sp>
      <p:sp>
        <p:nvSpPr>
          <p:cNvPr id="3963" name="Google Shape;3963;p2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4" name="Google Shape;3964;p2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65" name="Google Shape;3965;p2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$-227</a:t>
            </a:r>
            <a:endParaRPr/>
          </a:p>
        </p:txBody>
      </p:sp>
      <p:sp>
        <p:nvSpPr>
          <p:cNvPr id="3966" name="Google Shape;3966;p2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$-4,099</a:t>
            </a:r>
            <a:endParaRPr/>
          </a:p>
        </p:txBody>
      </p:sp>
      <p:sp>
        <p:nvSpPr>
          <p:cNvPr id="3967" name="Google Shape;3967;p2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68" name="Google Shape;3968;p2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3969" name="Google Shape;3969;p2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$48,328</a:t>
            </a:r>
            <a:endParaRPr/>
          </a:p>
        </p:txBody>
      </p:sp>
      <p:sp>
        <p:nvSpPr>
          <p:cNvPr id="3970" name="Google Shape;3970;p2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$53,783</a:t>
            </a:r>
            <a:endParaRPr/>
          </a:p>
        </p:txBody>
      </p:sp>
      <p:sp>
        <p:nvSpPr>
          <p:cNvPr id="3971" name="Google Shape;3971;p2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2" name="Google Shape;3972;p2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$-5,455</a:t>
            </a:r>
            <a:endParaRPr/>
          </a:p>
        </p:txBody>
      </p:sp>
      <p:sp>
        <p:nvSpPr>
          <p:cNvPr id="3973" name="Google Shape;3973;p2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$-1,443</a:t>
            </a:r>
            <a:endParaRPr/>
          </a:p>
        </p:txBody>
      </p:sp>
      <p:sp>
        <p:nvSpPr>
          <p:cNvPr id="3974" name="Google Shape;3974;p2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5" name="Google Shape;3975;p2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3976" name="Google Shape;3976;p2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$16,014</a:t>
            </a:r>
            <a:endParaRPr/>
          </a:p>
        </p:txBody>
      </p:sp>
      <p:sp>
        <p:nvSpPr>
          <p:cNvPr id="3977" name="Google Shape;3977;p2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8" name="Google Shape;3978;p2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79" name="Google Shape;3979;p2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$16,014</a:t>
            </a:r>
            <a:endParaRPr/>
          </a:p>
        </p:txBody>
      </p:sp>
      <p:sp>
        <p:nvSpPr>
          <p:cNvPr id="3980" name="Google Shape;3980;p2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$-22,801</a:t>
            </a:r>
            <a:endParaRPr/>
          </a:p>
        </p:txBody>
      </p:sp>
      <p:sp>
        <p:nvSpPr>
          <p:cNvPr id="3981" name="Google Shape;3981;p2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2" name="Google Shape;3982;p2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3983" name="Google Shape;3983;p2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$86,784</a:t>
            </a:r>
            <a:endParaRPr/>
          </a:p>
        </p:txBody>
      </p:sp>
      <p:sp>
        <p:nvSpPr>
          <p:cNvPr id="3984" name="Google Shape;3984;p2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$91,469</a:t>
            </a:r>
            <a:endParaRPr/>
          </a:p>
        </p:txBody>
      </p:sp>
      <p:sp>
        <p:nvSpPr>
          <p:cNvPr id="3985" name="Google Shape;3985;p2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86" name="Google Shape;3986;p2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$-4,685</a:t>
            </a:r>
            <a:endParaRPr/>
          </a:p>
        </p:txBody>
      </p:sp>
      <p:sp>
        <p:nvSpPr>
          <p:cNvPr id="3987" name="Google Shape;3987;p2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$-2,678</a:t>
            </a:r>
            <a:endParaRPr/>
          </a:p>
        </p:txBody>
      </p:sp>
      <p:sp>
        <p:nvSpPr>
          <p:cNvPr id="3988" name="Google Shape;3988;p2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9" name="Google Shape;3989;p2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3990" name="Google Shape;3990;p2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$18,024</a:t>
            </a:r>
            <a:endParaRPr/>
          </a:p>
        </p:txBody>
      </p:sp>
      <p:sp>
        <p:nvSpPr>
          <p:cNvPr id="3991" name="Google Shape;3991;p2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2" name="Google Shape;3992;p2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3993" name="Google Shape;3993;p2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$18,024</a:t>
            </a:r>
            <a:endParaRPr/>
          </a:p>
        </p:txBody>
      </p:sp>
      <p:sp>
        <p:nvSpPr>
          <p:cNvPr id="3994" name="Google Shape;3994;p2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$-26,388</a:t>
            </a:r>
            <a:endParaRPr/>
          </a:p>
        </p:txBody>
      </p:sp>
      <p:sp>
        <p:nvSpPr>
          <p:cNvPr id="3995" name="Google Shape;3995;p2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6" name="Google Shape;3996;p2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3997" name="Google Shape;3997;p2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$168,923</a:t>
            </a:r>
            <a:endParaRPr/>
          </a:p>
        </p:txBody>
      </p:sp>
      <p:sp>
        <p:nvSpPr>
          <p:cNvPr id="3998" name="Google Shape;3998;p2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$145,252</a:t>
            </a:r>
            <a:endParaRPr/>
          </a:p>
        </p:txBody>
      </p:sp>
      <p:sp>
        <p:nvSpPr>
          <p:cNvPr id="3999" name="Google Shape;3999;p2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000" name="Google Shape;4000;p2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$23,670</a:t>
            </a:r>
            <a:endParaRPr/>
          </a:p>
        </p:txBody>
      </p:sp>
      <p:sp>
        <p:nvSpPr>
          <p:cNvPr id="4001" name="Google Shape;4001;p2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$-57,409</a:t>
            </a:r>
            <a:endParaRPr/>
          </a:p>
        </p:txBody>
      </p:sp>
      <p:sp>
        <p:nvSpPr>
          <p:cNvPr id="4002" name="Google Shape;4002;p2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3" name="Google Shape;4003;p2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004" name="Google Shape;4004;p2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005" name="Google Shape;4005;p2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006" name="Google Shape;4006;p2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007" name="Google Shape;4007;p2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008" name="Google Shape;4008;p2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009" name="Google Shape;4009;p2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010" name="Google Shape;4010;p2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1" name="Google Shape;4011;p2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012" name="Google Shape;4012;p2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4013" name="Google Shape;4013;p2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14" name="Google Shape;4014;p2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69</a:t>
            </a:r>
            <a:endParaRPr/>
          </a:p>
        </p:txBody>
      </p:sp>
      <p:sp>
        <p:nvSpPr>
          <p:cNvPr id="4015" name="Google Shape;4015;p2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016" name="Google Shape;4016;p2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4.1%</a:t>
            </a:r>
            <a:endParaRPr/>
          </a:p>
        </p:txBody>
      </p:sp>
      <p:sp>
        <p:nvSpPr>
          <p:cNvPr id="4017" name="Google Shape;4017;p2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8" name="Google Shape;4018;p2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019" name="Google Shape;4019;p2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020" name="Google Shape;4020;p2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21" name="Google Shape;4021;p2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51</a:t>
            </a:r>
            <a:endParaRPr/>
          </a:p>
        </p:txBody>
      </p:sp>
      <p:sp>
        <p:nvSpPr>
          <p:cNvPr id="4022" name="Google Shape;4022;p2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23" name="Google Shape;4023;p2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7.5%</a:t>
            </a:r>
            <a:endParaRPr/>
          </a:p>
        </p:txBody>
      </p:sp>
      <p:sp>
        <p:nvSpPr>
          <p:cNvPr id="4024" name="Google Shape;4024;p2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5" name="Google Shape;4025;p2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026" name="Google Shape;4026;p2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027" name="Google Shape;4027;p2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028" name="Google Shape;4028;p2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4029" name="Google Shape;4029;p2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030" name="Google Shape;4030;p2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10.4%</a:t>
            </a:r>
            <a:endParaRPr/>
          </a:p>
        </p:txBody>
      </p:sp>
      <p:sp>
        <p:nvSpPr>
          <p:cNvPr id="4031" name="Google Shape;4031;p2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2" name="Google Shape;4032;p2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033" name="Google Shape;4033;p2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4034" name="Google Shape;4034;p2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35" name="Google Shape;4035;p2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4036" name="Google Shape;4036;p2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37" name="Google Shape;4037;p2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1.6%</a:t>
            </a:r>
            <a:endParaRPr/>
          </a:p>
        </p:txBody>
      </p:sp>
      <p:sp>
        <p:nvSpPr>
          <p:cNvPr id="4038" name="Google Shape;4038;p2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39" name="Google Shape;4039;p2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040" name="Google Shape;4040;p2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041" name="Google Shape;4041;p2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42" name="Google Shape;4042;p2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043" name="Google Shape;4043;p2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044" name="Google Shape;4044;p2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4045" name="Google Shape;4045;p2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46" name="Google Shape;4046;p2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047" name="Google Shape;4047;p2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269</a:t>
            </a:r>
            <a:endParaRPr/>
          </a:p>
        </p:txBody>
      </p:sp>
      <p:sp>
        <p:nvSpPr>
          <p:cNvPr id="4048" name="Google Shape;4048;p2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049" name="Google Shape;4049;p2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262</a:t>
            </a:r>
            <a:endParaRPr/>
          </a:p>
        </p:txBody>
      </p:sp>
      <p:sp>
        <p:nvSpPr>
          <p:cNvPr id="4050" name="Google Shape;4050;p2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051" name="Google Shape;4051;p2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4052" name="Google Shape;4052;p2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53" name="Google Shape;4053;p2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054" name="Google Shape;4054;p2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055" name="Google Shape;4055;p2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056" name="Google Shape;4056;p2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057" name="Google Shape;4057;p2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058" name="Google Shape;4058;p2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059" name="Google Shape;4059;p2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060" name="Google Shape;4060;p2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061" name="Google Shape;4061;p2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062" name="Google Shape;4062;p2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063" name="Google Shape;4063;p2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064" name="Google Shape;4064;p2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065" name="Google Shape;4065;p2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066" name="Google Shape;4066;p2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067" name="Google Shape;4067;p2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068" name="Google Shape;4068;p2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069" name="Google Shape;4069;p2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4070" name="Google Shape;4070;p2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071" name="Google Shape;4071;p2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072" name="Google Shape;4072;p2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073" name="Google Shape;4073;p2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074" name="Google Shape;4074;p2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075" name="Google Shape;4075;p2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4076" name="Google Shape;4076;p2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077" name="Google Shape;4077;p2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078" name="Google Shape;4078;p2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166</a:t>
            </a:r>
            <a:endParaRPr/>
          </a:p>
        </p:txBody>
      </p:sp>
      <p:sp>
        <p:nvSpPr>
          <p:cNvPr id="4079" name="Google Shape;4079;p2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286</a:t>
            </a:r>
            <a:endParaRPr/>
          </a:p>
        </p:txBody>
      </p:sp>
      <p:sp>
        <p:nvSpPr>
          <p:cNvPr id="4080" name="Google Shape;4080;p2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081" name="Google Shape;4081;p2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$-2,310</a:t>
            </a:r>
            <a:endParaRPr/>
          </a:p>
        </p:txBody>
      </p:sp>
      <p:sp>
        <p:nvSpPr>
          <p:cNvPr id="4082" name="Google Shape;4082;p2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$-227</a:t>
            </a:r>
            <a:endParaRPr/>
          </a:p>
        </p:txBody>
      </p:sp>
      <p:sp>
        <p:nvSpPr>
          <p:cNvPr id="4083" name="Google Shape;4083;p2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084" name="Google Shape;4084;p2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4085" name="Google Shape;4085;p2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4086" name="Google Shape;4086;p2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087" name="Google Shape;4087;p2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$55K</a:t>
            </a:r>
            <a:endParaRPr/>
          </a:p>
        </p:txBody>
      </p:sp>
      <p:sp>
        <p:nvSpPr>
          <p:cNvPr id="4088" name="Google Shape;4088;p2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$87K</a:t>
            </a:r>
            <a:endParaRPr/>
          </a:p>
        </p:txBody>
      </p:sp>
      <p:sp>
        <p:nvSpPr>
          <p:cNvPr id="4089" name="Google Shape;4089;p2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4090" name="Google Shape;4090;p2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091" name="Google Shape;4091;p2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$187K</a:t>
            </a:r>
            <a:endParaRPr/>
          </a:p>
        </p:txBody>
      </p:sp>
      <p:sp>
        <p:nvSpPr>
          <p:cNvPr id="4092" name="Google Shape;4092;p2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$169K</a:t>
            </a:r>
            <a:endParaRPr/>
          </a:p>
        </p:txBody>
      </p:sp>
      <p:sp>
        <p:nvSpPr>
          <p:cNvPr id="4093" name="Google Shape;4093;p2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4" name="Google Shape;4094;p2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095" name="Google Shape;4095;p2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96" name="Google Shape;4096;p2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$168,923 YTD gross written premium</a:t>
            </a:r>
            <a:endParaRPr/>
          </a:p>
        </p:txBody>
      </p:sp>
      <p:sp>
        <p:nvSpPr>
          <p:cNvPr id="4097" name="Google Shape;4097;p2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098" name="Google Shape;4098;p2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$145,252 in new business production</a:t>
            </a:r>
            <a:endParaRPr/>
          </a:p>
        </p:txBody>
      </p:sp>
      <p:sp>
        <p:nvSpPr>
          <p:cNvPr id="4099" name="Google Shape;4099;p2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0" name="Google Shape;4100;p2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101" name="Google Shape;4101;p2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02" name="Google Shape;4102;p2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1.5% hit ratio on 269 subs - needs coaching</a:t>
            </a:r>
            <a:endParaRPr/>
          </a:p>
        </p:txBody>
      </p:sp>
      <p:sp>
        <p:nvSpPr>
          <p:cNvPr id="4103" name="Google Shape;4103;p2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104" name="Google Shape;4104;p2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79% month-over-month</a:t>
            </a:r>
            <a:endParaRPr/>
          </a:p>
        </p:txBody>
      </p:sp>
      <p:sp>
        <p:nvSpPr>
          <p:cNvPr id="4105" name="Google Shape;4105;p2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6" name="Google Shape;4106;p2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107" name="Google Shape;4107;p2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108" name="Google Shape;4108;p2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(269 subs, only 4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4109" name="Google Shape;4109;p2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110" name="Google Shape;4110;p2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$145,252 in new business. Ask: "What types of accounts are you seeing the most success with?" Use this to identify more of their book that fits our appetite.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14" name="Shape 4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5" name="Google Shape;4115;p2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16" name="Google Shape;4116;p2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Ameritrans Risk Solutions, Inc DBA American Transportation &amp; Energy Brokers' Inc</a:t>
            </a:r>
            <a:endParaRPr/>
          </a:p>
        </p:txBody>
      </p:sp>
      <p:sp>
        <p:nvSpPr>
          <p:cNvPr id="4117" name="Google Shape;4117;p2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Atlanta</a:t>
            </a:r>
            <a:endParaRPr/>
          </a:p>
        </p:txBody>
      </p:sp>
      <p:sp>
        <p:nvSpPr>
          <p:cNvPr id="4118" name="Google Shape;4118;p2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$159,290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119" name="Google Shape;4119;p2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20" name="Google Shape;4120;p2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21" name="Google Shape;4121;p2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$159,290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22" name="Google Shape;4122;p2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$-141,139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23" name="Google Shape;4123;p2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$447,484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124" name="Google Shape;4124;p2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$522,160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125" name="Google Shape;4125;p2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126" name="Google Shape;4126;p2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127" name="Google Shape;4127;p2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28" name="Google Shape;4128;p2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29" name="Google Shape;4129;p2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$403,742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130" name="Google Shape;4130;p2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131" name="Google Shape;4131;p2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2" name="Google Shape;4132;p2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133" name="Google Shape;4133;p2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34" name="Google Shape;4134;p2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135" name="Google Shape;4135;p2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136" name="Google Shape;4136;p2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137" name="Google Shape;4137;p2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138" name="Google Shape;4138;p2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139" name="Google Shape;4139;p2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0" name="Google Shape;4140;p2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41" name="Google Shape;4141;p2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$17,786</a:t>
            </a:r>
            <a:endParaRPr/>
          </a:p>
        </p:txBody>
      </p:sp>
      <p:sp>
        <p:nvSpPr>
          <p:cNvPr id="4142" name="Google Shape;4142;p2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3" name="Google Shape;4143;p2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4" name="Google Shape;4144;p2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$17,786</a:t>
            </a:r>
            <a:endParaRPr/>
          </a:p>
        </p:txBody>
      </p:sp>
      <p:sp>
        <p:nvSpPr>
          <p:cNvPr id="4145" name="Google Shape;4145;p2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46" name="Google Shape;4146;p2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7" name="Google Shape;4147;p2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48" name="Google Shape;4148;p2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$365</a:t>
            </a:r>
            <a:endParaRPr/>
          </a:p>
        </p:txBody>
      </p:sp>
      <p:sp>
        <p:nvSpPr>
          <p:cNvPr id="4149" name="Google Shape;4149;p2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0" name="Google Shape;4150;p2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1" name="Google Shape;4151;p2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$365</a:t>
            </a:r>
            <a:endParaRPr/>
          </a:p>
        </p:txBody>
      </p:sp>
      <p:sp>
        <p:nvSpPr>
          <p:cNvPr id="4152" name="Google Shape;4152;p2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3" name="Google Shape;4153;p2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4" name="Google Shape;4154;p2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155" name="Google Shape;4155;p2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6" name="Google Shape;4156;p2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7" name="Google Shape;4157;p2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8" name="Google Shape;4158;p2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59" name="Google Shape;4159;p2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0" name="Google Shape;4160;p2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1" name="Google Shape;4161;p2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162" name="Google Shape;4162;p2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3" name="Google Shape;4163;p2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4" name="Google Shape;4164;p2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5" name="Google Shape;4165;p2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6" name="Google Shape;4166;p2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67" name="Google Shape;4167;p2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8" name="Google Shape;4168;p2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169" name="Google Shape;4169;p2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$141,139</a:t>
            </a:r>
            <a:endParaRPr/>
          </a:p>
        </p:txBody>
      </p:sp>
      <p:sp>
        <p:nvSpPr>
          <p:cNvPr id="4170" name="Google Shape;4170;p2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1" name="Google Shape;4171;p2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2" name="Google Shape;4172;p2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$141,139</a:t>
            </a:r>
            <a:endParaRPr/>
          </a:p>
        </p:txBody>
      </p:sp>
      <p:sp>
        <p:nvSpPr>
          <p:cNvPr id="4173" name="Google Shape;4173;p2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$-141,139</a:t>
            </a:r>
            <a:endParaRPr/>
          </a:p>
        </p:txBody>
      </p:sp>
      <p:sp>
        <p:nvSpPr>
          <p:cNvPr id="4174" name="Google Shape;4174;p2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5" name="Google Shape;4175;p2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176" name="Google Shape;4176;p2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$159,290</a:t>
            </a:r>
            <a:endParaRPr/>
          </a:p>
        </p:txBody>
      </p:sp>
      <p:sp>
        <p:nvSpPr>
          <p:cNvPr id="4177" name="Google Shape;4177;p2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8" name="Google Shape;4178;p2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179" name="Google Shape;4179;p2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$159,290</a:t>
            </a:r>
            <a:endParaRPr/>
          </a:p>
        </p:txBody>
      </p:sp>
      <p:sp>
        <p:nvSpPr>
          <p:cNvPr id="4180" name="Google Shape;4180;p2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$-141,139</a:t>
            </a:r>
            <a:endParaRPr/>
          </a:p>
        </p:txBody>
      </p:sp>
      <p:sp>
        <p:nvSpPr>
          <p:cNvPr id="4181" name="Google Shape;4181;p2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2" name="Google Shape;4182;p2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183" name="Google Shape;4183;p2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184" name="Google Shape;4184;p2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185" name="Google Shape;4185;p2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186" name="Google Shape;4186;p2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187" name="Google Shape;4187;p2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188" name="Google Shape;4188;p2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189" name="Google Shape;4189;p2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0" name="Google Shape;4190;p2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191" name="Google Shape;4191;p2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92" name="Google Shape;4192;p2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193" name="Google Shape;4193;p2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194" name="Google Shape;4194;p2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95" name="Google Shape;4195;p2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4196" name="Google Shape;4196;p2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7" name="Google Shape;4197;p2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198" name="Google Shape;4198;p2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199" name="Google Shape;4199;p2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00" name="Google Shape;4200;p2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1" name="Google Shape;4201;p2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02" name="Google Shape;4202;p2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203" name="Google Shape;4203;p2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4" name="Google Shape;4204;p2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205" name="Google Shape;4205;p2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06" name="Google Shape;4206;p2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07" name="Google Shape;4207;p2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08" name="Google Shape;4208;p2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09" name="Google Shape;4209;p2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10" name="Google Shape;4210;p2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1" name="Google Shape;4211;p2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212" name="Google Shape;4212;p2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13" name="Google Shape;4213;p2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4" name="Google Shape;4214;p2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15" name="Google Shape;4215;p2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216" name="Google Shape;4216;p2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217" name="Google Shape;4217;p2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8" name="Google Shape;4218;p2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219" name="Google Shape;4219;p2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20" name="Google Shape;4220;p2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21" name="Google Shape;4221;p2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22" name="Google Shape;4222;p2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223" name="Google Shape;4223;p2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4224" name="Google Shape;4224;p2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5" name="Google Shape;4225;p2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226" name="Google Shape;4226;p2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227" name="Google Shape;4227;p2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28" name="Google Shape;4228;p2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29" name="Google Shape;4229;p2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30" name="Google Shape;4230;p2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</a:t>
            </a:r>
            <a:endParaRPr/>
          </a:p>
        </p:txBody>
      </p:sp>
      <p:sp>
        <p:nvSpPr>
          <p:cNvPr id="4231" name="Google Shape;4231;p2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2" name="Google Shape;4232;p2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233" name="Google Shape;4233;p2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234" name="Google Shape;4234;p2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235" name="Google Shape;4235;p2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236" name="Google Shape;4236;p2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237" name="Google Shape;4237;p2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238" name="Google Shape;4238;p2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239" name="Google Shape;4239;p2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240" name="Google Shape;4240;p2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241" name="Google Shape;4241;p2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242" name="Google Shape;4242;p2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243" name="Google Shape;4243;p2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244" name="Google Shape;4244;p2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245" name="Google Shape;4245;p2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246" name="Google Shape;4246;p2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247" name="Google Shape;4247;p2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248" name="Google Shape;4248;p2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49" name="Google Shape;4249;p2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50" name="Google Shape;4250;p2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51" name="Google Shape;4251;p2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52" name="Google Shape;4252;p2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253" name="Google Shape;4253;p2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254" name="Google Shape;4254;p2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55" name="Google Shape;4255;p2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256" name="Google Shape;4256;p2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257" name="Google Shape;4257;p2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258" name="Google Shape;4258;p2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4259" name="Google Shape;4259;p2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260" name="Google Shape;4260;p2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4261" name="Google Shape;4261;p2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262" name="Google Shape;4262;p2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4263" name="Google Shape;4263;p2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$365</a:t>
            </a:r>
            <a:endParaRPr/>
          </a:p>
        </p:txBody>
      </p:sp>
      <p:sp>
        <p:nvSpPr>
          <p:cNvPr id="4264" name="Google Shape;4264;p2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4265" name="Google Shape;4265;p2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6" name="Google Shape;4266;p2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267" name="Google Shape;4267;p2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268" name="Google Shape;4268;p2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4269" name="Google Shape;4269;p2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$141K</a:t>
            </a:r>
            <a:endParaRPr/>
          </a:p>
        </p:txBody>
      </p:sp>
      <p:sp>
        <p:nvSpPr>
          <p:cNvPr id="4270" name="Google Shape;4270;p2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$85K</a:t>
            </a:r>
            <a:endParaRPr/>
          </a:p>
        </p:txBody>
      </p:sp>
      <p:sp>
        <p:nvSpPr>
          <p:cNvPr id="4271" name="Google Shape;4271;p2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$159K</a:t>
            </a:r>
            <a:endParaRPr/>
          </a:p>
        </p:txBody>
      </p:sp>
      <p:sp>
        <p:nvSpPr>
          <p:cNvPr id="4272" name="Google Shape;4272;p2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3" name="Google Shape;4273;p2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274" name="Google Shape;4274;p2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75" name="Google Shape;4275;p2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$159,290 YTD gross written premium</a:t>
            </a:r>
            <a:endParaRPr/>
          </a:p>
        </p:txBody>
      </p:sp>
      <p:sp>
        <p:nvSpPr>
          <p:cNvPr id="4276" name="Google Shape;4276;p2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277" name="Google Shape;4277;p2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22.2% hit ratio - above average conversion</a:t>
            </a:r>
            <a:endParaRPr/>
          </a:p>
        </p:txBody>
      </p:sp>
      <p:sp>
        <p:nvSpPr>
          <p:cNvPr id="4278" name="Google Shape;4278;p2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9" name="Google Shape;4279;p2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280" name="Google Shape;4280;p2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281" name="Google Shape;4281;p2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4282" name="Google Shape;4282;p2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3" name="Google Shape;4283;p2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284" name="Google Shape;4284;p2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285" name="Google Shape;4285;p2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Momentum is building - premium grew MoM. Keep the energy going: "Things are moving in the right direction. What do you need from me to keep this pace up?"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89" name="Shape 4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0" name="Google Shape;4290;p3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91" name="Google Shape;4291;p3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Waypoint Agency LLC</a:t>
            </a:r>
            <a:endParaRPr/>
          </a:p>
        </p:txBody>
      </p:sp>
      <p:sp>
        <p:nvSpPr>
          <p:cNvPr id="4292" name="Google Shape;4292;p3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MS  |  City: Cedar Park</a:t>
            </a:r>
            <a:endParaRPr/>
          </a:p>
        </p:txBody>
      </p:sp>
      <p:sp>
        <p:nvSpPr>
          <p:cNvPr id="4293" name="Google Shape;4293;p3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$144,840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294" name="Google Shape;4294;p3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$74,487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295" name="Google Shape;4295;p3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296" name="Google Shape;4296;p3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$70,354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297" name="Google Shape;4297;p3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$-133,324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298" name="Google Shape;4298;p3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$628,734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299" name="Google Shape;4299;p3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$606,093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300" name="Google Shape;4300;p3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301" name="Google Shape;4301;p3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302" name="Google Shape;4302;p3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03" name="Google Shape;4303;p3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04" name="Google Shape;4304;p3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$147,614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305" name="Google Shape;4305;p3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$53,676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306" name="Google Shape;4306;p3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7" name="Google Shape;4307;p3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308" name="Google Shape;4308;p3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09" name="Google Shape;4309;p3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310" name="Google Shape;4310;p3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311" name="Google Shape;4311;p3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312" name="Google Shape;4312;p3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313" name="Google Shape;4313;p3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314" name="Google Shape;4314;p3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5" name="Google Shape;4315;p3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16" name="Google Shape;4316;p3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$35,667</a:t>
            </a:r>
            <a:endParaRPr/>
          </a:p>
        </p:txBody>
      </p:sp>
      <p:sp>
        <p:nvSpPr>
          <p:cNvPr id="4317" name="Google Shape;4317;p3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$20,841</a:t>
            </a:r>
            <a:endParaRPr/>
          </a:p>
        </p:txBody>
      </p:sp>
      <p:sp>
        <p:nvSpPr>
          <p:cNvPr id="4318" name="Google Shape;4318;p3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19" name="Google Shape;4319;p3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$14,826</a:t>
            </a:r>
            <a:endParaRPr/>
          </a:p>
        </p:txBody>
      </p:sp>
      <p:sp>
        <p:nvSpPr>
          <p:cNvPr id="4320" name="Google Shape;4320;p3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$-16,306</a:t>
            </a:r>
            <a:endParaRPr/>
          </a:p>
        </p:txBody>
      </p:sp>
      <p:sp>
        <p:nvSpPr>
          <p:cNvPr id="4321" name="Google Shape;4321;p3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2" name="Google Shape;4322;p3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23" name="Google Shape;4323;p3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$53,824</a:t>
            </a:r>
            <a:endParaRPr/>
          </a:p>
        </p:txBody>
      </p:sp>
      <p:sp>
        <p:nvSpPr>
          <p:cNvPr id="4324" name="Google Shape;4324;p3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$26,262</a:t>
            </a:r>
            <a:endParaRPr/>
          </a:p>
        </p:txBody>
      </p:sp>
      <p:sp>
        <p:nvSpPr>
          <p:cNvPr id="4325" name="Google Shape;4325;p3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26" name="Google Shape;4326;p3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$27,562</a:t>
            </a:r>
            <a:endParaRPr/>
          </a:p>
        </p:txBody>
      </p:sp>
      <p:sp>
        <p:nvSpPr>
          <p:cNvPr id="4327" name="Google Shape;4327;p3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$-28,277</a:t>
            </a:r>
            <a:endParaRPr/>
          </a:p>
        </p:txBody>
      </p:sp>
      <p:sp>
        <p:nvSpPr>
          <p:cNvPr id="4328" name="Google Shape;4328;p3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9" name="Google Shape;4329;p3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30" name="Google Shape;4330;p3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$37,700</a:t>
            </a:r>
            <a:endParaRPr/>
          </a:p>
        </p:txBody>
      </p:sp>
      <p:sp>
        <p:nvSpPr>
          <p:cNvPr id="4331" name="Google Shape;4331;p3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$5,975</a:t>
            </a:r>
            <a:endParaRPr/>
          </a:p>
        </p:txBody>
      </p:sp>
      <p:sp>
        <p:nvSpPr>
          <p:cNvPr id="4332" name="Google Shape;4332;p3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33" name="Google Shape;4333;p3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$31,725</a:t>
            </a:r>
            <a:endParaRPr/>
          </a:p>
        </p:txBody>
      </p:sp>
      <p:sp>
        <p:nvSpPr>
          <p:cNvPr id="4334" name="Google Shape;4334;p3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$-70,957</a:t>
            </a:r>
            <a:endParaRPr/>
          </a:p>
        </p:txBody>
      </p:sp>
      <p:sp>
        <p:nvSpPr>
          <p:cNvPr id="4335" name="Google Shape;4335;p3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6" name="Google Shape;4336;p3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37" name="Google Shape;4337;p3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$-3,804</a:t>
            </a:r>
            <a:endParaRPr/>
          </a:p>
        </p:txBody>
      </p:sp>
      <p:sp>
        <p:nvSpPr>
          <p:cNvPr id="4338" name="Google Shape;4338;p3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339" name="Google Shape;4339;p3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0" name="Google Shape;4340;p3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$-4,354</a:t>
            </a:r>
            <a:endParaRPr/>
          </a:p>
        </p:txBody>
      </p:sp>
      <p:sp>
        <p:nvSpPr>
          <p:cNvPr id="4341" name="Google Shape;4341;p3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$-16,328</a:t>
            </a:r>
            <a:endParaRPr/>
          </a:p>
        </p:txBody>
      </p:sp>
      <p:sp>
        <p:nvSpPr>
          <p:cNvPr id="4342" name="Google Shape;4342;p3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43" name="Google Shape;4343;p3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44" name="Google Shape;4344;p3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$21,453</a:t>
            </a:r>
            <a:endParaRPr/>
          </a:p>
        </p:txBody>
      </p:sp>
      <p:sp>
        <p:nvSpPr>
          <p:cNvPr id="4345" name="Google Shape;4345;p3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$20,858</a:t>
            </a:r>
            <a:endParaRPr/>
          </a:p>
        </p:txBody>
      </p:sp>
      <p:sp>
        <p:nvSpPr>
          <p:cNvPr id="4346" name="Google Shape;4346;p3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47" name="Google Shape;4347;p3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$595</a:t>
            </a:r>
            <a:endParaRPr/>
          </a:p>
        </p:txBody>
      </p:sp>
      <p:sp>
        <p:nvSpPr>
          <p:cNvPr id="4348" name="Google Shape;4348;p3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$-1,456</a:t>
            </a:r>
            <a:endParaRPr/>
          </a:p>
        </p:txBody>
      </p:sp>
      <p:sp>
        <p:nvSpPr>
          <p:cNvPr id="4349" name="Google Shape;4349;p3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0" name="Google Shape;4350;p3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351" name="Google Shape;4351;p3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$144,840</a:t>
            </a:r>
            <a:endParaRPr/>
          </a:p>
        </p:txBody>
      </p:sp>
      <p:sp>
        <p:nvSpPr>
          <p:cNvPr id="4352" name="Google Shape;4352;p3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$74,487</a:t>
            </a:r>
            <a:endParaRPr/>
          </a:p>
        </p:txBody>
      </p:sp>
      <p:sp>
        <p:nvSpPr>
          <p:cNvPr id="4353" name="Google Shape;4353;p3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354" name="Google Shape;4354;p3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$70,354</a:t>
            </a:r>
            <a:endParaRPr/>
          </a:p>
        </p:txBody>
      </p:sp>
      <p:sp>
        <p:nvSpPr>
          <p:cNvPr id="4355" name="Google Shape;4355;p3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$-133,324</a:t>
            </a:r>
            <a:endParaRPr/>
          </a:p>
        </p:txBody>
      </p:sp>
      <p:sp>
        <p:nvSpPr>
          <p:cNvPr id="4356" name="Google Shape;4356;p3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7" name="Google Shape;4357;p3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358" name="Google Shape;4358;p3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359" name="Google Shape;4359;p3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360" name="Google Shape;4360;p3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361" name="Google Shape;4361;p3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362" name="Google Shape;4362;p3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363" name="Google Shape;4363;p3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364" name="Google Shape;4364;p3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5" name="Google Shape;4365;p3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366" name="Google Shape;4366;p3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367" name="Google Shape;4367;p3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368" name="Google Shape;4368;p3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369" name="Google Shape;4369;p3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370" name="Google Shape;4370;p3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4.3%</a:t>
            </a:r>
            <a:endParaRPr/>
          </a:p>
        </p:txBody>
      </p:sp>
      <p:sp>
        <p:nvSpPr>
          <p:cNvPr id="4371" name="Google Shape;4371;p3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2" name="Google Shape;4372;p3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373" name="Google Shape;4373;p3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374" name="Google Shape;4374;p3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75" name="Google Shape;4375;p3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376" name="Google Shape;4376;p3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377" name="Google Shape;4377;p3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22.6%</a:t>
            </a:r>
            <a:endParaRPr/>
          </a:p>
        </p:txBody>
      </p:sp>
      <p:sp>
        <p:nvSpPr>
          <p:cNvPr id="4378" name="Google Shape;4378;p3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9" name="Google Shape;4379;p3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380" name="Google Shape;4380;p3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381" name="Google Shape;4381;p3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82" name="Google Shape;4382;p3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4383" name="Google Shape;4383;p3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384" name="Google Shape;4384;p3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4385" name="Google Shape;4385;p3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6" name="Google Shape;4386;p3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387" name="Google Shape;4387;p3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388" name="Google Shape;4388;p3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389" name="Google Shape;4389;p3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390" name="Google Shape;4390;p3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91" name="Google Shape;4391;p3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9.4%</a:t>
            </a:r>
            <a:endParaRPr/>
          </a:p>
        </p:txBody>
      </p:sp>
      <p:sp>
        <p:nvSpPr>
          <p:cNvPr id="4392" name="Google Shape;4392;p3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3" name="Google Shape;4393;p3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394" name="Google Shape;4394;p3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395" name="Google Shape;4395;p3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396" name="Google Shape;4396;p3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397" name="Google Shape;4397;p3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398" name="Google Shape;4398;p3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21.1%</a:t>
            </a:r>
            <a:endParaRPr/>
          </a:p>
        </p:txBody>
      </p:sp>
      <p:sp>
        <p:nvSpPr>
          <p:cNvPr id="4399" name="Google Shape;4399;p3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0" name="Google Shape;4400;p3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401" name="Google Shape;4401;p3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159</a:t>
            </a:r>
            <a:endParaRPr/>
          </a:p>
        </p:txBody>
      </p:sp>
      <p:sp>
        <p:nvSpPr>
          <p:cNvPr id="4402" name="Google Shape;4402;p3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403" name="Google Shape;4403;p3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151</a:t>
            </a:r>
            <a:endParaRPr/>
          </a:p>
        </p:txBody>
      </p:sp>
      <p:sp>
        <p:nvSpPr>
          <p:cNvPr id="4404" name="Google Shape;4404;p3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405" name="Google Shape;4405;p3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4406" name="Google Shape;4406;p3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07" name="Google Shape;4407;p3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408" name="Google Shape;4408;p3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409" name="Google Shape;4409;p3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410" name="Google Shape;4410;p3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411" name="Google Shape;4411;p3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412" name="Google Shape;4412;p3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413" name="Google Shape;4413;p3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414" name="Google Shape;4414;p3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415" name="Google Shape;4415;p3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416" name="Google Shape;4416;p3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417" name="Google Shape;4417;p3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418" name="Google Shape;4418;p3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419" name="Google Shape;4419;p3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420" name="Google Shape;4420;p3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421" name="Google Shape;4421;p3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22" name="Google Shape;4422;p3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423" name="Google Shape;4423;p3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424" name="Google Shape;4424;p3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4425" name="Google Shape;4425;p3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426" name="Google Shape;4426;p3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4427" name="Google Shape;4427;p3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428" name="Google Shape;4428;p3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4429" name="Google Shape;4429;p3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4430" name="Google Shape;4430;p3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44</a:t>
            </a:r>
            <a:endParaRPr/>
          </a:p>
        </p:txBody>
      </p:sp>
      <p:sp>
        <p:nvSpPr>
          <p:cNvPr id="4431" name="Google Shape;4431;p3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4432" name="Google Shape;4432;p3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99</a:t>
            </a:r>
            <a:endParaRPr/>
          </a:p>
        </p:txBody>
      </p:sp>
      <p:sp>
        <p:nvSpPr>
          <p:cNvPr id="4433" name="Google Shape;4433;p3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178</a:t>
            </a:r>
            <a:endParaRPr/>
          </a:p>
        </p:txBody>
      </p:sp>
      <p:sp>
        <p:nvSpPr>
          <p:cNvPr id="4434" name="Google Shape;4434;p3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435" name="Google Shape;4435;p3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$74K</a:t>
            </a:r>
            <a:endParaRPr/>
          </a:p>
        </p:txBody>
      </p:sp>
      <p:sp>
        <p:nvSpPr>
          <p:cNvPr id="4436" name="Google Shape;4436;p3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4437" name="Google Shape;4437;p3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4438" name="Google Shape;4438;p3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4439" name="Google Shape;4439;p3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$-1,438</a:t>
            </a:r>
            <a:endParaRPr/>
          </a:p>
        </p:txBody>
      </p:sp>
      <p:sp>
        <p:nvSpPr>
          <p:cNvPr id="4440" name="Google Shape;4440;p3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4441" name="Google Shape;4441;p3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$-789</a:t>
            </a:r>
            <a:endParaRPr/>
          </a:p>
        </p:txBody>
      </p:sp>
      <p:sp>
        <p:nvSpPr>
          <p:cNvPr id="4442" name="Google Shape;4442;p3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$-3,804</a:t>
            </a:r>
            <a:endParaRPr/>
          </a:p>
        </p:txBody>
      </p:sp>
      <p:sp>
        <p:nvSpPr>
          <p:cNvPr id="4443" name="Google Shape;4443;p3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$78K</a:t>
            </a:r>
            <a:endParaRPr/>
          </a:p>
        </p:txBody>
      </p:sp>
      <p:sp>
        <p:nvSpPr>
          <p:cNvPr id="4444" name="Google Shape;4444;p3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4445" name="Google Shape;4445;p3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$167K</a:t>
            </a:r>
            <a:endParaRPr/>
          </a:p>
        </p:txBody>
      </p:sp>
      <p:sp>
        <p:nvSpPr>
          <p:cNvPr id="4446" name="Google Shape;4446;p3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$145K</a:t>
            </a:r>
            <a:endParaRPr/>
          </a:p>
        </p:txBody>
      </p:sp>
      <p:sp>
        <p:nvSpPr>
          <p:cNvPr id="4447" name="Google Shape;4447;p3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8" name="Google Shape;4448;p3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449" name="Google Shape;4449;p3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50" name="Google Shape;4450;p3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$144,840 YTD gross written premium</a:t>
            </a:r>
            <a:endParaRPr/>
          </a:p>
        </p:txBody>
      </p:sp>
      <p:sp>
        <p:nvSpPr>
          <p:cNvPr id="4451" name="Google Shape;4451;p3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452" name="Google Shape;4452;p3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$74,487 in new business production</a:t>
            </a:r>
            <a:endParaRPr/>
          </a:p>
        </p:txBody>
      </p:sp>
      <p:sp>
        <p:nvSpPr>
          <p:cNvPr id="4453" name="Google Shape;4453;p3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4" name="Google Shape;4454;p3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455" name="Google Shape;4455;p3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456" name="Google Shape;4456;p3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179% of new business ($133,324)</a:t>
            </a:r>
            <a:endParaRPr/>
          </a:p>
        </p:txBody>
      </p:sp>
      <p:sp>
        <p:nvSpPr>
          <p:cNvPr id="4457" name="Google Shape;4457;p3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8" name="Google Shape;4458;p3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459" name="Google Shape;4459;p3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460" name="Google Shape;4460;p3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$74,487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461" name="Google Shape;4461;p3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462" name="Google Shape;4462;p3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$133,324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66" name="Shape 4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7" name="Google Shape;4467;p3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8" name="Google Shape;4468;p3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925 Partners, Llc</a:t>
            </a:r>
            <a:endParaRPr/>
          </a:p>
        </p:txBody>
      </p:sp>
      <p:sp>
        <p:nvSpPr>
          <p:cNvPr id="4469" name="Google Shape;4469;p3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Jacksonville</a:t>
            </a:r>
            <a:endParaRPr/>
          </a:p>
        </p:txBody>
      </p:sp>
      <p:sp>
        <p:nvSpPr>
          <p:cNvPr id="4470" name="Google Shape;4470;p3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$135,874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471" name="Google Shape;4471;p3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72" name="Google Shape;4472;p3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$106,601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73" name="Google Shape;4473;p3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$-6,806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74" name="Google Shape;4474;p3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$-35,945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75" name="Google Shape;4475;p3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$567,502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476" name="Google Shape;4476;p3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$440,789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477" name="Google Shape;4477;p3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478" name="Google Shape;4478;p3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479" name="Google Shape;4479;p3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480" name="Google Shape;4480;p3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481" name="Google Shape;4481;p3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$146,449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482" name="Google Shape;4482;p3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$96,939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483" name="Google Shape;4483;p3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4" name="Google Shape;4484;p3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485" name="Google Shape;4485;p3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486" name="Google Shape;4486;p3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487" name="Google Shape;4487;p3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488" name="Google Shape;4488;p3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489" name="Google Shape;4489;p3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490" name="Google Shape;4490;p3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491" name="Google Shape;4491;p3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2" name="Google Shape;4492;p3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493" name="Google Shape;4493;p3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$-2,281</a:t>
            </a:r>
            <a:endParaRPr/>
          </a:p>
        </p:txBody>
      </p:sp>
      <p:sp>
        <p:nvSpPr>
          <p:cNvPr id="4494" name="Google Shape;4494;p3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5" name="Google Shape;4495;p3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6" name="Google Shape;4496;p3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$-2,281</a:t>
            </a:r>
            <a:endParaRPr/>
          </a:p>
        </p:txBody>
      </p:sp>
      <p:sp>
        <p:nvSpPr>
          <p:cNvPr id="4497" name="Google Shape;4497;p3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498" name="Google Shape;4498;p3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9" name="Google Shape;4499;p3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00" name="Google Shape;4500;p3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$-225</a:t>
            </a:r>
            <a:endParaRPr/>
          </a:p>
        </p:txBody>
      </p:sp>
      <p:sp>
        <p:nvSpPr>
          <p:cNvPr id="4501" name="Google Shape;4501;p3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2" name="Google Shape;4502;p3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3" name="Google Shape;4503;p3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$-225</a:t>
            </a:r>
            <a:endParaRPr/>
          </a:p>
        </p:txBody>
      </p:sp>
      <p:sp>
        <p:nvSpPr>
          <p:cNvPr id="4504" name="Google Shape;4504;p3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$-2,308</a:t>
            </a:r>
            <a:endParaRPr/>
          </a:p>
        </p:txBody>
      </p:sp>
      <p:sp>
        <p:nvSpPr>
          <p:cNvPr id="4505" name="Google Shape;4505;p3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6" name="Google Shape;4506;p3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07" name="Google Shape;4507;p3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$768</a:t>
            </a:r>
            <a:endParaRPr/>
          </a:p>
        </p:txBody>
      </p:sp>
      <p:sp>
        <p:nvSpPr>
          <p:cNvPr id="4508" name="Google Shape;4508;p3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09" name="Google Shape;4509;p3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0" name="Google Shape;4510;p3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$768</a:t>
            </a:r>
            <a:endParaRPr/>
          </a:p>
        </p:txBody>
      </p:sp>
      <p:sp>
        <p:nvSpPr>
          <p:cNvPr id="4511" name="Google Shape;4511;p3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12" name="Google Shape;4512;p3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3" name="Google Shape;4513;p3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14" name="Google Shape;4514;p3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$113,531</a:t>
            </a:r>
            <a:endParaRPr/>
          </a:p>
        </p:txBody>
      </p:sp>
      <p:sp>
        <p:nvSpPr>
          <p:cNvPr id="4515" name="Google Shape;4515;p3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$36,080</a:t>
            </a:r>
            <a:endParaRPr/>
          </a:p>
        </p:txBody>
      </p:sp>
      <p:sp>
        <p:nvSpPr>
          <p:cNvPr id="4516" name="Google Shape;4516;p3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$81,822</a:t>
            </a:r>
            <a:endParaRPr/>
          </a:p>
        </p:txBody>
      </p:sp>
      <p:sp>
        <p:nvSpPr>
          <p:cNvPr id="4517" name="Google Shape;4517;p3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$-4,371</a:t>
            </a:r>
            <a:endParaRPr/>
          </a:p>
        </p:txBody>
      </p:sp>
      <p:sp>
        <p:nvSpPr>
          <p:cNvPr id="4518" name="Google Shape;4518;p3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$-33,637</a:t>
            </a:r>
            <a:endParaRPr/>
          </a:p>
        </p:txBody>
      </p:sp>
      <p:sp>
        <p:nvSpPr>
          <p:cNvPr id="4519" name="Google Shape;4519;p3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0" name="Google Shape;4520;p3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21" name="Google Shape;4521;p3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$24,082</a:t>
            </a:r>
            <a:endParaRPr/>
          </a:p>
        </p:txBody>
      </p:sp>
      <p:sp>
        <p:nvSpPr>
          <p:cNvPr id="4522" name="Google Shape;4522;p3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3" name="Google Shape;4523;p3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$24,779</a:t>
            </a:r>
            <a:endParaRPr/>
          </a:p>
        </p:txBody>
      </p:sp>
      <p:sp>
        <p:nvSpPr>
          <p:cNvPr id="4524" name="Google Shape;4524;p3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$-697</a:t>
            </a:r>
            <a:endParaRPr/>
          </a:p>
        </p:txBody>
      </p:sp>
      <p:sp>
        <p:nvSpPr>
          <p:cNvPr id="4525" name="Google Shape;4525;p3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526" name="Google Shape;4526;p3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7" name="Google Shape;4527;p3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28" name="Google Shape;4528;p3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$135,874</a:t>
            </a:r>
            <a:endParaRPr/>
          </a:p>
        </p:txBody>
      </p:sp>
      <p:sp>
        <p:nvSpPr>
          <p:cNvPr id="4529" name="Google Shape;4529;p3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$36,080</a:t>
            </a:r>
            <a:endParaRPr/>
          </a:p>
        </p:txBody>
      </p:sp>
      <p:sp>
        <p:nvSpPr>
          <p:cNvPr id="4530" name="Google Shape;4530;p3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$106,601</a:t>
            </a:r>
            <a:endParaRPr/>
          </a:p>
        </p:txBody>
      </p:sp>
      <p:sp>
        <p:nvSpPr>
          <p:cNvPr id="4531" name="Google Shape;4531;p3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$-6,806</a:t>
            </a:r>
            <a:endParaRPr/>
          </a:p>
        </p:txBody>
      </p:sp>
      <p:sp>
        <p:nvSpPr>
          <p:cNvPr id="4532" name="Google Shape;4532;p3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$-35,945</a:t>
            </a:r>
            <a:endParaRPr/>
          </a:p>
        </p:txBody>
      </p:sp>
      <p:sp>
        <p:nvSpPr>
          <p:cNvPr id="4533" name="Google Shape;4533;p3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4" name="Google Shape;4534;p3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535" name="Google Shape;4535;p3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536" name="Google Shape;4536;p3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537" name="Google Shape;4537;p3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538" name="Google Shape;4538;p3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539" name="Google Shape;4539;p3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540" name="Google Shape;4540;p3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541" name="Google Shape;4541;p3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2" name="Google Shape;4542;p3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543" name="Google Shape;4543;p3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544" name="Google Shape;4544;p3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45" name="Google Shape;4545;p3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4546" name="Google Shape;4546;p3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47" name="Google Shape;4547;p3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6.9%</a:t>
            </a:r>
            <a:endParaRPr/>
          </a:p>
        </p:txBody>
      </p:sp>
      <p:sp>
        <p:nvSpPr>
          <p:cNvPr id="4548" name="Google Shape;4548;p3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9" name="Google Shape;4549;p3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550" name="Google Shape;4550;p3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551" name="Google Shape;4551;p3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52" name="Google Shape;4552;p3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553" name="Google Shape;4553;p3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554" name="Google Shape;4554;p3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6.0%</a:t>
            </a:r>
            <a:endParaRPr/>
          </a:p>
        </p:txBody>
      </p:sp>
      <p:sp>
        <p:nvSpPr>
          <p:cNvPr id="4555" name="Google Shape;4555;p3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56" name="Google Shape;4556;p3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557" name="Google Shape;4557;p3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558" name="Google Shape;4558;p3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4559" name="Google Shape;4559;p3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560" name="Google Shape;4560;p3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561" name="Google Shape;4561;p3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12.2%</a:t>
            </a:r>
            <a:endParaRPr/>
          </a:p>
        </p:txBody>
      </p:sp>
      <p:sp>
        <p:nvSpPr>
          <p:cNvPr id="4562" name="Google Shape;4562;p3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63" name="Google Shape;4563;p3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564" name="Google Shape;4564;p3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565" name="Google Shape;4565;p3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566" name="Google Shape;4566;p3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567" name="Google Shape;4567;p3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568" name="Google Shape;4568;p3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4569" name="Google Shape;4569;p3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0" name="Google Shape;4570;p3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571" name="Google Shape;4571;p3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572" name="Google Shape;4572;p3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573" name="Google Shape;4573;p3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574" name="Google Shape;4574;p3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575" name="Google Shape;4575;p3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5.7%</a:t>
            </a:r>
            <a:endParaRPr/>
          </a:p>
        </p:txBody>
      </p:sp>
      <p:sp>
        <p:nvSpPr>
          <p:cNvPr id="4576" name="Google Shape;4576;p3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77" name="Google Shape;4577;p3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578" name="Google Shape;4578;p3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222</a:t>
            </a:r>
            <a:endParaRPr/>
          </a:p>
        </p:txBody>
      </p:sp>
      <p:sp>
        <p:nvSpPr>
          <p:cNvPr id="4579" name="Google Shape;4579;p3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4580" name="Google Shape;4580;p3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197</a:t>
            </a:r>
            <a:endParaRPr/>
          </a:p>
        </p:txBody>
      </p:sp>
      <p:sp>
        <p:nvSpPr>
          <p:cNvPr id="4581" name="Google Shape;4581;p3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4582" name="Google Shape;4582;p3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4583" name="Google Shape;4583;p3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4" name="Google Shape;4584;p3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585" name="Google Shape;4585;p3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586" name="Google Shape;4586;p3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587" name="Google Shape;4587;p3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588" name="Google Shape;4588;p3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589" name="Google Shape;4589;p3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590" name="Google Shape;4590;p3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591" name="Google Shape;4591;p3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592" name="Google Shape;4592;p3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593" name="Google Shape;4593;p3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594" name="Google Shape;4594;p3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595" name="Google Shape;4595;p3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596" name="Google Shape;4596;p3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597" name="Google Shape;4597;p3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598" name="Google Shape;4598;p3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599" name="Google Shape;4599;p3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39</a:t>
            </a:r>
            <a:endParaRPr/>
          </a:p>
        </p:txBody>
      </p:sp>
      <p:sp>
        <p:nvSpPr>
          <p:cNvPr id="4600" name="Google Shape;4600;p3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601" name="Google Shape;4601;p3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4602" name="Google Shape;4602;p3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4603" name="Google Shape;4603;p3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604" name="Google Shape;4604;p3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605" name="Google Shape;4605;p3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4606" name="Google Shape;4606;p3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4607" name="Google Shape;4607;p3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608" name="Google Shape;4608;p3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609" name="Google Shape;4609;p3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182</a:t>
            </a:r>
            <a:endParaRPr/>
          </a:p>
        </p:txBody>
      </p:sp>
      <p:sp>
        <p:nvSpPr>
          <p:cNvPr id="4610" name="Google Shape;4610;p3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241</a:t>
            </a:r>
            <a:endParaRPr/>
          </a:p>
        </p:txBody>
      </p:sp>
      <p:sp>
        <p:nvSpPr>
          <p:cNvPr id="4611" name="Google Shape;4611;p3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612" name="Google Shape;4612;p3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$71K</a:t>
            </a:r>
            <a:endParaRPr/>
          </a:p>
        </p:txBody>
      </p:sp>
      <p:sp>
        <p:nvSpPr>
          <p:cNvPr id="4613" name="Google Shape;4613;p3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$-2,281</a:t>
            </a:r>
            <a:endParaRPr/>
          </a:p>
        </p:txBody>
      </p:sp>
      <p:sp>
        <p:nvSpPr>
          <p:cNvPr id="4614" name="Google Shape;4614;p3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4615" name="Google Shape;4615;p3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$-225</a:t>
            </a:r>
            <a:endParaRPr/>
          </a:p>
        </p:txBody>
      </p:sp>
      <p:sp>
        <p:nvSpPr>
          <p:cNvPr id="4616" name="Google Shape;4616;p3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4617" name="Google Shape;4617;p3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$768</a:t>
            </a:r>
            <a:endParaRPr/>
          </a:p>
        </p:txBody>
      </p:sp>
      <p:sp>
        <p:nvSpPr>
          <p:cNvPr id="4618" name="Google Shape;4618;p3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$90K</a:t>
            </a:r>
            <a:endParaRPr/>
          </a:p>
        </p:txBody>
      </p:sp>
      <p:sp>
        <p:nvSpPr>
          <p:cNvPr id="4619" name="Google Shape;4619;p3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$114K</a:t>
            </a:r>
            <a:endParaRPr/>
          </a:p>
        </p:txBody>
      </p:sp>
      <p:sp>
        <p:nvSpPr>
          <p:cNvPr id="4620" name="Google Shape;4620;p3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4621" name="Google Shape;4621;p3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622" name="Google Shape;4622;p3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$263K</a:t>
            </a:r>
            <a:endParaRPr/>
          </a:p>
        </p:txBody>
      </p:sp>
      <p:sp>
        <p:nvSpPr>
          <p:cNvPr id="4623" name="Google Shape;4623;p3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$136K</a:t>
            </a:r>
            <a:endParaRPr/>
          </a:p>
        </p:txBody>
      </p:sp>
      <p:sp>
        <p:nvSpPr>
          <p:cNvPr id="4624" name="Google Shape;4624;p3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5" name="Google Shape;4625;p3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626" name="Google Shape;4626;p3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27" name="Google Shape;4627;p3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$135,874 YTD gross written premium</a:t>
            </a:r>
            <a:endParaRPr/>
          </a:p>
        </p:txBody>
      </p:sp>
      <p:sp>
        <p:nvSpPr>
          <p:cNvPr id="4628" name="Google Shape;4628;p3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629" name="Google Shape;4629;p3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$36,080 in new business production</a:t>
            </a:r>
            <a:endParaRPr/>
          </a:p>
        </p:txBody>
      </p:sp>
      <p:sp>
        <p:nvSpPr>
          <p:cNvPr id="4630" name="Google Shape;4630;p3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1" name="Google Shape;4631;p3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632" name="Google Shape;4632;p3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33" name="Google Shape;4633;p3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100% of new business ($35,945)</a:t>
            </a:r>
            <a:endParaRPr/>
          </a:p>
        </p:txBody>
      </p:sp>
      <p:sp>
        <p:nvSpPr>
          <p:cNvPr id="4634" name="Google Shape;4634;p31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635" name="Google Shape;4635;p31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79% month-over-month</a:t>
            </a:r>
            <a:endParaRPr/>
          </a:p>
        </p:txBody>
      </p:sp>
      <p:sp>
        <p:nvSpPr>
          <p:cNvPr id="4636" name="Google Shape;4636;p3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7" name="Google Shape;4637;p3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638" name="Google Shape;4638;p3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639" name="Google Shape;4639;p3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$36,080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4640" name="Google Shape;4640;p3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641" name="Google Shape;4641;p3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$35,945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645" name="Shape 4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6" name="Google Shape;4646;p3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7" name="Google Shape;4647;p3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Sebanda Franchise #42 - M&amp;o Insurance Agency Llc</a:t>
            </a:r>
            <a:endParaRPr/>
          </a:p>
        </p:txBody>
      </p:sp>
      <p:sp>
        <p:nvSpPr>
          <p:cNvPr id="4648" name="Google Shape;4648;p3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Miami</a:t>
            </a:r>
            <a:endParaRPr/>
          </a:p>
        </p:txBody>
      </p:sp>
      <p:sp>
        <p:nvSpPr>
          <p:cNvPr id="4649" name="Google Shape;4649;p3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$120,520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650" name="Google Shape;4650;p3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$89,406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51" name="Google Shape;4651;p3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52" name="Google Shape;4652;p3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53" name="Google Shape;4653;p3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$-72,461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54" name="Google Shape;4654;p3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$375,421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655" name="Google Shape;4655;p3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$334,633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656" name="Google Shape;4656;p3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657" name="Google Shape;4657;p3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658" name="Google Shape;4658;p3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659" name="Google Shape;4659;p3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660" name="Google Shape;4660;p3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661" name="Google Shape;4661;p3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$67,242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662" name="Google Shape;4662;p3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63" name="Google Shape;4663;p3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664" name="Google Shape;4664;p3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665" name="Google Shape;4665;p3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666" name="Google Shape;4666;p3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667" name="Google Shape;4667;p3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668" name="Google Shape;4668;p3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669" name="Google Shape;4669;p3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670" name="Google Shape;4670;p3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1" name="Google Shape;4671;p3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672" name="Google Shape;4672;p3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$2,767</a:t>
            </a:r>
            <a:endParaRPr/>
          </a:p>
        </p:txBody>
      </p:sp>
      <p:sp>
        <p:nvSpPr>
          <p:cNvPr id="4673" name="Google Shape;4673;p3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$2,767</a:t>
            </a:r>
            <a:endParaRPr/>
          </a:p>
        </p:txBody>
      </p:sp>
      <p:sp>
        <p:nvSpPr>
          <p:cNvPr id="4674" name="Google Shape;4674;p3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5" name="Google Shape;4675;p3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76" name="Google Shape;4676;p3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$-2,245</a:t>
            </a:r>
            <a:endParaRPr/>
          </a:p>
        </p:txBody>
      </p:sp>
      <p:sp>
        <p:nvSpPr>
          <p:cNvPr id="4677" name="Google Shape;4677;p3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8" name="Google Shape;4678;p3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679" name="Google Shape;4679;p3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4680" name="Google Shape;4680;p3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4681" name="Google Shape;4681;p3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2" name="Google Shape;4682;p3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3" name="Google Shape;4683;p3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$-4,741</a:t>
            </a:r>
            <a:endParaRPr/>
          </a:p>
        </p:txBody>
      </p:sp>
      <p:sp>
        <p:nvSpPr>
          <p:cNvPr id="4684" name="Google Shape;4684;p3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5" name="Google Shape;4685;p3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686" name="Google Shape;4686;p3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$23,309</a:t>
            </a:r>
            <a:endParaRPr/>
          </a:p>
        </p:txBody>
      </p:sp>
      <p:sp>
        <p:nvSpPr>
          <p:cNvPr id="4687" name="Google Shape;4687;p3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$16,802</a:t>
            </a:r>
            <a:endParaRPr/>
          </a:p>
        </p:txBody>
      </p:sp>
      <p:sp>
        <p:nvSpPr>
          <p:cNvPr id="4688" name="Google Shape;4688;p3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689" name="Google Shape;4689;p3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$6,507</a:t>
            </a:r>
            <a:endParaRPr/>
          </a:p>
        </p:txBody>
      </p:sp>
      <p:sp>
        <p:nvSpPr>
          <p:cNvPr id="4690" name="Google Shape;4690;p3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$-24,725</a:t>
            </a:r>
            <a:endParaRPr/>
          </a:p>
        </p:txBody>
      </p:sp>
      <p:sp>
        <p:nvSpPr>
          <p:cNvPr id="4691" name="Google Shape;4691;p3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2" name="Google Shape;4692;p3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693" name="Google Shape;4693;p3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$93,495</a:t>
            </a:r>
            <a:endParaRPr/>
          </a:p>
        </p:txBody>
      </p:sp>
      <p:sp>
        <p:nvSpPr>
          <p:cNvPr id="4694" name="Google Shape;4694;p3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$68,888</a:t>
            </a:r>
            <a:endParaRPr/>
          </a:p>
        </p:txBody>
      </p:sp>
      <p:sp>
        <p:nvSpPr>
          <p:cNvPr id="4695" name="Google Shape;4695;p3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696" name="Google Shape;4696;p3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$24,057</a:t>
            </a:r>
            <a:endParaRPr/>
          </a:p>
        </p:txBody>
      </p:sp>
      <p:sp>
        <p:nvSpPr>
          <p:cNvPr id="4697" name="Google Shape;4697;p3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$-40,750</a:t>
            </a:r>
            <a:endParaRPr/>
          </a:p>
        </p:txBody>
      </p:sp>
      <p:sp>
        <p:nvSpPr>
          <p:cNvPr id="4698" name="Google Shape;4698;p3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9" name="Google Shape;4699;p3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00" name="Google Shape;4700;p3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1" name="Google Shape;4701;p3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2" name="Google Shape;4702;p3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3" name="Google Shape;4703;p3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4" name="Google Shape;4704;p3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705" name="Google Shape;4705;p3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6" name="Google Shape;4706;p3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07" name="Google Shape;4707;p3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$120,520</a:t>
            </a:r>
            <a:endParaRPr/>
          </a:p>
        </p:txBody>
      </p:sp>
      <p:sp>
        <p:nvSpPr>
          <p:cNvPr id="4708" name="Google Shape;4708;p3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$89,406</a:t>
            </a:r>
            <a:endParaRPr/>
          </a:p>
        </p:txBody>
      </p:sp>
      <p:sp>
        <p:nvSpPr>
          <p:cNvPr id="4709" name="Google Shape;4709;p3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$550</a:t>
            </a:r>
            <a:endParaRPr/>
          </a:p>
        </p:txBody>
      </p:sp>
      <p:sp>
        <p:nvSpPr>
          <p:cNvPr id="4710" name="Google Shape;4710;p3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$30,564</a:t>
            </a:r>
            <a:endParaRPr/>
          </a:p>
        </p:txBody>
      </p:sp>
      <p:sp>
        <p:nvSpPr>
          <p:cNvPr id="4711" name="Google Shape;4711;p3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$-72,461</a:t>
            </a:r>
            <a:endParaRPr/>
          </a:p>
        </p:txBody>
      </p:sp>
      <p:sp>
        <p:nvSpPr>
          <p:cNvPr id="4712" name="Google Shape;4712;p3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13" name="Google Shape;4713;p3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714" name="Google Shape;4714;p3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715" name="Google Shape;4715;p3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716" name="Google Shape;4716;p3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717" name="Google Shape;4717;p3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718" name="Google Shape;4718;p3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719" name="Google Shape;4719;p3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720" name="Google Shape;4720;p3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1" name="Google Shape;4721;p3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722" name="Google Shape;4722;p3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723" name="Google Shape;4723;p3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24" name="Google Shape;4724;p3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725" name="Google Shape;4725;p3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26" name="Google Shape;4726;p3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6.4%</a:t>
            </a:r>
            <a:endParaRPr/>
          </a:p>
        </p:txBody>
      </p:sp>
      <p:sp>
        <p:nvSpPr>
          <p:cNvPr id="4727" name="Google Shape;4727;p3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28" name="Google Shape;4728;p3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729" name="Google Shape;4729;p3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4730" name="Google Shape;4730;p3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731" name="Google Shape;4731;p3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732" name="Google Shape;4732;p3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33" name="Google Shape;4733;p3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1.7%</a:t>
            </a:r>
            <a:endParaRPr/>
          </a:p>
        </p:txBody>
      </p:sp>
      <p:sp>
        <p:nvSpPr>
          <p:cNvPr id="4734" name="Google Shape;4734;p3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5" name="Google Shape;4735;p3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736" name="Google Shape;4736;p3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737" name="Google Shape;4737;p3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38" name="Google Shape;4738;p3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739" name="Google Shape;4739;p3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4740" name="Google Shape;4740;p3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13.9%</a:t>
            </a:r>
            <a:endParaRPr/>
          </a:p>
        </p:txBody>
      </p:sp>
      <p:sp>
        <p:nvSpPr>
          <p:cNvPr id="4741" name="Google Shape;4741;p3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2" name="Google Shape;4742;p3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743" name="Google Shape;4743;p3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744" name="Google Shape;4744;p3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745" name="Google Shape;4745;p3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746" name="Google Shape;4746;p3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4747" name="Google Shape;4747;p3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7.9%</a:t>
            </a:r>
            <a:endParaRPr/>
          </a:p>
        </p:txBody>
      </p:sp>
      <p:sp>
        <p:nvSpPr>
          <p:cNvPr id="4748" name="Google Shape;4748;p3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9" name="Google Shape;4749;p3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750" name="Google Shape;4750;p3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751" name="Google Shape;4751;p3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752" name="Google Shape;4752;p3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4753" name="Google Shape;4753;p3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754" name="Google Shape;4754;p3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1.9%</a:t>
            </a:r>
            <a:endParaRPr/>
          </a:p>
        </p:txBody>
      </p:sp>
      <p:sp>
        <p:nvSpPr>
          <p:cNvPr id="4755" name="Google Shape;4755;p3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6" name="Google Shape;4756;p3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757" name="Google Shape;4757;p3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223</a:t>
            </a:r>
            <a:endParaRPr/>
          </a:p>
        </p:txBody>
      </p:sp>
      <p:sp>
        <p:nvSpPr>
          <p:cNvPr id="4758" name="Google Shape;4758;p3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4759" name="Google Shape;4759;p3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213</a:t>
            </a:r>
            <a:endParaRPr/>
          </a:p>
        </p:txBody>
      </p:sp>
      <p:sp>
        <p:nvSpPr>
          <p:cNvPr id="4760" name="Google Shape;4760;p3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4761" name="Google Shape;4761;p3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4.0%</a:t>
            </a:r>
            <a:endParaRPr/>
          </a:p>
        </p:txBody>
      </p:sp>
      <p:sp>
        <p:nvSpPr>
          <p:cNvPr id="4762" name="Google Shape;4762;p3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63" name="Google Shape;4763;p3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764" name="Google Shape;4764;p3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765" name="Google Shape;4765;p3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766" name="Google Shape;4766;p3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767" name="Google Shape;4767;p3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768" name="Google Shape;4768;p3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769" name="Google Shape;4769;p3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770" name="Google Shape;4770;p3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771" name="Google Shape;4771;p3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772" name="Google Shape;4772;p3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773" name="Google Shape;4773;p3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774" name="Google Shape;4774;p3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775" name="Google Shape;4775;p3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776" name="Google Shape;4776;p3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777" name="Google Shape;4777;p3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778" name="Google Shape;4778;p3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4779" name="Google Shape;4779;p3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4780" name="Google Shape;4780;p3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781" name="Google Shape;4781;p3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4782" name="Google Shape;4782;p3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783" name="Google Shape;4783;p3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4784" name="Google Shape;4784;p3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42</a:t>
            </a:r>
            <a:endParaRPr/>
          </a:p>
        </p:txBody>
      </p:sp>
      <p:sp>
        <p:nvSpPr>
          <p:cNvPr id="4785" name="Google Shape;4785;p3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4786" name="Google Shape;4786;p3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74</a:t>
            </a:r>
            <a:endParaRPr/>
          </a:p>
        </p:txBody>
      </p:sp>
      <p:sp>
        <p:nvSpPr>
          <p:cNvPr id="4787" name="Google Shape;4787;p3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54</a:t>
            </a:r>
            <a:endParaRPr/>
          </a:p>
        </p:txBody>
      </p:sp>
      <p:sp>
        <p:nvSpPr>
          <p:cNvPr id="4788" name="Google Shape;4788;p3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270</a:t>
            </a:r>
            <a:endParaRPr/>
          </a:p>
        </p:txBody>
      </p:sp>
      <p:sp>
        <p:nvSpPr>
          <p:cNvPr id="4789" name="Google Shape;4789;p3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235</a:t>
            </a:r>
            <a:endParaRPr/>
          </a:p>
        </p:txBody>
      </p:sp>
      <p:sp>
        <p:nvSpPr>
          <p:cNvPr id="4790" name="Google Shape;4790;p3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791" name="Google Shape;4791;p3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4792" name="Google Shape;4792;p3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4793" name="Google Shape;4793;p3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$36K</a:t>
            </a:r>
            <a:endParaRPr/>
          </a:p>
        </p:txBody>
      </p:sp>
      <p:sp>
        <p:nvSpPr>
          <p:cNvPr id="4794" name="Google Shape;4794;p3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$949</a:t>
            </a:r>
            <a:endParaRPr/>
          </a:p>
        </p:txBody>
      </p:sp>
      <p:sp>
        <p:nvSpPr>
          <p:cNvPr id="4795" name="Google Shape;4795;p3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$35K</a:t>
            </a:r>
            <a:endParaRPr/>
          </a:p>
        </p:txBody>
      </p:sp>
      <p:sp>
        <p:nvSpPr>
          <p:cNvPr id="4796" name="Google Shape;4796;p3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4797" name="Google Shape;4797;p3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4798" name="Google Shape;4798;p3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$93K</a:t>
            </a:r>
            <a:endParaRPr/>
          </a:p>
        </p:txBody>
      </p:sp>
      <p:sp>
        <p:nvSpPr>
          <p:cNvPr id="4799" name="Google Shape;4799;p3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4800" name="Google Shape;4800;p3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01" name="Google Shape;4801;p3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$161K</a:t>
            </a:r>
            <a:endParaRPr/>
          </a:p>
        </p:txBody>
      </p:sp>
      <p:sp>
        <p:nvSpPr>
          <p:cNvPr id="4802" name="Google Shape;4802;p3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4803" name="Google Shape;4803;p3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04" name="Google Shape;4804;p3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805" name="Google Shape;4805;p3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06" name="Google Shape;4806;p3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$120,520 YTD gross written premium</a:t>
            </a:r>
            <a:endParaRPr/>
          </a:p>
        </p:txBody>
      </p:sp>
      <p:sp>
        <p:nvSpPr>
          <p:cNvPr id="4807" name="Google Shape;4807;p3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808" name="Google Shape;4808;p3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$89,406 in new business production</a:t>
            </a:r>
            <a:endParaRPr/>
          </a:p>
        </p:txBody>
      </p:sp>
      <p:sp>
        <p:nvSpPr>
          <p:cNvPr id="4809" name="Google Shape;4809;p3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0" name="Google Shape;4810;p3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811" name="Google Shape;4811;p3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812" name="Google Shape;4812;p3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81% of new business ($72,461)</a:t>
            </a:r>
            <a:endParaRPr/>
          </a:p>
        </p:txBody>
      </p:sp>
      <p:sp>
        <p:nvSpPr>
          <p:cNvPr id="4813" name="Google Shape;4813;p3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4" name="Google Shape;4814;p3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815" name="Google Shape;4815;p3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816" name="Google Shape;4816;p3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$89,406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817" name="Google Shape;4817;p3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818" name="Google Shape;4818;p3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$72,461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822" name="Shape 48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3" name="Google Shape;4823;p3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24" name="Google Shape;4824;p3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Marble City Insurance</a:t>
            </a:r>
            <a:endParaRPr/>
          </a:p>
        </p:txBody>
      </p:sp>
      <p:sp>
        <p:nvSpPr>
          <p:cNvPr id="4825" name="Google Shape;4825;p3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TN  |  City: Knoxville</a:t>
            </a:r>
            <a:endParaRPr/>
          </a:p>
        </p:txBody>
      </p:sp>
      <p:sp>
        <p:nvSpPr>
          <p:cNvPr id="4826" name="Google Shape;4826;p3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$91,001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4827" name="Google Shape;4827;p3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$89,691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28" name="Google Shape;4828;p3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29" name="Google Shape;4829;p3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30" name="Google Shape;4830;p3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$-65,836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31" name="Google Shape;4831;p3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$216,288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4832" name="Google Shape;4832;p3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$228,737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4833" name="Google Shape;4833;p3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4834" name="Google Shape;4834;p3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835" name="Google Shape;4835;p3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36" name="Google Shape;4836;p3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37" name="Google Shape;4837;p3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4838" name="Google Shape;4838;p3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4839" name="Google Shape;4839;p3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0" name="Google Shape;4840;p3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4841" name="Google Shape;4841;p3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42" name="Google Shape;4842;p3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4843" name="Google Shape;4843;p3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4844" name="Google Shape;4844;p3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4845" name="Google Shape;4845;p3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4846" name="Google Shape;4846;p3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4847" name="Google Shape;4847;p3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8" name="Google Shape;4848;p3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49" name="Google Shape;4849;p3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$1,100</a:t>
            </a:r>
            <a:endParaRPr/>
          </a:p>
        </p:txBody>
      </p:sp>
      <p:sp>
        <p:nvSpPr>
          <p:cNvPr id="4850" name="Google Shape;4850;p3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$1,100</a:t>
            </a:r>
            <a:endParaRPr/>
          </a:p>
        </p:txBody>
      </p:sp>
      <p:sp>
        <p:nvSpPr>
          <p:cNvPr id="4851" name="Google Shape;4851;p3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2" name="Google Shape;4852;p3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3" name="Google Shape;4853;p3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$-6,767</a:t>
            </a:r>
            <a:endParaRPr/>
          </a:p>
        </p:txBody>
      </p:sp>
      <p:sp>
        <p:nvSpPr>
          <p:cNvPr id="4854" name="Google Shape;4854;p3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5" name="Google Shape;4855;p3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856" name="Google Shape;4856;p3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$6,381</a:t>
            </a:r>
            <a:endParaRPr/>
          </a:p>
        </p:txBody>
      </p:sp>
      <p:sp>
        <p:nvSpPr>
          <p:cNvPr id="4857" name="Google Shape;4857;p3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$5,864</a:t>
            </a:r>
            <a:endParaRPr/>
          </a:p>
        </p:txBody>
      </p:sp>
      <p:sp>
        <p:nvSpPr>
          <p:cNvPr id="4858" name="Google Shape;4858;p3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59" name="Google Shape;4859;p3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$517</a:t>
            </a:r>
            <a:endParaRPr/>
          </a:p>
        </p:txBody>
      </p:sp>
      <p:sp>
        <p:nvSpPr>
          <p:cNvPr id="4860" name="Google Shape;4860;p3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1" name="Google Shape;4861;p3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2" name="Google Shape;4862;p3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863" name="Google Shape;4863;p3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$15,719</a:t>
            </a:r>
            <a:endParaRPr/>
          </a:p>
        </p:txBody>
      </p:sp>
      <p:sp>
        <p:nvSpPr>
          <p:cNvPr id="4864" name="Google Shape;4864;p3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$12,872</a:t>
            </a:r>
            <a:endParaRPr/>
          </a:p>
        </p:txBody>
      </p:sp>
      <p:sp>
        <p:nvSpPr>
          <p:cNvPr id="4865" name="Google Shape;4865;p3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66" name="Google Shape;4866;p3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$2,848</a:t>
            </a:r>
            <a:endParaRPr/>
          </a:p>
        </p:txBody>
      </p:sp>
      <p:sp>
        <p:nvSpPr>
          <p:cNvPr id="4867" name="Google Shape;4867;p3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$-2,615</a:t>
            </a:r>
            <a:endParaRPr/>
          </a:p>
        </p:txBody>
      </p:sp>
      <p:sp>
        <p:nvSpPr>
          <p:cNvPr id="4868" name="Google Shape;4868;p3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69" name="Google Shape;4869;p3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870" name="Google Shape;4870;p3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$54,353</a:t>
            </a:r>
            <a:endParaRPr/>
          </a:p>
        </p:txBody>
      </p:sp>
      <p:sp>
        <p:nvSpPr>
          <p:cNvPr id="4871" name="Google Shape;4871;p3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$56,408</a:t>
            </a:r>
            <a:endParaRPr/>
          </a:p>
        </p:txBody>
      </p:sp>
      <p:sp>
        <p:nvSpPr>
          <p:cNvPr id="4872" name="Google Shape;4872;p3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73" name="Google Shape;4873;p3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$-2,055</a:t>
            </a:r>
            <a:endParaRPr/>
          </a:p>
        </p:txBody>
      </p:sp>
      <p:sp>
        <p:nvSpPr>
          <p:cNvPr id="4874" name="Google Shape;4874;p3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$-53,267</a:t>
            </a:r>
            <a:endParaRPr/>
          </a:p>
        </p:txBody>
      </p:sp>
      <p:sp>
        <p:nvSpPr>
          <p:cNvPr id="4875" name="Google Shape;4875;p3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76" name="Google Shape;4876;p3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877" name="Google Shape;4877;p3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$13,448</a:t>
            </a:r>
            <a:endParaRPr/>
          </a:p>
        </p:txBody>
      </p:sp>
      <p:sp>
        <p:nvSpPr>
          <p:cNvPr id="4878" name="Google Shape;4878;p3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$13,448</a:t>
            </a:r>
            <a:endParaRPr/>
          </a:p>
        </p:txBody>
      </p:sp>
      <p:sp>
        <p:nvSpPr>
          <p:cNvPr id="4879" name="Google Shape;4879;p3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0" name="Google Shape;4880;p3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1" name="Google Shape;4881;p3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$-3,187</a:t>
            </a:r>
            <a:endParaRPr/>
          </a:p>
        </p:txBody>
      </p:sp>
      <p:sp>
        <p:nvSpPr>
          <p:cNvPr id="4882" name="Google Shape;4882;p3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3" name="Google Shape;4883;p3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884" name="Google Shape;4884;p3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$91,001</a:t>
            </a:r>
            <a:endParaRPr/>
          </a:p>
        </p:txBody>
      </p:sp>
      <p:sp>
        <p:nvSpPr>
          <p:cNvPr id="4885" name="Google Shape;4885;p3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$89,691</a:t>
            </a:r>
            <a:endParaRPr/>
          </a:p>
        </p:txBody>
      </p:sp>
      <p:sp>
        <p:nvSpPr>
          <p:cNvPr id="4886" name="Google Shape;4886;p3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887" name="Google Shape;4887;p3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$1,310</a:t>
            </a:r>
            <a:endParaRPr/>
          </a:p>
        </p:txBody>
      </p:sp>
      <p:sp>
        <p:nvSpPr>
          <p:cNvPr id="4888" name="Google Shape;4888;p3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$-65,836</a:t>
            </a:r>
            <a:endParaRPr/>
          </a:p>
        </p:txBody>
      </p:sp>
      <p:sp>
        <p:nvSpPr>
          <p:cNvPr id="4889" name="Google Shape;4889;p3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0" name="Google Shape;4890;p3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4891" name="Google Shape;4891;p3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4892" name="Google Shape;4892;p3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4893" name="Google Shape;4893;p3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4894" name="Google Shape;4894;p3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4895" name="Google Shape;4895;p3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4896" name="Google Shape;4896;p3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4897" name="Google Shape;4897;p3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8" name="Google Shape;4898;p3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4899" name="Google Shape;4899;p3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900" name="Google Shape;4900;p3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01" name="Google Shape;4901;p3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902" name="Google Shape;4902;p3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03" name="Google Shape;4903;p3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3.6%</a:t>
            </a:r>
            <a:endParaRPr/>
          </a:p>
        </p:txBody>
      </p:sp>
      <p:sp>
        <p:nvSpPr>
          <p:cNvPr id="4904" name="Google Shape;4904;p3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5" name="Google Shape;4905;p3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4906" name="Google Shape;4906;p3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907" name="Google Shape;4907;p3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08" name="Google Shape;4908;p3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4909" name="Google Shape;4909;p3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10" name="Google Shape;4910;p3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4911" name="Google Shape;4911;p3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2" name="Google Shape;4912;p3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4913" name="Google Shape;4913;p3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4914" name="Google Shape;4914;p3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4915" name="Google Shape;4915;p3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4916" name="Google Shape;4916;p3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17" name="Google Shape;4917;p3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6.5%</a:t>
            </a:r>
            <a:endParaRPr/>
          </a:p>
        </p:txBody>
      </p:sp>
      <p:sp>
        <p:nvSpPr>
          <p:cNvPr id="4918" name="Google Shape;4918;p3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19" name="Google Shape;4919;p3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4920" name="Google Shape;4920;p3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4921" name="Google Shape;4921;p3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22" name="Google Shape;4922;p3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58</a:t>
            </a:r>
            <a:endParaRPr/>
          </a:p>
        </p:txBody>
      </p:sp>
      <p:sp>
        <p:nvSpPr>
          <p:cNvPr id="4923" name="Google Shape;4923;p3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4924" name="Google Shape;4924;p3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10.2%</a:t>
            </a:r>
            <a:endParaRPr/>
          </a:p>
        </p:txBody>
      </p:sp>
      <p:sp>
        <p:nvSpPr>
          <p:cNvPr id="4925" name="Google Shape;4925;p3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6" name="Google Shape;4926;p3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4927" name="Google Shape;4927;p3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928" name="Google Shape;4928;p3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4929" name="Google Shape;4929;p3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4930" name="Google Shape;4930;p3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4931" name="Google Shape;4931;p3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4932" name="Google Shape;4932;p3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33" name="Google Shape;4933;p3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4934" name="Google Shape;4934;p3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238</a:t>
            </a:r>
            <a:endParaRPr/>
          </a:p>
        </p:txBody>
      </p:sp>
      <p:sp>
        <p:nvSpPr>
          <p:cNvPr id="4935" name="Google Shape;4935;p3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4936" name="Google Shape;4936;p3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234</a:t>
            </a:r>
            <a:endParaRPr/>
          </a:p>
        </p:txBody>
      </p:sp>
      <p:sp>
        <p:nvSpPr>
          <p:cNvPr id="4937" name="Google Shape;4937;p3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4938" name="Google Shape;4938;p3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5.0%</a:t>
            </a:r>
            <a:endParaRPr/>
          </a:p>
        </p:txBody>
      </p:sp>
      <p:sp>
        <p:nvSpPr>
          <p:cNvPr id="4939" name="Google Shape;4939;p3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0" name="Google Shape;4940;p3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4941" name="Google Shape;4941;p3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4942" name="Google Shape;4942;p3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4943" name="Google Shape;4943;p3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4944" name="Google Shape;4944;p3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4945" name="Google Shape;4945;p3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4946" name="Google Shape;4946;p3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4947" name="Google Shape;4947;p3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4948" name="Google Shape;4948;p3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4949" name="Google Shape;4949;p3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4950" name="Google Shape;4950;p3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4951" name="Google Shape;4951;p3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4952" name="Google Shape;4952;p3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4953" name="Google Shape;4953;p3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4954" name="Google Shape;4954;p3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4955" name="Google Shape;4955;p3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4956" name="Google Shape;4956;p3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4957" name="Google Shape;4957;p3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4958" name="Google Shape;4958;p3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4959" name="Google Shape;4959;p3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4960" name="Google Shape;4960;p3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62</a:t>
            </a:r>
            <a:endParaRPr/>
          </a:p>
        </p:txBody>
      </p:sp>
      <p:sp>
        <p:nvSpPr>
          <p:cNvPr id="4961" name="Google Shape;4961;p3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26</a:t>
            </a:r>
            <a:endParaRPr/>
          </a:p>
        </p:txBody>
      </p:sp>
      <p:sp>
        <p:nvSpPr>
          <p:cNvPr id="4962" name="Google Shape;4962;p3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4963" name="Google Shape;4963;p3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4964" name="Google Shape;4964;p3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4965" name="Google Shape;4965;p3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123</a:t>
            </a:r>
            <a:endParaRPr/>
          </a:p>
        </p:txBody>
      </p:sp>
      <p:sp>
        <p:nvSpPr>
          <p:cNvPr id="4966" name="Google Shape;4966;p3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253</a:t>
            </a:r>
            <a:endParaRPr/>
          </a:p>
        </p:txBody>
      </p:sp>
      <p:sp>
        <p:nvSpPr>
          <p:cNvPr id="4967" name="Google Shape;4967;p3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4968" name="Google Shape;4968;p3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4969" name="Google Shape;4969;p3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4970" name="Google Shape;4970;p3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4971" name="Google Shape;4971;p3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4972" name="Google Shape;4972;p3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$24K</a:t>
            </a:r>
            <a:endParaRPr/>
          </a:p>
        </p:txBody>
      </p:sp>
      <p:sp>
        <p:nvSpPr>
          <p:cNvPr id="4973" name="Google Shape;4973;p3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4974" name="Google Shape;4974;p3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4975" name="Google Shape;4975;p3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$54K</a:t>
            </a:r>
            <a:endParaRPr/>
          </a:p>
        </p:txBody>
      </p:sp>
      <p:sp>
        <p:nvSpPr>
          <p:cNvPr id="4976" name="Google Shape;4976;p3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$-3,701</a:t>
            </a:r>
            <a:endParaRPr/>
          </a:p>
        </p:txBody>
      </p:sp>
      <p:sp>
        <p:nvSpPr>
          <p:cNvPr id="4977" name="Google Shape;4977;p3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4978" name="Google Shape;4978;p3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4979" name="Google Shape;4979;p3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4980" name="Google Shape;4980;p3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1" name="Google Shape;4981;p3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4982" name="Google Shape;4982;p3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983" name="Google Shape;4983;p3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$91,001 YTD gross written premium</a:t>
            </a:r>
            <a:endParaRPr/>
          </a:p>
        </p:txBody>
      </p:sp>
      <p:sp>
        <p:nvSpPr>
          <p:cNvPr id="4984" name="Google Shape;4984;p3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4985" name="Google Shape;4985;p3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$89,691 in new business production</a:t>
            </a:r>
            <a:endParaRPr/>
          </a:p>
        </p:txBody>
      </p:sp>
      <p:sp>
        <p:nvSpPr>
          <p:cNvPr id="4986" name="Google Shape;4986;p3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7" name="Google Shape;4987;p3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4988" name="Google Shape;4988;p3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89" name="Google Shape;4989;p3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73% of new business ($65,836)</a:t>
            </a:r>
            <a:endParaRPr/>
          </a:p>
        </p:txBody>
      </p:sp>
      <p:sp>
        <p:nvSpPr>
          <p:cNvPr id="4990" name="Google Shape;4990;p3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4991" name="Google Shape;4991;p3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75% month-over-month</a:t>
            </a:r>
            <a:endParaRPr/>
          </a:p>
        </p:txBody>
      </p:sp>
      <p:sp>
        <p:nvSpPr>
          <p:cNvPr id="4992" name="Google Shape;4992;p3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93" name="Google Shape;4993;p3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4994" name="Google Shape;4994;p3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4995" name="Google Shape;4995;p3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$89,691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4996" name="Google Shape;4996;p3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4997" name="Google Shape;4997;p3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$65,836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01" name="Shape 50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2" name="Google Shape;5002;p3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3" name="Google Shape;5003;p3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Woodard Agency Llc</a:t>
            </a:r>
            <a:endParaRPr/>
          </a:p>
        </p:txBody>
      </p:sp>
      <p:sp>
        <p:nvSpPr>
          <p:cNvPr id="5004" name="Google Shape;5004;p3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GA  |  City: Watkinsville</a:t>
            </a:r>
            <a:endParaRPr/>
          </a:p>
        </p:txBody>
      </p:sp>
      <p:sp>
        <p:nvSpPr>
          <p:cNvPr id="5005" name="Google Shape;5005;p3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$79,172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006" name="Google Shape;5006;p3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$58,824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07" name="Google Shape;5007;p3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08" name="Google Shape;5008;p3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09" name="Google Shape;5009;p3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$-124,710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10" name="Google Shape;5010;p3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$368,051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011" name="Google Shape;5011;p3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$329,132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012" name="Google Shape;5012;p3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013" name="Google Shape;5013;p3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014" name="Google Shape;5014;p3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15" name="Google Shape;5015;p3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16" name="Google Shape;5016;p3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017" name="Google Shape;5017;p3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$58,599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018" name="Google Shape;5018;p3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9" name="Google Shape;5019;p3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020" name="Google Shape;5020;p3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21" name="Google Shape;5021;p3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022" name="Google Shape;5022;p3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023" name="Google Shape;5023;p3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024" name="Google Shape;5024;p3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025" name="Google Shape;5025;p3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026" name="Google Shape;5026;p3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7" name="Google Shape;5027;p3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28" name="Google Shape;5028;p3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</p:txBody>
      </p:sp>
      <p:sp>
        <p:nvSpPr>
          <p:cNvPr id="5029" name="Google Shape;5029;p3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0" name="Google Shape;5030;p3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1" name="Google Shape;5031;p3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</p:txBody>
      </p:sp>
      <p:sp>
        <p:nvSpPr>
          <p:cNvPr id="5032" name="Google Shape;5032;p3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$-47,279</a:t>
            </a:r>
            <a:endParaRPr/>
          </a:p>
        </p:txBody>
      </p:sp>
      <p:sp>
        <p:nvSpPr>
          <p:cNvPr id="5033" name="Google Shape;5033;p3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4" name="Google Shape;5034;p3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35" name="Google Shape;5035;p3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6" name="Google Shape;5036;p3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7" name="Google Shape;5037;p3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8" name="Google Shape;5038;p3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39" name="Google Shape;5039;p3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0" name="Google Shape;5040;p3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1" name="Google Shape;5041;p3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42" name="Google Shape;5042;p3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$19,547</a:t>
            </a:r>
            <a:endParaRPr/>
          </a:p>
        </p:txBody>
      </p:sp>
      <p:sp>
        <p:nvSpPr>
          <p:cNvPr id="5043" name="Google Shape;5043;p3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4" name="Google Shape;5044;p3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$19,547</a:t>
            </a:r>
            <a:endParaRPr/>
          </a:p>
        </p:txBody>
      </p:sp>
      <p:sp>
        <p:nvSpPr>
          <p:cNvPr id="5045" name="Google Shape;5045;p3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46" name="Google Shape;5046;p3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$-24,183</a:t>
            </a:r>
            <a:endParaRPr/>
          </a:p>
        </p:txBody>
      </p:sp>
      <p:sp>
        <p:nvSpPr>
          <p:cNvPr id="5047" name="Google Shape;5047;p3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8" name="Google Shape;5048;p3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49" name="Google Shape;5049;p3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$33,438</a:t>
            </a:r>
            <a:endParaRPr/>
          </a:p>
        </p:txBody>
      </p:sp>
      <p:sp>
        <p:nvSpPr>
          <p:cNvPr id="5050" name="Google Shape;5050;p3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$33,438</a:t>
            </a:r>
            <a:endParaRPr/>
          </a:p>
        </p:txBody>
      </p:sp>
      <p:sp>
        <p:nvSpPr>
          <p:cNvPr id="5051" name="Google Shape;5051;p3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2" name="Google Shape;5052;p3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3" name="Google Shape;5053;p3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$-12,224</a:t>
            </a:r>
            <a:endParaRPr/>
          </a:p>
        </p:txBody>
      </p:sp>
      <p:sp>
        <p:nvSpPr>
          <p:cNvPr id="5054" name="Google Shape;5054;p3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55" name="Google Shape;5055;p3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056" name="Google Shape;5056;p3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$25,386</a:t>
            </a:r>
            <a:endParaRPr/>
          </a:p>
        </p:txBody>
      </p:sp>
      <p:sp>
        <p:nvSpPr>
          <p:cNvPr id="5057" name="Google Shape;5057;p3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$25,386</a:t>
            </a:r>
            <a:endParaRPr/>
          </a:p>
        </p:txBody>
      </p:sp>
      <p:sp>
        <p:nvSpPr>
          <p:cNvPr id="5058" name="Google Shape;5058;p3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59" name="Google Shape;5059;p3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060" name="Google Shape;5060;p3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$-41,024</a:t>
            </a:r>
            <a:endParaRPr/>
          </a:p>
        </p:txBody>
      </p:sp>
      <p:sp>
        <p:nvSpPr>
          <p:cNvPr id="5061" name="Google Shape;5061;p3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2" name="Google Shape;5062;p3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063" name="Google Shape;5063;p3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$79,172</a:t>
            </a:r>
            <a:endParaRPr/>
          </a:p>
        </p:txBody>
      </p:sp>
      <p:sp>
        <p:nvSpPr>
          <p:cNvPr id="5064" name="Google Shape;5064;p3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$58,824</a:t>
            </a:r>
            <a:endParaRPr/>
          </a:p>
        </p:txBody>
      </p:sp>
      <p:sp>
        <p:nvSpPr>
          <p:cNvPr id="5065" name="Google Shape;5065;p3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$19,547</a:t>
            </a:r>
            <a:endParaRPr/>
          </a:p>
        </p:txBody>
      </p:sp>
      <p:sp>
        <p:nvSpPr>
          <p:cNvPr id="5066" name="Google Shape;5066;p3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</p:txBody>
      </p:sp>
      <p:sp>
        <p:nvSpPr>
          <p:cNvPr id="5067" name="Google Shape;5067;p3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$-124,710</a:t>
            </a:r>
            <a:endParaRPr/>
          </a:p>
        </p:txBody>
      </p:sp>
      <p:sp>
        <p:nvSpPr>
          <p:cNvPr id="5068" name="Google Shape;5068;p3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69" name="Google Shape;5069;p3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070" name="Google Shape;5070;p3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071" name="Google Shape;5071;p3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072" name="Google Shape;5072;p3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073" name="Google Shape;5073;p3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074" name="Google Shape;5074;p3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075" name="Google Shape;5075;p3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076" name="Google Shape;5076;p3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7" name="Google Shape;5077;p3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078" name="Google Shape;5078;p3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5079" name="Google Shape;5079;p3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0" name="Google Shape;5080;p3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5081" name="Google Shape;5081;p3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082" name="Google Shape;5082;p3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5083" name="Google Shape;5083;p3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4" name="Google Shape;5084;p3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085" name="Google Shape;5085;p3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086" name="Google Shape;5086;p3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7" name="Google Shape;5087;p3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088" name="Google Shape;5088;p3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89" name="Google Shape;5089;p3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090" name="Google Shape;5090;p3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1" name="Google Shape;5091;p3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092" name="Google Shape;5092;p3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093" name="Google Shape;5093;p3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094" name="Google Shape;5094;p3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095" name="Google Shape;5095;p3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096" name="Google Shape;5096;p3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6.7%</a:t>
            </a:r>
            <a:endParaRPr/>
          </a:p>
        </p:txBody>
      </p:sp>
      <p:sp>
        <p:nvSpPr>
          <p:cNvPr id="5097" name="Google Shape;5097;p3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98" name="Google Shape;5098;p3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099" name="Google Shape;5099;p3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00" name="Google Shape;5100;p3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01" name="Google Shape;5101;p3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02" name="Google Shape;5102;p3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103" name="Google Shape;5103;p3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5104" name="Google Shape;5104;p3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05" name="Google Shape;5105;p3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106" name="Google Shape;5106;p3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07" name="Google Shape;5107;p3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08" name="Google Shape;5108;p3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09" name="Google Shape;5109;p3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10" name="Google Shape;5110;p3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111" name="Google Shape;5111;p3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2" name="Google Shape;5112;p3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113" name="Google Shape;5113;p3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5114" name="Google Shape;5114;p3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115" name="Google Shape;5115;p3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95</a:t>
            </a:r>
            <a:endParaRPr/>
          </a:p>
        </p:txBody>
      </p:sp>
      <p:sp>
        <p:nvSpPr>
          <p:cNvPr id="5116" name="Google Shape;5116;p3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117" name="Google Shape;5117;p3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5118" name="Google Shape;5118;p3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9" name="Google Shape;5119;p3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120" name="Google Shape;5120;p3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121" name="Google Shape;5121;p3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122" name="Google Shape;5122;p3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123" name="Google Shape;5123;p3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124" name="Google Shape;5124;p3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125" name="Google Shape;5125;p3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126" name="Google Shape;5126;p3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127" name="Google Shape;5127;p3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128" name="Google Shape;5128;p3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129" name="Google Shape;5129;p3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130" name="Google Shape;5130;p3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131" name="Google Shape;5131;p3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132" name="Google Shape;5132;p3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133" name="Google Shape;5133;p3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34" name="Google Shape;5134;p3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5135" name="Google Shape;5135;p3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5136" name="Google Shape;5136;p3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137" name="Google Shape;5137;p3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138" name="Google Shape;5138;p3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139" name="Google Shape;5139;p3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140" name="Google Shape;5140;p3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24</a:t>
            </a:r>
            <a:endParaRPr/>
          </a:p>
        </p:txBody>
      </p:sp>
      <p:sp>
        <p:nvSpPr>
          <p:cNvPr id="5141" name="Google Shape;5141;p3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42" name="Google Shape;5142;p3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5143" name="Google Shape;5143;p3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144" name="Google Shape;5144;p3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108</a:t>
            </a:r>
            <a:endParaRPr/>
          </a:p>
        </p:txBody>
      </p:sp>
      <p:sp>
        <p:nvSpPr>
          <p:cNvPr id="5145" name="Google Shape;5145;p3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101</a:t>
            </a:r>
            <a:endParaRPr/>
          </a:p>
        </p:txBody>
      </p:sp>
      <p:sp>
        <p:nvSpPr>
          <p:cNvPr id="5146" name="Google Shape;5146;p3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147" name="Google Shape;5147;p3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$-90</a:t>
            </a:r>
            <a:endParaRPr/>
          </a:p>
        </p:txBody>
      </p:sp>
      <p:sp>
        <p:nvSpPr>
          <p:cNvPr id="5148" name="Google Shape;5148;p3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$800</a:t>
            </a:r>
            <a:endParaRPr/>
          </a:p>
        </p:txBody>
      </p:sp>
      <p:sp>
        <p:nvSpPr>
          <p:cNvPr id="5149" name="Google Shape;5149;p3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0" name="Google Shape;5150;p3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151" name="Google Shape;5151;p3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5152" name="Google Shape;5152;p3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5153" name="Google Shape;5153;p3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$34K</a:t>
            </a:r>
            <a:endParaRPr/>
          </a:p>
        </p:txBody>
      </p:sp>
      <p:sp>
        <p:nvSpPr>
          <p:cNvPr id="5154" name="Google Shape;5154;p3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$33K</a:t>
            </a:r>
            <a:endParaRPr/>
          </a:p>
        </p:txBody>
      </p:sp>
      <p:sp>
        <p:nvSpPr>
          <p:cNvPr id="5155" name="Google Shape;5155;p3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5156" name="Google Shape;5156;p3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5157" name="Google Shape;5157;p3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$118K</a:t>
            </a:r>
            <a:endParaRPr/>
          </a:p>
        </p:txBody>
      </p:sp>
      <p:sp>
        <p:nvSpPr>
          <p:cNvPr id="5158" name="Google Shape;5158;p3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$79K</a:t>
            </a:r>
            <a:endParaRPr/>
          </a:p>
        </p:txBody>
      </p:sp>
      <p:sp>
        <p:nvSpPr>
          <p:cNvPr id="5159" name="Google Shape;5159;p3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0" name="Google Shape;5160;p3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161" name="Google Shape;5161;p3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62" name="Google Shape;5162;p3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$79,172 YTD gross written premium</a:t>
            </a:r>
            <a:endParaRPr/>
          </a:p>
        </p:txBody>
      </p:sp>
      <p:sp>
        <p:nvSpPr>
          <p:cNvPr id="5163" name="Google Shape;5163;p3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164" name="Google Shape;5164;p3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$58,824 in new business production</a:t>
            </a:r>
            <a:endParaRPr/>
          </a:p>
        </p:txBody>
      </p:sp>
      <p:sp>
        <p:nvSpPr>
          <p:cNvPr id="5165" name="Google Shape;5165;p3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6" name="Google Shape;5166;p3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167" name="Google Shape;5167;p3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168" name="Google Shape;5168;p3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212% of new business ($124,710)</a:t>
            </a:r>
            <a:endParaRPr/>
          </a:p>
        </p:txBody>
      </p:sp>
      <p:sp>
        <p:nvSpPr>
          <p:cNvPr id="5169" name="Google Shape;5169;p3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0" name="Google Shape;5170;p3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171" name="Google Shape;5171;p3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172" name="Google Shape;5172;p3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Acknowledge their $58,824 in new business. Ask: "What types of accounts are you seeing the most success with?" Use this to identify more of their book that fits our appetite.</a:t>
            </a:r>
            <a:endParaRPr/>
          </a:p>
        </p:txBody>
      </p:sp>
      <p:sp>
        <p:nvSpPr>
          <p:cNvPr id="5173" name="Google Shape;5173;p34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174" name="Google Shape;5174;p34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$124,710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178" name="Shape 5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9" name="Google Shape;5179;p3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0" name="Google Shape;5180;p3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Florida Property And Casualty Insurance Services</a:t>
            </a:r>
            <a:endParaRPr/>
          </a:p>
        </p:txBody>
      </p:sp>
      <p:sp>
        <p:nvSpPr>
          <p:cNvPr id="5181" name="Google Shape;5181;p3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Hialeah</a:t>
            </a:r>
            <a:endParaRPr/>
          </a:p>
        </p:txBody>
      </p:sp>
      <p:sp>
        <p:nvSpPr>
          <p:cNvPr id="5182" name="Google Shape;5182;p3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$67,147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183" name="Google Shape;5183;p3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184" name="Google Shape;5184;p3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$14,646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185" name="Google Shape;5185;p3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$3,697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186" name="Google Shape;5186;p3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$-25,531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187" name="Google Shape;5187;p3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$146,475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188" name="Google Shape;5188;p3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$198,902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189" name="Google Shape;5189;p3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190" name="Google Shape;5190;p3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191" name="Google Shape;5191;p3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192" name="Google Shape;5192;p3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193" name="Google Shape;5193;p3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194" name="Google Shape;5194;p3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$130,529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195" name="Google Shape;5195;p3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6" name="Google Shape;5196;p3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197" name="Google Shape;5197;p3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198" name="Google Shape;5198;p3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199" name="Google Shape;5199;p3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200" name="Google Shape;5200;p3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201" name="Google Shape;5201;p3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202" name="Google Shape;5202;p3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203" name="Google Shape;5203;p3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04" name="Google Shape;5204;p3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05" name="Google Shape;5205;p3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$2,808</a:t>
            </a:r>
            <a:endParaRPr/>
          </a:p>
        </p:txBody>
      </p:sp>
      <p:sp>
        <p:nvSpPr>
          <p:cNvPr id="5206" name="Google Shape;5206;p3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$2,544</a:t>
            </a:r>
            <a:endParaRPr/>
          </a:p>
        </p:txBody>
      </p:sp>
      <p:sp>
        <p:nvSpPr>
          <p:cNvPr id="5207" name="Google Shape;5207;p3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08" name="Google Shape;5208;p3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$264</a:t>
            </a:r>
            <a:endParaRPr/>
          </a:p>
        </p:txBody>
      </p:sp>
      <p:sp>
        <p:nvSpPr>
          <p:cNvPr id="5209" name="Google Shape;5209;p3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0" name="Google Shape;5210;p3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1" name="Google Shape;5211;p3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12" name="Google Shape;5212;p3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3" name="Google Shape;5213;p3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4" name="Google Shape;5214;p3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5" name="Google Shape;5215;p3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6" name="Google Shape;5216;p3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17" name="Google Shape;5217;p3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18" name="Google Shape;5218;p3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19" name="Google Shape;5219;p3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$51,242</a:t>
            </a:r>
            <a:endParaRPr/>
          </a:p>
        </p:txBody>
      </p:sp>
      <p:sp>
        <p:nvSpPr>
          <p:cNvPr id="5220" name="Google Shape;5220;p3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$46,261</a:t>
            </a:r>
            <a:endParaRPr/>
          </a:p>
        </p:txBody>
      </p:sp>
      <p:sp>
        <p:nvSpPr>
          <p:cNvPr id="5221" name="Google Shape;5221;p3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2" name="Google Shape;5222;p3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$4,980</a:t>
            </a:r>
            <a:endParaRPr/>
          </a:p>
        </p:txBody>
      </p:sp>
      <p:sp>
        <p:nvSpPr>
          <p:cNvPr id="5223" name="Google Shape;5223;p3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4" name="Google Shape;5224;p3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25" name="Google Shape;5225;p3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26" name="Google Shape;5226;p3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$14,453</a:t>
            </a:r>
            <a:endParaRPr/>
          </a:p>
        </p:txBody>
      </p:sp>
      <p:sp>
        <p:nvSpPr>
          <p:cNvPr id="5227" name="Google Shape;5227;p3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28" name="Google Shape;5228;p3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$14,646</a:t>
            </a:r>
            <a:endParaRPr/>
          </a:p>
        </p:txBody>
      </p:sp>
      <p:sp>
        <p:nvSpPr>
          <p:cNvPr id="5229" name="Google Shape;5229;p3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$-193</a:t>
            </a:r>
            <a:endParaRPr/>
          </a:p>
        </p:txBody>
      </p:sp>
      <p:sp>
        <p:nvSpPr>
          <p:cNvPr id="5230" name="Google Shape;5230;p3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$-25,531</a:t>
            </a:r>
            <a:endParaRPr/>
          </a:p>
        </p:txBody>
      </p:sp>
      <p:sp>
        <p:nvSpPr>
          <p:cNvPr id="5231" name="Google Shape;5231;p3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2" name="Google Shape;5232;p3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33" name="Google Shape;5233;p3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$-1,356</a:t>
            </a:r>
            <a:endParaRPr/>
          </a:p>
        </p:txBody>
      </p:sp>
      <p:sp>
        <p:nvSpPr>
          <p:cNvPr id="5234" name="Google Shape;5234;p3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5" name="Google Shape;5235;p3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6" name="Google Shape;5236;p3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$-1,356</a:t>
            </a:r>
            <a:endParaRPr/>
          </a:p>
        </p:txBody>
      </p:sp>
      <p:sp>
        <p:nvSpPr>
          <p:cNvPr id="5237" name="Google Shape;5237;p3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238" name="Google Shape;5238;p3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39" name="Google Shape;5239;p3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40" name="Google Shape;5240;p3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$67,147</a:t>
            </a:r>
            <a:endParaRPr/>
          </a:p>
        </p:txBody>
      </p:sp>
      <p:sp>
        <p:nvSpPr>
          <p:cNvPr id="5241" name="Google Shape;5241;p3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$48,805</a:t>
            </a:r>
            <a:endParaRPr/>
          </a:p>
        </p:txBody>
      </p:sp>
      <p:sp>
        <p:nvSpPr>
          <p:cNvPr id="5242" name="Google Shape;5242;p3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$14,646</a:t>
            </a:r>
            <a:endParaRPr/>
          </a:p>
        </p:txBody>
      </p:sp>
      <p:sp>
        <p:nvSpPr>
          <p:cNvPr id="5243" name="Google Shape;5243;p3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$3,697</a:t>
            </a:r>
            <a:endParaRPr/>
          </a:p>
        </p:txBody>
      </p:sp>
      <p:sp>
        <p:nvSpPr>
          <p:cNvPr id="5244" name="Google Shape;5244;p3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$-25,531</a:t>
            </a:r>
            <a:endParaRPr/>
          </a:p>
        </p:txBody>
      </p:sp>
      <p:sp>
        <p:nvSpPr>
          <p:cNvPr id="5245" name="Google Shape;5245;p3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46" name="Google Shape;5246;p3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247" name="Google Shape;5247;p3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248" name="Google Shape;5248;p3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249" name="Google Shape;5249;p3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250" name="Google Shape;5250;p3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251" name="Google Shape;5251;p3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252" name="Google Shape;5252;p3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253" name="Google Shape;5253;p3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54" name="Google Shape;5254;p3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255" name="Google Shape;5255;p3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256" name="Google Shape;5256;p3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57" name="Google Shape;5257;p3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258" name="Google Shape;5258;p3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59" name="Google Shape;5259;p3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5260" name="Google Shape;5260;p3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1" name="Google Shape;5261;p3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262" name="Google Shape;5262;p3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63" name="Google Shape;5263;p3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4" name="Google Shape;5264;p3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265" name="Google Shape;5265;p3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66" name="Google Shape;5266;p3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267" name="Google Shape;5267;p3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8" name="Google Shape;5268;p3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269" name="Google Shape;5269;p3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270" name="Google Shape;5270;p3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71" name="Google Shape;5271;p3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272" name="Google Shape;5272;p3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273" name="Google Shape;5273;p3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5274" name="Google Shape;5274;p3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75" name="Google Shape;5275;p3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276" name="Google Shape;5276;p3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277" name="Google Shape;5277;p3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78" name="Google Shape;5278;p3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279" name="Google Shape;5279;p3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80" name="Google Shape;5280;p3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5281" name="Google Shape;5281;p3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2" name="Google Shape;5282;p3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283" name="Google Shape;5283;p3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284" name="Google Shape;5284;p3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85" name="Google Shape;5285;p3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286" name="Google Shape;5286;p3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287" name="Google Shape;5287;p3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288" name="Google Shape;5288;p3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9" name="Google Shape;5289;p3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290" name="Google Shape;5290;p3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291" name="Google Shape;5291;p3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292" name="Google Shape;5292;p3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293" name="Google Shape;5293;p3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294" name="Google Shape;5294;p3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19.4%</a:t>
            </a:r>
            <a:endParaRPr/>
          </a:p>
        </p:txBody>
      </p:sp>
      <p:sp>
        <p:nvSpPr>
          <p:cNvPr id="5295" name="Google Shape;5295;p3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96" name="Google Shape;5296;p3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297" name="Google Shape;5297;p3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298" name="Google Shape;5298;p3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299" name="Google Shape;5299;p3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300" name="Google Shape;5300;p3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301" name="Google Shape;5301;p3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302" name="Google Shape;5302;p3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303" name="Google Shape;5303;p3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304" name="Google Shape;5304;p3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305" name="Google Shape;5305;p3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306" name="Google Shape;5306;p3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307" name="Google Shape;5307;p3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308" name="Google Shape;5308;p3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309" name="Google Shape;5309;p3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310" name="Google Shape;5310;p3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11" name="Google Shape;5311;p3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312" name="Google Shape;5312;p3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13" name="Google Shape;5313;p3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314" name="Google Shape;5314;p3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315" name="Google Shape;5315;p3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316" name="Google Shape;5316;p3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317" name="Google Shape;5317;p3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18" name="Google Shape;5318;p3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319" name="Google Shape;5319;p3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320" name="Google Shape;5320;p3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321" name="Google Shape;5321;p3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5322" name="Google Shape;5322;p3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36</a:t>
            </a:r>
            <a:endParaRPr/>
          </a:p>
        </p:txBody>
      </p:sp>
      <p:sp>
        <p:nvSpPr>
          <p:cNvPr id="5323" name="Google Shape;5323;p3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324" name="Google Shape;5324;p3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5" name="Google Shape;5325;p3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5326" name="Google Shape;5326;p3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7" name="Google Shape;5327;p3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8" name="Google Shape;5328;p3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29" name="Google Shape;5329;p3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$51K</a:t>
            </a:r>
            <a:endParaRPr/>
          </a:p>
        </p:txBody>
      </p:sp>
      <p:sp>
        <p:nvSpPr>
          <p:cNvPr id="5330" name="Google Shape;5330;p3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331" name="Google Shape;5331;p3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5332" name="Google Shape;5332;p3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33" name="Google Shape;5333;p3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$-1,356</a:t>
            </a:r>
            <a:endParaRPr/>
          </a:p>
        </p:txBody>
      </p:sp>
      <p:sp>
        <p:nvSpPr>
          <p:cNvPr id="5334" name="Google Shape;5334;p3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5335" name="Google Shape;5335;p3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$67K</a:t>
            </a:r>
            <a:endParaRPr/>
          </a:p>
        </p:txBody>
      </p:sp>
      <p:sp>
        <p:nvSpPr>
          <p:cNvPr id="5336" name="Google Shape;5336;p3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7" name="Google Shape;5337;p3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338" name="Google Shape;5338;p3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39" name="Google Shape;5339;p3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$67,147 YTD gross written premium</a:t>
            </a:r>
            <a:endParaRPr/>
          </a:p>
        </p:txBody>
      </p:sp>
      <p:sp>
        <p:nvSpPr>
          <p:cNvPr id="5340" name="Google Shape;5340;p3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341" name="Google Shape;5341;p3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$48,805 in new business production</a:t>
            </a:r>
            <a:endParaRPr/>
          </a:p>
        </p:txBody>
      </p:sp>
      <p:sp>
        <p:nvSpPr>
          <p:cNvPr id="5342" name="Google Shape;5342;p3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3" name="Google Shape;5343;p3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344" name="Google Shape;5344;p3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45" name="Google Shape;5345;p3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52% of new business ($25,531)</a:t>
            </a:r>
            <a:endParaRPr/>
          </a:p>
        </p:txBody>
      </p:sp>
      <p:sp>
        <p:nvSpPr>
          <p:cNvPr id="5346" name="Google Shape;5346;p3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347" name="Google Shape;5347;p3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109% month-over-month</a:t>
            </a:r>
            <a:endParaRPr/>
          </a:p>
        </p:txBody>
      </p:sp>
      <p:sp>
        <p:nvSpPr>
          <p:cNvPr id="5348" name="Google Shape;5348;p3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9" name="Google Shape;5349;p3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350" name="Google Shape;5350;p3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351" name="Google Shape;5351;p3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$48,805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352" name="Google Shape;5352;p3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353" name="Google Shape;5353;p3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$25,531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57" name="Shape 5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8" name="Google Shape;5358;p3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59" name="Google Shape;5359;p3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Lynne Ernest Insurance Llc</a:t>
            </a:r>
            <a:endParaRPr/>
          </a:p>
        </p:txBody>
      </p:sp>
      <p:sp>
        <p:nvSpPr>
          <p:cNvPr id="5360" name="Google Shape;5360;p3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AL  |  City: Hoover</a:t>
            </a:r>
            <a:endParaRPr/>
          </a:p>
        </p:txBody>
      </p:sp>
      <p:sp>
        <p:nvSpPr>
          <p:cNvPr id="5361" name="Google Shape;5361;p3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$58,577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362" name="Google Shape;5362;p3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$34,869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63" name="Google Shape;5363;p3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$19,127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64" name="Google Shape;5364;p3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65" name="Google Shape;5365;p3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$-23,057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66" name="Google Shape;5366;p3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$225,263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367" name="Google Shape;5367;p3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$214,160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368" name="Google Shape;5368;p3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369" name="Google Shape;5369;p3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370" name="Google Shape;5370;p3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371" name="Google Shape;5371;p3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372" name="Google Shape;5372;p3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373" name="Google Shape;5373;p3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$137,951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374" name="Google Shape;5374;p3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5" name="Google Shape;5375;p3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376" name="Google Shape;5376;p3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377" name="Google Shape;5377;p3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378" name="Google Shape;5378;p3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379" name="Google Shape;5379;p3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380" name="Google Shape;5380;p3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381" name="Google Shape;5381;p3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382" name="Google Shape;5382;p3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3" name="Google Shape;5383;p3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384" name="Google Shape;5384;p3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$4,331</a:t>
            </a:r>
            <a:endParaRPr/>
          </a:p>
        </p:txBody>
      </p:sp>
      <p:sp>
        <p:nvSpPr>
          <p:cNvPr id="5385" name="Google Shape;5385;p3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6" name="Google Shape;5386;p3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87" name="Google Shape;5387;p3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$4,331</a:t>
            </a:r>
            <a:endParaRPr/>
          </a:p>
        </p:txBody>
      </p:sp>
      <p:sp>
        <p:nvSpPr>
          <p:cNvPr id="5388" name="Google Shape;5388;p3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$-4,331</a:t>
            </a:r>
            <a:endParaRPr/>
          </a:p>
        </p:txBody>
      </p:sp>
      <p:sp>
        <p:nvSpPr>
          <p:cNvPr id="5389" name="Google Shape;5389;p3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0" name="Google Shape;5390;p3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391" name="Google Shape;5391;p3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2" name="Google Shape;5392;p3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3" name="Google Shape;5393;p3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4" name="Google Shape;5394;p3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5" name="Google Shape;5395;p3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396" name="Google Shape;5396;p3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97" name="Google Shape;5397;p3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398" name="Google Shape;5398;p3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$15,650</a:t>
            </a:r>
            <a:endParaRPr/>
          </a:p>
        </p:txBody>
      </p:sp>
      <p:sp>
        <p:nvSpPr>
          <p:cNvPr id="5399" name="Google Shape;5399;p3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$16,143</a:t>
            </a:r>
            <a:endParaRPr/>
          </a:p>
        </p:txBody>
      </p:sp>
      <p:sp>
        <p:nvSpPr>
          <p:cNvPr id="5400" name="Google Shape;5400;p3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1" name="Google Shape;5401;p3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$-494</a:t>
            </a:r>
            <a:endParaRPr/>
          </a:p>
        </p:txBody>
      </p:sp>
      <p:sp>
        <p:nvSpPr>
          <p:cNvPr id="5402" name="Google Shape;5402;p3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03" name="Google Shape;5403;p3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04" name="Google Shape;5404;p3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05" name="Google Shape;5405;p3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$38,596</a:t>
            </a:r>
            <a:endParaRPr/>
          </a:p>
        </p:txBody>
      </p:sp>
      <p:sp>
        <p:nvSpPr>
          <p:cNvPr id="5406" name="Google Shape;5406;p3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$18,726</a:t>
            </a:r>
            <a:endParaRPr/>
          </a:p>
        </p:txBody>
      </p:sp>
      <p:sp>
        <p:nvSpPr>
          <p:cNvPr id="5407" name="Google Shape;5407;p3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$19,127</a:t>
            </a:r>
            <a:endParaRPr/>
          </a:p>
        </p:txBody>
      </p:sp>
      <p:sp>
        <p:nvSpPr>
          <p:cNvPr id="5408" name="Google Shape;5408;p3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$743</a:t>
            </a:r>
            <a:endParaRPr/>
          </a:p>
        </p:txBody>
      </p:sp>
      <p:sp>
        <p:nvSpPr>
          <p:cNvPr id="5409" name="Google Shape;5409;p3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$-18,726</a:t>
            </a:r>
            <a:endParaRPr/>
          </a:p>
        </p:txBody>
      </p:sp>
      <p:sp>
        <p:nvSpPr>
          <p:cNvPr id="5410" name="Google Shape;5410;p3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1" name="Google Shape;5411;p3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12" name="Google Shape;5412;p3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3" name="Google Shape;5413;p3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4" name="Google Shape;5414;p3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5" name="Google Shape;5415;p3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6" name="Google Shape;5416;p3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417" name="Google Shape;5417;p3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8" name="Google Shape;5418;p3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19" name="Google Shape;5419;p3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$58,577</a:t>
            </a:r>
            <a:endParaRPr/>
          </a:p>
        </p:txBody>
      </p:sp>
      <p:sp>
        <p:nvSpPr>
          <p:cNvPr id="5420" name="Google Shape;5420;p3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$34,869</a:t>
            </a:r>
            <a:endParaRPr/>
          </a:p>
        </p:txBody>
      </p:sp>
      <p:sp>
        <p:nvSpPr>
          <p:cNvPr id="5421" name="Google Shape;5421;p3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$19,127</a:t>
            </a:r>
            <a:endParaRPr/>
          </a:p>
        </p:txBody>
      </p:sp>
      <p:sp>
        <p:nvSpPr>
          <p:cNvPr id="5422" name="Google Shape;5422;p3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$4,581</a:t>
            </a:r>
            <a:endParaRPr/>
          </a:p>
        </p:txBody>
      </p:sp>
      <p:sp>
        <p:nvSpPr>
          <p:cNvPr id="5423" name="Google Shape;5423;p3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$-23,057</a:t>
            </a:r>
            <a:endParaRPr/>
          </a:p>
        </p:txBody>
      </p:sp>
      <p:sp>
        <p:nvSpPr>
          <p:cNvPr id="5424" name="Google Shape;5424;p3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5" name="Google Shape;5425;p3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426" name="Google Shape;5426;p3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427" name="Google Shape;5427;p3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428" name="Google Shape;5428;p3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429" name="Google Shape;5429;p3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430" name="Google Shape;5430;p3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431" name="Google Shape;5431;p3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432" name="Google Shape;5432;p3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3" name="Google Shape;5433;p3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434" name="Google Shape;5434;p3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35" name="Google Shape;5435;p3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36" name="Google Shape;5436;p3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37" name="Google Shape;5437;p3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38" name="Google Shape;5438;p3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5439" name="Google Shape;5439;p3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0" name="Google Shape;5440;p3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441" name="Google Shape;5441;p3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442" name="Google Shape;5442;p3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43" name="Google Shape;5443;p3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444" name="Google Shape;5444;p3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45" name="Google Shape;5445;p3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5446" name="Google Shape;5446;p3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47" name="Google Shape;5447;p3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448" name="Google Shape;5448;p3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449" name="Google Shape;5449;p3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0" name="Google Shape;5450;p3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451" name="Google Shape;5451;p3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452" name="Google Shape;5452;p3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5453" name="Google Shape;5453;p3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4" name="Google Shape;5454;p3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455" name="Google Shape;5455;p3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456" name="Google Shape;5456;p3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57" name="Google Shape;5457;p3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458" name="Google Shape;5458;p3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59" name="Google Shape;5459;p3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5460" name="Google Shape;5460;p3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1" name="Google Shape;5461;p3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462" name="Google Shape;5462;p3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463" name="Google Shape;5463;p3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4" name="Google Shape;5464;p3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465" name="Google Shape;5465;p3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66" name="Google Shape;5466;p3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467" name="Google Shape;5467;p3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8" name="Google Shape;5468;p3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469" name="Google Shape;5469;p3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470" name="Google Shape;5470;p3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471" name="Google Shape;5471;p3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472" name="Google Shape;5472;p3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73" name="Google Shape;5473;p3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21.7%</a:t>
            </a:r>
            <a:endParaRPr/>
          </a:p>
        </p:txBody>
      </p:sp>
      <p:sp>
        <p:nvSpPr>
          <p:cNvPr id="5474" name="Google Shape;5474;p3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5" name="Google Shape;5475;p3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476" name="Google Shape;5476;p3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477" name="Google Shape;5477;p3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478" name="Google Shape;5478;p3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479" name="Google Shape;5479;p3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480" name="Google Shape;5480;p3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481" name="Google Shape;5481;p3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482" name="Google Shape;5482;p3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483" name="Google Shape;5483;p3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484" name="Google Shape;5484;p3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485" name="Google Shape;5485;p3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486" name="Google Shape;5486;p3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487" name="Google Shape;5487;p3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488" name="Google Shape;5488;p3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489" name="Google Shape;5489;p3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490" name="Google Shape;5490;p3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91" name="Google Shape;5491;p3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92" name="Google Shape;5492;p3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493" name="Google Shape;5493;p3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494" name="Google Shape;5494;p3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495" name="Google Shape;5495;p3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496" name="Google Shape;5496;p3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497" name="Google Shape;5497;p3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5498" name="Google Shape;5498;p3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499" name="Google Shape;5499;p3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500" name="Google Shape;5500;p3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23</a:t>
            </a:r>
            <a:endParaRPr/>
          </a:p>
        </p:txBody>
      </p:sp>
      <p:sp>
        <p:nvSpPr>
          <p:cNvPr id="5501" name="Google Shape;5501;p3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5502" name="Google Shape;5502;p3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503" name="Google Shape;5503;p3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4" name="Google Shape;5504;p3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505" name="Google Shape;5505;p3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6" name="Google Shape;5506;p3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07" name="Google Shape;5507;p3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5508" name="Google Shape;5508;p3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5509" name="Google Shape;5509;p3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$42K</a:t>
            </a:r>
            <a:endParaRPr/>
          </a:p>
        </p:txBody>
      </p:sp>
      <p:sp>
        <p:nvSpPr>
          <p:cNvPr id="5510" name="Google Shape;5510;p3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$39K</a:t>
            </a:r>
            <a:endParaRPr/>
          </a:p>
        </p:txBody>
      </p:sp>
      <p:sp>
        <p:nvSpPr>
          <p:cNvPr id="5511" name="Google Shape;5511;p3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5512" name="Google Shape;5512;p3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13" name="Google Shape;5513;p3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$70K</a:t>
            </a:r>
            <a:endParaRPr/>
          </a:p>
        </p:txBody>
      </p:sp>
      <p:sp>
        <p:nvSpPr>
          <p:cNvPr id="5514" name="Google Shape;5514;p3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5515" name="Google Shape;5515;p3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6" name="Google Shape;5516;p3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517" name="Google Shape;5517;p3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18" name="Google Shape;5518;p3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$58,577 YTD gross written premium</a:t>
            </a:r>
            <a:endParaRPr/>
          </a:p>
        </p:txBody>
      </p:sp>
      <p:sp>
        <p:nvSpPr>
          <p:cNvPr id="5519" name="Google Shape;5519;p3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520" name="Google Shape;5520;p3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$34,869 in new business production</a:t>
            </a:r>
            <a:endParaRPr/>
          </a:p>
        </p:txBody>
      </p:sp>
      <p:sp>
        <p:nvSpPr>
          <p:cNvPr id="5521" name="Google Shape;5521;p3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2" name="Google Shape;5522;p3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523" name="Google Shape;5523;p3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524" name="Google Shape;5524;p3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66% of new business ($23,057)</a:t>
            </a:r>
            <a:endParaRPr/>
          </a:p>
        </p:txBody>
      </p:sp>
      <p:sp>
        <p:nvSpPr>
          <p:cNvPr id="5525" name="Google Shape;5525;p3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6" name="Google Shape;5526;p3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527" name="Google Shape;5527;p3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528" name="Google Shape;5528;p3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$34,869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5529" name="Google Shape;5529;p36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530" name="Google Shape;5530;p36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$23,057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34" name="Shape 5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5" name="Google Shape;5535;p3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6" name="Google Shape;5536;p3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Five Star Insurance Services Inc</a:t>
            </a:r>
            <a:endParaRPr/>
          </a:p>
        </p:txBody>
      </p:sp>
      <p:sp>
        <p:nvSpPr>
          <p:cNvPr id="5537" name="Google Shape;5537;p3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Palm Coast</a:t>
            </a:r>
            <a:endParaRPr/>
          </a:p>
        </p:txBody>
      </p:sp>
      <p:sp>
        <p:nvSpPr>
          <p:cNvPr id="5538" name="Google Shape;5538;p3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$49,605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539" name="Google Shape;5539;p3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40" name="Google Shape;5540;p3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$57,459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41" name="Google Shape;5541;p3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42" name="Google Shape;5542;p3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$-52,885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43" name="Google Shape;5543;p3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$535,744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544" name="Google Shape;5544;p3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$304,935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545" name="Google Shape;5545;p3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546" name="Google Shape;5546;p3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547" name="Google Shape;5547;p3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548" name="Google Shape;5548;p3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549" name="Google Shape;5549;p3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$61,002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550" name="Google Shape;5550;p3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$136,890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551" name="Google Shape;5551;p3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52" name="Google Shape;5552;p3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553" name="Google Shape;5553;p3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554" name="Google Shape;5554;p3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555" name="Google Shape;5555;p3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556" name="Google Shape;5556;p3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557" name="Google Shape;5557;p3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558" name="Google Shape;5558;p3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559" name="Google Shape;5559;p3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0" name="Google Shape;5560;p3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561" name="Google Shape;5561;p3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$49,402</a:t>
            </a:r>
            <a:endParaRPr/>
          </a:p>
        </p:txBody>
      </p:sp>
      <p:sp>
        <p:nvSpPr>
          <p:cNvPr id="5562" name="Google Shape;5562;p3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3" name="Google Shape;5563;p3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$57,459</a:t>
            </a:r>
            <a:endParaRPr/>
          </a:p>
        </p:txBody>
      </p:sp>
      <p:sp>
        <p:nvSpPr>
          <p:cNvPr id="5564" name="Google Shape;5564;p3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$-8,057</a:t>
            </a:r>
            <a:endParaRPr/>
          </a:p>
        </p:txBody>
      </p:sp>
      <p:sp>
        <p:nvSpPr>
          <p:cNvPr id="5565" name="Google Shape;5565;p3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66" name="Google Shape;5566;p3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67" name="Google Shape;5567;p3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568" name="Google Shape;5568;p3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$10,304</a:t>
            </a:r>
            <a:endParaRPr/>
          </a:p>
        </p:txBody>
      </p:sp>
      <p:sp>
        <p:nvSpPr>
          <p:cNvPr id="5569" name="Google Shape;5569;p3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0" name="Google Shape;5570;p3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1" name="Google Shape;5571;p3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$10,304</a:t>
            </a:r>
            <a:endParaRPr/>
          </a:p>
        </p:txBody>
      </p:sp>
      <p:sp>
        <p:nvSpPr>
          <p:cNvPr id="5572" name="Google Shape;5572;p3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$-16,206</a:t>
            </a:r>
            <a:endParaRPr/>
          </a:p>
        </p:txBody>
      </p:sp>
      <p:sp>
        <p:nvSpPr>
          <p:cNvPr id="5573" name="Google Shape;5573;p3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74" name="Google Shape;5574;p3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575" name="Google Shape;5575;p3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$-428</a:t>
            </a:r>
            <a:endParaRPr/>
          </a:p>
        </p:txBody>
      </p:sp>
      <p:sp>
        <p:nvSpPr>
          <p:cNvPr id="5576" name="Google Shape;5576;p3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7" name="Google Shape;5577;p3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78" name="Google Shape;5578;p3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$-428</a:t>
            </a:r>
            <a:endParaRPr/>
          </a:p>
        </p:txBody>
      </p:sp>
      <p:sp>
        <p:nvSpPr>
          <p:cNvPr id="5579" name="Google Shape;5579;p3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0" name="Google Shape;5580;p3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1" name="Google Shape;5581;p3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582" name="Google Shape;5582;p3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</a:t>
            </a:r>
            <a:endParaRPr/>
          </a:p>
        </p:txBody>
      </p:sp>
      <p:sp>
        <p:nvSpPr>
          <p:cNvPr id="5583" name="Google Shape;5583;p3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4" name="Google Shape;5584;p3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5" name="Google Shape;5585;p3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</a:t>
            </a:r>
            <a:endParaRPr/>
          </a:p>
        </p:txBody>
      </p:sp>
      <p:sp>
        <p:nvSpPr>
          <p:cNvPr id="5586" name="Google Shape;5586;p3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87" name="Google Shape;5587;p3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88" name="Google Shape;5588;p3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589" name="Google Shape;5589;p3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$-9,784</a:t>
            </a:r>
            <a:endParaRPr/>
          </a:p>
        </p:txBody>
      </p:sp>
      <p:sp>
        <p:nvSpPr>
          <p:cNvPr id="5590" name="Google Shape;5590;p3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1" name="Google Shape;5591;p3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2" name="Google Shape;5592;p3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$-9,784</a:t>
            </a:r>
            <a:endParaRPr/>
          </a:p>
        </p:txBody>
      </p:sp>
      <p:sp>
        <p:nvSpPr>
          <p:cNvPr id="5593" name="Google Shape;5593;p3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$-36,679</a:t>
            </a:r>
            <a:endParaRPr/>
          </a:p>
        </p:txBody>
      </p:sp>
      <p:sp>
        <p:nvSpPr>
          <p:cNvPr id="5594" name="Google Shape;5594;p3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95" name="Google Shape;5595;p3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596" name="Google Shape;5596;p3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$49,605</a:t>
            </a:r>
            <a:endParaRPr/>
          </a:p>
        </p:txBody>
      </p:sp>
      <p:sp>
        <p:nvSpPr>
          <p:cNvPr id="5597" name="Google Shape;5597;p3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598" name="Google Shape;5598;p3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$57,459</a:t>
            </a:r>
            <a:endParaRPr/>
          </a:p>
        </p:txBody>
      </p:sp>
      <p:sp>
        <p:nvSpPr>
          <p:cNvPr id="5599" name="Google Shape;5599;p3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$-7,854</a:t>
            </a:r>
            <a:endParaRPr/>
          </a:p>
        </p:txBody>
      </p:sp>
      <p:sp>
        <p:nvSpPr>
          <p:cNvPr id="5600" name="Google Shape;5600;p3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$-52,885</a:t>
            </a:r>
            <a:endParaRPr/>
          </a:p>
        </p:txBody>
      </p:sp>
      <p:sp>
        <p:nvSpPr>
          <p:cNvPr id="5601" name="Google Shape;5601;p3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02" name="Google Shape;5602;p3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603" name="Google Shape;5603;p3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604" name="Google Shape;5604;p3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605" name="Google Shape;5605;p3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606" name="Google Shape;5606;p3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607" name="Google Shape;5607;p3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608" name="Google Shape;5608;p3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609" name="Google Shape;5609;p3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0" name="Google Shape;5610;p3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611" name="Google Shape;5611;p3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612" name="Google Shape;5612;p3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5613" name="Google Shape;5613;p3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5614" name="Google Shape;5614;p3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615" name="Google Shape;5615;p3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18.8%</a:t>
            </a:r>
            <a:endParaRPr/>
          </a:p>
        </p:txBody>
      </p:sp>
      <p:sp>
        <p:nvSpPr>
          <p:cNvPr id="5616" name="Google Shape;5616;p3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17" name="Google Shape;5617;p3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618" name="Google Shape;5618;p3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19" name="Google Shape;5619;p3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20" name="Google Shape;5620;p3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5621" name="Google Shape;5621;p3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22" name="Google Shape;5622;p3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5623" name="Google Shape;5623;p3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4" name="Google Shape;5624;p3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625" name="Google Shape;5625;p3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626" name="Google Shape;5626;p3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27" name="Google Shape;5627;p3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28" name="Google Shape;5628;p3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29" name="Google Shape;5629;p3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17.6%</a:t>
            </a:r>
            <a:endParaRPr/>
          </a:p>
        </p:txBody>
      </p:sp>
      <p:sp>
        <p:nvSpPr>
          <p:cNvPr id="5630" name="Google Shape;5630;p3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1" name="Google Shape;5631;p3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632" name="Google Shape;5632;p3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633" name="Google Shape;5633;p3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34" name="Google Shape;5634;p3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35" name="Google Shape;5635;p3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636" name="Google Shape;5636;p3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5637" name="Google Shape;5637;p3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38" name="Google Shape;5638;p3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639" name="Google Shape;5639;p3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40" name="Google Shape;5640;p3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641" name="Google Shape;5641;p3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5642" name="Google Shape;5642;p3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643" name="Google Shape;5643;p3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5644" name="Google Shape;5644;p3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5" name="Google Shape;5645;p3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646" name="Google Shape;5646;p3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5647" name="Google Shape;5647;p3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48" name="Google Shape;5648;p3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649" name="Google Shape;5649;p3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5650" name="Google Shape;5650;p3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6.2%</a:t>
            </a:r>
            <a:endParaRPr/>
          </a:p>
        </p:txBody>
      </p:sp>
      <p:sp>
        <p:nvSpPr>
          <p:cNvPr id="5651" name="Google Shape;5651;p3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2" name="Google Shape;5652;p3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653" name="Google Shape;5653;p3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654" name="Google Shape;5654;p3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655" name="Google Shape;5655;p3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656" name="Google Shape;5656;p3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657" name="Google Shape;5657;p3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658" name="Google Shape;5658;p3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659" name="Google Shape;5659;p3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660" name="Google Shape;5660;p3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661" name="Google Shape;5661;p3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662" name="Google Shape;5662;p3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663" name="Google Shape;5663;p3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664" name="Google Shape;5664;p3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665" name="Google Shape;5665;p3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666" name="Google Shape;5666;p3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667" name="Google Shape;5667;p3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668" name="Google Shape;5668;p3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32</a:t>
            </a:r>
            <a:endParaRPr/>
          </a:p>
        </p:txBody>
      </p:sp>
      <p:sp>
        <p:nvSpPr>
          <p:cNvPr id="5669" name="Google Shape;5669;p3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70" name="Google Shape;5670;p3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5671" name="Google Shape;5671;p3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672" name="Google Shape;5672;p3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673" name="Google Shape;5673;p3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674" name="Google Shape;5674;p3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675" name="Google Shape;5675;p3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76" name="Google Shape;5676;p3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5677" name="Google Shape;5677;p3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</a:t>
            </a:r>
            <a:endParaRPr/>
          </a:p>
        </p:txBody>
      </p:sp>
      <p:sp>
        <p:nvSpPr>
          <p:cNvPr id="5678" name="Google Shape;5678;p3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94</a:t>
            </a:r>
            <a:endParaRPr/>
          </a:p>
        </p:txBody>
      </p:sp>
      <p:sp>
        <p:nvSpPr>
          <p:cNvPr id="5679" name="Google Shape;5679;p3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680" name="Google Shape;5680;p3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5681" name="Google Shape;5681;p3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682" name="Google Shape;5682;p3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683" name="Google Shape;5683;p3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5684" name="Google Shape;5684;p3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5685" name="Google Shape;5685;p3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$-428</a:t>
            </a:r>
            <a:endParaRPr/>
          </a:p>
        </p:txBody>
      </p:sp>
      <p:sp>
        <p:nvSpPr>
          <p:cNvPr id="5686" name="Google Shape;5686;p3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$63K</a:t>
            </a:r>
            <a:endParaRPr/>
          </a:p>
        </p:txBody>
      </p:sp>
      <p:sp>
        <p:nvSpPr>
          <p:cNvPr id="5687" name="Google Shape;5687;p3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$111</a:t>
            </a:r>
            <a:endParaRPr/>
          </a:p>
        </p:txBody>
      </p:sp>
      <p:sp>
        <p:nvSpPr>
          <p:cNvPr id="5688" name="Google Shape;5688;p3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5689" name="Google Shape;5689;p3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$-9,784</a:t>
            </a:r>
            <a:endParaRPr/>
          </a:p>
        </p:txBody>
      </p:sp>
      <p:sp>
        <p:nvSpPr>
          <p:cNvPr id="5690" name="Google Shape;5690;p3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$280K</a:t>
            </a:r>
            <a:endParaRPr/>
          </a:p>
        </p:txBody>
      </p:sp>
      <p:sp>
        <p:nvSpPr>
          <p:cNvPr id="5691" name="Google Shape;5691;p3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$50K</a:t>
            </a:r>
            <a:endParaRPr/>
          </a:p>
        </p:txBody>
      </p:sp>
      <p:sp>
        <p:nvSpPr>
          <p:cNvPr id="5692" name="Google Shape;5692;p3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3" name="Google Shape;5693;p3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694" name="Google Shape;5694;p3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95" name="Google Shape;5695;p3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$49,605 YTD gross written premium</a:t>
            </a:r>
            <a:endParaRPr/>
          </a:p>
        </p:txBody>
      </p:sp>
      <p:sp>
        <p:nvSpPr>
          <p:cNvPr id="5696" name="Google Shape;5696;p3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697" name="Google Shape;5697;p3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$57,459 in renewals - strong retention</a:t>
            </a:r>
            <a:endParaRPr/>
          </a:p>
        </p:txBody>
      </p:sp>
      <p:sp>
        <p:nvSpPr>
          <p:cNvPr id="5698" name="Google Shape;5698;p3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99" name="Google Shape;5699;p3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700" name="Google Shape;5700;p3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01" name="Google Shape;5701;p3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8916% month-over-month</a:t>
            </a:r>
            <a:endParaRPr/>
          </a:p>
        </p:txBody>
      </p:sp>
      <p:sp>
        <p:nvSpPr>
          <p:cNvPr id="5702" name="Google Shape;5702;p3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703" name="Google Shape;5703;p3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5704" name="Google Shape;5704;p3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5" name="Google Shape;5705;p3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706" name="Google Shape;5706;p3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707" name="Google Shape;5707;p3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Their $57,459 in renewals shows they trust our product. Ask: "What's holding back new submissions?" They may need updated appetite info or a refresher on our quoting process.</a:t>
            </a:r>
            <a:endParaRPr/>
          </a:p>
        </p:txBody>
      </p:sp>
      <p:sp>
        <p:nvSpPr>
          <p:cNvPr id="5708" name="Google Shape;5708;p37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709" name="Google Shape;5709;p37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713" name="Shape 5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4" name="Google Shape;5714;p3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15" name="Google Shape;5715;p3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COASTAL TRUCKING INSURANCE LLC</a:t>
            </a:r>
            <a:endParaRPr/>
          </a:p>
        </p:txBody>
      </p:sp>
      <p:sp>
        <p:nvSpPr>
          <p:cNvPr id="5716" name="Google Shape;5716;p3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Delray Beach</a:t>
            </a:r>
            <a:endParaRPr/>
          </a:p>
        </p:txBody>
      </p:sp>
      <p:sp>
        <p:nvSpPr>
          <p:cNvPr id="5717" name="Google Shape;5717;p3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$43,119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718" name="Google Shape;5718;p3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19" name="Google Shape;5719;p3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$15,462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20" name="Google Shape;5720;p3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21" name="Google Shape;5721;p3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$-43,323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22" name="Google Shape;5722;p3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$341,555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723" name="Google Shape;5723;p3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$229,094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724" name="Google Shape;5724;p3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725" name="Google Shape;5725;p3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726" name="Google Shape;5726;p3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27" name="Google Shape;5727;p3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28" name="Google Shape;5728;p3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729" name="Google Shape;5729;p3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$81,154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730" name="Google Shape;5730;p3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1" name="Google Shape;5731;p3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732" name="Google Shape;5732;p3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33" name="Google Shape;5733;p3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734" name="Google Shape;5734;p3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735" name="Google Shape;5735;p3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736" name="Google Shape;5736;p3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737" name="Google Shape;5737;p3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738" name="Google Shape;5738;p3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9" name="Google Shape;5739;p3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40" name="Google Shape;5740;p3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1" name="Google Shape;5741;p3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2" name="Google Shape;5742;p3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3" name="Google Shape;5743;p3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4" name="Google Shape;5744;p3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5" name="Google Shape;5745;p3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6" name="Google Shape;5746;p3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47" name="Google Shape;5747;p3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$280</a:t>
            </a:r>
            <a:endParaRPr/>
          </a:p>
        </p:txBody>
      </p:sp>
      <p:sp>
        <p:nvSpPr>
          <p:cNvPr id="5748" name="Google Shape;5748;p3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49" name="Google Shape;5749;p3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0" name="Google Shape;5750;p3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$280</a:t>
            </a:r>
            <a:endParaRPr/>
          </a:p>
        </p:txBody>
      </p:sp>
      <p:sp>
        <p:nvSpPr>
          <p:cNvPr id="5751" name="Google Shape;5751;p3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$-14,485</a:t>
            </a:r>
            <a:endParaRPr/>
          </a:p>
        </p:txBody>
      </p:sp>
      <p:sp>
        <p:nvSpPr>
          <p:cNvPr id="5752" name="Google Shape;5752;p3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3" name="Google Shape;5753;p3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754" name="Google Shape;5754;p3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5755" name="Google Shape;5755;p3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6" name="Google Shape;5756;p3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7" name="Google Shape;5757;p3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5758" name="Google Shape;5758;p3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59" name="Google Shape;5759;p3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0" name="Google Shape;5760;p3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761" name="Google Shape;5761;p3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$42,953</a:t>
            </a:r>
            <a:endParaRPr/>
          </a:p>
        </p:txBody>
      </p:sp>
      <p:sp>
        <p:nvSpPr>
          <p:cNvPr id="5762" name="Google Shape;5762;p3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$27,571</a:t>
            </a:r>
            <a:endParaRPr/>
          </a:p>
        </p:txBody>
      </p:sp>
      <p:sp>
        <p:nvSpPr>
          <p:cNvPr id="5763" name="Google Shape;5763;p3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$15,462</a:t>
            </a:r>
            <a:endParaRPr/>
          </a:p>
        </p:txBody>
      </p:sp>
      <p:sp>
        <p:nvSpPr>
          <p:cNvPr id="5764" name="Google Shape;5764;p3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$-80</a:t>
            </a:r>
            <a:endParaRPr/>
          </a:p>
        </p:txBody>
      </p:sp>
      <p:sp>
        <p:nvSpPr>
          <p:cNvPr id="5765" name="Google Shape;5765;p3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$-28,839</a:t>
            </a:r>
            <a:endParaRPr/>
          </a:p>
        </p:txBody>
      </p:sp>
      <p:sp>
        <p:nvSpPr>
          <p:cNvPr id="5766" name="Google Shape;5766;p3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7" name="Google Shape;5767;p3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768" name="Google Shape;5768;p3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69" name="Google Shape;5769;p3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70" name="Google Shape;5770;p3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71" name="Google Shape;5771;p3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72" name="Google Shape;5772;p3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773" name="Google Shape;5773;p3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74" name="Google Shape;5774;p3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775" name="Google Shape;5775;p3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$43,119</a:t>
            </a:r>
            <a:endParaRPr/>
          </a:p>
        </p:txBody>
      </p:sp>
      <p:sp>
        <p:nvSpPr>
          <p:cNvPr id="5776" name="Google Shape;5776;p3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$27,571</a:t>
            </a:r>
            <a:endParaRPr/>
          </a:p>
        </p:txBody>
      </p:sp>
      <p:sp>
        <p:nvSpPr>
          <p:cNvPr id="5777" name="Google Shape;5777;p3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$15,462</a:t>
            </a:r>
            <a:endParaRPr/>
          </a:p>
        </p:txBody>
      </p:sp>
      <p:sp>
        <p:nvSpPr>
          <p:cNvPr id="5778" name="Google Shape;5778;p3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</a:t>
            </a:r>
            <a:endParaRPr/>
          </a:p>
        </p:txBody>
      </p:sp>
      <p:sp>
        <p:nvSpPr>
          <p:cNvPr id="5779" name="Google Shape;5779;p3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$-43,323</a:t>
            </a:r>
            <a:endParaRPr/>
          </a:p>
        </p:txBody>
      </p:sp>
      <p:sp>
        <p:nvSpPr>
          <p:cNvPr id="5780" name="Google Shape;5780;p3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1" name="Google Shape;5781;p3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782" name="Google Shape;5782;p3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783" name="Google Shape;5783;p3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784" name="Google Shape;5784;p3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785" name="Google Shape;5785;p3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786" name="Google Shape;5786;p3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787" name="Google Shape;5787;p3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788" name="Google Shape;5788;p3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89" name="Google Shape;5789;p3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790" name="Google Shape;5790;p3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5791" name="Google Shape;5791;p3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792" name="Google Shape;5792;p3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5793" name="Google Shape;5793;p3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794" name="Google Shape;5794;p3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2.0%</a:t>
            </a:r>
            <a:endParaRPr/>
          </a:p>
        </p:txBody>
      </p:sp>
      <p:sp>
        <p:nvSpPr>
          <p:cNvPr id="5795" name="Google Shape;5795;p3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96" name="Google Shape;5796;p3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797" name="Google Shape;5797;p3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5798" name="Google Shape;5798;p3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5799" name="Google Shape;5799;p3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5800" name="Google Shape;5800;p3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801" name="Google Shape;5801;p3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5802" name="Google Shape;5802;p3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03" name="Google Shape;5803;p3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804" name="Google Shape;5804;p3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5805" name="Google Shape;5805;p3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06" name="Google Shape;5806;p3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72</a:t>
            </a:r>
            <a:endParaRPr/>
          </a:p>
        </p:txBody>
      </p:sp>
      <p:sp>
        <p:nvSpPr>
          <p:cNvPr id="5807" name="Google Shape;5807;p3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08" name="Google Shape;5808;p3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5.5%</a:t>
            </a:r>
            <a:endParaRPr/>
          </a:p>
        </p:txBody>
      </p:sp>
      <p:sp>
        <p:nvSpPr>
          <p:cNvPr id="5809" name="Google Shape;5809;p3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0" name="Google Shape;5810;p3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811" name="Google Shape;5811;p3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5812" name="Google Shape;5812;p3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13" name="Google Shape;5813;p3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5814" name="Google Shape;5814;p3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815" name="Google Shape;5815;p3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1.5%</a:t>
            </a:r>
            <a:endParaRPr/>
          </a:p>
        </p:txBody>
      </p:sp>
      <p:sp>
        <p:nvSpPr>
          <p:cNvPr id="5816" name="Google Shape;5816;p3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17" name="Google Shape;5817;p3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818" name="Google Shape;5818;p3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5819" name="Google Shape;5819;p3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20" name="Google Shape;5820;p3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5821" name="Google Shape;5821;p3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822" name="Google Shape;5822;p3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823" name="Google Shape;5823;p3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24" name="Google Shape;5824;p3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825" name="Google Shape;5825;p3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289</a:t>
            </a:r>
            <a:endParaRPr/>
          </a:p>
        </p:txBody>
      </p:sp>
      <p:sp>
        <p:nvSpPr>
          <p:cNvPr id="5826" name="Google Shape;5826;p3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5827" name="Google Shape;5827;p3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283</a:t>
            </a:r>
            <a:endParaRPr/>
          </a:p>
        </p:txBody>
      </p:sp>
      <p:sp>
        <p:nvSpPr>
          <p:cNvPr id="5828" name="Google Shape;5828;p3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5829" name="Google Shape;5829;p3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1.4%</a:t>
            </a:r>
            <a:endParaRPr/>
          </a:p>
        </p:txBody>
      </p:sp>
      <p:sp>
        <p:nvSpPr>
          <p:cNvPr id="5830" name="Google Shape;5830;p3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1" name="Google Shape;5831;p3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5832" name="Google Shape;5832;p3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5833" name="Google Shape;5833;p3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5834" name="Google Shape;5834;p3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5835" name="Google Shape;5835;p3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5836" name="Google Shape;5836;p3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5837" name="Google Shape;5837;p3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5838" name="Google Shape;5838;p3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5839" name="Google Shape;5839;p3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5840" name="Google Shape;5840;p3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5841" name="Google Shape;5841;p3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5842" name="Google Shape;5842;p3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5843" name="Google Shape;5843;p3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5844" name="Google Shape;5844;p3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5845" name="Google Shape;5845;p3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846" name="Google Shape;5846;p3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85</a:t>
            </a:r>
            <a:endParaRPr/>
          </a:p>
        </p:txBody>
      </p:sp>
      <p:sp>
        <p:nvSpPr>
          <p:cNvPr id="5847" name="Google Shape;5847;p3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5848" name="Google Shape;5848;p3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61</a:t>
            </a:r>
            <a:endParaRPr/>
          </a:p>
        </p:txBody>
      </p:sp>
      <p:sp>
        <p:nvSpPr>
          <p:cNvPr id="5849" name="Google Shape;5849;p3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5850" name="Google Shape;5850;p3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5851" name="Google Shape;5851;p3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73</a:t>
            </a:r>
            <a:endParaRPr/>
          </a:p>
        </p:txBody>
      </p:sp>
      <p:sp>
        <p:nvSpPr>
          <p:cNvPr id="5852" name="Google Shape;5852;p3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5853" name="Google Shape;5853;p3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68</a:t>
            </a:r>
            <a:endParaRPr/>
          </a:p>
        </p:txBody>
      </p:sp>
      <p:sp>
        <p:nvSpPr>
          <p:cNvPr id="5854" name="Google Shape;5854;p3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64</a:t>
            </a:r>
            <a:endParaRPr/>
          </a:p>
        </p:txBody>
      </p:sp>
      <p:sp>
        <p:nvSpPr>
          <p:cNvPr id="5855" name="Google Shape;5855;p3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48</a:t>
            </a:r>
            <a:endParaRPr/>
          </a:p>
        </p:txBody>
      </p:sp>
      <p:sp>
        <p:nvSpPr>
          <p:cNvPr id="5856" name="Google Shape;5856;p3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351</a:t>
            </a:r>
            <a:endParaRPr/>
          </a:p>
        </p:txBody>
      </p:sp>
      <p:sp>
        <p:nvSpPr>
          <p:cNvPr id="5857" name="Google Shape;5857;p3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298</a:t>
            </a:r>
            <a:endParaRPr/>
          </a:p>
        </p:txBody>
      </p:sp>
      <p:sp>
        <p:nvSpPr>
          <p:cNvPr id="5858" name="Google Shape;5858;p3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5859" name="Google Shape;5859;p3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5860" name="Google Shape;5860;p3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1" name="Google Shape;5861;p3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5862" name="Google Shape;5862;p3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$280</a:t>
            </a:r>
            <a:endParaRPr/>
          </a:p>
        </p:txBody>
      </p:sp>
      <p:sp>
        <p:nvSpPr>
          <p:cNvPr id="5863" name="Google Shape;5863;p3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$49K</a:t>
            </a:r>
            <a:endParaRPr/>
          </a:p>
        </p:txBody>
      </p:sp>
      <p:sp>
        <p:nvSpPr>
          <p:cNvPr id="5864" name="Google Shape;5864;p3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$-115</a:t>
            </a:r>
            <a:endParaRPr/>
          </a:p>
        </p:txBody>
      </p:sp>
      <p:sp>
        <p:nvSpPr>
          <p:cNvPr id="5865" name="Google Shape;5865;p3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$30K</a:t>
            </a:r>
            <a:endParaRPr/>
          </a:p>
        </p:txBody>
      </p:sp>
      <p:sp>
        <p:nvSpPr>
          <p:cNvPr id="5866" name="Google Shape;5866;p3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5867" name="Google Shape;5867;p3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$40K</a:t>
            </a:r>
            <a:endParaRPr/>
          </a:p>
        </p:txBody>
      </p:sp>
      <p:sp>
        <p:nvSpPr>
          <p:cNvPr id="5868" name="Google Shape;5868;p3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869" name="Google Shape;5869;p3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$156K</a:t>
            </a:r>
            <a:endParaRPr/>
          </a:p>
        </p:txBody>
      </p:sp>
      <p:sp>
        <p:nvSpPr>
          <p:cNvPr id="5870" name="Google Shape;5870;p3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5871" name="Google Shape;5871;p3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2" name="Google Shape;5872;p3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5873" name="Google Shape;5873;p3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874" name="Google Shape;5874;p3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$43,119 YTD gross written premium</a:t>
            </a:r>
            <a:endParaRPr/>
          </a:p>
        </p:txBody>
      </p:sp>
      <p:sp>
        <p:nvSpPr>
          <p:cNvPr id="5875" name="Google Shape;5875;p38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5876" name="Google Shape;5876;p38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$27,571 in new business production</a:t>
            </a:r>
            <a:endParaRPr/>
          </a:p>
        </p:txBody>
      </p:sp>
      <p:sp>
        <p:nvSpPr>
          <p:cNvPr id="5877" name="Google Shape;5877;p3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78" name="Google Shape;5878;p3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5879" name="Google Shape;5879;p3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80" name="Google Shape;5880;p3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1.4% hit ratio on 289 subs - needs coaching</a:t>
            </a:r>
            <a:endParaRPr/>
          </a:p>
        </p:txBody>
      </p:sp>
      <p:sp>
        <p:nvSpPr>
          <p:cNvPr id="5881" name="Google Shape;5881;p3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5882" name="Google Shape;5882;p3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157% of new business ($43,323)</a:t>
            </a:r>
            <a:endParaRPr/>
          </a:p>
        </p:txBody>
      </p:sp>
      <p:sp>
        <p:nvSpPr>
          <p:cNvPr id="5883" name="Google Shape;5883;p3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84" name="Google Shape;5884;p3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5885" name="Google Shape;5885;p3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5886" name="Google Shape;5886;p3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(289 subs, only 4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5887" name="Google Shape;5887;p38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5888" name="Google Shape;5888;p38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$27,571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92" name="Shape 58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3" name="Google Shape;5893;p3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94" name="Google Shape;5894;p3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Renegade Insurance (Formerly Covered By Sage)</a:t>
            </a:r>
            <a:endParaRPr/>
          </a:p>
        </p:txBody>
      </p:sp>
      <p:sp>
        <p:nvSpPr>
          <p:cNvPr id="5895" name="Google Shape;5895;p3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Atlanta</a:t>
            </a:r>
            <a:endParaRPr/>
          </a:p>
        </p:txBody>
      </p:sp>
      <p:sp>
        <p:nvSpPr>
          <p:cNvPr id="5896" name="Google Shape;5896;p3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$31,089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5897" name="Google Shape;5897;p3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898" name="Google Shape;5898;p3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899" name="Google Shape;5899;p3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00" name="Google Shape;5900;p3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$-5,574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01" name="Google Shape;5901;p3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$273,280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5902" name="Google Shape;5902;p3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$185,182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5903" name="Google Shape;5903;p3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5904" name="Google Shape;5904;p3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5905" name="Google Shape;5905;p3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06" name="Google Shape;5906;p3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07" name="Google Shape;5907;p3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5908" name="Google Shape;5908;p3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$32,129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5909" name="Google Shape;5909;p3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0" name="Google Shape;5910;p3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5911" name="Google Shape;5911;p3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12" name="Google Shape;5912;p3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5913" name="Google Shape;5913;p3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5914" name="Google Shape;5914;p3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5915" name="Google Shape;5915;p3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5916" name="Google Shape;5916;p3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5917" name="Google Shape;5917;p3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18" name="Google Shape;5918;p3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19" name="Google Shape;5919;p3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$9,522</a:t>
            </a:r>
            <a:endParaRPr/>
          </a:p>
        </p:txBody>
      </p:sp>
      <p:sp>
        <p:nvSpPr>
          <p:cNvPr id="5920" name="Google Shape;5920;p3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1" name="Google Shape;5921;p3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$9,522</a:t>
            </a:r>
            <a:endParaRPr/>
          </a:p>
        </p:txBody>
      </p:sp>
      <p:sp>
        <p:nvSpPr>
          <p:cNvPr id="5922" name="Google Shape;5922;p3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3" name="Google Shape;5923;p3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$-2,705</a:t>
            </a:r>
            <a:endParaRPr/>
          </a:p>
        </p:txBody>
      </p:sp>
      <p:sp>
        <p:nvSpPr>
          <p:cNvPr id="5924" name="Google Shape;5924;p3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25" name="Google Shape;5925;p3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26" name="Google Shape;5926;p3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7" name="Google Shape;5927;p3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8" name="Google Shape;5928;p3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29" name="Google Shape;5929;p3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0" name="Google Shape;5930;p3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1" name="Google Shape;5931;p3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2" name="Google Shape;5932;p3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33" name="Google Shape;5933;p3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$2,363</a:t>
            </a:r>
            <a:endParaRPr/>
          </a:p>
        </p:txBody>
      </p:sp>
      <p:sp>
        <p:nvSpPr>
          <p:cNvPr id="5934" name="Google Shape;5934;p3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5" name="Google Shape;5935;p3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$2,363</a:t>
            </a:r>
            <a:endParaRPr/>
          </a:p>
        </p:txBody>
      </p:sp>
      <p:sp>
        <p:nvSpPr>
          <p:cNvPr id="5936" name="Google Shape;5936;p3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37" name="Google Shape;5937;p3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$-823</a:t>
            </a:r>
            <a:endParaRPr/>
          </a:p>
        </p:txBody>
      </p:sp>
      <p:sp>
        <p:nvSpPr>
          <p:cNvPr id="5938" name="Google Shape;5938;p3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39" name="Google Shape;5939;p3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40" name="Google Shape;5940;p3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$14,274</a:t>
            </a:r>
            <a:endParaRPr/>
          </a:p>
        </p:txBody>
      </p:sp>
      <p:sp>
        <p:nvSpPr>
          <p:cNvPr id="5941" name="Google Shape;5941;p3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$11,650</a:t>
            </a:r>
            <a:endParaRPr/>
          </a:p>
        </p:txBody>
      </p:sp>
      <p:sp>
        <p:nvSpPr>
          <p:cNvPr id="5942" name="Google Shape;5942;p3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3" name="Google Shape;5943;p3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$2,624</a:t>
            </a:r>
            <a:endParaRPr/>
          </a:p>
        </p:txBody>
      </p:sp>
      <p:sp>
        <p:nvSpPr>
          <p:cNvPr id="5944" name="Google Shape;5944;p3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45" name="Google Shape;5945;p3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46" name="Google Shape;5946;p3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47" name="Google Shape;5947;p3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$4,931</a:t>
            </a:r>
            <a:endParaRPr/>
          </a:p>
        </p:txBody>
      </p:sp>
      <p:sp>
        <p:nvSpPr>
          <p:cNvPr id="5948" name="Google Shape;5948;p3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$4,901</a:t>
            </a:r>
            <a:endParaRPr/>
          </a:p>
        </p:txBody>
      </p:sp>
      <p:sp>
        <p:nvSpPr>
          <p:cNvPr id="5949" name="Google Shape;5949;p3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5950" name="Google Shape;5950;p3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</a:t>
            </a:r>
            <a:endParaRPr/>
          </a:p>
        </p:txBody>
      </p:sp>
      <p:sp>
        <p:nvSpPr>
          <p:cNvPr id="5951" name="Google Shape;5951;p3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$-2,046</a:t>
            </a:r>
            <a:endParaRPr/>
          </a:p>
        </p:txBody>
      </p:sp>
      <p:sp>
        <p:nvSpPr>
          <p:cNvPr id="5952" name="Google Shape;5952;p3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53" name="Google Shape;5953;p3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5954" name="Google Shape;5954;p3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$31,089</a:t>
            </a:r>
            <a:endParaRPr/>
          </a:p>
        </p:txBody>
      </p:sp>
      <p:sp>
        <p:nvSpPr>
          <p:cNvPr id="5955" name="Google Shape;5955;p3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$16,551</a:t>
            </a:r>
            <a:endParaRPr/>
          </a:p>
        </p:txBody>
      </p:sp>
      <p:sp>
        <p:nvSpPr>
          <p:cNvPr id="5956" name="Google Shape;5956;p3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$11,885</a:t>
            </a:r>
            <a:endParaRPr/>
          </a:p>
        </p:txBody>
      </p:sp>
      <p:sp>
        <p:nvSpPr>
          <p:cNvPr id="5957" name="Google Shape;5957;p3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$2,654</a:t>
            </a:r>
            <a:endParaRPr/>
          </a:p>
        </p:txBody>
      </p:sp>
      <p:sp>
        <p:nvSpPr>
          <p:cNvPr id="5958" name="Google Shape;5958;p3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$-5,574</a:t>
            </a:r>
            <a:endParaRPr/>
          </a:p>
        </p:txBody>
      </p:sp>
      <p:sp>
        <p:nvSpPr>
          <p:cNvPr id="5959" name="Google Shape;5959;p3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0" name="Google Shape;5960;p3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5961" name="Google Shape;5961;p3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5962" name="Google Shape;5962;p3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5963" name="Google Shape;5963;p3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5964" name="Google Shape;5964;p3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5965" name="Google Shape;5965;p3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5966" name="Google Shape;5966;p3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5967" name="Google Shape;5967;p3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8" name="Google Shape;5968;p3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5969" name="Google Shape;5969;p3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5970" name="Google Shape;5970;p3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71" name="Google Shape;5971;p3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5972" name="Google Shape;5972;p3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73" name="Google Shape;5973;p3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8.3%</a:t>
            </a:r>
            <a:endParaRPr/>
          </a:p>
        </p:txBody>
      </p:sp>
      <p:sp>
        <p:nvSpPr>
          <p:cNvPr id="5974" name="Google Shape;5974;p3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75" name="Google Shape;5975;p3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5976" name="Google Shape;5976;p3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5977" name="Google Shape;5977;p3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78" name="Google Shape;5978;p3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979" name="Google Shape;5979;p3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0" name="Google Shape;5980;p3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5981" name="Google Shape;5981;p3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2" name="Google Shape;5982;p3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5983" name="Google Shape;5983;p3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984" name="Google Shape;5984;p3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5985" name="Google Shape;5985;p3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5986" name="Google Shape;5986;p3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87" name="Google Shape;5987;p3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3.2%</a:t>
            </a:r>
            <a:endParaRPr/>
          </a:p>
        </p:txBody>
      </p:sp>
      <p:sp>
        <p:nvSpPr>
          <p:cNvPr id="5988" name="Google Shape;5988;p3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9" name="Google Shape;5989;p3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5990" name="Google Shape;5990;p3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5991" name="Google Shape;5991;p3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92" name="Google Shape;5992;p3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5993" name="Google Shape;5993;p3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5994" name="Google Shape;5994;p3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9.5%</a:t>
            </a:r>
            <a:endParaRPr/>
          </a:p>
        </p:txBody>
      </p:sp>
      <p:sp>
        <p:nvSpPr>
          <p:cNvPr id="5995" name="Google Shape;5995;p3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96" name="Google Shape;5996;p3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5997" name="Google Shape;5997;p3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5998" name="Google Shape;5998;p3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5999" name="Google Shape;5999;p3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000" name="Google Shape;6000;p3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001" name="Google Shape;6001;p3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12.5%</a:t>
            </a:r>
            <a:endParaRPr/>
          </a:p>
        </p:txBody>
      </p:sp>
      <p:sp>
        <p:nvSpPr>
          <p:cNvPr id="6002" name="Google Shape;6002;p3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3" name="Google Shape;6003;p3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004" name="Google Shape;6004;p3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92</a:t>
            </a:r>
            <a:endParaRPr/>
          </a:p>
        </p:txBody>
      </p:sp>
      <p:sp>
        <p:nvSpPr>
          <p:cNvPr id="6005" name="Google Shape;6005;p3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006" name="Google Shape;6006;p3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86</a:t>
            </a:r>
            <a:endParaRPr/>
          </a:p>
        </p:txBody>
      </p:sp>
      <p:sp>
        <p:nvSpPr>
          <p:cNvPr id="6007" name="Google Shape;6007;p3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008" name="Google Shape;6008;p3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3.3%</a:t>
            </a:r>
            <a:endParaRPr/>
          </a:p>
        </p:txBody>
      </p:sp>
      <p:sp>
        <p:nvSpPr>
          <p:cNvPr id="6009" name="Google Shape;6009;p3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0" name="Google Shape;6010;p3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011" name="Google Shape;6011;p3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012" name="Google Shape;6012;p3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013" name="Google Shape;6013;p3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014" name="Google Shape;6014;p3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015" name="Google Shape;6015;p3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016" name="Google Shape;6016;p3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017" name="Google Shape;6017;p3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018" name="Google Shape;6018;p3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019" name="Google Shape;6019;p3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020" name="Google Shape;6020;p3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021" name="Google Shape;6021;p3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022" name="Google Shape;6022;p3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023" name="Google Shape;6023;p3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024" name="Google Shape;6024;p3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25" name="Google Shape;6025;p3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026" name="Google Shape;6026;p3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6027" name="Google Shape;6027;p3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028" name="Google Shape;6028;p3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029" name="Google Shape;6029;p3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030" name="Google Shape;6030;p3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31</a:t>
            </a:r>
            <a:endParaRPr/>
          </a:p>
        </p:txBody>
      </p:sp>
      <p:sp>
        <p:nvSpPr>
          <p:cNvPr id="6031" name="Google Shape;6031;p3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30</a:t>
            </a:r>
            <a:endParaRPr/>
          </a:p>
        </p:txBody>
      </p:sp>
      <p:sp>
        <p:nvSpPr>
          <p:cNvPr id="6032" name="Google Shape;6032;p3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033" name="Google Shape;6033;p3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034" name="Google Shape;6034;p3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035" name="Google Shape;6035;p3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106</a:t>
            </a:r>
            <a:endParaRPr/>
          </a:p>
        </p:txBody>
      </p:sp>
      <p:sp>
        <p:nvSpPr>
          <p:cNvPr id="6036" name="Google Shape;6036;p3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97</a:t>
            </a:r>
            <a:endParaRPr/>
          </a:p>
        </p:txBody>
      </p:sp>
      <p:sp>
        <p:nvSpPr>
          <p:cNvPr id="6037" name="Google Shape;6037;p3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038" name="Google Shape;6038;p3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$11K</a:t>
            </a:r>
            <a:endParaRPr/>
          </a:p>
        </p:txBody>
      </p:sp>
      <p:sp>
        <p:nvSpPr>
          <p:cNvPr id="6039" name="Google Shape;6039;p3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6040" name="Google Shape;6040;p3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$62K</a:t>
            </a:r>
            <a:endParaRPr/>
          </a:p>
        </p:txBody>
      </p:sp>
      <p:sp>
        <p:nvSpPr>
          <p:cNvPr id="6041" name="Google Shape;6041;p3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42" name="Google Shape;6042;p3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6043" name="Google Shape;6043;p3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6044" name="Google Shape;6044;p3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6045" name="Google Shape;6045;p3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6046" name="Google Shape;6046;p3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$8K</a:t>
            </a:r>
            <a:endParaRPr/>
          </a:p>
        </p:txBody>
      </p:sp>
      <p:sp>
        <p:nvSpPr>
          <p:cNvPr id="6047" name="Google Shape;6047;p3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$5K</a:t>
            </a:r>
            <a:endParaRPr/>
          </a:p>
        </p:txBody>
      </p:sp>
      <p:sp>
        <p:nvSpPr>
          <p:cNvPr id="6048" name="Google Shape;6048;p3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$119K</a:t>
            </a:r>
            <a:endParaRPr/>
          </a:p>
        </p:txBody>
      </p:sp>
      <p:sp>
        <p:nvSpPr>
          <p:cNvPr id="6049" name="Google Shape;6049;p3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$31K</a:t>
            </a:r>
            <a:endParaRPr/>
          </a:p>
        </p:txBody>
      </p:sp>
      <p:sp>
        <p:nvSpPr>
          <p:cNvPr id="6050" name="Google Shape;6050;p3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1" name="Google Shape;6051;p3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052" name="Google Shape;6052;p3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53" name="Google Shape;6053;p3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$31,089 YTD gross written premium</a:t>
            </a:r>
            <a:endParaRPr/>
          </a:p>
        </p:txBody>
      </p:sp>
      <p:sp>
        <p:nvSpPr>
          <p:cNvPr id="6054" name="Google Shape;6054;p3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055" name="Google Shape;6055;p3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$16,551 in new business production</a:t>
            </a:r>
            <a:endParaRPr/>
          </a:p>
        </p:txBody>
      </p:sp>
      <p:sp>
        <p:nvSpPr>
          <p:cNvPr id="6056" name="Google Shape;6056;p3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57" name="Google Shape;6057;p3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058" name="Google Shape;6058;p3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059" name="Google Shape;6059;p3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65% month-over-month</a:t>
            </a:r>
            <a:endParaRPr/>
          </a:p>
        </p:txBody>
      </p:sp>
      <p:sp>
        <p:nvSpPr>
          <p:cNvPr id="6060" name="Google Shape;6060;p3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1" name="Google Shape;6061;p3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062" name="Google Shape;6062;p3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063" name="Google Shape;6063;p3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$16,551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6064" name="Google Shape;6064;p39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065" name="Google Shape;6065;p39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$5,574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069" name="Shape 60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70" name="Google Shape;6070;p4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1" name="Google Shape;6071;p40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Independence Insurance Agency LLC</a:t>
            </a:r>
            <a:endParaRPr/>
          </a:p>
        </p:txBody>
      </p:sp>
      <p:sp>
        <p:nvSpPr>
          <p:cNvPr id="6072" name="Google Shape;6072;p40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Pembroke Pines</a:t>
            </a:r>
            <a:endParaRPr/>
          </a:p>
        </p:txBody>
      </p:sp>
      <p:sp>
        <p:nvSpPr>
          <p:cNvPr id="6073" name="Google Shape;6073;p40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$27,051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074" name="Google Shape;6074;p40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$18,668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75" name="Google Shape;6075;p40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76" name="Google Shape;6076;p40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77" name="Google Shape;6077;p40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78" name="Google Shape;6078;p40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$343,582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079" name="Google Shape;6079;p40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$218,285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080" name="Google Shape;6080;p40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081" name="Google Shape;6081;p40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082" name="Google Shape;6082;p40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083" name="Google Shape;6083;p40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084" name="Google Shape;6084;p40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085" name="Google Shape;6085;p40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$35,084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086" name="Google Shape;6086;p40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7" name="Google Shape;6087;p40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088" name="Google Shape;6088;p40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089" name="Google Shape;6089;p40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090" name="Google Shape;6090;p40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091" name="Google Shape;6091;p40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092" name="Google Shape;6092;p40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093" name="Google Shape;6093;p40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094" name="Google Shape;6094;p40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95" name="Google Shape;6095;p40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096" name="Google Shape;6096;p40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7" name="Google Shape;6097;p40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8" name="Google Shape;6098;p40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099" name="Google Shape;6099;p40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0" name="Google Shape;6100;p40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1" name="Google Shape;6101;p40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2" name="Google Shape;6102;p40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03" name="Google Shape;6103;p40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</a:t>
            </a:r>
            <a:endParaRPr/>
          </a:p>
        </p:txBody>
      </p:sp>
      <p:sp>
        <p:nvSpPr>
          <p:cNvPr id="6104" name="Google Shape;6104;p40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5" name="Google Shape;6105;p40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06" name="Google Shape;6106;p40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</a:t>
            </a:r>
            <a:endParaRPr/>
          </a:p>
        </p:txBody>
      </p:sp>
      <p:sp>
        <p:nvSpPr>
          <p:cNvPr id="6107" name="Google Shape;6107;p40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$-173</a:t>
            </a:r>
            <a:endParaRPr/>
          </a:p>
        </p:txBody>
      </p:sp>
      <p:sp>
        <p:nvSpPr>
          <p:cNvPr id="6108" name="Google Shape;6108;p40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9" name="Google Shape;6109;p40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10" name="Google Shape;6110;p40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$27,199</a:t>
            </a:r>
            <a:endParaRPr/>
          </a:p>
        </p:txBody>
      </p:sp>
      <p:sp>
        <p:nvSpPr>
          <p:cNvPr id="6111" name="Google Shape;6111;p40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$18,668</a:t>
            </a:r>
            <a:endParaRPr/>
          </a:p>
        </p:txBody>
      </p:sp>
      <p:sp>
        <p:nvSpPr>
          <p:cNvPr id="6112" name="Google Shape;6112;p40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3" name="Google Shape;6113;p40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$8,531</a:t>
            </a:r>
            <a:endParaRPr/>
          </a:p>
        </p:txBody>
      </p:sp>
      <p:sp>
        <p:nvSpPr>
          <p:cNvPr id="6114" name="Google Shape;6114;p40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$-10,742</a:t>
            </a:r>
            <a:endParaRPr/>
          </a:p>
        </p:txBody>
      </p:sp>
      <p:sp>
        <p:nvSpPr>
          <p:cNvPr id="6115" name="Google Shape;6115;p40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6" name="Google Shape;6116;p40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17" name="Google Shape;6117;p40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8" name="Google Shape;6118;p40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19" name="Google Shape;6119;p40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0" name="Google Shape;6120;p40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1" name="Google Shape;6121;p40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2" name="Google Shape;6122;p40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3" name="Google Shape;6123;p40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24" name="Google Shape;6124;p40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$-264</a:t>
            </a:r>
            <a:endParaRPr/>
          </a:p>
        </p:txBody>
      </p:sp>
      <p:sp>
        <p:nvSpPr>
          <p:cNvPr id="6125" name="Google Shape;6125;p40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6" name="Google Shape;6126;p40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7" name="Google Shape;6127;p40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$-264</a:t>
            </a:r>
            <a:endParaRPr/>
          </a:p>
        </p:txBody>
      </p:sp>
      <p:sp>
        <p:nvSpPr>
          <p:cNvPr id="6128" name="Google Shape;6128;p40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29" name="Google Shape;6129;p40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0" name="Google Shape;6130;p40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31" name="Google Shape;6131;p40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$27,051</a:t>
            </a:r>
            <a:endParaRPr/>
          </a:p>
        </p:txBody>
      </p:sp>
      <p:sp>
        <p:nvSpPr>
          <p:cNvPr id="6132" name="Google Shape;6132;p40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$18,668</a:t>
            </a:r>
            <a:endParaRPr/>
          </a:p>
        </p:txBody>
      </p:sp>
      <p:sp>
        <p:nvSpPr>
          <p:cNvPr id="6133" name="Google Shape;6133;p40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134" name="Google Shape;6134;p40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$8,383</a:t>
            </a:r>
            <a:endParaRPr/>
          </a:p>
        </p:txBody>
      </p:sp>
      <p:sp>
        <p:nvSpPr>
          <p:cNvPr id="6135" name="Google Shape;6135;p40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$-10,915</a:t>
            </a:r>
            <a:endParaRPr/>
          </a:p>
        </p:txBody>
      </p:sp>
      <p:sp>
        <p:nvSpPr>
          <p:cNvPr id="6136" name="Google Shape;6136;p40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7" name="Google Shape;6137;p40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138" name="Google Shape;6138;p40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139" name="Google Shape;6139;p40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140" name="Google Shape;6140;p40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141" name="Google Shape;6141;p40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142" name="Google Shape;6142;p40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143" name="Google Shape;6143;p40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144" name="Google Shape;6144;p40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5" name="Google Shape;6145;p40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146" name="Google Shape;6146;p40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147" name="Google Shape;6147;p40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48" name="Google Shape;6148;p40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149" name="Google Shape;6149;p40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50" name="Google Shape;6150;p40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51" name="Google Shape;6151;p40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2" name="Google Shape;6152;p40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153" name="Google Shape;6153;p40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154" name="Google Shape;6154;p40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55" name="Google Shape;6155;p40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156" name="Google Shape;6156;p40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57" name="Google Shape;6157;p40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7.7%</a:t>
            </a:r>
            <a:endParaRPr/>
          </a:p>
        </p:txBody>
      </p:sp>
      <p:sp>
        <p:nvSpPr>
          <p:cNvPr id="6158" name="Google Shape;6158;p40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59" name="Google Shape;6159;p40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160" name="Google Shape;6160;p40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161" name="Google Shape;6161;p40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62" name="Google Shape;6162;p40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163" name="Google Shape;6163;p40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64" name="Google Shape;6164;p40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6165" name="Google Shape;6165;p40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6" name="Google Shape;6166;p40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167" name="Google Shape;6167;p40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168" name="Google Shape;6168;p40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169" name="Google Shape;6169;p40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170" name="Google Shape;6170;p40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71" name="Google Shape;6171;p40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72" name="Google Shape;6172;p40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3" name="Google Shape;6173;p40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174" name="Google Shape;6174;p40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175" name="Google Shape;6175;p40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176" name="Google Shape;6176;p40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177" name="Google Shape;6177;p40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178" name="Google Shape;6178;p40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179" name="Google Shape;6179;p40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0" name="Google Shape;6180;p40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181" name="Google Shape;6181;p40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65</a:t>
            </a:r>
            <a:endParaRPr/>
          </a:p>
        </p:txBody>
      </p:sp>
      <p:sp>
        <p:nvSpPr>
          <p:cNvPr id="6182" name="Google Shape;6182;p40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183" name="Google Shape;6183;p40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60</a:t>
            </a:r>
            <a:endParaRPr/>
          </a:p>
        </p:txBody>
      </p:sp>
      <p:sp>
        <p:nvSpPr>
          <p:cNvPr id="6184" name="Google Shape;6184;p40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185" name="Google Shape;6185;p40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3.1%</a:t>
            </a:r>
            <a:endParaRPr/>
          </a:p>
        </p:txBody>
      </p:sp>
      <p:sp>
        <p:nvSpPr>
          <p:cNvPr id="6186" name="Google Shape;6186;p40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7" name="Google Shape;6187;p40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188" name="Google Shape;6188;p40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189" name="Google Shape;6189;p40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190" name="Google Shape;6190;p40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191" name="Google Shape;6191;p40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192" name="Google Shape;6192;p40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193" name="Google Shape;6193;p40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194" name="Google Shape;6194;p40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195" name="Google Shape;6195;p40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196" name="Google Shape;6196;p40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197" name="Google Shape;6197;p40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198" name="Google Shape;6198;p40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199" name="Google Shape;6199;p40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200" name="Google Shape;6200;p40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201" name="Google Shape;6201;p40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02" name="Google Shape;6202;p40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6203" name="Google Shape;6203;p40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6204" name="Google Shape;6204;p40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46</a:t>
            </a:r>
            <a:endParaRPr/>
          </a:p>
        </p:txBody>
      </p:sp>
      <p:sp>
        <p:nvSpPr>
          <p:cNvPr id="6205" name="Google Shape;6205;p40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6206" name="Google Shape;6206;p40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</a:t>
            </a:r>
            <a:endParaRPr/>
          </a:p>
        </p:txBody>
      </p:sp>
      <p:sp>
        <p:nvSpPr>
          <p:cNvPr id="6207" name="Google Shape;6207;p40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208" name="Google Shape;6208;p40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38</a:t>
            </a:r>
            <a:endParaRPr/>
          </a:p>
        </p:txBody>
      </p:sp>
      <p:sp>
        <p:nvSpPr>
          <p:cNvPr id="6209" name="Google Shape;6209;p40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210" name="Google Shape;6210;p40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211" name="Google Shape;6211;p40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212" name="Google Shape;6212;p40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184</a:t>
            </a:r>
            <a:endParaRPr/>
          </a:p>
        </p:txBody>
      </p:sp>
      <p:sp>
        <p:nvSpPr>
          <p:cNvPr id="6213" name="Google Shape;6213;p40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6214" name="Google Shape;6214;p40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215" name="Google Shape;6215;p40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$43K</a:t>
            </a:r>
            <a:endParaRPr/>
          </a:p>
        </p:txBody>
      </p:sp>
      <p:sp>
        <p:nvSpPr>
          <p:cNvPr id="6216" name="Google Shape;6216;p40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17" name="Google Shape;6217;p40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$32K</a:t>
            </a:r>
            <a:endParaRPr/>
          </a:p>
        </p:txBody>
      </p:sp>
      <p:sp>
        <p:nvSpPr>
          <p:cNvPr id="6218" name="Google Shape;6218;p40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$116</a:t>
            </a:r>
            <a:endParaRPr/>
          </a:p>
        </p:txBody>
      </p:sp>
      <p:sp>
        <p:nvSpPr>
          <p:cNvPr id="6219" name="Google Shape;6219;p40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$23K</a:t>
            </a:r>
            <a:endParaRPr/>
          </a:p>
        </p:txBody>
      </p:sp>
      <p:sp>
        <p:nvSpPr>
          <p:cNvPr id="6220" name="Google Shape;6220;p40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6221" name="Google Shape;6221;p40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$26K</a:t>
            </a:r>
            <a:endParaRPr/>
          </a:p>
        </p:txBody>
      </p:sp>
      <p:sp>
        <p:nvSpPr>
          <p:cNvPr id="6222" name="Google Shape;6222;p40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23" name="Google Shape;6223;p40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$29K</a:t>
            </a:r>
            <a:endParaRPr/>
          </a:p>
        </p:txBody>
      </p:sp>
      <p:sp>
        <p:nvSpPr>
          <p:cNvPr id="6224" name="Google Shape;6224;p40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$-264</a:t>
            </a:r>
            <a:endParaRPr/>
          </a:p>
        </p:txBody>
      </p:sp>
      <p:sp>
        <p:nvSpPr>
          <p:cNvPr id="6225" name="Google Shape;6225;p40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$152K</a:t>
            </a:r>
            <a:endParaRPr/>
          </a:p>
        </p:txBody>
      </p:sp>
      <p:sp>
        <p:nvSpPr>
          <p:cNvPr id="6226" name="Google Shape;6226;p40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6227" name="Google Shape;6227;p40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8" name="Google Shape;6228;p40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229" name="Google Shape;6229;p40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30" name="Google Shape;6230;p40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$27,051 YTD gross written premium</a:t>
            </a:r>
            <a:endParaRPr/>
          </a:p>
        </p:txBody>
      </p:sp>
      <p:sp>
        <p:nvSpPr>
          <p:cNvPr id="6231" name="Google Shape;6231;p40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232" name="Google Shape;6232;p40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$18,668 in new business production</a:t>
            </a:r>
            <a:endParaRPr/>
          </a:p>
        </p:txBody>
      </p:sp>
      <p:sp>
        <p:nvSpPr>
          <p:cNvPr id="6233" name="Google Shape;6233;p40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4" name="Google Shape;6234;p40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235" name="Google Shape;6235;p40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36" name="Google Shape;6236;p40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 at 58% of new business ($10,915)</a:t>
            </a:r>
            <a:endParaRPr/>
          </a:p>
        </p:txBody>
      </p:sp>
      <p:sp>
        <p:nvSpPr>
          <p:cNvPr id="6237" name="Google Shape;6237;p40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238" name="Google Shape;6238;p40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101% month-over-month</a:t>
            </a:r>
            <a:endParaRPr/>
          </a:p>
        </p:txBody>
      </p:sp>
      <p:sp>
        <p:nvSpPr>
          <p:cNvPr id="6239" name="Google Shape;6239;p40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40" name="Google Shape;6240;p40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241" name="Google Shape;6241;p40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242" name="Google Shape;6242;p40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$18,668 in new business. Ask what made those deals work and how you can help replicate that success with similar accounts in their pipeline.</a:t>
            </a:r>
            <a:endParaRPr/>
          </a:p>
        </p:txBody>
      </p:sp>
      <p:sp>
        <p:nvSpPr>
          <p:cNvPr id="6243" name="Google Shape;6243;p40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244" name="Google Shape;6244;p40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Address the $10,915 in cancellations. Ask: "Are we losing these to price, service, or coverage?" Proactive retention discussions can protect the book and strengthen the relationship.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248" name="Shape 6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9" name="Google Shape;6249;p41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50" name="Google Shape;6250;p41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SINGH BROTHERS INSURANCE LLC</a:t>
            </a:r>
            <a:endParaRPr/>
          </a:p>
        </p:txBody>
      </p:sp>
      <p:sp>
        <p:nvSpPr>
          <p:cNvPr id="6251" name="Google Shape;6251;p41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Kissimmee</a:t>
            </a:r>
            <a:endParaRPr/>
          </a:p>
        </p:txBody>
      </p:sp>
      <p:sp>
        <p:nvSpPr>
          <p:cNvPr id="6252" name="Google Shape;6252;p41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$25,005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253" name="Google Shape;6253;p41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54" name="Google Shape;6254;p41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55" name="Google Shape;6255;p41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$11,785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56" name="Google Shape;6256;p41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57" name="Google Shape;6257;p41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$344,085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258" name="Google Shape;6258;p41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$248,209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259" name="Google Shape;6259;p41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260" name="Google Shape;6260;p41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261" name="Google Shape;6261;p41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262" name="Google Shape;6262;p41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263" name="Google Shape;6263;p41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264" name="Google Shape;6264;p41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$30,143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265" name="Google Shape;6265;p41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66" name="Google Shape;6266;p41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267" name="Google Shape;6267;p41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268" name="Google Shape;6268;p41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269" name="Google Shape;6269;p41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270" name="Google Shape;6270;p41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271" name="Google Shape;6271;p41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272" name="Google Shape;6272;p41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273" name="Google Shape;6273;p41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74" name="Google Shape;6274;p41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275" name="Google Shape;6275;p41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$-6,917</a:t>
            </a:r>
            <a:endParaRPr/>
          </a:p>
        </p:txBody>
      </p:sp>
      <p:sp>
        <p:nvSpPr>
          <p:cNvPr id="6276" name="Google Shape;6276;p41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7" name="Google Shape;6277;p41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78" name="Google Shape;6278;p41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$-6,917</a:t>
            </a:r>
            <a:endParaRPr/>
          </a:p>
        </p:txBody>
      </p:sp>
      <p:sp>
        <p:nvSpPr>
          <p:cNvPr id="6279" name="Google Shape;6279;p41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80" name="Google Shape;6280;p41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1" name="Google Shape;6281;p41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282" name="Google Shape;6282;p41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$6,874</a:t>
            </a:r>
            <a:endParaRPr/>
          </a:p>
        </p:txBody>
      </p:sp>
      <p:sp>
        <p:nvSpPr>
          <p:cNvPr id="6283" name="Google Shape;6283;p41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84" name="Google Shape;6284;p41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85" name="Google Shape;6285;p41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$6,874</a:t>
            </a:r>
            <a:endParaRPr/>
          </a:p>
        </p:txBody>
      </p:sp>
      <p:sp>
        <p:nvSpPr>
          <p:cNvPr id="6286" name="Google Shape;6286;p41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87" name="Google Shape;6287;p41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88" name="Google Shape;6288;p41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289" name="Google Shape;6289;p41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$11,828</a:t>
            </a:r>
            <a:endParaRPr/>
          </a:p>
        </p:txBody>
      </p:sp>
      <p:sp>
        <p:nvSpPr>
          <p:cNvPr id="6290" name="Google Shape;6290;p41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91" name="Google Shape;6291;p41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92" name="Google Shape;6292;p41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$11,828</a:t>
            </a:r>
            <a:endParaRPr/>
          </a:p>
        </p:txBody>
      </p:sp>
      <p:sp>
        <p:nvSpPr>
          <p:cNvPr id="6293" name="Google Shape;6293;p41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94" name="Google Shape;6294;p41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95" name="Google Shape;6295;p41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296" name="Google Shape;6296;p41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</a:t>
            </a:r>
            <a:endParaRPr/>
          </a:p>
        </p:txBody>
      </p:sp>
      <p:sp>
        <p:nvSpPr>
          <p:cNvPr id="6297" name="Google Shape;6297;p41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298" name="Google Shape;6298;p41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</a:t>
            </a:r>
            <a:endParaRPr/>
          </a:p>
        </p:txBody>
      </p:sp>
      <p:sp>
        <p:nvSpPr>
          <p:cNvPr id="6299" name="Google Shape;6299;p41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0" name="Google Shape;6300;p41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$-6,582</a:t>
            </a:r>
            <a:endParaRPr/>
          </a:p>
        </p:txBody>
      </p:sp>
      <p:sp>
        <p:nvSpPr>
          <p:cNvPr id="6301" name="Google Shape;6301;p41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2" name="Google Shape;6302;p41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03" name="Google Shape;6303;p41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4" name="Google Shape;6304;p41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5" name="Google Shape;6305;p41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6" name="Google Shape;6306;p41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7" name="Google Shape;6307;p41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08" name="Google Shape;6308;p41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09" name="Google Shape;6309;p41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10" name="Google Shape;6310;p41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$25,005</a:t>
            </a:r>
            <a:endParaRPr/>
          </a:p>
        </p:txBody>
      </p:sp>
      <p:sp>
        <p:nvSpPr>
          <p:cNvPr id="6311" name="Google Shape;6311;p41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12" name="Google Shape;6312;p41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</a:t>
            </a:r>
            <a:endParaRPr/>
          </a:p>
        </p:txBody>
      </p:sp>
      <p:sp>
        <p:nvSpPr>
          <p:cNvPr id="6313" name="Google Shape;6313;p41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$11,785</a:t>
            </a:r>
            <a:endParaRPr/>
          </a:p>
        </p:txBody>
      </p:sp>
      <p:sp>
        <p:nvSpPr>
          <p:cNvPr id="6314" name="Google Shape;6314;p41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$-6,582</a:t>
            </a:r>
            <a:endParaRPr/>
          </a:p>
        </p:txBody>
      </p:sp>
      <p:sp>
        <p:nvSpPr>
          <p:cNvPr id="6315" name="Google Shape;6315;p41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16" name="Google Shape;6316;p41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317" name="Google Shape;6317;p41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318" name="Google Shape;6318;p41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319" name="Google Shape;6319;p41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320" name="Google Shape;6320;p41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321" name="Google Shape;6321;p41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322" name="Google Shape;6322;p41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323" name="Google Shape;6323;p41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4" name="Google Shape;6324;p41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325" name="Google Shape;6325;p41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326" name="Google Shape;6326;p41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27" name="Google Shape;6327;p41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328" name="Google Shape;6328;p41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29" name="Google Shape;6329;p41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37.5%</a:t>
            </a:r>
            <a:endParaRPr/>
          </a:p>
        </p:txBody>
      </p:sp>
      <p:sp>
        <p:nvSpPr>
          <p:cNvPr id="6330" name="Google Shape;6330;p41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1" name="Google Shape;6331;p41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332" name="Google Shape;6332;p41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333" name="Google Shape;6333;p41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34" name="Google Shape;6334;p41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35" name="Google Shape;6335;p41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36" name="Google Shape;6336;p41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337" name="Google Shape;6337;p41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38" name="Google Shape;6338;p41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339" name="Google Shape;6339;p41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40" name="Google Shape;6340;p41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41" name="Google Shape;6341;p41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42" name="Google Shape;6342;p41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43" name="Google Shape;6343;p41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66.7%</a:t>
            </a:r>
            <a:endParaRPr/>
          </a:p>
        </p:txBody>
      </p:sp>
      <p:sp>
        <p:nvSpPr>
          <p:cNvPr id="6344" name="Google Shape;6344;p41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5" name="Google Shape;6345;p41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346" name="Google Shape;6346;p41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347" name="Google Shape;6347;p41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48" name="Google Shape;6348;p41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49" name="Google Shape;6349;p41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50" name="Google Shape;6350;p41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51" name="Google Shape;6351;p41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2" name="Google Shape;6352;p41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353" name="Google Shape;6353;p41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54" name="Google Shape;6354;p41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355" name="Google Shape;6355;p41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56" name="Google Shape;6356;p41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357" name="Google Shape;6357;p41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358" name="Google Shape;6358;p41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9" name="Google Shape;6359;p41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360" name="Google Shape;6360;p41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361" name="Google Shape;6361;p41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62" name="Google Shape;6362;p41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363" name="Google Shape;6363;p41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364" name="Google Shape;6364;p41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10.5%</a:t>
            </a:r>
            <a:endParaRPr/>
          </a:p>
        </p:txBody>
      </p:sp>
      <p:sp>
        <p:nvSpPr>
          <p:cNvPr id="6365" name="Google Shape;6365;p41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6" name="Google Shape;6366;p41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367" name="Google Shape;6367;p41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368" name="Google Shape;6368;p41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369" name="Google Shape;6369;p41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370" name="Google Shape;6370;p41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371" name="Google Shape;6371;p41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372" name="Google Shape;6372;p41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373" name="Google Shape;6373;p41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374" name="Google Shape;6374;p41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375" name="Google Shape;6375;p41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376" name="Google Shape;6376;p41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377" name="Google Shape;6377;p41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378" name="Google Shape;6378;p41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379" name="Google Shape;6379;p41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380" name="Google Shape;6380;p41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381" name="Google Shape;6381;p41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6382" name="Google Shape;6382;p41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383" name="Google Shape;6383;p41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84" name="Google Shape;6384;p41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385" name="Google Shape;6385;p41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386" name="Google Shape;6386;p41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387" name="Google Shape;6387;p41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388" name="Google Shape;6388;p41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389" name="Google Shape;6389;p41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390" name="Google Shape;6390;p41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6391" name="Google Shape;6391;p41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6392" name="Google Shape;6392;p41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393" name="Google Shape;6393;p41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394" name="Google Shape;6394;p41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$21K</a:t>
            </a:r>
            <a:endParaRPr/>
          </a:p>
        </p:txBody>
      </p:sp>
      <p:sp>
        <p:nvSpPr>
          <p:cNvPr id="6395" name="Google Shape;6395;p41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$-6,917</a:t>
            </a:r>
            <a:endParaRPr/>
          </a:p>
        </p:txBody>
      </p:sp>
      <p:sp>
        <p:nvSpPr>
          <p:cNvPr id="6396" name="Google Shape;6396;p41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397" name="Google Shape;6397;p41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$7K</a:t>
            </a:r>
            <a:endParaRPr/>
          </a:p>
        </p:txBody>
      </p:sp>
      <p:sp>
        <p:nvSpPr>
          <p:cNvPr id="6398" name="Google Shape;6398;p41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$39K</a:t>
            </a:r>
            <a:endParaRPr/>
          </a:p>
        </p:txBody>
      </p:sp>
      <p:sp>
        <p:nvSpPr>
          <p:cNvPr id="6399" name="Google Shape;6399;p41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$12K</a:t>
            </a:r>
            <a:endParaRPr/>
          </a:p>
        </p:txBody>
      </p:sp>
      <p:sp>
        <p:nvSpPr>
          <p:cNvPr id="6400" name="Google Shape;6400;p41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6401" name="Google Shape;6401;p41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402" name="Google Shape;6402;p41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$13K</a:t>
            </a:r>
            <a:endParaRPr/>
          </a:p>
        </p:txBody>
      </p:sp>
      <p:sp>
        <p:nvSpPr>
          <p:cNvPr id="6403" name="Google Shape;6403;p41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04" name="Google Shape;6404;p41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$121K</a:t>
            </a:r>
            <a:endParaRPr/>
          </a:p>
        </p:txBody>
      </p:sp>
      <p:sp>
        <p:nvSpPr>
          <p:cNvPr id="6405" name="Google Shape;6405;p41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$25K</a:t>
            </a:r>
            <a:endParaRPr/>
          </a:p>
        </p:txBody>
      </p:sp>
      <p:sp>
        <p:nvSpPr>
          <p:cNvPr id="6406" name="Google Shape;6406;p41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7" name="Google Shape;6407;p41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408" name="Google Shape;6408;p41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09" name="Google Shape;6409;p41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$25,005 YTD gross written premium</a:t>
            </a:r>
            <a:endParaRPr/>
          </a:p>
        </p:txBody>
      </p:sp>
      <p:sp>
        <p:nvSpPr>
          <p:cNvPr id="6410" name="Google Shape;6410;p41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411" name="Google Shape;6411;p41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$13,219 in renewals - strong retention</a:t>
            </a:r>
            <a:endParaRPr/>
          </a:p>
        </p:txBody>
      </p:sp>
      <p:sp>
        <p:nvSpPr>
          <p:cNvPr id="6412" name="Google Shape;6412;p41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3" name="Google Shape;6413;p41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414" name="Google Shape;6414;p41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415" name="Google Shape;6415;p41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416" name="Google Shape;6416;p41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17" name="Google Shape;6417;p41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418" name="Google Shape;6418;p41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419" name="Google Shape;6419;p41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420" name="Google Shape;6420;p41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421" name="Google Shape;6421;p41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25" name="Shape 64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6" name="Google Shape;6426;p42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7" name="Google Shape;6427;p42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PMHLP LLC DBA Coverboxx</a:t>
            </a:r>
            <a:endParaRPr/>
          </a:p>
        </p:txBody>
      </p:sp>
      <p:sp>
        <p:nvSpPr>
          <p:cNvPr id="6428" name="Google Shape;6428;p42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NC  |  City: Albemarle</a:t>
            </a:r>
            <a:endParaRPr/>
          </a:p>
        </p:txBody>
      </p:sp>
      <p:sp>
        <p:nvSpPr>
          <p:cNvPr id="6429" name="Google Shape;6429;p42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430" name="Google Shape;6430;p42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31" name="Google Shape;6431;p42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32" name="Google Shape;6432;p42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$7,263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33" name="Google Shape;6433;p42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$-4,264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34" name="Google Shape;6434;p42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$237,347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435" name="Google Shape;6435;p42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$232,422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436" name="Google Shape;6436;p42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437" name="Google Shape;6437;p42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438" name="Google Shape;6438;p42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39" name="Google Shape;6439;p42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440" name="Google Shape;6440;p42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$110,028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441" name="Google Shape;6441;p42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$14,718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442" name="Google Shape;6442;p42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3" name="Google Shape;6443;p42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444" name="Google Shape;6444;p42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45" name="Google Shape;6445;p42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446" name="Google Shape;6446;p42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447" name="Google Shape;6447;p42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448" name="Google Shape;6448;p42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449" name="Google Shape;6449;p42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450" name="Google Shape;6450;p42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1" name="Google Shape;6451;p42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452" name="Google Shape;6452;p42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$-6,935</a:t>
            </a:r>
            <a:endParaRPr/>
          </a:p>
        </p:txBody>
      </p:sp>
      <p:sp>
        <p:nvSpPr>
          <p:cNvPr id="6453" name="Google Shape;6453;p42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4" name="Google Shape;6454;p42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5" name="Google Shape;6455;p42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$-6,935</a:t>
            </a:r>
            <a:endParaRPr/>
          </a:p>
        </p:txBody>
      </p:sp>
      <p:sp>
        <p:nvSpPr>
          <p:cNvPr id="6456" name="Google Shape;6456;p42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57" name="Google Shape;6457;p42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8" name="Google Shape;6458;p42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459" name="Google Shape;6459;p42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0" name="Google Shape;6460;p42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1" name="Google Shape;6461;p42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2" name="Google Shape;6462;p42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3" name="Google Shape;6463;p42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4" name="Google Shape;6464;p42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5" name="Google Shape;6465;p42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466" name="Google Shape;6466;p42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$4,402</a:t>
            </a:r>
            <a:endParaRPr/>
          </a:p>
        </p:txBody>
      </p:sp>
      <p:sp>
        <p:nvSpPr>
          <p:cNvPr id="6467" name="Google Shape;6467;p42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8" name="Google Shape;6468;p42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69" name="Google Shape;6469;p42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$4,402</a:t>
            </a:r>
            <a:endParaRPr/>
          </a:p>
        </p:txBody>
      </p:sp>
      <p:sp>
        <p:nvSpPr>
          <p:cNvPr id="6470" name="Google Shape;6470;p42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1" name="Google Shape;6471;p42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2" name="Google Shape;6472;p42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473" name="Google Shape;6473;p42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$21,904</a:t>
            </a:r>
            <a:endParaRPr/>
          </a:p>
        </p:txBody>
      </p:sp>
      <p:sp>
        <p:nvSpPr>
          <p:cNvPr id="6474" name="Google Shape;6474;p42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$15,018</a:t>
            </a:r>
            <a:endParaRPr/>
          </a:p>
        </p:txBody>
      </p:sp>
      <p:sp>
        <p:nvSpPr>
          <p:cNvPr id="6475" name="Google Shape;6475;p42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6" name="Google Shape;6476;p42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$6,886</a:t>
            </a:r>
            <a:endParaRPr/>
          </a:p>
        </p:txBody>
      </p:sp>
      <p:sp>
        <p:nvSpPr>
          <p:cNvPr id="6477" name="Google Shape;6477;p42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78" name="Google Shape;6478;p42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79" name="Google Shape;6479;p42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480" name="Google Shape;6480;p42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$2,909</a:t>
            </a:r>
            <a:endParaRPr/>
          </a:p>
        </p:txBody>
      </p:sp>
      <p:sp>
        <p:nvSpPr>
          <p:cNvPr id="6481" name="Google Shape;6481;p42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2" name="Google Shape;6482;p42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83" name="Google Shape;6483;p42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$2,909</a:t>
            </a:r>
            <a:endParaRPr/>
          </a:p>
        </p:txBody>
      </p:sp>
      <p:sp>
        <p:nvSpPr>
          <p:cNvPr id="6484" name="Google Shape;6484;p42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$-4,264</a:t>
            </a:r>
            <a:endParaRPr/>
          </a:p>
        </p:txBody>
      </p:sp>
      <p:sp>
        <p:nvSpPr>
          <p:cNvPr id="6485" name="Google Shape;6485;p42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86" name="Google Shape;6486;p42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487" name="Google Shape;6487;p42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$22,281</a:t>
            </a:r>
            <a:endParaRPr/>
          </a:p>
        </p:txBody>
      </p:sp>
      <p:sp>
        <p:nvSpPr>
          <p:cNvPr id="6488" name="Google Shape;6488;p42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$15,018</a:t>
            </a:r>
            <a:endParaRPr/>
          </a:p>
        </p:txBody>
      </p:sp>
      <p:sp>
        <p:nvSpPr>
          <p:cNvPr id="6489" name="Google Shape;6489;p42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490" name="Google Shape;6490;p42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$7,263</a:t>
            </a:r>
            <a:endParaRPr/>
          </a:p>
        </p:txBody>
      </p:sp>
      <p:sp>
        <p:nvSpPr>
          <p:cNvPr id="6491" name="Google Shape;6491;p42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$-4,264</a:t>
            </a:r>
            <a:endParaRPr/>
          </a:p>
        </p:txBody>
      </p:sp>
      <p:sp>
        <p:nvSpPr>
          <p:cNvPr id="6492" name="Google Shape;6492;p42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93" name="Google Shape;6493;p42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494" name="Google Shape;6494;p42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495" name="Google Shape;6495;p42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496" name="Google Shape;6496;p42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497" name="Google Shape;6497;p42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498" name="Google Shape;6498;p42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499" name="Google Shape;6499;p42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500" name="Google Shape;6500;p42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1" name="Google Shape;6501;p42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502" name="Google Shape;6502;p42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503" name="Google Shape;6503;p42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04" name="Google Shape;6504;p42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05" name="Google Shape;6505;p42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06" name="Google Shape;6506;p42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6507" name="Google Shape;6507;p42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08" name="Google Shape;6508;p42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509" name="Google Shape;6509;p42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510" name="Google Shape;6510;p42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11" name="Google Shape;6511;p42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512" name="Google Shape;6512;p42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513" name="Google Shape;6513;p42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514" name="Google Shape;6514;p42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15" name="Google Shape;6515;p42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516" name="Google Shape;6516;p42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517" name="Google Shape;6517;p42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18" name="Google Shape;6518;p42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519" name="Google Shape;6519;p42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20" name="Google Shape;6520;p42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10.0%</a:t>
            </a:r>
            <a:endParaRPr/>
          </a:p>
        </p:txBody>
      </p:sp>
      <p:sp>
        <p:nvSpPr>
          <p:cNvPr id="6521" name="Google Shape;6521;p42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2" name="Google Shape;6522;p42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523" name="Google Shape;6523;p42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524" name="Google Shape;6524;p42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25" name="Google Shape;6525;p42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526" name="Google Shape;6526;p42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27" name="Google Shape;6527;p42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3.4%</a:t>
            </a:r>
            <a:endParaRPr/>
          </a:p>
        </p:txBody>
      </p:sp>
      <p:sp>
        <p:nvSpPr>
          <p:cNvPr id="6528" name="Google Shape;6528;p42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29" name="Google Shape;6529;p42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530" name="Google Shape;6530;p42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531" name="Google Shape;6531;p42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32" name="Google Shape;6532;p42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533" name="Google Shape;6533;p42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534" name="Google Shape;6534;p42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6535" name="Google Shape;6535;p42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6" name="Google Shape;6536;p42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537" name="Google Shape;6537;p42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81</a:t>
            </a:r>
            <a:endParaRPr/>
          </a:p>
        </p:txBody>
      </p:sp>
      <p:sp>
        <p:nvSpPr>
          <p:cNvPr id="6538" name="Google Shape;6538;p42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539" name="Google Shape;6539;p42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78</a:t>
            </a:r>
            <a:endParaRPr/>
          </a:p>
        </p:txBody>
      </p:sp>
      <p:sp>
        <p:nvSpPr>
          <p:cNvPr id="6540" name="Google Shape;6540;p42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541" name="Google Shape;6541;p42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2.5%</a:t>
            </a:r>
            <a:endParaRPr/>
          </a:p>
        </p:txBody>
      </p:sp>
      <p:sp>
        <p:nvSpPr>
          <p:cNvPr id="6542" name="Google Shape;6542;p42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43" name="Google Shape;6543;p42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544" name="Google Shape;6544;p42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545" name="Google Shape;6545;p42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546" name="Google Shape;6546;p42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547" name="Google Shape;6547;p42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548" name="Google Shape;6548;p42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549" name="Google Shape;6549;p42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550" name="Google Shape;6550;p42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551" name="Google Shape;6551;p42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552" name="Google Shape;6552;p42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553" name="Google Shape;6553;p42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554" name="Google Shape;6554;p42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555" name="Google Shape;6555;p42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556" name="Google Shape;6556;p42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557" name="Google Shape;6557;p42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558" name="Google Shape;6558;p42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6559" name="Google Shape;6559;p42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560" name="Google Shape;6560;p42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561" name="Google Shape;6561;p42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6562" name="Google Shape;6562;p42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6563" name="Google Shape;6563;p42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564" name="Google Shape;6564;p42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6565" name="Google Shape;6565;p42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29</a:t>
            </a:r>
            <a:endParaRPr/>
          </a:p>
        </p:txBody>
      </p:sp>
      <p:sp>
        <p:nvSpPr>
          <p:cNvPr id="6566" name="Google Shape;6566;p42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567" name="Google Shape;6567;p42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568" name="Google Shape;6568;p42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6569" name="Google Shape;6569;p42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87</a:t>
            </a:r>
            <a:endParaRPr/>
          </a:p>
        </p:txBody>
      </p:sp>
      <p:sp>
        <p:nvSpPr>
          <p:cNvPr id="6570" name="Google Shape;6570;p42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571" name="Google Shape;6571;p42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$-100</a:t>
            </a:r>
            <a:endParaRPr/>
          </a:p>
        </p:txBody>
      </p:sp>
      <p:sp>
        <p:nvSpPr>
          <p:cNvPr id="6572" name="Google Shape;6572;p42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$-6,935</a:t>
            </a:r>
            <a:endParaRPr/>
          </a:p>
        </p:txBody>
      </p:sp>
      <p:sp>
        <p:nvSpPr>
          <p:cNvPr id="6573" name="Google Shape;6573;p42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6574" name="Google Shape;6574;p42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575" name="Google Shape;6575;p42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576" name="Google Shape;6576;p42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577" name="Google Shape;6577;p42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$462</a:t>
            </a:r>
            <a:endParaRPr/>
          </a:p>
        </p:txBody>
      </p:sp>
      <p:sp>
        <p:nvSpPr>
          <p:cNvPr id="6578" name="Google Shape;6578;p42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6579" name="Google Shape;6579;p42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6580" name="Google Shape;6580;p42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581" name="Google Shape;6581;p42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$27K</a:t>
            </a:r>
            <a:endParaRPr/>
          </a:p>
        </p:txBody>
      </p:sp>
      <p:sp>
        <p:nvSpPr>
          <p:cNvPr id="6582" name="Google Shape;6582;p42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$22K</a:t>
            </a:r>
            <a:endParaRPr/>
          </a:p>
        </p:txBody>
      </p:sp>
      <p:sp>
        <p:nvSpPr>
          <p:cNvPr id="6583" name="Google Shape;6583;p42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84" name="Google Shape;6584;p42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585" name="Google Shape;6585;p42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586" name="Google Shape;6586;p42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$22,281 YTD gross written premium</a:t>
            </a:r>
            <a:endParaRPr/>
          </a:p>
        </p:txBody>
      </p:sp>
      <p:sp>
        <p:nvSpPr>
          <p:cNvPr id="6587" name="Google Shape;6587;p42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588" name="Google Shape;6588;p42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$15,018 in new business production</a:t>
            </a:r>
            <a:endParaRPr/>
          </a:p>
        </p:txBody>
      </p:sp>
      <p:sp>
        <p:nvSpPr>
          <p:cNvPr id="6589" name="Google Shape;6589;p42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0" name="Google Shape;6590;p42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591" name="Google Shape;6591;p42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592" name="Google Shape;6592;p42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2.5% hit ratio on 81 subs - needs coaching</a:t>
            </a:r>
            <a:endParaRPr/>
          </a:p>
        </p:txBody>
      </p:sp>
      <p:sp>
        <p:nvSpPr>
          <p:cNvPr id="6593" name="Google Shape;6593;p42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594" name="Google Shape;6594;p42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87% month-over-month</a:t>
            </a:r>
            <a:endParaRPr/>
          </a:p>
        </p:txBody>
      </p:sp>
      <p:sp>
        <p:nvSpPr>
          <p:cNvPr id="6595" name="Google Shape;6595;p42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96" name="Google Shape;6596;p42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597" name="Google Shape;6597;p42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598" name="Google Shape;6598;p42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(81 subs, only 2 binds). Ask: "What are the top 2 reasons your clients go elsewhere?" Use answers to tailor appetite and pricing discussions.</a:t>
            </a:r>
            <a:endParaRPr/>
          </a:p>
        </p:txBody>
      </p:sp>
      <p:sp>
        <p:nvSpPr>
          <p:cNvPr id="6599" name="Google Shape;6599;p42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600" name="Google Shape;6600;p42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Celebrate the $15,018 in new business. Ask what made those deals work and how you can help replicate that success with similar accounts in their pipeline.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04" name="Shape 6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5" name="Google Shape;6605;p43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06" name="Google Shape;6606;p43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Sunstar Insurance Group Llc Dba Bulldog Insurance</a:t>
            </a:r>
            <a:endParaRPr/>
          </a:p>
        </p:txBody>
      </p:sp>
      <p:sp>
        <p:nvSpPr>
          <p:cNvPr id="6607" name="Google Shape;6607;p43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Georgia  |  City: Forest Park</a:t>
            </a:r>
            <a:endParaRPr/>
          </a:p>
        </p:txBody>
      </p:sp>
      <p:sp>
        <p:nvSpPr>
          <p:cNvPr id="6608" name="Google Shape;6608;p43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$17,658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609" name="Google Shape;6609;p43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10" name="Google Shape;6610;p43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11" name="Google Shape;6611;p43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$-2,590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12" name="Google Shape;6612;p43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$-36,773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13" name="Google Shape;6613;p43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$565,991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614" name="Google Shape;6614;p43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$288,725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615" name="Google Shape;6615;p43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616" name="Google Shape;6616;p43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617" name="Google Shape;6617;p43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18" name="Google Shape;6618;p43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19" name="Google Shape;6619;p43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620" name="Google Shape;6620;p43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$60,084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621" name="Google Shape;6621;p43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22" name="Google Shape;6622;p43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623" name="Google Shape;6623;p43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24" name="Google Shape;6624;p43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625" name="Google Shape;6625;p43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626" name="Google Shape;6626;p43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627" name="Google Shape;6627;p43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628" name="Google Shape;6628;p43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629" name="Google Shape;6629;p43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0" name="Google Shape;6630;p43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31" name="Google Shape;6631;p43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$-6,411</a:t>
            </a:r>
            <a:endParaRPr/>
          </a:p>
        </p:txBody>
      </p:sp>
      <p:sp>
        <p:nvSpPr>
          <p:cNvPr id="6632" name="Google Shape;6632;p43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3" name="Google Shape;6633;p43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4" name="Google Shape;6634;p43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$-6,411</a:t>
            </a:r>
            <a:endParaRPr/>
          </a:p>
        </p:txBody>
      </p:sp>
      <p:sp>
        <p:nvSpPr>
          <p:cNvPr id="6635" name="Google Shape;6635;p43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6" name="Google Shape;6636;p43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37" name="Google Shape;6637;p43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38" name="Google Shape;6638;p43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39" name="Google Shape;6639;p43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0" name="Google Shape;6640;p43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1" name="Google Shape;6641;p43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2" name="Google Shape;6642;p43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$-31,337</a:t>
            </a:r>
            <a:endParaRPr/>
          </a:p>
        </p:txBody>
      </p:sp>
      <p:sp>
        <p:nvSpPr>
          <p:cNvPr id="6643" name="Google Shape;6643;p43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44" name="Google Shape;6644;p43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45" name="Google Shape;6645;p43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$3,853</a:t>
            </a:r>
            <a:endParaRPr/>
          </a:p>
        </p:txBody>
      </p:sp>
      <p:sp>
        <p:nvSpPr>
          <p:cNvPr id="6646" name="Google Shape;6646;p43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7" name="Google Shape;6647;p43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48" name="Google Shape;6648;p43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$3,853</a:t>
            </a:r>
            <a:endParaRPr/>
          </a:p>
        </p:txBody>
      </p:sp>
      <p:sp>
        <p:nvSpPr>
          <p:cNvPr id="6649" name="Google Shape;6649;p43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$-3,853</a:t>
            </a:r>
            <a:endParaRPr/>
          </a:p>
        </p:txBody>
      </p:sp>
      <p:sp>
        <p:nvSpPr>
          <p:cNvPr id="6650" name="Google Shape;6650;p43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1" name="Google Shape;6651;p43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652" name="Google Shape;6652;p43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6653" name="Google Shape;6653;p43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4" name="Google Shape;6654;p43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5" name="Google Shape;6655;p43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6656" name="Google Shape;6656;p43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57" name="Google Shape;6657;p43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58" name="Google Shape;6658;p43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659" name="Google Shape;6659;p43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</a:t>
            </a:r>
            <a:endParaRPr/>
          </a:p>
        </p:txBody>
      </p:sp>
      <p:sp>
        <p:nvSpPr>
          <p:cNvPr id="6660" name="Google Shape;6660;p43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1" name="Google Shape;6661;p43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</a:t>
            </a:r>
            <a:endParaRPr/>
          </a:p>
        </p:txBody>
      </p:sp>
      <p:sp>
        <p:nvSpPr>
          <p:cNvPr id="6662" name="Google Shape;6662;p43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3" name="Google Shape;6663;p43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$-1,583</a:t>
            </a:r>
            <a:endParaRPr/>
          </a:p>
        </p:txBody>
      </p:sp>
      <p:sp>
        <p:nvSpPr>
          <p:cNvPr id="6664" name="Google Shape;6664;p43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5" name="Google Shape;6665;p43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666" name="Google Shape;6666;p43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$17,658</a:t>
            </a:r>
            <a:endParaRPr/>
          </a:p>
        </p:txBody>
      </p:sp>
      <p:sp>
        <p:nvSpPr>
          <p:cNvPr id="6667" name="Google Shape;6667;p43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668" name="Google Shape;6668;p43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</a:t>
            </a:r>
            <a:endParaRPr/>
          </a:p>
        </p:txBody>
      </p:sp>
      <p:sp>
        <p:nvSpPr>
          <p:cNvPr id="6669" name="Google Shape;6669;p43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$-2,590</a:t>
            </a:r>
            <a:endParaRPr/>
          </a:p>
        </p:txBody>
      </p:sp>
      <p:sp>
        <p:nvSpPr>
          <p:cNvPr id="6670" name="Google Shape;6670;p43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$-36,773</a:t>
            </a:r>
            <a:endParaRPr/>
          </a:p>
        </p:txBody>
      </p:sp>
      <p:sp>
        <p:nvSpPr>
          <p:cNvPr id="6671" name="Google Shape;6671;p43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72" name="Google Shape;6672;p43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673" name="Google Shape;6673;p43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674" name="Google Shape;6674;p43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675" name="Google Shape;6675;p43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676" name="Google Shape;6676;p43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677" name="Google Shape;6677;p43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678" name="Google Shape;6678;p43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679" name="Google Shape;6679;p43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0" name="Google Shape;6680;p43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681" name="Google Shape;6681;p43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82" name="Google Shape;6682;p43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83" name="Google Shape;6683;p43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684" name="Google Shape;6684;p43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685" name="Google Shape;6685;p43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40.0%</a:t>
            </a:r>
            <a:endParaRPr/>
          </a:p>
        </p:txBody>
      </p:sp>
      <p:sp>
        <p:nvSpPr>
          <p:cNvPr id="6686" name="Google Shape;6686;p43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7" name="Google Shape;6687;p43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688" name="Google Shape;6688;p43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89" name="Google Shape;6689;p43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90" name="Google Shape;6690;p43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691" name="Google Shape;6691;p43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692" name="Google Shape;6692;p43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693" name="Google Shape;6693;p43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94" name="Google Shape;6694;p43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695" name="Google Shape;6695;p43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696" name="Google Shape;6696;p43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697" name="Google Shape;6697;p43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698" name="Google Shape;6698;p43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699" name="Google Shape;6699;p43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00" name="Google Shape;6700;p43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1" name="Google Shape;6701;p43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702" name="Google Shape;6702;p43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03" name="Google Shape;6703;p43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04" name="Google Shape;6704;p43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05" name="Google Shape;6705;p43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706" name="Google Shape;6706;p43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14.3%</a:t>
            </a:r>
            <a:endParaRPr/>
          </a:p>
        </p:txBody>
      </p:sp>
      <p:sp>
        <p:nvSpPr>
          <p:cNvPr id="6707" name="Google Shape;6707;p43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08" name="Google Shape;6708;p43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709" name="Google Shape;6709;p43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10" name="Google Shape;6710;p43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1" name="Google Shape;6711;p43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12" name="Google Shape;6712;p43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713" name="Google Shape;6713;p43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714" name="Google Shape;6714;p43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5" name="Google Shape;6715;p43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716" name="Google Shape;6716;p43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</a:t>
            </a:r>
            <a:endParaRPr/>
          </a:p>
        </p:txBody>
      </p:sp>
      <p:sp>
        <p:nvSpPr>
          <p:cNvPr id="6717" name="Google Shape;6717;p43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18" name="Google Shape;6718;p43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6719" name="Google Shape;6719;p43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720" name="Google Shape;6720;p43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13.6%</a:t>
            </a:r>
            <a:endParaRPr/>
          </a:p>
        </p:txBody>
      </p:sp>
      <p:sp>
        <p:nvSpPr>
          <p:cNvPr id="6721" name="Google Shape;6721;p43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2" name="Google Shape;6722;p43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723" name="Google Shape;6723;p43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724" name="Google Shape;6724;p43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725" name="Google Shape;6725;p43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726" name="Google Shape;6726;p43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727" name="Google Shape;6727;p43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728" name="Google Shape;6728;p43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729" name="Google Shape;6729;p43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730" name="Google Shape;6730;p43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731" name="Google Shape;6731;p43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732" name="Google Shape;6732;p43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733" name="Google Shape;6733;p43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734" name="Google Shape;6734;p43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735" name="Google Shape;6735;p43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736" name="Google Shape;6736;p43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37" name="Google Shape;6737;p43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76</a:t>
            </a:r>
            <a:endParaRPr/>
          </a:p>
        </p:txBody>
      </p:sp>
      <p:sp>
        <p:nvSpPr>
          <p:cNvPr id="6738" name="Google Shape;6738;p43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739" name="Google Shape;6739;p43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71</a:t>
            </a:r>
            <a:endParaRPr/>
          </a:p>
        </p:txBody>
      </p:sp>
      <p:sp>
        <p:nvSpPr>
          <p:cNvPr id="6740" name="Google Shape;6740;p43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741" name="Google Shape;6741;p43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75</a:t>
            </a:r>
            <a:endParaRPr/>
          </a:p>
        </p:txBody>
      </p:sp>
      <p:sp>
        <p:nvSpPr>
          <p:cNvPr id="6742" name="Google Shape;6742;p43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6743" name="Google Shape;6743;p43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6744" name="Google Shape;6744;p43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745" name="Google Shape;6745;p43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80</a:t>
            </a:r>
            <a:endParaRPr/>
          </a:p>
        </p:txBody>
      </p:sp>
      <p:sp>
        <p:nvSpPr>
          <p:cNvPr id="6746" name="Google Shape;6746;p43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747" name="Google Shape;6747;p43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351</a:t>
            </a:r>
            <a:endParaRPr/>
          </a:p>
        </p:txBody>
      </p:sp>
      <p:sp>
        <p:nvSpPr>
          <p:cNvPr id="6748" name="Google Shape;6748;p43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6749" name="Google Shape;6749;p43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750" name="Google Shape;6750;p43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$85K</a:t>
            </a:r>
            <a:endParaRPr/>
          </a:p>
        </p:txBody>
      </p:sp>
      <p:sp>
        <p:nvSpPr>
          <p:cNvPr id="6751" name="Google Shape;6751;p43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$-6,411</a:t>
            </a:r>
            <a:endParaRPr/>
          </a:p>
        </p:txBody>
      </p:sp>
      <p:sp>
        <p:nvSpPr>
          <p:cNvPr id="6752" name="Google Shape;6752;p43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753" name="Google Shape;6753;p43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754" name="Google Shape;6754;p43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6755" name="Google Shape;6755;p43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$4K</a:t>
            </a:r>
            <a:endParaRPr/>
          </a:p>
        </p:txBody>
      </p:sp>
      <p:sp>
        <p:nvSpPr>
          <p:cNvPr id="6756" name="Google Shape;6756;p43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$83K</a:t>
            </a:r>
            <a:endParaRPr/>
          </a:p>
        </p:txBody>
      </p:sp>
      <p:sp>
        <p:nvSpPr>
          <p:cNvPr id="6757" name="Google Shape;6757;p43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$-31</a:t>
            </a:r>
            <a:endParaRPr/>
          </a:p>
        </p:txBody>
      </p:sp>
      <p:sp>
        <p:nvSpPr>
          <p:cNvPr id="6758" name="Google Shape;6758;p43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$52K</a:t>
            </a:r>
            <a:endParaRPr/>
          </a:p>
        </p:txBody>
      </p:sp>
      <p:sp>
        <p:nvSpPr>
          <p:cNvPr id="6759" name="Google Shape;6759;p43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6760" name="Google Shape;6760;p43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$295K</a:t>
            </a:r>
            <a:endParaRPr/>
          </a:p>
        </p:txBody>
      </p:sp>
      <p:sp>
        <p:nvSpPr>
          <p:cNvPr id="6761" name="Google Shape;6761;p43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6762" name="Google Shape;6762;p43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3" name="Google Shape;6763;p43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764" name="Google Shape;6764;p43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765" name="Google Shape;6765;p43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$17,658 YTD gross written premium</a:t>
            </a:r>
            <a:endParaRPr/>
          </a:p>
        </p:txBody>
      </p:sp>
      <p:sp>
        <p:nvSpPr>
          <p:cNvPr id="6766" name="Google Shape;6766;p43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767" name="Google Shape;6767;p43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$20,248 in renewals - strong retention</a:t>
            </a:r>
            <a:endParaRPr/>
          </a:p>
        </p:txBody>
      </p:sp>
      <p:sp>
        <p:nvSpPr>
          <p:cNvPr id="6768" name="Google Shape;6768;p43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9" name="Google Shape;6769;p43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770" name="Google Shape;6770;p43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771" name="Google Shape;6771;p43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 volume dropped from 7 to 2 MoM</a:t>
            </a:r>
            <a:endParaRPr/>
          </a:p>
        </p:txBody>
      </p:sp>
      <p:sp>
        <p:nvSpPr>
          <p:cNvPr id="6772" name="Google Shape;6772;p43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773" name="Google Shape;6773;p43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774" name="Google Shape;6774;p43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5" name="Google Shape;6775;p43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776" name="Google Shape;6776;p43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777" name="Google Shape;6777;p43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Open with a value-add: share a recent market update or new appetite expansion relevant to their book. Position yourself as a resource, not just a follow-up call.</a:t>
            </a:r>
            <a:endParaRPr/>
          </a:p>
        </p:txBody>
      </p:sp>
      <p:sp>
        <p:nvSpPr>
          <p:cNvPr id="6778" name="Google Shape;6778;p43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6779" name="Google Shape;6779;p43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Ask: "What's the biggest challenge in your trucking book right now?" Use their answer to tailor your next outreach with specific solutions.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783" name="Shape 6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4" name="Google Shape;6784;p44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5" name="Google Shape;6785;p44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Prominent Services Inc</a:t>
            </a:r>
            <a:endParaRPr/>
          </a:p>
        </p:txBody>
      </p:sp>
      <p:sp>
        <p:nvSpPr>
          <p:cNvPr id="6786" name="Google Shape;6786;p44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Miami</a:t>
            </a:r>
            <a:endParaRPr/>
          </a:p>
        </p:txBody>
      </p:sp>
      <p:sp>
        <p:nvSpPr>
          <p:cNvPr id="6787" name="Google Shape;6787;p44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788" name="Google Shape;6788;p44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789" name="Google Shape;6789;p44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790" name="Google Shape;6790;p44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791" name="Google Shape;6791;p44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$-5,656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792" name="Google Shape;6792;p44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$454,398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793" name="Google Shape;6793;p44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$199,510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794" name="Google Shape;6794;p44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795" name="Google Shape;6795;p44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796" name="Google Shape;6796;p44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797" name="Google Shape;6797;p44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798" name="Google Shape;6798;p44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799" name="Google Shape;6799;p44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$66,413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800" name="Google Shape;6800;p44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1" name="Google Shape;6801;p44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802" name="Google Shape;6802;p44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03" name="Google Shape;6803;p44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804" name="Google Shape;6804;p44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805" name="Google Shape;6805;p44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806" name="Google Shape;6806;p44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807" name="Google Shape;6807;p44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808" name="Google Shape;6808;p44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09" name="Google Shape;6809;p44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10" name="Google Shape;6810;p44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$1,054</a:t>
            </a:r>
            <a:endParaRPr/>
          </a:p>
        </p:txBody>
      </p:sp>
      <p:sp>
        <p:nvSpPr>
          <p:cNvPr id="6811" name="Google Shape;6811;p44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12" name="Google Shape;6812;p44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13" name="Google Shape;6813;p44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$1,054</a:t>
            </a:r>
            <a:endParaRPr/>
          </a:p>
        </p:txBody>
      </p:sp>
      <p:sp>
        <p:nvSpPr>
          <p:cNvPr id="6814" name="Google Shape;6814;p44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15" name="Google Shape;6815;p44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6" name="Google Shape;6816;p44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17" name="Google Shape;6817;p44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$5,656</a:t>
            </a:r>
            <a:endParaRPr/>
          </a:p>
        </p:txBody>
      </p:sp>
      <p:sp>
        <p:nvSpPr>
          <p:cNvPr id="6818" name="Google Shape;6818;p44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19" name="Google Shape;6819;p44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0" name="Google Shape;6820;p44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$5,656</a:t>
            </a:r>
            <a:endParaRPr/>
          </a:p>
        </p:txBody>
      </p:sp>
      <p:sp>
        <p:nvSpPr>
          <p:cNvPr id="6821" name="Google Shape;6821;p44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$-5,656</a:t>
            </a:r>
            <a:endParaRPr/>
          </a:p>
        </p:txBody>
      </p:sp>
      <p:sp>
        <p:nvSpPr>
          <p:cNvPr id="6822" name="Google Shape;6822;p44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3" name="Google Shape;6823;p44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24" name="Google Shape;6824;p44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5" name="Google Shape;6825;p44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6" name="Google Shape;6826;p44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7" name="Google Shape;6827;p44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8" name="Google Shape;6828;p44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29" name="Google Shape;6829;p44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0" name="Google Shape;6830;p44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31" name="Google Shape;6831;p44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$2,527</a:t>
            </a:r>
            <a:endParaRPr/>
          </a:p>
        </p:txBody>
      </p:sp>
      <p:sp>
        <p:nvSpPr>
          <p:cNvPr id="6832" name="Google Shape;6832;p44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3" name="Google Shape;6833;p44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4" name="Google Shape;6834;p44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$2,527</a:t>
            </a:r>
            <a:endParaRPr/>
          </a:p>
        </p:txBody>
      </p:sp>
      <p:sp>
        <p:nvSpPr>
          <p:cNvPr id="6835" name="Google Shape;6835;p44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36" name="Google Shape;6836;p44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7" name="Google Shape;6837;p44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38" name="Google Shape;6838;p44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$498</a:t>
            </a:r>
            <a:endParaRPr/>
          </a:p>
        </p:txBody>
      </p:sp>
      <p:sp>
        <p:nvSpPr>
          <p:cNvPr id="6839" name="Google Shape;6839;p44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0" name="Google Shape;6840;p44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1" name="Google Shape;6841;p44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$498</a:t>
            </a:r>
            <a:endParaRPr/>
          </a:p>
        </p:txBody>
      </p:sp>
      <p:sp>
        <p:nvSpPr>
          <p:cNvPr id="6842" name="Google Shape;6842;p44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3" name="Google Shape;6843;p44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44" name="Google Shape;6844;p44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45" name="Google Shape;6845;p44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$9,734</a:t>
            </a:r>
            <a:endParaRPr/>
          </a:p>
        </p:txBody>
      </p:sp>
      <p:sp>
        <p:nvSpPr>
          <p:cNvPr id="6846" name="Google Shape;6846;p44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7" name="Google Shape;6847;p44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848" name="Google Shape;6848;p44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$9,734</a:t>
            </a:r>
            <a:endParaRPr/>
          </a:p>
        </p:txBody>
      </p:sp>
      <p:sp>
        <p:nvSpPr>
          <p:cNvPr id="6849" name="Google Shape;6849;p44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$-5,656</a:t>
            </a:r>
            <a:endParaRPr/>
          </a:p>
        </p:txBody>
      </p:sp>
      <p:sp>
        <p:nvSpPr>
          <p:cNvPr id="6850" name="Google Shape;6850;p44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1" name="Google Shape;6851;p44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6852" name="Google Shape;6852;p44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853" name="Google Shape;6853;p44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6854" name="Google Shape;6854;p44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6855" name="Google Shape;6855;p44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6856" name="Google Shape;6856;p44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857" name="Google Shape;6857;p44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858" name="Google Shape;6858;p44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59" name="Google Shape;6859;p44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860" name="Google Shape;6860;p44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61" name="Google Shape;6861;p44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62" name="Google Shape;6862;p44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63" name="Google Shape;6863;p44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64" name="Google Shape;6864;p44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6865" name="Google Shape;6865;p44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6" name="Google Shape;6866;p44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867" name="Google Shape;6867;p44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868" name="Google Shape;6868;p44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69" name="Google Shape;6869;p44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870" name="Google Shape;6870;p44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71" name="Google Shape;6871;p44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20.0%</a:t>
            </a:r>
            <a:endParaRPr/>
          </a:p>
        </p:txBody>
      </p:sp>
      <p:sp>
        <p:nvSpPr>
          <p:cNvPr id="6872" name="Google Shape;6872;p44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3" name="Google Shape;6873;p44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6874" name="Google Shape;6874;p44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875" name="Google Shape;6875;p44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876" name="Google Shape;6876;p44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877" name="Google Shape;6877;p44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6878" name="Google Shape;6878;p44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6879" name="Google Shape;6879;p44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0" name="Google Shape;6880;p44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6881" name="Google Shape;6881;p44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882" name="Google Shape;6882;p44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883" name="Google Shape;6883;p44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16</a:t>
            </a:r>
            <a:endParaRPr/>
          </a:p>
        </p:txBody>
      </p:sp>
      <p:sp>
        <p:nvSpPr>
          <p:cNvPr id="6884" name="Google Shape;6884;p44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85" name="Google Shape;6885;p44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5.3%</a:t>
            </a:r>
            <a:endParaRPr/>
          </a:p>
        </p:txBody>
      </p:sp>
      <p:sp>
        <p:nvSpPr>
          <p:cNvPr id="6886" name="Google Shape;6886;p44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7" name="Google Shape;6887;p44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6888" name="Google Shape;6888;p44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889" name="Google Shape;6889;p44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890" name="Google Shape;6890;p44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6891" name="Google Shape;6891;p44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6892" name="Google Shape;6892;p44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6893" name="Google Shape;6893;p44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94" name="Google Shape;6894;p44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6895" name="Google Shape;6895;p44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</a:t>
            </a:r>
            <a:endParaRPr/>
          </a:p>
        </p:txBody>
      </p:sp>
      <p:sp>
        <p:nvSpPr>
          <p:cNvPr id="6896" name="Google Shape;6896;p44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6897" name="Google Shape;6897;p44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</a:t>
            </a:r>
            <a:endParaRPr/>
          </a:p>
        </p:txBody>
      </p:sp>
      <p:sp>
        <p:nvSpPr>
          <p:cNvPr id="6898" name="Google Shape;6898;p44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6899" name="Google Shape;6899;p44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3.5%</a:t>
            </a:r>
            <a:endParaRPr/>
          </a:p>
        </p:txBody>
      </p:sp>
      <p:sp>
        <p:nvSpPr>
          <p:cNvPr id="6900" name="Google Shape;6900;p44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01" name="Google Shape;6901;p44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6902" name="Google Shape;6902;p44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6903" name="Google Shape;6903;p44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6904" name="Google Shape;6904;p44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6905" name="Google Shape;6905;p44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6906" name="Google Shape;6906;p44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6907" name="Google Shape;6907;p44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6908" name="Google Shape;6908;p44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6909" name="Google Shape;6909;p44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6910" name="Google Shape;6910;p44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6911" name="Google Shape;6911;p44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6912" name="Google Shape;6912;p44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6913" name="Google Shape;6913;p44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6914" name="Google Shape;6914;p44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6915" name="Google Shape;6915;p44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16" name="Google Shape;6916;p44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917" name="Google Shape;6917;p44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6918" name="Google Shape;6918;p44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919" name="Google Shape;6919;p44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</a:t>
            </a:r>
            <a:endParaRPr/>
          </a:p>
        </p:txBody>
      </p:sp>
      <p:sp>
        <p:nvSpPr>
          <p:cNvPr id="6920" name="Google Shape;6920;p44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921" name="Google Shape;6921;p44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6922" name="Google Shape;6922;p44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6923" name="Google Shape;6923;p44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924" name="Google Shape;6924;p44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6925" name="Google Shape;6925;p44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6926" name="Google Shape;6926;p44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105</a:t>
            </a:r>
            <a:endParaRPr/>
          </a:p>
        </p:txBody>
      </p:sp>
      <p:sp>
        <p:nvSpPr>
          <p:cNvPr id="6927" name="Google Shape;6927;p44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6928" name="Google Shape;6928;p44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6929" name="Google Shape;6929;p44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$91K</a:t>
            </a:r>
            <a:endParaRPr/>
          </a:p>
        </p:txBody>
      </p:sp>
      <p:sp>
        <p:nvSpPr>
          <p:cNvPr id="6930" name="Google Shape;6930;p44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$1K</a:t>
            </a:r>
            <a:endParaRPr/>
          </a:p>
        </p:txBody>
      </p:sp>
      <p:sp>
        <p:nvSpPr>
          <p:cNvPr id="6931" name="Google Shape;6931;p44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932" name="Google Shape;6932;p44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$6K</a:t>
            </a:r>
            <a:endParaRPr/>
          </a:p>
        </p:txBody>
      </p:sp>
      <p:sp>
        <p:nvSpPr>
          <p:cNvPr id="6933" name="Google Shape;6933;p44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$59K</a:t>
            </a:r>
            <a:endParaRPr/>
          </a:p>
        </p:txBody>
      </p:sp>
      <p:sp>
        <p:nvSpPr>
          <p:cNvPr id="6934" name="Google Shape;6934;p44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35" name="Google Shape;6935;p44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$41K</a:t>
            </a:r>
            <a:endParaRPr/>
          </a:p>
        </p:txBody>
      </p:sp>
      <p:sp>
        <p:nvSpPr>
          <p:cNvPr id="6936" name="Google Shape;6936;p44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6937" name="Google Shape;6937;p44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$69K</a:t>
            </a:r>
            <a:endParaRPr/>
          </a:p>
        </p:txBody>
      </p:sp>
      <p:sp>
        <p:nvSpPr>
          <p:cNvPr id="6938" name="Google Shape;6938;p44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$498</a:t>
            </a:r>
            <a:endParaRPr/>
          </a:p>
        </p:txBody>
      </p:sp>
      <p:sp>
        <p:nvSpPr>
          <p:cNvPr id="6939" name="Google Shape;6939;p44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$265K</a:t>
            </a:r>
            <a:endParaRPr/>
          </a:p>
        </p:txBody>
      </p:sp>
      <p:sp>
        <p:nvSpPr>
          <p:cNvPr id="6940" name="Google Shape;6940;p44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$10K</a:t>
            </a:r>
            <a:endParaRPr/>
          </a:p>
        </p:txBody>
      </p:sp>
      <p:sp>
        <p:nvSpPr>
          <p:cNvPr id="6941" name="Google Shape;6941;p44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2" name="Google Shape;6942;p44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6943" name="Google Shape;6943;p44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44" name="Google Shape;6944;p44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$9,734 YTD gross written premium</a:t>
            </a:r>
            <a:endParaRPr/>
          </a:p>
        </p:txBody>
      </p:sp>
      <p:sp>
        <p:nvSpPr>
          <p:cNvPr id="6945" name="Google Shape;6945;p44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6946" name="Google Shape;6946;p44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57 submissions - highly active agency</a:t>
            </a:r>
            <a:endParaRPr/>
          </a:p>
        </p:txBody>
      </p:sp>
      <p:sp>
        <p:nvSpPr>
          <p:cNvPr id="6947" name="Google Shape;6947;p44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48" name="Google Shape;6948;p44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6949" name="Google Shape;6949;p44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50" name="Google Shape;6950;p44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80% month-over-month</a:t>
            </a:r>
            <a:endParaRPr/>
          </a:p>
        </p:txBody>
      </p:sp>
      <p:sp>
        <p:nvSpPr>
          <p:cNvPr id="6951" name="Google Shape;6951;p44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6952" name="Google Shape;6952;p44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6953" name="Google Shape;6953;p44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54" name="Google Shape;6954;p44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6955" name="Google Shape;6955;p44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6956" name="Google Shape;6956;p44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960" name="Shape 69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1" name="Google Shape;6961;p45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2" name="Google Shape;6962;p45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Durham Specialty Insurance LLC</a:t>
            </a:r>
            <a:endParaRPr/>
          </a:p>
        </p:txBody>
      </p:sp>
      <p:sp>
        <p:nvSpPr>
          <p:cNvPr id="6963" name="Google Shape;6963;p45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South Carolina  |  City: Florence</a:t>
            </a:r>
            <a:endParaRPr/>
          </a:p>
        </p:txBody>
      </p:sp>
      <p:sp>
        <p:nvSpPr>
          <p:cNvPr id="6964" name="Google Shape;6964;p45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6965" name="Google Shape;6965;p45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966" name="Google Shape;6966;p45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967" name="Google Shape;6967;p45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968" name="Google Shape;6968;p45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$-15,386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969" name="Google Shape;6969;p45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$293,173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6970" name="Google Shape;6970;p45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$112,254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6971" name="Google Shape;6971;p45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6972" name="Google Shape;6972;p45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6973" name="Google Shape;6973;p45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6974" name="Google Shape;6974;p45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6975" name="Google Shape;6975;p45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6976" name="Google Shape;6976;p45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6977" name="Google Shape;6977;p45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8" name="Google Shape;6978;p45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6979" name="Google Shape;6979;p45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6980" name="Google Shape;6980;p45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6981" name="Google Shape;6981;p45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6982" name="Google Shape;6982;p45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6983" name="Google Shape;6983;p45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6984" name="Google Shape;6984;p45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6985" name="Google Shape;6985;p45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6" name="Google Shape;6986;p45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6987" name="Google Shape;6987;p45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88" name="Google Shape;6988;p45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89" name="Google Shape;6989;p45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90" name="Google Shape;6990;p45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91" name="Google Shape;6991;p45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92" name="Google Shape;6992;p45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93" name="Google Shape;6993;p45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6994" name="Google Shape;6994;p45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</p:txBody>
      </p:sp>
      <p:sp>
        <p:nvSpPr>
          <p:cNvPr id="6995" name="Google Shape;6995;p45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96" name="Google Shape;6996;p45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6997" name="Google Shape;6997;p45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</p:txBody>
      </p:sp>
      <p:sp>
        <p:nvSpPr>
          <p:cNvPr id="6998" name="Google Shape;6998;p45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$-9,109</a:t>
            </a:r>
            <a:endParaRPr/>
          </a:p>
        </p:txBody>
      </p:sp>
      <p:sp>
        <p:nvSpPr>
          <p:cNvPr id="6999" name="Google Shape;6999;p45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0" name="Google Shape;7000;p45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01" name="Google Shape;7001;p45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2" name="Google Shape;7002;p45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3" name="Google Shape;7003;p45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4" name="Google Shape;7004;p45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5" name="Google Shape;7005;p45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6" name="Google Shape;7006;p45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07" name="Google Shape;7007;p45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08" name="Google Shape;7008;p45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09" name="Google Shape;7009;p45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0" name="Google Shape;7010;p45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1" name="Google Shape;7011;p45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2" name="Google Shape;7012;p45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$-6,277</a:t>
            </a:r>
            <a:endParaRPr/>
          </a:p>
        </p:txBody>
      </p:sp>
      <p:sp>
        <p:nvSpPr>
          <p:cNvPr id="7013" name="Google Shape;7013;p45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4" name="Google Shape;7014;p45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15" name="Google Shape;7015;p45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6" name="Google Shape;7016;p45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7" name="Google Shape;7017;p45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8" name="Google Shape;7018;p45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19" name="Google Shape;7019;p45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0" name="Google Shape;7020;p45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1" name="Google Shape;7021;p45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022" name="Google Shape;7022;p45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</p:txBody>
      </p:sp>
      <p:sp>
        <p:nvSpPr>
          <p:cNvPr id="7023" name="Google Shape;7023;p45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4" name="Google Shape;7024;p45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025" name="Google Shape;7025;p45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</a:t>
            </a:r>
            <a:endParaRPr/>
          </a:p>
        </p:txBody>
      </p:sp>
      <p:sp>
        <p:nvSpPr>
          <p:cNvPr id="7026" name="Google Shape;7026;p45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$-15,386</a:t>
            </a:r>
            <a:endParaRPr/>
          </a:p>
        </p:txBody>
      </p:sp>
      <p:sp>
        <p:nvSpPr>
          <p:cNvPr id="7027" name="Google Shape;7027;p45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8" name="Google Shape;7028;p45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029" name="Google Shape;7029;p45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030" name="Google Shape;7030;p45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031" name="Google Shape;7031;p45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032" name="Google Shape;7032;p45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033" name="Google Shape;7033;p45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034" name="Google Shape;7034;p45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035" name="Google Shape;7035;p45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6" name="Google Shape;7036;p45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037" name="Google Shape;7037;p45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38" name="Google Shape;7038;p45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39" name="Google Shape;7039;p45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40" name="Google Shape;7040;p45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41" name="Google Shape;7041;p45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42" name="Google Shape;7042;p45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43" name="Google Shape;7043;p45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044" name="Google Shape;7044;p45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45" name="Google Shape;7045;p45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46" name="Google Shape;7046;p45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47" name="Google Shape;7047;p45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48" name="Google Shape;7048;p45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33.3%</a:t>
            </a:r>
            <a:endParaRPr/>
          </a:p>
        </p:txBody>
      </p:sp>
      <p:sp>
        <p:nvSpPr>
          <p:cNvPr id="7049" name="Google Shape;7049;p45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0" name="Google Shape;7050;p45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051" name="Google Shape;7051;p45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52" name="Google Shape;7052;p45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53" name="Google Shape;7053;p45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54" name="Google Shape;7054;p45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55" name="Google Shape;7055;p45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56" name="Google Shape;7056;p45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57" name="Google Shape;7057;p45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058" name="Google Shape;7058;p45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59" name="Google Shape;7059;p45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0" name="Google Shape;7060;p45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61" name="Google Shape;7061;p45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2" name="Google Shape;7062;p45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63" name="Google Shape;7063;p45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64" name="Google Shape;7064;p45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065" name="Google Shape;7065;p45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066" name="Google Shape;7066;p45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7" name="Google Shape;7067;p45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068" name="Google Shape;7068;p45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69" name="Google Shape;7069;p45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70" name="Google Shape;7070;p45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1" name="Google Shape;7071;p45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072" name="Google Shape;7072;p45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073" name="Google Shape;7073;p45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74" name="Google Shape;7074;p45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</a:t>
            </a:r>
            <a:endParaRPr/>
          </a:p>
        </p:txBody>
      </p:sp>
      <p:sp>
        <p:nvSpPr>
          <p:cNvPr id="7075" name="Google Shape;7075;p45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76" name="Google Shape;7076;p45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077" name="Google Shape;7077;p45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78" name="Google Shape;7078;p45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079" name="Google Shape;7079;p45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080" name="Google Shape;7080;p45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081" name="Google Shape;7081;p45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082" name="Google Shape;7082;p45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083" name="Google Shape;7083;p45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084" name="Google Shape;7084;p45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085" name="Google Shape;7085;p45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086" name="Google Shape;7086;p45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087" name="Google Shape;7087;p45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088" name="Google Shape;7088;p45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089" name="Google Shape;7089;p45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090" name="Google Shape;7090;p45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091" name="Google Shape;7091;p45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092" name="Google Shape;7092;p45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093" name="Google Shape;7093;p45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094" name="Google Shape;7094;p45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095" name="Google Shape;7095;p45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096" name="Google Shape;7096;p45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097" name="Google Shape;7097;p45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7098" name="Google Shape;7098;p45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099" name="Google Shape;7099;p45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45</a:t>
            </a:r>
            <a:endParaRPr/>
          </a:p>
        </p:txBody>
      </p:sp>
      <p:sp>
        <p:nvSpPr>
          <p:cNvPr id="7100" name="Google Shape;7100;p45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101" name="Google Shape;7101;p45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7102" name="Google Shape;7102;p45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103" name="Google Shape;7103;p45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187</a:t>
            </a:r>
            <a:endParaRPr/>
          </a:p>
        </p:txBody>
      </p:sp>
      <p:sp>
        <p:nvSpPr>
          <p:cNvPr id="7104" name="Google Shape;7104;p45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</a:t>
            </a:r>
            <a:endParaRPr/>
          </a:p>
        </p:txBody>
      </p:sp>
      <p:sp>
        <p:nvSpPr>
          <p:cNvPr id="7105" name="Google Shape;7105;p45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106" name="Google Shape;7106;p45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7107" name="Google Shape;7107;p45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08" name="Google Shape;7108;p45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$2K</a:t>
            </a:r>
            <a:endParaRPr/>
          </a:p>
        </p:txBody>
      </p:sp>
      <p:sp>
        <p:nvSpPr>
          <p:cNvPr id="7109" name="Google Shape;7109;p45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7110" name="Google Shape;7110;p45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$18K</a:t>
            </a:r>
            <a:endParaRPr/>
          </a:p>
        </p:txBody>
      </p:sp>
      <p:sp>
        <p:nvSpPr>
          <p:cNvPr id="7111" name="Google Shape;7111;p45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2" name="Google Shape;7112;p45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$16K</a:t>
            </a:r>
            <a:endParaRPr/>
          </a:p>
        </p:txBody>
      </p:sp>
      <p:sp>
        <p:nvSpPr>
          <p:cNvPr id="7113" name="Google Shape;7113;p45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4" name="Google Shape;7114;p45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$107K</a:t>
            </a:r>
            <a:endParaRPr/>
          </a:p>
        </p:txBody>
      </p:sp>
      <p:sp>
        <p:nvSpPr>
          <p:cNvPr id="7115" name="Google Shape;7115;p45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16" name="Google Shape;7116;p45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$190K</a:t>
            </a:r>
            <a:endParaRPr/>
          </a:p>
        </p:txBody>
      </p:sp>
      <p:sp>
        <p:nvSpPr>
          <p:cNvPr id="7117" name="Google Shape;7117;p45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$9K</a:t>
            </a:r>
            <a:endParaRPr/>
          </a:p>
        </p:txBody>
      </p:sp>
      <p:sp>
        <p:nvSpPr>
          <p:cNvPr id="7118" name="Google Shape;7118;p45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19" name="Google Shape;7119;p45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120" name="Google Shape;7120;p45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21" name="Google Shape;7121;p45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$9,109 YTD gross written premium</a:t>
            </a:r>
            <a:endParaRPr/>
          </a:p>
        </p:txBody>
      </p:sp>
      <p:sp>
        <p:nvSpPr>
          <p:cNvPr id="7122" name="Google Shape;7122;p45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123" name="Google Shape;7123;p45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 quotes generated - active in pipeline</a:t>
            </a:r>
            <a:endParaRPr/>
          </a:p>
        </p:txBody>
      </p:sp>
      <p:sp>
        <p:nvSpPr>
          <p:cNvPr id="7124" name="Google Shape;7124;p45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5" name="Google Shape;7125;p45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126" name="Google Shape;7126;p45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27" name="Google Shape;7127;p45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19 submissions with zero binds - zero conversion</a:t>
            </a:r>
            <a:endParaRPr/>
          </a:p>
        </p:txBody>
      </p:sp>
      <p:sp>
        <p:nvSpPr>
          <p:cNvPr id="7128" name="Google Shape;7128;p45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129" name="Google Shape;7129;p45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7130" name="Google Shape;7130;p45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31" name="Google Shape;7131;p45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132" name="Google Shape;7132;p45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133" name="Google Shape;7133;p45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19 quoted-not-bound submissions together. Ask which quotes were close and what competitors offered - identifies specific pricing or appetite gaps to escalate internally.</a:t>
            </a:r>
            <a:endParaRPr/>
          </a:p>
        </p:txBody>
      </p:sp>
      <p:sp>
        <p:nvSpPr>
          <p:cNvPr id="7134" name="Google Shape;7134;p45"/>
          <p:cNvSpPr txBox="1"/>
          <p:nvPr/>
        </p:nvSpPr>
        <p:spPr>
          <a:xfrm>
            <a:off x="457200" y="6656831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2.</a:t>
            </a:r>
            <a:endParaRPr/>
          </a:p>
        </p:txBody>
      </p:sp>
      <p:sp>
        <p:nvSpPr>
          <p:cNvPr id="7135" name="Google Shape;7135;p45"/>
          <p:cNvSpPr txBox="1"/>
          <p:nvPr/>
        </p:nvSpPr>
        <p:spPr>
          <a:xfrm>
            <a:off x="777240" y="6656831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Pull up their 15 recent quotes and review together. Ask: "Which of these were closest to binding?" Offer to re-quote or adjust terms on the most promising ones.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39" name="Shape 7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0" name="Google Shape;7140;p46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1" name="Google Shape;7141;p46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Interglobal Insurance Company</a:t>
            </a:r>
            <a:endParaRPr/>
          </a:p>
        </p:txBody>
      </p:sp>
      <p:sp>
        <p:nvSpPr>
          <p:cNvPr id="7142" name="Google Shape;7142;p46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Homestead</a:t>
            </a:r>
            <a:endParaRPr/>
          </a:p>
        </p:txBody>
      </p:sp>
      <p:sp>
        <p:nvSpPr>
          <p:cNvPr id="7143" name="Google Shape;7143;p46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144" name="Google Shape;7144;p46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45" name="Google Shape;7145;p46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46" name="Google Shape;7146;p46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47" name="Google Shape;7147;p46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48" name="Google Shape;7148;p46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$373,424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149" name="Google Shape;7149;p46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$190,195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150" name="Google Shape;7150;p46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151" name="Google Shape;7151;p46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152" name="Google Shape;7152;p46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153" name="Google Shape;7153;p46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0.5%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154" name="Google Shape;7154;p46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$15,670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155" name="Google Shape;7155;p46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156" name="Google Shape;7156;p46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57" name="Google Shape;7157;p46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158" name="Google Shape;7158;p46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159" name="Google Shape;7159;p46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160" name="Google Shape;7160;p46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161" name="Google Shape;7161;p46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162" name="Google Shape;7162;p46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163" name="Google Shape;7163;p46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164" name="Google Shape;7164;p46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5" name="Google Shape;7165;p46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166" name="Google Shape;7166;p46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167" name="Google Shape;7167;p46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8" name="Google Shape;7168;p46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69" name="Google Shape;7169;p46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170" name="Google Shape;7170;p46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71" name="Google Shape;7171;p46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2" name="Google Shape;7172;p46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173" name="Google Shape;7173;p46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74" name="Google Shape;7174;p46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75" name="Google Shape;7175;p46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76" name="Google Shape;7176;p46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77" name="Google Shape;7177;p46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78" name="Google Shape;7178;p46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9" name="Google Shape;7179;p46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180" name="Google Shape;7180;p46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1" name="Google Shape;7181;p46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2" name="Google Shape;7182;p46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3" name="Google Shape;7183;p46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4" name="Google Shape;7184;p46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5" name="Google Shape;7185;p46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86" name="Google Shape;7186;p46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187" name="Google Shape;7187;p46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8" name="Google Shape;7188;p46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89" name="Google Shape;7189;p46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0" name="Google Shape;7190;p46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1" name="Google Shape;7191;p46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2" name="Google Shape;7192;p46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3" name="Google Shape;7193;p46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194" name="Google Shape;7194;p46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5" name="Google Shape;7195;p46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6" name="Google Shape;7196;p46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7" name="Google Shape;7197;p46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8" name="Google Shape;7198;p46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199" name="Google Shape;7199;p46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0" name="Google Shape;7200;p46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01" name="Google Shape;7201;p46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202" name="Google Shape;7202;p46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3" name="Google Shape;7203;p46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4" name="Google Shape;7204;p46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205" name="Google Shape;7205;p46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06" name="Google Shape;7206;p46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7" name="Google Shape;7207;p46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208" name="Google Shape;7208;p46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209" name="Google Shape;7209;p46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210" name="Google Shape;7210;p46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211" name="Google Shape;7211;p46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212" name="Google Shape;7212;p46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213" name="Google Shape;7213;p46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214" name="Google Shape;7214;p46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15" name="Google Shape;7215;p46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216" name="Google Shape;7216;p46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217" name="Google Shape;7217;p46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18" name="Google Shape;7218;p46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27</a:t>
            </a:r>
            <a:endParaRPr/>
          </a:p>
        </p:txBody>
      </p:sp>
      <p:sp>
        <p:nvSpPr>
          <p:cNvPr id="7219" name="Google Shape;7219;p46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220" name="Google Shape;7220;p46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7.1%</a:t>
            </a:r>
            <a:endParaRPr/>
          </a:p>
        </p:txBody>
      </p:sp>
      <p:sp>
        <p:nvSpPr>
          <p:cNvPr id="7221" name="Google Shape;7221;p46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2" name="Google Shape;7222;p46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223" name="Google Shape;7223;p46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224" name="Google Shape;7224;p46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25" name="Google Shape;7225;p46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226" name="Google Shape;7226;p46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27" name="Google Shape;7227;p46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28" name="Google Shape;7228;p46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9" name="Google Shape;7229;p46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230" name="Google Shape;7230;p46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231" name="Google Shape;7231;p46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32" name="Google Shape;7232;p46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233" name="Google Shape;7233;p46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34" name="Google Shape;7234;p46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35" name="Google Shape;7235;p46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6" name="Google Shape;7236;p46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237" name="Google Shape;7237;p46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7238" name="Google Shape;7238;p46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239" name="Google Shape;7239;p46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7240" name="Google Shape;7240;p46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41" name="Google Shape;7241;p46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42" name="Google Shape;7242;p46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43" name="Google Shape;7243;p46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244" name="Google Shape;7244;p46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7245" name="Google Shape;7245;p46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246" name="Google Shape;7246;p46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37</a:t>
            </a:r>
            <a:endParaRPr/>
          </a:p>
        </p:txBody>
      </p:sp>
      <p:sp>
        <p:nvSpPr>
          <p:cNvPr id="7247" name="Google Shape;7247;p46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248" name="Google Shape;7248;p46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249" name="Google Shape;7249;p46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0" name="Google Shape;7250;p46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251" name="Google Shape;7251;p46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185</a:t>
            </a:r>
            <a:endParaRPr/>
          </a:p>
        </p:txBody>
      </p:sp>
      <p:sp>
        <p:nvSpPr>
          <p:cNvPr id="7252" name="Google Shape;7252;p46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253" name="Google Shape;7253;p46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179</a:t>
            </a:r>
            <a:endParaRPr/>
          </a:p>
        </p:txBody>
      </p:sp>
      <p:sp>
        <p:nvSpPr>
          <p:cNvPr id="7254" name="Google Shape;7254;p46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255" name="Google Shape;7255;p46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0.5%</a:t>
            </a:r>
            <a:endParaRPr/>
          </a:p>
        </p:txBody>
      </p:sp>
      <p:sp>
        <p:nvSpPr>
          <p:cNvPr id="7256" name="Google Shape;7256;p46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7" name="Google Shape;7257;p46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258" name="Google Shape;7258;p46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259" name="Google Shape;7259;p46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260" name="Google Shape;7260;p46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261" name="Google Shape;7261;p46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262" name="Google Shape;7262;p46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263" name="Google Shape;7263;p46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264" name="Google Shape;7264;p46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265" name="Google Shape;7265;p46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266" name="Google Shape;7266;p46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267" name="Google Shape;7267;p46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268" name="Google Shape;7268;p46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269" name="Google Shape;7269;p46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270" name="Google Shape;7270;p46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271" name="Google Shape;7271;p46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272" name="Google Shape;7272;p46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7273" name="Google Shape;7273;p46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274" name="Google Shape;7274;p46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43</a:t>
            </a:r>
            <a:endParaRPr/>
          </a:p>
        </p:txBody>
      </p:sp>
      <p:sp>
        <p:nvSpPr>
          <p:cNvPr id="7275" name="Google Shape;7275;p46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28</a:t>
            </a:r>
            <a:endParaRPr/>
          </a:p>
        </p:txBody>
      </p:sp>
      <p:sp>
        <p:nvSpPr>
          <p:cNvPr id="7276" name="Google Shape;7276;p46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49</a:t>
            </a:r>
            <a:endParaRPr/>
          </a:p>
        </p:txBody>
      </p:sp>
      <p:sp>
        <p:nvSpPr>
          <p:cNvPr id="7277" name="Google Shape;7277;p46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35</a:t>
            </a:r>
            <a:endParaRPr/>
          </a:p>
        </p:txBody>
      </p:sp>
      <p:sp>
        <p:nvSpPr>
          <p:cNvPr id="7278" name="Google Shape;7278;p46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47</a:t>
            </a:r>
            <a:endParaRPr/>
          </a:p>
        </p:txBody>
      </p:sp>
      <p:sp>
        <p:nvSpPr>
          <p:cNvPr id="7279" name="Google Shape;7279;p46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55</a:t>
            </a:r>
            <a:endParaRPr/>
          </a:p>
        </p:txBody>
      </p:sp>
      <p:sp>
        <p:nvSpPr>
          <p:cNvPr id="7280" name="Google Shape;7280;p46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41</a:t>
            </a:r>
            <a:endParaRPr/>
          </a:p>
        </p:txBody>
      </p:sp>
      <p:sp>
        <p:nvSpPr>
          <p:cNvPr id="7281" name="Google Shape;7281;p46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40</a:t>
            </a:r>
            <a:endParaRPr/>
          </a:p>
        </p:txBody>
      </p:sp>
      <p:sp>
        <p:nvSpPr>
          <p:cNvPr id="7282" name="Google Shape;7282;p46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227</a:t>
            </a:r>
            <a:endParaRPr/>
          </a:p>
        </p:txBody>
      </p:sp>
      <p:sp>
        <p:nvSpPr>
          <p:cNvPr id="7283" name="Google Shape;7283;p46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186</a:t>
            </a:r>
            <a:endParaRPr/>
          </a:p>
        </p:txBody>
      </p:sp>
      <p:sp>
        <p:nvSpPr>
          <p:cNvPr id="7284" name="Google Shape;7284;p46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285" name="Google Shape;7285;p46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$15K</a:t>
            </a:r>
            <a:endParaRPr/>
          </a:p>
        </p:txBody>
      </p:sp>
      <p:sp>
        <p:nvSpPr>
          <p:cNvPr id="7286" name="Google Shape;7286;p46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287" name="Google Shape;7287;p46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$20K</a:t>
            </a:r>
            <a:endParaRPr/>
          </a:p>
        </p:txBody>
      </p:sp>
      <p:sp>
        <p:nvSpPr>
          <p:cNvPr id="7288" name="Google Shape;7288;p46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89" name="Google Shape;7289;p46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$73K</a:t>
            </a:r>
            <a:endParaRPr/>
          </a:p>
        </p:txBody>
      </p:sp>
      <p:sp>
        <p:nvSpPr>
          <p:cNvPr id="7290" name="Google Shape;7290;p46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1" name="Google Shape;7291;p46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$28K</a:t>
            </a:r>
            <a:endParaRPr/>
          </a:p>
        </p:txBody>
      </p:sp>
      <p:sp>
        <p:nvSpPr>
          <p:cNvPr id="7292" name="Google Shape;7292;p46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3" name="Google Shape;7293;p46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$48K</a:t>
            </a:r>
            <a:endParaRPr/>
          </a:p>
        </p:txBody>
      </p:sp>
      <p:sp>
        <p:nvSpPr>
          <p:cNvPr id="7294" name="Google Shape;7294;p46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295" name="Google Shape;7295;p46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$184K</a:t>
            </a:r>
            <a:endParaRPr/>
          </a:p>
        </p:txBody>
      </p:sp>
      <p:sp>
        <p:nvSpPr>
          <p:cNvPr id="7296" name="Google Shape;7296;p46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</a:t>
            </a:r>
            <a:endParaRPr/>
          </a:p>
        </p:txBody>
      </p:sp>
      <p:sp>
        <p:nvSpPr>
          <p:cNvPr id="7297" name="Google Shape;7297;p46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98" name="Google Shape;7298;p46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299" name="Google Shape;7299;p46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00" name="Google Shape;7300;p46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$915 YTD gross written premium</a:t>
            </a:r>
            <a:endParaRPr/>
          </a:p>
        </p:txBody>
      </p:sp>
      <p:sp>
        <p:nvSpPr>
          <p:cNvPr id="7301" name="Google Shape;7301;p46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302" name="Google Shape;7302;p46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185 submissions - highly active agency</a:t>
            </a:r>
            <a:endParaRPr/>
          </a:p>
        </p:txBody>
      </p:sp>
      <p:sp>
        <p:nvSpPr>
          <p:cNvPr id="7303" name="Google Shape;7303;p46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04" name="Google Shape;7304;p46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305" name="Google Shape;7305;p46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06" name="Google Shape;7306;p46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Low 0.5% hit ratio on 185 subs - needs coaching</a:t>
            </a:r>
            <a:endParaRPr/>
          </a:p>
        </p:txBody>
      </p:sp>
      <p:sp>
        <p:nvSpPr>
          <p:cNvPr id="7307" name="Google Shape;7307;p46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308" name="Google Shape;7308;p46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 new business - all premium from renewals/endorsements only</a:t>
            </a:r>
            <a:endParaRPr/>
          </a:p>
        </p:txBody>
      </p:sp>
      <p:sp>
        <p:nvSpPr>
          <p:cNvPr id="7309" name="Google Shape;7309;p46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0" name="Google Shape;7310;p46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311" name="Google Shape;7311;p46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312" name="Google Shape;7312;p46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Walk through recent lost quotes (185 subs, only 1 binds). Ask: "What are the top 2 reasons your clients go elsewhere?" Use answers to tailor appetite and pricing discussions.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16" name="Shape 7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7" name="Google Shape;7317;p47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18" name="Google Shape;7318;p47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Assurance Group Of America, Inc.</a:t>
            </a:r>
            <a:endParaRPr/>
          </a:p>
        </p:txBody>
      </p:sp>
      <p:sp>
        <p:nvSpPr>
          <p:cNvPr id="7319" name="Google Shape;7319;p47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Port St Lucie</a:t>
            </a:r>
            <a:endParaRPr/>
          </a:p>
        </p:txBody>
      </p:sp>
      <p:sp>
        <p:nvSpPr>
          <p:cNvPr id="7320" name="Google Shape;7320;p47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321" name="Google Shape;7321;p47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22" name="Google Shape;7322;p47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23" name="Google Shape;7323;p47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24" name="Google Shape;7324;p47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$-5,583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25" name="Google Shape;7325;p47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$204,734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326" name="Google Shape;7326;p47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$136,413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327" name="Google Shape;7327;p47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328" name="Google Shape;7328;p47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329" name="Google Shape;7329;p47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30" name="Google Shape;7330;p47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31" name="Google Shape;7331;p47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332" name="Google Shape;7332;p47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$75,192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333" name="Google Shape;7333;p47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34" name="Google Shape;7334;p47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335" name="Google Shape;7335;p47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336" name="Google Shape;7336;p47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337" name="Google Shape;7337;p47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338" name="Google Shape;7338;p47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339" name="Google Shape;7339;p47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340" name="Google Shape;7340;p47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341" name="Google Shape;7341;p47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2" name="Google Shape;7342;p47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43" name="Google Shape;7343;p47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$-10,959</a:t>
            </a:r>
            <a:endParaRPr/>
          </a:p>
        </p:txBody>
      </p:sp>
      <p:sp>
        <p:nvSpPr>
          <p:cNvPr id="7344" name="Google Shape;7344;p47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45" name="Google Shape;7345;p47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46" name="Google Shape;7346;p47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$-10,959</a:t>
            </a:r>
            <a:endParaRPr/>
          </a:p>
        </p:txBody>
      </p:sp>
      <p:sp>
        <p:nvSpPr>
          <p:cNvPr id="7347" name="Google Shape;7347;p47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48" name="Google Shape;7348;p47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9" name="Google Shape;7349;p47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350" name="Google Shape;7350;p47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$3,168</a:t>
            </a:r>
            <a:endParaRPr/>
          </a:p>
        </p:txBody>
      </p:sp>
      <p:sp>
        <p:nvSpPr>
          <p:cNvPr id="7351" name="Google Shape;7351;p47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52" name="Google Shape;7352;p47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53" name="Google Shape;7353;p47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$3,168</a:t>
            </a:r>
            <a:endParaRPr/>
          </a:p>
        </p:txBody>
      </p:sp>
      <p:sp>
        <p:nvSpPr>
          <p:cNvPr id="7354" name="Google Shape;7354;p47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55" name="Google Shape;7355;p47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56" name="Google Shape;7356;p47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357" name="Google Shape;7357;p47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$3,209</a:t>
            </a:r>
            <a:endParaRPr/>
          </a:p>
        </p:txBody>
      </p:sp>
      <p:sp>
        <p:nvSpPr>
          <p:cNvPr id="7358" name="Google Shape;7358;p47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59" name="Google Shape;7359;p47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0" name="Google Shape;7360;p47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$3,209</a:t>
            </a:r>
            <a:endParaRPr/>
          </a:p>
        </p:txBody>
      </p:sp>
      <p:sp>
        <p:nvSpPr>
          <p:cNvPr id="7361" name="Google Shape;7361;p47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2" name="Google Shape;7362;p47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3" name="Google Shape;7363;p47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364" name="Google Shape;7364;p47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5" name="Google Shape;7365;p47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6" name="Google Shape;7366;p47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7" name="Google Shape;7367;p47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68" name="Google Shape;7368;p47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$-5,583</a:t>
            </a:r>
            <a:endParaRPr/>
          </a:p>
        </p:txBody>
      </p:sp>
      <p:sp>
        <p:nvSpPr>
          <p:cNvPr id="7369" name="Google Shape;7369;p47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0" name="Google Shape;7370;p47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371" name="Google Shape;7371;p47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2" name="Google Shape;7372;p47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3" name="Google Shape;7373;p47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4" name="Google Shape;7374;p47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5" name="Google Shape;7375;p47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76" name="Google Shape;7376;p47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77" name="Google Shape;7377;p47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378" name="Google Shape;7378;p47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</p:txBody>
      </p:sp>
      <p:sp>
        <p:nvSpPr>
          <p:cNvPr id="7379" name="Google Shape;7379;p47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0" name="Google Shape;7380;p47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381" name="Google Shape;7381;p47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</p:txBody>
      </p:sp>
      <p:sp>
        <p:nvSpPr>
          <p:cNvPr id="7382" name="Google Shape;7382;p47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$-5,583</a:t>
            </a:r>
            <a:endParaRPr/>
          </a:p>
        </p:txBody>
      </p:sp>
      <p:sp>
        <p:nvSpPr>
          <p:cNvPr id="7383" name="Google Shape;7383;p47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4" name="Google Shape;7384;p47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385" name="Google Shape;7385;p47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386" name="Google Shape;7386;p47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387" name="Google Shape;7387;p47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388" name="Google Shape;7388;p47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389" name="Google Shape;7389;p47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390" name="Google Shape;7390;p47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391" name="Google Shape;7391;p47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2" name="Google Shape;7392;p47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393" name="Google Shape;7393;p47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94" name="Google Shape;7394;p47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395" name="Google Shape;7395;p47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396" name="Google Shape;7396;p47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397" name="Google Shape;7397;p47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25.0%</a:t>
            </a:r>
            <a:endParaRPr/>
          </a:p>
        </p:txBody>
      </p:sp>
      <p:sp>
        <p:nvSpPr>
          <p:cNvPr id="7398" name="Google Shape;7398;p47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9" name="Google Shape;7399;p47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400" name="Google Shape;7400;p47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401" name="Google Shape;7401;p47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02" name="Google Shape;7402;p47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403" name="Google Shape;7403;p47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404" name="Google Shape;7404;p47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17.6%</a:t>
            </a:r>
            <a:endParaRPr/>
          </a:p>
        </p:txBody>
      </p:sp>
      <p:sp>
        <p:nvSpPr>
          <p:cNvPr id="7405" name="Google Shape;7405;p47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6" name="Google Shape;7406;p47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407" name="Google Shape;7407;p47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408" name="Google Shape;7408;p47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09" name="Google Shape;7409;p47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410" name="Google Shape;7410;p47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11" name="Google Shape;7411;p47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13.3%</a:t>
            </a:r>
            <a:endParaRPr/>
          </a:p>
        </p:txBody>
      </p:sp>
      <p:sp>
        <p:nvSpPr>
          <p:cNvPr id="7412" name="Google Shape;7412;p47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3" name="Google Shape;7413;p47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414" name="Google Shape;7414;p47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415" name="Google Shape;7415;p47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16" name="Google Shape;7416;p47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417" name="Google Shape;7417;p47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18" name="Google Shape;7418;p47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19" name="Google Shape;7419;p47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0" name="Google Shape;7420;p47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421" name="Google Shape;7421;p47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422" name="Google Shape;7422;p47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3" name="Google Shape;7423;p47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424" name="Google Shape;7424;p47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425" name="Google Shape;7425;p47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426" name="Google Shape;7426;p47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7" name="Google Shape;7427;p47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428" name="Google Shape;7428;p47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</a:t>
            </a:r>
            <a:endParaRPr/>
          </a:p>
        </p:txBody>
      </p:sp>
      <p:sp>
        <p:nvSpPr>
          <p:cNvPr id="7429" name="Google Shape;7429;p47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430" name="Google Shape;7430;p47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52</a:t>
            </a:r>
            <a:endParaRPr/>
          </a:p>
        </p:txBody>
      </p:sp>
      <p:sp>
        <p:nvSpPr>
          <p:cNvPr id="7431" name="Google Shape;7431;p47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432" name="Google Shape;7432;p47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3.8%</a:t>
            </a:r>
            <a:endParaRPr/>
          </a:p>
        </p:txBody>
      </p:sp>
      <p:sp>
        <p:nvSpPr>
          <p:cNvPr id="7433" name="Google Shape;7433;p47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34" name="Google Shape;7434;p47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435" name="Google Shape;7435;p47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436" name="Google Shape;7436;p47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437" name="Google Shape;7437;p47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438" name="Google Shape;7438;p47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439" name="Google Shape;7439;p47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440" name="Google Shape;7440;p47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441" name="Google Shape;7441;p47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442" name="Google Shape;7442;p47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443" name="Google Shape;7443;p47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444" name="Google Shape;7444;p47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445" name="Google Shape;7445;p47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446" name="Google Shape;7446;p47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447" name="Google Shape;7447;p47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448" name="Google Shape;7448;p47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449" name="Google Shape;7449;p47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18</a:t>
            </a:r>
            <a:endParaRPr/>
          </a:p>
        </p:txBody>
      </p:sp>
      <p:sp>
        <p:nvSpPr>
          <p:cNvPr id="7450" name="Google Shape;7450;p47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451" name="Google Shape;7451;p47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452" name="Google Shape;7452;p47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453" name="Google Shape;7453;p47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454" name="Google Shape;7454;p47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15</a:t>
            </a:r>
            <a:endParaRPr/>
          </a:p>
        </p:txBody>
      </p:sp>
      <p:sp>
        <p:nvSpPr>
          <p:cNvPr id="7455" name="Google Shape;7455;p47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456" name="Google Shape;7456;p47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10</a:t>
            </a:r>
            <a:endParaRPr/>
          </a:p>
        </p:txBody>
      </p:sp>
      <p:sp>
        <p:nvSpPr>
          <p:cNvPr id="7457" name="Google Shape;7457;p47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458" name="Google Shape;7458;p47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13</a:t>
            </a:r>
            <a:endParaRPr/>
          </a:p>
        </p:txBody>
      </p:sp>
      <p:sp>
        <p:nvSpPr>
          <p:cNvPr id="7459" name="Google Shape;7459;p47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56</a:t>
            </a:r>
            <a:endParaRPr/>
          </a:p>
        </p:txBody>
      </p:sp>
      <p:sp>
        <p:nvSpPr>
          <p:cNvPr id="7460" name="Google Shape;7460;p47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59</a:t>
            </a:r>
            <a:endParaRPr/>
          </a:p>
        </p:txBody>
      </p:sp>
      <p:sp>
        <p:nvSpPr>
          <p:cNvPr id="7461" name="Google Shape;7461;p47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462" name="Google Shape;7462;p47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$163</a:t>
            </a:r>
            <a:endParaRPr/>
          </a:p>
        </p:txBody>
      </p:sp>
      <p:sp>
        <p:nvSpPr>
          <p:cNvPr id="7463" name="Google Shape;7463;p47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$-10,959</a:t>
            </a:r>
            <a:endParaRPr/>
          </a:p>
        </p:txBody>
      </p:sp>
      <p:sp>
        <p:nvSpPr>
          <p:cNvPr id="7464" name="Google Shape;7464;p47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5" name="Google Shape;7465;p47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7466" name="Google Shape;7466;p47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67" name="Google Shape;7467;p47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$3K</a:t>
            </a:r>
            <a:endParaRPr/>
          </a:p>
        </p:txBody>
      </p:sp>
      <p:sp>
        <p:nvSpPr>
          <p:cNvPr id="7468" name="Google Shape;7468;p47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$19K</a:t>
            </a:r>
            <a:endParaRPr/>
          </a:p>
        </p:txBody>
      </p:sp>
      <p:sp>
        <p:nvSpPr>
          <p:cNvPr id="7469" name="Google Shape;7469;p47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70" name="Google Shape;7470;p47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$45K</a:t>
            </a:r>
            <a:endParaRPr/>
          </a:p>
        </p:txBody>
      </p:sp>
      <p:sp>
        <p:nvSpPr>
          <p:cNvPr id="7471" name="Google Shape;7471;p47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472" name="Google Shape;7472;p47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$64K</a:t>
            </a:r>
            <a:endParaRPr/>
          </a:p>
        </p:txBody>
      </p:sp>
      <p:sp>
        <p:nvSpPr>
          <p:cNvPr id="7473" name="Google Shape;7473;p47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$-4,582</a:t>
            </a:r>
            <a:endParaRPr/>
          </a:p>
        </p:txBody>
      </p:sp>
      <p:sp>
        <p:nvSpPr>
          <p:cNvPr id="7474" name="Google Shape;7474;p47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5" name="Google Shape;7475;p47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476" name="Google Shape;7476;p47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477" name="Google Shape;7477;p47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53 submissions - highly active agency</a:t>
            </a:r>
            <a:endParaRPr/>
          </a:p>
        </p:txBody>
      </p:sp>
      <p:sp>
        <p:nvSpPr>
          <p:cNvPr id="7478" name="Google Shape;7478;p47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479" name="Google Shape;7479;p47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bind(s) - converting submissions to business</a:t>
            </a:r>
            <a:endParaRPr/>
          </a:p>
        </p:txBody>
      </p:sp>
      <p:sp>
        <p:nvSpPr>
          <p:cNvPr id="7480" name="Google Shape;7480;p47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1" name="Google Shape;7481;p47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482" name="Google Shape;7482;p47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483" name="Google Shape;7483;p47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($-4,582) - cancellations exceed production</a:t>
            </a:r>
            <a:endParaRPr/>
          </a:p>
        </p:txBody>
      </p:sp>
      <p:sp>
        <p:nvSpPr>
          <p:cNvPr id="7484" name="Google Shape;7484;p47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485" name="Google Shape;7485;p47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100% month-over-month</a:t>
            </a:r>
            <a:endParaRPr/>
          </a:p>
        </p:txBody>
      </p:sp>
      <p:sp>
        <p:nvSpPr>
          <p:cNvPr id="7486" name="Google Shape;7486;p47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7" name="Google Shape;7487;p47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488" name="Google Shape;7488;p47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489" name="Google Shape;7489;p47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493" name="Shape 74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4" name="Google Shape;7494;p48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95" name="Google Shape;7495;p48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The Risk Management Group, Inc</a:t>
            </a:r>
            <a:endParaRPr/>
          </a:p>
        </p:txBody>
      </p:sp>
      <p:sp>
        <p:nvSpPr>
          <p:cNvPr id="7496" name="Google Shape;7496;p48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FL  |  City: Miami</a:t>
            </a:r>
            <a:endParaRPr/>
          </a:p>
        </p:txBody>
      </p:sp>
      <p:sp>
        <p:nvSpPr>
          <p:cNvPr id="7497" name="Google Shape;7497;p48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498" name="Google Shape;7498;p48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499" name="Google Shape;7499;p48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00" name="Google Shape;7500;p48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01" name="Google Shape;7501;p48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02" name="Google Shape;7502;p48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$310,940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503" name="Google Shape;7503;p48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$229,392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504" name="Google Shape;7504;p48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-2%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505" name="Google Shape;7505;p48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506" name="Google Shape;7506;p48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07" name="Google Shape;7507;p48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08" name="Google Shape;7508;p48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509" name="Google Shape;7509;p48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510" name="Google Shape;7510;p48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1" name="Google Shape;7511;p48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512" name="Google Shape;7512;p48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13" name="Google Shape;7513;p48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514" name="Google Shape;7514;p48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515" name="Google Shape;7515;p48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516" name="Google Shape;7516;p48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517" name="Google Shape;7517;p48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518" name="Google Shape;7518;p48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9" name="Google Shape;7519;p48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20" name="Google Shape;7520;p48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1" name="Google Shape;7521;p48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2" name="Google Shape;7522;p48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3" name="Google Shape;7523;p48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4" name="Google Shape;7524;p48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5" name="Google Shape;7525;p48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6" name="Google Shape;7526;p48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27" name="Google Shape;7527;p48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$13,671</a:t>
            </a:r>
            <a:endParaRPr/>
          </a:p>
        </p:txBody>
      </p:sp>
      <p:sp>
        <p:nvSpPr>
          <p:cNvPr id="7528" name="Google Shape;7528;p48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29" name="Google Shape;7529;p48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0" name="Google Shape;7530;p48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$13,671</a:t>
            </a:r>
            <a:endParaRPr/>
          </a:p>
        </p:txBody>
      </p:sp>
      <p:sp>
        <p:nvSpPr>
          <p:cNvPr id="7531" name="Google Shape;7531;p48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2" name="Google Shape;7532;p48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3" name="Google Shape;7533;p48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534" name="Google Shape;7534;p48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$-3,513</a:t>
            </a:r>
            <a:endParaRPr/>
          </a:p>
        </p:txBody>
      </p:sp>
      <p:sp>
        <p:nvSpPr>
          <p:cNvPr id="7535" name="Google Shape;7535;p48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6" name="Google Shape;7536;p48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7" name="Google Shape;7537;p48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$-3,513</a:t>
            </a:r>
            <a:endParaRPr/>
          </a:p>
        </p:txBody>
      </p:sp>
      <p:sp>
        <p:nvSpPr>
          <p:cNvPr id="7538" name="Google Shape;7538;p48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39" name="Google Shape;7539;p48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0" name="Google Shape;7540;p48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41" name="Google Shape;7541;p48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$-16,764</a:t>
            </a:r>
            <a:endParaRPr/>
          </a:p>
        </p:txBody>
      </p:sp>
      <p:sp>
        <p:nvSpPr>
          <p:cNvPr id="7542" name="Google Shape;7542;p48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3" name="Google Shape;7543;p48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4" name="Google Shape;7544;p48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$-16,764</a:t>
            </a:r>
            <a:endParaRPr/>
          </a:p>
        </p:txBody>
      </p:sp>
      <p:sp>
        <p:nvSpPr>
          <p:cNvPr id="7545" name="Google Shape;7545;p48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6" name="Google Shape;7546;p48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47" name="Google Shape;7547;p48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48" name="Google Shape;7548;p48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49" name="Google Shape;7549;p48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0" name="Google Shape;7550;p48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1" name="Google Shape;7551;p48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2" name="Google Shape;7552;p48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3" name="Google Shape;7553;p48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54" name="Google Shape;7554;p48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555" name="Google Shape;7555;p48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</p:txBody>
      </p:sp>
      <p:sp>
        <p:nvSpPr>
          <p:cNvPr id="7556" name="Google Shape;7556;p48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7" name="Google Shape;7557;p48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58" name="Google Shape;7558;p48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</p:txBody>
      </p:sp>
      <p:sp>
        <p:nvSpPr>
          <p:cNvPr id="7559" name="Google Shape;7559;p48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560" name="Google Shape;7560;p48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1" name="Google Shape;7561;p48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562" name="Google Shape;7562;p48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563" name="Google Shape;7563;p48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564" name="Google Shape;7564;p48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565" name="Google Shape;7565;p48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566" name="Google Shape;7566;p48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567" name="Google Shape;7567;p48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568" name="Google Shape;7568;p48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69" name="Google Shape;7569;p48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570" name="Google Shape;7570;p48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571" name="Google Shape;7571;p48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72" name="Google Shape;7572;p48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73" name="Google Shape;7573;p48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74" name="Google Shape;7574;p48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75" name="Google Shape;7575;p48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76" name="Google Shape;7576;p48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577" name="Google Shape;7577;p48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578" name="Google Shape;7578;p48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79" name="Google Shape;7579;p48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80" name="Google Shape;7580;p48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81" name="Google Shape;7581;p48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50.0%</a:t>
            </a:r>
            <a:endParaRPr/>
          </a:p>
        </p:txBody>
      </p:sp>
      <p:sp>
        <p:nvSpPr>
          <p:cNvPr id="7582" name="Google Shape;7582;p48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83" name="Google Shape;7583;p48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584" name="Google Shape;7584;p48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85" name="Google Shape;7585;p48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86" name="Google Shape;7586;p48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87" name="Google Shape;7587;p48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88" name="Google Shape;7588;p48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89" name="Google Shape;7589;p48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0" name="Google Shape;7590;p48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591" name="Google Shape;7591;p48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592" name="Google Shape;7592;p48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593" name="Google Shape;7593;p48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594" name="Google Shape;7594;p48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595" name="Google Shape;7595;p48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596" name="Google Shape;7596;p48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97" name="Google Shape;7597;p48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598" name="Google Shape;7598;p48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599" name="Google Shape;7599;p48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00" name="Google Shape;7600;p48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01" name="Google Shape;7601;p48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2" name="Google Shape;7602;p48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03" name="Google Shape;7603;p48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4" name="Google Shape;7604;p48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605" name="Google Shape;7605;p48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</a:t>
            </a:r>
            <a:endParaRPr/>
          </a:p>
        </p:txBody>
      </p:sp>
      <p:sp>
        <p:nvSpPr>
          <p:cNvPr id="7606" name="Google Shape;7606;p48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07" name="Google Shape;7607;p48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608" name="Google Shape;7608;p48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609" name="Google Shape;7609;p48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610" name="Google Shape;7610;p48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11" name="Google Shape;7611;p48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612" name="Google Shape;7612;p48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613" name="Google Shape;7613;p48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614" name="Google Shape;7614;p48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615" name="Google Shape;7615;p48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616" name="Google Shape;7616;p48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617" name="Google Shape;7617;p48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618" name="Google Shape;7618;p48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619" name="Google Shape;7619;p48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620" name="Google Shape;7620;p48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621" name="Google Shape;7621;p48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622" name="Google Shape;7622;p48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623" name="Google Shape;7623;p48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624" name="Google Shape;7624;p48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625" name="Google Shape;7625;p48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26" name="Google Shape;7626;p48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27" name="Google Shape;7627;p48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628" name="Google Shape;7628;p48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29" name="Google Shape;7629;p48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30" name="Google Shape;7630;p48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631" name="Google Shape;7631;p48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632" name="Google Shape;7632;p48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33" name="Google Shape;7633;p48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7</a:t>
            </a:r>
            <a:endParaRPr/>
          </a:p>
        </p:txBody>
      </p:sp>
      <p:sp>
        <p:nvSpPr>
          <p:cNvPr id="7634" name="Google Shape;7634;p48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35" name="Google Shape;7635;p48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636" name="Google Shape;7636;p48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637" name="Google Shape;7637;p48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17</a:t>
            </a:r>
            <a:endParaRPr/>
          </a:p>
        </p:txBody>
      </p:sp>
      <p:sp>
        <p:nvSpPr>
          <p:cNvPr id="7638" name="Google Shape;7638;p48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639" name="Google Shape;7639;p48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$46K</a:t>
            </a:r>
            <a:endParaRPr/>
          </a:p>
        </p:txBody>
      </p:sp>
      <p:sp>
        <p:nvSpPr>
          <p:cNvPr id="7640" name="Google Shape;7640;p48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1" name="Google Shape;7641;p48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2" name="Google Shape;7642;p48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$14K</a:t>
            </a:r>
            <a:endParaRPr/>
          </a:p>
        </p:txBody>
      </p:sp>
      <p:sp>
        <p:nvSpPr>
          <p:cNvPr id="7643" name="Google Shape;7643;p48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$47K</a:t>
            </a:r>
            <a:endParaRPr/>
          </a:p>
        </p:txBody>
      </p:sp>
      <p:sp>
        <p:nvSpPr>
          <p:cNvPr id="7644" name="Google Shape;7644;p48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$-3,513</a:t>
            </a:r>
            <a:endParaRPr/>
          </a:p>
        </p:txBody>
      </p:sp>
      <p:sp>
        <p:nvSpPr>
          <p:cNvPr id="7645" name="Google Shape;7645;p48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$38K</a:t>
            </a:r>
            <a:endParaRPr/>
          </a:p>
        </p:txBody>
      </p:sp>
      <p:sp>
        <p:nvSpPr>
          <p:cNvPr id="7646" name="Google Shape;7646;p48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$-16,764</a:t>
            </a:r>
            <a:endParaRPr/>
          </a:p>
        </p:txBody>
      </p:sp>
      <p:sp>
        <p:nvSpPr>
          <p:cNvPr id="7647" name="Google Shape;7647;p48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$-56,770</a:t>
            </a:r>
            <a:endParaRPr/>
          </a:p>
        </p:txBody>
      </p:sp>
      <p:sp>
        <p:nvSpPr>
          <p:cNvPr id="7648" name="Google Shape;7648;p48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49" name="Google Shape;7649;p48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$75K</a:t>
            </a:r>
            <a:endParaRPr/>
          </a:p>
        </p:txBody>
      </p:sp>
      <p:sp>
        <p:nvSpPr>
          <p:cNvPr id="7650" name="Google Shape;7650;p48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$-6,605</a:t>
            </a:r>
            <a:endParaRPr/>
          </a:p>
        </p:txBody>
      </p:sp>
      <p:sp>
        <p:nvSpPr>
          <p:cNvPr id="7651" name="Google Shape;7651;p48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2" name="Google Shape;7652;p48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653" name="Google Shape;7653;p48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654" name="Google Shape;7654;p48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 quotes generated - active in pipeline</a:t>
            </a:r>
            <a:endParaRPr/>
          </a:p>
        </p:txBody>
      </p:sp>
      <p:sp>
        <p:nvSpPr>
          <p:cNvPr id="7655" name="Google Shape;7655;p48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6" name="Google Shape;7656;p48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657" name="Google Shape;7657;p48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58" name="Google Shape;7658;p48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($-6,605) - cancellations exceed production</a:t>
            </a:r>
            <a:endParaRPr/>
          </a:p>
        </p:txBody>
      </p:sp>
      <p:sp>
        <p:nvSpPr>
          <p:cNvPr id="7659" name="Google Shape;7659;p48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660" name="Google Shape;7660;p48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14 submissions with zero binds - zero conversion</a:t>
            </a:r>
            <a:endParaRPr/>
          </a:p>
        </p:txBody>
      </p:sp>
      <p:sp>
        <p:nvSpPr>
          <p:cNvPr id="7661" name="Google Shape;7661;p48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62" name="Google Shape;7662;p48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663" name="Google Shape;7663;p48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664" name="Google Shape;7664;p48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Review their 14 quoted-not-bound submissions together. Ask which quotes were close and what competitors offered - identifies specific pricing or appetite gaps to escalate internally.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668" name="Shape 7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9" name="Google Shape;7669;p49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E073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70" name="Google Shape;7670;p49"/>
          <p:cNvSpPr txBox="1"/>
          <p:nvPr/>
        </p:nvSpPr>
        <p:spPr>
          <a:xfrm>
            <a:off x="365760" y="73152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FFFFFF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Martin Noone Agency, Llc</a:t>
            </a:r>
            <a:endParaRPr/>
          </a:p>
        </p:txBody>
      </p:sp>
      <p:sp>
        <p:nvSpPr>
          <p:cNvPr id="7671" name="Google Shape;7671;p49"/>
          <p:cNvSpPr txBox="1"/>
          <p:nvPr/>
        </p:nvSpPr>
        <p:spPr>
          <a:xfrm>
            <a:off x="365760" y="429768"/>
            <a:ext cx="10972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C4B5FD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Tier: Tier 2  |  Region: Southeast  |  State: MS  |  City: N/A</a:t>
            </a:r>
            <a:endParaRPr/>
          </a:p>
        </p:txBody>
      </p:sp>
      <p:sp>
        <p:nvSpPr>
          <p:cNvPr id="7672" name="Google Shape;7672;p49"/>
          <p:cNvSpPr/>
          <p:nvPr/>
        </p:nvSpPr>
        <p:spPr>
          <a:xfrm>
            <a:off x="22860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YTD GWP</a:t>
            </a:r>
            <a:endParaRPr/>
          </a:p>
        </p:txBody>
      </p:sp>
      <p:sp>
        <p:nvSpPr>
          <p:cNvPr id="7673" name="Google Shape;7673;p49"/>
          <p:cNvSpPr/>
          <p:nvPr/>
        </p:nvSpPr>
        <p:spPr>
          <a:xfrm>
            <a:off x="256032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674" name="Google Shape;7674;p49"/>
          <p:cNvSpPr/>
          <p:nvPr/>
        </p:nvSpPr>
        <p:spPr>
          <a:xfrm>
            <a:off x="489204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675" name="Google Shape;7675;p49"/>
          <p:cNvSpPr/>
          <p:nvPr/>
        </p:nvSpPr>
        <p:spPr>
          <a:xfrm>
            <a:off x="7223759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676" name="Google Shape;7676;p49"/>
          <p:cNvSpPr/>
          <p:nvPr/>
        </p:nvSpPr>
        <p:spPr>
          <a:xfrm>
            <a:off x="9555480" y="914400"/>
            <a:ext cx="2212848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677" name="Google Shape;7677;p49"/>
          <p:cNvSpPr/>
          <p:nvPr/>
        </p:nvSpPr>
        <p:spPr>
          <a:xfrm>
            <a:off x="137160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$243,578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2025 Full Year GWP</a:t>
            </a:r>
            <a:endParaRPr/>
          </a:p>
        </p:txBody>
      </p:sp>
      <p:sp>
        <p:nvSpPr>
          <p:cNvPr id="7678" name="Google Shape;7678;p49"/>
          <p:cNvSpPr/>
          <p:nvPr/>
        </p:nvSpPr>
        <p:spPr>
          <a:xfrm>
            <a:off x="1627631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$231,704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Rolling 12M GWP</a:t>
            </a:r>
            <a:endParaRPr/>
          </a:p>
        </p:txBody>
      </p:sp>
      <p:sp>
        <p:nvSpPr>
          <p:cNvPr id="7679" name="Google Shape;7679;p49"/>
          <p:cNvSpPr/>
          <p:nvPr/>
        </p:nvSpPr>
        <p:spPr>
          <a:xfrm>
            <a:off x="3118103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-4%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% to Goal</a:t>
            </a:r>
            <a:endParaRPr/>
          </a:p>
        </p:txBody>
      </p:sp>
      <p:sp>
        <p:nvSpPr>
          <p:cNvPr id="7680" name="Google Shape;7680;p49"/>
          <p:cNvSpPr/>
          <p:nvPr/>
        </p:nvSpPr>
        <p:spPr>
          <a:xfrm>
            <a:off x="4608576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681" name="Google Shape;7681;p49"/>
          <p:cNvSpPr/>
          <p:nvPr/>
        </p:nvSpPr>
        <p:spPr>
          <a:xfrm>
            <a:off x="6099048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682" name="Google Shape;7682;p49"/>
          <p:cNvSpPr/>
          <p:nvPr/>
        </p:nvSpPr>
        <p:spPr>
          <a:xfrm>
            <a:off x="7589519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683" name="Google Shape;7683;p49"/>
          <p:cNvSpPr/>
          <p:nvPr/>
        </p:nvSpPr>
        <p:spPr>
          <a:xfrm>
            <a:off x="9079992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$102,534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 Bound Prem</a:t>
            </a:r>
            <a:endParaRPr/>
          </a:p>
        </p:txBody>
      </p:sp>
      <p:sp>
        <p:nvSpPr>
          <p:cNvPr id="7684" name="Google Shape;7684;p49"/>
          <p:cNvSpPr/>
          <p:nvPr/>
        </p:nvSpPr>
        <p:spPr>
          <a:xfrm>
            <a:off x="10570464" y="1463040"/>
            <a:ext cx="1417320" cy="502920"/>
          </a:xfrm>
          <a:prstGeom prst="roundRect">
            <a:avLst>
              <a:gd fmla="val 16667" name="adj"/>
            </a:avLst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NF Bound Prem</a:t>
            </a:r>
            <a:endParaRPr/>
          </a:p>
        </p:txBody>
      </p:sp>
      <p:sp>
        <p:nvSpPr>
          <p:cNvPr id="7685" name="Google Shape;7685;p49"/>
          <p:cNvSpPr/>
          <p:nvPr/>
        </p:nvSpPr>
        <p:spPr>
          <a:xfrm>
            <a:off x="365760" y="2103120"/>
            <a:ext cx="566928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86" name="Google Shape;7686;p49"/>
          <p:cNvSpPr txBox="1"/>
          <p:nvPr/>
        </p:nvSpPr>
        <p:spPr>
          <a:xfrm>
            <a:off x="4572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PRODUCTION BY MONTH</a:t>
            </a:r>
            <a:endParaRPr/>
          </a:p>
        </p:txBody>
      </p:sp>
      <p:sp>
        <p:nvSpPr>
          <p:cNvPr id="7687" name="Google Shape;7687;p49"/>
          <p:cNvSpPr txBox="1"/>
          <p:nvPr/>
        </p:nvSpPr>
        <p:spPr>
          <a:xfrm>
            <a:off x="3657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688" name="Google Shape;7688;p49"/>
          <p:cNvSpPr txBox="1"/>
          <p:nvPr/>
        </p:nvSpPr>
        <p:spPr>
          <a:xfrm>
            <a:off x="1280160" y="2450592"/>
            <a:ext cx="10972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</a:t>
            </a:r>
            <a:endParaRPr/>
          </a:p>
        </p:txBody>
      </p:sp>
      <p:sp>
        <p:nvSpPr>
          <p:cNvPr id="7689" name="Google Shape;7689;p49"/>
          <p:cNvSpPr txBox="1"/>
          <p:nvPr/>
        </p:nvSpPr>
        <p:spPr>
          <a:xfrm>
            <a:off x="2377439" y="2450592"/>
            <a:ext cx="100584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New Business</a:t>
            </a:r>
            <a:endParaRPr/>
          </a:p>
        </p:txBody>
      </p:sp>
      <p:sp>
        <p:nvSpPr>
          <p:cNvPr id="7690" name="Google Shape;7690;p49"/>
          <p:cNvSpPr txBox="1"/>
          <p:nvPr/>
        </p:nvSpPr>
        <p:spPr>
          <a:xfrm>
            <a:off x="33832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Renewals</a:t>
            </a:r>
            <a:endParaRPr/>
          </a:p>
        </p:txBody>
      </p:sp>
      <p:sp>
        <p:nvSpPr>
          <p:cNvPr id="7691" name="Google Shape;7691;p49"/>
          <p:cNvSpPr txBox="1"/>
          <p:nvPr/>
        </p:nvSpPr>
        <p:spPr>
          <a:xfrm>
            <a:off x="42976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Endorsements</a:t>
            </a:r>
            <a:endParaRPr/>
          </a:p>
        </p:txBody>
      </p:sp>
      <p:sp>
        <p:nvSpPr>
          <p:cNvPr id="7692" name="Google Shape;7692;p49"/>
          <p:cNvSpPr txBox="1"/>
          <p:nvPr/>
        </p:nvSpPr>
        <p:spPr>
          <a:xfrm>
            <a:off x="5212079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Cancellations</a:t>
            </a:r>
            <a:endParaRPr/>
          </a:p>
        </p:txBody>
      </p:sp>
      <p:sp>
        <p:nvSpPr>
          <p:cNvPr id="7693" name="Google Shape;7693;p49"/>
          <p:cNvSpPr/>
          <p:nvPr/>
        </p:nvSpPr>
        <p:spPr>
          <a:xfrm>
            <a:off x="365760" y="2633472"/>
            <a:ext cx="566928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94" name="Google Shape;7694;p49"/>
          <p:cNvSpPr txBox="1"/>
          <p:nvPr/>
        </p:nvSpPr>
        <p:spPr>
          <a:xfrm>
            <a:off x="3657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695" name="Google Shape;7695;p49"/>
          <p:cNvSpPr txBox="1"/>
          <p:nvPr/>
        </p:nvSpPr>
        <p:spPr>
          <a:xfrm>
            <a:off x="1280160" y="270662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$-7,850</a:t>
            </a:r>
            <a:endParaRPr/>
          </a:p>
        </p:txBody>
      </p:sp>
      <p:sp>
        <p:nvSpPr>
          <p:cNvPr id="7696" name="Google Shape;7696;p49"/>
          <p:cNvSpPr txBox="1"/>
          <p:nvPr/>
        </p:nvSpPr>
        <p:spPr>
          <a:xfrm>
            <a:off x="2377439" y="270662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7" name="Google Shape;7697;p49"/>
          <p:cNvSpPr txBox="1"/>
          <p:nvPr/>
        </p:nvSpPr>
        <p:spPr>
          <a:xfrm>
            <a:off x="33832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698" name="Google Shape;7698;p49"/>
          <p:cNvSpPr txBox="1"/>
          <p:nvPr/>
        </p:nvSpPr>
        <p:spPr>
          <a:xfrm>
            <a:off x="42976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$-7,850</a:t>
            </a:r>
            <a:endParaRPr/>
          </a:p>
        </p:txBody>
      </p:sp>
      <p:sp>
        <p:nvSpPr>
          <p:cNvPr id="7699" name="Google Shape;7699;p49"/>
          <p:cNvSpPr txBox="1"/>
          <p:nvPr/>
        </p:nvSpPr>
        <p:spPr>
          <a:xfrm>
            <a:off x="5212079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0" name="Google Shape;7700;p49"/>
          <p:cNvSpPr/>
          <p:nvPr/>
        </p:nvSpPr>
        <p:spPr>
          <a:xfrm>
            <a:off x="365760" y="2953512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1" name="Google Shape;7701;p49"/>
          <p:cNvSpPr txBox="1"/>
          <p:nvPr/>
        </p:nvSpPr>
        <p:spPr>
          <a:xfrm>
            <a:off x="3657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02" name="Google Shape;7702;p49"/>
          <p:cNvSpPr txBox="1"/>
          <p:nvPr/>
        </p:nvSpPr>
        <p:spPr>
          <a:xfrm>
            <a:off x="1280160" y="2999232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$-720</a:t>
            </a:r>
            <a:endParaRPr/>
          </a:p>
        </p:txBody>
      </p:sp>
      <p:sp>
        <p:nvSpPr>
          <p:cNvPr id="7703" name="Google Shape;7703;p49"/>
          <p:cNvSpPr txBox="1"/>
          <p:nvPr/>
        </p:nvSpPr>
        <p:spPr>
          <a:xfrm>
            <a:off x="2377439" y="2999232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4" name="Google Shape;7704;p49"/>
          <p:cNvSpPr txBox="1"/>
          <p:nvPr/>
        </p:nvSpPr>
        <p:spPr>
          <a:xfrm>
            <a:off x="33832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5" name="Google Shape;7705;p49"/>
          <p:cNvSpPr txBox="1"/>
          <p:nvPr/>
        </p:nvSpPr>
        <p:spPr>
          <a:xfrm>
            <a:off x="42976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$-720</a:t>
            </a:r>
            <a:endParaRPr/>
          </a:p>
        </p:txBody>
      </p:sp>
      <p:sp>
        <p:nvSpPr>
          <p:cNvPr id="7706" name="Google Shape;7706;p49"/>
          <p:cNvSpPr txBox="1"/>
          <p:nvPr/>
        </p:nvSpPr>
        <p:spPr>
          <a:xfrm>
            <a:off x="5212079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07" name="Google Shape;7707;p49"/>
          <p:cNvSpPr/>
          <p:nvPr/>
        </p:nvSpPr>
        <p:spPr>
          <a:xfrm>
            <a:off x="365760" y="3246120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08" name="Google Shape;7708;p49"/>
          <p:cNvSpPr txBox="1"/>
          <p:nvPr/>
        </p:nvSpPr>
        <p:spPr>
          <a:xfrm>
            <a:off x="3657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09" name="Google Shape;7709;p49"/>
          <p:cNvSpPr txBox="1"/>
          <p:nvPr/>
        </p:nvSpPr>
        <p:spPr>
          <a:xfrm>
            <a:off x="1280160" y="3291840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</a:t>
            </a:r>
            <a:endParaRPr/>
          </a:p>
        </p:txBody>
      </p:sp>
      <p:sp>
        <p:nvSpPr>
          <p:cNvPr id="7710" name="Google Shape;7710;p49"/>
          <p:cNvSpPr txBox="1"/>
          <p:nvPr/>
        </p:nvSpPr>
        <p:spPr>
          <a:xfrm>
            <a:off x="2377439" y="3291840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1" name="Google Shape;7711;p49"/>
          <p:cNvSpPr txBox="1"/>
          <p:nvPr/>
        </p:nvSpPr>
        <p:spPr>
          <a:xfrm>
            <a:off x="33832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2" name="Google Shape;7712;p49"/>
          <p:cNvSpPr txBox="1"/>
          <p:nvPr/>
        </p:nvSpPr>
        <p:spPr>
          <a:xfrm>
            <a:off x="42976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</a:t>
            </a:r>
            <a:endParaRPr/>
          </a:p>
        </p:txBody>
      </p:sp>
      <p:sp>
        <p:nvSpPr>
          <p:cNvPr id="7713" name="Google Shape;7713;p49"/>
          <p:cNvSpPr txBox="1"/>
          <p:nvPr/>
        </p:nvSpPr>
        <p:spPr>
          <a:xfrm>
            <a:off x="5212079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4" name="Google Shape;7714;p49"/>
          <p:cNvSpPr/>
          <p:nvPr/>
        </p:nvSpPr>
        <p:spPr>
          <a:xfrm>
            <a:off x="365760" y="3538728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15" name="Google Shape;7715;p49"/>
          <p:cNvSpPr txBox="1"/>
          <p:nvPr/>
        </p:nvSpPr>
        <p:spPr>
          <a:xfrm>
            <a:off x="3657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16" name="Google Shape;7716;p49"/>
          <p:cNvSpPr txBox="1"/>
          <p:nvPr/>
        </p:nvSpPr>
        <p:spPr>
          <a:xfrm>
            <a:off x="1280160" y="358444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7" name="Google Shape;7717;p49"/>
          <p:cNvSpPr txBox="1"/>
          <p:nvPr/>
        </p:nvSpPr>
        <p:spPr>
          <a:xfrm>
            <a:off x="2377439" y="3584448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8" name="Google Shape;7718;p49"/>
          <p:cNvSpPr txBox="1"/>
          <p:nvPr/>
        </p:nvSpPr>
        <p:spPr>
          <a:xfrm>
            <a:off x="33832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19" name="Google Shape;7719;p49"/>
          <p:cNvSpPr txBox="1"/>
          <p:nvPr/>
        </p:nvSpPr>
        <p:spPr>
          <a:xfrm>
            <a:off x="42976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0" name="Google Shape;7720;p49"/>
          <p:cNvSpPr txBox="1"/>
          <p:nvPr/>
        </p:nvSpPr>
        <p:spPr>
          <a:xfrm>
            <a:off x="5212079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1" name="Google Shape;7721;p49"/>
          <p:cNvSpPr/>
          <p:nvPr/>
        </p:nvSpPr>
        <p:spPr>
          <a:xfrm>
            <a:off x="365760" y="3831335"/>
            <a:ext cx="566928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2" name="Google Shape;7722;p49"/>
          <p:cNvSpPr txBox="1"/>
          <p:nvPr/>
        </p:nvSpPr>
        <p:spPr>
          <a:xfrm>
            <a:off x="3657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23" name="Google Shape;7723;p49"/>
          <p:cNvSpPr txBox="1"/>
          <p:nvPr/>
        </p:nvSpPr>
        <p:spPr>
          <a:xfrm>
            <a:off x="1280160" y="3877056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$-3,492</a:t>
            </a:r>
            <a:endParaRPr/>
          </a:p>
        </p:txBody>
      </p:sp>
      <p:sp>
        <p:nvSpPr>
          <p:cNvPr id="7724" name="Google Shape;7724;p49"/>
          <p:cNvSpPr txBox="1"/>
          <p:nvPr/>
        </p:nvSpPr>
        <p:spPr>
          <a:xfrm>
            <a:off x="2377439" y="3877056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5" name="Google Shape;7725;p49"/>
          <p:cNvSpPr txBox="1"/>
          <p:nvPr/>
        </p:nvSpPr>
        <p:spPr>
          <a:xfrm>
            <a:off x="33832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6" name="Google Shape;7726;p49"/>
          <p:cNvSpPr txBox="1"/>
          <p:nvPr/>
        </p:nvSpPr>
        <p:spPr>
          <a:xfrm>
            <a:off x="42976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$-3,492</a:t>
            </a:r>
            <a:endParaRPr/>
          </a:p>
        </p:txBody>
      </p:sp>
      <p:sp>
        <p:nvSpPr>
          <p:cNvPr id="7727" name="Google Shape;7727;p49"/>
          <p:cNvSpPr txBox="1"/>
          <p:nvPr/>
        </p:nvSpPr>
        <p:spPr>
          <a:xfrm>
            <a:off x="5212079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28" name="Google Shape;7728;p49"/>
          <p:cNvSpPr/>
          <p:nvPr/>
        </p:nvSpPr>
        <p:spPr>
          <a:xfrm>
            <a:off x="365760" y="4133088"/>
            <a:ext cx="566928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29" name="Google Shape;7729;p49"/>
          <p:cNvSpPr txBox="1"/>
          <p:nvPr/>
        </p:nvSpPr>
        <p:spPr>
          <a:xfrm>
            <a:off x="3657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730" name="Google Shape;7730;p49"/>
          <p:cNvSpPr txBox="1"/>
          <p:nvPr/>
        </p:nvSpPr>
        <p:spPr>
          <a:xfrm>
            <a:off x="1280160" y="4169664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</p:txBody>
      </p:sp>
      <p:sp>
        <p:nvSpPr>
          <p:cNvPr id="7731" name="Google Shape;7731;p49"/>
          <p:cNvSpPr txBox="1"/>
          <p:nvPr/>
        </p:nvSpPr>
        <p:spPr>
          <a:xfrm>
            <a:off x="2377439" y="4169664"/>
            <a:ext cx="100584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2" name="Google Shape;7732;p49"/>
          <p:cNvSpPr txBox="1"/>
          <p:nvPr/>
        </p:nvSpPr>
        <p:spPr>
          <a:xfrm>
            <a:off x="33832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3" name="Google Shape;7733;p49"/>
          <p:cNvSpPr txBox="1"/>
          <p:nvPr/>
        </p:nvSpPr>
        <p:spPr>
          <a:xfrm>
            <a:off x="42976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DC262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</p:txBody>
      </p:sp>
      <p:sp>
        <p:nvSpPr>
          <p:cNvPr id="7734" name="Google Shape;7734;p49"/>
          <p:cNvSpPr txBox="1"/>
          <p:nvPr/>
        </p:nvSpPr>
        <p:spPr>
          <a:xfrm>
            <a:off x="5212079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735" name="Google Shape;7735;p49"/>
          <p:cNvSpPr/>
          <p:nvPr/>
        </p:nvSpPr>
        <p:spPr>
          <a:xfrm>
            <a:off x="6309360" y="2103120"/>
            <a:ext cx="5486400" cy="27432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36" name="Google Shape;7736;p49"/>
          <p:cNvSpPr txBox="1"/>
          <p:nvPr/>
        </p:nvSpPr>
        <p:spPr>
          <a:xfrm>
            <a:off x="6400800" y="2121408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0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 &amp; PIPELINE</a:t>
            </a:r>
            <a:endParaRPr/>
          </a:p>
        </p:txBody>
      </p:sp>
      <p:sp>
        <p:nvSpPr>
          <p:cNvPr id="7737" name="Google Shape;7737;p49"/>
          <p:cNvSpPr txBox="1"/>
          <p:nvPr/>
        </p:nvSpPr>
        <p:spPr>
          <a:xfrm>
            <a:off x="630936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Month</a:t>
            </a:r>
            <a:endParaRPr/>
          </a:p>
        </p:txBody>
      </p:sp>
      <p:sp>
        <p:nvSpPr>
          <p:cNvPr id="7738" name="Google Shape;7738;p49"/>
          <p:cNvSpPr txBox="1"/>
          <p:nvPr/>
        </p:nvSpPr>
        <p:spPr>
          <a:xfrm>
            <a:off x="722376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Subs</a:t>
            </a:r>
            <a:endParaRPr/>
          </a:p>
        </p:txBody>
      </p:sp>
      <p:sp>
        <p:nvSpPr>
          <p:cNvPr id="7739" name="Google Shape;7739;p49"/>
          <p:cNvSpPr txBox="1"/>
          <p:nvPr/>
        </p:nvSpPr>
        <p:spPr>
          <a:xfrm>
            <a:off x="804672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Fleet</a:t>
            </a:r>
            <a:endParaRPr/>
          </a:p>
        </p:txBody>
      </p:sp>
      <p:sp>
        <p:nvSpPr>
          <p:cNvPr id="7740" name="Google Shape;7740;p49"/>
          <p:cNvSpPr txBox="1"/>
          <p:nvPr/>
        </p:nvSpPr>
        <p:spPr>
          <a:xfrm>
            <a:off x="886968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Non-Fleet</a:t>
            </a:r>
            <a:endParaRPr/>
          </a:p>
        </p:txBody>
      </p:sp>
      <p:sp>
        <p:nvSpPr>
          <p:cNvPr id="7741" name="Google Shape;7741;p49"/>
          <p:cNvSpPr txBox="1"/>
          <p:nvPr/>
        </p:nvSpPr>
        <p:spPr>
          <a:xfrm>
            <a:off x="9784080" y="2450592"/>
            <a:ext cx="8229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Binds</a:t>
            </a:r>
            <a:endParaRPr/>
          </a:p>
        </p:txBody>
      </p:sp>
      <p:sp>
        <p:nvSpPr>
          <p:cNvPr id="7742" name="Google Shape;7742;p49"/>
          <p:cNvSpPr txBox="1"/>
          <p:nvPr/>
        </p:nvSpPr>
        <p:spPr>
          <a:xfrm>
            <a:off x="10607040" y="2450592"/>
            <a:ext cx="9144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Hit Ratio</a:t>
            </a:r>
            <a:endParaRPr/>
          </a:p>
        </p:txBody>
      </p:sp>
      <p:sp>
        <p:nvSpPr>
          <p:cNvPr id="7743" name="Google Shape;7743;p49"/>
          <p:cNvSpPr/>
          <p:nvPr/>
        </p:nvSpPr>
        <p:spPr>
          <a:xfrm>
            <a:off x="6309360" y="2633472"/>
            <a:ext cx="5486400" cy="9144"/>
          </a:xfrm>
          <a:prstGeom prst="rect">
            <a:avLst/>
          </a:prstGeom>
          <a:solidFill>
            <a:srgbClr val="E5E7EB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44" name="Google Shape;7744;p49"/>
          <p:cNvSpPr txBox="1"/>
          <p:nvPr/>
        </p:nvSpPr>
        <p:spPr>
          <a:xfrm>
            <a:off x="630936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January</a:t>
            </a:r>
            <a:endParaRPr/>
          </a:p>
        </p:txBody>
      </p:sp>
      <p:sp>
        <p:nvSpPr>
          <p:cNvPr id="7745" name="Google Shape;7745;p49"/>
          <p:cNvSpPr txBox="1"/>
          <p:nvPr/>
        </p:nvSpPr>
        <p:spPr>
          <a:xfrm>
            <a:off x="722376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46" name="Google Shape;7746;p49"/>
          <p:cNvSpPr txBox="1"/>
          <p:nvPr/>
        </p:nvSpPr>
        <p:spPr>
          <a:xfrm>
            <a:off x="804672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47" name="Google Shape;7747;p49"/>
          <p:cNvSpPr txBox="1"/>
          <p:nvPr/>
        </p:nvSpPr>
        <p:spPr>
          <a:xfrm>
            <a:off x="886968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48" name="Google Shape;7748;p49"/>
          <p:cNvSpPr txBox="1"/>
          <p:nvPr/>
        </p:nvSpPr>
        <p:spPr>
          <a:xfrm>
            <a:off x="9784080" y="270662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49" name="Google Shape;7749;p49"/>
          <p:cNvSpPr txBox="1"/>
          <p:nvPr/>
        </p:nvSpPr>
        <p:spPr>
          <a:xfrm>
            <a:off x="10607040" y="270662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50" name="Google Shape;7750;p49"/>
          <p:cNvSpPr/>
          <p:nvPr/>
        </p:nvSpPr>
        <p:spPr>
          <a:xfrm>
            <a:off x="6309360" y="2953512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1" name="Google Shape;7751;p49"/>
          <p:cNvSpPr txBox="1"/>
          <p:nvPr/>
        </p:nvSpPr>
        <p:spPr>
          <a:xfrm>
            <a:off x="630936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February</a:t>
            </a:r>
            <a:endParaRPr/>
          </a:p>
        </p:txBody>
      </p:sp>
      <p:sp>
        <p:nvSpPr>
          <p:cNvPr id="7752" name="Google Shape;7752;p49"/>
          <p:cNvSpPr txBox="1"/>
          <p:nvPr/>
        </p:nvSpPr>
        <p:spPr>
          <a:xfrm>
            <a:off x="722376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53" name="Google Shape;7753;p49"/>
          <p:cNvSpPr txBox="1"/>
          <p:nvPr/>
        </p:nvSpPr>
        <p:spPr>
          <a:xfrm>
            <a:off x="804672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54" name="Google Shape;7754;p49"/>
          <p:cNvSpPr txBox="1"/>
          <p:nvPr/>
        </p:nvSpPr>
        <p:spPr>
          <a:xfrm>
            <a:off x="886968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55" name="Google Shape;7755;p49"/>
          <p:cNvSpPr txBox="1"/>
          <p:nvPr/>
        </p:nvSpPr>
        <p:spPr>
          <a:xfrm>
            <a:off x="9784080" y="2999232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56" name="Google Shape;7756;p49"/>
          <p:cNvSpPr txBox="1"/>
          <p:nvPr/>
        </p:nvSpPr>
        <p:spPr>
          <a:xfrm>
            <a:off x="10607040" y="2999232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57" name="Google Shape;7757;p49"/>
          <p:cNvSpPr/>
          <p:nvPr/>
        </p:nvSpPr>
        <p:spPr>
          <a:xfrm>
            <a:off x="6309360" y="3246120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58" name="Google Shape;7758;p49"/>
          <p:cNvSpPr txBox="1"/>
          <p:nvPr/>
        </p:nvSpPr>
        <p:spPr>
          <a:xfrm>
            <a:off x="630936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March</a:t>
            </a:r>
            <a:endParaRPr/>
          </a:p>
        </p:txBody>
      </p:sp>
      <p:sp>
        <p:nvSpPr>
          <p:cNvPr id="7759" name="Google Shape;7759;p49"/>
          <p:cNvSpPr txBox="1"/>
          <p:nvPr/>
        </p:nvSpPr>
        <p:spPr>
          <a:xfrm>
            <a:off x="722376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760" name="Google Shape;7760;p49"/>
          <p:cNvSpPr txBox="1"/>
          <p:nvPr/>
        </p:nvSpPr>
        <p:spPr>
          <a:xfrm>
            <a:off x="804672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761" name="Google Shape;7761;p49"/>
          <p:cNvSpPr txBox="1"/>
          <p:nvPr/>
        </p:nvSpPr>
        <p:spPr>
          <a:xfrm>
            <a:off x="886968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62" name="Google Shape;7762;p49"/>
          <p:cNvSpPr txBox="1"/>
          <p:nvPr/>
        </p:nvSpPr>
        <p:spPr>
          <a:xfrm>
            <a:off x="9784080" y="3291840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63" name="Google Shape;7763;p49"/>
          <p:cNvSpPr txBox="1"/>
          <p:nvPr/>
        </p:nvSpPr>
        <p:spPr>
          <a:xfrm>
            <a:off x="10607040" y="3291840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64" name="Google Shape;7764;p49"/>
          <p:cNvSpPr/>
          <p:nvPr/>
        </p:nvSpPr>
        <p:spPr>
          <a:xfrm>
            <a:off x="6309360" y="3538728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65" name="Google Shape;7765;p49"/>
          <p:cNvSpPr txBox="1"/>
          <p:nvPr/>
        </p:nvSpPr>
        <p:spPr>
          <a:xfrm>
            <a:off x="630936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April</a:t>
            </a:r>
            <a:endParaRPr/>
          </a:p>
        </p:txBody>
      </p:sp>
      <p:sp>
        <p:nvSpPr>
          <p:cNvPr id="7766" name="Google Shape;7766;p49"/>
          <p:cNvSpPr txBox="1"/>
          <p:nvPr/>
        </p:nvSpPr>
        <p:spPr>
          <a:xfrm>
            <a:off x="722376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767" name="Google Shape;7767;p49"/>
          <p:cNvSpPr txBox="1"/>
          <p:nvPr/>
        </p:nvSpPr>
        <p:spPr>
          <a:xfrm>
            <a:off x="804672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68" name="Google Shape;7768;p49"/>
          <p:cNvSpPr txBox="1"/>
          <p:nvPr/>
        </p:nvSpPr>
        <p:spPr>
          <a:xfrm>
            <a:off x="886968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69" name="Google Shape;7769;p49"/>
          <p:cNvSpPr txBox="1"/>
          <p:nvPr/>
        </p:nvSpPr>
        <p:spPr>
          <a:xfrm>
            <a:off x="9784080" y="3584448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770" name="Google Shape;7770;p49"/>
          <p:cNvSpPr txBox="1"/>
          <p:nvPr/>
        </p:nvSpPr>
        <p:spPr>
          <a:xfrm>
            <a:off x="10607040" y="3584448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0.0%</a:t>
            </a:r>
            <a:endParaRPr/>
          </a:p>
        </p:txBody>
      </p:sp>
      <p:sp>
        <p:nvSpPr>
          <p:cNvPr id="7771" name="Google Shape;7771;p49"/>
          <p:cNvSpPr/>
          <p:nvPr/>
        </p:nvSpPr>
        <p:spPr>
          <a:xfrm>
            <a:off x="6309360" y="3831335"/>
            <a:ext cx="5486400" cy="4572"/>
          </a:xfrm>
          <a:prstGeom prst="rect">
            <a:avLst/>
          </a:prstGeom>
          <a:solidFill>
            <a:srgbClr val="F3F4F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2" name="Google Shape;7772;p49"/>
          <p:cNvSpPr txBox="1"/>
          <p:nvPr/>
        </p:nvSpPr>
        <p:spPr>
          <a:xfrm>
            <a:off x="630936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</a:t>
            </a:r>
            <a:endParaRPr/>
          </a:p>
        </p:txBody>
      </p:sp>
      <p:sp>
        <p:nvSpPr>
          <p:cNvPr id="7773" name="Google Shape;7773;p49"/>
          <p:cNvSpPr txBox="1"/>
          <p:nvPr/>
        </p:nvSpPr>
        <p:spPr>
          <a:xfrm>
            <a:off x="722376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774" name="Google Shape;7774;p49"/>
          <p:cNvSpPr txBox="1"/>
          <p:nvPr/>
        </p:nvSpPr>
        <p:spPr>
          <a:xfrm>
            <a:off x="804672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3</a:t>
            </a:r>
            <a:endParaRPr/>
          </a:p>
        </p:txBody>
      </p:sp>
      <p:sp>
        <p:nvSpPr>
          <p:cNvPr id="7775" name="Google Shape;7775;p49"/>
          <p:cNvSpPr txBox="1"/>
          <p:nvPr/>
        </p:nvSpPr>
        <p:spPr>
          <a:xfrm>
            <a:off x="886968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8</a:t>
            </a:r>
            <a:endParaRPr/>
          </a:p>
        </p:txBody>
      </p:sp>
      <p:sp>
        <p:nvSpPr>
          <p:cNvPr id="7776" name="Google Shape;7776;p49"/>
          <p:cNvSpPr txBox="1"/>
          <p:nvPr/>
        </p:nvSpPr>
        <p:spPr>
          <a:xfrm>
            <a:off x="9784080" y="3877056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77" name="Google Shape;7777;p49"/>
          <p:cNvSpPr txBox="1"/>
          <p:nvPr/>
        </p:nvSpPr>
        <p:spPr>
          <a:xfrm>
            <a:off x="10607040" y="3877056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9.1%</a:t>
            </a:r>
            <a:endParaRPr/>
          </a:p>
        </p:txBody>
      </p:sp>
      <p:sp>
        <p:nvSpPr>
          <p:cNvPr id="7778" name="Google Shape;7778;p49"/>
          <p:cNvSpPr/>
          <p:nvPr/>
        </p:nvSpPr>
        <p:spPr>
          <a:xfrm>
            <a:off x="6309360" y="4133088"/>
            <a:ext cx="5486400" cy="13716"/>
          </a:xfrm>
          <a:prstGeom prst="rect">
            <a:avLst/>
          </a:prstGeom>
          <a:solidFill>
            <a:srgbClr val="6D28D9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79" name="Google Shape;7779;p49"/>
          <p:cNvSpPr txBox="1"/>
          <p:nvPr/>
        </p:nvSpPr>
        <p:spPr>
          <a:xfrm>
            <a:off x="630936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Q1 TOTAL</a:t>
            </a:r>
            <a:endParaRPr/>
          </a:p>
        </p:txBody>
      </p:sp>
      <p:sp>
        <p:nvSpPr>
          <p:cNvPr id="7780" name="Google Shape;7780;p49"/>
          <p:cNvSpPr txBox="1"/>
          <p:nvPr/>
        </p:nvSpPr>
        <p:spPr>
          <a:xfrm>
            <a:off x="722376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</a:t>
            </a:r>
            <a:endParaRPr/>
          </a:p>
        </p:txBody>
      </p:sp>
      <p:sp>
        <p:nvSpPr>
          <p:cNvPr id="7781" name="Google Shape;7781;p49"/>
          <p:cNvSpPr txBox="1"/>
          <p:nvPr/>
        </p:nvSpPr>
        <p:spPr>
          <a:xfrm>
            <a:off x="804672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9</a:t>
            </a:r>
            <a:endParaRPr/>
          </a:p>
        </p:txBody>
      </p:sp>
      <p:sp>
        <p:nvSpPr>
          <p:cNvPr id="7782" name="Google Shape;7782;p49"/>
          <p:cNvSpPr txBox="1"/>
          <p:nvPr/>
        </p:nvSpPr>
        <p:spPr>
          <a:xfrm>
            <a:off x="886968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12</a:t>
            </a:r>
            <a:endParaRPr/>
          </a:p>
        </p:txBody>
      </p:sp>
      <p:sp>
        <p:nvSpPr>
          <p:cNvPr id="7783" name="Google Shape;7783;p49"/>
          <p:cNvSpPr txBox="1"/>
          <p:nvPr/>
        </p:nvSpPr>
        <p:spPr>
          <a:xfrm>
            <a:off x="9784080" y="4169664"/>
            <a:ext cx="8229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</a:t>
            </a:r>
            <a:endParaRPr/>
          </a:p>
        </p:txBody>
      </p:sp>
      <p:sp>
        <p:nvSpPr>
          <p:cNvPr id="7784" name="Google Shape;7784;p49"/>
          <p:cNvSpPr txBox="1"/>
          <p:nvPr/>
        </p:nvSpPr>
        <p:spPr>
          <a:xfrm>
            <a:off x="10607040" y="4169664"/>
            <a:ext cx="9144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4.8%</a:t>
            </a:r>
            <a:endParaRPr/>
          </a:p>
        </p:txBody>
      </p:sp>
      <p:sp>
        <p:nvSpPr>
          <p:cNvPr id="7785" name="Google Shape;7785;p49"/>
          <p:cNvSpPr/>
          <p:nvPr/>
        </p:nvSpPr>
        <p:spPr>
          <a:xfrm>
            <a:off x="365760" y="4489704"/>
            <a:ext cx="11430000" cy="228600"/>
          </a:xfrm>
          <a:prstGeom prst="rect">
            <a:avLst/>
          </a:prstGeom>
          <a:solidFill>
            <a:srgbClr val="EDE9F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86" name="Google Shape;7786;p49"/>
          <p:cNvSpPr txBox="1"/>
          <p:nvPr/>
        </p:nvSpPr>
        <p:spPr>
          <a:xfrm>
            <a:off x="457200" y="4507992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YOY COMPARISON — Jan–May 2025 vs Jan–May 2026</a:t>
            </a:r>
            <a:endParaRPr/>
          </a:p>
        </p:txBody>
      </p:sp>
      <p:sp>
        <p:nvSpPr>
          <p:cNvPr id="7787" name="Google Shape;7787;p49"/>
          <p:cNvSpPr txBox="1"/>
          <p:nvPr/>
        </p:nvSpPr>
        <p:spPr>
          <a:xfrm>
            <a:off x="365760" y="476402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700" u="none" cap="none" strike="noStrike">
              <a:solidFill>
                <a:srgbClr val="6B7280"/>
              </a:solidFill>
              <a:latin typeface="Quattrocento Sans"/>
              <a:ea typeface="Quattrocento Sans"/>
              <a:cs typeface="Quattrocento Sans"/>
              <a:sym typeface="Quattrocento Sans"/>
            </a:endParaRPr>
          </a:p>
        </p:txBody>
      </p:sp>
      <p:sp>
        <p:nvSpPr>
          <p:cNvPr id="7788" name="Google Shape;7788;p49"/>
          <p:cNvSpPr txBox="1"/>
          <p:nvPr/>
        </p:nvSpPr>
        <p:spPr>
          <a:xfrm>
            <a:off x="1463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'25</a:t>
            </a:r>
            <a:endParaRPr/>
          </a:p>
        </p:txBody>
      </p:sp>
      <p:sp>
        <p:nvSpPr>
          <p:cNvPr id="7789" name="Google Shape;7789;p49"/>
          <p:cNvSpPr txBox="1"/>
          <p:nvPr/>
        </p:nvSpPr>
        <p:spPr>
          <a:xfrm>
            <a:off x="2148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 '26</a:t>
            </a:r>
            <a:endParaRPr/>
          </a:p>
        </p:txBody>
      </p:sp>
      <p:sp>
        <p:nvSpPr>
          <p:cNvPr id="7790" name="Google Shape;7790;p49"/>
          <p:cNvSpPr txBox="1"/>
          <p:nvPr/>
        </p:nvSpPr>
        <p:spPr>
          <a:xfrm>
            <a:off x="2834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'25</a:t>
            </a:r>
            <a:endParaRPr/>
          </a:p>
        </p:txBody>
      </p:sp>
      <p:sp>
        <p:nvSpPr>
          <p:cNvPr id="7791" name="Google Shape;7791;p49"/>
          <p:cNvSpPr txBox="1"/>
          <p:nvPr/>
        </p:nvSpPr>
        <p:spPr>
          <a:xfrm>
            <a:off x="3520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Feb '26</a:t>
            </a:r>
            <a:endParaRPr/>
          </a:p>
        </p:txBody>
      </p:sp>
      <p:sp>
        <p:nvSpPr>
          <p:cNvPr id="7792" name="Google Shape;7792;p49"/>
          <p:cNvSpPr txBox="1"/>
          <p:nvPr/>
        </p:nvSpPr>
        <p:spPr>
          <a:xfrm>
            <a:off x="4206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'25</a:t>
            </a:r>
            <a:endParaRPr/>
          </a:p>
        </p:txBody>
      </p:sp>
      <p:sp>
        <p:nvSpPr>
          <p:cNvPr id="7793" name="Google Shape;7793;p49"/>
          <p:cNvSpPr txBox="1"/>
          <p:nvPr/>
        </p:nvSpPr>
        <p:spPr>
          <a:xfrm>
            <a:off x="48920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Mar '26</a:t>
            </a:r>
            <a:endParaRPr/>
          </a:p>
        </p:txBody>
      </p:sp>
      <p:sp>
        <p:nvSpPr>
          <p:cNvPr id="7794" name="Google Shape;7794;p49"/>
          <p:cNvSpPr txBox="1"/>
          <p:nvPr/>
        </p:nvSpPr>
        <p:spPr>
          <a:xfrm>
            <a:off x="55778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'25</a:t>
            </a:r>
            <a:endParaRPr/>
          </a:p>
        </p:txBody>
      </p:sp>
      <p:sp>
        <p:nvSpPr>
          <p:cNvPr id="7795" name="Google Shape;7795;p49"/>
          <p:cNvSpPr txBox="1"/>
          <p:nvPr/>
        </p:nvSpPr>
        <p:spPr>
          <a:xfrm>
            <a:off x="62636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Apr '26</a:t>
            </a:r>
            <a:endParaRPr/>
          </a:p>
        </p:txBody>
      </p:sp>
      <p:sp>
        <p:nvSpPr>
          <p:cNvPr id="7796" name="Google Shape;7796;p49"/>
          <p:cNvSpPr txBox="1"/>
          <p:nvPr/>
        </p:nvSpPr>
        <p:spPr>
          <a:xfrm>
            <a:off x="69494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'25</a:t>
            </a:r>
            <a:endParaRPr/>
          </a:p>
        </p:txBody>
      </p:sp>
      <p:sp>
        <p:nvSpPr>
          <p:cNvPr id="7797" name="Google Shape;7797;p49"/>
          <p:cNvSpPr txBox="1"/>
          <p:nvPr/>
        </p:nvSpPr>
        <p:spPr>
          <a:xfrm>
            <a:off x="7635240" y="476402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May '26</a:t>
            </a:r>
            <a:endParaRPr/>
          </a:p>
        </p:txBody>
      </p:sp>
      <p:sp>
        <p:nvSpPr>
          <p:cNvPr id="7798" name="Google Shape;7798;p49"/>
          <p:cNvSpPr txBox="1"/>
          <p:nvPr/>
        </p:nvSpPr>
        <p:spPr>
          <a:xfrm>
            <a:off x="832104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'25 Tot</a:t>
            </a:r>
            <a:endParaRPr/>
          </a:p>
        </p:txBody>
      </p:sp>
      <p:sp>
        <p:nvSpPr>
          <p:cNvPr id="7799" name="Google Shape;7799;p49"/>
          <p:cNvSpPr txBox="1"/>
          <p:nvPr/>
        </p:nvSpPr>
        <p:spPr>
          <a:xfrm>
            <a:off x="9509760" y="476402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00" u="none" cap="none" strike="noStrike">
                <a:solidFill>
                  <a:srgbClr val="6B7280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Jan–Ma '26 Tot</a:t>
            </a:r>
            <a:endParaRPr/>
          </a:p>
        </p:txBody>
      </p:sp>
      <p:sp>
        <p:nvSpPr>
          <p:cNvPr id="7800" name="Google Shape;7800;p49"/>
          <p:cNvSpPr txBox="1"/>
          <p:nvPr/>
        </p:nvSpPr>
        <p:spPr>
          <a:xfrm>
            <a:off x="365760" y="494690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Submissions</a:t>
            </a:r>
            <a:endParaRPr/>
          </a:p>
        </p:txBody>
      </p:sp>
      <p:sp>
        <p:nvSpPr>
          <p:cNvPr id="7801" name="Google Shape;7801;p49"/>
          <p:cNvSpPr txBox="1"/>
          <p:nvPr/>
        </p:nvSpPr>
        <p:spPr>
          <a:xfrm>
            <a:off x="1463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2" name="Google Shape;7802;p49"/>
          <p:cNvSpPr txBox="1"/>
          <p:nvPr/>
        </p:nvSpPr>
        <p:spPr>
          <a:xfrm>
            <a:off x="2148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03" name="Google Shape;7803;p49"/>
          <p:cNvSpPr txBox="1"/>
          <p:nvPr/>
        </p:nvSpPr>
        <p:spPr>
          <a:xfrm>
            <a:off x="2834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0</a:t>
            </a:r>
            <a:endParaRPr/>
          </a:p>
        </p:txBody>
      </p:sp>
      <p:sp>
        <p:nvSpPr>
          <p:cNvPr id="7804" name="Google Shape;7804;p49"/>
          <p:cNvSpPr txBox="1"/>
          <p:nvPr/>
        </p:nvSpPr>
        <p:spPr>
          <a:xfrm>
            <a:off x="3520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4</a:t>
            </a:r>
            <a:endParaRPr/>
          </a:p>
        </p:txBody>
      </p:sp>
      <p:sp>
        <p:nvSpPr>
          <p:cNvPr id="7805" name="Google Shape;7805;p49"/>
          <p:cNvSpPr txBox="1"/>
          <p:nvPr/>
        </p:nvSpPr>
        <p:spPr>
          <a:xfrm>
            <a:off x="4206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06" name="Google Shape;7806;p49"/>
          <p:cNvSpPr txBox="1"/>
          <p:nvPr/>
        </p:nvSpPr>
        <p:spPr>
          <a:xfrm>
            <a:off x="48920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807" name="Google Shape;7807;p49"/>
          <p:cNvSpPr txBox="1"/>
          <p:nvPr/>
        </p:nvSpPr>
        <p:spPr>
          <a:xfrm>
            <a:off x="55778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08" name="Google Shape;7808;p49"/>
          <p:cNvSpPr txBox="1"/>
          <p:nvPr/>
        </p:nvSpPr>
        <p:spPr>
          <a:xfrm>
            <a:off x="62636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09" name="Google Shape;7809;p49"/>
          <p:cNvSpPr txBox="1"/>
          <p:nvPr/>
        </p:nvSpPr>
        <p:spPr>
          <a:xfrm>
            <a:off x="69494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</a:t>
            </a:r>
            <a:endParaRPr/>
          </a:p>
        </p:txBody>
      </p:sp>
      <p:sp>
        <p:nvSpPr>
          <p:cNvPr id="7810" name="Google Shape;7810;p49"/>
          <p:cNvSpPr txBox="1"/>
          <p:nvPr/>
        </p:nvSpPr>
        <p:spPr>
          <a:xfrm>
            <a:off x="7635240" y="494690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11</a:t>
            </a:r>
            <a:endParaRPr/>
          </a:p>
        </p:txBody>
      </p:sp>
      <p:sp>
        <p:nvSpPr>
          <p:cNvPr id="7811" name="Google Shape;7811;p49"/>
          <p:cNvSpPr txBox="1"/>
          <p:nvPr/>
        </p:nvSpPr>
        <p:spPr>
          <a:xfrm>
            <a:off x="832104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6</a:t>
            </a:r>
            <a:endParaRPr/>
          </a:p>
        </p:txBody>
      </p:sp>
      <p:sp>
        <p:nvSpPr>
          <p:cNvPr id="7812" name="Google Shape;7812;p49"/>
          <p:cNvSpPr txBox="1"/>
          <p:nvPr/>
        </p:nvSpPr>
        <p:spPr>
          <a:xfrm>
            <a:off x="9509760" y="494690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25</a:t>
            </a:r>
            <a:endParaRPr/>
          </a:p>
        </p:txBody>
      </p:sp>
      <p:sp>
        <p:nvSpPr>
          <p:cNvPr id="7813" name="Google Shape;7813;p49"/>
          <p:cNvSpPr txBox="1"/>
          <p:nvPr/>
        </p:nvSpPr>
        <p:spPr>
          <a:xfrm>
            <a:off x="365760" y="5129784"/>
            <a:ext cx="109728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Bound Premium</a:t>
            </a:r>
            <a:endParaRPr/>
          </a:p>
        </p:txBody>
      </p:sp>
      <p:sp>
        <p:nvSpPr>
          <p:cNvPr id="7814" name="Google Shape;7814;p49"/>
          <p:cNvSpPr txBox="1"/>
          <p:nvPr/>
        </p:nvSpPr>
        <p:spPr>
          <a:xfrm>
            <a:off x="1463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5" name="Google Shape;7815;p49"/>
          <p:cNvSpPr txBox="1"/>
          <p:nvPr/>
        </p:nvSpPr>
        <p:spPr>
          <a:xfrm>
            <a:off x="2148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$-7,850</a:t>
            </a:r>
            <a:endParaRPr/>
          </a:p>
        </p:txBody>
      </p:sp>
      <p:sp>
        <p:nvSpPr>
          <p:cNvPr id="7816" name="Google Shape;7816;p49"/>
          <p:cNvSpPr txBox="1"/>
          <p:nvPr/>
        </p:nvSpPr>
        <p:spPr>
          <a:xfrm>
            <a:off x="2834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7" name="Google Shape;7817;p49"/>
          <p:cNvSpPr txBox="1"/>
          <p:nvPr/>
        </p:nvSpPr>
        <p:spPr>
          <a:xfrm>
            <a:off x="3520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$-720</a:t>
            </a:r>
            <a:endParaRPr/>
          </a:p>
        </p:txBody>
      </p:sp>
      <p:sp>
        <p:nvSpPr>
          <p:cNvPr id="7818" name="Google Shape;7818;p49"/>
          <p:cNvSpPr txBox="1"/>
          <p:nvPr/>
        </p:nvSpPr>
        <p:spPr>
          <a:xfrm>
            <a:off x="4206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19" name="Google Shape;7819;p49"/>
          <p:cNvSpPr txBox="1"/>
          <p:nvPr/>
        </p:nvSpPr>
        <p:spPr>
          <a:xfrm>
            <a:off x="48920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$188</a:t>
            </a:r>
            <a:endParaRPr/>
          </a:p>
        </p:txBody>
      </p:sp>
      <p:sp>
        <p:nvSpPr>
          <p:cNvPr id="7820" name="Google Shape;7820;p49"/>
          <p:cNvSpPr txBox="1"/>
          <p:nvPr/>
        </p:nvSpPr>
        <p:spPr>
          <a:xfrm>
            <a:off x="55778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1" name="Google Shape;7821;p49"/>
          <p:cNvSpPr txBox="1"/>
          <p:nvPr/>
        </p:nvSpPr>
        <p:spPr>
          <a:xfrm>
            <a:off x="62636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2" name="Google Shape;7822;p49"/>
          <p:cNvSpPr txBox="1"/>
          <p:nvPr/>
        </p:nvSpPr>
        <p:spPr>
          <a:xfrm>
            <a:off x="69494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3" name="Google Shape;7823;p49"/>
          <p:cNvSpPr txBox="1"/>
          <p:nvPr/>
        </p:nvSpPr>
        <p:spPr>
          <a:xfrm>
            <a:off x="7635240" y="5129784"/>
            <a:ext cx="685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$-3,492</a:t>
            </a:r>
            <a:endParaRPr/>
          </a:p>
        </p:txBody>
      </p:sp>
      <p:sp>
        <p:nvSpPr>
          <p:cNvPr id="7824" name="Google Shape;7824;p49"/>
          <p:cNvSpPr txBox="1"/>
          <p:nvPr/>
        </p:nvSpPr>
        <p:spPr>
          <a:xfrm>
            <a:off x="832104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$0</a:t>
            </a:r>
            <a:endParaRPr/>
          </a:p>
        </p:txBody>
      </p:sp>
      <p:sp>
        <p:nvSpPr>
          <p:cNvPr id="7825" name="Google Shape;7825;p49"/>
          <p:cNvSpPr txBox="1"/>
          <p:nvPr/>
        </p:nvSpPr>
        <p:spPr>
          <a:xfrm>
            <a:off x="9509760" y="5129784"/>
            <a:ext cx="118872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800" u="none" cap="none" strike="noStrike">
                <a:solidFill>
                  <a:srgbClr val="6D28D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$-11,875</a:t>
            </a:r>
            <a:endParaRPr/>
          </a:p>
        </p:txBody>
      </p:sp>
      <p:sp>
        <p:nvSpPr>
          <p:cNvPr id="7826" name="Google Shape;7826;p49"/>
          <p:cNvSpPr/>
          <p:nvPr/>
        </p:nvSpPr>
        <p:spPr>
          <a:xfrm>
            <a:off x="365760" y="5385816"/>
            <a:ext cx="5669280" cy="256032"/>
          </a:xfrm>
          <a:prstGeom prst="rect">
            <a:avLst/>
          </a:prstGeom>
          <a:solidFill>
            <a:srgbClr val="D1FAE5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27" name="Google Shape;7827;p49"/>
          <p:cNvSpPr txBox="1"/>
          <p:nvPr/>
        </p:nvSpPr>
        <p:spPr>
          <a:xfrm>
            <a:off x="4572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65F46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STRENGTHS - What's Working</a:t>
            </a:r>
            <a:endParaRPr/>
          </a:p>
        </p:txBody>
      </p:sp>
      <p:sp>
        <p:nvSpPr>
          <p:cNvPr id="7828" name="Google Shape;7828;p49"/>
          <p:cNvSpPr txBox="1"/>
          <p:nvPr/>
        </p:nvSpPr>
        <p:spPr>
          <a:xfrm>
            <a:off x="4572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29" name="Google Shape;7829;p49"/>
          <p:cNvSpPr txBox="1"/>
          <p:nvPr/>
        </p:nvSpPr>
        <p:spPr>
          <a:xfrm>
            <a:off x="685800" y="5660136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21 submissions - highly active agency</a:t>
            </a:r>
            <a:endParaRPr/>
          </a:p>
        </p:txBody>
      </p:sp>
      <p:sp>
        <p:nvSpPr>
          <p:cNvPr id="7830" name="Google Shape;7830;p49"/>
          <p:cNvSpPr txBox="1"/>
          <p:nvPr/>
        </p:nvSpPr>
        <p:spPr>
          <a:xfrm>
            <a:off x="4572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059669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+</a:t>
            </a:r>
            <a:endParaRPr/>
          </a:p>
        </p:txBody>
      </p:sp>
      <p:sp>
        <p:nvSpPr>
          <p:cNvPr id="7831" name="Google Shape;7831;p49"/>
          <p:cNvSpPr txBox="1"/>
          <p:nvPr/>
        </p:nvSpPr>
        <p:spPr>
          <a:xfrm>
            <a:off x="685800" y="5861303"/>
            <a:ext cx="521208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 bind(s) - converting submissions to business</a:t>
            </a:r>
            <a:endParaRPr/>
          </a:p>
        </p:txBody>
      </p:sp>
      <p:sp>
        <p:nvSpPr>
          <p:cNvPr id="7832" name="Google Shape;7832;p49"/>
          <p:cNvSpPr/>
          <p:nvPr/>
        </p:nvSpPr>
        <p:spPr>
          <a:xfrm>
            <a:off x="6309360" y="5385816"/>
            <a:ext cx="5486400" cy="256032"/>
          </a:xfrm>
          <a:prstGeom prst="rect">
            <a:avLst/>
          </a:prstGeom>
          <a:solidFill>
            <a:srgbClr val="FEE2E2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3" name="Google Shape;7833;p49"/>
          <p:cNvSpPr txBox="1"/>
          <p:nvPr/>
        </p:nvSpPr>
        <p:spPr>
          <a:xfrm>
            <a:off x="6400800" y="5404103"/>
            <a:ext cx="457200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91B1B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NEEDS ATTENTION</a:t>
            </a:r>
            <a:endParaRPr/>
          </a:p>
        </p:txBody>
      </p:sp>
      <p:sp>
        <p:nvSpPr>
          <p:cNvPr id="7834" name="Google Shape;7834;p49"/>
          <p:cNvSpPr txBox="1"/>
          <p:nvPr/>
        </p:nvSpPr>
        <p:spPr>
          <a:xfrm>
            <a:off x="6400800" y="5660136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35" name="Google Shape;7835;p49"/>
          <p:cNvSpPr txBox="1"/>
          <p:nvPr/>
        </p:nvSpPr>
        <p:spPr>
          <a:xfrm>
            <a:off x="6629400" y="5660136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Negative written premium ($-11,875) - cancellations exceed production</a:t>
            </a:r>
            <a:endParaRPr/>
          </a:p>
        </p:txBody>
      </p:sp>
      <p:sp>
        <p:nvSpPr>
          <p:cNvPr id="7836" name="Google Shape;7836;p49"/>
          <p:cNvSpPr txBox="1"/>
          <p:nvPr/>
        </p:nvSpPr>
        <p:spPr>
          <a:xfrm>
            <a:off x="6400800" y="5861303"/>
            <a:ext cx="228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!</a:t>
            </a:r>
            <a:endParaRPr/>
          </a:p>
        </p:txBody>
      </p:sp>
      <p:sp>
        <p:nvSpPr>
          <p:cNvPr id="7837" name="Google Shape;7837;p49"/>
          <p:cNvSpPr txBox="1"/>
          <p:nvPr/>
        </p:nvSpPr>
        <p:spPr>
          <a:xfrm>
            <a:off x="6629400" y="5861303"/>
            <a:ext cx="50292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Written premium dropped 1960% month-over-month</a:t>
            </a:r>
            <a:endParaRPr/>
          </a:p>
        </p:txBody>
      </p:sp>
      <p:sp>
        <p:nvSpPr>
          <p:cNvPr id="7838" name="Google Shape;7838;p49"/>
          <p:cNvSpPr/>
          <p:nvPr/>
        </p:nvSpPr>
        <p:spPr>
          <a:xfrm>
            <a:off x="365760" y="6163055"/>
            <a:ext cx="11430000" cy="219456"/>
          </a:xfrm>
          <a:prstGeom prst="rect">
            <a:avLst/>
          </a:prstGeom>
          <a:solidFill>
            <a:srgbClr val="FEF3C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39" name="Google Shape;7839;p49"/>
          <p:cNvSpPr txBox="1"/>
          <p:nvPr/>
        </p:nvSpPr>
        <p:spPr>
          <a:xfrm>
            <a:off x="457200" y="6172199"/>
            <a:ext cx="731520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STRATEGIC SALES TIPS - Conversation Starters</a:t>
            </a:r>
            <a:endParaRPr/>
          </a:p>
        </p:txBody>
      </p:sp>
      <p:sp>
        <p:nvSpPr>
          <p:cNvPr id="7840" name="Google Shape;7840;p49"/>
          <p:cNvSpPr txBox="1"/>
          <p:nvPr/>
        </p:nvSpPr>
        <p:spPr>
          <a:xfrm>
            <a:off x="457200" y="6419088"/>
            <a:ext cx="27432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900" u="none" cap="none" strike="noStrike">
                <a:solidFill>
                  <a:srgbClr val="92400E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1.</a:t>
            </a:r>
            <a:endParaRPr/>
          </a:p>
        </p:txBody>
      </p:sp>
      <p:sp>
        <p:nvSpPr>
          <p:cNvPr id="7841" name="Google Shape;7841;p49"/>
          <p:cNvSpPr txBox="1"/>
          <p:nvPr/>
        </p:nvSpPr>
        <p:spPr>
          <a:xfrm>
            <a:off x="777240" y="6419088"/>
            <a:ext cx="10881360" cy="2011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800" u="none" cap="none" strike="noStrike">
                <a:solidFill>
                  <a:srgbClr val="111827"/>
                </a:solidFill>
                <a:latin typeface="Quattrocento Sans"/>
                <a:ea typeface="Quattrocento Sans"/>
                <a:cs typeface="Quattrocento Sans"/>
                <a:sym typeface="Quattrocento Sans"/>
              </a:rPr>
              <a:t>Volume dropped significantly last month. Lead with curiosity, not concern: "I noticed things slowed down - anything going on I can help with?" Identify if it's seasonal, competitive, or operational.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