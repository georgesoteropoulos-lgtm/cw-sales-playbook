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</p:sldIdLst>
  <p:sldSz cy="6858000" cx="12191675"/>
  <p:notesSz cx="6858000" cy="9144000"/>
  <p:embeddedFontLst>
    <p:embeddedFont>
      <p:font typeface="Quattrocento Sans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59" roundtripDataSignature="AMtx7mi1Ea0O5qsUZz92l5uxheUplk0Y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font" Target="fonts/QuattrocentoSans-regular.fntdata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font" Target="fonts/QuattrocentoSans-italic.fntdata"/><Relationship Id="rId12" Type="http://schemas.openxmlformats.org/officeDocument/2006/relationships/slide" Target="slides/slide7.xml"/><Relationship Id="rId56" Type="http://schemas.openxmlformats.org/officeDocument/2006/relationships/font" Target="fonts/QuattrocentoSans-bold.fntdata"/><Relationship Id="rId15" Type="http://schemas.openxmlformats.org/officeDocument/2006/relationships/slide" Target="slides/slide10.xml"/><Relationship Id="rId59" Type="http://customschemas.google.com/relationships/presentationmetadata" Target="metadata"/><Relationship Id="rId14" Type="http://schemas.openxmlformats.org/officeDocument/2006/relationships/slide" Target="slides/slide9.xml"/><Relationship Id="rId58" Type="http://schemas.openxmlformats.org/officeDocument/2006/relationships/font" Target="fonts/QuattrocentoSans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3" name="Google Shape;134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8" name="Google Shape;154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0" name="Shape 1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1" name="Google Shape;168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2" name="Google Shape;168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2" name="Shape 1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Google Shape;174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4" name="Google Shape;174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1" name="Shape 1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2" name="Google Shape;194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3" name="Google Shape;194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0" name="Shape 2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1" name="Google Shape;214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2" name="Google Shape;214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7" name="Shape 2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9" name="Google Shape;233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6" name="Shape 2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7" name="Google Shape;253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8" name="Google Shape;2538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5" name="Shape 2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6" name="Google Shape;273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7" name="Google Shape;273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2" name="Shape 2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3" name="Google Shape;293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4" name="Google Shape;2934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1" name="Shape 3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2" name="Google Shape;313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3" name="Google Shape;3133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0" name="Shape 3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1" name="Google Shape;333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2" name="Google Shape;3332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7" name="Shape 3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8" name="Google Shape;352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9" name="Google Shape;3529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4" name="Shape 3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5" name="Google Shape;372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6" name="Google Shape;3726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1" name="Shape 3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2" name="Google Shape;392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3" name="Google Shape;3923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8" name="Shape 4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9" name="Google Shape;4119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0" name="Google Shape;4120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7" name="Shape 4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8" name="Google Shape;431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9" name="Google Shape;4319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2" name="Shape 4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3" name="Google Shape;451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4" name="Google Shape;4514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1" name="Shape 4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2" name="Google Shape;471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3" name="Google Shape;4713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8" name="Shape 4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9" name="Google Shape;490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0" name="Google Shape;4910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5" name="Shape 5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6" name="Google Shape;5106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7" name="Google Shape;5107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4" name="Shape 5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5" name="Google Shape;5305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6" name="Google Shape;5306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1" name="Shape 5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2" name="Google Shape;5502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3" name="Google Shape;5503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0" name="Shape 5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1" name="Google Shape;5701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2" name="Google Shape;5702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7" name="Shape 5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8" name="Google Shape;5898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9" name="Google Shape;5899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6" name="Shape 6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7" name="Google Shape;6097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8" name="Google Shape;6098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5" name="Shape 6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6" name="Google Shape;6296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7" name="Google Shape;6297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2" name="Shape 6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3" name="Google Shape;6493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4" name="Google Shape;6494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9" name="Shape 6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0" name="Google Shape;6690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1" name="Google Shape;6691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8" name="Shape 6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9" name="Google Shape;6889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0" name="Google Shape;6890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7" name="Shape 7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8" name="Google Shape;7088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9" name="Google Shape;7089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6" name="Shape 7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7" name="Google Shape;7287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8" name="Google Shape;7288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3" name="Shape 7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4" name="Google Shape;7484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5" name="Google Shape;7485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2" name="Shape 7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3" name="Google Shape;7683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4" name="Google Shape;7684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9" name="Shape 7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0" name="Google Shape;7880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1" name="Google Shape;7881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6" name="Shape 8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7" name="Google Shape;8077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8" name="Google Shape;8078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1" name="Shape 8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2" name="Google Shape;8272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3" name="Google Shape;8273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5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5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5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5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5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5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6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6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6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6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5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07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8B5C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COVER WHALE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Ron Douglas - Agency Portfolio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4B5F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Jan–Jun 2026  |  Generated June 01, 2026  |  34 Agencies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Ron Douglas - Portfolio Overview</a:t>
            </a:r>
            <a:endParaRPr/>
          </a:p>
        </p:txBody>
      </p:sp>
      <p:sp>
        <p:nvSpPr>
          <p:cNvPr id="93" name="Google Shape;93;p2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4B5F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Jan–Jun 2026  |  34 Total Agencies  |  34 Active  |  0 Inactive</a:t>
            </a:r>
            <a:endParaRPr/>
          </a:p>
        </p:txBody>
      </p:sp>
      <p:sp>
        <p:nvSpPr>
          <p:cNvPr id="94" name="Google Shape;94;p2"/>
          <p:cNvSpPr/>
          <p:nvPr/>
        </p:nvSpPr>
        <p:spPr>
          <a:xfrm>
            <a:off x="137160" y="868680"/>
            <a:ext cx="1627632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Total Agencies</a:t>
            </a:r>
            <a:endParaRPr/>
          </a:p>
        </p:txBody>
      </p:sp>
      <p:sp>
        <p:nvSpPr>
          <p:cNvPr id="95" name="Google Shape;95;p2"/>
          <p:cNvSpPr/>
          <p:nvPr/>
        </p:nvSpPr>
        <p:spPr>
          <a:xfrm>
            <a:off x="1847088" y="868680"/>
            <a:ext cx="1627632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Active (YTD)</a:t>
            </a:r>
            <a:endParaRPr/>
          </a:p>
        </p:txBody>
      </p:sp>
      <p:sp>
        <p:nvSpPr>
          <p:cNvPr id="96" name="Google Shape;96;p2"/>
          <p:cNvSpPr/>
          <p:nvPr/>
        </p:nvSpPr>
        <p:spPr>
          <a:xfrm>
            <a:off x="3557016" y="868680"/>
            <a:ext cx="1627632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$18,882,702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YTD GWP</a:t>
            </a:r>
            <a:endParaRPr/>
          </a:p>
        </p:txBody>
      </p:sp>
      <p:sp>
        <p:nvSpPr>
          <p:cNvPr id="97" name="Google Shape;97;p2"/>
          <p:cNvSpPr/>
          <p:nvPr/>
        </p:nvSpPr>
        <p:spPr>
          <a:xfrm>
            <a:off x="5266944" y="868680"/>
            <a:ext cx="1627632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$13,163,978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6976872" y="868680"/>
            <a:ext cx="1627632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$2,312,646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8686800" y="868680"/>
            <a:ext cx="1627632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$3,406,077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100" name="Google Shape;100;p2"/>
          <p:cNvSpPr/>
          <p:nvPr/>
        </p:nvSpPr>
        <p:spPr>
          <a:xfrm>
            <a:off x="10396728" y="868680"/>
            <a:ext cx="1627632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$-8,339,209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137160" y="1389888"/>
            <a:ext cx="1627632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14585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Total Submissions</a:t>
            </a:r>
            <a:endParaRPr/>
          </a:p>
        </p:txBody>
      </p:sp>
      <p:sp>
        <p:nvSpPr>
          <p:cNvPr id="102" name="Google Shape;102;p2"/>
          <p:cNvSpPr/>
          <p:nvPr/>
        </p:nvSpPr>
        <p:spPr>
          <a:xfrm>
            <a:off x="1847088" y="1389888"/>
            <a:ext cx="1627632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704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Total Binds</a:t>
            </a: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3557016" y="1389888"/>
            <a:ext cx="1627632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4.8%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5266944" y="1389888"/>
            <a:ext cx="1627632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962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 Subs</a:t>
            </a:r>
            <a:endParaRPr/>
          </a:p>
        </p:txBody>
      </p:sp>
      <p:sp>
        <p:nvSpPr>
          <p:cNvPr id="105" name="Google Shape;105;p2"/>
          <p:cNvSpPr/>
          <p:nvPr/>
        </p:nvSpPr>
        <p:spPr>
          <a:xfrm>
            <a:off x="6976872" y="1389888"/>
            <a:ext cx="1627632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 Binds</a:t>
            </a:r>
            <a:endParaRPr/>
          </a:p>
        </p:txBody>
      </p:sp>
      <p:sp>
        <p:nvSpPr>
          <p:cNvPr id="106" name="Google Shape;106;p2"/>
          <p:cNvSpPr/>
          <p:nvPr/>
        </p:nvSpPr>
        <p:spPr>
          <a:xfrm>
            <a:off x="8686800" y="1389888"/>
            <a:ext cx="1627632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13623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Non-Fleet Subs</a:t>
            </a:r>
            <a:endParaRPr/>
          </a:p>
        </p:txBody>
      </p:sp>
      <p:sp>
        <p:nvSpPr>
          <p:cNvPr id="107" name="Google Shape;107;p2"/>
          <p:cNvSpPr/>
          <p:nvPr/>
        </p:nvSpPr>
        <p:spPr>
          <a:xfrm>
            <a:off x="10396728" y="1389888"/>
            <a:ext cx="1627632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629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Non-Fleet Binds</a:t>
            </a: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137160" y="1911095"/>
            <a:ext cx="1627632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$40,451,444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2025 Full Year GWP</a:t>
            </a: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1847088" y="1911095"/>
            <a:ext cx="1627632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$40,150,305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Rolling 12M GWP</a:t>
            </a:r>
            <a:endParaRPr/>
          </a:p>
        </p:txBody>
      </p:sp>
      <p:sp>
        <p:nvSpPr>
          <p:cNvPr id="110" name="Google Shape;110;p2"/>
          <p:cNvSpPr/>
          <p:nvPr/>
        </p:nvSpPr>
        <p:spPr>
          <a:xfrm>
            <a:off x="3557016" y="1911095"/>
            <a:ext cx="1627632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$48,541,733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Annual Goal (40%)</a:t>
            </a: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5266944" y="1911095"/>
            <a:ext cx="1627632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39%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% to Goal</a:t>
            </a:r>
            <a:endParaRPr/>
          </a:p>
        </p:txBody>
      </p:sp>
      <p:sp>
        <p:nvSpPr>
          <p:cNvPr id="112" name="Google Shape;112;p2"/>
          <p:cNvSpPr/>
          <p:nvPr/>
        </p:nvSpPr>
        <p:spPr>
          <a:xfrm>
            <a:off x="6976872" y="1911095"/>
            <a:ext cx="1627632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$6,292,461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 Bound Prem</a:t>
            </a:r>
            <a:endParaRPr/>
          </a:p>
        </p:txBody>
      </p:sp>
      <p:sp>
        <p:nvSpPr>
          <p:cNvPr id="113" name="Google Shape;113;p2"/>
          <p:cNvSpPr/>
          <p:nvPr/>
        </p:nvSpPr>
        <p:spPr>
          <a:xfrm>
            <a:off x="8686800" y="1911095"/>
            <a:ext cx="1627632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$13,126,589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Non-Fleet Bound Prem</a:t>
            </a:r>
            <a:endParaRPr/>
          </a:p>
        </p:txBody>
      </p:sp>
      <p:sp>
        <p:nvSpPr>
          <p:cNvPr id="114" name="Google Shape;114;p2"/>
          <p:cNvSpPr/>
          <p:nvPr/>
        </p:nvSpPr>
        <p:spPr>
          <a:xfrm>
            <a:off x="10396728" y="1911095"/>
            <a:ext cx="1627632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21.7%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Retention Rate</a:t>
            </a:r>
            <a:endParaRPr/>
          </a:p>
        </p:txBody>
      </p:sp>
      <p:sp>
        <p:nvSpPr>
          <p:cNvPr id="115" name="Google Shape;115;p2"/>
          <p:cNvSpPr/>
          <p:nvPr/>
        </p:nvSpPr>
        <p:spPr>
          <a:xfrm>
            <a:off x="274320" y="2514600"/>
            <a:ext cx="7863840" cy="292608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365760" y="253288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TOP AGENCIES BY YTD GWP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365760" y="2862072"/>
            <a:ext cx="2560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Agency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2926079" y="2862072"/>
            <a:ext cx="1005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YTD GWP</a:t>
            </a:r>
            <a:endParaRPr/>
          </a:p>
        </p:txBody>
      </p:sp>
      <p:sp>
        <p:nvSpPr>
          <p:cNvPr id="119" name="Google Shape;119;p2"/>
          <p:cNvSpPr txBox="1"/>
          <p:nvPr/>
        </p:nvSpPr>
        <p:spPr>
          <a:xfrm>
            <a:off x="3931920" y="2862072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Biz $</a:t>
            </a:r>
            <a:endParaRPr/>
          </a:p>
        </p:txBody>
      </p:sp>
      <p:sp>
        <p:nvSpPr>
          <p:cNvPr id="120" name="Google Shape;120;p2"/>
          <p:cNvSpPr txBox="1"/>
          <p:nvPr/>
        </p:nvSpPr>
        <p:spPr>
          <a:xfrm>
            <a:off x="4846320" y="2862072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 $</a:t>
            </a:r>
            <a:endParaRPr/>
          </a:p>
        </p:txBody>
      </p:sp>
      <p:sp>
        <p:nvSpPr>
          <p:cNvPr id="121" name="Google Shape;121;p2"/>
          <p:cNvSpPr txBox="1"/>
          <p:nvPr/>
        </p:nvSpPr>
        <p:spPr>
          <a:xfrm>
            <a:off x="5669280" y="286207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Subs</a:t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6217920" y="2862072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Quotes</a:t>
            </a:r>
            <a:endParaRPr/>
          </a:p>
        </p:txBody>
      </p:sp>
      <p:sp>
        <p:nvSpPr>
          <p:cNvPr id="123" name="Google Shape;123;p2"/>
          <p:cNvSpPr txBox="1"/>
          <p:nvPr/>
        </p:nvSpPr>
        <p:spPr>
          <a:xfrm>
            <a:off x="6812280" y="2862072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124" name="Google Shape;124;p2"/>
          <p:cNvSpPr txBox="1"/>
          <p:nvPr/>
        </p:nvSpPr>
        <p:spPr>
          <a:xfrm>
            <a:off x="7315200" y="2862072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HR</a:t>
            </a:r>
            <a:endParaRPr/>
          </a:p>
        </p:txBody>
      </p:sp>
      <p:sp>
        <p:nvSpPr>
          <p:cNvPr id="125" name="Google Shape;125;p2"/>
          <p:cNvSpPr/>
          <p:nvPr/>
        </p:nvSpPr>
        <p:spPr>
          <a:xfrm>
            <a:off x="365760" y="3026664"/>
            <a:ext cx="7498079" cy="7315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"/>
          <p:cNvSpPr txBox="1"/>
          <p:nvPr/>
        </p:nvSpPr>
        <p:spPr>
          <a:xfrm>
            <a:off x="365760" y="3081528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Usa Specialty Insurance/dba Prevent</a:t>
            </a:r>
            <a:endParaRPr/>
          </a:p>
        </p:txBody>
      </p:sp>
      <p:sp>
        <p:nvSpPr>
          <p:cNvPr id="127" name="Google Shape;127;p2"/>
          <p:cNvSpPr txBox="1"/>
          <p:nvPr/>
        </p:nvSpPr>
        <p:spPr>
          <a:xfrm>
            <a:off x="2926079" y="3081528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$7,898,000</a:t>
            </a:r>
            <a:endParaRPr/>
          </a:p>
        </p:txBody>
      </p:sp>
      <p:sp>
        <p:nvSpPr>
          <p:cNvPr id="128" name="Google Shape;128;p2"/>
          <p:cNvSpPr txBox="1"/>
          <p:nvPr/>
        </p:nvSpPr>
        <p:spPr>
          <a:xfrm>
            <a:off x="3931920" y="3081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$6,183,385</a:t>
            </a:r>
            <a:endParaRPr/>
          </a:p>
        </p:txBody>
      </p:sp>
      <p:sp>
        <p:nvSpPr>
          <p:cNvPr id="129" name="Google Shape;129;p2"/>
          <p:cNvSpPr txBox="1"/>
          <p:nvPr/>
        </p:nvSpPr>
        <p:spPr>
          <a:xfrm>
            <a:off x="4846320" y="3081528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$578,824</a:t>
            </a:r>
            <a:endParaRPr/>
          </a:p>
        </p:txBody>
      </p:sp>
      <p:sp>
        <p:nvSpPr>
          <p:cNvPr id="130" name="Google Shape;130;p2"/>
          <p:cNvSpPr txBox="1"/>
          <p:nvPr/>
        </p:nvSpPr>
        <p:spPr>
          <a:xfrm>
            <a:off x="5669280" y="308152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3136</a:t>
            </a:r>
            <a:endParaRPr/>
          </a:p>
        </p:txBody>
      </p:sp>
      <p:sp>
        <p:nvSpPr>
          <p:cNvPr id="131" name="Google Shape;131;p2"/>
          <p:cNvSpPr txBox="1"/>
          <p:nvPr/>
        </p:nvSpPr>
        <p:spPr>
          <a:xfrm>
            <a:off x="6217920" y="3081528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2256</a:t>
            </a:r>
            <a:endParaRPr/>
          </a:p>
        </p:txBody>
      </p:sp>
      <p:sp>
        <p:nvSpPr>
          <p:cNvPr id="132" name="Google Shape;132;p2"/>
          <p:cNvSpPr txBox="1"/>
          <p:nvPr/>
        </p:nvSpPr>
        <p:spPr>
          <a:xfrm>
            <a:off x="6812280" y="308152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263</a:t>
            </a:r>
            <a:endParaRPr/>
          </a:p>
        </p:txBody>
      </p:sp>
      <p:sp>
        <p:nvSpPr>
          <p:cNvPr id="133" name="Google Shape;133;p2"/>
          <p:cNvSpPr txBox="1"/>
          <p:nvPr/>
        </p:nvSpPr>
        <p:spPr>
          <a:xfrm>
            <a:off x="7315200" y="3081528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8.4%</a:t>
            </a:r>
            <a:endParaRPr/>
          </a:p>
        </p:txBody>
      </p:sp>
      <p:sp>
        <p:nvSpPr>
          <p:cNvPr id="134" name="Google Shape;134;p2"/>
          <p:cNvSpPr/>
          <p:nvPr/>
        </p:nvSpPr>
        <p:spPr>
          <a:xfrm>
            <a:off x="365760" y="3273552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"/>
          <p:cNvSpPr txBox="1"/>
          <p:nvPr/>
        </p:nvSpPr>
        <p:spPr>
          <a:xfrm>
            <a:off x="365760" y="3282696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Insurance4truckers Llc</a:t>
            </a:r>
            <a:endParaRPr/>
          </a:p>
        </p:txBody>
      </p:sp>
      <p:sp>
        <p:nvSpPr>
          <p:cNvPr id="136" name="Google Shape;136;p2"/>
          <p:cNvSpPr txBox="1"/>
          <p:nvPr/>
        </p:nvSpPr>
        <p:spPr>
          <a:xfrm>
            <a:off x="2926079" y="3282696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$2,947,338</a:t>
            </a:r>
            <a:endParaRPr/>
          </a:p>
        </p:txBody>
      </p:sp>
      <p:sp>
        <p:nvSpPr>
          <p:cNvPr id="137" name="Google Shape;137;p2"/>
          <p:cNvSpPr txBox="1"/>
          <p:nvPr/>
        </p:nvSpPr>
        <p:spPr>
          <a:xfrm>
            <a:off x="3931920" y="3282696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$2,043,674</a:t>
            </a:r>
            <a:endParaRPr/>
          </a:p>
        </p:txBody>
      </p:sp>
      <p:sp>
        <p:nvSpPr>
          <p:cNvPr id="138" name="Google Shape;138;p2"/>
          <p:cNvSpPr txBox="1"/>
          <p:nvPr/>
        </p:nvSpPr>
        <p:spPr>
          <a:xfrm>
            <a:off x="4846320" y="328269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$353,049</a:t>
            </a:r>
            <a:endParaRPr/>
          </a:p>
        </p:txBody>
      </p:sp>
      <p:sp>
        <p:nvSpPr>
          <p:cNvPr id="139" name="Google Shape;139;p2"/>
          <p:cNvSpPr txBox="1"/>
          <p:nvPr/>
        </p:nvSpPr>
        <p:spPr>
          <a:xfrm>
            <a:off x="5669280" y="3282696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5487</a:t>
            </a:r>
            <a:endParaRPr/>
          </a:p>
        </p:txBody>
      </p:sp>
      <p:sp>
        <p:nvSpPr>
          <p:cNvPr id="140" name="Google Shape;140;p2"/>
          <p:cNvSpPr txBox="1"/>
          <p:nvPr/>
        </p:nvSpPr>
        <p:spPr>
          <a:xfrm>
            <a:off x="6217920" y="3282696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3817</a:t>
            </a:r>
            <a:endParaRPr/>
          </a:p>
        </p:txBody>
      </p:sp>
      <p:sp>
        <p:nvSpPr>
          <p:cNvPr id="141" name="Google Shape;141;p2"/>
          <p:cNvSpPr txBox="1"/>
          <p:nvPr/>
        </p:nvSpPr>
        <p:spPr>
          <a:xfrm>
            <a:off x="6812280" y="3282696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125</a:t>
            </a:r>
            <a:endParaRPr/>
          </a:p>
        </p:txBody>
      </p:sp>
      <p:sp>
        <p:nvSpPr>
          <p:cNvPr id="142" name="Google Shape;142;p2"/>
          <p:cNvSpPr txBox="1"/>
          <p:nvPr/>
        </p:nvSpPr>
        <p:spPr>
          <a:xfrm>
            <a:off x="7315200" y="3282696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2.3%</a:t>
            </a:r>
            <a:endParaRPr/>
          </a:p>
        </p:txBody>
      </p:sp>
      <p:sp>
        <p:nvSpPr>
          <p:cNvPr id="143" name="Google Shape;143;p2"/>
          <p:cNvSpPr txBox="1"/>
          <p:nvPr/>
        </p:nvSpPr>
        <p:spPr>
          <a:xfrm>
            <a:off x="365760" y="3483864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Valion Security Llc</a:t>
            </a:r>
            <a:endParaRPr/>
          </a:p>
        </p:txBody>
      </p:sp>
      <p:sp>
        <p:nvSpPr>
          <p:cNvPr id="144" name="Google Shape;144;p2"/>
          <p:cNvSpPr txBox="1"/>
          <p:nvPr/>
        </p:nvSpPr>
        <p:spPr>
          <a:xfrm>
            <a:off x="2926079" y="3483864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$2,269,517</a:t>
            </a:r>
            <a:endParaRPr/>
          </a:p>
        </p:txBody>
      </p:sp>
      <p:sp>
        <p:nvSpPr>
          <p:cNvPr id="145" name="Google Shape;145;p2"/>
          <p:cNvSpPr txBox="1"/>
          <p:nvPr/>
        </p:nvSpPr>
        <p:spPr>
          <a:xfrm>
            <a:off x="3931920" y="348386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$1,648,524</a:t>
            </a:r>
            <a:endParaRPr/>
          </a:p>
        </p:txBody>
      </p:sp>
      <p:sp>
        <p:nvSpPr>
          <p:cNvPr id="146" name="Google Shape;146;p2"/>
          <p:cNvSpPr txBox="1"/>
          <p:nvPr/>
        </p:nvSpPr>
        <p:spPr>
          <a:xfrm>
            <a:off x="4846320" y="3483864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$205,019</a:t>
            </a:r>
            <a:endParaRPr/>
          </a:p>
        </p:txBody>
      </p:sp>
      <p:sp>
        <p:nvSpPr>
          <p:cNvPr id="147" name="Google Shape;147;p2"/>
          <p:cNvSpPr txBox="1"/>
          <p:nvPr/>
        </p:nvSpPr>
        <p:spPr>
          <a:xfrm>
            <a:off x="5669280" y="348386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521</a:t>
            </a:r>
            <a:endParaRPr/>
          </a:p>
        </p:txBody>
      </p:sp>
      <p:sp>
        <p:nvSpPr>
          <p:cNvPr id="148" name="Google Shape;148;p2"/>
          <p:cNvSpPr txBox="1"/>
          <p:nvPr/>
        </p:nvSpPr>
        <p:spPr>
          <a:xfrm>
            <a:off x="6217920" y="3483864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398</a:t>
            </a:r>
            <a:endParaRPr/>
          </a:p>
        </p:txBody>
      </p:sp>
      <p:sp>
        <p:nvSpPr>
          <p:cNvPr id="149" name="Google Shape;149;p2"/>
          <p:cNvSpPr txBox="1"/>
          <p:nvPr/>
        </p:nvSpPr>
        <p:spPr>
          <a:xfrm>
            <a:off x="6812280" y="348386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78</a:t>
            </a:r>
            <a:endParaRPr/>
          </a:p>
        </p:txBody>
      </p:sp>
      <p:sp>
        <p:nvSpPr>
          <p:cNvPr id="150" name="Google Shape;150;p2"/>
          <p:cNvSpPr txBox="1"/>
          <p:nvPr/>
        </p:nvSpPr>
        <p:spPr>
          <a:xfrm>
            <a:off x="7315200" y="3483864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15.0%</a:t>
            </a:r>
            <a:endParaRPr/>
          </a:p>
        </p:txBody>
      </p:sp>
      <p:sp>
        <p:nvSpPr>
          <p:cNvPr id="151" name="Google Shape;151;p2"/>
          <p:cNvSpPr/>
          <p:nvPr/>
        </p:nvSpPr>
        <p:spPr>
          <a:xfrm>
            <a:off x="365760" y="3675888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365760" y="3685032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Prestige International Insurance Gr</a:t>
            </a:r>
            <a:endParaRPr/>
          </a:p>
        </p:txBody>
      </p:sp>
      <p:sp>
        <p:nvSpPr>
          <p:cNvPr id="153" name="Google Shape;153;p2"/>
          <p:cNvSpPr txBox="1"/>
          <p:nvPr/>
        </p:nvSpPr>
        <p:spPr>
          <a:xfrm>
            <a:off x="2926079" y="368503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$1,417,112</a:t>
            </a:r>
            <a:endParaRPr/>
          </a:p>
        </p:txBody>
      </p:sp>
      <p:sp>
        <p:nvSpPr>
          <p:cNvPr id="154" name="Google Shape;154;p2"/>
          <p:cNvSpPr txBox="1"/>
          <p:nvPr/>
        </p:nvSpPr>
        <p:spPr>
          <a:xfrm>
            <a:off x="3931920" y="368503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$740,153</a:t>
            </a:r>
            <a:endParaRPr/>
          </a:p>
        </p:txBody>
      </p:sp>
      <p:sp>
        <p:nvSpPr>
          <p:cNvPr id="155" name="Google Shape;155;p2"/>
          <p:cNvSpPr txBox="1"/>
          <p:nvPr/>
        </p:nvSpPr>
        <p:spPr>
          <a:xfrm>
            <a:off x="4846320" y="368503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$345,285</a:t>
            </a:r>
            <a:endParaRPr/>
          </a:p>
        </p:txBody>
      </p:sp>
      <p:sp>
        <p:nvSpPr>
          <p:cNvPr id="156" name="Google Shape;156;p2"/>
          <p:cNvSpPr txBox="1"/>
          <p:nvPr/>
        </p:nvSpPr>
        <p:spPr>
          <a:xfrm>
            <a:off x="5669280" y="368503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1486</a:t>
            </a:r>
            <a:endParaRPr/>
          </a:p>
        </p:txBody>
      </p:sp>
      <p:sp>
        <p:nvSpPr>
          <p:cNvPr id="157" name="Google Shape;157;p2"/>
          <p:cNvSpPr txBox="1"/>
          <p:nvPr/>
        </p:nvSpPr>
        <p:spPr>
          <a:xfrm>
            <a:off x="6217920" y="3685032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896</a:t>
            </a:r>
            <a:endParaRPr/>
          </a:p>
        </p:txBody>
      </p:sp>
      <p:sp>
        <p:nvSpPr>
          <p:cNvPr id="158" name="Google Shape;158;p2"/>
          <p:cNvSpPr txBox="1"/>
          <p:nvPr/>
        </p:nvSpPr>
        <p:spPr>
          <a:xfrm>
            <a:off x="6812280" y="368503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51</a:t>
            </a:r>
            <a:endParaRPr/>
          </a:p>
        </p:txBody>
      </p:sp>
      <p:sp>
        <p:nvSpPr>
          <p:cNvPr id="159" name="Google Shape;159;p2"/>
          <p:cNvSpPr txBox="1"/>
          <p:nvPr/>
        </p:nvSpPr>
        <p:spPr>
          <a:xfrm>
            <a:off x="7315200" y="3685032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3.4%</a:t>
            </a:r>
            <a:endParaRPr/>
          </a:p>
        </p:txBody>
      </p:sp>
      <p:sp>
        <p:nvSpPr>
          <p:cNvPr id="160" name="Google Shape;160;p2"/>
          <p:cNvSpPr txBox="1"/>
          <p:nvPr/>
        </p:nvSpPr>
        <p:spPr>
          <a:xfrm>
            <a:off x="365760" y="3886200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Vantage Ins Llc</a:t>
            </a:r>
            <a:endParaRPr/>
          </a:p>
        </p:txBody>
      </p:sp>
      <p:sp>
        <p:nvSpPr>
          <p:cNvPr id="161" name="Google Shape;161;p2"/>
          <p:cNvSpPr txBox="1"/>
          <p:nvPr/>
        </p:nvSpPr>
        <p:spPr>
          <a:xfrm>
            <a:off x="2926079" y="3886200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$860,378</a:t>
            </a:r>
            <a:endParaRPr/>
          </a:p>
        </p:txBody>
      </p:sp>
      <p:sp>
        <p:nvSpPr>
          <p:cNvPr id="162" name="Google Shape;162;p2"/>
          <p:cNvSpPr txBox="1"/>
          <p:nvPr/>
        </p:nvSpPr>
        <p:spPr>
          <a:xfrm>
            <a:off x="3931920" y="388620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$525,662</a:t>
            </a:r>
            <a:endParaRPr/>
          </a:p>
        </p:txBody>
      </p:sp>
      <p:sp>
        <p:nvSpPr>
          <p:cNvPr id="163" name="Google Shape;163;p2"/>
          <p:cNvSpPr txBox="1"/>
          <p:nvPr/>
        </p:nvSpPr>
        <p:spPr>
          <a:xfrm>
            <a:off x="4846320" y="388620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$44,107</a:t>
            </a:r>
            <a:endParaRPr/>
          </a:p>
        </p:txBody>
      </p:sp>
      <p:sp>
        <p:nvSpPr>
          <p:cNvPr id="164" name="Google Shape;164;p2"/>
          <p:cNvSpPr txBox="1"/>
          <p:nvPr/>
        </p:nvSpPr>
        <p:spPr>
          <a:xfrm>
            <a:off x="5669280" y="388620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799</a:t>
            </a:r>
            <a:endParaRPr/>
          </a:p>
        </p:txBody>
      </p:sp>
      <p:sp>
        <p:nvSpPr>
          <p:cNvPr id="165" name="Google Shape;165;p2"/>
          <p:cNvSpPr txBox="1"/>
          <p:nvPr/>
        </p:nvSpPr>
        <p:spPr>
          <a:xfrm>
            <a:off x="6217920" y="388620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641</a:t>
            </a:r>
            <a:endParaRPr/>
          </a:p>
        </p:txBody>
      </p:sp>
      <p:sp>
        <p:nvSpPr>
          <p:cNvPr id="166" name="Google Shape;166;p2"/>
          <p:cNvSpPr txBox="1"/>
          <p:nvPr/>
        </p:nvSpPr>
        <p:spPr>
          <a:xfrm>
            <a:off x="6812280" y="388620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</a:t>
            </a:r>
            <a:endParaRPr/>
          </a:p>
        </p:txBody>
      </p:sp>
      <p:sp>
        <p:nvSpPr>
          <p:cNvPr id="167" name="Google Shape;167;p2"/>
          <p:cNvSpPr txBox="1"/>
          <p:nvPr/>
        </p:nvSpPr>
        <p:spPr>
          <a:xfrm>
            <a:off x="7315200" y="388620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2.4%</a:t>
            </a:r>
            <a:endParaRPr/>
          </a:p>
        </p:txBody>
      </p:sp>
      <p:sp>
        <p:nvSpPr>
          <p:cNvPr id="168" name="Google Shape;168;p2"/>
          <p:cNvSpPr/>
          <p:nvPr/>
        </p:nvSpPr>
        <p:spPr>
          <a:xfrm>
            <a:off x="365760" y="4078224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"/>
          <p:cNvSpPr txBox="1"/>
          <p:nvPr/>
        </p:nvSpPr>
        <p:spPr>
          <a:xfrm>
            <a:off x="365760" y="4087368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Insurance Planet</a:t>
            </a:r>
            <a:endParaRPr/>
          </a:p>
        </p:txBody>
      </p:sp>
      <p:sp>
        <p:nvSpPr>
          <p:cNvPr id="170" name="Google Shape;170;p2"/>
          <p:cNvSpPr txBox="1"/>
          <p:nvPr/>
        </p:nvSpPr>
        <p:spPr>
          <a:xfrm>
            <a:off x="2926079" y="4087368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$608,829</a:t>
            </a:r>
            <a:endParaRPr/>
          </a:p>
        </p:txBody>
      </p:sp>
      <p:sp>
        <p:nvSpPr>
          <p:cNvPr id="171" name="Google Shape;171;p2"/>
          <p:cNvSpPr txBox="1"/>
          <p:nvPr/>
        </p:nvSpPr>
        <p:spPr>
          <a:xfrm>
            <a:off x="3931920" y="40873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$417,441</a:t>
            </a:r>
            <a:endParaRPr/>
          </a:p>
        </p:txBody>
      </p:sp>
      <p:sp>
        <p:nvSpPr>
          <p:cNvPr id="172" name="Google Shape;172;p2"/>
          <p:cNvSpPr txBox="1"/>
          <p:nvPr/>
        </p:nvSpPr>
        <p:spPr>
          <a:xfrm>
            <a:off x="4846320" y="4087368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$70,501</a:t>
            </a:r>
            <a:endParaRPr/>
          </a:p>
        </p:txBody>
      </p:sp>
      <p:sp>
        <p:nvSpPr>
          <p:cNvPr id="173" name="Google Shape;173;p2"/>
          <p:cNvSpPr txBox="1"/>
          <p:nvPr/>
        </p:nvSpPr>
        <p:spPr>
          <a:xfrm>
            <a:off x="5669280" y="40873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296</a:t>
            </a:r>
            <a:endParaRPr/>
          </a:p>
        </p:txBody>
      </p:sp>
      <p:sp>
        <p:nvSpPr>
          <p:cNvPr id="174" name="Google Shape;174;p2"/>
          <p:cNvSpPr txBox="1"/>
          <p:nvPr/>
        </p:nvSpPr>
        <p:spPr>
          <a:xfrm>
            <a:off x="6217920" y="4087368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198</a:t>
            </a:r>
            <a:endParaRPr/>
          </a:p>
        </p:txBody>
      </p:sp>
      <p:sp>
        <p:nvSpPr>
          <p:cNvPr id="175" name="Google Shape;175;p2"/>
          <p:cNvSpPr txBox="1"/>
          <p:nvPr/>
        </p:nvSpPr>
        <p:spPr>
          <a:xfrm>
            <a:off x="6812280" y="408736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</a:t>
            </a:r>
            <a:endParaRPr/>
          </a:p>
        </p:txBody>
      </p:sp>
      <p:sp>
        <p:nvSpPr>
          <p:cNvPr id="176" name="Google Shape;176;p2"/>
          <p:cNvSpPr txBox="1"/>
          <p:nvPr/>
        </p:nvSpPr>
        <p:spPr>
          <a:xfrm>
            <a:off x="7315200" y="4087368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7.1%</a:t>
            </a:r>
            <a:endParaRPr/>
          </a:p>
        </p:txBody>
      </p:sp>
      <p:sp>
        <p:nvSpPr>
          <p:cNvPr id="177" name="Google Shape;177;p2"/>
          <p:cNvSpPr txBox="1"/>
          <p:nvPr/>
        </p:nvSpPr>
        <p:spPr>
          <a:xfrm>
            <a:off x="365760" y="4288536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Stone Era Insurance Agency</a:t>
            </a:r>
            <a:endParaRPr/>
          </a:p>
        </p:txBody>
      </p:sp>
      <p:sp>
        <p:nvSpPr>
          <p:cNvPr id="178" name="Google Shape;178;p2"/>
          <p:cNvSpPr txBox="1"/>
          <p:nvPr/>
        </p:nvSpPr>
        <p:spPr>
          <a:xfrm>
            <a:off x="2926079" y="4288536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$429,456</a:t>
            </a:r>
            <a:endParaRPr/>
          </a:p>
        </p:txBody>
      </p:sp>
      <p:sp>
        <p:nvSpPr>
          <p:cNvPr id="179" name="Google Shape;179;p2"/>
          <p:cNvSpPr txBox="1"/>
          <p:nvPr/>
        </p:nvSpPr>
        <p:spPr>
          <a:xfrm>
            <a:off x="3931920" y="4288536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$343,460</a:t>
            </a:r>
            <a:endParaRPr/>
          </a:p>
        </p:txBody>
      </p:sp>
      <p:sp>
        <p:nvSpPr>
          <p:cNvPr id="180" name="Google Shape;180;p2"/>
          <p:cNvSpPr txBox="1"/>
          <p:nvPr/>
        </p:nvSpPr>
        <p:spPr>
          <a:xfrm>
            <a:off x="4846320" y="428853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$96,326</a:t>
            </a:r>
            <a:endParaRPr/>
          </a:p>
        </p:txBody>
      </p:sp>
      <p:sp>
        <p:nvSpPr>
          <p:cNvPr id="181" name="Google Shape;181;p2"/>
          <p:cNvSpPr txBox="1"/>
          <p:nvPr/>
        </p:nvSpPr>
        <p:spPr>
          <a:xfrm>
            <a:off x="5669280" y="4288536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128</a:t>
            </a:r>
            <a:endParaRPr/>
          </a:p>
        </p:txBody>
      </p:sp>
      <p:sp>
        <p:nvSpPr>
          <p:cNvPr id="182" name="Google Shape;182;p2"/>
          <p:cNvSpPr txBox="1"/>
          <p:nvPr/>
        </p:nvSpPr>
        <p:spPr>
          <a:xfrm>
            <a:off x="6217920" y="4288536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100</a:t>
            </a:r>
            <a:endParaRPr/>
          </a:p>
        </p:txBody>
      </p:sp>
      <p:sp>
        <p:nvSpPr>
          <p:cNvPr id="183" name="Google Shape;183;p2"/>
          <p:cNvSpPr txBox="1"/>
          <p:nvPr/>
        </p:nvSpPr>
        <p:spPr>
          <a:xfrm>
            <a:off x="6812280" y="4288536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184" name="Google Shape;184;p2"/>
          <p:cNvSpPr txBox="1"/>
          <p:nvPr/>
        </p:nvSpPr>
        <p:spPr>
          <a:xfrm>
            <a:off x="7315200" y="4288536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3.9%</a:t>
            </a:r>
            <a:endParaRPr/>
          </a:p>
        </p:txBody>
      </p:sp>
      <p:sp>
        <p:nvSpPr>
          <p:cNvPr id="185" name="Google Shape;185;p2"/>
          <p:cNvSpPr/>
          <p:nvPr/>
        </p:nvSpPr>
        <p:spPr>
          <a:xfrm>
            <a:off x="365760" y="4480560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"/>
          <p:cNvSpPr txBox="1"/>
          <p:nvPr/>
        </p:nvSpPr>
        <p:spPr>
          <a:xfrm>
            <a:off x="365760" y="4489704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Peco Insurance LLC</a:t>
            </a:r>
            <a:endParaRPr/>
          </a:p>
        </p:txBody>
      </p:sp>
      <p:sp>
        <p:nvSpPr>
          <p:cNvPr id="187" name="Google Shape;187;p2"/>
          <p:cNvSpPr txBox="1"/>
          <p:nvPr/>
        </p:nvSpPr>
        <p:spPr>
          <a:xfrm>
            <a:off x="2926079" y="4489704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$351,233</a:t>
            </a:r>
            <a:endParaRPr/>
          </a:p>
        </p:txBody>
      </p:sp>
      <p:sp>
        <p:nvSpPr>
          <p:cNvPr id="188" name="Google Shape;188;p2"/>
          <p:cNvSpPr txBox="1"/>
          <p:nvPr/>
        </p:nvSpPr>
        <p:spPr>
          <a:xfrm>
            <a:off x="3931920" y="448970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$82,561</a:t>
            </a:r>
            <a:endParaRPr/>
          </a:p>
        </p:txBody>
      </p:sp>
      <p:sp>
        <p:nvSpPr>
          <p:cNvPr id="189" name="Google Shape;189;p2"/>
          <p:cNvSpPr txBox="1"/>
          <p:nvPr/>
        </p:nvSpPr>
        <p:spPr>
          <a:xfrm>
            <a:off x="4846320" y="4489704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$101,971</a:t>
            </a:r>
            <a:endParaRPr/>
          </a:p>
        </p:txBody>
      </p:sp>
      <p:sp>
        <p:nvSpPr>
          <p:cNvPr id="190" name="Google Shape;190;p2"/>
          <p:cNvSpPr txBox="1"/>
          <p:nvPr/>
        </p:nvSpPr>
        <p:spPr>
          <a:xfrm>
            <a:off x="5669280" y="448970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170</a:t>
            </a:r>
            <a:endParaRPr/>
          </a:p>
        </p:txBody>
      </p:sp>
      <p:sp>
        <p:nvSpPr>
          <p:cNvPr id="191" name="Google Shape;191;p2"/>
          <p:cNvSpPr txBox="1"/>
          <p:nvPr/>
        </p:nvSpPr>
        <p:spPr>
          <a:xfrm>
            <a:off x="6217920" y="4489704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131</a:t>
            </a:r>
            <a:endParaRPr/>
          </a:p>
        </p:txBody>
      </p:sp>
      <p:sp>
        <p:nvSpPr>
          <p:cNvPr id="192" name="Google Shape;192;p2"/>
          <p:cNvSpPr txBox="1"/>
          <p:nvPr/>
        </p:nvSpPr>
        <p:spPr>
          <a:xfrm>
            <a:off x="6812280" y="448970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</a:t>
            </a:r>
            <a:endParaRPr/>
          </a:p>
        </p:txBody>
      </p:sp>
      <p:sp>
        <p:nvSpPr>
          <p:cNvPr id="193" name="Google Shape;193;p2"/>
          <p:cNvSpPr txBox="1"/>
          <p:nvPr/>
        </p:nvSpPr>
        <p:spPr>
          <a:xfrm>
            <a:off x="7315200" y="4489704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12.4%</a:t>
            </a:r>
            <a:endParaRPr/>
          </a:p>
        </p:txBody>
      </p:sp>
      <p:sp>
        <p:nvSpPr>
          <p:cNvPr id="194" name="Google Shape;194;p2"/>
          <p:cNvSpPr txBox="1"/>
          <p:nvPr/>
        </p:nvSpPr>
        <p:spPr>
          <a:xfrm>
            <a:off x="365760" y="4690872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Eagle National Insurance Services, </a:t>
            </a:r>
            <a:endParaRPr/>
          </a:p>
        </p:txBody>
      </p:sp>
      <p:sp>
        <p:nvSpPr>
          <p:cNvPr id="195" name="Google Shape;195;p2"/>
          <p:cNvSpPr txBox="1"/>
          <p:nvPr/>
        </p:nvSpPr>
        <p:spPr>
          <a:xfrm>
            <a:off x="2926079" y="469087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$233,845</a:t>
            </a:r>
            <a:endParaRPr/>
          </a:p>
        </p:txBody>
      </p:sp>
      <p:sp>
        <p:nvSpPr>
          <p:cNvPr id="196" name="Google Shape;196;p2"/>
          <p:cNvSpPr txBox="1"/>
          <p:nvPr/>
        </p:nvSpPr>
        <p:spPr>
          <a:xfrm>
            <a:off x="3931920" y="469087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$145,982</a:t>
            </a:r>
            <a:endParaRPr/>
          </a:p>
        </p:txBody>
      </p:sp>
      <p:sp>
        <p:nvSpPr>
          <p:cNvPr id="197" name="Google Shape;197;p2"/>
          <p:cNvSpPr txBox="1"/>
          <p:nvPr/>
        </p:nvSpPr>
        <p:spPr>
          <a:xfrm>
            <a:off x="4846320" y="469087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$61,108</a:t>
            </a:r>
            <a:endParaRPr/>
          </a:p>
        </p:txBody>
      </p:sp>
      <p:sp>
        <p:nvSpPr>
          <p:cNvPr id="198" name="Google Shape;198;p2"/>
          <p:cNvSpPr txBox="1"/>
          <p:nvPr/>
        </p:nvSpPr>
        <p:spPr>
          <a:xfrm>
            <a:off x="5669280" y="469087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43</a:t>
            </a:r>
            <a:endParaRPr/>
          </a:p>
        </p:txBody>
      </p:sp>
      <p:sp>
        <p:nvSpPr>
          <p:cNvPr id="199" name="Google Shape;199;p2"/>
          <p:cNvSpPr txBox="1"/>
          <p:nvPr/>
        </p:nvSpPr>
        <p:spPr>
          <a:xfrm>
            <a:off x="6217920" y="4690872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</a:t>
            </a:r>
            <a:endParaRPr/>
          </a:p>
        </p:txBody>
      </p:sp>
      <p:sp>
        <p:nvSpPr>
          <p:cNvPr id="200" name="Google Shape;200;p2"/>
          <p:cNvSpPr txBox="1"/>
          <p:nvPr/>
        </p:nvSpPr>
        <p:spPr>
          <a:xfrm>
            <a:off x="6812280" y="469087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201" name="Google Shape;201;p2"/>
          <p:cNvSpPr txBox="1"/>
          <p:nvPr/>
        </p:nvSpPr>
        <p:spPr>
          <a:xfrm>
            <a:off x="7315200" y="4690872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11.6%</a:t>
            </a:r>
            <a:endParaRPr/>
          </a:p>
        </p:txBody>
      </p:sp>
      <p:sp>
        <p:nvSpPr>
          <p:cNvPr id="202" name="Google Shape;202;p2"/>
          <p:cNvSpPr/>
          <p:nvPr/>
        </p:nvSpPr>
        <p:spPr>
          <a:xfrm>
            <a:off x="365760" y="4882896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"/>
          <p:cNvSpPr txBox="1"/>
          <p:nvPr/>
        </p:nvSpPr>
        <p:spPr>
          <a:xfrm>
            <a:off x="365760" y="4892040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Charles Cain Group</a:t>
            </a:r>
            <a:endParaRPr/>
          </a:p>
        </p:txBody>
      </p:sp>
      <p:sp>
        <p:nvSpPr>
          <p:cNvPr id="204" name="Google Shape;204;p2"/>
          <p:cNvSpPr txBox="1"/>
          <p:nvPr/>
        </p:nvSpPr>
        <p:spPr>
          <a:xfrm>
            <a:off x="2926079" y="4892040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$220,836</a:t>
            </a:r>
            <a:endParaRPr/>
          </a:p>
        </p:txBody>
      </p:sp>
      <p:sp>
        <p:nvSpPr>
          <p:cNvPr id="205" name="Google Shape;205;p2"/>
          <p:cNvSpPr txBox="1"/>
          <p:nvPr/>
        </p:nvSpPr>
        <p:spPr>
          <a:xfrm>
            <a:off x="3931920" y="489204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$220,836</a:t>
            </a:r>
            <a:endParaRPr/>
          </a:p>
        </p:txBody>
      </p:sp>
      <p:sp>
        <p:nvSpPr>
          <p:cNvPr id="206" name="Google Shape;206;p2"/>
          <p:cNvSpPr txBox="1"/>
          <p:nvPr/>
        </p:nvSpPr>
        <p:spPr>
          <a:xfrm>
            <a:off x="4846320" y="489204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07" name="Google Shape;207;p2"/>
          <p:cNvSpPr txBox="1"/>
          <p:nvPr/>
        </p:nvSpPr>
        <p:spPr>
          <a:xfrm>
            <a:off x="5669280" y="489204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</a:t>
            </a:r>
            <a:endParaRPr/>
          </a:p>
        </p:txBody>
      </p:sp>
      <p:sp>
        <p:nvSpPr>
          <p:cNvPr id="208" name="Google Shape;208;p2"/>
          <p:cNvSpPr txBox="1"/>
          <p:nvPr/>
        </p:nvSpPr>
        <p:spPr>
          <a:xfrm>
            <a:off x="6217920" y="489204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/>
          </a:p>
        </p:txBody>
      </p:sp>
      <p:sp>
        <p:nvSpPr>
          <p:cNvPr id="209" name="Google Shape;209;p2"/>
          <p:cNvSpPr txBox="1"/>
          <p:nvPr/>
        </p:nvSpPr>
        <p:spPr>
          <a:xfrm>
            <a:off x="6812280" y="489204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210" name="Google Shape;210;p2"/>
          <p:cNvSpPr txBox="1"/>
          <p:nvPr/>
        </p:nvSpPr>
        <p:spPr>
          <a:xfrm>
            <a:off x="7315200" y="489204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9.1%</a:t>
            </a:r>
            <a:endParaRPr/>
          </a:p>
        </p:txBody>
      </p:sp>
      <p:sp>
        <p:nvSpPr>
          <p:cNvPr id="211" name="Google Shape;211;p2"/>
          <p:cNvSpPr txBox="1"/>
          <p:nvPr/>
        </p:nvSpPr>
        <p:spPr>
          <a:xfrm>
            <a:off x="365760" y="5093208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Eagle Insurance Agency</a:t>
            </a:r>
            <a:endParaRPr/>
          </a:p>
        </p:txBody>
      </p:sp>
      <p:sp>
        <p:nvSpPr>
          <p:cNvPr id="212" name="Google Shape;212;p2"/>
          <p:cNvSpPr txBox="1"/>
          <p:nvPr/>
        </p:nvSpPr>
        <p:spPr>
          <a:xfrm>
            <a:off x="2926079" y="5093208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$194,054</a:t>
            </a:r>
            <a:endParaRPr/>
          </a:p>
        </p:txBody>
      </p:sp>
      <p:sp>
        <p:nvSpPr>
          <p:cNvPr id="213" name="Google Shape;213;p2"/>
          <p:cNvSpPr txBox="1"/>
          <p:nvPr/>
        </p:nvSpPr>
        <p:spPr>
          <a:xfrm>
            <a:off x="3931920" y="509320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$130,379</a:t>
            </a:r>
            <a:endParaRPr/>
          </a:p>
        </p:txBody>
      </p:sp>
      <p:sp>
        <p:nvSpPr>
          <p:cNvPr id="214" name="Google Shape;214;p2"/>
          <p:cNvSpPr txBox="1"/>
          <p:nvPr/>
        </p:nvSpPr>
        <p:spPr>
          <a:xfrm>
            <a:off x="4846320" y="5093208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$14,835</a:t>
            </a:r>
            <a:endParaRPr/>
          </a:p>
        </p:txBody>
      </p:sp>
      <p:sp>
        <p:nvSpPr>
          <p:cNvPr id="215" name="Google Shape;215;p2"/>
          <p:cNvSpPr txBox="1"/>
          <p:nvPr/>
        </p:nvSpPr>
        <p:spPr>
          <a:xfrm>
            <a:off x="5669280" y="509320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63</a:t>
            </a:r>
            <a:endParaRPr/>
          </a:p>
        </p:txBody>
      </p:sp>
      <p:sp>
        <p:nvSpPr>
          <p:cNvPr id="216" name="Google Shape;216;p2"/>
          <p:cNvSpPr txBox="1"/>
          <p:nvPr/>
        </p:nvSpPr>
        <p:spPr>
          <a:xfrm>
            <a:off x="6217920" y="5093208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54</a:t>
            </a:r>
            <a:endParaRPr/>
          </a:p>
        </p:txBody>
      </p:sp>
      <p:sp>
        <p:nvSpPr>
          <p:cNvPr id="217" name="Google Shape;217;p2"/>
          <p:cNvSpPr txBox="1"/>
          <p:nvPr/>
        </p:nvSpPr>
        <p:spPr>
          <a:xfrm>
            <a:off x="6812280" y="509320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</a:t>
            </a:r>
            <a:endParaRPr/>
          </a:p>
        </p:txBody>
      </p:sp>
      <p:sp>
        <p:nvSpPr>
          <p:cNvPr id="218" name="Google Shape;218;p2"/>
          <p:cNvSpPr txBox="1"/>
          <p:nvPr/>
        </p:nvSpPr>
        <p:spPr>
          <a:xfrm>
            <a:off x="7315200" y="5093208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19.0%</a:t>
            </a:r>
            <a:endParaRPr/>
          </a:p>
        </p:txBody>
      </p:sp>
      <p:sp>
        <p:nvSpPr>
          <p:cNvPr id="219" name="Google Shape;219;p2"/>
          <p:cNvSpPr/>
          <p:nvPr/>
        </p:nvSpPr>
        <p:spPr>
          <a:xfrm>
            <a:off x="365760" y="5285232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"/>
          <p:cNvSpPr txBox="1"/>
          <p:nvPr/>
        </p:nvSpPr>
        <p:spPr>
          <a:xfrm>
            <a:off x="365760" y="5294376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Talis Insurance Group, Inc</a:t>
            </a:r>
            <a:endParaRPr/>
          </a:p>
        </p:txBody>
      </p:sp>
      <p:sp>
        <p:nvSpPr>
          <p:cNvPr id="221" name="Google Shape;221;p2"/>
          <p:cNvSpPr txBox="1"/>
          <p:nvPr/>
        </p:nvSpPr>
        <p:spPr>
          <a:xfrm>
            <a:off x="2926079" y="5294376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$188,663</a:t>
            </a:r>
            <a:endParaRPr/>
          </a:p>
        </p:txBody>
      </p:sp>
      <p:sp>
        <p:nvSpPr>
          <p:cNvPr id="222" name="Google Shape;222;p2"/>
          <p:cNvSpPr txBox="1"/>
          <p:nvPr/>
        </p:nvSpPr>
        <p:spPr>
          <a:xfrm>
            <a:off x="3931920" y="5294376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$25,047</a:t>
            </a:r>
            <a:endParaRPr/>
          </a:p>
        </p:txBody>
      </p:sp>
      <p:sp>
        <p:nvSpPr>
          <p:cNvPr id="223" name="Google Shape;223;p2"/>
          <p:cNvSpPr txBox="1"/>
          <p:nvPr/>
        </p:nvSpPr>
        <p:spPr>
          <a:xfrm>
            <a:off x="4846320" y="529437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$162,876</a:t>
            </a:r>
            <a:endParaRPr/>
          </a:p>
        </p:txBody>
      </p:sp>
      <p:sp>
        <p:nvSpPr>
          <p:cNvPr id="224" name="Google Shape;224;p2"/>
          <p:cNvSpPr txBox="1"/>
          <p:nvPr/>
        </p:nvSpPr>
        <p:spPr>
          <a:xfrm>
            <a:off x="5669280" y="5294376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134</a:t>
            </a:r>
            <a:endParaRPr/>
          </a:p>
        </p:txBody>
      </p:sp>
      <p:sp>
        <p:nvSpPr>
          <p:cNvPr id="225" name="Google Shape;225;p2"/>
          <p:cNvSpPr txBox="1"/>
          <p:nvPr/>
        </p:nvSpPr>
        <p:spPr>
          <a:xfrm>
            <a:off x="6217920" y="5294376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105</a:t>
            </a:r>
            <a:endParaRPr/>
          </a:p>
        </p:txBody>
      </p:sp>
      <p:sp>
        <p:nvSpPr>
          <p:cNvPr id="226" name="Google Shape;226;p2"/>
          <p:cNvSpPr txBox="1"/>
          <p:nvPr/>
        </p:nvSpPr>
        <p:spPr>
          <a:xfrm>
            <a:off x="6812280" y="5294376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</a:t>
            </a:r>
            <a:endParaRPr/>
          </a:p>
        </p:txBody>
      </p:sp>
      <p:sp>
        <p:nvSpPr>
          <p:cNvPr id="227" name="Google Shape;227;p2"/>
          <p:cNvSpPr txBox="1"/>
          <p:nvPr/>
        </p:nvSpPr>
        <p:spPr>
          <a:xfrm>
            <a:off x="7315200" y="5294376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8.2%</a:t>
            </a:r>
            <a:endParaRPr/>
          </a:p>
        </p:txBody>
      </p:sp>
      <p:sp>
        <p:nvSpPr>
          <p:cNvPr id="228" name="Google Shape;228;p2"/>
          <p:cNvSpPr/>
          <p:nvPr/>
        </p:nvSpPr>
        <p:spPr>
          <a:xfrm>
            <a:off x="8229600" y="2514600"/>
            <a:ext cx="3749039" cy="292608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"/>
          <p:cNvSpPr txBox="1"/>
          <p:nvPr/>
        </p:nvSpPr>
        <p:spPr>
          <a:xfrm>
            <a:off x="8321040" y="253288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MONTHLY SUMMARY</a:t>
            </a:r>
            <a:endParaRPr/>
          </a:p>
        </p:txBody>
      </p:sp>
      <p:sp>
        <p:nvSpPr>
          <p:cNvPr id="230" name="Google Shape;230;p2"/>
          <p:cNvSpPr txBox="1"/>
          <p:nvPr/>
        </p:nvSpPr>
        <p:spPr>
          <a:xfrm>
            <a:off x="8275320" y="2862072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231" name="Google Shape;231;p2"/>
          <p:cNvSpPr txBox="1"/>
          <p:nvPr/>
        </p:nvSpPr>
        <p:spPr>
          <a:xfrm>
            <a:off x="8732520" y="2862072"/>
            <a:ext cx="777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GWP</a:t>
            </a:r>
            <a:endParaRPr/>
          </a:p>
        </p:txBody>
      </p:sp>
      <p:sp>
        <p:nvSpPr>
          <p:cNvPr id="232" name="Google Shape;232;p2"/>
          <p:cNvSpPr txBox="1"/>
          <p:nvPr/>
        </p:nvSpPr>
        <p:spPr>
          <a:xfrm>
            <a:off x="9509760" y="2862072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Biz</a:t>
            </a:r>
            <a:endParaRPr/>
          </a:p>
        </p:txBody>
      </p:sp>
      <p:sp>
        <p:nvSpPr>
          <p:cNvPr id="233" name="Google Shape;233;p2"/>
          <p:cNvSpPr txBox="1"/>
          <p:nvPr/>
        </p:nvSpPr>
        <p:spPr>
          <a:xfrm>
            <a:off x="10241280" y="2862072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Subs</a:t>
            </a:r>
            <a:endParaRPr/>
          </a:p>
        </p:txBody>
      </p:sp>
      <p:sp>
        <p:nvSpPr>
          <p:cNvPr id="234" name="Google Shape;234;p2"/>
          <p:cNvSpPr txBox="1"/>
          <p:nvPr/>
        </p:nvSpPr>
        <p:spPr>
          <a:xfrm>
            <a:off x="10744200" y="2862072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235" name="Google Shape;235;p2"/>
          <p:cNvSpPr txBox="1"/>
          <p:nvPr/>
        </p:nvSpPr>
        <p:spPr>
          <a:xfrm>
            <a:off x="11201400" y="2862072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HR</a:t>
            </a:r>
            <a:endParaRPr/>
          </a:p>
        </p:txBody>
      </p:sp>
      <p:sp>
        <p:nvSpPr>
          <p:cNvPr id="236" name="Google Shape;236;p2"/>
          <p:cNvSpPr/>
          <p:nvPr/>
        </p:nvSpPr>
        <p:spPr>
          <a:xfrm>
            <a:off x="8275320" y="3026664"/>
            <a:ext cx="3566160" cy="7315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"/>
          <p:cNvSpPr txBox="1"/>
          <p:nvPr/>
        </p:nvSpPr>
        <p:spPr>
          <a:xfrm>
            <a:off x="8275320" y="308152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</a:t>
            </a:r>
            <a:endParaRPr/>
          </a:p>
        </p:txBody>
      </p:sp>
      <p:sp>
        <p:nvSpPr>
          <p:cNvPr id="238" name="Google Shape;238;p2"/>
          <p:cNvSpPr txBox="1"/>
          <p:nvPr/>
        </p:nvSpPr>
        <p:spPr>
          <a:xfrm>
            <a:off x="8732520" y="3081528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$8,349,973</a:t>
            </a:r>
            <a:endParaRPr/>
          </a:p>
        </p:txBody>
      </p:sp>
      <p:sp>
        <p:nvSpPr>
          <p:cNvPr id="239" name="Google Shape;239;p2"/>
          <p:cNvSpPr txBox="1"/>
          <p:nvPr/>
        </p:nvSpPr>
        <p:spPr>
          <a:xfrm>
            <a:off x="9509760" y="3081528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$2,404,787</a:t>
            </a:r>
            <a:endParaRPr/>
          </a:p>
        </p:txBody>
      </p:sp>
      <p:sp>
        <p:nvSpPr>
          <p:cNvPr id="240" name="Google Shape;240;p2"/>
          <p:cNvSpPr txBox="1"/>
          <p:nvPr/>
        </p:nvSpPr>
        <p:spPr>
          <a:xfrm>
            <a:off x="10241280" y="308152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3018</a:t>
            </a:r>
            <a:endParaRPr/>
          </a:p>
        </p:txBody>
      </p:sp>
      <p:sp>
        <p:nvSpPr>
          <p:cNvPr id="241" name="Google Shape;241;p2"/>
          <p:cNvSpPr txBox="1"/>
          <p:nvPr/>
        </p:nvSpPr>
        <p:spPr>
          <a:xfrm>
            <a:off x="10744200" y="308152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269</a:t>
            </a:r>
            <a:endParaRPr/>
          </a:p>
        </p:txBody>
      </p:sp>
      <p:sp>
        <p:nvSpPr>
          <p:cNvPr id="242" name="Google Shape;242;p2"/>
          <p:cNvSpPr txBox="1"/>
          <p:nvPr/>
        </p:nvSpPr>
        <p:spPr>
          <a:xfrm>
            <a:off x="11201400" y="308152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8.9%</a:t>
            </a:r>
            <a:endParaRPr/>
          </a:p>
        </p:txBody>
      </p:sp>
      <p:sp>
        <p:nvSpPr>
          <p:cNvPr id="243" name="Google Shape;243;p2"/>
          <p:cNvSpPr txBox="1"/>
          <p:nvPr/>
        </p:nvSpPr>
        <p:spPr>
          <a:xfrm>
            <a:off x="8275320" y="33375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</a:t>
            </a:r>
            <a:endParaRPr/>
          </a:p>
        </p:txBody>
      </p:sp>
      <p:sp>
        <p:nvSpPr>
          <p:cNvPr id="244" name="Google Shape;244;p2"/>
          <p:cNvSpPr txBox="1"/>
          <p:nvPr/>
        </p:nvSpPr>
        <p:spPr>
          <a:xfrm>
            <a:off x="8732520" y="3337560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$8,395,307</a:t>
            </a:r>
            <a:endParaRPr/>
          </a:p>
        </p:txBody>
      </p:sp>
      <p:sp>
        <p:nvSpPr>
          <p:cNvPr id="245" name="Google Shape;245;p2"/>
          <p:cNvSpPr txBox="1"/>
          <p:nvPr/>
        </p:nvSpPr>
        <p:spPr>
          <a:xfrm>
            <a:off x="9509760" y="3337560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$2,141,010</a:t>
            </a:r>
            <a:endParaRPr/>
          </a:p>
        </p:txBody>
      </p:sp>
      <p:sp>
        <p:nvSpPr>
          <p:cNvPr id="246" name="Google Shape;246;p2"/>
          <p:cNvSpPr txBox="1"/>
          <p:nvPr/>
        </p:nvSpPr>
        <p:spPr>
          <a:xfrm>
            <a:off x="10241280" y="333756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3070</a:t>
            </a:r>
            <a:endParaRPr/>
          </a:p>
        </p:txBody>
      </p:sp>
      <p:sp>
        <p:nvSpPr>
          <p:cNvPr id="247" name="Google Shape;247;p2"/>
          <p:cNvSpPr txBox="1"/>
          <p:nvPr/>
        </p:nvSpPr>
        <p:spPr>
          <a:xfrm>
            <a:off x="10744200" y="33375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258</a:t>
            </a:r>
            <a:endParaRPr/>
          </a:p>
        </p:txBody>
      </p:sp>
      <p:sp>
        <p:nvSpPr>
          <p:cNvPr id="248" name="Google Shape;248;p2"/>
          <p:cNvSpPr txBox="1"/>
          <p:nvPr/>
        </p:nvSpPr>
        <p:spPr>
          <a:xfrm>
            <a:off x="11201400" y="333756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8.4%</a:t>
            </a:r>
            <a:endParaRPr/>
          </a:p>
        </p:txBody>
      </p:sp>
      <p:sp>
        <p:nvSpPr>
          <p:cNvPr id="249" name="Google Shape;249;p2"/>
          <p:cNvSpPr txBox="1"/>
          <p:nvPr/>
        </p:nvSpPr>
        <p:spPr>
          <a:xfrm>
            <a:off x="8275320" y="359359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</a:t>
            </a:r>
            <a:endParaRPr/>
          </a:p>
        </p:txBody>
      </p:sp>
      <p:sp>
        <p:nvSpPr>
          <p:cNvPr id="250" name="Google Shape;250;p2"/>
          <p:cNvSpPr txBox="1"/>
          <p:nvPr/>
        </p:nvSpPr>
        <p:spPr>
          <a:xfrm>
            <a:off x="8732520" y="3593592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$8,764,891</a:t>
            </a:r>
            <a:endParaRPr/>
          </a:p>
        </p:txBody>
      </p:sp>
      <p:sp>
        <p:nvSpPr>
          <p:cNvPr id="251" name="Google Shape;251;p2"/>
          <p:cNvSpPr txBox="1"/>
          <p:nvPr/>
        </p:nvSpPr>
        <p:spPr>
          <a:xfrm>
            <a:off x="9509760" y="359359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$2,876,868</a:t>
            </a:r>
            <a:endParaRPr/>
          </a:p>
        </p:txBody>
      </p:sp>
      <p:sp>
        <p:nvSpPr>
          <p:cNvPr id="252" name="Google Shape;252;p2"/>
          <p:cNvSpPr txBox="1"/>
          <p:nvPr/>
        </p:nvSpPr>
        <p:spPr>
          <a:xfrm>
            <a:off x="10241280" y="3593592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3208</a:t>
            </a:r>
            <a:endParaRPr/>
          </a:p>
        </p:txBody>
      </p:sp>
      <p:sp>
        <p:nvSpPr>
          <p:cNvPr id="253" name="Google Shape;253;p2"/>
          <p:cNvSpPr txBox="1"/>
          <p:nvPr/>
        </p:nvSpPr>
        <p:spPr>
          <a:xfrm>
            <a:off x="10744200" y="359359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285</a:t>
            </a:r>
            <a:endParaRPr/>
          </a:p>
        </p:txBody>
      </p:sp>
      <p:sp>
        <p:nvSpPr>
          <p:cNvPr id="254" name="Google Shape;254;p2"/>
          <p:cNvSpPr txBox="1"/>
          <p:nvPr/>
        </p:nvSpPr>
        <p:spPr>
          <a:xfrm>
            <a:off x="11201400" y="3593592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8.9%</a:t>
            </a:r>
            <a:endParaRPr/>
          </a:p>
        </p:txBody>
      </p:sp>
      <p:sp>
        <p:nvSpPr>
          <p:cNvPr id="255" name="Google Shape;255;p2"/>
          <p:cNvSpPr txBox="1"/>
          <p:nvPr/>
        </p:nvSpPr>
        <p:spPr>
          <a:xfrm>
            <a:off x="8275320" y="3849624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</a:t>
            </a:r>
            <a:endParaRPr/>
          </a:p>
        </p:txBody>
      </p:sp>
      <p:sp>
        <p:nvSpPr>
          <p:cNvPr id="256" name="Google Shape;256;p2"/>
          <p:cNvSpPr txBox="1"/>
          <p:nvPr/>
        </p:nvSpPr>
        <p:spPr>
          <a:xfrm>
            <a:off x="8732520" y="3849624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$8,462,370</a:t>
            </a:r>
            <a:endParaRPr/>
          </a:p>
        </p:txBody>
      </p:sp>
      <p:sp>
        <p:nvSpPr>
          <p:cNvPr id="257" name="Google Shape;257;p2"/>
          <p:cNvSpPr txBox="1"/>
          <p:nvPr/>
        </p:nvSpPr>
        <p:spPr>
          <a:xfrm>
            <a:off x="9509760" y="3849624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$2,859,782</a:t>
            </a:r>
            <a:endParaRPr/>
          </a:p>
        </p:txBody>
      </p:sp>
      <p:sp>
        <p:nvSpPr>
          <p:cNvPr id="258" name="Google Shape;258;p2"/>
          <p:cNvSpPr txBox="1"/>
          <p:nvPr/>
        </p:nvSpPr>
        <p:spPr>
          <a:xfrm>
            <a:off x="10241280" y="3849624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3625</a:t>
            </a:r>
            <a:endParaRPr/>
          </a:p>
        </p:txBody>
      </p:sp>
      <p:sp>
        <p:nvSpPr>
          <p:cNvPr id="259" name="Google Shape;259;p2"/>
          <p:cNvSpPr txBox="1"/>
          <p:nvPr/>
        </p:nvSpPr>
        <p:spPr>
          <a:xfrm>
            <a:off x="10744200" y="3849624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295</a:t>
            </a:r>
            <a:endParaRPr/>
          </a:p>
        </p:txBody>
      </p:sp>
      <p:sp>
        <p:nvSpPr>
          <p:cNvPr id="260" name="Google Shape;260;p2"/>
          <p:cNvSpPr txBox="1"/>
          <p:nvPr/>
        </p:nvSpPr>
        <p:spPr>
          <a:xfrm>
            <a:off x="11201400" y="3849624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8.1%</a:t>
            </a:r>
            <a:endParaRPr/>
          </a:p>
        </p:txBody>
      </p:sp>
      <p:sp>
        <p:nvSpPr>
          <p:cNvPr id="261" name="Google Shape;261;p2"/>
          <p:cNvSpPr txBox="1"/>
          <p:nvPr/>
        </p:nvSpPr>
        <p:spPr>
          <a:xfrm>
            <a:off x="8275320" y="4105656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262" name="Google Shape;262;p2"/>
          <p:cNvSpPr txBox="1"/>
          <p:nvPr/>
        </p:nvSpPr>
        <p:spPr>
          <a:xfrm>
            <a:off x="8732520" y="4105656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$7,363,136</a:t>
            </a:r>
            <a:endParaRPr/>
          </a:p>
        </p:txBody>
      </p:sp>
      <p:sp>
        <p:nvSpPr>
          <p:cNvPr id="263" name="Google Shape;263;p2"/>
          <p:cNvSpPr txBox="1"/>
          <p:nvPr/>
        </p:nvSpPr>
        <p:spPr>
          <a:xfrm>
            <a:off x="9509760" y="4105656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$2,838,484</a:t>
            </a:r>
            <a:endParaRPr/>
          </a:p>
        </p:txBody>
      </p:sp>
      <p:sp>
        <p:nvSpPr>
          <p:cNvPr id="264" name="Google Shape;264;p2"/>
          <p:cNvSpPr txBox="1"/>
          <p:nvPr/>
        </p:nvSpPr>
        <p:spPr>
          <a:xfrm>
            <a:off x="10241280" y="4105656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2928</a:t>
            </a:r>
            <a:endParaRPr/>
          </a:p>
        </p:txBody>
      </p:sp>
      <p:sp>
        <p:nvSpPr>
          <p:cNvPr id="265" name="Google Shape;265;p2"/>
          <p:cNvSpPr txBox="1"/>
          <p:nvPr/>
        </p:nvSpPr>
        <p:spPr>
          <a:xfrm>
            <a:off x="10744200" y="4105656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214</a:t>
            </a:r>
            <a:endParaRPr/>
          </a:p>
        </p:txBody>
      </p:sp>
      <p:sp>
        <p:nvSpPr>
          <p:cNvPr id="266" name="Google Shape;266;p2"/>
          <p:cNvSpPr txBox="1"/>
          <p:nvPr/>
        </p:nvSpPr>
        <p:spPr>
          <a:xfrm>
            <a:off x="11201400" y="4105656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7.3%</a:t>
            </a:r>
            <a:endParaRPr/>
          </a:p>
        </p:txBody>
      </p:sp>
      <p:sp>
        <p:nvSpPr>
          <p:cNvPr id="267" name="Google Shape;267;p2"/>
          <p:cNvSpPr txBox="1"/>
          <p:nvPr/>
        </p:nvSpPr>
        <p:spPr>
          <a:xfrm>
            <a:off x="8275320" y="436168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</a:t>
            </a:r>
            <a:endParaRPr/>
          </a:p>
        </p:txBody>
      </p:sp>
      <p:sp>
        <p:nvSpPr>
          <p:cNvPr id="268" name="Google Shape;268;p2"/>
          <p:cNvSpPr txBox="1"/>
          <p:nvPr/>
        </p:nvSpPr>
        <p:spPr>
          <a:xfrm>
            <a:off x="8732520" y="4361688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69" name="Google Shape;269;p2"/>
          <p:cNvSpPr txBox="1"/>
          <p:nvPr/>
        </p:nvSpPr>
        <p:spPr>
          <a:xfrm>
            <a:off x="9509760" y="4361688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$43,048</a:t>
            </a:r>
            <a:endParaRPr/>
          </a:p>
        </p:txBody>
      </p:sp>
      <p:sp>
        <p:nvSpPr>
          <p:cNvPr id="270" name="Google Shape;270;p2"/>
          <p:cNvSpPr txBox="1"/>
          <p:nvPr/>
        </p:nvSpPr>
        <p:spPr>
          <a:xfrm>
            <a:off x="10241280" y="436168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271" name="Google Shape;271;p2"/>
          <p:cNvSpPr txBox="1"/>
          <p:nvPr/>
        </p:nvSpPr>
        <p:spPr>
          <a:xfrm>
            <a:off x="10744200" y="436168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272" name="Google Shape;272;p2"/>
          <p:cNvSpPr txBox="1"/>
          <p:nvPr/>
        </p:nvSpPr>
        <p:spPr>
          <a:xfrm>
            <a:off x="11201400" y="436168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273" name="Google Shape;273;p2"/>
          <p:cNvSpPr/>
          <p:nvPr/>
        </p:nvSpPr>
        <p:spPr>
          <a:xfrm>
            <a:off x="8275320" y="4581144"/>
            <a:ext cx="3566160" cy="10972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"/>
          <p:cNvSpPr txBox="1"/>
          <p:nvPr/>
        </p:nvSpPr>
        <p:spPr>
          <a:xfrm>
            <a:off x="8275320" y="461772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</a:t>
            </a:r>
            <a:endParaRPr/>
          </a:p>
        </p:txBody>
      </p:sp>
      <p:sp>
        <p:nvSpPr>
          <p:cNvPr id="275" name="Google Shape;275;p2"/>
          <p:cNvSpPr txBox="1"/>
          <p:nvPr/>
        </p:nvSpPr>
        <p:spPr>
          <a:xfrm>
            <a:off x="8732520" y="4617720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$18,882,702</a:t>
            </a:r>
            <a:endParaRPr/>
          </a:p>
        </p:txBody>
      </p:sp>
      <p:sp>
        <p:nvSpPr>
          <p:cNvPr id="276" name="Google Shape;276;p2"/>
          <p:cNvSpPr txBox="1"/>
          <p:nvPr/>
        </p:nvSpPr>
        <p:spPr>
          <a:xfrm>
            <a:off x="9509760" y="4617720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$13,163,978</a:t>
            </a:r>
            <a:endParaRPr/>
          </a:p>
        </p:txBody>
      </p:sp>
      <p:sp>
        <p:nvSpPr>
          <p:cNvPr id="277" name="Google Shape;277;p2"/>
          <p:cNvSpPr txBox="1"/>
          <p:nvPr/>
        </p:nvSpPr>
        <p:spPr>
          <a:xfrm>
            <a:off x="10241280" y="461772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14585</a:t>
            </a:r>
            <a:endParaRPr/>
          </a:p>
        </p:txBody>
      </p:sp>
      <p:sp>
        <p:nvSpPr>
          <p:cNvPr id="278" name="Google Shape;278;p2"/>
          <p:cNvSpPr txBox="1"/>
          <p:nvPr/>
        </p:nvSpPr>
        <p:spPr>
          <a:xfrm>
            <a:off x="10744200" y="461772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704</a:t>
            </a:r>
            <a:endParaRPr/>
          </a:p>
        </p:txBody>
      </p:sp>
      <p:sp>
        <p:nvSpPr>
          <p:cNvPr id="279" name="Google Shape;279;p2"/>
          <p:cNvSpPr txBox="1"/>
          <p:nvPr/>
        </p:nvSpPr>
        <p:spPr>
          <a:xfrm>
            <a:off x="11201400" y="461772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4.8%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3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OKR Scoreboard — Ron Douglas</a:t>
            </a:r>
            <a:endParaRPr/>
          </a:p>
        </p:txBody>
      </p:sp>
      <p:sp>
        <p:nvSpPr>
          <p:cNvPr id="286" name="Google Shape;286;p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4B5F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BDM OKRs  |  Q2 measure (paced where applicable)  |  Matches BD Rep Scoreboard numbers</a:t>
            </a:r>
            <a:endParaRPr/>
          </a:p>
        </p:txBody>
      </p:sp>
      <p:sp>
        <p:nvSpPr>
          <p:cNvPr id="287" name="Google Shape;287;p3"/>
          <p:cNvSpPr/>
          <p:nvPr/>
        </p:nvSpPr>
        <p:spPr>
          <a:xfrm>
            <a:off x="8686800" y="960120"/>
            <a:ext cx="3200400" cy="137160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3"/>
          <p:cNvSpPr txBox="1"/>
          <p:nvPr/>
        </p:nvSpPr>
        <p:spPr>
          <a:xfrm>
            <a:off x="8686800" y="1033271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59.5</a:t>
            </a:r>
            <a:endParaRPr/>
          </a:p>
        </p:txBody>
      </p:sp>
      <p:sp>
        <p:nvSpPr>
          <p:cNvPr id="289" name="Google Shape;289;p3"/>
          <p:cNvSpPr txBox="1"/>
          <p:nvPr/>
        </p:nvSpPr>
        <p:spPr>
          <a:xfrm>
            <a:off x="8686800" y="1591056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COMPOSITE SCORE</a:t>
            </a:r>
            <a:endParaRPr/>
          </a:p>
        </p:txBody>
      </p:sp>
      <p:sp>
        <p:nvSpPr>
          <p:cNvPr id="290" name="Google Shape;290;p3"/>
          <p:cNvSpPr txBox="1"/>
          <p:nvPr/>
        </p:nvSpPr>
        <p:spPr>
          <a:xfrm>
            <a:off x="8686800" y="1865376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Green ≥ 70  |  Amber 45-69  |  Red &lt; 45</a:t>
            </a:r>
            <a:endParaRPr/>
          </a:p>
        </p:txBody>
      </p:sp>
      <p:sp>
        <p:nvSpPr>
          <p:cNvPr id="291" name="Google Shape;291;p3"/>
          <p:cNvSpPr/>
          <p:nvPr/>
        </p:nvSpPr>
        <p:spPr>
          <a:xfrm>
            <a:off x="365760" y="960120"/>
            <a:ext cx="8138160" cy="11887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3"/>
          <p:cNvSpPr/>
          <p:nvPr/>
        </p:nvSpPr>
        <p:spPr>
          <a:xfrm>
            <a:off x="365760" y="960120"/>
            <a:ext cx="91440" cy="118872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"/>
          <p:cNvSpPr txBox="1"/>
          <p:nvPr/>
        </p:nvSpPr>
        <p:spPr>
          <a:xfrm>
            <a:off x="594360" y="10515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OKR 1</a:t>
            </a:r>
            <a:endParaRPr/>
          </a:p>
        </p:txBody>
      </p:sp>
      <p:sp>
        <p:nvSpPr>
          <p:cNvPr id="294" name="Google Shape;294;p3"/>
          <p:cNvSpPr txBox="1"/>
          <p:nvPr/>
        </p:nvSpPr>
        <p:spPr>
          <a:xfrm>
            <a:off x="594360" y="1307592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Subs YoY %</a:t>
            </a:r>
            <a:endParaRPr/>
          </a:p>
        </p:txBody>
      </p:sp>
      <p:sp>
        <p:nvSpPr>
          <p:cNvPr id="295" name="Google Shape;295;p3"/>
          <p:cNvSpPr txBox="1"/>
          <p:nvPr/>
        </p:nvSpPr>
        <p:spPr>
          <a:xfrm>
            <a:off x="594360" y="16733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Goal ≥+100%</a:t>
            </a:r>
            <a:endParaRPr/>
          </a:p>
        </p:txBody>
      </p:sp>
      <p:sp>
        <p:nvSpPr>
          <p:cNvPr id="296" name="Google Shape;296;p3"/>
          <p:cNvSpPr txBox="1"/>
          <p:nvPr/>
        </p:nvSpPr>
        <p:spPr>
          <a:xfrm>
            <a:off x="6309360" y="114300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+14%</a:t>
            </a:r>
            <a:endParaRPr/>
          </a:p>
        </p:txBody>
      </p:sp>
      <p:sp>
        <p:nvSpPr>
          <p:cNvPr id="297" name="Google Shape;297;p3"/>
          <p:cNvSpPr/>
          <p:nvPr/>
        </p:nvSpPr>
        <p:spPr>
          <a:xfrm>
            <a:off x="365760" y="2240280"/>
            <a:ext cx="8138160" cy="11887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"/>
          <p:cNvSpPr/>
          <p:nvPr/>
        </p:nvSpPr>
        <p:spPr>
          <a:xfrm>
            <a:off x="365760" y="2240280"/>
            <a:ext cx="91440" cy="118872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"/>
          <p:cNvSpPr txBox="1"/>
          <p:nvPr/>
        </p:nvSpPr>
        <p:spPr>
          <a:xfrm>
            <a:off x="594360" y="23317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OKR 2</a:t>
            </a:r>
            <a:endParaRPr/>
          </a:p>
        </p:txBody>
      </p:sp>
      <p:sp>
        <p:nvSpPr>
          <p:cNvPr id="300" name="Google Shape;300;p3"/>
          <p:cNvSpPr txBox="1"/>
          <p:nvPr/>
        </p:nvSpPr>
        <p:spPr>
          <a:xfrm>
            <a:off x="594360" y="2587752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Activity Compliance</a:t>
            </a:r>
            <a:endParaRPr/>
          </a:p>
        </p:txBody>
      </p:sp>
      <p:sp>
        <p:nvSpPr>
          <p:cNvPr id="301" name="Google Shape;301;p3"/>
          <p:cNvSpPr txBox="1"/>
          <p:nvPr/>
        </p:nvSpPr>
        <p:spPr>
          <a:xfrm>
            <a:off x="594360" y="295351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Goal ≥ 100% (40/wk)</a:t>
            </a:r>
            <a:endParaRPr/>
          </a:p>
        </p:txBody>
      </p:sp>
      <p:sp>
        <p:nvSpPr>
          <p:cNvPr id="302" name="Google Shape;302;p3"/>
          <p:cNvSpPr txBox="1"/>
          <p:nvPr/>
        </p:nvSpPr>
        <p:spPr>
          <a:xfrm>
            <a:off x="6309360" y="242316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99%</a:t>
            </a:r>
            <a:endParaRPr/>
          </a:p>
        </p:txBody>
      </p:sp>
      <p:sp>
        <p:nvSpPr>
          <p:cNvPr id="303" name="Google Shape;303;p3"/>
          <p:cNvSpPr/>
          <p:nvPr/>
        </p:nvSpPr>
        <p:spPr>
          <a:xfrm>
            <a:off x="365760" y="3520440"/>
            <a:ext cx="8138160" cy="11887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3"/>
          <p:cNvSpPr/>
          <p:nvPr/>
        </p:nvSpPr>
        <p:spPr>
          <a:xfrm>
            <a:off x="365760" y="3520440"/>
            <a:ext cx="91440" cy="118872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"/>
          <p:cNvSpPr txBox="1"/>
          <p:nvPr/>
        </p:nvSpPr>
        <p:spPr>
          <a:xfrm>
            <a:off x="594360" y="361188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OKR 3</a:t>
            </a:r>
            <a:endParaRPr/>
          </a:p>
        </p:txBody>
      </p:sp>
      <p:sp>
        <p:nvSpPr>
          <p:cNvPr id="306" name="Google Shape;306;p3"/>
          <p:cNvSpPr txBox="1"/>
          <p:nvPr/>
        </p:nvSpPr>
        <p:spPr>
          <a:xfrm>
            <a:off x="594360" y="3867912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Portfolio Active %</a:t>
            </a:r>
            <a:endParaRPr/>
          </a:p>
        </p:txBody>
      </p:sp>
      <p:sp>
        <p:nvSpPr>
          <p:cNvPr id="307" name="Google Shape;307;p3"/>
          <p:cNvSpPr txBox="1"/>
          <p:nvPr/>
        </p:nvSpPr>
        <p:spPr>
          <a:xfrm>
            <a:off x="594360" y="423367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34 of 34 agencies  |  Goal 100%</a:t>
            </a:r>
            <a:endParaRPr/>
          </a:p>
        </p:txBody>
      </p:sp>
      <p:sp>
        <p:nvSpPr>
          <p:cNvPr id="308" name="Google Shape;308;p3"/>
          <p:cNvSpPr txBox="1"/>
          <p:nvPr/>
        </p:nvSpPr>
        <p:spPr>
          <a:xfrm>
            <a:off x="6309360" y="370332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100%</a:t>
            </a:r>
            <a:endParaRPr/>
          </a:p>
        </p:txBody>
      </p:sp>
      <p:sp>
        <p:nvSpPr>
          <p:cNvPr id="309" name="Google Shape;309;p3"/>
          <p:cNvSpPr/>
          <p:nvPr/>
        </p:nvSpPr>
        <p:spPr>
          <a:xfrm>
            <a:off x="365760" y="4800600"/>
            <a:ext cx="8138160" cy="11887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"/>
          <p:cNvSpPr/>
          <p:nvPr/>
        </p:nvSpPr>
        <p:spPr>
          <a:xfrm>
            <a:off x="365760" y="4800600"/>
            <a:ext cx="91440" cy="118872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3"/>
          <p:cNvSpPr txBox="1"/>
          <p:nvPr/>
        </p:nvSpPr>
        <p:spPr>
          <a:xfrm>
            <a:off x="594360" y="48920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OKR 4</a:t>
            </a:r>
            <a:endParaRPr/>
          </a:p>
        </p:txBody>
      </p:sp>
      <p:sp>
        <p:nvSpPr>
          <p:cNvPr id="312" name="Google Shape;312;p3"/>
          <p:cNvSpPr txBox="1"/>
          <p:nvPr/>
        </p:nvSpPr>
        <p:spPr>
          <a:xfrm>
            <a:off x="594360" y="5148072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Producing Agencies</a:t>
            </a:r>
            <a:endParaRPr/>
          </a:p>
        </p:txBody>
      </p:sp>
      <p:sp>
        <p:nvSpPr>
          <p:cNvPr id="313" name="Google Shape;313;p3"/>
          <p:cNvSpPr txBox="1"/>
          <p:nvPr/>
        </p:nvSpPr>
        <p:spPr>
          <a:xfrm>
            <a:off x="594360" y="551383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Q2 Activated Won  |  Goal ≥ 4</a:t>
            </a:r>
            <a:endParaRPr/>
          </a:p>
        </p:txBody>
      </p:sp>
      <p:sp>
        <p:nvSpPr>
          <p:cNvPr id="314" name="Google Shape;314;p3"/>
          <p:cNvSpPr txBox="1"/>
          <p:nvPr/>
        </p:nvSpPr>
        <p:spPr>
          <a:xfrm>
            <a:off x="6309360" y="498348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 of 4</a:t>
            </a:r>
            <a:endParaRPr/>
          </a:p>
        </p:txBody>
      </p:sp>
      <p:sp>
        <p:nvSpPr>
          <p:cNvPr id="315" name="Google Shape;315;p3"/>
          <p:cNvSpPr txBox="1"/>
          <p:nvPr/>
        </p:nvSpPr>
        <p:spPr>
          <a:xfrm>
            <a:off x="365760" y="6492240"/>
            <a:ext cx="11430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OKR 1: Q2 paced subs YoY — current Q2-YTD subs ÷ days-elapsed × 91 vs prior full Q2 (Apr–Jun 2025)  |  OKR 2: Q2 avg weekly calls + meetings vs 40/wk goal (outbound calls + meetings only, matches scoreboard)  |  OKR 3: % of HubSpot book with ≥1 submission in 2026  |  OKR 4: Q2 Activated-Won NNA deals with `Appointed - ` prefix, owned by this BDM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4"/>
          <p:cNvSpPr txBox="1"/>
          <p:nvPr/>
        </p:nvSpPr>
        <p:spPr>
          <a:xfrm>
            <a:off x="320040" y="73152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BD Activity  —  Ron Douglas</a:t>
            </a:r>
            <a:endParaRPr/>
          </a:p>
        </p:txBody>
      </p:sp>
      <p:sp>
        <p:nvSpPr>
          <p:cNvPr id="322" name="Google Shape;322;p4"/>
          <p:cNvSpPr txBox="1"/>
          <p:nvPr/>
        </p:nvSpPr>
        <p:spPr>
          <a:xfrm>
            <a:off x="320040" y="457200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4B5F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Jan–Jun 2026  |  Calls + Meetings  |  Weekly goal: 40 activities  |  Colored arrow = month-over-month trend vs prior complete month</a:t>
            </a:r>
            <a:endParaRPr/>
          </a:p>
        </p:txBody>
      </p:sp>
      <p:sp>
        <p:nvSpPr>
          <p:cNvPr id="323" name="Google Shape;323;p4"/>
          <p:cNvSpPr/>
          <p:nvPr/>
        </p:nvSpPr>
        <p:spPr>
          <a:xfrm>
            <a:off x="137160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483 ▲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Total Calls</a:t>
            </a:r>
            <a:endParaRPr/>
          </a:p>
        </p:txBody>
      </p:sp>
      <p:sp>
        <p:nvSpPr>
          <p:cNvPr id="324" name="Google Shape;324;p4"/>
          <p:cNvSpPr/>
          <p:nvPr/>
        </p:nvSpPr>
        <p:spPr>
          <a:xfrm>
            <a:off x="2542580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95 ▼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Total Meetings</a:t>
            </a:r>
            <a:endParaRPr/>
          </a:p>
        </p:txBody>
      </p:sp>
      <p:sp>
        <p:nvSpPr>
          <p:cNvPr id="325" name="Google Shape;325;p4"/>
          <p:cNvSpPr/>
          <p:nvPr/>
        </p:nvSpPr>
        <p:spPr>
          <a:xfrm>
            <a:off x="4948001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578 ▲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Total Activity</a:t>
            </a:r>
            <a:endParaRPr/>
          </a:p>
        </p:txBody>
      </p:sp>
      <p:sp>
        <p:nvSpPr>
          <p:cNvPr id="326" name="Google Shape;326;p4"/>
          <p:cNvSpPr/>
          <p:nvPr/>
        </p:nvSpPr>
        <p:spPr>
          <a:xfrm>
            <a:off x="7353421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27.4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Avg / Week</a:t>
            </a:r>
            <a:endParaRPr/>
          </a:p>
        </p:txBody>
      </p:sp>
      <p:sp>
        <p:nvSpPr>
          <p:cNvPr id="327" name="Google Shape;327;p4"/>
          <p:cNvSpPr/>
          <p:nvPr/>
        </p:nvSpPr>
        <p:spPr>
          <a:xfrm>
            <a:off x="9758842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69%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% to Goal (40/wk)</a:t>
            </a:r>
            <a:endParaRPr/>
          </a:p>
        </p:txBody>
      </p:sp>
      <p:sp>
        <p:nvSpPr>
          <p:cNvPr id="328" name="Google Shape;328;p4"/>
          <p:cNvSpPr/>
          <p:nvPr/>
        </p:nvSpPr>
        <p:spPr>
          <a:xfrm>
            <a:off x="137160" y="1600200"/>
            <a:ext cx="5852160" cy="27432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4"/>
          <p:cNvSpPr txBox="1"/>
          <p:nvPr/>
        </p:nvSpPr>
        <p:spPr>
          <a:xfrm>
            <a:off x="246888" y="1636776"/>
            <a:ext cx="5669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WEEKS 1–11  (Jan–Mar)</a:t>
            </a:r>
            <a:endParaRPr/>
          </a:p>
        </p:txBody>
      </p:sp>
      <p:sp>
        <p:nvSpPr>
          <p:cNvPr id="330" name="Google Shape;330;p4"/>
          <p:cNvSpPr txBox="1"/>
          <p:nvPr/>
        </p:nvSpPr>
        <p:spPr>
          <a:xfrm>
            <a:off x="246888" y="1938528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Week</a:t>
            </a:r>
            <a:endParaRPr/>
          </a:p>
        </p:txBody>
      </p:sp>
      <p:sp>
        <p:nvSpPr>
          <p:cNvPr id="331" name="Google Shape;331;p4"/>
          <p:cNvSpPr txBox="1"/>
          <p:nvPr/>
        </p:nvSpPr>
        <p:spPr>
          <a:xfrm>
            <a:off x="1892808" y="1938528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Calls</a:t>
            </a:r>
            <a:endParaRPr/>
          </a:p>
        </p:txBody>
      </p:sp>
      <p:sp>
        <p:nvSpPr>
          <p:cNvPr id="332" name="Google Shape;332;p4"/>
          <p:cNvSpPr txBox="1"/>
          <p:nvPr/>
        </p:nvSpPr>
        <p:spPr>
          <a:xfrm>
            <a:off x="2624328" y="1938528"/>
            <a:ext cx="868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Meetings</a:t>
            </a:r>
            <a:endParaRPr/>
          </a:p>
        </p:txBody>
      </p:sp>
      <p:sp>
        <p:nvSpPr>
          <p:cNvPr id="333" name="Google Shape;333;p4"/>
          <p:cNvSpPr txBox="1"/>
          <p:nvPr/>
        </p:nvSpPr>
        <p:spPr>
          <a:xfrm>
            <a:off x="3493008" y="1938528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Total</a:t>
            </a:r>
            <a:endParaRPr/>
          </a:p>
        </p:txBody>
      </p:sp>
      <p:sp>
        <p:nvSpPr>
          <p:cNvPr id="334" name="Google Shape;334;p4"/>
          <p:cNvSpPr txBox="1"/>
          <p:nvPr/>
        </p:nvSpPr>
        <p:spPr>
          <a:xfrm>
            <a:off x="4224528" y="1938528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% Goal</a:t>
            </a:r>
            <a:endParaRPr/>
          </a:p>
        </p:txBody>
      </p:sp>
      <p:sp>
        <p:nvSpPr>
          <p:cNvPr id="335" name="Google Shape;335;p4"/>
          <p:cNvSpPr txBox="1"/>
          <p:nvPr/>
        </p:nvSpPr>
        <p:spPr>
          <a:xfrm>
            <a:off x="5001768" y="1938528"/>
            <a:ext cx="1051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Status</a:t>
            </a:r>
            <a:endParaRPr/>
          </a:p>
        </p:txBody>
      </p:sp>
      <p:sp>
        <p:nvSpPr>
          <p:cNvPr id="336" name="Google Shape;336;p4"/>
          <p:cNvSpPr/>
          <p:nvPr/>
        </p:nvSpPr>
        <p:spPr>
          <a:xfrm>
            <a:off x="182880" y="2112264"/>
            <a:ext cx="5833872" cy="5486"/>
          </a:xfrm>
          <a:prstGeom prst="rect">
            <a:avLst/>
          </a:prstGeom>
          <a:solidFill>
            <a:srgbClr val="C4B5F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4"/>
          <p:cNvSpPr/>
          <p:nvPr/>
        </p:nvSpPr>
        <p:spPr>
          <a:xfrm>
            <a:off x="137160" y="2167128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4"/>
          <p:cNvSpPr/>
          <p:nvPr/>
        </p:nvSpPr>
        <p:spPr>
          <a:xfrm>
            <a:off x="137160" y="2167128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4"/>
          <p:cNvSpPr txBox="1"/>
          <p:nvPr/>
        </p:nvSpPr>
        <p:spPr>
          <a:xfrm>
            <a:off x="246888" y="2185416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1/5–1/11</a:t>
            </a:r>
            <a:endParaRPr/>
          </a:p>
        </p:txBody>
      </p:sp>
      <p:sp>
        <p:nvSpPr>
          <p:cNvPr id="340" name="Google Shape;340;p4"/>
          <p:cNvSpPr txBox="1"/>
          <p:nvPr/>
        </p:nvSpPr>
        <p:spPr>
          <a:xfrm>
            <a:off x="1892808" y="2185416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/>
          </a:p>
        </p:txBody>
      </p:sp>
      <p:sp>
        <p:nvSpPr>
          <p:cNvPr id="341" name="Google Shape;341;p4"/>
          <p:cNvSpPr txBox="1"/>
          <p:nvPr/>
        </p:nvSpPr>
        <p:spPr>
          <a:xfrm>
            <a:off x="2624328" y="2185416"/>
            <a:ext cx="868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/>
          </a:p>
        </p:txBody>
      </p:sp>
      <p:sp>
        <p:nvSpPr>
          <p:cNvPr id="342" name="Google Shape;342;p4"/>
          <p:cNvSpPr txBox="1"/>
          <p:nvPr/>
        </p:nvSpPr>
        <p:spPr>
          <a:xfrm>
            <a:off x="3493008" y="2185416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</a:t>
            </a:r>
            <a:endParaRPr/>
          </a:p>
        </p:txBody>
      </p:sp>
      <p:sp>
        <p:nvSpPr>
          <p:cNvPr id="343" name="Google Shape;343;p4"/>
          <p:cNvSpPr txBox="1"/>
          <p:nvPr/>
        </p:nvSpPr>
        <p:spPr>
          <a:xfrm>
            <a:off x="4224528" y="2185416"/>
            <a:ext cx="777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40%</a:t>
            </a:r>
            <a:endParaRPr/>
          </a:p>
        </p:txBody>
      </p:sp>
      <p:sp>
        <p:nvSpPr>
          <p:cNvPr id="344" name="Google Shape;344;p4"/>
          <p:cNvSpPr txBox="1"/>
          <p:nvPr/>
        </p:nvSpPr>
        <p:spPr>
          <a:xfrm>
            <a:off x="5001768" y="2185416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✗ Miss</a:t>
            </a:r>
            <a:endParaRPr/>
          </a:p>
        </p:txBody>
      </p:sp>
      <p:sp>
        <p:nvSpPr>
          <p:cNvPr id="345" name="Google Shape;345;p4"/>
          <p:cNvSpPr/>
          <p:nvPr/>
        </p:nvSpPr>
        <p:spPr>
          <a:xfrm>
            <a:off x="137160" y="2409444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4"/>
          <p:cNvSpPr/>
          <p:nvPr/>
        </p:nvSpPr>
        <p:spPr>
          <a:xfrm>
            <a:off x="137160" y="2409444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4"/>
          <p:cNvSpPr txBox="1"/>
          <p:nvPr/>
        </p:nvSpPr>
        <p:spPr>
          <a:xfrm>
            <a:off x="246888" y="2427732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1/12–1/18</a:t>
            </a:r>
            <a:endParaRPr/>
          </a:p>
        </p:txBody>
      </p:sp>
      <p:sp>
        <p:nvSpPr>
          <p:cNvPr id="348" name="Google Shape;348;p4"/>
          <p:cNvSpPr txBox="1"/>
          <p:nvPr/>
        </p:nvSpPr>
        <p:spPr>
          <a:xfrm>
            <a:off x="1892808" y="2427732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/>
          </a:p>
        </p:txBody>
      </p:sp>
      <p:sp>
        <p:nvSpPr>
          <p:cNvPr id="349" name="Google Shape;349;p4"/>
          <p:cNvSpPr txBox="1"/>
          <p:nvPr/>
        </p:nvSpPr>
        <p:spPr>
          <a:xfrm>
            <a:off x="2624328" y="2427732"/>
            <a:ext cx="868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350" name="Google Shape;350;p4"/>
          <p:cNvSpPr txBox="1"/>
          <p:nvPr/>
        </p:nvSpPr>
        <p:spPr>
          <a:xfrm>
            <a:off x="3493008" y="2427732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</a:t>
            </a:r>
            <a:endParaRPr/>
          </a:p>
        </p:txBody>
      </p:sp>
      <p:sp>
        <p:nvSpPr>
          <p:cNvPr id="351" name="Google Shape;351;p4"/>
          <p:cNvSpPr txBox="1"/>
          <p:nvPr/>
        </p:nvSpPr>
        <p:spPr>
          <a:xfrm>
            <a:off x="4224528" y="2427732"/>
            <a:ext cx="777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28%</a:t>
            </a:r>
            <a:endParaRPr/>
          </a:p>
        </p:txBody>
      </p:sp>
      <p:sp>
        <p:nvSpPr>
          <p:cNvPr id="352" name="Google Shape;352;p4"/>
          <p:cNvSpPr txBox="1"/>
          <p:nvPr/>
        </p:nvSpPr>
        <p:spPr>
          <a:xfrm>
            <a:off x="5001768" y="2427732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✗ Miss</a:t>
            </a:r>
            <a:endParaRPr/>
          </a:p>
        </p:txBody>
      </p:sp>
      <p:sp>
        <p:nvSpPr>
          <p:cNvPr id="353" name="Google Shape;353;p4"/>
          <p:cNvSpPr/>
          <p:nvPr/>
        </p:nvSpPr>
        <p:spPr>
          <a:xfrm>
            <a:off x="137160" y="2651760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4"/>
          <p:cNvSpPr/>
          <p:nvPr/>
        </p:nvSpPr>
        <p:spPr>
          <a:xfrm>
            <a:off x="137160" y="2651760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4"/>
          <p:cNvSpPr txBox="1"/>
          <p:nvPr/>
        </p:nvSpPr>
        <p:spPr>
          <a:xfrm>
            <a:off x="246888" y="2670048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1/19–1/25</a:t>
            </a:r>
            <a:endParaRPr/>
          </a:p>
        </p:txBody>
      </p:sp>
      <p:sp>
        <p:nvSpPr>
          <p:cNvPr id="356" name="Google Shape;356;p4"/>
          <p:cNvSpPr txBox="1"/>
          <p:nvPr/>
        </p:nvSpPr>
        <p:spPr>
          <a:xfrm>
            <a:off x="1892808" y="2670048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18</a:t>
            </a:r>
            <a:endParaRPr/>
          </a:p>
        </p:txBody>
      </p:sp>
      <p:sp>
        <p:nvSpPr>
          <p:cNvPr id="357" name="Google Shape;357;p4"/>
          <p:cNvSpPr txBox="1"/>
          <p:nvPr/>
        </p:nvSpPr>
        <p:spPr>
          <a:xfrm>
            <a:off x="2624328" y="2670048"/>
            <a:ext cx="868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358" name="Google Shape;358;p4"/>
          <p:cNvSpPr txBox="1"/>
          <p:nvPr/>
        </p:nvSpPr>
        <p:spPr>
          <a:xfrm>
            <a:off x="3493008" y="2670048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</a:t>
            </a:r>
            <a:endParaRPr/>
          </a:p>
        </p:txBody>
      </p:sp>
      <p:sp>
        <p:nvSpPr>
          <p:cNvPr id="359" name="Google Shape;359;p4"/>
          <p:cNvSpPr txBox="1"/>
          <p:nvPr/>
        </p:nvSpPr>
        <p:spPr>
          <a:xfrm>
            <a:off x="4224528" y="2670048"/>
            <a:ext cx="777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48%</a:t>
            </a:r>
            <a:endParaRPr/>
          </a:p>
        </p:txBody>
      </p:sp>
      <p:sp>
        <p:nvSpPr>
          <p:cNvPr id="360" name="Google Shape;360;p4"/>
          <p:cNvSpPr txBox="1"/>
          <p:nvPr/>
        </p:nvSpPr>
        <p:spPr>
          <a:xfrm>
            <a:off x="5001768" y="2670048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✗ Miss</a:t>
            </a:r>
            <a:endParaRPr/>
          </a:p>
        </p:txBody>
      </p:sp>
      <p:sp>
        <p:nvSpPr>
          <p:cNvPr id="361" name="Google Shape;361;p4"/>
          <p:cNvSpPr/>
          <p:nvPr/>
        </p:nvSpPr>
        <p:spPr>
          <a:xfrm>
            <a:off x="137160" y="2894076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4"/>
          <p:cNvSpPr/>
          <p:nvPr/>
        </p:nvSpPr>
        <p:spPr>
          <a:xfrm>
            <a:off x="137160" y="2894076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4"/>
          <p:cNvSpPr txBox="1"/>
          <p:nvPr/>
        </p:nvSpPr>
        <p:spPr>
          <a:xfrm>
            <a:off x="246888" y="2912364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1/26–2/1</a:t>
            </a:r>
            <a:endParaRPr/>
          </a:p>
        </p:txBody>
      </p:sp>
      <p:sp>
        <p:nvSpPr>
          <p:cNvPr id="364" name="Google Shape;364;p4"/>
          <p:cNvSpPr txBox="1"/>
          <p:nvPr/>
        </p:nvSpPr>
        <p:spPr>
          <a:xfrm>
            <a:off x="1892808" y="2912364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</a:t>
            </a:r>
            <a:endParaRPr/>
          </a:p>
        </p:txBody>
      </p:sp>
      <p:sp>
        <p:nvSpPr>
          <p:cNvPr id="365" name="Google Shape;365;p4"/>
          <p:cNvSpPr txBox="1"/>
          <p:nvPr/>
        </p:nvSpPr>
        <p:spPr>
          <a:xfrm>
            <a:off x="2624328" y="2912364"/>
            <a:ext cx="868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366" name="Google Shape;366;p4"/>
          <p:cNvSpPr txBox="1"/>
          <p:nvPr/>
        </p:nvSpPr>
        <p:spPr>
          <a:xfrm>
            <a:off x="3493008" y="2912364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</a:t>
            </a:r>
            <a:endParaRPr/>
          </a:p>
        </p:txBody>
      </p:sp>
      <p:sp>
        <p:nvSpPr>
          <p:cNvPr id="367" name="Google Shape;367;p4"/>
          <p:cNvSpPr txBox="1"/>
          <p:nvPr/>
        </p:nvSpPr>
        <p:spPr>
          <a:xfrm>
            <a:off x="4224528" y="2912364"/>
            <a:ext cx="777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35%</a:t>
            </a:r>
            <a:endParaRPr/>
          </a:p>
        </p:txBody>
      </p:sp>
      <p:sp>
        <p:nvSpPr>
          <p:cNvPr id="368" name="Google Shape;368;p4"/>
          <p:cNvSpPr txBox="1"/>
          <p:nvPr/>
        </p:nvSpPr>
        <p:spPr>
          <a:xfrm>
            <a:off x="5001768" y="2912364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✗ Miss</a:t>
            </a:r>
            <a:endParaRPr/>
          </a:p>
        </p:txBody>
      </p:sp>
      <p:sp>
        <p:nvSpPr>
          <p:cNvPr id="369" name="Google Shape;369;p4"/>
          <p:cNvSpPr/>
          <p:nvPr/>
        </p:nvSpPr>
        <p:spPr>
          <a:xfrm>
            <a:off x="137160" y="3136392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4"/>
          <p:cNvSpPr/>
          <p:nvPr/>
        </p:nvSpPr>
        <p:spPr>
          <a:xfrm>
            <a:off x="137160" y="3136392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4"/>
          <p:cNvSpPr txBox="1"/>
          <p:nvPr/>
        </p:nvSpPr>
        <p:spPr>
          <a:xfrm>
            <a:off x="246888" y="3154680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2/2–2/8</a:t>
            </a:r>
            <a:endParaRPr/>
          </a:p>
        </p:txBody>
      </p:sp>
      <p:sp>
        <p:nvSpPr>
          <p:cNvPr id="372" name="Google Shape;372;p4"/>
          <p:cNvSpPr txBox="1"/>
          <p:nvPr/>
        </p:nvSpPr>
        <p:spPr>
          <a:xfrm>
            <a:off x="1892808" y="3154680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/>
          </a:p>
        </p:txBody>
      </p:sp>
      <p:sp>
        <p:nvSpPr>
          <p:cNvPr id="373" name="Google Shape;373;p4"/>
          <p:cNvSpPr txBox="1"/>
          <p:nvPr/>
        </p:nvSpPr>
        <p:spPr>
          <a:xfrm>
            <a:off x="2624328" y="3154680"/>
            <a:ext cx="868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374" name="Google Shape;374;p4"/>
          <p:cNvSpPr txBox="1"/>
          <p:nvPr/>
        </p:nvSpPr>
        <p:spPr>
          <a:xfrm>
            <a:off x="3493008" y="3154680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</a:t>
            </a:r>
            <a:endParaRPr/>
          </a:p>
        </p:txBody>
      </p:sp>
      <p:sp>
        <p:nvSpPr>
          <p:cNvPr id="375" name="Google Shape;375;p4"/>
          <p:cNvSpPr txBox="1"/>
          <p:nvPr/>
        </p:nvSpPr>
        <p:spPr>
          <a:xfrm>
            <a:off x="4224528" y="3154680"/>
            <a:ext cx="777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20%</a:t>
            </a:r>
            <a:endParaRPr/>
          </a:p>
        </p:txBody>
      </p:sp>
      <p:sp>
        <p:nvSpPr>
          <p:cNvPr id="376" name="Google Shape;376;p4"/>
          <p:cNvSpPr txBox="1"/>
          <p:nvPr/>
        </p:nvSpPr>
        <p:spPr>
          <a:xfrm>
            <a:off x="5001768" y="3154680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✗ Miss</a:t>
            </a:r>
            <a:endParaRPr/>
          </a:p>
        </p:txBody>
      </p:sp>
      <p:sp>
        <p:nvSpPr>
          <p:cNvPr id="377" name="Google Shape;377;p4"/>
          <p:cNvSpPr/>
          <p:nvPr/>
        </p:nvSpPr>
        <p:spPr>
          <a:xfrm>
            <a:off x="137160" y="3378708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4"/>
          <p:cNvSpPr/>
          <p:nvPr/>
        </p:nvSpPr>
        <p:spPr>
          <a:xfrm>
            <a:off x="137160" y="3378708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4"/>
          <p:cNvSpPr txBox="1"/>
          <p:nvPr/>
        </p:nvSpPr>
        <p:spPr>
          <a:xfrm>
            <a:off x="246888" y="3396996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2/9–2/15</a:t>
            </a:r>
            <a:endParaRPr/>
          </a:p>
        </p:txBody>
      </p:sp>
      <p:sp>
        <p:nvSpPr>
          <p:cNvPr id="380" name="Google Shape;380;p4"/>
          <p:cNvSpPr txBox="1"/>
          <p:nvPr/>
        </p:nvSpPr>
        <p:spPr>
          <a:xfrm>
            <a:off x="1892808" y="3396996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381" name="Google Shape;381;p4"/>
          <p:cNvSpPr txBox="1"/>
          <p:nvPr/>
        </p:nvSpPr>
        <p:spPr>
          <a:xfrm>
            <a:off x="2624328" y="3396996"/>
            <a:ext cx="868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</a:t>
            </a:r>
            <a:endParaRPr/>
          </a:p>
        </p:txBody>
      </p:sp>
      <p:sp>
        <p:nvSpPr>
          <p:cNvPr id="382" name="Google Shape;382;p4"/>
          <p:cNvSpPr txBox="1"/>
          <p:nvPr/>
        </p:nvSpPr>
        <p:spPr>
          <a:xfrm>
            <a:off x="3493008" y="3396996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</a:t>
            </a:r>
            <a:endParaRPr/>
          </a:p>
        </p:txBody>
      </p:sp>
      <p:sp>
        <p:nvSpPr>
          <p:cNvPr id="383" name="Google Shape;383;p4"/>
          <p:cNvSpPr txBox="1"/>
          <p:nvPr/>
        </p:nvSpPr>
        <p:spPr>
          <a:xfrm>
            <a:off x="4224528" y="3396996"/>
            <a:ext cx="777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35%</a:t>
            </a:r>
            <a:endParaRPr/>
          </a:p>
        </p:txBody>
      </p:sp>
      <p:sp>
        <p:nvSpPr>
          <p:cNvPr id="384" name="Google Shape;384;p4"/>
          <p:cNvSpPr txBox="1"/>
          <p:nvPr/>
        </p:nvSpPr>
        <p:spPr>
          <a:xfrm>
            <a:off x="5001768" y="3396996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✗ Miss</a:t>
            </a:r>
            <a:endParaRPr/>
          </a:p>
        </p:txBody>
      </p:sp>
      <p:sp>
        <p:nvSpPr>
          <p:cNvPr id="385" name="Google Shape;385;p4"/>
          <p:cNvSpPr/>
          <p:nvPr/>
        </p:nvSpPr>
        <p:spPr>
          <a:xfrm>
            <a:off x="137160" y="3621024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4"/>
          <p:cNvSpPr/>
          <p:nvPr/>
        </p:nvSpPr>
        <p:spPr>
          <a:xfrm>
            <a:off x="137160" y="3621024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4"/>
          <p:cNvSpPr txBox="1"/>
          <p:nvPr/>
        </p:nvSpPr>
        <p:spPr>
          <a:xfrm>
            <a:off x="246888" y="3639312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2/16–2/22</a:t>
            </a:r>
            <a:endParaRPr/>
          </a:p>
        </p:txBody>
      </p:sp>
      <p:sp>
        <p:nvSpPr>
          <p:cNvPr id="388" name="Google Shape;388;p4"/>
          <p:cNvSpPr txBox="1"/>
          <p:nvPr/>
        </p:nvSpPr>
        <p:spPr>
          <a:xfrm>
            <a:off x="1892808" y="3639312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/>
          </a:p>
        </p:txBody>
      </p:sp>
      <p:sp>
        <p:nvSpPr>
          <p:cNvPr id="389" name="Google Shape;389;p4"/>
          <p:cNvSpPr txBox="1"/>
          <p:nvPr/>
        </p:nvSpPr>
        <p:spPr>
          <a:xfrm>
            <a:off x="2624328" y="3639312"/>
            <a:ext cx="868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390" name="Google Shape;390;p4"/>
          <p:cNvSpPr txBox="1"/>
          <p:nvPr/>
        </p:nvSpPr>
        <p:spPr>
          <a:xfrm>
            <a:off x="3493008" y="3639312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</a:t>
            </a:r>
            <a:endParaRPr/>
          </a:p>
        </p:txBody>
      </p:sp>
      <p:sp>
        <p:nvSpPr>
          <p:cNvPr id="391" name="Google Shape;391;p4"/>
          <p:cNvSpPr txBox="1"/>
          <p:nvPr/>
        </p:nvSpPr>
        <p:spPr>
          <a:xfrm>
            <a:off x="4224528" y="3639312"/>
            <a:ext cx="777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32%</a:t>
            </a:r>
            <a:endParaRPr/>
          </a:p>
        </p:txBody>
      </p:sp>
      <p:sp>
        <p:nvSpPr>
          <p:cNvPr id="392" name="Google Shape;392;p4"/>
          <p:cNvSpPr txBox="1"/>
          <p:nvPr/>
        </p:nvSpPr>
        <p:spPr>
          <a:xfrm>
            <a:off x="5001768" y="3639312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✗ Miss</a:t>
            </a:r>
            <a:endParaRPr/>
          </a:p>
        </p:txBody>
      </p:sp>
      <p:sp>
        <p:nvSpPr>
          <p:cNvPr id="393" name="Google Shape;393;p4"/>
          <p:cNvSpPr/>
          <p:nvPr/>
        </p:nvSpPr>
        <p:spPr>
          <a:xfrm>
            <a:off x="137160" y="3863340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4"/>
          <p:cNvSpPr/>
          <p:nvPr/>
        </p:nvSpPr>
        <p:spPr>
          <a:xfrm>
            <a:off x="137160" y="3863340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4"/>
          <p:cNvSpPr txBox="1"/>
          <p:nvPr/>
        </p:nvSpPr>
        <p:spPr>
          <a:xfrm>
            <a:off x="246888" y="3881628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2/23–3/1</a:t>
            </a:r>
            <a:endParaRPr/>
          </a:p>
        </p:txBody>
      </p:sp>
      <p:sp>
        <p:nvSpPr>
          <p:cNvPr id="396" name="Google Shape;396;p4"/>
          <p:cNvSpPr txBox="1"/>
          <p:nvPr/>
        </p:nvSpPr>
        <p:spPr>
          <a:xfrm>
            <a:off x="1892808" y="3881628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57</a:t>
            </a:r>
            <a:endParaRPr/>
          </a:p>
        </p:txBody>
      </p:sp>
      <p:sp>
        <p:nvSpPr>
          <p:cNvPr id="397" name="Google Shape;397;p4"/>
          <p:cNvSpPr txBox="1"/>
          <p:nvPr/>
        </p:nvSpPr>
        <p:spPr>
          <a:xfrm>
            <a:off x="2624328" y="3881628"/>
            <a:ext cx="868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398" name="Google Shape;398;p4"/>
          <p:cNvSpPr txBox="1"/>
          <p:nvPr/>
        </p:nvSpPr>
        <p:spPr>
          <a:xfrm>
            <a:off x="3493008" y="3881628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61</a:t>
            </a:r>
            <a:endParaRPr/>
          </a:p>
        </p:txBody>
      </p:sp>
      <p:sp>
        <p:nvSpPr>
          <p:cNvPr id="399" name="Google Shape;399;p4"/>
          <p:cNvSpPr txBox="1"/>
          <p:nvPr/>
        </p:nvSpPr>
        <p:spPr>
          <a:xfrm>
            <a:off x="4224528" y="3881628"/>
            <a:ext cx="777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152%</a:t>
            </a:r>
            <a:endParaRPr/>
          </a:p>
        </p:txBody>
      </p:sp>
      <p:sp>
        <p:nvSpPr>
          <p:cNvPr id="400" name="Google Shape;400;p4"/>
          <p:cNvSpPr txBox="1"/>
          <p:nvPr/>
        </p:nvSpPr>
        <p:spPr>
          <a:xfrm>
            <a:off x="5001768" y="3881628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Met</a:t>
            </a:r>
            <a:endParaRPr/>
          </a:p>
        </p:txBody>
      </p:sp>
      <p:sp>
        <p:nvSpPr>
          <p:cNvPr id="401" name="Google Shape;401;p4"/>
          <p:cNvSpPr/>
          <p:nvPr/>
        </p:nvSpPr>
        <p:spPr>
          <a:xfrm>
            <a:off x="137160" y="4105656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4"/>
          <p:cNvSpPr/>
          <p:nvPr/>
        </p:nvSpPr>
        <p:spPr>
          <a:xfrm>
            <a:off x="137160" y="4105656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4"/>
          <p:cNvSpPr txBox="1"/>
          <p:nvPr/>
        </p:nvSpPr>
        <p:spPr>
          <a:xfrm>
            <a:off x="246888" y="4123944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3/2–3/8</a:t>
            </a:r>
            <a:endParaRPr/>
          </a:p>
        </p:txBody>
      </p:sp>
      <p:sp>
        <p:nvSpPr>
          <p:cNvPr id="404" name="Google Shape;404;p4"/>
          <p:cNvSpPr txBox="1"/>
          <p:nvPr/>
        </p:nvSpPr>
        <p:spPr>
          <a:xfrm>
            <a:off x="1892808" y="4123944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24</a:t>
            </a:r>
            <a:endParaRPr/>
          </a:p>
        </p:txBody>
      </p:sp>
      <p:sp>
        <p:nvSpPr>
          <p:cNvPr id="405" name="Google Shape;405;p4"/>
          <p:cNvSpPr txBox="1"/>
          <p:nvPr/>
        </p:nvSpPr>
        <p:spPr>
          <a:xfrm>
            <a:off x="2624328" y="4123944"/>
            <a:ext cx="868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406" name="Google Shape;406;p4"/>
          <p:cNvSpPr txBox="1"/>
          <p:nvPr/>
        </p:nvSpPr>
        <p:spPr>
          <a:xfrm>
            <a:off x="3493008" y="4123944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</a:t>
            </a:r>
            <a:endParaRPr/>
          </a:p>
        </p:txBody>
      </p:sp>
      <p:sp>
        <p:nvSpPr>
          <p:cNvPr id="407" name="Google Shape;407;p4"/>
          <p:cNvSpPr txBox="1"/>
          <p:nvPr/>
        </p:nvSpPr>
        <p:spPr>
          <a:xfrm>
            <a:off x="4224528" y="4123944"/>
            <a:ext cx="777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65%</a:t>
            </a:r>
            <a:endParaRPr/>
          </a:p>
        </p:txBody>
      </p:sp>
      <p:sp>
        <p:nvSpPr>
          <p:cNvPr id="408" name="Google Shape;408;p4"/>
          <p:cNvSpPr txBox="1"/>
          <p:nvPr/>
        </p:nvSpPr>
        <p:spPr>
          <a:xfrm>
            <a:off x="5001768" y="4123944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✗ Miss</a:t>
            </a:r>
            <a:endParaRPr/>
          </a:p>
        </p:txBody>
      </p:sp>
      <p:sp>
        <p:nvSpPr>
          <p:cNvPr id="409" name="Google Shape;409;p4"/>
          <p:cNvSpPr/>
          <p:nvPr/>
        </p:nvSpPr>
        <p:spPr>
          <a:xfrm>
            <a:off x="137160" y="4347972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4"/>
          <p:cNvSpPr/>
          <p:nvPr/>
        </p:nvSpPr>
        <p:spPr>
          <a:xfrm>
            <a:off x="137160" y="4347972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4"/>
          <p:cNvSpPr txBox="1"/>
          <p:nvPr/>
        </p:nvSpPr>
        <p:spPr>
          <a:xfrm>
            <a:off x="246888" y="4366260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3/9–3/15</a:t>
            </a:r>
            <a:endParaRPr/>
          </a:p>
        </p:txBody>
      </p:sp>
      <p:sp>
        <p:nvSpPr>
          <p:cNvPr id="412" name="Google Shape;412;p4"/>
          <p:cNvSpPr txBox="1"/>
          <p:nvPr/>
        </p:nvSpPr>
        <p:spPr>
          <a:xfrm>
            <a:off x="1892808" y="4366260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413" name="Google Shape;413;p4"/>
          <p:cNvSpPr txBox="1"/>
          <p:nvPr/>
        </p:nvSpPr>
        <p:spPr>
          <a:xfrm>
            <a:off x="2624328" y="4366260"/>
            <a:ext cx="868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</a:t>
            </a:r>
            <a:endParaRPr/>
          </a:p>
        </p:txBody>
      </p:sp>
      <p:sp>
        <p:nvSpPr>
          <p:cNvPr id="414" name="Google Shape;414;p4"/>
          <p:cNvSpPr txBox="1"/>
          <p:nvPr/>
        </p:nvSpPr>
        <p:spPr>
          <a:xfrm>
            <a:off x="3493008" y="4366260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</a:t>
            </a:r>
            <a:endParaRPr/>
          </a:p>
        </p:txBody>
      </p:sp>
      <p:sp>
        <p:nvSpPr>
          <p:cNvPr id="415" name="Google Shape;415;p4"/>
          <p:cNvSpPr txBox="1"/>
          <p:nvPr/>
        </p:nvSpPr>
        <p:spPr>
          <a:xfrm>
            <a:off x="4224528" y="4366260"/>
            <a:ext cx="777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35%</a:t>
            </a:r>
            <a:endParaRPr/>
          </a:p>
        </p:txBody>
      </p:sp>
      <p:sp>
        <p:nvSpPr>
          <p:cNvPr id="416" name="Google Shape;416;p4"/>
          <p:cNvSpPr txBox="1"/>
          <p:nvPr/>
        </p:nvSpPr>
        <p:spPr>
          <a:xfrm>
            <a:off x="5001768" y="4366260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✗ Miss</a:t>
            </a:r>
            <a:endParaRPr/>
          </a:p>
        </p:txBody>
      </p:sp>
      <p:sp>
        <p:nvSpPr>
          <p:cNvPr id="417" name="Google Shape;417;p4"/>
          <p:cNvSpPr/>
          <p:nvPr/>
        </p:nvSpPr>
        <p:spPr>
          <a:xfrm>
            <a:off x="137160" y="4590288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4"/>
          <p:cNvSpPr/>
          <p:nvPr/>
        </p:nvSpPr>
        <p:spPr>
          <a:xfrm>
            <a:off x="137160" y="4590288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4"/>
          <p:cNvSpPr txBox="1"/>
          <p:nvPr/>
        </p:nvSpPr>
        <p:spPr>
          <a:xfrm>
            <a:off x="246888" y="4608576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3/16–3/22</a:t>
            </a:r>
            <a:endParaRPr/>
          </a:p>
        </p:txBody>
      </p:sp>
      <p:sp>
        <p:nvSpPr>
          <p:cNvPr id="420" name="Google Shape;420;p4"/>
          <p:cNvSpPr txBox="1"/>
          <p:nvPr/>
        </p:nvSpPr>
        <p:spPr>
          <a:xfrm>
            <a:off x="1892808" y="4608576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</a:t>
            </a:r>
            <a:endParaRPr/>
          </a:p>
        </p:txBody>
      </p:sp>
      <p:sp>
        <p:nvSpPr>
          <p:cNvPr id="421" name="Google Shape;421;p4"/>
          <p:cNvSpPr txBox="1"/>
          <p:nvPr/>
        </p:nvSpPr>
        <p:spPr>
          <a:xfrm>
            <a:off x="2624328" y="4608576"/>
            <a:ext cx="868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422" name="Google Shape;422;p4"/>
          <p:cNvSpPr txBox="1"/>
          <p:nvPr/>
        </p:nvSpPr>
        <p:spPr>
          <a:xfrm>
            <a:off x="3493008" y="4608576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</a:t>
            </a:r>
            <a:endParaRPr/>
          </a:p>
        </p:txBody>
      </p:sp>
      <p:sp>
        <p:nvSpPr>
          <p:cNvPr id="423" name="Google Shape;423;p4"/>
          <p:cNvSpPr txBox="1"/>
          <p:nvPr/>
        </p:nvSpPr>
        <p:spPr>
          <a:xfrm>
            <a:off x="4224528" y="4608576"/>
            <a:ext cx="777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48%</a:t>
            </a:r>
            <a:endParaRPr/>
          </a:p>
        </p:txBody>
      </p:sp>
      <p:sp>
        <p:nvSpPr>
          <p:cNvPr id="424" name="Google Shape;424;p4"/>
          <p:cNvSpPr txBox="1"/>
          <p:nvPr/>
        </p:nvSpPr>
        <p:spPr>
          <a:xfrm>
            <a:off x="5001768" y="4608576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✗ Miss</a:t>
            </a:r>
            <a:endParaRPr/>
          </a:p>
        </p:txBody>
      </p:sp>
      <p:sp>
        <p:nvSpPr>
          <p:cNvPr id="425" name="Google Shape;425;p4"/>
          <p:cNvSpPr/>
          <p:nvPr/>
        </p:nvSpPr>
        <p:spPr>
          <a:xfrm>
            <a:off x="6199632" y="1600200"/>
            <a:ext cx="5852160" cy="27432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4"/>
          <p:cNvSpPr txBox="1"/>
          <p:nvPr/>
        </p:nvSpPr>
        <p:spPr>
          <a:xfrm>
            <a:off x="6309360" y="1636776"/>
            <a:ext cx="5669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WEEKS 12–22  (Mar–Jun)</a:t>
            </a:r>
            <a:endParaRPr/>
          </a:p>
        </p:txBody>
      </p:sp>
      <p:sp>
        <p:nvSpPr>
          <p:cNvPr id="427" name="Google Shape;427;p4"/>
          <p:cNvSpPr txBox="1"/>
          <p:nvPr/>
        </p:nvSpPr>
        <p:spPr>
          <a:xfrm>
            <a:off x="6309360" y="1938528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Week</a:t>
            </a:r>
            <a:endParaRPr/>
          </a:p>
        </p:txBody>
      </p:sp>
      <p:sp>
        <p:nvSpPr>
          <p:cNvPr id="428" name="Google Shape;428;p4"/>
          <p:cNvSpPr txBox="1"/>
          <p:nvPr/>
        </p:nvSpPr>
        <p:spPr>
          <a:xfrm>
            <a:off x="7955280" y="1938528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Calls</a:t>
            </a:r>
            <a:endParaRPr/>
          </a:p>
        </p:txBody>
      </p:sp>
      <p:sp>
        <p:nvSpPr>
          <p:cNvPr id="429" name="Google Shape;429;p4"/>
          <p:cNvSpPr txBox="1"/>
          <p:nvPr/>
        </p:nvSpPr>
        <p:spPr>
          <a:xfrm>
            <a:off x="8686800" y="1938528"/>
            <a:ext cx="868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Meetings</a:t>
            </a:r>
            <a:endParaRPr/>
          </a:p>
        </p:txBody>
      </p:sp>
      <p:sp>
        <p:nvSpPr>
          <p:cNvPr id="430" name="Google Shape;430;p4"/>
          <p:cNvSpPr txBox="1"/>
          <p:nvPr/>
        </p:nvSpPr>
        <p:spPr>
          <a:xfrm>
            <a:off x="9555480" y="1938528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Total</a:t>
            </a:r>
            <a:endParaRPr/>
          </a:p>
        </p:txBody>
      </p:sp>
      <p:sp>
        <p:nvSpPr>
          <p:cNvPr id="431" name="Google Shape;431;p4"/>
          <p:cNvSpPr txBox="1"/>
          <p:nvPr/>
        </p:nvSpPr>
        <p:spPr>
          <a:xfrm>
            <a:off x="10287000" y="1938528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% Goal</a:t>
            </a:r>
            <a:endParaRPr/>
          </a:p>
        </p:txBody>
      </p:sp>
      <p:sp>
        <p:nvSpPr>
          <p:cNvPr id="432" name="Google Shape;432;p4"/>
          <p:cNvSpPr txBox="1"/>
          <p:nvPr/>
        </p:nvSpPr>
        <p:spPr>
          <a:xfrm>
            <a:off x="11064240" y="1938528"/>
            <a:ext cx="1051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Status</a:t>
            </a:r>
            <a:endParaRPr/>
          </a:p>
        </p:txBody>
      </p:sp>
      <p:sp>
        <p:nvSpPr>
          <p:cNvPr id="433" name="Google Shape;433;p4"/>
          <p:cNvSpPr/>
          <p:nvPr/>
        </p:nvSpPr>
        <p:spPr>
          <a:xfrm>
            <a:off x="6245352" y="2112264"/>
            <a:ext cx="5833872" cy="5486"/>
          </a:xfrm>
          <a:prstGeom prst="rect">
            <a:avLst/>
          </a:prstGeom>
          <a:solidFill>
            <a:srgbClr val="C4B5F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4"/>
          <p:cNvSpPr/>
          <p:nvPr/>
        </p:nvSpPr>
        <p:spPr>
          <a:xfrm>
            <a:off x="6199632" y="2167128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4"/>
          <p:cNvSpPr/>
          <p:nvPr/>
        </p:nvSpPr>
        <p:spPr>
          <a:xfrm>
            <a:off x="6199632" y="2167128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4"/>
          <p:cNvSpPr txBox="1"/>
          <p:nvPr/>
        </p:nvSpPr>
        <p:spPr>
          <a:xfrm>
            <a:off x="6309360" y="2185416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3/23–3/29</a:t>
            </a:r>
            <a:endParaRPr/>
          </a:p>
        </p:txBody>
      </p:sp>
      <p:sp>
        <p:nvSpPr>
          <p:cNvPr id="437" name="Google Shape;437;p4"/>
          <p:cNvSpPr txBox="1"/>
          <p:nvPr/>
        </p:nvSpPr>
        <p:spPr>
          <a:xfrm>
            <a:off x="7955280" y="2185416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438" name="Google Shape;438;p4"/>
          <p:cNvSpPr txBox="1"/>
          <p:nvPr/>
        </p:nvSpPr>
        <p:spPr>
          <a:xfrm>
            <a:off x="8686800" y="2185416"/>
            <a:ext cx="868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</a:t>
            </a:r>
            <a:endParaRPr/>
          </a:p>
        </p:txBody>
      </p:sp>
      <p:sp>
        <p:nvSpPr>
          <p:cNvPr id="439" name="Google Shape;439;p4"/>
          <p:cNvSpPr txBox="1"/>
          <p:nvPr/>
        </p:nvSpPr>
        <p:spPr>
          <a:xfrm>
            <a:off x="9555480" y="2185416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</a:t>
            </a:r>
            <a:endParaRPr/>
          </a:p>
        </p:txBody>
      </p:sp>
      <p:sp>
        <p:nvSpPr>
          <p:cNvPr id="440" name="Google Shape;440;p4"/>
          <p:cNvSpPr txBox="1"/>
          <p:nvPr/>
        </p:nvSpPr>
        <p:spPr>
          <a:xfrm>
            <a:off x="10287000" y="2185416"/>
            <a:ext cx="777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32%</a:t>
            </a:r>
            <a:endParaRPr/>
          </a:p>
        </p:txBody>
      </p:sp>
      <p:sp>
        <p:nvSpPr>
          <p:cNvPr id="441" name="Google Shape;441;p4"/>
          <p:cNvSpPr txBox="1"/>
          <p:nvPr/>
        </p:nvSpPr>
        <p:spPr>
          <a:xfrm>
            <a:off x="11064240" y="2185416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✗ Miss</a:t>
            </a:r>
            <a:endParaRPr/>
          </a:p>
        </p:txBody>
      </p:sp>
      <p:sp>
        <p:nvSpPr>
          <p:cNvPr id="442" name="Google Shape;442;p4"/>
          <p:cNvSpPr/>
          <p:nvPr/>
        </p:nvSpPr>
        <p:spPr>
          <a:xfrm>
            <a:off x="6199632" y="2409444"/>
            <a:ext cx="5852160" cy="242316"/>
          </a:xfrm>
          <a:prstGeom prst="rect">
            <a:avLst/>
          </a:prstGeom>
          <a:solidFill>
            <a:srgbClr val="FFFB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4"/>
          <p:cNvSpPr/>
          <p:nvPr/>
        </p:nvSpPr>
        <p:spPr>
          <a:xfrm>
            <a:off x="6199632" y="2409444"/>
            <a:ext cx="50292" cy="242316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4"/>
          <p:cNvSpPr txBox="1"/>
          <p:nvPr/>
        </p:nvSpPr>
        <p:spPr>
          <a:xfrm>
            <a:off x="6309360" y="2427732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3/30–4/5</a:t>
            </a:r>
            <a:endParaRPr/>
          </a:p>
        </p:txBody>
      </p:sp>
      <p:sp>
        <p:nvSpPr>
          <p:cNvPr id="445" name="Google Shape;445;p4"/>
          <p:cNvSpPr txBox="1"/>
          <p:nvPr/>
        </p:nvSpPr>
        <p:spPr>
          <a:xfrm>
            <a:off x="7955280" y="2427732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30</a:t>
            </a:r>
            <a:endParaRPr/>
          </a:p>
        </p:txBody>
      </p:sp>
      <p:sp>
        <p:nvSpPr>
          <p:cNvPr id="446" name="Google Shape;446;p4"/>
          <p:cNvSpPr txBox="1"/>
          <p:nvPr/>
        </p:nvSpPr>
        <p:spPr>
          <a:xfrm>
            <a:off x="8686800" y="2427732"/>
            <a:ext cx="868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447" name="Google Shape;447;p4"/>
          <p:cNvSpPr txBox="1"/>
          <p:nvPr/>
        </p:nvSpPr>
        <p:spPr>
          <a:xfrm>
            <a:off x="9555480" y="2427732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31</a:t>
            </a:r>
            <a:endParaRPr/>
          </a:p>
        </p:txBody>
      </p:sp>
      <p:sp>
        <p:nvSpPr>
          <p:cNvPr id="448" name="Google Shape;448;p4"/>
          <p:cNvSpPr txBox="1"/>
          <p:nvPr/>
        </p:nvSpPr>
        <p:spPr>
          <a:xfrm>
            <a:off x="10287000" y="2427732"/>
            <a:ext cx="777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78%</a:t>
            </a:r>
            <a:endParaRPr/>
          </a:p>
        </p:txBody>
      </p:sp>
      <p:sp>
        <p:nvSpPr>
          <p:cNvPr id="449" name="Google Shape;449;p4"/>
          <p:cNvSpPr txBox="1"/>
          <p:nvPr/>
        </p:nvSpPr>
        <p:spPr>
          <a:xfrm>
            <a:off x="11064240" y="2427732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~ Near</a:t>
            </a:r>
            <a:endParaRPr/>
          </a:p>
        </p:txBody>
      </p:sp>
      <p:sp>
        <p:nvSpPr>
          <p:cNvPr id="450" name="Google Shape;450;p4"/>
          <p:cNvSpPr/>
          <p:nvPr/>
        </p:nvSpPr>
        <p:spPr>
          <a:xfrm>
            <a:off x="6199632" y="2651760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4"/>
          <p:cNvSpPr/>
          <p:nvPr/>
        </p:nvSpPr>
        <p:spPr>
          <a:xfrm>
            <a:off x="6199632" y="2651760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4"/>
          <p:cNvSpPr txBox="1"/>
          <p:nvPr/>
        </p:nvSpPr>
        <p:spPr>
          <a:xfrm>
            <a:off x="6309360" y="2670048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4/6–4/12</a:t>
            </a:r>
            <a:endParaRPr/>
          </a:p>
        </p:txBody>
      </p:sp>
      <p:sp>
        <p:nvSpPr>
          <p:cNvPr id="453" name="Google Shape;453;p4"/>
          <p:cNvSpPr txBox="1"/>
          <p:nvPr/>
        </p:nvSpPr>
        <p:spPr>
          <a:xfrm>
            <a:off x="7955280" y="2670048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</a:t>
            </a:r>
            <a:endParaRPr/>
          </a:p>
        </p:txBody>
      </p:sp>
      <p:sp>
        <p:nvSpPr>
          <p:cNvPr id="454" name="Google Shape;454;p4"/>
          <p:cNvSpPr txBox="1"/>
          <p:nvPr/>
        </p:nvSpPr>
        <p:spPr>
          <a:xfrm>
            <a:off x="8686800" y="2670048"/>
            <a:ext cx="868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/>
          </a:p>
        </p:txBody>
      </p:sp>
      <p:sp>
        <p:nvSpPr>
          <p:cNvPr id="455" name="Google Shape;455;p4"/>
          <p:cNvSpPr txBox="1"/>
          <p:nvPr/>
        </p:nvSpPr>
        <p:spPr>
          <a:xfrm>
            <a:off x="9555480" y="2670048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17</a:t>
            </a:r>
            <a:endParaRPr/>
          </a:p>
        </p:txBody>
      </p:sp>
      <p:sp>
        <p:nvSpPr>
          <p:cNvPr id="456" name="Google Shape;456;p4"/>
          <p:cNvSpPr txBox="1"/>
          <p:nvPr/>
        </p:nvSpPr>
        <p:spPr>
          <a:xfrm>
            <a:off x="10287000" y="2670048"/>
            <a:ext cx="777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42%</a:t>
            </a:r>
            <a:endParaRPr/>
          </a:p>
        </p:txBody>
      </p:sp>
      <p:sp>
        <p:nvSpPr>
          <p:cNvPr id="457" name="Google Shape;457;p4"/>
          <p:cNvSpPr txBox="1"/>
          <p:nvPr/>
        </p:nvSpPr>
        <p:spPr>
          <a:xfrm>
            <a:off x="11064240" y="2670048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✗ Miss</a:t>
            </a:r>
            <a:endParaRPr/>
          </a:p>
        </p:txBody>
      </p:sp>
      <p:sp>
        <p:nvSpPr>
          <p:cNvPr id="458" name="Google Shape;458;p4"/>
          <p:cNvSpPr/>
          <p:nvPr/>
        </p:nvSpPr>
        <p:spPr>
          <a:xfrm>
            <a:off x="6199632" y="2894076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4"/>
          <p:cNvSpPr/>
          <p:nvPr/>
        </p:nvSpPr>
        <p:spPr>
          <a:xfrm>
            <a:off x="6199632" y="2894076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4"/>
          <p:cNvSpPr txBox="1"/>
          <p:nvPr/>
        </p:nvSpPr>
        <p:spPr>
          <a:xfrm>
            <a:off x="6309360" y="2912364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4/13–4/19</a:t>
            </a:r>
            <a:endParaRPr/>
          </a:p>
        </p:txBody>
      </p:sp>
      <p:sp>
        <p:nvSpPr>
          <p:cNvPr id="461" name="Google Shape;461;p4"/>
          <p:cNvSpPr txBox="1"/>
          <p:nvPr/>
        </p:nvSpPr>
        <p:spPr>
          <a:xfrm>
            <a:off x="7955280" y="2912364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39</a:t>
            </a:r>
            <a:endParaRPr/>
          </a:p>
        </p:txBody>
      </p:sp>
      <p:sp>
        <p:nvSpPr>
          <p:cNvPr id="462" name="Google Shape;462;p4"/>
          <p:cNvSpPr txBox="1"/>
          <p:nvPr/>
        </p:nvSpPr>
        <p:spPr>
          <a:xfrm>
            <a:off x="8686800" y="2912364"/>
            <a:ext cx="868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463" name="Google Shape;463;p4"/>
          <p:cNvSpPr txBox="1"/>
          <p:nvPr/>
        </p:nvSpPr>
        <p:spPr>
          <a:xfrm>
            <a:off x="9555480" y="2912364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43</a:t>
            </a:r>
            <a:endParaRPr/>
          </a:p>
        </p:txBody>
      </p:sp>
      <p:sp>
        <p:nvSpPr>
          <p:cNvPr id="464" name="Google Shape;464;p4"/>
          <p:cNvSpPr txBox="1"/>
          <p:nvPr/>
        </p:nvSpPr>
        <p:spPr>
          <a:xfrm>
            <a:off x="10287000" y="2912364"/>
            <a:ext cx="777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108%</a:t>
            </a:r>
            <a:endParaRPr/>
          </a:p>
        </p:txBody>
      </p:sp>
      <p:sp>
        <p:nvSpPr>
          <p:cNvPr id="465" name="Google Shape;465;p4"/>
          <p:cNvSpPr txBox="1"/>
          <p:nvPr/>
        </p:nvSpPr>
        <p:spPr>
          <a:xfrm>
            <a:off x="11064240" y="2912364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Met</a:t>
            </a:r>
            <a:endParaRPr/>
          </a:p>
        </p:txBody>
      </p:sp>
      <p:sp>
        <p:nvSpPr>
          <p:cNvPr id="466" name="Google Shape;466;p4"/>
          <p:cNvSpPr/>
          <p:nvPr/>
        </p:nvSpPr>
        <p:spPr>
          <a:xfrm>
            <a:off x="6199632" y="3136392"/>
            <a:ext cx="5852160" cy="242316"/>
          </a:xfrm>
          <a:prstGeom prst="rect">
            <a:avLst/>
          </a:prstGeom>
          <a:solidFill>
            <a:srgbClr val="FFFB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4"/>
          <p:cNvSpPr/>
          <p:nvPr/>
        </p:nvSpPr>
        <p:spPr>
          <a:xfrm>
            <a:off x="6199632" y="3136392"/>
            <a:ext cx="50292" cy="242316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4"/>
          <p:cNvSpPr txBox="1"/>
          <p:nvPr/>
        </p:nvSpPr>
        <p:spPr>
          <a:xfrm>
            <a:off x="6309360" y="3154680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4/20–4/26</a:t>
            </a:r>
            <a:endParaRPr/>
          </a:p>
        </p:txBody>
      </p:sp>
      <p:sp>
        <p:nvSpPr>
          <p:cNvPr id="469" name="Google Shape;469;p4"/>
          <p:cNvSpPr txBox="1"/>
          <p:nvPr/>
        </p:nvSpPr>
        <p:spPr>
          <a:xfrm>
            <a:off x="7955280" y="3154680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28</a:t>
            </a:r>
            <a:endParaRPr/>
          </a:p>
        </p:txBody>
      </p:sp>
      <p:sp>
        <p:nvSpPr>
          <p:cNvPr id="470" name="Google Shape;470;p4"/>
          <p:cNvSpPr txBox="1"/>
          <p:nvPr/>
        </p:nvSpPr>
        <p:spPr>
          <a:xfrm>
            <a:off x="8686800" y="3154680"/>
            <a:ext cx="868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/>
          </a:p>
        </p:txBody>
      </p:sp>
      <p:sp>
        <p:nvSpPr>
          <p:cNvPr id="471" name="Google Shape;471;p4"/>
          <p:cNvSpPr txBox="1"/>
          <p:nvPr/>
        </p:nvSpPr>
        <p:spPr>
          <a:xfrm>
            <a:off x="9555480" y="3154680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34</a:t>
            </a:r>
            <a:endParaRPr/>
          </a:p>
        </p:txBody>
      </p:sp>
      <p:sp>
        <p:nvSpPr>
          <p:cNvPr id="472" name="Google Shape;472;p4"/>
          <p:cNvSpPr txBox="1"/>
          <p:nvPr/>
        </p:nvSpPr>
        <p:spPr>
          <a:xfrm>
            <a:off x="10287000" y="3154680"/>
            <a:ext cx="777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85%</a:t>
            </a:r>
            <a:endParaRPr/>
          </a:p>
        </p:txBody>
      </p:sp>
      <p:sp>
        <p:nvSpPr>
          <p:cNvPr id="473" name="Google Shape;473;p4"/>
          <p:cNvSpPr txBox="1"/>
          <p:nvPr/>
        </p:nvSpPr>
        <p:spPr>
          <a:xfrm>
            <a:off x="11064240" y="3154680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~ Near</a:t>
            </a:r>
            <a:endParaRPr/>
          </a:p>
        </p:txBody>
      </p:sp>
      <p:sp>
        <p:nvSpPr>
          <p:cNvPr id="474" name="Google Shape;474;p4"/>
          <p:cNvSpPr/>
          <p:nvPr/>
        </p:nvSpPr>
        <p:spPr>
          <a:xfrm>
            <a:off x="6199632" y="3378708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4"/>
          <p:cNvSpPr/>
          <p:nvPr/>
        </p:nvSpPr>
        <p:spPr>
          <a:xfrm>
            <a:off x="6199632" y="3378708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4"/>
          <p:cNvSpPr txBox="1"/>
          <p:nvPr/>
        </p:nvSpPr>
        <p:spPr>
          <a:xfrm>
            <a:off x="6309360" y="3396996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4/27–5/3</a:t>
            </a:r>
            <a:endParaRPr/>
          </a:p>
        </p:txBody>
      </p:sp>
      <p:sp>
        <p:nvSpPr>
          <p:cNvPr id="477" name="Google Shape;477;p4"/>
          <p:cNvSpPr txBox="1"/>
          <p:nvPr/>
        </p:nvSpPr>
        <p:spPr>
          <a:xfrm>
            <a:off x="7955280" y="3396996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42</a:t>
            </a:r>
            <a:endParaRPr/>
          </a:p>
        </p:txBody>
      </p:sp>
      <p:sp>
        <p:nvSpPr>
          <p:cNvPr id="478" name="Google Shape;478;p4"/>
          <p:cNvSpPr txBox="1"/>
          <p:nvPr/>
        </p:nvSpPr>
        <p:spPr>
          <a:xfrm>
            <a:off x="8686800" y="3396996"/>
            <a:ext cx="868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479" name="Google Shape;479;p4"/>
          <p:cNvSpPr txBox="1"/>
          <p:nvPr/>
        </p:nvSpPr>
        <p:spPr>
          <a:xfrm>
            <a:off x="9555480" y="3396996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47</a:t>
            </a:r>
            <a:endParaRPr/>
          </a:p>
        </p:txBody>
      </p:sp>
      <p:sp>
        <p:nvSpPr>
          <p:cNvPr id="480" name="Google Shape;480;p4"/>
          <p:cNvSpPr txBox="1"/>
          <p:nvPr/>
        </p:nvSpPr>
        <p:spPr>
          <a:xfrm>
            <a:off x="10287000" y="3396996"/>
            <a:ext cx="777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118%</a:t>
            </a:r>
            <a:endParaRPr/>
          </a:p>
        </p:txBody>
      </p:sp>
      <p:sp>
        <p:nvSpPr>
          <p:cNvPr id="481" name="Google Shape;481;p4"/>
          <p:cNvSpPr txBox="1"/>
          <p:nvPr/>
        </p:nvSpPr>
        <p:spPr>
          <a:xfrm>
            <a:off x="11064240" y="3396996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Met</a:t>
            </a:r>
            <a:endParaRPr/>
          </a:p>
        </p:txBody>
      </p:sp>
      <p:sp>
        <p:nvSpPr>
          <p:cNvPr id="482" name="Google Shape;482;p4"/>
          <p:cNvSpPr/>
          <p:nvPr/>
        </p:nvSpPr>
        <p:spPr>
          <a:xfrm>
            <a:off x="6199632" y="3621024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4"/>
          <p:cNvSpPr/>
          <p:nvPr/>
        </p:nvSpPr>
        <p:spPr>
          <a:xfrm>
            <a:off x="6199632" y="3621024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4"/>
          <p:cNvSpPr txBox="1"/>
          <p:nvPr/>
        </p:nvSpPr>
        <p:spPr>
          <a:xfrm>
            <a:off x="6309360" y="3639312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5/4–5/10</a:t>
            </a:r>
            <a:endParaRPr/>
          </a:p>
        </p:txBody>
      </p:sp>
      <p:sp>
        <p:nvSpPr>
          <p:cNvPr id="485" name="Google Shape;485;p4"/>
          <p:cNvSpPr txBox="1"/>
          <p:nvPr/>
        </p:nvSpPr>
        <p:spPr>
          <a:xfrm>
            <a:off x="7955280" y="3639312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486" name="Google Shape;486;p4"/>
          <p:cNvSpPr txBox="1"/>
          <p:nvPr/>
        </p:nvSpPr>
        <p:spPr>
          <a:xfrm>
            <a:off x="8686800" y="3639312"/>
            <a:ext cx="868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487" name="Google Shape;487;p4"/>
          <p:cNvSpPr txBox="1"/>
          <p:nvPr/>
        </p:nvSpPr>
        <p:spPr>
          <a:xfrm>
            <a:off x="9555480" y="3639312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488" name="Google Shape;488;p4"/>
          <p:cNvSpPr txBox="1"/>
          <p:nvPr/>
        </p:nvSpPr>
        <p:spPr>
          <a:xfrm>
            <a:off x="10287000" y="3639312"/>
            <a:ext cx="777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0%</a:t>
            </a:r>
            <a:endParaRPr/>
          </a:p>
        </p:txBody>
      </p:sp>
      <p:sp>
        <p:nvSpPr>
          <p:cNvPr id="489" name="Google Shape;489;p4"/>
          <p:cNvSpPr txBox="1"/>
          <p:nvPr/>
        </p:nvSpPr>
        <p:spPr>
          <a:xfrm>
            <a:off x="11064240" y="3639312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✗ Miss</a:t>
            </a:r>
            <a:endParaRPr/>
          </a:p>
        </p:txBody>
      </p:sp>
      <p:sp>
        <p:nvSpPr>
          <p:cNvPr id="490" name="Google Shape;490;p4"/>
          <p:cNvSpPr/>
          <p:nvPr/>
        </p:nvSpPr>
        <p:spPr>
          <a:xfrm>
            <a:off x="6199632" y="3863340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4"/>
          <p:cNvSpPr/>
          <p:nvPr/>
        </p:nvSpPr>
        <p:spPr>
          <a:xfrm>
            <a:off x="6199632" y="3863340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4"/>
          <p:cNvSpPr txBox="1"/>
          <p:nvPr/>
        </p:nvSpPr>
        <p:spPr>
          <a:xfrm>
            <a:off x="6309360" y="3881628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5/11–5/17</a:t>
            </a:r>
            <a:endParaRPr/>
          </a:p>
        </p:txBody>
      </p:sp>
      <p:sp>
        <p:nvSpPr>
          <p:cNvPr id="493" name="Google Shape;493;p4"/>
          <p:cNvSpPr txBox="1"/>
          <p:nvPr/>
        </p:nvSpPr>
        <p:spPr>
          <a:xfrm>
            <a:off x="7955280" y="3881628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55</a:t>
            </a:r>
            <a:endParaRPr/>
          </a:p>
        </p:txBody>
      </p:sp>
      <p:sp>
        <p:nvSpPr>
          <p:cNvPr id="494" name="Google Shape;494;p4"/>
          <p:cNvSpPr txBox="1"/>
          <p:nvPr/>
        </p:nvSpPr>
        <p:spPr>
          <a:xfrm>
            <a:off x="8686800" y="3881628"/>
            <a:ext cx="868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495" name="Google Shape;495;p4"/>
          <p:cNvSpPr txBox="1"/>
          <p:nvPr/>
        </p:nvSpPr>
        <p:spPr>
          <a:xfrm>
            <a:off x="9555480" y="3881628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57</a:t>
            </a:r>
            <a:endParaRPr/>
          </a:p>
        </p:txBody>
      </p:sp>
      <p:sp>
        <p:nvSpPr>
          <p:cNvPr id="496" name="Google Shape;496;p4"/>
          <p:cNvSpPr txBox="1"/>
          <p:nvPr/>
        </p:nvSpPr>
        <p:spPr>
          <a:xfrm>
            <a:off x="10287000" y="3881628"/>
            <a:ext cx="777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142%</a:t>
            </a:r>
            <a:endParaRPr/>
          </a:p>
        </p:txBody>
      </p:sp>
      <p:sp>
        <p:nvSpPr>
          <p:cNvPr id="497" name="Google Shape;497;p4"/>
          <p:cNvSpPr txBox="1"/>
          <p:nvPr/>
        </p:nvSpPr>
        <p:spPr>
          <a:xfrm>
            <a:off x="11064240" y="3881628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Met</a:t>
            </a:r>
            <a:endParaRPr/>
          </a:p>
        </p:txBody>
      </p:sp>
      <p:sp>
        <p:nvSpPr>
          <p:cNvPr id="498" name="Google Shape;498;p4"/>
          <p:cNvSpPr/>
          <p:nvPr/>
        </p:nvSpPr>
        <p:spPr>
          <a:xfrm>
            <a:off x="6199632" y="4105656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4"/>
          <p:cNvSpPr/>
          <p:nvPr/>
        </p:nvSpPr>
        <p:spPr>
          <a:xfrm>
            <a:off x="6199632" y="4105656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4"/>
          <p:cNvSpPr txBox="1"/>
          <p:nvPr/>
        </p:nvSpPr>
        <p:spPr>
          <a:xfrm>
            <a:off x="6309360" y="4123944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5/18–5/24</a:t>
            </a:r>
            <a:endParaRPr/>
          </a:p>
        </p:txBody>
      </p:sp>
      <p:sp>
        <p:nvSpPr>
          <p:cNvPr id="501" name="Google Shape;501;p4"/>
          <p:cNvSpPr txBox="1"/>
          <p:nvPr/>
        </p:nvSpPr>
        <p:spPr>
          <a:xfrm>
            <a:off x="7955280" y="4123944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72</a:t>
            </a:r>
            <a:endParaRPr/>
          </a:p>
        </p:txBody>
      </p:sp>
      <p:sp>
        <p:nvSpPr>
          <p:cNvPr id="502" name="Google Shape;502;p4"/>
          <p:cNvSpPr txBox="1"/>
          <p:nvPr/>
        </p:nvSpPr>
        <p:spPr>
          <a:xfrm>
            <a:off x="8686800" y="4123944"/>
            <a:ext cx="868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503" name="Google Shape;503;p4"/>
          <p:cNvSpPr txBox="1"/>
          <p:nvPr/>
        </p:nvSpPr>
        <p:spPr>
          <a:xfrm>
            <a:off x="9555480" y="4123944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72</a:t>
            </a:r>
            <a:endParaRPr/>
          </a:p>
        </p:txBody>
      </p:sp>
      <p:sp>
        <p:nvSpPr>
          <p:cNvPr id="504" name="Google Shape;504;p4"/>
          <p:cNvSpPr txBox="1"/>
          <p:nvPr/>
        </p:nvSpPr>
        <p:spPr>
          <a:xfrm>
            <a:off x="10287000" y="4123944"/>
            <a:ext cx="777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180%</a:t>
            </a:r>
            <a:endParaRPr/>
          </a:p>
        </p:txBody>
      </p:sp>
      <p:sp>
        <p:nvSpPr>
          <p:cNvPr id="505" name="Google Shape;505;p4"/>
          <p:cNvSpPr txBox="1"/>
          <p:nvPr/>
        </p:nvSpPr>
        <p:spPr>
          <a:xfrm>
            <a:off x="11064240" y="4123944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Met</a:t>
            </a:r>
            <a:endParaRPr/>
          </a:p>
        </p:txBody>
      </p:sp>
      <p:sp>
        <p:nvSpPr>
          <p:cNvPr id="506" name="Google Shape;506;p4"/>
          <p:cNvSpPr/>
          <p:nvPr/>
        </p:nvSpPr>
        <p:spPr>
          <a:xfrm>
            <a:off x="6199632" y="4347972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4"/>
          <p:cNvSpPr/>
          <p:nvPr/>
        </p:nvSpPr>
        <p:spPr>
          <a:xfrm>
            <a:off x="6199632" y="4347972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4"/>
          <p:cNvSpPr txBox="1"/>
          <p:nvPr/>
        </p:nvSpPr>
        <p:spPr>
          <a:xfrm>
            <a:off x="6309360" y="4366260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5/25–5/31</a:t>
            </a:r>
            <a:endParaRPr/>
          </a:p>
        </p:txBody>
      </p:sp>
      <p:sp>
        <p:nvSpPr>
          <p:cNvPr id="509" name="Google Shape;509;p4"/>
          <p:cNvSpPr txBox="1"/>
          <p:nvPr/>
        </p:nvSpPr>
        <p:spPr>
          <a:xfrm>
            <a:off x="7955280" y="4366260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45</a:t>
            </a:r>
            <a:endParaRPr/>
          </a:p>
        </p:txBody>
      </p:sp>
      <p:sp>
        <p:nvSpPr>
          <p:cNvPr id="510" name="Google Shape;510;p4"/>
          <p:cNvSpPr txBox="1"/>
          <p:nvPr/>
        </p:nvSpPr>
        <p:spPr>
          <a:xfrm>
            <a:off x="8686800" y="4366260"/>
            <a:ext cx="868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511" name="Google Shape;511;p4"/>
          <p:cNvSpPr txBox="1"/>
          <p:nvPr/>
        </p:nvSpPr>
        <p:spPr>
          <a:xfrm>
            <a:off x="9555480" y="4366260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47</a:t>
            </a:r>
            <a:endParaRPr/>
          </a:p>
        </p:txBody>
      </p:sp>
      <p:sp>
        <p:nvSpPr>
          <p:cNvPr id="512" name="Google Shape;512;p4"/>
          <p:cNvSpPr txBox="1"/>
          <p:nvPr/>
        </p:nvSpPr>
        <p:spPr>
          <a:xfrm>
            <a:off x="10287000" y="4366260"/>
            <a:ext cx="777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118%</a:t>
            </a:r>
            <a:endParaRPr/>
          </a:p>
        </p:txBody>
      </p:sp>
      <p:sp>
        <p:nvSpPr>
          <p:cNvPr id="513" name="Google Shape;513;p4"/>
          <p:cNvSpPr txBox="1"/>
          <p:nvPr/>
        </p:nvSpPr>
        <p:spPr>
          <a:xfrm>
            <a:off x="11064240" y="4366260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Met</a:t>
            </a:r>
            <a:endParaRPr/>
          </a:p>
        </p:txBody>
      </p:sp>
      <p:sp>
        <p:nvSpPr>
          <p:cNvPr id="514" name="Google Shape;514;p4"/>
          <p:cNvSpPr/>
          <p:nvPr/>
        </p:nvSpPr>
        <p:spPr>
          <a:xfrm>
            <a:off x="6199632" y="4590288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4"/>
          <p:cNvSpPr/>
          <p:nvPr/>
        </p:nvSpPr>
        <p:spPr>
          <a:xfrm>
            <a:off x="6199632" y="4590288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4"/>
          <p:cNvSpPr txBox="1"/>
          <p:nvPr/>
        </p:nvSpPr>
        <p:spPr>
          <a:xfrm>
            <a:off x="6309360" y="4608576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6/1–6/1*</a:t>
            </a:r>
            <a:endParaRPr/>
          </a:p>
        </p:txBody>
      </p:sp>
      <p:sp>
        <p:nvSpPr>
          <p:cNvPr id="517" name="Google Shape;517;p4"/>
          <p:cNvSpPr txBox="1"/>
          <p:nvPr/>
        </p:nvSpPr>
        <p:spPr>
          <a:xfrm>
            <a:off x="7955280" y="4608576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518" name="Google Shape;518;p4"/>
          <p:cNvSpPr txBox="1"/>
          <p:nvPr/>
        </p:nvSpPr>
        <p:spPr>
          <a:xfrm>
            <a:off x="8686800" y="4608576"/>
            <a:ext cx="868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519" name="Google Shape;519;p4"/>
          <p:cNvSpPr txBox="1"/>
          <p:nvPr/>
        </p:nvSpPr>
        <p:spPr>
          <a:xfrm>
            <a:off x="9555480" y="4608576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520" name="Google Shape;520;p4"/>
          <p:cNvSpPr txBox="1"/>
          <p:nvPr/>
        </p:nvSpPr>
        <p:spPr>
          <a:xfrm>
            <a:off x="10287000" y="4608576"/>
            <a:ext cx="777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5%</a:t>
            </a:r>
            <a:endParaRPr/>
          </a:p>
        </p:txBody>
      </p:sp>
      <p:sp>
        <p:nvSpPr>
          <p:cNvPr id="521" name="Google Shape;521;p4"/>
          <p:cNvSpPr txBox="1"/>
          <p:nvPr/>
        </p:nvSpPr>
        <p:spPr>
          <a:xfrm>
            <a:off x="11064240" y="4608576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✗ Miss</a:t>
            </a:r>
            <a:endParaRPr/>
          </a:p>
        </p:txBody>
      </p:sp>
      <p:sp>
        <p:nvSpPr>
          <p:cNvPr id="522" name="Google Shape;522;p4"/>
          <p:cNvSpPr txBox="1"/>
          <p:nvPr/>
        </p:nvSpPr>
        <p:spPr>
          <a:xfrm>
            <a:off x="137160" y="6528816"/>
            <a:ext cx="1179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Source: HubSpot CRM  |  Calls + meetings only (emails excluded)  |  * = current/partial week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5"/>
          <p:cNvSpPr txBox="1"/>
          <p:nvPr/>
        </p:nvSpPr>
        <p:spPr>
          <a:xfrm>
            <a:off x="320040" y="73152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 Growth  —  Ron Douglas</a:t>
            </a:r>
            <a:endParaRPr/>
          </a:p>
        </p:txBody>
      </p:sp>
      <p:sp>
        <p:nvSpPr>
          <p:cNvPr id="529" name="Google Shape;529;p5"/>
          <p:cNvSpPr txBox="1"/>
          <p:nvPr/>
        </p:nvSpPr>
        <p:spPr>
          <a:xfrm>
            <a:off x="320040" y="457200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4B5F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Jan–Jun 2026 vs 2025  |  Green = growth  |  Red = decline  |  Hit ratio = binds / submissions</a:t>
            </a:r>
            <a:endParaRPr/>
          </a:p>
        </p:txBody>
      </p:sp>
      <p:sp>
        <p:nvSpPr>
          <p:cNvPr id="530" name="Google Shape;530;p5"/>
          <p:cNvSpPr/>
          <p:nvPr/>
        </p:nvSpPr>
        <p:spPr>
          <a:xfrm>
            <a:off x="137160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14585 ▼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YTD Submissions</a:t>
            </a:r>
            <a:endParaRPr/>
          </a:p>
        </p:txBody>
      </p:sp>
      <p:sp>
        <p:nvSpPr>
          <p:cNvPr id="531" name="Google Shape;531;p5"/>
          <p:cNvSpPr/>
          <p:nvPr/>
        </p:nvSpPr>
        <p:spPr>
          <a:xfrm>
            <a:off x="2542580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704 ▲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YTD Binds</a:t>
            </a:r>
            <a:endParaRPr/>
          </a:p>
        </p:txBody>
      </p:sp>
      <p:sp>
        <p:nvSpPr>
          <p:cNvPr id="532" name="Google Shape;532;p5"/>
          <p:cNvSpPr/>
          <p:nvPr/>
        </p:nvSpPr>
        <p:spPr>
          <a:xfrm>
            <a:off x="4948001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4.8% ▲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533" name="Google Shape;533;p5"/>
          <p:cNvSpPr/>
          <p:nvPr/>
        </p:nvSpPr>
        <p:spPr>
          <a:xfrm>
            <a:off x="7353421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-2.4%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Subs YOY vs 2025</a:t>
            </a:r>
            <a:endParaRPr/>
          </a:p>
        </p:txBody>
      </p:sp>
      <p:sp>
        <p:nvSpPr>
          <p:cNvPr id="534" name="Google Shape;534;p5"/>
          <p:cNvSpPr/>
          <p:nvPr/>
        </p:nvSpPr>
        <p:spPr>
          <a:xfrm>
            <a:off x="9758842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-57.9%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 YOY vs 2025</a:t>
            </a:r>
            <a:endParaRPr/>
          </a:p>
        </p:txBody>
      </p:sp>
      <p:sp>
        <p:nvSpPr>
          <p:cNvPr id="535" name="Google Shape;535;p5"/>
          <p:cNvSpPr/>
          <p:nvPr/>
        </p:nvSpPr>
        <p:spPr>
          <a:xfrm>
            <a:off x="137160" y="1600200"/>
            <a:ext cx="5212080" cy="27432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5"/>
          <p:cNvSpPr txBox="1"/>
          <p:nvPr/>
        </p:nvSpPr>
        <p:spPr>
          <a:xfrm>
            <a:off x="246888" y="1636776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MONTHLY BREAKDOWN  —  2026 vs 2025</a:t>
            </a:r>
            <a:endParaRPr/>
          </a:p>
        </p:txBody>
      </p:sp>
      <p:sp>
        <p:nvSpPr>
          <p:cNvPr id="537" name="Google Shape;537;p5"/>
          <p:cNvSpPr txBox="1"/>
          <p:nvPr/>
        </p:nvSpPr>
        <p:spPr>
          <a:xfrm>
            <a:off x="246888" y="1938528"/>
            <a:ext cx="5669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538" name="Google Shape;538;p5"/>
          <p:cNvSpPr txBox="1"/>
          <p:nvPr/>
        </p:nvSpPr>
        <p:spPr>
          <a:xfrm>
            <a:off x="813816" y="1938528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2026 Subs</a:t>
            </a:r>
            <a:endParaRPr/>
          </a:p>
        </p:txBody>
      </p:sp>
      <p:sp>
        <p:nvSpPr>
          <p:cNvPr id="539" name="Google Shape;539;p5"/>
          <p:cNvSpPr txBox="1"/>
          <p:nvPr/>
        </p:nvSpPr>
        <p:spPr>
          <a:xfrm>
            <a:off x="1819656" y="1938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2026 Binds</a:t>
            </a:r>
            <a:endParaRPr/>
          </a:p>
        </p:txBody>
      </p:sp>
      <p:sp>
        <p:nvSpPr>
          <p:cNvPr id="540" name="Google Shape;540;p5"/>
          <p:cNvSpPr txBox="1"/>
          <p:nvPr/>
        </p:nvSpPr>
        <p:spPr>
          <a:xfrm>
            <a:off x="2734056" y="1938528"/>
            <a:ext cx="6217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%</a:t>
            </a:r>
            <a:endParaRPr/>
          </a:p>
        </p:txBody>
      </p:sp>
      <p:sp>
        <p:nvSpPr>
          <p:cNvPr id="541" name="Google Shape;541;p5"/>
          <p:cNvSpPr txBox="1"/>
          <p:nvPr/>
        </p:nvSpPr>
        <p:spPr>
          <a:xfrm>
            <a:off x="3355848" y="193852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2025 Subs</a:t>
            </a:r>
            <a:endParaRPr/>
          </a:p>
        </p:txBody>
      </p:sp>
      <p:sp>
        <p:nvSpPr>
          <p:cNvPr id="542" name="Google Shape;542;p5"/>
          <p:cNvSpPr txBox="1"/>
          <p:nvPr/>
        </p:nvSpPr>
        <p:spPr>
          <a:xfrm>
            <a:off x="4270248" y="1938528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YoY %</a:t>
            </a:r>
            <a:endParaRPr/>
          </a:p>
        </p:txBody>
      </p:sp>
      <p:sp>
        <p:nvSpPr>
          <p:cNvPr id="543" name="Google Shape;543;p5"/>
          <p:cNvSpPr/>
          <p:nvPr/>
        </p:nvSpPr>
        <p:spPr>
          <a:xfrm>
            <a:off x="182880" y="2112264"/>
            <a:ext cx="5056632" cy="5486"/>
          </a:xfrm>
          <a:prstGeom prst="rect">
            <a:avLst/>
          </a:prstGeom>
          <a:solidFill>
            <a:srgbClr val="C4B5F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5"/>
          <p:cNvSpPr/>
          <p:nvPr/>
        </p:nvSpPr>
        <p:spPr>
          <a:xfrm>
            <a:off x="137160" y="2157984"/>
            <a:ext cx="5212080" cy="333756"/>
          </a:xfrm>
          <a:prstGeom prst="rect">
            <a:avLst/>
          </a:prstGeom>
          <a:solidFill>
            <a:srgbClr val="F5F3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5"/>
          <p:cNvSpPr txBox="1"/>
          <p:nvPr/>
        </p:nvSpPr>
        <p:spPr>
          <a:xfrm>
            <a:off x="246888" y="2203704"/>
            <a:ext cx="5669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</a:t>
            </a:r>
            <a:endParaRPr/>
          </a:p>
        </p:txBody>
      </p:sp>
      <p:sp>
        <p:nvSpPr>
          <p:cNvPr id="546" name="Google Shape;546;p5"/>
          <p:cNvSpPr txBox="1"/>
          <p:nvPr/>
        </p:nvSpPr>
        <p:spPr>
          <a:xfrm>
            <a:off x="813816" y="2203704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2,744</a:t>
            </a:r>
            <a:endParaRPr/>
          </a:p>
        </p:txBody>
      </p:sp>
      <p:sp>
        <p:nvSpPr>
          <p:cNvPr id="547" name="Google Shape;547;p5"/>
          <p:cNvSpPr txBox="1"/>
          <p:nvPr/>
        </p:nvSpPr>
        <p:spPr>
          <a:xfrm>
            <a:off x="1819656" y="2203704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120</a:t>
            </a:r>
            <a:endParaRPr/>
          </a:p>
        </p:txBody>
      </p:sp>
      <p:sp>
        <p:nvSpPr>
          <p:cNvPr id="548" name="Google Shape;548;p5"/>
          <p:cNvSpPr txBox="1"/>
          <p:nvPr/>
        </p:nvSpPr>
        <p:spPr>
          <a:xfrm>
            <a:off x="2734056" y="2203704"/>
            <a:ext cx="6217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4.4%</a:t>
            </a:r>
            <a:endParaRPr/>
          </a:p>
        </p:txBody>
      </p:sp>
      <p:sp>
        <p:nvSpPr>
          <p:cNvPr id="549" name="Google Shape;549;p5"/>
          <p:cNvSpPr txBox="1"/>
          <p:nvPr/>
        </p:nvSpPr>
        <p:spPr>
          <a:xfrm>
            <a:off x="3355848" y="2203704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2,422</a:t>
            </a:r>
            <a:endParaRPr/>
          </a:p>
        </p:txBody>
      </p:sp>
      <p:sp>
        <p:nvSpPr>
          <p:cNvPr id="550" name="Google Shape;550;p5"/>
          <p:cNvSpPr txBox="1"/>
          <p:nvPr/>
        </p:nvSpPr>
        <p:spPr>
          <a:xfrm>
            <a:off x="4270248" y="2203704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+13%</a:t>
            </a:r>
            <a:endParaRPr/>
          </a:p>
        </p:txBody>
      </p:sp>
      <p:sp>
        <p:nvSpPr>
          <p:cNvPr id="551" name="Google Shape;551;p5"/>
          <p:cNvSpPr txBox="1"/>
          <p:nvPr/>
        </p:nvSpPr>
        <p:spPr>
          <a:xfrm>
            <a:off x="246888" y="2519172"/>
            <a:ext cx="5669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</a:t>
            </a:r>
            <a:endParaRPr/>
          </a:p>
        </p:txBody>
      </p:sp>
      <p:sp>
        <p:nvSpPr>
          <p:cNvPr id="552" name="Google Shape;552;p5"/>
          <p:cNvSpPr txBox="1"/>
          <p:nvPr/>
        </p:nvSpPr>
        <p:spPr>
          <a:xfrm>
            <a:off x="813816" y="2519172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2,776</a:t>
            </a:r>
            <a:endParaRPr/>
          </a:p>
        </p:txBody>
      </p:sp>
      <p:sp>
        <p:nvSpPr>
          <p:cNvPr id="553" name="Google Shape;553;p5"/>
          <p:cNvSpPr txBox="1"/>
          <p:nvPr/>
        </p:nvSpPr>
        <p:spPr>
          <a:xfrm>
            <a:off x="1819656" y="2519172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111</a:t>
            </a:r>
            <a:endParaRPr/>
          </a:p>
        </p:txBody>
      </p:sp>
      <p:sp>
        <p:nvSpPr>
          <p:cNvPr id="554" name="Google Shape;554;p5"/>
          <p:cNvSpPr txBox="1"/>
          <p:nvPr/>
        </p:nvSpPr>
        <p:spPr>
          <a:xfrm>
            <a:off x="2734056" y="2519172"/>
            <a:ext cx="6217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4.0%</a:t>
            </a:r>
            <a:endParaRPr/>
          </a:p>
        </p:txBody>
      </p:sp>
      <p:sp>
        <p:nvSpPr>
          <p:cNvPr id="555" name="Google Shape;555;p5"/>
          <p:cNvSpPr txBox="1"/>
          <p:nvPr/>
        </p:nvSpPr>
        <p:spPr>
          <a:xfrm>
            <a:off x="3355848" y="2519172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2,109</a:t>
            </a:r>
            <a:endParaRPr/>
          </a:p>
        </p:txBody>
      </p:sp>
      <p:sp>
        <p:nvSpPr>
          <p:cNvPr id="556" name="Google Shape;556;p5"/>
          <p:cNvSpPr txBox="1"/>
          <p:nvPr/>
        </p:nvSpPr>
        <p:spPr>
          <a:xfrm>
            <a:off x="4270248" y="2519172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+32%</a:t>
            </a:r>
            <a:endParaRPr/>
          </a:p>
        </p:txBody>
      </p:sp>
      <p:sp>
        <p:nvSpPr>
          <p:cNvPr id="557" name="Google Shape;557;p5"/>
          <p:cNvSpPr/>
          <p:nvPr/>
        </p:nvSpPr>
        <p:spPr>
          <a:xfrm>
            <a:off x="137160" y="2788920"/>
            <a:ext cx="5212080" cy="333756"/>
          </a:xfrm>
          <a:prstGeom prst="rect">
            <a:avLst/>
          </a:prstGeom>
          <a:solidFill>
            <a:srgbClr val="F5F3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5"/>
          <p:cNvSpPr txBox="1"/>
          <p:nvPr/>
        </p:nvSpPr>
        <p:spPr>
          <a:xfrm>
            <a:off x="246888" y="2834640"/>
            <a:ext cx="5669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</a:t>
            </a:r>
            <a:endParaRPr/>
          </a:p>
        </p:txBody>
      </p:sp>
      <p:sp>
        <p:nvSpPr>
          <p:cNvPr id="559" name="Google Shape;559;p5"/>
          <p:cNvSpPr txBox="1"/>
          <p:nvPr/>
        </p:nvSpPr>
        <p:spPr>
          <a:xfrm>
            <a:off x="813816" y="283464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2,902</a:t>
            </a:r>
            <a:endParaRPr/>
          </a:p>
        </p:txBody>
      </p:sp>
      <p:sp>
        <p:nvSpPr>
          <p:cNvPr id="560" name="Google Shape;560;p5"/>
          <p:cNvSpPr txBox="1"/>
          <p:nvPr/>
        </p:nvSpPr>
        <p:spPr>
          <a:xfrm>
            <a:off x="1819656" y="283464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125</a:t>
            </a:r>
            <a:endParaRPr/>
          </a:p>
        </p:txBody>
      </p:sp>
      <p:sp>
        <p:nvSpPr>
          <p:cNvPr id="561" name="Google Shape;561;p5"/>
          <p:cNvSpPr txBox="1"/>
          <p:nvPr/>
        </p:nvSpPr>
        <p:spPr>
          <a:xfrm>
            <a:off x="2734056" y="2834640"/>
            <a:ext cx="6217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4.3%</a:t>
            </a:r>
            <a:endParaRPr/>
          </a:p>
        </p:txBody>
      </p:sp>
      <p:sp>
        <p:nvSpPr>
          <p:cNvPr id="562" name="Google Shape;562;p5"/>
          <p:cNvSpPr txBox="1"/>
          <p:nvPr/>
        </p:nvSpPr>
        <p:spPr>
          <a:xfrm>
            <a:off x="3355848" y="283464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2,452</a:t>
            </a:r>
            <a:endParaRPr/>
          </a:p>
        </p:txBody>
      </p:sp>
      <p:sp>
        <p:nvSpPr>
          <p:cNvPr id="563" name="Google Shape;563;p5"/>
          <p:cNvSpPr txBox="1"/>
          <p:nvPr/>
        </p:nvSpPr>
        <p:spPr>
          <a:xfrm>
            <a:off x="4270248" y="283464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+18%</a:t>
            </a:r>
            <a:endParaRPr/>
          </a:p>
        </p:txBody>
      </p:sp>
      <p:sp>
        <p:nvSpPr>
          <p:cNvPr id="564" name="Google Shape;564;p5"/>
          <p:cNvSpPr txBox="1"/>
          <p:nvPr/>
        </p:nvSpPr>
        <p:spPr>
          <a:xfrm>
            <a:off x="246888" y="3150108"/>
            <a:ext cx="5669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</a:t>
            </a:r>
            <a:endParaRPr/>
          </a:p>
        </p:txBody>
      </p:sp>
      <p:sp>
        <p:nvSpPr>
          <p:cNvPr id="565" name="Google Shape;565;p5"/>
          <p:cNvSpPr txBox="1"/>
          <p:nvPr/>
        </p:nvSpPr>
        <p:spPr>
          <a:xfrm>
            <a:off x="813816" y="3150108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3,365</a:t>
            </a:r>
            <a:endParaRPr/>
          </a:p>
        </p:txBody>
      </p:sp>
      <p:sp>
        <p:nvSpPr>
          <p:cNvPr id="566" name="Google Shape;566;p5"/>
          <p:cNvSpPr txBox="1"/>
          <p:nvPr/>
        </p:nvSpPr>
        <p:spPr>
          <a:xfrm>
            <a:off x="1819656" y="315010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170</a:t>
            </a:r>
            <a:endParaRPr/>
          </a:p>
        </p:txBody>
      </p:sp>
      <p:sp>
        <p:nvSpPr>
          <p:cNvPr id="567" name="Google Shape;567;p5"/>
          <p:cNvSpPr txBox="1"/>
          <p:nvPr/>
        </p:nvSpPr>
        <p:spPr>
          <a:xfrm>
            <a:off x="2734056" y="3150108"/>
            <a:ext cx="6217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5.1%</a:t>
            </a:r>
            <a:endParaRPr/>
          </a:p>
        </p:txBody>
      </p:sp>
      <p:sp>
        <p:nvSpPr>
          <p:cNvPr id="568" name="Google Shape;568;p5"/>
          <p:cNvSpPr txBox="1"/>
          <p:nvPr/>
        </p:nvSpPr>
        <p:spPr>
          <a:xfrm>
            <a:off x="3355848" y="315010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2,548</a:t>
            </a:r>
            <a:endParaRPr/>
          </a:p>
        </p:txBody>
      </p:sp>
      <p:sp>
        <p:nvSpPr>
          <p:cNvPr id="569" name="Google Shape;569;p5"/>
          <p:cNvSpPr txBox="1"/>
          <p:nvPr/>
        </p:nvSpPr>
        <p:spPr>
          <a:xfrm>
            <a:off x="4270248" y="3150108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+32%</a:t>
            </a:r>
            <a:endParaRPr/>
          </a:p>
        </p:txBody>
      </p:sp>
      <p:sp>
        <p:nvSpPr>
          <p:cNvPr id="570" name="Google Shape;570;p5"/>
          <p:cNvSpPr/>
          <p:nvPr/>
        </p:nvSpPr>
        <p:spPr>
          <a:xfrm>
            <a:off x="137160" y="3419856"/>
            <a:ext cx="5212080" cy="333756"/>
          </a:xfrm>
          <a:prstGeom prst="rect">
            <a:avLst/>
          </a:prstGeom>
          <a:solidFill>
            <a:srgbClr val="F5F3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5"/>
          <p:cNvSpPr txBox="1"/>
          <p:nvPr/>
        </p:nvSpPr>
        <p:spPr>
          <a:xfrm>
            <a:off x="246888" y="3465576"/>
            <a:ext cx="5669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572" name="Google Shape;572;p5"/>
          <p:cNvSpPr txBox="1"/>
          <p:nvPr/>
        </p:nvSpPr>
        <p:spPr>
          <a:xfrm>
            <a:off x="813816" y="3465576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2,793</a:t>
            </a:r>
            <a:endParaRPr/>
          </a:p>
        </p:txBody>
      </p:sp>
      <p:sp>
        <p:nvSpPr>
          <p:cNvPr id="573" name="Google Shape;573;p5"/>
          <p:cNvSpPr txBox="1"/>
          <p:nvPr/>
        </p:nvSpPr>
        <p:spPr>
          <a:xfrm>
            <a:off x="1819656" y="3465576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178</a:t>
            </a:r>
            <a:endParaRPr/>
          </a:p>
        </p:txBody>
      </p:sp>
      <p:sp>
        <p:nvSpPr>
          <p:cNvPr id="574" name="Google Shape;574;p5"/>
          <p:cNvSpPr txBox="1"/>
          <p:nvPr/>
        </p:nvSpPr>
        <p:spPr>
          <a:xfrm>
            <a:off x="2734056" y="3465576"/>
            <a:ext cx="6217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6.4%</a:t>
            </a:r>
            <a:endParaRPr/>
          </a:p>
        </p:txBody>
      </p:sp>
      <p:sp>
        <p:nvSpPr>
          <p:cNvPr id="575" name="Google Shape;575;p5"/>
          <p:cNvSpPr txBox="1"/>
          <p:nvPr/>
        </p:nvSpPr>
        <p:spPr>
          <a:xfrm>
            <a:off x="3355848" y="3465576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2,658</a:t>
            </a:r>
            <a:endParaRPr/>
          </a:p>
        </p:txBody>
      </p:sp>
      <p:sp>
        <p:nvSpPr>
          <p:cNvPr id="576" name="Google Shape;576;p5"/>
          <p:cNvSpPr txBox="1"/>
          <p:nvPr/>
        </p:nvSpPr>
        <p:spPr>
          <a:xfrm>
            <a:off x="4270248" y="3465576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+5%</a:t>
            </a:r>
            <a:endParaRPr/>
          </a:p>
        </p:txBody>
      </p:sp>
      <p:sp>
        <p:nvSpPr>
          <p:cNvPr id="577" name="Google Shape;577;p5"/>
          <p:cNvSpPr txBox="1"/>
          <p:nvPr/>
        </p:nvSpPr>
        <p:spPr>
          <a:xfrm>
            <a:off x="246888" y="3781044"/>
            <a:ext cx="5669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</a:t>
            </a:r>
            <a:endParaRPr/>
          </a:p>
        </p:txBody>
      </p:sp>
      <p:sp>
        <p:nvSpPr>
          <p:cNvPr id="578" name="Google Shape;578;p5"/>
          <p:cNvSpPr txBox="1"/>
          <p:nvPr/>
        </p:nvSpPr>
        <p:spPr>
          <a:xfrm>
            <a:off x="813816" y="3781044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579" name="Google Shape;579;p5"/>
          <p:cNvSpPr txBox="1"/>
          <p:nvPr/>
        </p:nvSpPr>
        <p:spPr>
          <a:xfrm>
            <a:off x="1819656" y="3781044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580" name="Google Shape;580;p5"/>
          <p:cNvSpPr txBox="1"/>
          <p:nvPr/>
        </p:nvSpPr>
        <p:spPr>
          <a:xfrm>
            <a:off x="2734056" y="3781044"/>
            <a:ext cx="6217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581" name="Google Shape;581;p5"/>
          <p:cNvSpPr txBox="1"/>
          <p:nvPr/>
        </p:nvSpPr>
        <p:spPr>
          <a:xfrm>
            <a:off x="3355848" y="3781044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2,747</a:t>
            </a:r>
            <a:endParaRPr/>
          </a:p>
        </p:txBody>
      </p:sp>
      <p:sp>
        <p:nvSpPr>
          <p:cNvPr id="582" name="Google Shape;582;p5"/>
          <p:cNvSpPr txBox="1"/>
          <p:nvPr/>
        </p:nvSpPr>
        <p:spPr>
          <a:xfrm>
            <a:off x="4270248" y="3781044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-100%</a:t>
            </a:r>
            <a:endParaRPr/>
          </a:p>
        </p:txBody>
      </p:sp>
      <p:sp>
        <p:nvSpPr>
          <p:cNvPr id="583" name="Google Shape;583;p5"/>
          <p:cNvSpPr/>
          <p:nvPr/>
        </p:nvSpPr>
        <p:spPr>
          <a:xfrm>
            <a:off x="182880" y="4032504"/>
            <a:ext cx="5120640" cy="9144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5"/>
          <p:cNvSpPr txBox="1"/>
          <p:nvPr/>
        </p:nvSpPr>
        <p:spPr>
          <a:xfrm>
            <a:off x="246888" y="4078224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YTD</a:t>
            </a:r>
            <a:endParaRPr/>
          </a:p>
        </p:txBody>
      </p:sp>
      <p:sp>
        <p:nvSpPr>
          <p:cNvPr id="585" name="Google Shape;585;p5"/>
          <p:cNvSpPr txBox="1"/>
          <p:nvPr/>
        </p:nvSpPr>
        <p:spPr>
          <a:xfrm>
            <a:off x="813816" y="4078224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14,585</a:t>
            </a:r>
            <a:endParaRPr/>
          </a:p>
        </p:txBody>
      </p:sp>
      <p:sp>
        <p:nvSpPr>
          <p:cNvPr id="586" name="Google Shape;586;p5"/>
          <p:cNvSpPr txBox="1"/>
          <p:nvPr/>
        </p:nvSpPr>
        <p:spPr>
          <a:xfrm>
            <a:off x="1819656" y="407822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704</a:t>
            </a:r>
            <a:endParaRPr/>
          </a:p>
        </p:txBody>
      </p:sp>
      <p:sp>
        <p:nvSpPr>
          <p:cNvPr id="587" name="Google Shape;587;p5"/>
          <p:cNvSpPr txBox="1"/>
          <p:nvPr/>
        </p:nvSpPr>
        <p:spPr>
          <a:xfrm>
            <a:off x="2734056" y="4078224"/>
            <a:ext cx="6217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4.8%</a:t>
            </a:r>
            <a:endParaRPr/>
          </a:p>
        </p:txBody>
      </p:sp>
      <p:sp>
        <p:nvSpPr>
          <p:cNvPr id="588" name="Google Shape;588;p5"/>
          <p:cNvSpPr txBox="1"/>
          <p:nvPr/>
        </p:nvSpPr>
        <p:spPr>
          <a:xfrm>
            <a:off x="3355848" y="407822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14,936</a:t>
            </a:r>
            <a:endParaRPr/>
          </a:p>
        </p:txBody>
      </p:sp>
      <p:sp>
        <p:nvSpPr>
          <p:cNvPr id="589" name="Google Shape;589;p5"/>
          <p:cNvSpPr txBox="1"/>
          <p:nvPr/>
        </p:nvSpPr>
        <p:spPr>
          <a:xfrm>
            <a:off x="4270248" y="4078224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-2%</a:t>
            </a:r>
            <a:endParaRPr/>
          </a:p>
        </p:txBody>
      </p:sp>
      <p:sp>
        <p:nvSpPr>
          <p:cNvPr id="590" name="Google Shape;590;p5"/>
          <p:cNvSpPr/>
          <p:nvPr/>
        </p:nvSpPr>
        <p:spPr>
          <a:xfrm>
            <a:off x="5623560" y="1600200"/>
            <a:ext cx="6400800" cy="27432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5"/>
          <p:cNvSpPr txBox="1"/>
          <p:nvPr/>
        </p:nvSpPr>
        <p:spPr>
          <a:xfrm>
            <a:off x="5733288" y="1636776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TOP AGENCIES BY SUBMISSION VOLUME  —  YTD Ranked</a:t>
            </a:r>
            <a:endParaRPr/>
          </a:p>
        </p:txBody>
      </p:sp>
      <p:sp>
        <p:nvSpPr>
          <p:cNvPr id="592" name="Google Shape;592;p5"/>
          <p:cNvSpPr txBox="1"/>
          <p:nvPr/>
        </p:nvSpPr>
        <p:spPr>
          <a:xfrm>
            <a:off x="5733288" y="1938528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Agency</a:t>
            </a:r>
            <a:endParaRPr/>
          </a:p>
        </p:txBody>
      </p:sp>
      <p:sp>
        <p:nvSpPr>
          <p:cNvPr id="593" name="Google Shape;593;p5"/>
          <p:cNvSpPr txBox="1"/>
          <p:nvPr/>
        </p:nvSpPr>
        <p:spPr>
          <a:xfrm>
            <a:off x="8567928" y="1938528"/>
            <a:ext cx="868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YTD Subs</a:t>
            </a:r>
            <a:endParaRPr/>
          </a:p>
        </p:txBody>
      </p:sp>
      <p:sp>
        <p:nvSpPr>
          <p:cNvPr id="594" name="Google Shape;594;p5"/>
          <p:cNvSpPr txBox="1"/>
          <p:nvPr/>
        </p:nvSpPr>
        <p:spPr>
          <a:xfrm>
            <a:off x="9436608" y="1938528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595" name="Google Shape;595;p5"/>
          <p:cNvSpPr txBox="1"/>
          <p:nvPr/>
        </p:nvSpPr>
        <p:spPr>
          <a:xfrm>
            <a:off x="10259568" y="1938528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%</a:t>
            </a:r>
            <a:endParaRPr/>
          </a:p>
        </p:txBody>
      </p:sp>
      <p:sp>
        <p:nvSpPr>
          <p:cNvPr id="596" name="Google Shape;596;p5"/>
          <p:cNvSpPr txBox="1"/>
          <p:nvPr/>
        </p:nvSpPr>
        <p:spPr>
          <a:xfrm>
            <a:off x="10991088" y="1938528"/>
            <a:ext cx="685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YOY</a:t>
            </a:r>
            <a:endParaRPr/>
          </a:p>
        </p:txBody>
      </p:sp>
      <p:sp>
        <p:nvSpPr>
          <p:cNvPr id="597" name="Google Shape;597;p5"/>
          <p:cNvSpPr/>
          <p:nvPr/>
        </p:nvSpPr>
        <p:spPr>
          <a:xfrm>
            <a:off x="5669280" y="2112264"/>
            <a:ext cx="5971032" cy="5486"/>
          </a:xfrm>
          <a:prstGeom prst="rect">
            <a:avLst/>
          </a:prstGeom>
          <a:solidFill>
            <a:srgbClr val="C4B5F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5"/>
          <p:cNvSpPr/>
          <p:nvPr/>
        </p:nvSpPr>
        <p:spPr>
          <a:xfrm>
            <a:off x="5623560" y="2167128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5"/>
          <p:cNvSpPr txBox="1"/>
          <p:nvPr/>
        </p:nvSpPr>
        <p:spPr>
          <a:xfrm>
            <a:off x="5733288" y="2185416"/>
            <a:ext cx="2834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Insurance4truckers Llc</a:t>
            </a:r>
            <a:endParaRPr/>
          </a:p>
        </p:txBody>
      </p:sp>
      <p:sp>
        <p:nvSpPr>
          <p:cNvPr id="600" name="Google Shape;600;p5"/>
          <p:cNvSpPr txBox="1"/>
          <p:nvPr/>
        </p:nvSpPr>
        <p:spPr>
          <a:xfrm>
            <a:off x="8567928" y="2185416"/>
            <a:ext cx="868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5,487</a:t>
            </a:r>
            <a:endParaRPr/>
          </a:p>
        </p:txBody>
      </p:sp>
      <p:sp>
        <p:nvSpPr>
          <p:cNvPr id="601" name="Google Shape;601;p5"/>
          <p:cNvSpPr txBox="1"/>
          <p:nvPr/>
        </p:nvSpPr>
        <p:spPr>
          <a:xfrm>
            <a:off x="9436608" y="2185416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125</a:t>
            </a:r>
            <a:endParaRPr/>
          </a:p>
        </p:txBody>
      </p:sp>
      <p:sp>
        <p:nvSpPr>
          <p:cNvPr id="602" name="Google Shape;602;p5"/>
          <p:cNvSpPr txBox="1"/>
          <p:nvPr/>
        </p:nvSpPr>
        <p:spPr>
          <a:xfrm>
            <a:off x="10259568" y="2185416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2.3%</a:t>
            </a:r>
            <a:endParaRPr/>
          </a:p>
        </p:txBody>
      </p:sp>
      <p:sp>
        <p:nvSpPr>
          <p:cNvPr id="603" name="Google Shape;603;p5"/>
          <p:cNvSpPr txBox="1"/>
          <p:nvPr/>
        </p:nvSpPr>
        <p:spPr>
          <a:xfrm>
            <a:off x="10991088" y="2185416"/>
            <a:ext cx="685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+1,412</a:t>
            </a:r>
            <a:endParaRPr/>
          </a:p>
        </p:txBody>
      </p:sp>
      <p:sp>
        <p:nvSpPr>
          <p:cNvPr id="604" name="Google Shape;604;p5"/>
          <p:cNvSpPr txBox="1"/>
          <p:nvPr/>
        </p:nvSpPr>
        <p:spPr>
          <a:xfrm>
            <a:off x="5733288" y="2441448"/>
            <a:ext cx="2834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Usa Specialty Insurance/dba Preventty</a:t>
            </a:r>
            <a:endParaRPr/>
          </a:p>
        </p:txBody>
      </p:sp>
      <p:sp>
        <p:nvSpPr>
          <p:cNvPr id="605" name="Google Shape;605;p5"/>
          <p:cNvSpPr txBox="1"/>
          <p:nvPr/>
        </p:nvSpPr>
        <p:spPr>
          <a:xfrm>
            <a:off x="8567928" y="2441448"/>
            <a:ext cx="868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3,136</a:t>
            </a:r>
            <a:endParaRPr/>
          </a:p>
        </p:txBody>
      </p:sp>
      <p:sp>
        <p:nvSpPr>
          <p:cNvPr id="606" name="Google Shape;606;p5"/>
          <p:cNvSpPr txBox="1"/>
          <p:nvPr/>
        </p:nvSpPr>
        <p:spPr>
          <a:xfrm>
            <a:off x="9436608" y="2441448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263</a:t>
            </a:r>
            <a:endParaRPr/>
          </a:p>
        </p:txBody>
      </p:sp>
      <p:sp>
        <p:nvSpPr>
          <p:cNvPr id="607" name="Google Shape;607;p5"/>
          <p:cNvSpPr txBox="1"/>
          <p:nvPr/>
        </p:nvSpPr>
        <p:spPr>
          <a:xfrm>
            <a:off x="10259568" y="2441448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8.4%</a:t>
            </a:r>
            <a:endParaRPr/>
          </a:p>
        </p:txBody>
      </p:sp>
      <p:sp>
        <p:nvSpPr>
          <p:cNvPr id="608" name="Google Shape;608;p5"/>
          <p:cNvSpPr txBox="1"/>
          <p:nvPr/>
        </p:nvSpPr>
        <p:spPr>
          <a:xfrm>
            <a:off x="10991088" y="2441448"/>
            <a:ext cx="685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-824</a:t>
            </a:r>
            <a:endParaRPr/>
          </a:p>
        </p:txBody>
      </p:sp>
      <p:sp>
        <p:nvSpPr>
          <p:cNvPr id="609" name="Google Shape;609;p5"/>
          <p:cNvSpPr/>
          <p:nvPr/>
        </p:nvSpPr>
        <p:spPr>
          <a:xfrm>
            <a:off x="5623560" y="2679192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5"/>
          <p:cNvSpPr txBox="1"/>
          <p:nvPr/>
        </p:nvSpPr>
        <p:spPr>
          <a:xfrm>
            <a:off x="5733288" y="2697480"/>
            <a:ext cx="2834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Prestige International Insurance Group</a:t>
            </a:r>
            <a:endParaRPr/>
          </a:p>
        </p:txBody>
      </p:sp>
      <p:sp>
        <p:nvSpPr>
          <p:cNvPr id="611" name="Google Shape;611;p5"/>
          <p:cNvSpPr txBox="1"/>
          <p:nvPr/>
        </p:nvSpPr>
        <p:spPr>
          <a:xfrm>
            <a:off x="8567928" y="2697480"/>
            <a:ext cx="868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1,486</a:t>
            </a:r>
            <a:endParaRPr/>
          </a:p>
        </p:txBody>
      </p:sp>
      <p:sp>
        <p:nvSpPr>
          <p:cNvPr id="612" name="Google Shape;612;p5"/>
          <p:cNvSpPr txBox="1"/>
          <p:nvPr/>
        </p:nvSpPr>
        <p:spPr>
          <a:xfrm>
            <a:off x="9436608" y="2697480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51</a:t>
            </a:r>
            <a:endParaRPr/>
          </a:p>
        </p:txBody>
      </p:sp>
      <p:sp>
        <p:nvSpPr>
          <p:cNvPr id="613" name="Google Shape;613;p5"/>
          <p:cNvSpPr txBox="1"/>
          <p:nvPr/>
        </p:nvSpPr>
        <p:spPr>
          <a:xfrm>
            <a:off x="10259568" y="2697480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3.4%</a:t>
            </a:r>
            <a:endParaRPr/>
          </a:p>
        </p:txBody>
      </p:sp>
      <p:sp>
        <p:nvSpPr>
          <p:cNvPr id="614" name="Google Shape;614;p5"/>
          <p:cNvSpPr txBox="1"/>
          <p:nvPr/>
        </p:nvSpPr>
        <p:spPr>
          <a:xfrm>
            <a:off x="10991088" y="2697480"/>
            <a:ext cx="685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+93</a:t>
            </a:r>
            <a:endParaRPr/>
          </a:p>
        </p:txBody>
      </p:sp>
      <p:sp>
        <p:nvSpPr>
          <p:cNvPr id="615" name="Google Shape;615;p5"/>
          <p:cNvSpPr txBox="1"/>
          <p:nvPr/>
        </p:nvSpPr>
        <p:spPr>
          <a:xfrm>
            <a:off x="5733288" y="2953512"/>
            <a:ext cx="2834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Vantage Ins Llc</a:t>
            </a:r>
            <a:endParaRPr/>
          </a:p>
        </p:txBody>
      </p:sp>
      <p:sp>
        <p:nvSpPr>
          <p:cNvPr id="616" name="Google Shape;616;p5"/>
          <p:cNvSpPr txBox="1"/>
          <p:nvPr/>
        </p:nvSpPr>
        <p:spPr>
          <a:xfrm>
            <a:off x="8567928" y="2953512"/>
            <a:ext cx="868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799</a:t>
            </a:r>
            <a:endParaRPr/>
          </a:p>
        </p:txBody>
      </p:sp>
      <p:sp>
        <p:nvSpPr>
          <p:cNvPr id="617" name="Google Shape;617;p5"/>
          <p:cNvSpPr txBox="1"/>
          <p:nvPr/>
        </p:nvSpPr>
        <p:spPr>
          <a:xfrm>
            <a:off x="9436608" y="2953512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</a:t>
            </a:r>
            <a:endParaRPr/>
          </a:p>
        </p:txBody>
      </p:sp>
      <p:sp>
        <p:nvSpPr>
          <p:cNvPr id="618" name="Google Shape;618;p5"/>
          <p:cNvSpPr txBox="1"/>
          <p:nvPr/>
        </p:nvSpPr>
        <p:spPr>
          <a:xfrm>
            <a:off x="10259568" y="2953512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2.4%</a:t>
            </a:r>
            <a:endParaRPr/>
          </a:p>
        </p:txBody>
      </p:sp>
      <p:sp>
        <p:nvSpPr>
          <p:cNvPr id="619" name="Google Shape;619;p5"/>
          <p:cNvSpPr txBox="1"/>
          <p:nvPr/>
        </p:nvSpPr>
        <p:spPr>
          <a:xfrm>
            <a:off x="10991088" y="2953512"/>
            <a:ext cx="685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+475</a:t>
            </a:r>
            <a:endParaRPr/>
          </a:p>
        </p:txBody>
      </p:sp>
      <p:sp>
        <p:nvSpPr>
          <p:cNvPr id="620" name="Google Shape;620;p5"/>
          <p:cNvSpPr/>
          <p:nvPr/>
        </p:nvSpPr>
        <p:spPr>
          <a:xfrm>
            <a:off x="5623560" y="3191256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5"/>
          <p:cNvSpPr txBox="1"/>
          <p:nvPr/>
        </p:nvSpPr>
        <p:spPr>
          <a:xfrm>
            <a:off x="5733288" y="3209544"/>
            <a:ext cx="2834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Valion Security Llc</a:t>
            </a:r>
            <a:endParaRPr/>
          </a:p>
        </p:txBody>
      </p:sp>
      <p:sp>
        <p:nvSpPr>
          <p:cNvPr id="622" name="Google Shape;622;p5"/>
          <p:cNvSpPr txBox="1"/>
          <p:nvPr/>
        </p:nvSpPr>
        <p:spPr>
          <a:xfrm>
            <a:off x="8567928" y="3209544"/>
            <a:ext cx="868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521</a:t>
            </a:r>
            <a:endParaRPr/>
          </a:p>
        </p:txBody>
      </p:sp>
      <p:sp>
        <p:nvSpPr>
          <p:cNvPr id="623" name="Google Shape;623;p5"/>
          <p:cNvSpPr txBox="1"/>
          <p:nvPr/>
        </p:nvSpPr>
        <p:spPr>
          <a:xfrm>
            <a:off x="9436608" y="3209544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78</a:t>
            </a:r>
            <a:endParaRPr/>
          </a:p>
        </p:txBody>
      </p:sp>
      <p:sp>
        <p:nvSpPr>
          <p:cNvPr id="624" name="Google Shape;624;p5"/>
          <p:cNvSpPr txBox="1"/>
          <p:nvPr/>
        </p:nvSpPr>
        <p:spPr>
          <a:xfrm>
            <a:off x="10259568" y="3209544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15.0%</a:t>
            </a:r>
            <a:endParaRPr/>
          </a:p>
        </p:txBody>
      </p:sp>
      <p:sp>
        <p:nvSpPr>
          <p:cNvPr id="625" name="Google Shape;625;p5"/>
          <p:cNvSpPr txBox="1"/>
          <p:nvPr/>
        </p:nvSpPr>
        <p:spPr>
          <a:xfrm>
            <a:off x="10991088" y="3209544"/>
            <a:ext cx="685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+305</a:t>
            </a:r>
            <a:endParaRPr/>
          </a:p>
        </p:txBody>
      </p:sp>
      <p:sp>
        <p:nvSpPr>
          <p:cNvPr id="626" name="Google Shape;626;p5"/>
          <p:cNvSpPr txBox="1"/>
          <p:nvPr/>
        </p:nvSpPr>
        <p:spPr>
          <a:xfrm>
            <a:off x="5733288" y="3465576"/>
            <a:ext cx="2834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Insurance Planet</a:t>
            </a:r>
            <a:endParaRPr/>
          </a:p>
        </p:txBody>
      </p:sp>
      <p:sp>
        <p:nvSpPr>
          <p:cNvPr id="627" name="Google Shape;627;p5"/>
          <p:cNvSpPr txBox="1"/>
          <p:nvPr/>
        </p:nvSpPr>
        <p:spPr>
          <a:xfrm>
            <a:off x="8567928" y="3465576"/>
            <a:ext cx="868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296</a:t>
            </a:r>
            <a:endParaRPr/>
          </a:p>
        </p:txBody>
      </p:sp>
      <p:sp>
        <p:nvSpPr>
          <p:cNvPr id="628" name="Google Shape;628;p5"/>
          <p:cNvSpPr txBox="1"/>
          <p:nvPr/>
        </p:nvSpPr>
        <p:spPr>
          <a:xfrm>
            <a:off x="9436608" y="3465576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</a:t>
            </a:r>
            <a:endParaRPr/>
          </a:p>
        </p:txBody>
      </p:sp>
      <p:sp>
        <p:nvSpPr>
          <p:cNvPr id="629" name="Google Shape;629;p5"/>
          <p:cNvSpPr txBox="1"/>
          <p:nvPr/>
        </p:nvSpPr>
        <p:spPr>
          <a:xfrm>
            <a:off x="10259568" y="3465576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7.1%</a:t>
            </a:r>
            <a:endParaRPr/>
          </a:p>
        </p:txBody>
      </p:sp>
      <p:sp>
        <p:nvSpPr>
          <p:cNvPr id="630" name="Google Shape;630;p5"/>
          <p:cNvSpPr txBox="1"/>
          <p:nvPr/>
        </p:nvSpPr>
        <p:spPr>
          <a:xfrm>
            <a:off x="10991088" y="3465576"/>
            <a:ext cx="685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-59</a:t>
            </a:r>
            <a:endParaRPr/>
          </a:p>
        </p:txBody>
      </p:sp>
      <p:sp>
        <p:nvSpPr>
          <p:cNvPr id="631" name="Google Shape;631;p5"/>
          <p:cNvSpPr/>
          <p:nvPr/>
        </p:nvSpPr>
        <p:spPr>
          <a:xfrm>
            <a:off x="5623560" y="3703320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5"/>
          <p:cNvSpPr txBox="1"/>
          <p:nvPr/>
        </p:nvSpPr>
        <p:spPr>
          <a:xfrm>
            <a:off x="5733288" y="3721608"/>
            <a:ext cx="2834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COASTAL TRUCKING INSURANCE LLC</a:t>
            </a:r>
            <a:endParaRPr/>
          </a:p>
        </p:txBody>
      </p:sp>
      <p:sp>
        <p:nvSpPr>
          <p:cNvPr id="633" name="Google Shape;633;p5"/>
          <p:cNvSpPr txBox="1"/>
          <p:nvPr/>
        </p:nvSpPr>
        <p:spPr>
          <a:xfrm>
            <a:off x="8567928" y="3721608"/>
            <a:ext cx="868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292</a:t>
            </a:r>
            <a:endParaRPr/>
          </a:p>
        </p:txBody>
      </p:sp>
      <p:sp>
        <p:nvSpPr>
          <p:cNvPr id="634" name="Google Shape;634;p5"/>
          <p:cNvSpPr txBox="1"/>
          <p:nvPr/>
        </p:nvSpPr>
        <p:spPr>
          <a:xfrm>
            <a:off x="9436608" y="3721608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635" name="Google Shape;635;p5"/>
          <p:cNvSpPr txBox="1"/>
          <p:nvPr/>
        </p:nvSpPr>
        <p:spPr>
          <a:xfrm>
            <a:off x="10259568" y="3721608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1.7%</a:t>
            </a:r>
            <a:endParaRPr/>
          </a:p>
        </p:txBody>
      </p:sp>
      <p:sp>
        <p:nvSpPr>
          <p:cNvPr id="636" name="Google Shape;636;p5"/>
          <p:cNvSpPr txBox="1"/>
          <p:nvPr/>
        </p:nvSpPr>
        <p:spPr>
          <a:xfrm>
            <a:off x="10991088" y="3721608"/>
            <a:ext cx="685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-122</a:t>
            </a:r>
            <a:endParaRPr/>
          </a:p>
        </p:txBody>
      </p:sp>
      <p:sp>
        <p:nvSpPr>
          <p:cNvPr id="637" name="Google Shape;637;p5"/>
          <p:cNvSpPr txBox="1"/>
          <p:nvPr/>
        </p:nvSpPr>
        <p:spPr>
          <a:xfrm>
            <a:off x="5733288" y="3977640"/>
            <a:ext cx="2834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 &amp; R Agency LLC</a:t>
            </a:r>
            <a:endParaRPr/>
          </a:p>
        </p:txBody>
      </p:sp>
      <p:sp>
        <p:nvSpPr>
          <p:cNvPr id="638" name="Google Shape;638;p5"/>
          <p:cNvSpPr txBox="1"/>
          <p:nvPr/>
        </p:nvSpPr>
        <p:spPr>
          <a:xfrm>
            <a:off x="8567928" y="3977640"/>
            <a:ext cx="868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272</a:t>
            </a:r>
            <a:endParaRPr/>
          </a:p>
        </p:txBody>
      </p:sp>
      <p:sp>
        <p:nvSpPr>
          <p:cNvPr id="639" name="Google Shape;639;p5"/>
          <p:cNvSpPr txBox="1"/>
          <p:nvPr/>
        </p:nvSpPr>
        <p:spPr>
          <a:xfrm>
            <a:off x="9436608" y="3977640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640" name="Google Shape;640;p5"/>
          <p:cNvSpPr txBox="1"/>
          <p:nvPr/>
        </p:nvSpPr>
        <p:spPr>
          <a:xfrm>
            <a:off x="10259568" y="3977640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1.8%</a:t>
            </a:r>
            <a:endParaRPr/>
          </a:p>
        </p:txBody>
      </p:sp>
      <p:sp>
        <p:nvSpPr>
          <p:cNvPr id="641" name="Google Shape;641;p5"/>
          <p:cNvSpPr txBox="1"/>
          <p:nvPr/>
        </p:nvSpPr>
        <p:spPr>
          <a:xfrm>
            <a:off x="10991088" y="3977640"/>
            <a:ext cx="685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+76</a:t>
            </a:r>
            <a:endParaRPr/>
          </a:p>
        </p:txBody>
      </p:sp>
      <p:sp>
        <p:nvSpPr>
          <p:cNvPr id="642" name="Google Shape;642;p5"/>
          <p:cNvSpPr/>
          <p:nvPr/>
        </p:nvSpPr>
        <p:spPr>
          <a:xfrm>
            <a:off x="5623560" y="4215384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5"/>
          <p:cNvSpPr txBox="1"/>
          <p:nvPr/>
        </p:nvSpPr>
        <p:spPr>
          <a:xfrm>
            <a:off x="5733288" y="4233672"/>
            <a:ext cx="2834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Marble City Insurance</a:t>
            </a:r>
            <a:endParaRPr/>
          </a:p>
        </p:txBody>
      </p:sp>
      <p:sp>
        <p:nvSpPr>
          <p:cNvPr id="644" name="Google Shape;644;p5"/>
          <p:cNvSpPr txBox="1"/>
          <p:nvPr/>
        </p:nvSpPr>
        <p:spPr>
          <a:xfrm>
            <a:off x="8567928" y="4233672"/>
            <a:ext cx="868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250</a:t>
            </a:r>
            <a:endParaRPr/>
          </a:p>
        </p:txBody>
      </p:sp>
      <p:sp>
        <p:nvSpPr>
          <p:cNvPr id="645" name="Google Shape;645;p5"/>
          <p:cNvSpPr txBox="1"/>
          <p:nvPr/>
        </p:nvSpPr>
        <p:spPr>
          <a:xfrm>
            <a:off x="9436608" y="4233672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</a:t>
            </a:r>
            <a:endParaRPr/>
          </a:p>
        </p:txBody>
      </p:sp>
      <p:sp>
        <p:nvSpPr>
          <p:cNvPr id="646" name="Google Shape;646;p5"/>
          <p:cNvSpPr txBox="1"/>
          <p:nvPr/>
        </p:nvSpPr>
        <p:spPr>
          <a:xfrm>
            <a:off x="10259568" y="4233672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6.0%</a:t>
            </a:r>
            <a:endParaRPr/>
          </a:p>
        </p:txBody>
      </p:sp>
      <p:sp>
        <p:nvSpPr>
          <p:cNvPr id="647" name="Google Shape;647;p5"/>
          <p:cNvSpPr txBox="1"/>
          <p:nvPr/>
        </p:nvSpPr>
        <p:spPr>
          <a:xfrm>
            <a:off x="10991088" y="4233672"/>
            <a:ext cx="685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+100</a:t>
            </a:r>
            <a:endParaRPr/>
          </a:p>
        </p:txBody>
      </p:sp>
      <p:sp>
        <p:nvSpPr>
          <p:cNvPr id="648" name="Google Shape;648;p5"/>
          <p:cNvSpPr txBox="1"/>
          <p:nvPr/>
        </p:nvSpPr>
        <p:spPr>
          <a:xfrm>
            <a:off x="5733288" y="4489704"/>
            <a:ext cx="2834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Sebanda Franchise #42 - M&amp;o Insurance </a:t>
            </a:r>
            <a:endParaRPr/>
          </a:p>
        </p:txBody>
      </p:sp>
      <p:sp>
        <p:nvSpPr>
          <p:cNvPr id="649" name="Google Shape;649;p5"/>
          <p:cNvSpPr txBox="1"/>
          <p:nvPr/>
        </p:nvSpPr>
        <p:spPr>
          <a:xfrm>
            <a:off x="8567928" y="4489704"/>
            <a:ext cx="868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229</a:t>
            </a:r>
            <a:endParaRPr/>
          </a:p>
        </p:txBody>
      </p:sp>
      <p:sp>
        <p:nvSpPr>
          <p:cNvPr id="650" name="Google Shape;650;p5"/>
          <p:cNvSpPr txBox="1"/>
          <p:nvPr/>
        </p:nvSpPr>
        <p:spPr>
          <a:xfrm>
            <a:off x="9436608" y="4489704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</a:t>
            </a:r>
            <a:endParaRPr/>
          </a:p>
        </p:txBody>
      </p:sp>
      <p:sp>
        <p:nvSpPr>
          <p:cNvPr id="651" name="Google Shape;651;p5"/>
          <p:cNvSpPr txBox="1"/>
          <p:nvPr/>
        </p:nvSpPr>
        <p:spPr>
          <a:xfrm>
            <a:off x="10259568" y="4489704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3.9%</a:t>
            </a:r>
            <a:endParaRPr/>
          </a:p>
        </p:txBody>
      </p:sp>
      <p:sp>
        <p:nvSpPr>
          <p:cNvPr id="652" name="Google Shape;652;p5"/>
          <p:cNvSpPr txBox="1"/>
          <p:nvPr/>
        </p:nvSpPr>
        <p:spPr>
          <a:xfrm>
            <a:off x="10991088" y="4489704"/>
            <a:ext cx="685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-123</a:t>
            </a:r>
            <a:endParaRPr/>
          </a:p>
        </p:txBody>
      </p:sp>
      <p:sp>
        <p:nvSpPr>
          <p:cNvPr id="653" name="Google Shape;653;p5"/>
          <p:cNvSpPr/>
          <p:nvPr/>
        </p:nvSpPr>
        <p:spPr>
          <a:xfrm>
            <a:off x="5623560" y="4727448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5"/>
          <p:cNvSpPr txBox="1"/>
          <p:nvPr/>
        </p:nvSpPr>
        <p:spPr>
          <a:xfrm>
            <a:off x="5733288" y="4745736"/>
            <a:ext cx="2834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925 Partners, Llc</a:t>
            </a:r>
            <a:endParaRPr/>
          </a:p>
        </p:txBody>
      </p:sp>
      <p:sp>
        <p:nvSpPr>
          <p:cNvPr id="655" name="Google Shape;655;p5"/>
          <p:cNvSpPr txBox="1"/>
          <p:nvPr/>
        </p:nvSpPr>
        <p:spPr>
          <a:xfrm>
            <a:off x="8567928" y="4745736"/>
            <a:ext cx="868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226</a:t>
            </a:r>
            <a:endParaRPr/>
          </a:p>
        </p:txBody>
      </p:sp>
      <p:sp>
        <p:nvSpPr>
          <p:cNvPr id="656" name="Google Shape;656;p5"/>
          <p:cNvSpPr txBox="1"/>
          <p:nvPr/>
        </p:nvSpPr>
        <p:spPr>
          <a:xfrm>
            <a:off x="9436608" y="4745736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/>
          </a:p>
        </p:txBody>
      </p:sp>
      <p:sp>
        <p:nvSpPr>
          <p:cNvPr id="657" name="Google Shape;657;p5"/>
          <p:cNvSpPr txBox="1"/>
          <p:nvPr/>
        </p:nvSpPr>
        <p:spPr>
          <a:xfrm>
            <a:off x="10259568" y="4745736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3.1%</a:t>
            </a:r>
            <a:endParaRPr/>
          </a:p>
        </p:txBody>
      </p:sp>
      <p:sp>
        <p:nvSpPr>
          <p:cNvPr id="658" name="Google Shape;658;p5"/>
          <p:cNvSpPr txBox="1"/>
          <p:nvPr/>
        </p:nvSpPr>
        <p:spPr>
          <a:xfrm>
            <a:off x="10991088" y="4745736"/>
            <a:ext cx="685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+4</a:t>
            </a:r>
            <a:endParaRPr/>
          </a:p>
        </p:txBody>
      </p:sp>
      <p:sp>
        <p:nvSpPr>
          <p:cNvPr id="659" name="Google Shape;659;p5"/>
          <p:cNvSpPr txBox="1"/>
          <p:nvPr/>
        </p:nvSpPr>
        <p:spPr>
          <a:xfrm>
            <a:off x="5733288" y="5001768"/>
            <a:ext cx="2834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Interglobal Insurance Company</a:t>
            </a:r>
            <a:endParaRPr/>
          </a:p>
        </p:txBody>
      </p:sp>
      <p:sp>
        <p:nvSpPr>
          <p:cNvPr id="660" name="Google Shape;660;p5"/>
          <p:cNvSpPr txBox="1"/>
          <p:nvPr/>
        </p:nvSpPr>
        <p:spPr>
          <a:xfrm>
            <a:off x="8567928" y="5001768"/>
            <a:ext cx="868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186</a:t>
            </a:r>
            <a:endParaRPr/>
          </a:p>
        </p:txBody>
      </p:sp>
      <p:sp>
        <p:nvSpPr>
          <p:cNvPr id="661" name="Google Shape;661;p5"/>
          <p:cNvSpPr txBox="1"/>
          <p:nvPr/>
        </p:nvSpPr>
        <p:spPr>
          <a:xfrm>
            <a:off x="9436608" y="5001768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662" name="Google Shape;662;p5"/>
          <p:cNvSpPr txBox="1"/>
          <p:nvPr/>
        </p:nvSpPr>
        <p:spPr>
          <a:xfrm>
            <a:off x="10259568" y="5001768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0.5%</a:t>
            </a:r>
            <a:endParaRPr/>
          </a:p>
        </p:txBody>
      </p:sp>
      <p:sp>
        <p:nvSpPr>
          <p:cNvPr id="663" name="Google Shape;663;p5"/>
          <p:cNvSpPr txBox="1"/>
          <p:nvPr/>
        </p:nvSpPr>
        <p:spPr>
          <a:xfrm>
            <a:off x="10991088" y="5001768"/>
            <a:ext cx="685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-85</a:t>
            </a:r>
            <a:endParaRPr/>
          </a:p>
        </p:txBody>
      </p:sp>
      <p:sp>
        <p:nvSpPr>
          <p:cNvPr id="664" name="Google Shape;664;p5"/>
          <p:cNvSpPr/>
          <p:nvPr/>
        </p:nvSpPr>
        <p:spPr>
          <a:xfrm>
            <a:off x="5623560" y="5239512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5"/>
          <p:cNvSpPr txBox="1"/>
          <p:nvPr/>
        </p:nvSpPr>
        <p:spPr>
          <a:xfrm>
            <a:off x="5733288" y="5257800"/>
            <a:ext cx="2834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Peco Insurance LLC</a:t>
            </a:r>
            <a:endParaRPr/>
          </a:p>
        </p:txBody>
      </p:sp>
      <p:sp>
        <p:nvSpPr>
          <p:cNvPr id="666" name="Google Shape;666;p5"/>
          <p:cNvSpPr txBox="1"/>
          <p:nvPr/>
        </p:nvSpPr>
        <p:spPr>
          <a:xfrm>
            <a:off x="8567928" y="5257800"/>
            <a:ext cx="868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170</a:t>
            </a:r>
            <a:endParaRPr/>
          </a:p>
        </p:txBody>
      </p:sp>
      <p:sp>
        <p:nvSpPr>
          <p:cNvPr id="667" name="Google Shape;667;p5"/>
          <p:cNvSpPr txBox="1"/>
          <p:nvPr/>
        </p:nvSpPr>
        <p:spPr>
          <a:xfrm>
            <a:off x="9436608" y="5257800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</a:t>
            </a:r>
            <a:endParaRPr/>
          </a:p>
        </p:txBody>
      </p:sp>
      <p:sp>
        <p:nvSpPr>
          <p:cNvPr id="668" name="Google Shape;668;p5"/>
          <p:cNvSpPr txBox="1"/>
          <p:nvPr/>
        </p:nvSpPr>
        <p:spPr>
          <a:xfrm>
            <a:off x="10259568" y="5257800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12.4%</a:t>
            </a:r>
            <a:endParaRPr/>
          </a:p>
        </p:txBody>
      </p:sp>
      <p:sp>
        <p:nvSpPr>
          <p:cNvPr id="669" name="Google Shape;669;p5"/>
          <p:cNvSpPr txBox="1"/>
          <p:nvPr/>
        </p:nvSpPr>
        <p:spPr>
          <a:xfrm>
            <a:off x="10991088" y="5257800"/>
            <a:ext cx="685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-636</a:t>
            </a:r>
            <a:endParaRPr/>
          </a:p>
        </p:txBody>
      </p:sp>
      <p:sp>
        <p:nvSpPr>
          <p:cNvPr id="670" name="Google Shape;670;p5"/>
          <p:cNvSpPr txBox="1"/>
          <p:nvPr/>
        </p:nvSpPr>
        <p:spPr>
          <a:xfrm>
            <a:off x="5733288" y="5513832"/>
            <a:ext cx="2834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Waypoint Agency LLC</a:t>
            </a:r>
            <a:endParaRPr/>
          </a:p>
        </p:txBody>
      </p:sp>
      <p:sp>
        <p:nvSpPr>
          <p:cNvPr id="671" name="Google Shape;671;p5"/>
          <p:cNvSpPr txBox="1"/>
          <p:nvPr/>
        </p:nvSpPr>
        <p:spPr>
          <a:xfrm>
            <a:off x="8567928" y="5513832"/>
            <a:ext cx="868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160</a:t>
            </a:r>
            <a:endParaRPr/>
          </a:p>
        </p:txBody>
      </p:sp>
      <p:sp>
        <p:nvSpPr>
          <p:cNvPr id="672" name="Google Shape;672;p5"/>
          <p:cNvSpPr txBox="1"/>
          <p:nvPr/>
        </p:nvSpPr>
        <p:spPr>
          <a:xfrm>
            <a:off x="9436608" y="5513832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/>
          </a:p>
        </p:txBody>
      </p:sp>
      <p:sp>
        <p:nvSpPr>
          <p:cNvPr id="673" name="Google Shape;673;p5"/>
          <p:cNvSpPr txBox="1"/>
          <p:nvPr/>
        </p:nvSpPr>
        <p:spPr>
          <a:xfrm>
            <a:off x="10259568" y="5513832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6.2%</a:t>
            </a:r>
            <a:endParaRPr/>
          </a:p>
        </p:txBody>
      </p:sp>
      <p:sp>
        <p:nvSpPr>
          <p:cNvPr id="674" name="Google Shape;674;p5"/>
          <p:cNvSpPr txBox="1"/>
          <p:nvPr/>
        </p:nvSpPr>
        <p:spPr>
          <a:xfrm>
            <a:off x="10991088" y="5513832"/>
            <a:ext cx="685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+13</a:t>
            </a:r>
            <a:endParaRPr/>
          </a:p>
        </p:txBody>
      </p:sp>
      <p:sp>
        <p:nvSpPr>
          <p:cNvPr id="675" name="Google Shape;675;p5"/>
          <p:cNvSpPr/>
          <p:nvPr/>
        </p:nvSpPr>
        <p:spPr>
          <a:xfrm>
            <a:off x="5623560" y="5751576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5"/>
          <p:cNvSpPr txBox="1"/>
          <p:nvPr/>
        </p:nvSpPr>
        <p:spPr>
          <a:xfrm>
            <a:off x="5733288" y="5769864"/>
            <a:ext cx="2834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Talis Insurance Group, Inc</a:t>
            </a:r>
            <a:endParaRPr/>
          </a:p>
        </p:txBody>
      </p:sp>
      <p:sp>
        <p:nvSpPr>
          <p:cNvPr id="677" name="Google Shape;677;p5"/>
          <p:cNvSpPr txBox="1"/>
          <p:nvPr/>
        </p:nvSpPr>
        <p:spPr>
          <a:xfrm>
            <a:off x="8567928" y="5769864"/>
            <a:ext cx="868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134</a:t>
            </a:r>
            <a:endParaRPr/>
          </a:p>
        </p:txBody>
      </p:sp>
      <p:sp>
        <p:nvSpPr>
          <p:cNvPr id="678" name="Google Shape;678;p5"/>
          <p:cNvSpPr txBox="1"/>
          <p:nvPr/>
        </p:nvSpPr>
        <p:spPr>
          <a:xfrm>
            <a:off x="9436608" y="5769864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</a:t>
            </a:r>
            <a:endParaRPr/>
          </a:p>
        </p:txBody>
      </p:sp>
      <p:sp>
        <p:nvSpPr>
          <p:cNvPr id="679" name="Google Shape;679;p5"/>
          <p:cNvSpPr txBox="1"/>
          <p:nvPr/>
        </p:nvSpPr>
        <p:spPr>
          <a:xfrm>
            <a:off x="10259568" y="5769864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8.2%</a:t>
            </a:r>
            <a:endParaRPr/>
          </a:p>
        </p:txBody>
      </p:sp>
      <p:sp>
        <p:nvSpPr>
          <p:cNvPr id="680" name="Google Shape;680;p5"/>
          <p:cNvSpPr txBox="1"/>
          <p:nvPr/>
        </p:nvSpPr>
        <p:spPr>
          <a:xfrm>
            <a:off x="10991088" y="5769864"/>
            <a:ext cx="685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-8</a:t>
            </a:r>
            <a:endParaRPr/>
          </a:p>
        </p:txBody>
      </p:sp>
      <p:sp>
        <p:nvSpPr>
          <p:cNvPr id="681" name="Google Shape;681;p5"/>
          <p:cNvSpPr txBox="1"/>
          <p:nvPr/>
        </p:nvSpPr>
        <p:spPr>
          <a:xfrm>
            <a:off x="5733288" y="6025896"/>
            <a:ext cx="2834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Stone Era Insurance Agency</a:t>
            </a:r>
            <a:endParaRPr/>
          </a:p>
        </p:txBody>
      </p:sp>
      <p:sp>
        <p:nvSpPr>
          <p:cNvPr id="682" name="Google Shape;682;p5"/>
          <p:cNvSpPr txBox="1"/>
          <p:nvPr/>
        </p:nvSpPr>
        <p:spPr>
          <a:xfrm>
            <a:off x="8567928" y="6025896"/>
            <a:ext cx="868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128</a:t>
            </a:r>
            <a:endParaRPr/>
          </a:p>
        </p:txBody>
      </p:sp>
      <p:sp>
        <p:nvSpPr>
          <p:cNvPr id="683" name="Google Shape;683;p5"/>
          <p:cNvSpPr txBox="1"/>
          <p:nvPr/>
        </p:nvSpPr>
        <p:spPr>
          <a:xfrm>
            <a:off x="9436608" y="6025896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684" name="Google Shape;684;p5"/>
          <p:cNvSpPr txBox="1"/>
          <p:nvPr/>
        </p:nvSpPr>
        <p:spPr>
          <a:xfrm>
            <a:off x="10259568" y="6025896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3.9%</a:t>
            </a:r>
            <a:endParaRPr/>
          </a:p>
        </p:txBody>
      </p:sp>
      <p:sp>
        <p:nvSpPr>
          <p:cNvPr id="685" name="Google Shape;685;p5"/>
          <p:cNvSpPr txBox="1"/>
          <p:nvPr/>
        </p:nvSpPr>
        <p:spPr>
          <a:xfrm>
            <a:off x="10991088" y="6025896"/>
            <a:ext cx="685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+127</a:t>
            </a:r>
            <a:endParaRPr/>
          </a:p>
        </p:txBody>
      </p:sp>
      <p:sp>
        <p:nvSpPr>
          <p:cNvPr id="686" name="Google Shape;686;p5"/>
          <p:cNvSpPr txBox="1"/>
          <p:nvPr/>
        </p:nvSpPr>
        <p:spPr>
          <a:xfrm>
            <a:off x="137160" y="6528816"/>
            <a:ext cx="1179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Source: Metabase  |  Totals match Sales Scoreboard: Q1 → Q1 owner, Q2+ → current owner, 2025 baseline → current owner  |  Hit ratio = binds / submissions  |  Right-panel agency table shows current portfolio  |  Green ≥ 8%  Red &lt; 5%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6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6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Monthly Trend</a:t>
            </a:r>
            <a:endParaRPr/>
          </a:p>
        </p:txBody>
      </p:sp>
      <p:sp>
        <p:nvSpPr>
          <p:cNvPr id="693" name="Google Shape;693;p6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4B5F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Ron Douglas  |  34 Total Agencies  |  Jan–Jun 2026</a:t>
            </a:r>
            <a:endParaRPr/>
          </a:p>
        </p:txBody>
      </p:sp>
      <p:sp>
        <p:nvSpPr>
          <p:cNvPr id="694" name="Google Shape;694;p6"/>
          <p:cNvSpPr/>
          <p:nvPr/>
        </p:nvSpPr>
        <p:spPr>
          <a:xfrm>
            <a:off x="365760" y="1097280"/>
            <a:ext cx="10424160" cy="329184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6"/>
          <p:cNvSpPr txBox="1"/>
          <p:nvPr/>
        </p:nvSpPr>
        <p:spPr>
          <a:xfrm>
            <a:off x="457200" y="1143000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696" name="Google Shape;696;p6"/>
          <p:cNvSpPr txBox="1"/>
          <p:nvPr/>
        </p:nvSpPr>
        <p:spPr>
          <a:xfrm>
            <a:off x="1920240" y="1143000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GWP</a:t>
            </a:r>
            <a:endParaRPr/>
          </a:p>
        </p:txBody>
      </p:sp>
      <p:sp>
        <p:nvSpPr>
          <p:cNvPr id="697" name="Google Shape;697;p6"/>
          <p:cNvSpPr txBox="1"/>
          <p:nvPr/>
        </p:nvSpPr>
        <p:spPr>
          <a:xfrm>
            <a:off x="3337560" y="1143000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Biz</a:t>
            </a:r>
            <a:endParaRPr/>
          </a:p>
        </p:txBody>
      </p:sp>
      <p:sp>
        <p:nvSpPr>
          <p:cNvPr id="698" name="Google Shape;698;p6"/>
          <p:cNvSpPr txBox="1"/>
          <p:nvPr/>
        </p:nvSpPr>
        <p:spPr>
          <a:xfrm>
            <a:off x="4663440" y="1143000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699" name="Google Shape;699;p6"/>
          <p:cNvSpPr txBox="1"/>
          <p:nvPr/>
        </p:nvSpPr>
        <p:spPr>
          <a:xfrm>
            <a:off x="5897879" y="114300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</a:t>
            </a:r>
            <a:endParaRPr/>
          </a:p>
        </p:txBody>
      </p:sp>
      <p:sp>
        <p:nvSpPr>
          <p:cNvPr id="700" name="Google Shape;700;p6"/>
          <p:cNvSpPr txBox="1"/>
          <p:nvPr/>
        </p:nvSpPr>
        <p:spPr>
          <a:xfrm>
            <a:off x="7086599" y="1143000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Subs</a:t>
            </a:r>
            <a:endParaRPr/>
          </a:p>
        </p:txBody>
      </p:sp>
      <p:sp>
        <p:nvSpPr>
          <p:cNvPr id="701" name="Google Shape;701;p6"/>
          <p:cNvSpPr txBox="1"/>
          <p:nvPr/>
        </p:nvSpPr>
        <p:spPr>
          <a:xfrm>
            <a:off x="8000999" y="1143000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Quotes</a:t>
            </a:r>
            <a:endParaRPr/>
          </a:p>
        </p:txBody>
      </p:sp>
      <p:sp>
        <p:nvSpPr>
          <p:cNvPr id="702" name="Google Shape;702;p6"/>
          <p:cNvSpPr txBox="1"/>
          <p:nvPr/>
        </p:nvSpPr>
        <p:spPr>
          <a:xfrm>
            <a:off x="8915399" y="1143000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703" name="Google Shape;703;p6"/>
          <p:cNvSpPr txBox="1"/>
          <p:nvPr/>
        </p:nvSpPr>
        <p:spPr>
          <a:xfrm>
            <a:off x="9829799" y="1143000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704" name="Google Shape;704;p6"/>
          <p:cNvSpPr txBox="1"/>
          <p:nvPr/>
        </p:nvSpPr>
        <p:spPr>
          <a:xfrm>
            <a:off x="457200" y="1499616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705" name="Google Shape;705;p6"/>
          <p:cNvSpPr txBox="1"/>
          <p:nvPr/>
        </p:nvSpPr>
        <p:spPr>
          <a:xfrm>
            <a:off x="1920240" y="1499616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$8,349,973</a:t>
            </a:r>
            <a:endParaRPr/>
          </a:p>
        </p:txBody>
      </p:sp>
      <p:sp>
        <p:nvSpPr>
          <p:cNvPr id="706" name="Google Shape;706;p6"/>
          <p:cNvSpPr txBox="1"/>
          <p:nvPr/>
        </p:nvSpPr>
        <p:spPr>
          <a:xfrm>
            <a:off x="3337560" y="1499616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$2,404,787</a:t>
            </a:r>
            <a:endParaRPr/>
          </a:p>
        </p:txBody>
      </p:sp>
      <p:sp>
        <p:nvSpPr>
          <p:cNvPr id="707" name="Google Shape;707;p6"/>
          <p:cNvSpPr txBox="1"/>
          <p:nvPr/>
        </p:nvSpPr>
        <p:spPr>
          <a:xfrm>
            <a:off x="4663440" y="1499616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$237,395</a:t>
            </a:r>
            <a:endParaRPr/>
          </a:p>
        </p:txBody>
      </p:sp>
      <p:sp>
        <p:nvSpPr>
          <p:cNvPr id="708" name="Google Shape;708;p6"/>
          <p:cNvSpPr txBox="1"/>
          <p:nvPr/>
        </p:nvSpPr>
        <p:spPr>
          <a:xfrm>
            <a:off x="5897879" y="1499616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$-1,403,973</a:t>
            </a:r>
            <a:endParaRPr/>
          </a:p>
        </p:txBody>
      </p:sp>
      <p:sp>
        <p:nvSpPr>
          <p:cNvPr id="709" name="Google Shape;709;p6"/>
          <p:cNvSpPr txBox="1"/>
          <p:nvPr/>
        </p:nvSpPr>
        <p:spPr>
          <a:xfrm>
            <a:off x="7086599" y="1499616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3,018</a:t>
            </a:r>
            <a:endParaRPr/>
          </a:p>
        </p:txBody>
      </p:sp>
      <p:sp>
        <p:nvSpPr>
          <p:cNvPr id="710" name="Google Shape;710;p6"/>
          <p:cNvSpPr txBox="1"/>
          <p:nvPr/>
        </p:nvSpPr>
        <p:spPr>
          <a:xfrm>
            <a:off x="8000999" y="1499616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2,184</a:t>
            </a:r>
            <a:endParaRPr/>
          </a:p>
        </p:txBody>
      </p:sp>
      <p:sp>
        <p:nvSpPr>
          <p:cNvPr id="711" name="Google Shape;711;p6"/>
          <p:cNvSpPr txBox="1"/>
          <p:nvPr/>
        </p:nvSpPr>
        <p:spPr>
          <a:xfrm>
            <a:off x="8915399" y="1499616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269</a:t>
            </a:r>
            <a:endParaRPr/>
          </a:p>
        </p:txBody>
      </p:sp>
      <p:sp>
        <p:nvSpPr>
          <p:cNvPr id="712" name="Google Shape;712;p6"/>
          <p:cNvSpPr txBox="1"/>
          <p:nvPr/>
        </p:nvSpPr>
        <p:spPr>
          <a:xfrm>
            <a:off x="9829799" y="1499616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8.9%</a:t>
            </a:r>
            <a:endParaRPr/>
          </a:p>
        </p:txBody>
      </p:sp>
      <p:sp>
        <p:nvSpPr>
          <p:cNvPr id="713" name="Google Shape;713;p6"/>
          <p:cNvSpPr/>
          <p:nvPr/>
        </p:nvSpPr>
        <p:spPr>
          <a:xfrm>
            <a:off x="365760" y="1773936"/>
            <a:ext cx="10424160" cy="329184"/>
          </a:xfrm>
          <a:prstGeom prst="rect">
            <a:avLst/>
          </a:prstGeom>
          <a:solidFill>
            <a:srgbClr val="F9FA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6"/>
          <p:cNvSpPr txBox="1"/>
          <p:nvPr/>
        </p:nvSpPr>
        <p:spPr>
          <a:xfrm>
            <a:off x="457200" y="1828800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715" name="Google Shape;715;p6"/>
          <p:cNvSpPr txBox="1"/>
          <p:nvPr/>
        </p:nvSpPr>
        <p:spPr>
          <a:xfrm>
            <a:off x="1920240" y="1828800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$8,395,307</a:t>
            </a:r>
            <a:endParaRPr/>
          </a:p>
        </p:txBody>
      </p:sp>
      <p:sp>
        <p:nvSpPr>
          <p:cNvPr id="716" name="Google Shape;716;p6"/>
          <p:cNvSpPr txBox="1"/>
          <p:nvPr/>
        </p:nvSpPr>
        <p:spPr>
          <a:xfrm>
            <a:off x="3337560" y="1828800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$2,141,010</a:t>
            </a:r>
            <a:endParaRPr/>
          </a:p>
        </p:txBody>
      </p:sp>
      <p:sp>
        <p:nvSpPr>
          <p:cNvPr id="717" name="Google Shape;717;p6"/>
          <p:cNvSpPr txBox="1"/>
          <p:nvPr/>
        </p:nvSpPr>
        <p:spPr>
          <a:xfrm>
            <a:off x="4663440" y="1828800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$368,718</a:t>
            </a:r>
            <a:endParaRPr/>
          </a:p>
        </p:txBody>
      </p:sp>
      <p:sp>
        <p:nvSpPr>
          <p:cNvPr id="718" name="Google Shape;718;p6"/>
          <p:cNvSpPr txBox="1"/>
          <p:nvPr/>
        </p:nvSpPr>
        <p:spPr>
          <a:xfrm>
            <a:off x="5897879" y="182880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$-1,186,958</a:t>
            </a:r>
            <a:endParaRPr/>
          </a:p>
        </p:txBody>
      </p:sp>
      <p:sp>
        <p:nvSpPr>
          <p:cNvPr id="719" name="Google Shape;719;p6"/>
          <p:cNvSpPr txBox="1"/>
          <p:nvPr/>
        </p:nvSpPr>
        <p:spPr>
          <a:xfrm>
            <a:off x="7086599" y="1828800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3,070</a:t>
            </a:r>
            <a:endParaRPr/>
          </a:p>
        </p:txBody>
      </p:sp>
      <p:sp>
        <p:nvSpPr>
          <p:cNvPr id="720" name="Google Shape;720;p6"/>
          <p:cNvSpPr txBox="1"/>
          <p:nvPr/>
        </p:nvSpPr>
        <p:spPr>
          <a:xfrm>
            <a:off x="8000999" y="1828800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2,177</a:t>
            </a:r>
            <a:endParaRPr/>
          </a:p>
        </p:txBody>
      </p:sp>
      <p:sp>
        <p:nvSpPr>
          <p:cNvPr id="721" name="Google Shape;721;p6"/>
          <p:cNvSpPr txBox="1"/>
          <p:nvPr/>
        </p:nvSpPr>
        <p:spPr>
          <a:xfrm>
            <a:off x="8915399" y="1828800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258</a:t>
            </a:r>
            <a:endParaRPr/>
          </a:p>
        </p:txBody>
      </p:sp>
      <p:sp>
        <p:nvSpPr>
          <p:cNvPr id="722" name="Google Shape;722;p6"/>
          <p:cNvSpPr txBox="1"/>
          <p:nvPr/>
        </p:nvSpPr>
        <p:spPr>
          <a:xfrm>
            <a:off x="9829799" y="1828800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8.4%</a:t>
            </a:r>
            <a:endParaRPr/>
          </a:p>
        </p:txBody>
      </p:sp>
      <p:sp>
        <p:nvSpPr>
          <p:cNvPr id="723" name="Google Shape;723;p6"/>
          <p:cNvSpPr txBox="1"/>
          <p:nvPr/>
        </p:nvSpPr>
        <p:spPr>
          <a:xfrm>
            <a:off x="457200" y="2157984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724" name="Google Shape;724;p6"/>
          <p:cNvSpPr txBox="1"/>
          <p:nvPr/>
        </p:nvSpPr>
        <p:spPr>
          <a:xfrm>
            <a:off x="1920240" y="2157984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$8,764,891</a:t>
            </a:r>
            <a:endParaRPr/>
          </a:p>
        </p:txBody>
      </p:sp>
      <p:sp>
        <p:nvSpPr>
          <p:cNvPr id="725" name="Google Shape;725;p6"/>
          <p:cNvSpPr txBox="1"/>
          <p:nvPr/>
        </p:nvSpPr>
        <p:spPr>
          <a:xfrm>
            <a:off x="3337560" y="2157984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$2,876,868</a:t>
            </a:r>
            <a:endParaRPr/>
          </a:p>
        </p:txBody>
      </p:sp>
      <p:sp>
        <p:nvSpPr>
          <p:cNvPr id="726" name="Google Shape;726;p6"/>
          <p:cNvSpPr txBox="1"/>
          <p:nvPr/>
        </p:nvSpPr>
        <p:spPr>
          <a:xfrm>
            <a:off x="4663440" y="2157984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$256,034</a:t>
            </a:r>
            <a:endParaRPr/>
          </a:p>
        </p:txBody>
      </p:sp>
      <p:sp>
        <p:nvSpPr>
          <p:cNvPr id="727" name="Google Shape;727;p6"/>
          <p:cNvSpPr txBox="1"/>
          <p:nvPr/>
        </p:nvSpPr>
        <p:spPr>
          <a:xfrm>
            <a:off x="5897879" y="2157984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$-1,575,007</a:t>
            </a:r>
            <a:endParaRPr/>
          </a:p>
        </p:txBody>
      </p:sp>
      <p:sp>
        <p:nvSpPr>
          <p:cNvPr id="728" name="Google Shape;728;p6"/>
          <p:cNvSpPr txBox="1"/>
          <p:nvPr/>
        </p:nvSpPr>
        <p:spPr>
          <a:xfrm>
            <a:off x="7086599" y="2157984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3,208</a:t>
            </a:r>
            <a:endParaRPr/>
          </a:p>
        </p:txBody>
      </p:sp>
      <p:sp>
        <p:nvSpPr>
          <p:cNvPr id="729" name="Google Shape;729;p6"/>
          <p:cNvSpPr txBox="1"/>
          <p:nvPr/>
        </p:nvSpPr>
        <p:spPr>
          <a:xfrm>
            <a:off x="8000999" y="2157984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2,207</a:t>
            </a:r>
            <a:endParaRPr/>
          </a:p>
        </p:txBody>
      </p:sp>
      <p:sp>
        <p:nvSpPr>
          <p:cNvPr id="730" name="Google Shape;730;p6"/>
          <p:cNvSpPr txBox="1"/>
          <p:nvPr/>
        </p:nvSpPr>
        <p:spPr>
          <a:xfrm>
            <a:off x="8915399" y="2157984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285</a:t>
            </a:r>
            <a:endParaRPr/>
          </a:p>
        </p:txBody>
      </p:sp>
      <p:sp>
        <p:nvSpPr>
          <p:cNvPr id="731" name="Google Shape;731;p6"/>
          <p:cNvSpPr txBox="1"/>
          <p:nvPr/>
        </p:nvSpPr>
        <p:spPr>
          <a:xfrm>
            <a:off x="9829799" y="2157984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8.9%</a:t>
            </a:r>
            <a:endParaRPr/>
          </a:p>
        </p:txBody>
      </p:sp>
      <p:sp>
        <p:nvSpPr>
          <p:cNvPr id="732" name="Google Shape;732;p6"/>
          <p:cNvSpPr/>
          <p:nvPr/>
        </p:nvSpPr>
        <p:spPr>
          <a:xfrm>
            <a:off x="365760" y="2432303"/>
            <a:ext cx="10424160" cy="329184"/>
          </a:xfrm>
          <a:prstGeom prst="rect">
            <a:avLst/>
          </a:prstGeom>
          <a:solidFill>
            <a:srgbClr val="F9FA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6"/>
          <p:cNvSpPr txBox="1"/>
          <p:nvPr/>
        </p:nvSpPr>
        <p:spPr>
          <a:xfrm>
            <a:off x="457200" y="248716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734" name="Google Shape;734;p6"/>
          <p:cNvSpPr txBox="1"/>
          <p:nvPr/>
        </p:nvSpPr>
        <p:spPr>
          <a:xfrm>
            <a:off x="1920240" y="2487168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$8,462,370</a:t>
            </a:r>
            <a:endParaRPr/>
          </a:p>
        </p:txBody>
      </p:sp>
      <p:sp>
        <p:nvSpPr>
          <p:cNvPr id="735" name="Google Shape;735;p6"/>
          <p:cNvSpPr txBox="1"/>
          <p:nvPr/>
        </p:nvSpPr>
        <p:spPr>
          <a:xfrm>
            <a:off x="3337560" y="2487168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$2,859,782</a:t>
            </a:r>
            <a:endParaRPr/>
          </a:p>
        </p:txBody>
      </p:sp>
      <p:sp>
        <p:nvSpPr>
          <p:cNvPr id="736" name="Google Shape;736;p6"/>
          <p:cNvSpPr txBox="1"/>
          <p:nvPr/>
        </p:nvSpPr>
        <p:spPr>
          <a:xfrm>
            <a:off x="4663440" y="2487168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$726,984</a:t>
            </a:r>
            <a:endParaRPr/>
          </a:p>
        </p:txBody>
      </p:sp>
      <p:sp>
        <p:nvSpPr>
          <p:cNvPr id="737" name="Google Shape;737;p6"/>
          <p:cNvSpPr txBox="1"/>
          <p:nvPr/>
        </p:nvSpPr>
        <p:spPr>
          <a:xfrm>
            <a:off x="5897879" y="2487168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$-2,117,468</a:t>
            </a:r>
            <a:endParaRPr/>
          </a:p>
        </p:txBody>
      </p:sp>
      <p:sp>
        <p:nvSpPr>
          <p:cNvPr id="738" name="Google Shape;738;p6"/>
          <p:cNvSpPr txBox="1"/>
          <p:nvPr/>
        </p:nvSpPr>
        <p:spPr>
          <a:xfrm>
            <a:off x="7086599" y="2487168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3,625</a:t>
            </a:r>
            <a:endParaRPr/>
          </a:p>
        </p:txBody>
      </p:sp>
      <p:sp>
        <p:nvSpPr>
          <p:cNvPr id="739" name="Google Shape;739;p6"/>
          <p:cNvSpPr txBox="1"/>
          <p:nvPr/>
        </p:nvSpPr>
        <p:spPr>
          <a:xfrm>
            <a:off x="8000999" y="2487168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2,560</a:t>
            </a:r>
            <a:endParaRPr/>
          </a:p>
        </p:txBody>
      </p:sp>
      <p:sp>
        <p:nvSpPr>
          <p:cNvPr id="740" name="Google Shape;740;p6"/>
          <p:cNvSpPr txBox="1"/>
          <p:nvPr/>
        </p:nvSpPr>
        <p:spPr>
          <a:xfrm>
            <a:off x="8915399" y="2487168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295</a:t>
            </a:r>
            <a:endParaRPr/>
          </a:p>
        </p:txBody>
      </p:sp>
      <p:sp>
        <p:nvSpPr>
          <p:cNvPr id="741" name="Google Shape;741;p6"/>
          <p:cNvSpPr txBox="1"/>
          <p:nvPr/>
        </p:nvSpPr>
        <p:spPr>
          <a:xfrm>
            <a:off x="9829799" y="2487168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8.1%</a:t>
            </a:r>
            <a:endParaRPr/>
          </a:p>
        </p:txBody>
      </p:sp>
      <p:sp>
        <p:nvSpPr>
          <p:cNvPr id="742" name="Google Shape;742;p6"/>
          <p:cNvSpPr txBox="1"/>
          <p:nvPr/>
        </p:nvSpPr>
        <p:spPr>
          <a:xfrm>
            <a:off x="457200" y="2816351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743" name="Google Shape;743;p6"/>
          <p:cNvSpPr txBox="1"/>
          <p:nvPr/>
        </p:nvSpPr>
        <p:spPr>
          <a:xfrm>
            <a:off x="1920240" y="2816351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$7,363,136</a:t>
            </a:r>
            <a:endParaRPr/>
          </a:p>
        </p:txBody>
      </p:sp>
      <p:sp>
        <p:nvSpPr>
          <p:cNvPr id="744" name="Google Shape;744;p6"/>
          <p:cNvSpPr txBox="1"/>
          <p:nvPr/>
        </p:nvSpPr>
        <p:spPr>
          <a:xfrm>
            <a:off x="3337560" y="2816351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$2,838,484</a:t>
            </a:r>
            <a:endParaRPr/>
          </a:p>
        </p:txBody>
      </p:sp>
      <p:sp>
        <p:nvSpPr>
          <p:cNvPr id="745" name="Google Shape;745;p6"/>
          <p:cNvSpPr txBox="1"/>
          <p:nvPr/>
        </p:nvSpPr>
        <p:spPr>
          <a:xfrm>
            <a:off x="4663440" y="2816351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$691,479</a:t>
            </a:r>
            <a:endParaRPr/>
          </a:p>
        </p:txBody>
      </p:sp>
      <p:sp>
        <p:nvSpPr>
          <p:cNvPr id="746" name="Google Shape;746;p6"/>
          <p:cNvSpPr txBox="1"/>
          <p:nvPr/>
        </p:nvSpPr>
        <p:spPr>
          <a:xfrm>
            <a:off x="5897879" y="2816351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$-1,995,803</a:t>
            </a:r>
            <a:endParaRPr/>
          </a:p>
        </p:txBody>
      </p:sp>
      <p:sp>
        <p:nvSpPr>
          <p:cNvPr id="747" name="Google Shape;747;p6"/>
          <p:cNvSpPr txBox="1"/>
          <p:nvPr/>
        </p:nvSpPr>
        <p:spPr>
          <a:xfrm>
            <a:off x="7086599" y="2816351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2,928</a:t>
            </a:r>
            <a:endParaRPr/>
          </a:p>
        </p:txBody>
      </p:sp>
      <p:sp>
        <p:nvSpPr>
          <p:cNvPr id="748" name="Google Shape;748;p6"/>
          <p:cNvSpPr txBox="1"/>
          <p:nvPr/>
        </p:nvSpPr>
        <p:spPr>
          <a:xfrm>
            <a:off x="8000999" y="2816351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2,108</a:t>
            </a:r>
            <a:endParaRPr/>
          </a:p>
        </p:txBody>
      </p:sp>
      <p:sp>
        <p:nvSpPr>
          <p:cNvPr id="749" name="Google Shape;749;p6"/>
          <p:cNvSpPr txBox="1"/>
          <p:nvPr/>
        </p:nvSpPr>
        <p:spPr>
          <a:xfrm>
            <a:off x="8915399" y="2816351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214</a:t>
            </a:r>
            <a:endParaRPr/>
          </a:p>
        </p:txBody>
      </p:sp>
      <p:sp>
        <p:nvSpPr>
          <p:cNvPr id="750" name="Google Shape;750;p6"/>
          <p:cNvSpPr txBox="1"/>
          <p:nvPr/>
        </p:nvSpPr>
        <p:spPr>
          <a:xfrm>
            <a:off x="9829799" y="2816351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7.3%</a:t>
            </a:r>
            <a:endParaRPr/>
          </a:p>
        </p:txBody>
      </p:sp>
      <p:sp>
        <p:nvSpPr>
          <p:cNvPr id="751" name="Google Shape;751;p6"/>
          <p:cNvSpPr/>
          <p:nvPr/>
        </p:nvSpPr>
        <p:spPr>
          <a:xfrm>
            <a:off x="365760" y="3090671"/>
            <a:ext cx="10424160" cy="329184"/>
          </a:xfrm>
          <a:prstGeom prst="rect">
            <a:avLst/>
          </a:prstGeom>
          <a:solidFill>
            <a:srgbClr val="F9FA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6"/>
          <p:cNvSpPr txBox="1"/>
          <p:nvPr/>
        </p:nvSpPr>
        <p:spPr>
          <a:xfrm>
            <a:off x="457200" y="3145535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753" name="Google Shape;753;p6"/>
          <p:cNvSpPr txBox="1"/>
          <p:nvPr/>
        </p:nvSpPr>
        <p:spPr>
          <a:xfrm>
            <a:off x="1920240" y="3145535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54" name="Google Shape;754;p6"/>
          <p:cNvSpPr txBox="1"/>
          <p:nvPr/>
        </p:nvSpPr>
        <p:spPr>
          <a:xfrm>
            <a:off x="3337560" y="3145535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$43,048</a:t>
            </a:r>
            <a:endParaRPr/>
          </a:p>
        </p:txBody>
      </p:sp>
      <p:sp>
        <p:nvSpPr>
          <p:cNvPr id="755" name="Google Shape;755;p6"/>
          <p:cNvSpPr txBox="1"/>
          <p:nvPr/>
        </p:nvSpPr>
        <p:spPr>
          <a:xfrm>
            <a:off x="4663440" y="3145535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$32,037</a:t>
            </a:r>
            <a:endParaRPr/>
          </a:p>
        </p:txBody>
      </p:sp>
      <p:sp>
        <p:nvSpPr>
          <p:cNvPr id="756" name="Google Shape;756;p6"/>
          <p:cNvSpPr txBox="1"/>
          <p:nvPr/>
        </p:nvSpPr>
        <p:spPr>
          <a:xfrm>
            <a:off x="5897879" y="3145535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$-59,999</a:t>
            </a:r>
            <a:endParaRPr/>
          </a:p>
        </p:txBody>
      </p:sp>
      <p:sp>
        <p:nvSpPr>
          <p:cNvPr id="757" name="Google Shape;757;p6"/>
          <p:cNvSpPr txBox="1"/>
          <p:nvPr/>
        </p:nvSpPr>
        <p:spPr>
          <a:xfrm>
            <a:off x="7086599" y="3145535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758" name="Google Shape;758;p6"/>
          <p:cNvSpPr txBox="1"/>
          <p:nvPr/>
        </p:nvSpPr>
        <p:spPr>
          <a:xfrm>
            <a:off x="8000999" y="3145535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759" name="Google Shape;759;p6"/>
          <p:cNvSpPr txBox="1"/>
          <p:nvPr/>
        </p:nvSpPr>
        <p:spPr>
          <a:xfrm>
            <a:off x="8915399" y="3145535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60" name="Google Shape;760;p6"/>
          <p:cNvSpPr txBox="1"/>
          <p:nvPr/>
        </p:nvSpPr>
        <p:spPr>
          <a:xfrm>
            <a:off x="9829799" y="3145535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761" name="Google Shape;761;p6"/>
          <p:cNvSpPr/>
          <p:nvPr/>
        </p:nvSpPr>
        <p:spPr>
          <a:xfrm>
            <a:off x="365760" y="3419855"/>
            <a:ext cx="10424160" cy="36576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6"/>
          <p:cNvSpPr txBox="1"/>
          <p:nvPr/>
        </p:nvSpPr>
        <p:spPr>
          <a:xfrm>
            <a:off x="457200" y="3493007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YTD</a:t>
            </a:r>
            <a:endParaRPr/>
          </a:p>
        </p:txBody>
      </p:sp>
      <p:sp>
        <p:nvSpPr>
          <p:cNvPr id="763" name="Google Shape;763;p6"/>
          <p:cNvSpPr txBox="1"/>
          <p:nvPr/>
        </p:nvSpPr>
        <p:spPr>
          <a:xfrm>
            <a:off x="1920240" y="3493007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$41,335,678</a:t>
            </a:r>
            <a:endParaRPr/>
          </a:p>
        </p:txBody>
      </p:sp>
      <p:sp>
        <p:nvSpPr>
          <p:cNvPr id="764" name="Google Shape;764;p6"/>
          <p:cNvSpPr txBox="1"/>
          <p:nvPr/>
        </p:nvSpPr>
        <p:spPr>
          <a:xfrm>
            <a:off x="3337560" y="3493007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$13,163,978</a:t>
            </a:r>
            <a:endParaRPr/>
          </a:p>
        </p:txBody>
      </p:sp>
      <p:sp>
        <p:nvSpPr>
          <p:cNvPr id="765" name="Google Shape;765;p6"/>
          <p:cNvSpPr txBox="1"/>
          <p:nvPr/>
        </p:nvSpPr>
        <p:spPr>
          <a:xfrm>
            <a:off x="4663440" y="3493007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$2,312,646</a:t>
            </a:r>
            <a:endParaRPr/>
          </a:p>
        </p:txBody>
      </p:sp>
      <p:sp>
        <p:nvSpPr>
          <p:cNvPr id="766" name="Google Shape;766;p6"/>
          <p:cNvSpPr txBox="1"/>
          <p:nvPr/>
        </p:nvSpPr>
        <p:spPr>
          <a:xfrm>
            <a:off x="5897879" y="3493007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$-8,339,209</a:t>
            </a:r>
            <a:endParaRPr/>
          </a:p>
        </p:txBody>
      </p:sp>
      <p:sp>
        <p:nvSpPr>
          <p:cNvPr id="767" name="Google Shape;767;p6"/>
          <p:cNvSpPr txBox="1"/>
          <p:nvPr/>
        </p:nvSpPr>
        <p:spPr>
          <a:xfrm>
            <a:off x="7086599" y="3493007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15,854</a:t>
            </a:r>
            <a:endParaRPr/>
          </a:p>
        </p:txBody>
      </p:sp>
      <p:sp>
        <p:nvSpPr>
          <p:cNvPr id="768" name="Google Shape;768;p6"/>
          <p:cNvSpPr txBox="1"/>
          <p:nvPr/>
        </p:nvSpPr>
        <p:spPr>
          <a:xfrm>
            <a:off x="8000999" y="3493007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11,240</a:t>
            </a:r>
            <a:endParaRPr/>
          </a:p>
        </p:txBody>
      </p:sp>
      <p:sp>
        <p:nvSpPr>
          <p:cNvPr id="769" name="Google Shape;769;p6"/>
          <p:cNvSpPr txBox="1"/>
          <p:nvPr/>
        </p:nvSpPr>
        <p:spPr>
          <a:xfrm>
            <a:off x="8915399" y="3493007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1,321</a:t>
            </a:r>
            <a:endParaRPr/>
          </a:p>
        </p:txBody>
      </p:sp>
      <p:sp>
        <p:nvSpPr>
          <p:cNvPr id="770" name="Google Shape;770;p6"/>
          <p:cNvSpPr txBox="1"/>
          <p:nvPr/>
        </p:nvSpPr>
        <p:spPr>
          <a:xfrm>
            <a:off x="9829799" y="3493007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8.3%</a:t>
            </a:r>
            <a:endParaRPr/>
          </a:p>
        </p:txBody>
      </p:sp>
      <p:sp>
        <p:nvSpPr>
          <p:cNvPr id="771" name="Google Shape;771;p6"/>
          <p:cNvSpPr txBox="1"/>
          <p:nvPr/>
        </p:nvSpPr>
        <p:spPr>
          <a:xfrm>
            <a:off x="365760" y="3941063"/>
            <a:ext cx="11430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Green = up vs prior month  |  Red = down vs prior month or negative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7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DSG In My Portfolio — Ron Douglas</a:t>
            </a:r>
            <a:endParaRPr/>
          </a:p>
        </p:txBody>
      </p:sp>
      <p:sp>
        <p:nvSpPr>
          <p:cNvPr id="777" name="Google Shape;777;p7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Dirt, Sand &amp; Gravel program performance across this bdm's agencies  |  2026 YTD</a:t>
            </a:r>
            <a:endParaRPr/>
          </a:p>
        </p:txBody>
      </p:sp>
      <p:sp>
        <p:nvSpPr>
          <p:cNvPr id="778" name="Google Shape;778;p7"/>
          <p:cNvSpPr/>
          <p:nvPr/>
        </p:nvSpPr>
        <p:spPr>
          <a:xfrm>
            <a:off x="548640" y="1188720"/>
            <a:ext cx="2606040" cy="86868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448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DSG SUBMISSIONS</a:t>
            </a:r>
            <a:endParaRPr/>
          </a:p>
        </p:txBody>
      </p:sp>
      <p:sp>
        <p:nvSpPr>
          <p:cNvPr id="779" name="Google Shape;779;p7"/>
          <p:cNvSpPr/>
          <p:nvPr/>
        </p:nvSpPr>
        <p:spPr>
          <a:xfrm>
            <a:off x="3337560" y="1188720"/>
            <a:ext cx="2606040" cy="86868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BOUND ACCOUNTS</a:t>
            </a:r>
            <a:endParaRPr/>
          </a:p>
        </p:txBody>
      </p:sp>
      <p:sp>
        <p:nvSpPr>
          <p:cNvPr id="780" name="Google Shape;780;p7"/>
          <p:cNvSpPr/>
          <p:nvPr/>
        </p:nvSpPr>
        <p:spPr>
          <a:xfrm>
            <a:off x="6126480" y="1188720"/>
            <a:ext cx="2606040" cy="86868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$299,457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GROSS WRITTEN PREM</a:t>
            </a:r>
            <a:endParaRPr/>
          </a:p>
        </p:txBody>
      </p:sp>
      <p:sp>
        <p:nvSpPr>
          <p:cNvPr id="781" name="Google Shape;781;p7"/>
          <p:cNvSpPr/>
          <p:nvPr/>
        </p:nvSpPr>
        <p:spPr>
          <a:xfrm>
            <a:off x="8915400" y="1188720"/>
            <a:ext cx="2606040" cy="86868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3.6%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 RATE</a:t>
            </a:r>
            <a:endParaRPr/>
          </a:p>
        </p:txBody>
      </p:sp>
      <p:sp>
        <p:nvSpPr>
          <p:cNvPr id="782" name="Google Shape;782;p7"/>
          <p:cNvSpPr/>
          <p:nvPr/>
        </p:nvSpPr>
        <p:spPr>
          <a:xfrm>
            <a:off x="457200" y="2286000"/>
            <a:ext cx="11338560" cy="27432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7"/>
          <p:cNvSpPr txBox="1"/>
          <p:nvPr/>
        </p:nvSpPr>
        <p:spPr>
          <a:xfrm>
            <a:off x="566928" y="2322576"/>
            <a:ext cx="11155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DSG ACTIVITY BY AGENCY (top 8 by submissions)</a:t>
            </a:r>
            <a:endParaRPr/>
          </a:p>
        </p:txBody>
      </p:sp>
      <p:sp>
        <p:nvSpPr>
          <p:cNvPr id="784" name="Google Shape;784;p7"/>
          <p:cNvSpPr txBox="1"/>
          <p:nvPr/>
        </p:nvSpPr>
        <p:spPr>
          <a:xfrm>
            <a:off x="457200" y="2670048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Agency</a:t>
            </a:r>
            <a:endParaRPr/>
          </a:p>
        </p:txBody>
      </p:sp>
      <p:sp>
        <p:nvSpPr>
          <p:cNvPr id="785" name="Google Shape;785;p7"/>
          <p:cNvSpPr txBox="1"/>
          <p:nvPr/>
        </p:nvSpPr>
        <p:spPr>
          <a:xfrm>
            <a:off x="4663440" y="267004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Subs</a:t>
            </a:r>
            <a:endParaRPr/>
          </a:p>
        </p:txBody>
      </p:sp>
      <p:sp>
        <p:nvSpPr>
          <p:cNvPr id="786" name="Google Shape;786;p7"/>
          <p:cNvSpPr txBox="1"/>
          <p:nvPr/>
        </p:nvSpPr>
        <p:spPr>
          <a:xfrm>
            <a:off x="5943600" y="267004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Declined</a:t>
            </a:r>
            <a:endParaRPr/>
          </a:p>
        </p:txBody>
      </p:sp>
      <p:sp>
        <p:nvSpPr>
          <p:cNvPr id="787" name="Google Shape;787;p7"/>
          <p:cNvSpPr txBox="1"/>
          <p:nvPr/>
        </p:nvSpPr>
        <p:spPr>
          <a:xfrm>
            <a:off x="7223760" y="267004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Bound</a:t>
            </a:r>
            <a:endParaRPr/>
          </a:p>
        </p:txBody>
      </p:sp>
      <p:sp>
        <p:nvSpPr>
          <p:cNvPr id="788" name="Google Shape;788;p7"/>
          <p:cNvSpPr txBox="1"/>
          <p:nvPr/>
        </p:nvSpPr>
        <p:spPr>
          <a:xfrm>
            <a:off x="8503920" y="267004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 %</a:t>
            </a:r>
            <a:endParaRPr/>
          </a:p>
        </p:txBody>
      </p:sp>
      <p:sp>
        <p:nvSpPr>
          <p:cNvPr id="789" name="Google Shape;789;p7"/>
          <p:cNvSpPr txBox="1"/>
          <p:nvPr/>
        </p:nvSpPr>
        <p:spPr>
          <a:xfrm>
            <a:off x="9784080" y="267004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GWP</a:t>
            </a:r>
            <a:endParaRPr/>
          </a:p>
        </p:txBody>
      </p:sp>
      <p:sp>
        <p:nvSpPr>
          <p:cNvPr id="790" name="Google Shape;790;p7"/>
          <p:cNvSpPr/>
          <p:nvPr/>
        </p:nvSpPr>
        <p:spPr>
          <a:xfrm>
            <a:off x="457200" y="2944368"/>
            <a:ext cx="11338559" cy="310896"/>
          </a:xfrm>
          <a:prstGeom prst="rect">
            <a:avLst/>
          </a:prstGeom>
          <a:solidFill>
            <a:srgbClr val="FAF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7"/>
          <p:cNvSpPr txBox="1"/>
          <p:nvPr/>
        </p:nvSpPr>
        <p:spPr>
          <a:xfrm>
            <a:off x="457200" y="2980944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Insurance4Truckers LLC</a:t>
            </a:r>
            <a:endParaRPr/>
          </a:p>
        </p:txBody>
      </p:sp>
      <p:sp>
        <p:nvSpPr>
          <p:cNvPr id="792" name="Google Shape;792;p7"/>
          <p:cNvSpPr txBox="1"/>
          <p:nvPr/>
        </p:nvSpPr>
        <p:spPr>
          <a:xfrm>
            <a:off x="4663440" y="2980944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141</a:t>
            </a:r>
            <a:endParaRPr/>
          </a:p>
        </p:txBody>
      </p:sp>
      <p:sp>
        <p:nvSpPr>
          <p:cNvPr id="793" name="Google Shape;793;p7"/>
          <p:cNvSpPr txBox="1"/>
          <p:nvPr/>
        </p:nvSpPr>
        <p:spPr>
          <a:xfrm>
            <a:off x="5943600" y="2980944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81</a:t>
            </a:r>
            <a:endParaRPr/>
          </a:p>
        </p:txBody>
      </p:sp>
      <p:sp>
        <p:nvSpPr>
          <p:cNvPr id="794" name="Google Shape;794;p7"/>
          <p:cNvSpPr txBox="1"/>
          <p:nvPr/>
        </p:nvSpPr>
        <p:spPr>
          <a:xfrm>
            <a:off x="7223760" y="2980944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795" name="Google Shape;795;p7"/>
          <p:cNvSpPr txBox="1"/>
          <p:nvPr/>
        </p:nvSpPr>
        <p:spPr>
          <a:xfrm>
            <a:off x="8503920" y="2980944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2.1%</a:t>
            </a:r>
            <a:endParaRPr/>
          </a:p>
        </p:txBody>
      </p:sp>
      <p:sp>
        <p:nvSpPr>
          <p:cNvPr id="796" name="Google Shape;796;p7"/>
          <p:cNvSpPr txBox="1"/>
          <p:nvPr/>
        </p:nvSpPr>
        <p:spPr>
          <a:xfrm>
            <a:off x="9784080" y="2980944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$48,575</a:t>
            </a:r>
            <a:endParaRPr/>
          </a:p>
        </p:txBody>
      </p:sp>
      <p:sp>
        <p:nvSpPr>
          <p:cNvPr id="797" name="Google Shape;797;p7"/>
          <p:cNvSpPr txBox="1"/>
          <p:nvPr/>
        </p:nvSpPr>
        <p:spPr>
          <a:xfrm>
            <a:off x="457200" y="3291839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USA SPECIALTY INSURANCE/DBA PREVENTTY</a:t>
            </a:r>
            <a:endParaRPr/>
          </a:p>
        </p:txBody>
      </p:sp>
      <p:sp>
        <p:nvSpPr>
          <p:cNvPr id="798" name="Google Shape;798;p7"/>
          <p:cNvSpPr txBox="1"/>
          <p:nvPr/>
        </p:nvSpPr>
        <p:spPr>
          <a:xfrm>
            <a:off x="4663440" y="3291839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90</a:t>
            </a:r>
            <a:endParaRPr/>
          </a:p>
        </p:txBody>
      </p:sp>
      <p:sp>
        <p:nvSpPr>
          <p:cNvPr id="799" name="Google Shape;799;p7"/>
          <p:cNvSpPr txBox="1"/>
          <p:nvPr/>
        </p:nvSpPr>
        <p:spPr>
          <a:xfrm>
            <a:off x="5943600" y="3291839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34</a:t>
            </a:r>
            <a:endParaRPr/>
          </a:p>
        </p:txBody>
      </p:sp>
      <p:sp>
        <p:nvSpPr>
          <p:cNvPr id="800" name="Google Shape;800;p7"/>
          <p:cNvSpPr txBox="1"/>
          <p:nvPr/>
        </p:nvSpPr>
        <p:spPr>
          <a:xfrm>
            <a:off x="7223760" y="3291839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801" name="Google Shape;801;p7"/>
          <p:cNvSpPr txBox="1"/>
          <p:nvPr/>
        </p:nvSpPr>
        <p:spPr>
          <a:xfrm>
            <a:off x="8503920" y="3291839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3.3%</a:t>
            </a:r>
            <a:endParaRPr/>
          </a:p>
        </p:txBody>
      </p:sp>
      <p:sp>
        <p:nvSpPr>
          <p:cNvPr id="802" name="Google Shape;802;p7"/>
          <p:cNvSpPr txBox="1"/>
          <p:nvPr/>
        </p:nvSpPr>
        <p:spPr>
          <a:xfrm>
            <a:off x="9784080" y="3291839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$61,459</a:t>
            </a:r>
            <a:endParaRPr/>
          </a:p>
        </p:txBody>
      </p:sp>
      <p:sp>
        <p:nvSpPr>
          <p:cNvPr id="803" name="Google Shape;803;p7"/>
          <p:cNvSpPr/>
          <p:nvPr/>
        </p:nvSpPr>
        <p:spPr>
          <a:xfrm>
            <a:off x="457200" y="3566159"/>
            <a:ext cx="11338559" cy="310896"/>
          </a:xfrm>
          <a:prstGeom prst="rect">
            <a:avLst/>
          </a:prstGeom>
          <a:solidFill>
            <a:srgbClr val="FAF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7"/>
          <p:cNvSpPr txBox="1"/>
          <p:nvPr/>
        </p:nvSpPr>
        <p:spPr>
          <a:xfrm>
            <a:off x="457200" y="3602735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Vantage Ins LLC</a:t>
            </a:r>
            <a:endParaRPr/>
          </a:p>
        </p:txBody>
      </p:sp>
      <p:sp>
        <p:nvSpPr>
          <p:cNvPr id="805" name="Google Shape;805;p7"/>
          <p:cNvSpPr txBox="1"/>
          <p:nvPr/>
        </p:nvSpPr>
        <p:spPr>
          <a:xfrm>
            <a:off x="4663440" y="3602735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34</a:t>
            </a:r>
            <a:endParaRPr/>
          </a:p>
        </p:txBody>
      </p:sp>
      <p:sp>
        <p:nvSpPr>
          <p:cNvPr id="806" name="Google Shape;806;p7"/>
          <p:cNvSpPr txBox="1"/>
          <p:nvPr/>
        </p:nvSpPr>
        <p:spPr>
          <a:xfrm>
            <a:off x="5943600" y="3602735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</a:t>
            </a:r>
            <a:endParaRPr/>
          </a:p>
        </p:txBody>
      </p:sp>
      <p:sp>
        <p:nvSpPr>
          <p:cNvPr id="807" name="Google Shape;807;p7"/>
          <p:cNvSpPr txBox="1"/>
          <p:nvPr/>
        </p:nvSpPr>
        <p:spPr>
          <a:xfrm>
            <a:off x="7223760" y="3602735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808" name="Google Shape;808;p7"/>
          <p:cNvSpPr txBox="1"/>
          <p:nvPr/>
        </p:nvSpPr>
        <p:spPr>
          <a:xfrm>
            <a:off x="8503920" y="3602735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5.9%</a:t>
            </a:r>
            <a:endParaRPr/>
          </a:p>
        </p:txBody>
      </p:sp>
      <p:sp>
        <p:nvSpPr>
          <p:cNvPr id="809" name="Google Shape;809;p7"/>
          <p:cNvSpPr txBox="1"/>
          <p:nvPr/>
        </p:nvSpPr>
        <p:spPr>
          <a:xfrm>
            <a:off x="9784080" y="3602735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$26,295</a:t>
            </a:r>
            <a:endParaRPr/>
          </a:p>
        </p:txBody>
      </p:sp>
      <p:sp>
        <p:nvSpPr>
          <p:cNvPr id="810" name="Google Shape;810;p7"/>
          <p:cNvSpPr txBox="1"/>
          <p:nvPr/>
        </p:nvSpPr>
        <p:spPr>
          <a:xfrm>
            <a:off x="457200" y="3913631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Valion Security LLC</a:t>
            </a:r>
            <a:endParaRPr/>
          </a:p>
        </p:txBody>
      </p:sp>
      <p:sp>
        <p:nvSpPr>
          <p:cNvPr id="811" name="Google Shape;811;p7"/>
          <p:cNvSpPr txBox="1"/>
          <p:nvPr/>
        </p:nvSpPr>
        <p:spPr>
          <a:xfrm>
            <a:off x="4663440" y="3913631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31</a:t>
            </a:r>
            <a:endParaRPr/>
          </a:p>
        </p:txBody>
      </p:sp>
      <p:sp>
        <p:nvSpPr>
          <p:cNvPr id="812" name="Google Shape;812;p7"/>
          <p:cNvSpPr txBox="1"/>
          <p:nvPr/>
        </p:nvSpPr>
        <p:spPr>
          <a:xfrm>
            <a:off x="5943600" y="3913631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</a:t>
            </a:r>
            <a:endParaRPr/>
          </a:p>
        </p:txBody>
      </p:sp>
      <p:sp>
        <p:nvSpPr>
          <p:cNvPr id="813" name="Google Shape;813;p7"/>
          <p:cNvSpPr txBox="1"/>
          <p:nvPr/>
        </p:nvSpPr>
        <p:spPr>
          <a:xfrm>
            <a:off x="7223760" y="3913631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814" name="Google Shape;814;p7"/>
          <p:cNvSpPr txBox="1"/>
          <p:nvPr/>
        </p:nvSpPr>
        <p:spPr>
          <a:xfrm>
            <a:off x="8503920" y="3913631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16.1%</a:t>
            </a:r>
            <a:endParaRPr/>
          </a:p>
        </p:txBody>
      </p:sp>
      <p:sp>
        <p:nvSpPr>
          <p:cNvPr id="815" name="Google Shape;815;p7"/>
          <p:cNvSpPr txBox="1"/>
          <p:nvPr/>
        </p:nvSpPr>
        <p:spPr>
          <a:xfrm>
            <a:off x="9784080" y="3913631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$107,975</a:t>
            </a:r>
            <a:endParaRPr/>
          </a:p>
        </p:txBody>
      </p:sp>
      <p:sp>
        <p:nvSpPr>
          <p:cNvPr id="816" name="Google Shape;816;p7"/>
          <p:cNvSpPr/>
          <p:nvPr/>
        </p:nvSpPr>
        <p:spPr>
          <a:xfrm>
            <a:off x="457200" y="4187951"/>
            <a:ext cx="11338559" cy="310896"/>
          </a:xfrm>
          <a:prstGeom prst="rect">
            <a:avLst/>
          </a:prstGeom>
          <a:solidFill>
            <a:srgbClr val="FAF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7"/>
          <p:cNvSpPr txBox="1"/>
          <p:nvPr/>
        </p:nvSpPr>
        <p:spPr>
          <a:xfrm>
            <a:off x="457200" y="4224527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Prestige International Insurance Group Inc Dba Prestige</a:t>
            </a:r>
            <a:endParaRPr/>
          </a:p>
        </p:txBody>
      </p:sp>
      <p:sp>
        <p:nvSpPr>
          <p:cNvPr id="818" name="Google Shape;818;p7"/>
          <p:cNvSpPr txBox="1"/>
          <p:nvPr/>
        </p:nvSpPr>
        <p:spPr>
          <a:xfrm>
            <a:off x="4663440" y="4224527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28</a:t>
            </a:r>
            <a:endParaRPr/>
          </a:p>
        </p:txBody>
      </p:sp>
      <p:sp>
        <p:nvSpPr>
          <p:cNvPr id="819" name="Google Shape;819;p7"/>
          <p:cNvSpPr txBox="1"/>
          <p:nvPr/>
        </p:nvSpPr>
        <p:spPr>
          <a:xfrm>
            <a:off x="5943600" y="4224527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23</a:t>
            </a:r>
            <a:endParaRPr/>
          </a:p>
        </p:txBody>
      </p:sp>
      <p:sp>
        <p:nvSpPr>
          <p:cNvPr id="820" name="Google Shape;820;p7"/>
          <p:cNvSpPr txBox="1"/>
          <p:nvPr/>
        </p:nvSpPr>
        <p:spPr>
          <a:xfrm>
            <a:off x="7223760" y="4224527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821" name="Google Shape;821;p7"/>
          <p:cNvSpPr txBox="1"/>
          <p:nvPr/>
        </p:nvSpPr>
        <p:spPr>
          <a:xfrm>
            <a:off x="8503920" y="4224527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822" name="Google Shape;822;p7"/>
          <p:cNvSpPr txBox="1"/>
          <p:nvPr/>
        </p:nvSpPr>
        <p:spPr>
          <a:xfrm>
            <a:off x="9784080" y="4224527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</a:t>
            </a:r>
            <a:endParaRPr/>
          </a:p>
        </p:txBody>
      </p:sp>
      <p:sp>
        <p:nvSpPr>
          <p:cNvPr id="823" name="Google Shape;823;p7"/>
          <p:cNvSpPr txBox="1"/>
          <p:nvPr/>
        </p:nvSpPr>
        <p:spPr>
          <a:xfrm>
            <a:off x="457200" y="4535423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Sebanda Franchise #42 - M&amp;O Insurance Agency LLC</a:t>
            </a:r>
            <a:endParaRPr/>
          </a:p>
        </p:txBody>
      </p:sp>
      <p:sp>
        <p:nvSpPr>
          <p:cNvPr id="824" name="Google Shape;824;p7"/>
          <p:cNvSpPr txBox="1"/>
          <p:nvPr/>
        </p:nvSpPr>
        <p:spPr>
          <a:xfrm>
            <a:off x="4663440" y="4535423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</a:t>
            </a:r>
            <a:endParaRPr/>
          </a:p>
        </p:txBody>
      </p:sp>
      <p:sp>
        <p:nvSpPr>
          <p:cNvPr id="825" name="Google Shape;825;p7"/>
          <p:cNvSpPr txBox="1"/>
          <p:nvPr/>
        </p:nvSpPr>
        <p:spPr>
          <a:xfrm>
            <a:off x="5943600" y="4535423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826" name="Google Shape;826;p7"/>
          <p:cNvSpPr txBox="1"/>
          <p:nvPr/>
        </p:nvSpPr>
        <p:spPr>
          <a:xfrm>
            <a:off x="7223760" y="4535423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827" name="Google Shape;827;p7"/>
          <p:cNvSpPr txBox="1"/>
          <p:nvPr/>
        </p:nvSpPr>
        <p:spPr>
          <a:xfrm>
            <a:off x="8503920" y="4535423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4.0%</a:t>
            </a:r>
            <a:endParaRPr/>
          </a:p>
        </p:txBody>
      </p:sp>
      <p:sp>
        <p:nvSpPr>
          <p:cNvPr id="828" name="Google Shape;828;p7"/>
          <p:cNvSpPr txBox="1"/>
          <p:nvPr/>
        </p:nvSpPr>
        <p:spPr>
          <a:xfrm>
            <a:off x="9784080" y="4535423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$15,853</a:t>
            </a:r>
            <a:endParaRPr/>
          </a:p>
        </p:txBody>
      </p:sp>
      <p:sp>
        <p:nvSpPr>
          <p:cNvPr id="829" name="Google Shape;829;p7"/>
          <p:cNvSpPr/>
          <p:nvPr/>
        </p:nvSpPr>
        <p:spPr>
          <a:xfrm>
            <a:off x="457200" y="4809743"/>
            <a:ext cx="11338559" cy="310896"/>
          </a:xfrm>
          <a:prstGeom prst="rect">
            <a:avLst/>
          </a:prstGeom>
          <a:solidFill>
            <a:srgbClr val="FAF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7"/>
          <p:cNvSpPr txBox="1"/>
          <p:nvPr/>
        </p:nvSpPr>
        <p:spPr>
          <a:xfrm>
            <a:off x="457200" y="4846319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 &amp; R Agency LLC</a:t>
            </a:r>
            <a:endParaRPr/>
          </a:p>
        </p:txBody>
      </p:sp>
      <p:sp>
        <p:nvSpPr>
          <p:cNvPr id="831" name="Google Shape;831;p7"/>
          <p:cNvSpPr txBox="1"/>
          <p:nvPr/>
        </p:nvSpPr>
        <p:spPr>
          <a:xfrm>
            <a:off x="4663440" y="4846319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23</a:t>
            </a:r>
            <a:endParaRPr/>
          </a:p>
        </p:txBody>
      </p:sp>
      <p:sp>
        <p:nvSpPr>
          <p:cNvPr id="832" name="Google Shape;832;p7"/>
          <p:cNvSpPr txBox="1"/>
          <p:nvPr/>
        </p:nvSpPr>
        <p:spPr>
          <a:xfrm>
            <a:off x="5943600" y="4846319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833" name="Google Shape;833;p7"/>
          <p:cNvSpPr txBox="1"/>
          <p:nvPr/>
        </p:nvSpPr>
        <p:spPr>
          <a:xfrm>
            <a:off x="7223760" y="4846319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834" name="Google Shape;834;p7"/>
          <p:cNvSpPr txBox="1"/>
          <p:nvPr/>
        </p:nvSpPr>
        <p:spPr>
          <a:xfrm>
            <a:off x="8503920" y="4846319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4.3%</a:t>
            </a:r>
            <a:endParaRPr/>
          </a:p>
        </p:txBody>
      </p:sp>
      <p:sp>
        <p:nvSpPr>
          <p:cNvPr id="835" name="Google Shape;835;p7"/>
          <p:cNvSpPr txBox="1"/>
          <p:nvPr/>
        </p:nvSpPr>
        <p:spPr>
          <a:xfrm>
            <a:off x="9784080" y="4846319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$12,488</a:t>
            </a:r>
            <a:endParaRPr/>
          </a:p>
        </p:txBody>
      </p:sp>
      <p:sp>
        <p:nvSpPr>
          <p:cNvPr id="836" name="Google Shape;836;p7"/>
          <p:cNvSpPr txBox="1"/>
          <p:nvPr/>
        </p:nvSpPr>
        <p:spPr>
          <a:xfrm>
            <a:off x="457200" y="5157215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Waypoint Agency LLC</a:t>
            </a:r>
            <a:endParaRPr/>
          </a:p>
        </p:txBody>
      </p:sp>
      <p:sp>
        <p:nvSpPr>
          <p:cNvPr id="837" name="Google Shape;837;p7"/>
          <p:cNvSpPr txBox="1"/>
          <p:nvPr/>
        </p:nvSpPr>
        <p:spPr>
          <a:xfrm>
            <a:off x="4663440" y="5157215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</a:t>
            </a:r>
            <a:endParaRPr/>
          </a:p>
        </p:txBody>
      </p:sp>
      <p:sp>
        <p:nvSpPr>
          <p:cNvPr id="838" name="Google Shape;838;p7"/>
          <p:cNvSpPr txBox="1"/>
          <p:nvPr/>
        </p:nvSpPr>
        <p:spPr>
          <a:xfrm>
            <a:off x="5943600" y="5157215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839" name="Google Shape;839;p7"/>
          <p:cNvSpPr txBox="1"/>
          <p:nvPr/>
        </p:nvSpPr>
        <p:spPr>
          <a:xfrm>
            <a:off x="7223760" y="5157215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840" name="Google Shape;840;p7"/>
          <p:cNvSpPr txBox="1"/>
          <p:nvPr/>
        </p:nvSpPr>
        <p:spPr>
          <a:xfrm>
            <a:off x="8503920" y="5157215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5.0%</a:t>
            </a:r>
            <a:endParaRPr/>
          </a:p>
        </p:txBody>
      </p:sp>
      <p:sp>
        <p:nvSpPr>
          <p:cNvPr id="841" name="Google Shape;841;p7"/>
          <p:cNvSpPr txBox="1"/>
          <p:nvPr/>
        </p:nvSpPr>
        <p:spPr>
          <a:xfrm>
            <a:off x="9784080" y="5157215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$26,812</a:t>
            </a:r>
            <a:endParaRPr/>
          </a:p>
        </p:txBody>
      </p:sp>
      <p:sp>
        <p:nvSpPr>
          <p:cNvPr id="842" name="Google Shape;842;p7"/>
          <p:cNvSpPr txBox="1"/>
          <p:nvPr/>
        </p:nvSpPr>
        <p:spPr>
          <a:xfrm>
            <a:off x="457200" y="5943600"/>
            <a:ext cx="11338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States with DSG bound business in this book: CA, MS, NH, TX, VA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8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 In My Portfolio — Ron Douglas</a:t>
            </a:r>
            <a:endParaRPr/>
          </a:p>
        </p:txBody>
      </p:sp>
      <p:sp>
        <p:nvSpPr>
          <p:cNvPr id="848" name="Google Shape;848;p8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 business (4+ power units) across this bdm's agencies  |  2026 YTD</a:t>
            </a:r>
            <a:endParaRPr/>
          </a:p>
        </p:txBody>
      </p:sp>
      <p:sp>
        <p:nvSpPr>
          <p:cNvPr id="849" name="Google Shape;849;p8"/>
          <p:cNvSpPr/>
          <p:nvPr/>
        </p:nvSpPr>
        <p:spPr>
          <a:xfrm>
            <a:off x="548640" y="1188720"/>
            <a:ext cx="2606040" cy="86868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1,616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 SUBMISSIONS</a:t>
            </a:r>
            <a:endParaRPr/>
          </a:p>
        </p:txBody>
      </p:sp>
      <p:sp>
        <p:nvSpPr>
          <p:cNvPr id="850" name="Google Shape;850;p8"/>
          <p:cNvSpPr/>
          <p:nvPr/>
        </p:nvSpPr>
        <p:spPr>
          <a:xfrm>
            <a:off x="3337560" y="1188720"/>
            <a:ext cx="2606040" cy="86868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378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 BOUND</a:t>
            </a:r>
            <a:endParaRPr/>
          </a:p>
        </p:txBody>
      </p:sp>
      <p:sp>
        <p:nvSpPr>
          <p:cNvPr id="851" name="Google Shape;851;p8"/>
          <p:cNvSpPr/>
          <p:nvPr/>
        </p:nvSpPr>
        <p:spPr>
          <a:xfrm>
            <a:off x="6126480" y="1188720"/>
            <a:ext cx="2606040" cy="86868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$34,325,456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 GWP</a:t>
            </a:r>
            <a:endParaRPr/>
          </a:p>
        </p:txBody>
      </p:sp>
      <p:sp>
        <p:nvSpPr>
          <p:cNvPr id="852" name="Google Shape;852;p8"/>
          <p:cNvSpPr/>
          <p:nvPr/>
        </p:nvSpPr>
        <p:spPr>
          <a:xfrm>
            <a:off x="8915400" y="1188720"/>
            <a:ext cx="2606040" cy="86868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AVG UNITS / SUB</a:t>
            </a:r>
            <a:endParaRPr/>
          </a:p>
        </p:txBody>
      </p:sp>
      <p:sp>
        <p:nvSpPr>
          <p:cNvPr id="853" name="Google Shape;853;p8"/>
          <p:cNvSpPr/>
          <p:nvPr/>
        </p:nvSpPr>
        <p:spPr>
          <a:xfrm>
            <a:off x="457200" y="2286000"/>
            <a:ext cx="6949440" cy="27432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8"/>
          <p:cNvSpPr txBox="1"/>
          <p:nvPr/>
        </p:nvSpPr>
        <p:spPr>
          <a:xfrm>
            <a:off x="566928" y="2322576"/>
            <a:ext cx="6766559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 BY AGENCY (top 8)</a:t>
            </a:r>
            <a:endParaRPr/>
          </a:p>
        </p:txBody>
      </p:sp>
      <p:sp>
        <p:nvSpPr>
          <p:cNvPr id="855" name="Google Shape;855;p8"/>
          <p:cNvSpPr txBox="1"/>
          <p:nvPr/>
        </p:nvSpPr>
        <p:spPr>
          <a:xfrm>
            <a:off x="457200" y="2670048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Agency</a:t>
            </a:r>
            <a:endParaRPr/>
          </a:p>
        </p:txBody>
      </p:sp>
      <p:sp>
        <p:nvSpPr>
          <p:cNvPr id="856" name="Google Shape;856;p8"/>
          <p:cNvSpPr txBox="1"/>
          <p:nvPr/>
        </p:nvSpPr>
        <p:spPr>
          <a:xfrm>
            <a:off x="3749039" y="267004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Subs</a:t>
            </a:r>
            <a:endParaRPr/>
          </a:p>
        </p:txBody>
      </p:sp>
      <p:sp>
        <p:nvSpPr>
          <p:cNvPr id="857" name="Google Shape;857;p8"/>
          <p:cNvSpPr txBox="1"/>
          <p:nvPr/>
        </p:nvSpPr>
        <p:spPr>
          <a:xfrm>
            <a:off x="4663440" y="267004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Bound</a:t>
            </a:r>
            <a:endParaRPr/>
          </a:p>
        </p:txBody>
      </p:sp>
      <p:sp>
        <p:nvSpPr>
          <p:cNvPr id="858" name="Google Shape;858;p8"/>
          <p:cNvSpPr txBox="1"/>
          <p:nvPr/>
        </p:nvSpPr>
        <p:spPr>
          <a:xfrm>
            <a:off x="5577840" y="267004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 %</a:t>
            </a:r>
            <a:endParaRPr/>
          </a:p>
        </p:txBody>
      </p:sp>
      <p:sp>
        <p:nvSpPr>
          <p:cNvPr id="859" name="Google Shape;859;p8"/>
          <p:cNvSpPr txBox="1"/>
          <p:nvPr/>
        </p:nvSpPr>
        <p:spPr>
          <a:xfrm>
            <a:off x="6492240" y="267004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GWP</a:t>
            </a:r>
            <a:endParaRPr/>
          </a:p>
        </p:txBody>
      </p:sp>
      <p:sp>
        <p:nvSpPr>
          <p:cNvPr id="860" name="Google Shape;860;p8"/>
          <p:cNvSpPr/>
          <p:nvPr/>
        </p:nvSpPr>
        <p:spPr>
          <a:xfrm>
            <a:off x="457200" y="2944368"/>
            <a:ext cx="6949440" cy="310896"/>
          </a:xfrm>
          <a:prstGeom prst="rect">
            <a:avLst/>
          </a:prstGeom>
          <a:solidFill>
            <a:srgbClr val="FAF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8"/>
          <p:cNvSpPr txBox="1"/>
          <p:nvPr/>
        </p:nvSpPr>
        <p:spPr>
          <a:xfrm>
            <a:off x="457200" y="2980944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USA SPECIALTY INSURANCE/DBA PREVENTTY</a:t>
            </a:r>
            <a:endParaRPr/>
          </a:p>
        </p:txBody>
      </p:sp>
      <p:sp>
        <p:nvSpPr>
          <p:cNvPr id="862" name="Google Shape;862;p8"/>
          <p:cNvSpPr txBox="1"/>
          <p:nvPr/>
        </p:nvSpPr>
        <p:spPr>
          <a:xfrm>
            <a:off x="3749039" y="298094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424</a:t>
            </a:r>
            <a:endParaRPr/>
          </a:p>
        </p:txBody>
      </p:sp>
      <p:sp>
        <p:nvSpPr>
          <p:cNvPr id="863" name="Google Shape;863;p8"/>
          <p:cNvSpPr txBox="1"/>
          <p:nvPr/>
        </p:nvSpPr>
        <p:spPr>
          <a:xfrm>
            <a:off x="4663440" y="298094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65</a:t>
            </a:r>
            <a:endParaRPr/>
          </a:p>
        </p:txBody>
      </p:sp>
      <p:sp>
        <p:nvSpPr>
          <p:cNvPr id="864" name="Google Shape;864;p8"/>
          <p:cNvSpPr txBox="1"/>
          <p:nvPr/>
        </p:nvSpPr>
        <p:spPr>
          <a:xfrm>
            <a:off x="5577840" y="298094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15.3%</a:t>
            </a:r>
            <a:endParaRPr/>
          </a:p>
        </p:txBody>
      </p:sp>
      <p:sp>
        <p:nvSpPr>
          <p:cNvPr id="865" name="Google Shape;865;p8"/>
          <p:cNvSpPr txBox="1"/>
          <p:nvPr/>
        </p:nvSpPr>
        <p:spPr>
          <a:xfrm>
            <a:off x="6492240" y="298094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$5,513,943</a:t>
            </a:r>
            <a:endParaRPr/>
          </a:p>
        </p:txBody>
      </p:sp>
      <p:sp>
        <p:nvSpPr>
          <p:cNvPr id="866" name="Google Shape;866;p8"/>
          <p:cNvSpPr txBox="1"/>
          <p:nvPr/>
        </p:nvSpPr>
        <p:spPr>
          <a:xfrm>
            <a:off x="457200" y="3291839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Insurance4Truckers LLC</a:t>
            </a:r>
            <a:endParaRPr/>
          </a:p>
        </p:txBody>
      </p:sp>
      <p:sp>
        <p:nvSpPr>
          <p:cNvPr id="867" name="Google Shape;867;p8"/>
          <p:cNvSpPr txBox="1"/>
          <p:nvPr/>
        </p:nvSpPr>
        <p:spPr>
          <a:xfrm>
            <a:off x="3749039" y="3291839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337</a:t>
            </a:r>
            <a:endParaRPr/>
          </a:p>
        </p:txBody>
      </p:sp>
      <p:sp>
        <p:nvSpPr>
          <p:cNvPr id="868" name="Google Shape;868;p8"/>
          <p:cNvSpPr txBox="1"/>
          <p:nvPr/>
        </p:nvSpPr>
        <p:spPr>
          <a:xfrm>
            <a:off x="4663440" y="3291839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55</a:t>
            </a:r>
            <a:endParaRPr/>
          </a:p>
        </p:txBody>
      </p:sp>
      <p:sp>
        <p:nvSpPr>
          <p:cNvPr id="869" name="Google Shape;869;p8"/>
          <p:cNvSpPr txBox="1"/>
          <p:nvPr/>
        </p:nvSpPr>
        <p:spPr>
          <a:xfrm>
            <a:off x="5577840" y="3291839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16.3%</a:t>
            </a:r>
            <a:endParaRPr/>
          </a:p>
        </p:txBody>
      </p:sp>
      <p:sp>
        <p:nvSpPr>
          <p:cNvPr id="870" name="Google Shape;870;p8"/>
          <p:cNvSpPr txBox="1"/>
          <p:nvPr/>
        </p:nvSpPr>
        <p:spPr>
          <a:xfrm>
            <a:off x="6492240" y="3291839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$2,865,285</a:t>
            </a:r>
            <a:endParaRPr/>
          </a:p>
        </p:txBody>
      </p:sp>
      <p:sp>
        <p:nvSpPr>
          <p:cNvPr id="871" name="Google Shape;871;p8"/>
          <p:cNvSpPr/>
          <p:nvPr/>
        </p:nvSpPr>
        <p:spPr>
          <a:xfrm>
            <a:off x="457200" y="3566159"/>
            <a:ext cx="6949440" cy="310896"/>
          </a:xfrm>
          <a:prstGeom prst="rect">
            <a:avLst/>
          </a:prstGeom>
          <a:solidFill>
            <a:srgbClr val="FAF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8"/>
          <p:cNvSpPr txBox="1"/>
          <p:nvPr/>
        </p:nvSpPr>
        <p:spPr>
          <a:xfrm>
            <a:off x="457200" y="3602735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Prestige International Insurance Group Inc</a:t>
            </a:r>
            <a:endParaRPr/>
          </a:p>
        </p:txBody>
      </p:sp>
      <p:sp>
        <p:nvSpPr>
          <p:cNvPr id="873" name="Google Shape;873;p8"/>
          <p:cNvSpPr txBox="1"/>
          <p:nvPr/>
        </p:nvSpPr>
        <p:spPr>
          <a:xfrm>
            <a:off x="3749039" y="3602735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224</a:t>
            </a:r>
            <a:endParaRPr/>
          </a:p>
        </p:txBody>
      </p:sp>
      <p:sp>
        <p:nvSpPr>
          <p:cNvPr id="874" name="Google Shape;874;p8"/>
          <p:cNvSpPr txBox="1"/>
          <p:nvPr/>
        </p:nvSpPr>
        <p:spPr>
          <a:xfrm>
            <a:off x="4663440" y="3602735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76</a:t>
            </a:r>
            <a:endParaRPr/>
          </a:p>
        </p:txBody>
      </p:sp>
      <p:sp>
        <p:nvSpPr>
          <p:cNvPr id="875" name="Google Shape;875;p8"/>
          <p:cNvSpPr txBox="1"/>
          <p:nvPr/>
        </p:nvSpPr>
        <p:spPr>
          <a:xfrm>
            <a:off x="5577840" y="3602735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33.9%</a:t>
            </a:r>
            <a:endParaRPr/>
          </a:p>
        </p:txBody>
      </p:sp>
      <p:sp>
        <p:nvSpPr>
          <p:cNvPr id="876" name="Google Shape;876;p8"/>
          <p:cNvSpPr txBox="1"/>
          <p:nvPr/>
        </p:nvSpPr>
        <p:spPr>
          <a:xfrm>
            <a:off x="6492240" y="3602735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$9,252,596</a:t>
            </a:r>
            <a:endParaRPr/>
          </a:p>
        </p:txBody>
      </p:sp>
      <p:sp>
        <p:nvSpPr>
          <p:cNvPr id="877" name="Google Shape;877;p8"/>
          <p:cNvSpPr txBox="1"/>
          <p:nvPr/>
        </p:nvSpPr>
        <p:spPr>
          <a:xfrm>
            <a:off x="457200" y="3913631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Valion Security LLC</a:t>
            </a:r>
            <a:endParaRPr/>
          </a:p>
        </p:txBody>
      </p:sp>
      <p:sp>
        <p:nvSpPr>
          <p:cNvPr id="878" name="Google Shape;878;p8"/>
          <p:cNvSpPr txBox="1"/>
          <p:nvPr/>
        </p:nvSpPr>
        <p:spPr>
          <a:xfrm>
            <a:off x="3749039" y="3913631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125</a:t>
            </a:r>
            <a:endParaRPr/>
          </a:p>
        </p:txBody>
      </p:sp>
      <p:sp>
        <p:nvSpPr>
          <p:cNvPr id="879" name="Google Shape;879;p8"/>
          <p:cNvSpPr txBox="1"/>
          <p:nvPr/>
        </p:nvSpPr>
        <p:spPr>
          <a:xfrm>
            <a:off x="4663440" y="3913631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36</a:t>
            </a:r>
            <a:endParaRPr/>
          </a:p>
        </p:txBody>
      </p:sp>
      <p:sp>
        <p:nvSpPr>
          <p:cNvPr id="880" name="Google Shape;880;p8"/>
          <p:cNvSpPr txBox="1"/>
          <p:nvPr/>
        </p:nvSpPr>
        <p:spPr>
          <a:xfrm>
            <a:off x="5577840" y="3913631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28.8%</a:t>
            </a:r>
            <a:endParaRPr/>
          </a:p>
        </p:txBody>
      </p:sp>
      <p:sp>
        <p:nvSpPr>
          <p:cNvPr id="881" name="Google Shape;881;p8"/>
          <p:cNvSpPr txBox="1"/>
          <p:nvPr/>
        </p:nvSpPr>
        <p:spPr>
          <a:xfrm>
            <a:off x="6492240" y="3913631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$2,032,355</a:t>
            </a:r>
            <a:endParaRPr/>
          </a:p>
        </p:txBody>
      </p:sp>
      <p:sp>
        <p:nvSpPr>
          <p:cNvPr id="882" name="Google Shape;882;p8"/>
          <p:cNvSpPr/>
          <p:nvPr/>
        </p:nvSpPr>
        <p:spPr>
          <a:xfrm>
            <a:off x="457200" y="4187951"/>
            <a:ext cx="6949440" cy="310896"/>
          </a:xfrm>
          <a:prstGeom prst="rect">
            <a:avLst/>
          </a:prstGeom>
          <a:solidFill>
            <a:srgbClr val="FAF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8"/>
          <p:cNvSpPr txBox="1"/>
          <p:nvPr/>
        </p:nvSpPr>
        <p:spPr>
          <a:xfrm>
            <a:off x="457200" y="4224527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Vantage Ins LLC</a:t>
            </a:r>
            <a:endParaRPr/>
          </a:p>
        </p:txBody>
      </p:sp>
      <p:sp>
        <p:nvSpPr>
          <p:cNvPr id="884" name="Google Shape;884;p8"/>
          <p:cNvSpPr txBox="1"/>
          <p:nvPr/>
        </p:nvSpPr>
        <p:spPr>
          <a:xfrm>
            <a:off x="3749039" y="4224527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105</a:t>
            </a:r>
            <a:endParaRPr/>
          </a:p>
        </p:txBody>
      </p:sp>
      <p:sp>
        <p:nvSpPr>
          <p:cNvPr id="885" name="Google Shape;885;p8"/>
          <p:cNvSpPr txBox="1"/>
          <p:nvPr/>
        </p:nvSpPr>
        <p:spPr>
          <a:xfrm>
            <a:off x="4663440" y="4224527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24</a:t>
            </a:r>
            <a:endParaRPr/>
          </a:p>
        </p:txBody>
      </p:sp>
      <p:sp>
        <p:nvSpPr>
          <p:cNvPr id="886" name="Google Shape;886;p8"/>
          <p:cNvSpPr txBox="1"/>
          <p:nvPr/>
        </p:nvSpPr>
        <p:spPr>
          <a:xfrm>
            <a:off x="5577840" y="4224527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22.9%</a:t>
            </a:r>
            <a:endParaRPr/>
          </a:p>
        </p:txBody>
      </p:sp>
      <p:sp>
        <p:nvSpPr>
          <p:cNvPr id="887" name="Google Shape;887;p8"/>
          <p:cNvSpPr txBox="1"/>
          <p:nvPr/>
        </p:nvSpPr>
        <p:spPr>
          <a:xfrm>
            <a:off x="6492240" y="4224527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$1,128,131</a:t>
            </a:r>
            <a:endParaRPr/>
          </a:p>
        </p:txBody>
      </p:sp>
      <p:sp>
        <p:nvSpPr>
          <p:cNvPr id="888" name="Google Shape;888;p8"/>
          <p:cNvSpPr txBox="1"/>
          <p:nvPr/>
        </p:nvSpPr>
        <p:spPr>
          <a:xfrm>
            <a:off x="457200" y="4535423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925 Partners, LLC</a:t>
            </a:r>
            <a:endParaRPr/>
          </a:p>
        </p:txBody>
      </p:sp>
      <p:sp>
        <p:nvSpPr>
          <p:cNvPr id="889" name="Google Shape;889;p8"/>
          <p:cNvSpPr txBox="1"/>
          <p:nvPr/>
        </p:nvSpPr>
        <p:spPr>
          <a:xfrm>
            <a:off x="3749039" y="4535423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55</a:t>
            </a:r>
            <a:endParaRPr/>
          </a:p>
        </p:txBody>
      </p:sp>
      <p:sp>
        <p:nvSpPr>
          <p:cNvPr id="890" name="Google Shape;890;p8"/>
          <p:cNvSpPr txBox="1"/>
          <p:nvPr/>
        </p:nvSpPr>
        <p:spPr>
          <a:xfrm>
            <a:off x="4663440" y="4535423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</a:t>
            </a:r>
            <a:endParaRPr/>
          </a:p>
        </p:txBody>
      </p:sp>
      <p:sp>
        <p:nvSpPr>
          <p:cNvPr id="891" name="Google Shape;891;p8"/>
          <p:cNvSpPr txBox="1"/>
          <p:nvPr/>
        </p:nvSpPr>
        <p:spPr>
          <a:xfrm>
            <a:off x="5577840" y="4535423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25.5%</a:t>
            </a:r>
            <a:endParaRPr/>
          </a:p>
        </p:txBody>
      </p:sp>
      <p:sp>
        <p:nvSpPr>
          <p:cNvPr id="892" name="Google Shape;892;p8"/>
          <p:cNvSpPr txBox="1"/>
          <p:nvPr/>
        </p:nvSpPr>
        <p:spPr>
          <a:xfrm>
            <a:off x="6492240" y="4535423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$972,968</a:t>
            </a:r>
            <a:endParaRPr/>
          </a:p>
        </p:txBody>
      </p:sp>
      <p:sp>
        <p:nvSpPr>
          <p:cNvPr id="893" name="Google Shape;893;p8"/>
          <p:cNvSpPr/>
          <p:nvPr/>
        </p:nvSpPr>
        <p:spPr>
          <a:xfrm>
            <a:off x="457200" y="4809743"/>
            <a:ext cx="6949440" cy="310896"/>
          </a:xfrm>
          <a:prstGeom prst="rect">
            <a:avLst/>
          </a:prstGeom>
          <a:solidFill>
            <a:srgbClr val="FAF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8"/>
          <p:cNvSpPr txBox="1"/>
          <p:nvPr/>
        </p:nvSpPr>
        <p:spPr>
          <a:xfrm>
            <a:off x="457200" y="4846319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Insurance Planet</a:t>
            </a:r>
            <a:endParaRPr/>
          </a:p>
        </p:txBody>
      </p:sp>
      <p:sp>
        <p:nvSpPr>
          <p:cNvPr id="895" name="Google Shape;895;p8"/>
          <p:cNvSpPr txBox="1"/>
          <p:nvPr/>
        </p:nvSpPr>
        <p:spPr>
          <a:xfrm>
            <a:off x="3749039" y="4846319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40</a:t>
            </a:r>
            <a:endParaRPr/>
          </a:p>
        </p:txBody>
      </p:sp>
      <p:sp>
        <p:nvSpPr>
          <p:cNvPr id="896" name="Google Shape;896;p8"/>
          <p:cNvSpPr txBox="1"/>
          <p:nvPr/>
        </p:nvSpPr>
        <p:spPr>
          <a:xfrm>
            <a:off x="4663440" y="4846319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/>
          </a:p>
        </p:txBody>
      </p:sp>
      <p:sp>
        <p:nvSpPr>
          <p:cNvPr id="897" name="Google Shape;897;p8"/>
          <p:cNvSpPr txBox="1"/>
          <p:nvPr/>
        </p:nvSpPr>
        <p:spPr>
          <a:xfrm>
            <a:off x="5577840" y="4846319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25.0%</a:t>
            </a:r>
            <a:endParaRPr/>
          </a:p>
        </p:txBody>
      </p:sp>
      <p:sp>
        <p:nvSpPr>
          <p:cNvPr id="898" name="Google Shape;898;p8"/>
          <p:cNvSpPr txBox="1"/>
          <p:nvPr/>
        </p:nvSpPr>
        <p:spPr>
          <a:xfrm>
            <a:off x="6492240" y="4846319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$671,849</a:t>
            </a:r>
            <a:endParaRPr/>
          </a:p>
        </p:txBody>
      </p:sp>
      <p:sp>
        <p:nvSpPr>
          <p:cNvPr id="899" name="Google Shape;899;p8"/>
          <p:cNvSpPr txBox="1"/>
          <p:nvPr/>
        </p:nvSpPr>
        <p:spPr>
          <a:xfrm>
            <a:off x="457200" y="5157215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Martin Noone Agency, LLC</a:t>
            </a:r>
            <a:endParaRPr/>
          </a:p>
        </p:txBody>
      </p:sp>
      <p:sp>
        <p:nvSpPr>
          <p:cNvPr id="900" name="Google Shape;900;p8"/>
          <p:cNvSpPr txBox="1"/>
          <p:nvPr/>
        </p:nvSpPr>
        <p:spPr>
          <a:xfrm>
            <a:off x="3749039" y="5157215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32</a:t>
            </a:r>
            <a:endParaRPr/>
          </a:p>
        </p:txBody>
      </p:sp>
      <p:sp>
        <p:nvSpPr>
          <p:cNvPr id="901" name="Google Shape;901;p8"/>
          <p:cNvSpPr txBox="1"/>
          <p:nvPr/>
        </p:nvSpPr>
        <p:spPr>
          <a:xfrm>
            <a:off x="4663440" y="5157215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/>
          </a:p>
        </p:txBody>
      </p:sp>
      <p:sp>
        <p:nvSpPr>
          <p:cNvPr id="902" name="Google Shape;902;p8"/>
          <p:cNvSpPr txBox="1"/>
          <p:nvPr/>
        </p:nvSpPr>
        <p:spPr>
          <a:xfrm>
            <a:off x="5577840" y="5157215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31.2%</a:t>
            </a:r>
            <a:endParaRPr/>
          </a:p>
        </p:txBody>
      </p:sp>
      <p:sp>
        <p:nvSpPr>
          <p:cNvPr id="903" name="Google Shape;903;p8"/>
          <p:cNvSpPr txBox="1"/>
          <p:nvPr/>
        </p:nvSpPr>
        <p:spPr>
          <a:xfrm>
            <a:off x="6492240" y="5157215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$1,162,323</a:t>
            </a:r>
            <a:endParaRPr/>
          </a:p>
        </p:txBody>
      </p:sp>
      <p:sp>
        <p:nvSpPr>
          <p:cNvPr id="904" name="Google Shape;904;p8"/>
          <p:cNvSpPr/>
          <p:nvPr/>
        </p:nvSpPr>
        <p:spPr>
          <a:xfrm>
            <a:off x="7589520" y="2286000"/>
            <a:ext cx="4206240" cy="27432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8"/>
          <p:cNvSpPr txBox="1"/>
          <p:nvPr/>
        </p:nvSpPr>
        <p:spPr>
          <a:xfrm>
            <a:off x="7699248" y="2322576"/>
            <a:ext cx="4023359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 SIZE MIX</a:t>
            </a:r>
            <a:endParaRPr/>
          </a:p>
        </p:txBody>
      </p:sp>
      <p:sp>
        <p:nvSpPr>
          <p:cNvPr id="906" name="Google Shape;906;p8"/>
          <p:cNvSpPr txBox="1"/>
          <p:nvPr/>
        </p:nvSpPr>
        <p:spPr>
          <a:xfrm>
            <a:off x="7680960" y="267004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4-5 units</a:t>
            </a:r>
            <a:endParaRPr/>
          </a:p>
        </p:txBody>
      </p:sp>
      <p:sp>
        <p:nvSpPr>
          <p:cNvPr id="907" name="Google Shape;907;p8"/>
          <p:cNvSpPr txBox="1"/>
          <p:nvPr/>
        </p:nvSpPr>
        <p:spPr>
          <a:xfrm>
            <a:off x="9098280" y="267004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1034</a:t>
            </a:r>
            <a:endParaRPr/>
          </a:p>
        </p:txBody>
      </p:sp>
      <p:sp>
        <p:nvSpPr>
          <p:cNvPr id="908" name="Google Shape;908;p8"/>
          <p:cNvSpPr txBox="1"/>
          <p:nvPr/>
        </p:nvSpPr>
        <p:spPr>
          <a:xfrm>
            <a:off x="10104120" y="2670048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(64%)</a:t>
            </a:r>
            <a:endParaRPr/>
          </a:p>
        </p:txBody>
      </p:sp>
      <p:sp>
        <p:nvSpPr>
          <p:cNvPr id="909" name="Google Shape;909;p8"/>
          <p:cNvSpPr txBox="1"/>
          <p:nvPr/>
        </p:nvSpPr>
        <p:spPr>
          <a:xfrm>
            <a:off x="7680960" y="303580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6-10 units</a:t>
            </a:r>
            <a:endParaRPr/>
          </a:p>
        </p:txBody>
      </p:sp>
      <p:sp>
        <p:nvSpPr>
          <p:cNvPr id="910" name="Google Shape;910;p8"/>
          <p:cNvSpPr txBox="1"/>
          <p:nvPr/>
        </p:nvSpPr>
        <p:spPr>
          <a:xfrm>
            <a:off x="9098280" y="303580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472</a:t>
            </a:r>
            <a:endParaRPr/>
          </a:p>
        </p:txBody>
      </p:sp>
      <p:sp>
        <p:nvSpPr>
          <p:cNvPr id="911" name="Google Shape;911;p8"/>
          <p:cNvSpPr txBox="1"/>
          <p:nvPr/>
        </p:nvSpPr>
        <p:spPr>
          <a:xfrm>
            <a:off x="10104120" y="3035808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(29%)</a:t>
            </a:r>
            <a:endParaRPr/>
          </a:p>
        </p:txBody>
      </p:sp>
      <p:sp>
        <p:nvSpPr>
          <p:cNvPr id="912" name="Google Shape;912;p8"/>
          <p:cNvSpPr txBox="1"/>
          <p:nvPr/>
        </p:nvSpPr>
        <p:spPr>
          <a:xfrm>
            <a:off x="7680960" y="34015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11-25 units</a:t>
            </a:r>
            <a:endParaRPr/>
          </a:p>
        </p:txBody>
      </p:sp>
      <p:sp>
        <p:nvSpPr>
          <p:cNvPr id="913" name="Google Shape;913;p8"/>
          <p:cNvSpPr txBox="1"/>
          <p:nvPr/>
        </p:nvSpPr>
        <p:spPr>
          <a:xfrm>
            <a:off x="9098280" y="340156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100</a:t>
            </a:r>
            <a:endParaRPr/>
          </a:p>
        </p:txBody>
      </p:sp>
      <p:sp>
        <p:nvSpPr>
          <p:cNvPr id="914" name="Google Shape;914;p8"/>
          <p:cNvSpPr txBox="1"/>
          <p:nvPr/>
        </p:nvSpPr>
        <p:spPr>
          <a:xfrm>
            <a:off x="10104120" y="3401568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(6%)</a:t>
            </a:r>
            <a:endParaRPr/>
          </a:p>
        </p:txBody>
      </p:sp>
      <p:sp>
        <p:nvSpPr>
          <p:cNvPr id="915" name="Google Shape;915;p8"/>
          <p:cNvSpPr txBox="1"/>
          <p:nvPr/>
        </p:nvSpPr>
        <p:spPr>
          <a:xfrm>
            <a:off x="7680960" y="376732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26-50 units</a:t>
            </a:r>
            <a:endParaRPr/>
          </a:p>
        </p:txBody>
      </p:sp>
      <p:sp>
        <p:nvSpPr>
          <p:cNvPr id="916" name="Google Shape;916;p8"/>
          <p:cNvSpPr txBox="1"/>
          <p:nvPr/>
        </p:nvSpPr>
        <p:spPr>
          <a:xfrm>
            <a:off x="9098280" y="376732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/>
          </a:p>
        </p:txBody>
      </p:sp>
      <p:sp>
        <p:nvSpPr>
          <p:cNvPr id="917" name="Google Shape;917;p8"/>
          <p:cNvSpPr txBox="1"/>
          <p:nvPr/>
        </p:nvSpPr>
        <p:spPr>
          <a:xfrm>
            <a:off x="10104120" y="3767328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(1%)</a:t>
            </a:r>
            <a:endParaRPr/>
          </a:p>
        </p:txBody>
      </p:sp>
      <p:sp>
        <p:nvSpPr>
          <p:cNvPr id="918" name="Google Shape;918;p8"/>
          <p:cNvSpPr txBox="1"/>
          <p:nvPr/>
        </p:nvSpPr>
        <p:spPr>
          <a:xfrm>
            <a:off x="7680960" y="4133087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51+ units</a:t>
            </a:r>
            <a:endParaRPr/>
          </a:p>
        </p:txBody>
      </p:sp>
      <p:sp>
        <p:nvSpPr>
          <p:cNvPr id="919" name="Google Shape;919;p8"/>
          <p:cNvSpPr txBox="1"/>
          <p:nvPr/>
        </p:nvSpPr>
        <p:spPr>
          <a:xfrm>
            <a:off x="9098280" y="4133087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920" name="Google Shape;920;p8"/>
          <p:cNvSpPr txBox="1"/>
          <p:nvPr/>
        </p:nvSpPr>
        <p:spPr>
          <a:xfrm>
            <a:off x="10104120" y="4133087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(0%)</a:t>
            </a:r>
            <a:endParaRPr/>
          </a:p>
        </p:txBody>
      </p:sp>
      <p:sp>
        <p:nvSpPr>
          <p:cNvPr id="921" name="Google Shape;921;p8"/>
          <p:cNvSpPr txBox="1"/>
          <p:nvPr/>
        </p:nvSpPr>
        <p:spPr>
          <a:xfrm>
            <a:off x="457200" y="6126480"/>
            <a:ext cx="11338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 rate on fleet: 23.4%  ·  Declined: 328  ·  Source: cw_rep.transportation_submissions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9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9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Agency Producers — Ron Douglas</a:t>
            </a:r>
            <a:endParaRPr/>
          </a:p>
        </p:txBody>
      </p:sp>
      <p:sp>
        <p:nvSpPr>
          <p:cNvPr id="928" name="Google Shape;928;p9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4B5F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Jan–Jun 2026  |  Individual agents ranked by YTD submissions  |  Agent = broker_contact on submission  |  Trend = MoM</a:t>
            </a:r>
            <a:endParaRPr/>
          </a:p>
        </p:txBody>
      </p:sp>
      <p:sp>
        <p:nvSpPr>
          <p:cNvPr id="929" name="Google Shape;929;p9"/>
          <p:cNvSpPr/>
          <p:nvPr/>
        </p:nvSpPr>
        <p:spPr>
          <a:xfrm>
            <a:off x="182880" y="841248"/>
            <a:ext cx="2249424" cy="566928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14585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Total YTD Subs</a:t>
            </a:r>
            <a:endParaRPr/>
          </a:p>
        </p:txBody>
      </p:sp>
      <p:sp>
        <p:nvSpPr>
          <p:cNvPr id="930" name="Google Shape;930;p9"/>
          <p:cNvSpPr/>
          <p:nvPr/>
        </p:nvSpPr>
        <p:spPr>
          <a:xfrm>
            <a:off x="2569464" y="841248"/>
            <a:ext cx="2249424" cy="566928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704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Total YTD Binds</a:t>
            </a:r>
            <a:endParaRPr/>
          </a:p>
        </p:txBody>
      </p:sp>
      <p:sp>
        <p:nvSpPr>
          <p:cNvPr id="931" name="Google Shape;931;p9"/>
          <p:cNvSpPr/>
          <p:nvPr/>
        </p:nvSpPr>
        <p:spPr>
          <a:xfrm>
            <a:off x="4956048" y="841248"/>
            <a:ext cx="2249424" cy="566928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4.8%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Portfolio Hit Ratio</a:t>
            </a:r>
            <a:endParaRPr/>
          </a:p>
        </p:txBody>
      </p:sp>
      <p:sp>
        <p:nvSpPr>
          <p:cNvPr id="932" name="Google Shape;932;p9"/>
          <p:cNvSpPr/>
          <p:nvPr/>
        </p:nvSpPr>
        <p:spPr>
          <a:xfrm>
            <a:off x="7342631" y="841248"/>
            <a:ext cx="2249424" cy="566928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Active Agents</a:t>
            </a:r>
            <a:endParaRPr/>
          </a:p>
        </p:txBody>
      </p:sp>
      <p:sp>
        <p:nvSpPr>
          <p:cNvPr id="933" name="Google Shape;933;p9"/>
          <p:cNvSpPr/>
          <p:nvPr/>
        </p:nvSpPr>
        <p:spPr>
          <a:xfrm>
            <a:off x="9729215" y="841248"/>
            <a:ext cx="2249424" cy="566928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63%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Top 5 Agent Share</a:t>
            </a:r>
            <a:endParaRPr/>
          </a:p>
        </p:txBody>
      </p:sp>
      <p:sp>
        <p:nvSpPr>
          <p:cNvPr id="934" name="Google Shape;934;p9"/>
          <p:cNvSpPr/>
          <p:nvPr/>
        </p:nvSpPr>
        <p:spPr>
          <a:xfrm>
            <a:off x="137160" y="1536192"/>
            <a:ext cx="5760720" cy="27432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9"/>
          <p:cNvSpPr txBox="1"/>
          <p:nvPr/>
        </p:nvSpPr>
        <p:spPr>
          <a:xfrm>
            <a:off x="246888" y="1572768"/>
            <a:ext cx="5577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TOP AGENTS BY SUBMISSIONS  —  Ranked 1–18</a:t>
            </a:r>
            <a:endParaRPr/>
          </a:p>
        </p:txBody>
      </p:sp>
      <p:sp>
        <p:nvSpPr>
          <p:cNvPr id="936" name="Google Shape;936;p9"/>
          <p:cNvSpPr txBox="1"/>
          <p:nvPr/>
        </p:nvSpPr>
        <p:spPr>
          <a:xfrm>
            <a:off x="246888" y="1874519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Agent Name</a:t>
            </a:r>
            <a:endParaRPr/>
          </a:p>
        </p:txBody>
      </p:sp>
      <p:sp>
        <p:nvSpPr>
          <p:cNvPr id="937" name="Google Shape;937;p9"/>
          <p:cNvSpPr txBox="1"/>
          <p:nvPr/>
        </p:nvSpPr>
        <p:spPr>
          <a:xfrm>
            <a:off x="1801368" y="1874519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Agency</a:t>
            </a:r>
            <a:endParaRPr/>
          </a:p>
        </p:txBody>
      </p:sp>
      <p:sp>
        <p:nvSpPr>
          <p:cNvPr id="938" name="Google Shape;938;p9"/>
          <p:cNvSpPr txBox="1"/>
          <p:nvPr/>
        </p:nvSpPr>
        <p:spPr>
          <a:xfrm>
            <a:off x="3630168" y="1874519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Subs</a:t>
            </a:r>
            <a:endParaRPr/>
          </a:p>
        </p:txBody>
      </p:sp>
      <p:sp>
        <p:nvSpPr>
          <p:cNvPr id="939" name="Google Shape;939;p9"/>
          <p:cNvSpPr txBox="1"/>
          <p:nvPr/>
        </p:nvSpPr>
        <p:spPr>
          <a:xfrm>
            <a:off x="4224528" y="1874519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940" name="Google Shape;940;p9"/>
          <p:cNvSpPr txBox="1"/>
          <p:nvPr/>
        </p:nvSpPr>
        <p:spPr>
          <a:xfrm>
            <a:off x="4818888" y="1874519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%</a:t>
            </a:r>
            <a:endParaRPr/>
          </a:p>
        </p:txBody>
      </p:sp>
      <p:sp>
        <p:nvSpPr>
          <p:cNvPr id="941" name="Google Shape;941;p9"/>
          <p:cNvSpPr txBox="1"/>
          <p:nvPr/>
        </p:nvSpPr>
        <p:spPr>
          <a:xfrm>
            <a:off x="5413248" y="1874519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MoM</a:t>
            </a:r>
            <a:endParaRPr/>
          </a:p>
        </p:txBody>
      </p:sp>
      <p:sp>
        <p:nvSpPr>
          <p:cNvPr id="942" name="Google Shape;942;p9"/>
          <p:cNvSpPr/>
          <p:nvPr/>
        </p:nvSpPr>
        <p:spPr>
          <a:xfrm>
            <a:off x="182880" y="2048255"/>
            <a:ext cx="5650992" cy="5486"/>
          </a:xfrm>
          <a:prstGeom prst="rect">
            <a:avLst/>
          </a:prstGeom>
          <a:solidFill>
            <a:srgbClr val="C4B5F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9"/>
          <p:cNvSpPr/>
          <p:nvPr/>
        </p:nvSpPr>
        <p:spPr>
          <a:xfrm>
            <a:off x="137160" y="2103120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9"/>
          <p:cNvSpPr txBox="1"/>
          <p:nvPr/>
        </p:nvSpPr>
        <p:spPr>
          <a:xfrm>
            <a:off x="246888" y="2121408"/>
            <a:ext cx="1554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API_USER API_USER</a:t>
            </a:r>
            <a:endParaRPr/>
          </a:p>
        </p:txBody>
      </p:sp>
      <p:sp>
        <p:nvSpPr>
          <p:cNvPr id="945" name="Google Shape;945;p9"/>
          <p:cNvSpPr txBox="1"/>
          <p:nvPr/>
        </p:nvSpPr>
        <p:spPr>
          <a:xfrm>
            <a:off x="1801368" y="212140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Insurance4truckers Llc +1</a:t>
            </a:r>
            <a:endParaRPr/>
          </a:p>
        </p:txBody>
      </p:sp>
      <p:sp>
        <p:nvSpPr>
          <p:cNvPr id="946" name="Google Shape;946;p9"/>
          <p:cNvSpPr txBox="1"/>
          <p:nvPr/>
        </p:nvSpPr>
        <p:spPr>
          <a:xfrm>
            <a:off x="3630168" y="2121408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4600</a:t>
            </a:r>
            <a:endParaRPr/>
          </a:p>
        </p:txBody>
      </p:sp>
      <p:sp>
        <p:nvSpPr>
          <p:cNvPr id="947" name="Google Shape;947;p9"/>
          <p:cNvSpPr txBox="1"/>
          <p:nvPr/>
        </p:nvSpPr>
        <p:spPr>
          <a:xfrm>
            <a:off x="4224528" y="2121408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32</a:t>
            </a:r>
            <a:endParaRPr/>
          </a:p>
        </p:txBody>
      </p:sp>
      <p:sp>
        <p:nvSpPr>
          <p:cNvPr id="948" name="Google Shape;948;p9"/>
          <p:cNvSpPr txBox="1"/>
          <p:nvPr/>
        </p:nvSpPr>
        <p:spPr>
          <a:xfrm>
            <a:off x="4818888" y="2121408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0.7%</a:t>
            </a:r>
            <a:endParaRPr/>
          </a:p>
        </p:txBody>
      </p:sp>
      <p:sp>
        <p:nvSpPr>
          <p:cNvPr id="949" name="Google Shape;949;p9"/>
          <p:cNvSpPr txBox="1"/>
          <p:nvPr/>
        </p:nvSpPr>
        <p:spPr>
          <a:xfrm>
            <a:off x="5413248" y="2121408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▼</a:t>
            </a:r>
            <a:endParaRPr/>
          </a:p>
        </p:txBody>
      </p:sp>
      <p:sp>
        <p:nvSpPr>
          <p:cNvPr id="950" name="Google Shape;950;p9"/>
          <p:cNvSpPr txBox="1"/>
          <p:nvPr/>
        </p:nvSpPr>
        <p:spPr>
          <a:xfrm>
            <a:off x="246888" y="2360980"/>
            <a:ext cx="1554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John Medina</a:t>
            </a:r>
            <a:endParaRPr/>
          </a:p>
        </p:txBody>
      </p:sp>
      <p:sp>
        <p:nvSpPr>
          <p:cNvPr id="951" name="Google Shape;951;p9"/>
          <p:cNvSpPr txBox="1"/>
          <p:nvPr/>
        </p:nvSpPr>
        <p:spPr>
          <a:xfrm>
            <a:off x="1801368" y="2360980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Usa Specialty Insurance/dba Pr</a:t>
            </a:r>
            <a:endParaRPr/>
          </a:p>
        </p:txBody>
      </p:sp>
      <p:sp>
        <p:nvSpPr>
          <p:cNvPr id="952" name="Google Shape;952;p9"/>
          <p:cNvSpPr txBox="1"/>
          <p:nvPr/>
        </p:nvSpPr>
        <p:spPr>
          <a:xfrm>
            <a:off x="3630168" y="2360980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3075</a:t>
            </a:r>
            <a:endParaRPr/>
          </a:p>
        </p:txBody>
      </p:sp>
      <p:sp>
        <p:nvSpPr>
          <p:cNvPr id="953" name="Google Shape;953;p9"/>
          <p:cNvSpPr txBox="1"/>
          <p:nvPr/>
        </p:nvSpPr>
        <p:spPr>
          <a:xfrm>
            <a:off x="4224528" y="2360980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262</a:t>
            </a:r>
            <a:endParaRPr/>
          </a:p>
        </p:txBody>
      </p:sp>
      <p:sp>
        <p:nvSpPr>
          <p:cNvPr id="954" name="Google Shape;954;p9"/>
          <p:cNvSpPr txBox="1"/>
          <p:nvPr/>
        </p:nvSpPr>
        <p:spPr>
          <a:xfrm>
            <a:off x="4818888" y="2360980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8.5%</a:t>
            </a:r>
            <a:endParaRPr/>
          </a:p>
        </p:txBody>
      </p:sp>
      <p:sp>
        <p:nvSpPr>
          <p:cNvPr id="955" name="Google Shape;955;p9"/>
          <p:cNvSpPr txBox="1"/>
          <p:nvPr/>
        </p:nvSpPr>
        <p:spPr>
          <a:xfrm>
            <a:off x="5413248" y="2360980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▼</a:t>
            </a:r>
            <a:endParaRPr/>
          </a:p>
        </p:txBody>
      </p:sp>
      <p:sp>
        <p:nvSpPr>
          <p:cNvPr id="956" name="Google Shape;956;p9"/>
          <p:cNvSpPr/>
          <p:nvPr/>
        </p:nvSpPr>
        <p:spPr>
          <a:xfrm>
            <a:off x="137160" y="2582265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9"/>
          <p:cNvSpPr txBox="1"/>
          <p:nvPr/>
        </p:nvSpPr>
        <p:spPr>
          <a:xfrm>
            <a:off x="246888" y="2600553"/>
            <a:ext cx="1554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Koraima Pino</a:t>
            </a:r>
            <a:endParaRPr/>
          </a:p>
        </p:txBody>
      </p:sp>
      <p:sp>
        <p:nvSpPr>
          <p:cNvPr id="958" name="Google Shape;958;p9"/>
          <p:cNvSpPr txBox="1"/>
          <p:nvPr/>
        </p:nvSpPr>
        <p:spPr>
          <a:xfrm>
            <a:off x="1801368" y="2600553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Vantage Ins Llc</a:t>
            </a:r>
            <a:endParaRPr/>
          </a:p>
        </p:txBody>
      </p:sp>
      <p:sp>
        <p:nvSpPr>
          <p:cNvPr id="959" name="Google Shape;959;p9"/>
          <p:cNvSpPr txBox="1"/>
          <p:nvPr/>
        </p:nvSpPr>
        <p:spPr>
          <a:xfrm>
            <a:off x="3630168" y="2600553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799</a:t>
            </a:r>
            <a:endParaRPr/>
          </a:p>
        </p:txBody>
      </p:sp>
      <p:sp>
        <p:nvSpPr>
          <p:cNvPr id="960" name="Google Shape;960;p9"/>
          <p:cNvSpPr txBox="1"/>
          <p:nvPr/>
        </p:nvSpPr>
        <p:spPr>
          <a:xfrm>
            <a:off x="4224528" y="2600553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</a:t>
            </a:r>
            <a:endParaRPr/>
          </a:p>
        </p:txBody>
      </p:sp>
      <p:sp>
        <p:nvSpPr>
          <p:cNvPr id="961" name="Google Shape;961;p9"/>
          <p:cNvSpPr txBox="1"/>
          <p:nvPr/>
        </p:nvSpPr>
        <p:spPr>
          <a:xfrm>
            <a:off x="4818888" y="2600553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2.4%</a:t>
            </a:r>
            <a:endParaRPr/>
          </a:p>
        </p:txBody>
      </p:sp>
      <p:sp>
        <p:nvSpPr>
          <p:cNvPr id="962" name="Google Shape;962;p9"/>
          <p:cNvSpPr txBox="1"/>
          <p:nvPr/>
        </p:nvSpPr>
        <p:spPr>
          <a:xfrm>
            <a:off x="5413248" y="2600553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▼</a:t>
            </a:r>
            <a:endParaRPr/>
          </a:p>
        </p:txBody>
      </p:sp>
      <p:sp>
        <p:nvSpPr>
          <p:cNvPr id="963" name="Google Shape;963;p9"/>
          <p:cNvSpPr txBox="1"/>
          <p:nvPr/>
        </p:nvSpPr>
        <p:spPr>
          <a:xfrm>
            <a:off x="246888" y="2840126"/>
            <a:ext cx="1554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Mary Davis-Spivak</a:t>
            </a:r>
            <a:endParaRPr/>
          </a:p>
        </p:txBody>
      </p:sp>
      <p:sp>
        <p:nvSpPr>
          <p:cNvPr id="964" name="Google Shape;964;p9"/>
          <p:cNvSpPr txBox="1"/>
          <p:nvPr/>
        </p:nvSpPr>
        <p:spPr>
          <a:xfrm>
            <a:off x="1801368" y="2840126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Valion Security Llc</a:t>
            </a:r>
            <a:endParaRPr/>
          </a:p>
        </p:txBody>
      </p:sp>
      <p:sp>
        <p:nvSpPr>
          <p:cNvPr id="965" name="Google Shape;965;p9"/>
          <p:cNvSpPr txBox="1"/>
          <p:nvPr/>
        </p:nvSpPr>
        <p:spPr>
          <a:xfrm>
            <a:off x="3630168" y="2840126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447</a:t>
            </a:r>
            <a:endParaRPr/>
          </a:p>
        </p:txBody>
      </p:sp>
      <p:sp>
        <p:nvSpPr>
          <p:cNvPr id="966" name="Google Shape;966;p9"/>
          <p:cNvSpPr txBox="1"/>
          <p:nvPr/>
        </p:nvSpPr>
        <p:spPr>
          <a:xfrm>
            <a:off x="4224528" y="2840126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53</a:t>
            </a:r>
            <a:endParaRPr/>
          </a:p>
        </p:txBody>
      </p:sp>
      <p:sp>
        <p:nvSpPr>
          <p:cNvPr id="967" name="Google Shape;967;p9"/>
          <p:cNvSpPr txBox="1"/>
          <p:nvPr/>
        </p:nvSpPr>
        <p:spPr>
          <a:xfrm>
            <a:off x="4818888" y="2840126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11.9%</a:t>
            </a:r>
            <a:endParaRPr/>
          </a:p>
        </p:txBody>
      </p:sp>
      <p:sp>
        <p:nvSpPr>
          <p:cNvPr id="968" name="Google Shape;968;p9"/>
          <p:cNvSpPr txBox="1"/>
          <p:nvPr/>
        </p:nvSpPr>
        <p:spPr>
          <a:xfrm>
            <a:off x="5413248" y="2840126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▼</a:t>
            </a:r>
            <a:endParaRPr/>
          </a:p>
        </p:txBody>
      </p:sp>
      <p:sp>
        <p:nvSpPr>
          <p:cNvPr id="969" name="Google Shape;969;p9"/>
          <p:cNvSpPr/>
          <p:nvPr/>
        </p:nvSpPr>
        <p:spPr>
          <a:xfrm>
            <a:off x="137160" y="3061411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9"/>
          <p:cNvSpPr txBox="1"/>
          <p:nvPr/>
        </p:nvSpPr>
        <p:spPr>
          <a:xfrm>
            <a:off x="246888" y="3079699"/>
            <a:ext cx="1554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Vladimir Tesler</a:t>
            </a:r>
            <a:endParaRPr/>
          </a:p>
        </p:txBody>
      </p:sp>
      <p:sp>
        <p:nvSpPr>
          <p:cNvPr id="971" name="Google Shape;971;p9"/>
          <p:cNvSpPr txBox="1"/>
          <p:nvPr/>
        </p:nvSpPr>
        <p:spPr>
          <a:xfrm>
            <a:off x="1801368" y="3079699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Insurance Planet</a:t>
            </a:r>
            <a:endParaRPr/>
          </a:p>
        </p:txBody>
      </p:sp>
      <p:sp>
        <p:nvSpPr>
          <p:cNvPr id="972" name="Google Shape;972;p9"/>
          <p:cNvSpPr txBox="1"/>
          <p:nvPr/>
        </p:nvSpPr>
        <p:spPr>
          <a:xfrm>
            <a:off x="3630168" y="3079699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296</a:t>
            </a:r>
            <a:endParaRPr/>
          </a:p>
        </p:txBody>
      </p:sp>
      <p:sp>
        <p:nvSpPr>
          <p:cNvPr id="973" name="Google Shape;973;p9"/>
          <p:cNvSpPr txBox="1"/>
          <p:nvPr/>
        </p:nvSpPr>
        <p:spPr>
          <a:xfrm>
            <a:off x="4224528" y="3079699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</a:t>
            </a:r>
            <a:endParaRPr/>
          </a:p>
        </p:txBody>
      </p:sp>
      <p:sp>
        <p:nvSpPr>
          <p:cNvPr id="974" name="Google Shape;974;p9"/>
          <p:cNvSpPr txBox="1"/>
          <p:nvPr/>
        </p:nvSpPr>
        <p:spPr>
          <a:xfrm>
            <a:off x="4818888" y="3079699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7.1%</a:t>
            </a:r>
            <a:endParaRPr/>
          </a:p>
        </p:txBody>
      </p:sp>
      <p:sp>
        <p:nvSpPr>
          <p:cNvPr id="975" name="Google Shape;975;p9"/>
          <p:cNvSpPr txBox="1"/>
          <p:nvPr/>
        </p:nvSpPr>
        <p:spPr>
          <a:xfrm>
            <a:off x="5413248" y="3079699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▲</a:t>
            </a:r>
            <a:endParaRPr/>
          </a:p>
        </p:txBody>
      </p:sp>
      <p:sp>
        <p:nvSpPr>
          <p:cNvPr id="976" name="Google Shape;976;p9"/>
          <p:cNvSpPr txBox="1"/>
          <p:nvPr/>
        </p:nvSpPr>
        <p:spPr>
          <a:xfrm>
            <a:off x="246888" y="3319272"/>
            <a:ext cx="1554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KIMBERLY FEAR</a:t>
            </a:r>
            <a:endParaRPr/>
          </a:p>
        </p:txBody>
      </p:sp>
      <p:sp>
        <p:nvSpPr>
          <p:cNvPr id="977" name="Google Shape;977;p9"/>
          <p:cNvSpPr txBox="1"/>
          <p:nvPr/>
        </p:nvSpPr>
        <p:spPr>
          <a:xfrm>
            <a:off x="1801368" y="3319272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COASTAL TRUCKING INSURANCE LLC</a:t>
            </a:r>
            <a:endParaRPr/>
          </a:p>
        </p:txBody>
      </p:sp>
      <p:sp>
        <p:nvSpPr>
          <p:cNvPr id="978" name="Google Shape;978;p9"/>
          <p:cNvSpPr txBox="1"/>
          <p:nvPr/>
        </p:nvSpPr>
        <p:spPr>
          <a:xfrm>
            <a:off x="3630168" y="3319272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280</a:t>
            </a:r>
            <a:endParaRPr/>
          </a:p>
        </p:txBody>
      </p:sp>
      <p:sp>
        <p:nvSpPr>
          <p:cNvPr id="979" name="Google Shape;979;p9"/>
          <p:cNvSpPr txBox="1"/>
          <p:nvPr/>
        </p:nvSpPr>
        <p:spPr>
          <a:xfrm>
            <a:off x="4224528" y="3319272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980" name="Google Shape;980;p9"/>
          <p:cNvSpPr txBox="1"/>
          <p:nvPr/>
        </p:nvSpPr>
        <p:spPr>
          <a:xfrm>
            <a:off x="4818888" y="3319272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981" name="Google Shape;981;p9"/>
          <p:cNvSpPr txBox="1"/>
          <p:nvPr/>
        </p:nvSpPr>
        <p:spPr>
          <a:xfrm>
            <a:off x="5413248" y="3319272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▼</a:t>
            </a:r>
            <a:endParaRPr/>
          </a:p>
        </p:txBody>
      </p:sp>
      <p:sp>
        <p:nvSpPr>
          <p:cNvPr id="982" name="Google Shape;982;p9"/>
          <p:cNvSpPr/>
          <p:nvPr/>
        </p:nvSpPr>
        <p:spPr>
          <a:xfrm>
            <a:off x="137160" y="3540556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9"/>
          <p:cNvSpPr txBox="1"/>
          <p:nvPr/>
        </p:nvSpPr>
        <p:spPr>
          <a:xfrm>
            <a:off x="246888" y="3558844"/>
            <a:ext cx="1554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William Brown</a:t>
            </a:r>
            <a:endParaRPr/>
          </a:p>
        </p:txBody>
      </p:sp>
      <p:sp>
        <p:nvSpPr>
          <p:cNvPr id="984" name="Google Shape;984;p9"/>
          <p:cNvSpPr txBox="1"/>
          <p:nvPr/>
        </p:nvSpPr>
        <p:spPr>
          <a:xfrm>
            <a:off x="1801368" y="3558844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 &amp; R Agency LLC</a:t>
            </a:r>
            <a:endParaRPr/>
          </a:p>
        </p:txBody>
      </p:sp>
      <p:sp>
        <p:nvSpPr>
          <p:cNvPr id="985" name="Google Shape;985;p9"/>
          <p:cNvSpPr txBox="1"/>
          <p:nvPr/>
        </p:nvSpPr>
        <p:spPr>
          <a:xfrm>
            <a:off x="3630168" y="3558844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242</a:t>
            </a:r>
            <a:endParaRPr/>
          </a:p>
        </p:txBody>
      </p:sp>
      <p:sp>
        <p:nvSpPr>
          <p:cNvPr id="986" name="Google Shape;986;p9"/>
          <p:cNvSpPr txBox="1"/>
          <p:nvPr/>
        </p:nvSpPr>
        <p:spPr>
          <a:xfrm>
            <a:off x="4224528" y="3558844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987" name="Google Shape;987;p9"/>
          <p:cNvSpPr txBox="1"/>
          <p:nvPr/>
        </p:nvSpPr>
        <p:spPr>
          <a:xfrm>
            <a:off x="4818888" y="3558844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2.1%</a:t>
            </a:r>
            <a:endParaRPr/>
          </a:p>
        </p:txBody>
      </p:sp>
      <p:sp>
        <p:nvSpPr>
          <p:cNvPr id="988" name="Google Shape;988;p9"/>
          <p:cNvSpPr txBox="1"/>
          <p:nvPr/>
        </p:nvSpPr>
        <p:spPr>
          <a:xfrm>
            <a:off x="5413248" y="3558844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▼</a:t>
            </a:r>
            <a:endParaRPr/>
          </a:p>
        </p:txBody>
      </p:sp>
      <p:sp>
        <p:nvSpPr>
          <p:cNvPr id="989" name="Google Shape;989;p9"/>
          <p:cNvSpPr txBox="1"/>
          <p:nvPr/>
        </p:nvSpPr>
        <p:spPr>
          <a:xfrm>
            <a:off x="246888" y="3798417"/>
            <a:ext cx="1554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Migdiel Garcia</a:t>
            </a:r>
            <a:endParaRPr/>
          </a:p>
        </p:txBody>
      </p:sp>
      <p:sp>
        <p:nvSpPr>
          <p:cNvPr id="990" name="Google Shape;990;p9"/>
          <p:cNvSpPr txBox="1"/>
          <p:nvPr/>
        </p:nvSpPr>
        <p:spPr>
          <a:xfrm>
            <a:off x="1801368" y="3798417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Sebanda Franchise #42 - M&amp;o In</a:t>
            </a:r>
            <a:endParaRPr/>
          </a:p>
        </p:txBody>
      </p:sp>
      <p:sp>
        <p:nvSpPr>
          <p:cNvPr id="991" name="Google Shape;991;p9"/>
          <p:cNvSpPr txBox="1"/>
          <p:nvPr/>
        </p:nvSpPr>
        <p:spPr>
          <a:xfrm>
            <a:off x="3630168" y="3798417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229</a:t>
            </a:r>
            <a:endParaRPr/>
          </a:p>
        </p:txBody>
      </p:sp>
      <p:sp>
        <p:nvSpPr>
          <p:cNvPr id="992" name="Google Shape;992;p9"/>
          <p:cNvSpPr txBox="1"/>
          <p:nvPr/>
        </p:nvSpPr>
        <p:spPr>
          <a:xfrm>
            <a:off x="4224528" y="3798417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</a:t>
            </a:r>
            <a:endParaRPr/>
          </a:p>
        </p:txBody>
      </p:sp>
      <p:sp>
        <p:nvSpPr>
          <p:cNvPr id="993" name="Google Shape;993;p9"/>
          <p:cNvSpPr txBox="1"/>
          <p:nvPr/>
        </p:nvSpPr>
        <p:spPr>
          <a:xfrm>
            <a:off x="4818888" y="3798417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3.9%</a:t>
            </a:r>
            <a:endParaRPr/>
          </a:p>
        </p:txBody>
      </p:sp>
      <p:sp>
        <p:nvSpPr>
          <p:cNvPr id="994" name="Google Shape;994;p9"/>
          <p:cNvSpPr txBox="1"/>
          <p:nvPr/>
        </p:nvSpPr>
        <p:spPr>
          <a:xfrm>
            <a:off x="5413248" y="3798417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▲</a:t>
            </a:r>
            <a:endParaRPr/>
          </a:p>
        </p:txBody>
      </p:sp>
      <p:sp>
        <p:nvSpPr>
          <p:cNvPr id="995" name="Google Shape;995;p9"/>
          <p:cNvSpPr/>
          <p:nvPr/>
        </p:nvSpPr>
        <p:spPr>
          <a:xfrm>
            <a:off x="137160" y="4019702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9"/>
          <p:cNvSpPr txBox="1"/>
          <p:nvPr/>
        </p:nvSpPr>
        <p:spPr>
          <a:xfrm>
            <a:off x="246888" y="4037990"/>
            <a:ext cx="1554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Donald Fernando Cordoba</a:t>
            </a:r>
            <a:endParaRPr/>
          </a:p>
        </p:txBody>
      </p:sp>
      <p:sp>
        <p:nvSpPr>
          <p:cNvPr id="997" name="Google Shape;997;p9"/>
          <p:cNvSpPr txBox="1"/>
          <p:nvPr/>
        </p:nvSpPr>
        <p:spPr>
          <a:xfrm>
            <a:off x="1801368" y="4037990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Interglobal Insurance Company</a:t>
            </a:r>
            <a:endParaRPr/>
          </a:p>
        </p:txBody>
      </p:sp>
      <p:sp>
        <p:nvSpPr>
          <p:cNvPr id="998" name="Google Shape;998;p9"/>
          <p:cNvSpPr txBox="1"/>
          <p:nvPr/>
        </p:nvSpPr>
        <p:spPr>
          <a:xfrm>
            <a:off x="3630168" y="4037990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186</a:t>
            </a:r>
            <a:endParaRPr/>
          </a:p>
        </p:txBody>
      </p:sp>
      <p:sp>
        <p:nvSpPr>
          <p:cNvPr id="999" name="Google Shape;999;p9"/>
          <p:cNvSpPr txBox="1"/>
          <p:nvPr/>
        </p:nvSpPr>
        <p:spPr>
          <a:xfrm>
            <a:off x="4224528" y="4037990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1000" name="Google Shape;1000;p9"/>
          <p:cNvSpPr txBox="1"/>
          <p:nvPr/>
        </p:nvSpPr>
        <p:spPr>
          <a:xfrm>
            <a:off x="4818888" y="4037990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0.5%</a:t>
            </a:r>
            <a:endParaRPr/>
          </a:p>
        </p:txBody>
      </p:sp>
      <p:sp>
        <p:nvSpPr>
          <p:cNvPr id="1001" name="Google Shape;1001;p9"/>
          <p:cNvSpPr txBox="1"/>
          <p:nvPr/>
        </p:nvSpPr>
        <p:spPr>
          <a:xfrm>
            <a:off x="5413248" y="4037990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▼</a:t>
            </a:r>
            <a:endParaRPr/>
          </a:p>
        </p:txBody>
      </p:sp>
      <p:sp>
        <p:nvSpPr>
          <p:cNvPr id="1002" name="Google Shape;1002;p9"/>
          <p:cNvSpPr txBox="1"/>
          <p:nvPr/>
        </p:nvSpPr>
        <p:spPr>
          <a:xfrm>
            <a:off x="246888" y="4277563"/>
            <a:ext cx="1554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Julio Batista</a:t>
            </a:r>
            <a:endParaRPr/>
          </a:p>
        </p:txBody>
      </p:sp>
      <p:sp>
        <p:nvSpPr>
          <p:cNvPr id="1003" name="Google Shape;1003;p9"/>
          <p:cNvSpPr txBox="1"/>
          <p:nvPr/>
        </p:nvSpPr>
        <p:spPr>
          <a:xfrm>
            <a:off x="1801368" y="4277563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Peco Insurance LLC +1</a:t>
            </a:r>
            <a:endParaRPr/>
          </a:p>
        </p:txBody>
      </p:sp>
      <p:sp>
        <p:nvSpPr>
          <p:cNvPr id="1004" name="Google Shape;1004;p9"/>
          <p:cNvSpPr txBox="1"/>
          <p:nvPr/>
        </p:nvSpPr>
        <p:spPr>
          <a:xfrm>
            <a:off x="3630168" y="4277563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179</a:t>
            </a:r>
            <a:endParaRPr/>
          </a:p>
        </p:txBody>
      </p:sp>
      <p:sp>
        <p:nvSpPr>
          <p:cNvPr id="1005" name="Google Shape;1005;p9"/>
          <p:cNvSpPr txBox="1"/>
          <p:nvPr/>
        </p:nvSpPr>
        <p:spPr>
          <a:xfrm>
            <a:off x="4224528" y="4277563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</a:t>
            </a:r>
            <a:endParaRPr/>
          </a:p>
        </p:txBody>
      </p:sp>
      <p:sp>
        <p:nvSpPr>
          <p:cNvPr id="1006" name="Google Shape;1006;p9"/>
          <p:cNvSpPr txBox="1"/>
          <p:nvPr/>
        </p:nvSpPr>
        <p:spPr>
          <a:xfrm>
            <a:off x="4818888" y="4277563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11.7%</a:t>
            </a:r>
            <a:endParaRPr/>
          </a:p>
        </p:txBody>
      </p:sp>
      <p:sp>
        <p:nvSpPr>
          <p:cNvPr id="1007" name="Google Shape;1007;p9"/>
          <p:cNvSpPr txBox="1"/>
          <p:nvPr/>
        </p:nvSpPr>
        <p:spPr>
          <a:xfrm>
            <a:off x="5413248" y="4277563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▼</a:t>
            </a:r>
            <a:endParaRPr/>
          </a:p>
        </p:txBody>
      </p:sp>
      <p:sp>
        <p:nvSpPr>
          <p:cNvPr id="1008" name="Google Shape;1008;p9"/>
          <p:cNvSpPr/>
          <p:nvPr/>
        </p:nvSpPr>
        <p:spPr>
          <a:xfrm>
            <a:off x="137160" y="4498848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9"/>
          <p:cNvSpPr txBox="1"/>
          <p:nvPr/>
        </p:nvSpPr>
        <p:spPr>
          <a:xfrm>
            <a:off x="246888" y="4517136"/>
            <a:ext cx="1554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Harold Shealy</a:t>
            </a:r>
            <a:endParaRPr/>
          </a:p>
        </p:txBody>
      </p:sp>
      <p:sp>
        <p:nvSpPr>
          <p:cNvPr id="1010" name="Google Shape;1010;p9"/>
          <p:cNvSpPr txBox="1"/>
          <p:nvPr/>
        </p:nvSpPr>
        <p:spPr>
          <a:xfrm>
            <a:off x="1801368" y="4517136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Marble City Insurance</a:t>
            </a:r>
            <a:endParaRPr/>
          </a:p>
        </p:txBody>
      </p:sp>
      <p:sp>
        <p:nvSpPr>
          <p:cNvPr id="1011" name="Google Shape;1011;p9"/>
          <p:cNvSpPr txBox="1"/>
          <p:nvPr/>
        </p:nvSpPr>
        <p:spPr>
          <a:xfrm>
            <a:off x="3630168" y="4517136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162</a:t>
            </a:r>
            <a:endParaRPr/>
          </a:p>
        </p:txBody>
      </p:sp>
      <p:sp>
        <p:nvSpPr>
          <p:cNvPr id="1012" name="Google Shape;1012;p9"/>
          <p:cNvSpPr txBox="1"/>
          <p:nvPr/>
        </p:nvSpPr>
        <p:spPr>
          <a:xfrm>
            <a:off x="4224528" y="4517136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</a:t>
            </a:r>
            <a:endParaRPr/>
          </a:p>
        </p:txBody>
      </p:sp>
      <p:sp>
        <p:nvSpPr>
          <p:cNvPr id="1013" name="Google Shape;1013;p9"/>
          <p:cNvSpPr txBox="1"/>
          <p:nvPr/>
        </p:nvSpPr>
        <p:spPr>
          <a:xfrm>
            <a:off x="4818888" y="4517136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4.9%</a:t>
            </a:r>
            <a:endParaRPr/>
          </a:p>
        </p:txBody>
      </p:sp>
      <p:sp>
        <p:nvSpPr>
          <p:cNvPr id="1014" name="Google Shape;1014;p9"/>
          <p:cNvSpPr txBox="1"/>
          <p:nvPr/>
        </p:nvSpPr>
        <p:spPr>
          <a:xfrm>
            <a:off x="5413248" y="4517136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▼</a:t>
            </a:r>
            <a:endParaRPr/>
          </a:p>
        </p:txBody>
      </p:sp>
      <p:sp>
        <p:nvSpPr>
          <p:cNvPr id="1015" name="Google Shape;1015;p9"/>
          <p:cNvSpPr txBox="1"/>
          <p:nvPr/>
        </p:nvSpPr>
        <p:spPr>
          <a:xfrm>
            <a:off x="246888" y="4756708"/>
            <a:ext cx="1554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Idris Gani</a:t>
            </a:r>
            <a:endParaRPr/>
          </a:p>
        </p:txBody>
      </p:sp>
      <p:sp>
        <p:nvSpPr>
          <p:cNvPr id="1016" name="Google Shape;1016;p9"/>
          <p:cNvSpPr txBox="1"/>
          <p:nvPr/>
        </p:nvSpPr>
        <p:spPr>
          <a:xfrm>
            <a:off x="1801368" y="475670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Talis Insurance Group, Inc</a:t>
            </a:r>
            <a:endParaRPr/>
          </a:p>
        </p:txBody>
      </p:sp>
      <p:sp>
        <p:nvSpPr>
          <p:cNvPr id="1017" name="Google Shape;1017;p9"/>
          <p:cNvSpPr txBox="1"/>
          <p:nvPr/>
        </p:nvSpPr>
        <p:spPr>
          <a:xfrm>
            <a:off x="3630168" y="4756708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134</a:t>
            </a:r>
            <a:endParaRPr/>
          </a:p>
        </p:txBody>
      </p:sp>
      <p:sp>
        <p:nvSpPr>
          <p:cNvPr id="1018" name="Google Shape;1018;p9"/>
          <p:cNvSpPr txBox="1"/>
          <p:nvPr/>
        </p:nvSpPr>
        <p:spPr>
          <a:xfrm>
            <a:off x="4224528" y="4756708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</a:t>
            </a:r>
            <a:endParaRPr/>
          </a:p>
        </p:txBody>
      </p:sp>
      <p:sp>
        <p:nvSpPr>
          <p:cNvPr id="1019" name="Google Shape;1019;p9"/>
          <p:cNvSpPr txBox="1"/>
          <p:nvPr/>
        </p:nvSpPr>
        <p:spPr>
          <a:xfrm>
            <a:off x="4818888" y="4756708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8.2%</a:t>
            </a:r>
            <a:endParaRPr/>
          </a:p>
        </p:txBody>
      </p:sp>
      <p:sp>
        <p:nvSpPr>
          <p:cNvPr id="1020" name="Google Shape;1020;p9"/>
          <p:cNvSpPr txBox="1"/>
          <p:nvPr/>
        </p:nvSpPr>
        <p:spPr>
          <a:xfrm>
            <a:off x="5413248" y="4756708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▼</a:t>
            </a:r>
            <a:endParaRPr/>
          </a:p>
        </p:txBody>
      </p:sp>
      <p:sp>
        <p:nvSpPr>
          <p:cNvPr id="1021" name="Google Shape;1021;p9"/>
          <p:cNvSpPr/>
          <p:nvPr/>
        </p:nvSpPr>
        <p:spPr>
          <a:xfrm>
            <a:off x="137160" y="4977993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9"/>
          <p:cNvSpPr txBox="1"/>
          <p:nvPr/>
        </p:nvSpPr>
        <p:spPr>
          <a:xfrm>
            <a:off x="246888" y="4996281"/>
            <a:ext cx="1554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Kanwaljeet Saluja</a:t>
            </a:r>
            <a:endParaRPr/>
          </a:p>
        </p:txBody>
      </p:sp>
      <p:sp>
        <p:nvSpPr>
          <p:cNvPr id="1023" name="Google Shape;1023;p9"/>
          <p:cNvSpPr txBox="1"/>
          <p:nvPr/>
        </p:nvSpPr>
        <p:spPr>
          <a:xfrm>
            <a:off x="1801368" y="4996281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Stone Era Insurance Agency</a:t>
            </a:r>
            <a:endParaRPr/>
          </a:p>
        </p:txBody>
      </p:sp>
      <p:sp>
        <p:nvSpPr>
          <p:cNvPr id="1024" name="Google Shape;1024;p9"/>
          <p:cNvSpPr txBox="1"/>
          <p:nvPr/>
        </p:nvSpPr>
        <p:spPr>
          <a:xfrm>
            <a:off x="3630168" y="4996281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128</a:t>
            </a:r>
            <a:endParaRPr/>
          </a:p>
        </p:txBody>
      </p:sp>
      <p:sp>
        <p:nvSpPr>
          <p:cNvPr id="1025" name="Google Shape;1025;p9"/>
          <p:cNvSpPr txBox="1"/>
          <p:nvPr/>
        </p:nvSpPr>
        <p:spPr>
          <a:xfrm>
            <a:off x="4224528" y="4996281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1026" name="Google Shape;1026;p9"/>
          <p:cNvSpPr txBox="1"/>
          <p:nvPr/>
        </p:nvSpPr>
        <p:spPr>
          <a:xfrm>
            <a:off x="4818888" y="4996281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3.9%</a:t>
            </a:r>
            <a:endParaRPr/>
          </a:p>
        </p:txBody>
      </p:sp>
      <p:sp>
        <p:nvSpPr>
          <p:cNvPr id="1027" name="Google Shape;1027;p9"/>
          <p:cNvSpPr txBox="1"/>
          <p:nvPr/>
        </p:nvSpPr>
        <p:spPr>
          <a:xfrm>
            <a:off x="5413248" y="4996281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▲</a:t>
            </a:r>
            <a:endParaRPr/>
          </a:p>
        </p:txBody>
      </p:sp>
      <p:sp>
        <p:nvSpPr>
          <p:cNvPr id="1028" name="Google Shape;1028;p9"/>
          <p:cNvSpPr txBox="1"/>
          <p:nvPr/>
        </p:nvSpPr>
        <p:spPr>
          <a:xfrm>
            <a:off x="246888" y="5235854"/>
            <a:ext cx="1554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Keteline Bonhomme</a:t>
            </a:r>
            <a:endParaRPr/>
          </a:p>
        </p:txBody>
      </p:sp>
      <p:sp>
        <p:nvSpPr>
          <p:cNvPr id="1029" name="Google Shape;1029;p9"/>
          <p:cNvSpPr txBox="1"/>
          <p:nvPr/>
        </p:nvSpPr>
        <p:spPr>
          <a:xfrm>
            <a:off x="1801368" y="5235854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Prestige International Insuran</a:t>
            </a:r>
            <a:endParaRPr/>
          </a:p>
        </p:txBody>
      </p:sp>
      <p:sp>
        <p:nvSpPr>
          <p:cNvPr id="1030" name="Google Shape;1030;p9"/>
          <p:cNvSpPr txBox="1"/>
          <p:nvPr/>
        </p:nvSpPr>
        <p:spPr>
          <a:xfrm>
            <a:off x="3630168" y="5235854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127</a:t>
            </a:r>
            <a:endParaRPr/>
          </a:p>
        </p:txBody>
      </p:sp>
      <p:sp>
        <p:nvSpPr>
          <p:cNvPr id="1031" name="Google Shape;1031;p9"/>
          <p:cNvSpPr txBox="1"/>
          <p:nvPr/>
        </p:nvSpPr>
        <p:spPr>
          <a:xfrm>
            <a:off x="4224528" y="5235854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1032" name="Google Shape;1032;p9"/>
          <p:cNvSpPr txBox="1"/>
          <p:nvPr/>
        </p:nvSpPr>
        <p:spPr>
          <a:xfrm>
            <a:off x="4818888" y="5235854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3.1%</a:t>
            </a:r>
            <a:endParaRPr/>
          </a:p>
        </p:txBody>
      </p:sp>
      <p:sp>
        <p:nvSpPr>
          <p:cNvPr id="1033" name="Google Shape;1033;p9"/>
          <p:cNvSpPr txBox="1"/>
          <p:nvPr/>
        </p:nvSpPr>
        <p:spPr>
          <a:xfrm>
            <a:off x="5413248" y="5235854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▼</a:t>
            </a:r>
            <a:endParaRPr/>
          </a:p>
        </p:txBody>
      </p:sp>
      <p:sp>
        <p:nvSpPr>
          <p:cNvPr id="1034" name="Google Shape;1034;p9"/>
          <p:cNvSpPr/>
          <p:nvPr/>
        </p:nvSpPr>
        <p:spPr>
          <a:xfrm>
            <a:off x="137160" y="5457139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9"/>
          <p:cNvSpPr txBox="1"/>
          <p:nvPr/>
        </p:nvSpPr>
        <p:spPr>
          <a:xfrm>
            <a:off x="246888" y="5475427"/>
            <a:ext cx="1554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Jeremy Rybak</a:t>
            </a:r>
            <a:endParaRPr/>
          </a:p>
        </p:txBody>
      </p:sp>
      <p:sp>
        <p:nvSpPr>
          <p:cNvPr id="1036" name="Google Shape;1036;p9"/>
          <p:cNvSpPr txBox="1"/>
          <p:nvPr/>
        </p:nvSpPr>
        <p:spPr>
          <a:xfrm>
            <a:off x="1801368" y="5475427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Prestige International Insuran</a:t>
            </a:r>
            <a:endParaRPr/>
          </a:p>
        </p:txBody>
      </p:sp>
      <p:sp>
        <p:nvSpPr>
          <p:cNvPr id="1037" name="Google Shape;1037;p9"/>
          <p:cNvSpPr txBox="1"/>
          <p:nvPr/>
        </p:nvSpPr>
        <p:spPr>
          <a:xfrm>
            <a:off x="3630168" y="5475427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104</a:t>
            </a:r>
            <a:endParaRPr/>
          </a:p>
        </p:txBody>
      </p:sp>
      <p:sp>
        <p:nvSpPr>
          <p:cNvPr id="1038" name="Google Shape;1038;p9"/>
          <p:cNvSpPr txBox="1"/>
          <p:nvPr/>
        </p:nvSpPr>
        <p:spPr>
          <a:xfrm>
            <a:off x="4224528" y="5475427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/>
          </a:p>
        </p:txBody>
      </p:sp>
      <p:sp>
        <p:nvSpPr>
          <p:cNvPr id="1039" name="Google Shape;1039;p9"/>
          <p:cNvSpPr txBox="1"/>
          <p:nvPr/>
        </p:nvSpPr>
        <p:spPr>
          <a:xfrm>
            <a:off x="4818888" y="5475427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9.6%</a:t>
            </a:r>
            <a:endParaRPr/>
          </a:p>
        </p:txBody>
      </p:sp>
      <p:sp>
        <p:nvSpPr>
          <p:cNvPr id="1040" name="Google Shape;1040;p9"/>
          <p:cNvSpPr txBox="1"/>
          <p:nvPr/>
        </p:nvSpPr>
        <p:spPr>
          <a:xfrm>
            <a:off x="5413248" y="5475427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▲</a:t>
            </a:r>
            <a:endParaRPr/>
          </a:p>
        </p:txBody>
      </p:sp>
      <p:sp>
        <p:nvSpPr>
          <p:cNvPr id="1041" name="Google Shape;1041;p9"/>
          <p:cNvSpPr txBox="1"/>
          <p:nvPr/>
        </p:nvSpPr>
        <p:spPr>
          <a:xfrm>
            <a:off x="246888" y="5715000"/>
            <a:ext cx="1554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Kathy Armond</a:t>
            </a:r>
            <a:endParaRPr/>
          </a:p>
        </p:txBody>
      </p:sp>
      <p:sp>
        <p:nvSpPr>
          <p:cNvPr id="1042" name="Google Shape;1042;p9"/>
          <p:cNvSpPr txBox="1"/>
          <p:nvPr/>
        </p:nvSpPr>
        <p:spPr>
          <a:xfrm>
            <a:off x="1801368" y="5715000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Prestige International Insuran</a:t>
            </a:r>
            <a:endParaRPr/>
          </a:p>
        </p:txBody>
      </p:sp>
      <p:sp>
        <p:nvSpPr>
          <p:cNvPr id="1043" name="Google Shape;1043;p9"/>
          <p:cNvSpPr txBox="1"/>
          <p:nvPr/>
        </p:nvSpPr>
        <p:spPr>
          <a:xfrm>
            <a:off x="3630168" y="5715000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102</a:t>
            </a:r>
            <a:endParaRPr/>
          </a:p>
        </p:txBody>
      </p:sp>
      <p:sp>
        <p:nvSpPr>
          <p:cNvPr id="1044" name="Google Shape;1044;p9"/>
          <p:cNvSpPr txBox="1"/>
          <p:nvPr/>
        </p:nvSpPr>
        <p:spPr>
          <a:xfrm>
            <a:off x="4224528" y="5715000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1045" name="Google Shape;1045;p9"/>
          <p:cNvSpPr txBox="1"/>
          <p:nvPr/>
        </p:nvSpPr>
        <p:spPr>
          <a:xfrm>
            <a:off x="4818888" y="5715000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2.0%</a:t>
            </a:r>
            <a:endParaRPr/>
          </a:p>
        </p:txBody>
      </p:sp>
      <p:sp>
        <p:nvSpPr>
          <p:cNvPr id="1046" name="Google Shape;1046;p9"/>
          <p:cNvSpPr txBox="1"/>
          <p:nvPr/>
        </p:nvSpPr>
        <p:spPr>
          <a:xfrm>
            <a:off x="5413248" y="5715000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▼</a:t>
            </a:r>
            <a:endParaRPr/>
          </a:p>
        </p:txBody>
      </p:sp>
      <p:sp>
        <p:nvSpPr>
          <p:cNvPr id="1047" name="Google Shape;1047;p9"/>
          <p:cNvSpPr/>
          <p:nvPr/>
        </p:nvSpPr>
        <p:spPr>
          <a:xfrm>
            <a:off x="137160" y="5936284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9"/>
          <p:cNvSpPr txBox="1"/>
          <p:nvPr/>
        </p:nvSpPr>
        <p:spPr>
          <a:xfrm>
            <a:off x="246888" y="5954572"/>
            <a:ext cx="1554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Chad Muller</a:t>
            </a:r>
            <a:endParaRPr/>
          </a:p>
        </p:txBody>
      </p:sp>
      <p:sp>
        <p:nvSpPr>
          <p:cNvPr id="1049" name="Google Shape;1049;p9"/>
          <p:cNvSpPr txBox="1"/>
          <p:nvPr/>
        </p:nvSpPr>
        <p:spPr>
          <a:xfrm>
            <a:off x="1801368" y="5954572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Insurance4truckers Llc</a:t>
            </a:r>
            <a:endParaRPr/>
          </a:p>
        </p:txBody>
      </p:sp>
      <p:sp>
        <p:nvSpPr>
          <p:cNvPr id="1050" name="Google Shape;1050;p9"/>
          <p:cNvSpPr txBox="1"/>
          <p:nvPr/>
        </p:nvSpPr>
        <p:spPr>
          <a:xfrm>
            <a:off x="3630168" y="5954572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100</a:t>
            </a:r>
            <a:endParaRPr/>
          </a:p>
        </p:txBody>
      </p:sp>
      <p:sp>
        <p:nvSpPr>
          <p:cNvPr id="1051" name="Google Shape;1051;p9"/>
          <p:cNvSpPr txBox="1"/>
          <p:nvPr/>
        </p:nvSpPr>
        <p:spPr>
          <a:xfrm>
            <a:off x="4224528" y="5954572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/>
          </a:p>
        </p:txBody>
      </p:sp>
      <p:sp>
        <p:nvSpPr>
          <p:cNvPr id="1052" name="Google Shape;1052;p9"/>
          <p:cNvSpPr txBox="1"/>
          <p:nvPr/>
        </p:nvSpPr>
        <p:spPr>
          <a:xfrm>
            <a:off x="4818888" y="5954572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7.0%</a:t>
            </a:r>
            <a:endParaRPr/>
          </a:p>
        </p:txBody>
      </p:sp>
      <p:sp>
        <p:nvSpPr>
          <p:cNvPr id="1053" name="Google Shape;1053;p9"/>
          <p:cNvSpPr txBox="1"/>
          <p:nvPr/>
        </p:nvSpPr>
        <p:spPr>
          <a:xfrm>
            <a:off x="5413248" y="5954572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▼</a:t>
            </a:r>
            <a:endParaRPr/>
          </a:p>
        </p:txBody>
      </p:sp>
      <p:sp>
        <p:nvSpPr>
          <p:cNvPr id="1054" name="Google Shape;1054;p9"/>
          <p:cNvSpPr txBox="1"/>
          <p:nvPr/>
        </p:nvSpPr>
        <p:spPr>
          <a:xfrm>
            <a:off x="246888" y="6194145"/>
            <a:ext cx="1554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Thomas Olin Woodard</a:t>
            </a:r>
            <a:endParaRPr/>
          </a:p>
        </p:txBody>
      </p:sp>
      <p:sp>
        <p:nvSpPr>
          <p:cNvPr id="1055" name="Google Shape;1055;p9"/>
          <p:cNvSpPr txBox="1"/>
          <p:nvPr/>
        </p:nvSpPr>
        <p:spPr>
          <a:xfrm>
            <a:off x="1801368" y="6194145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Woodard Agency Llc</a:t>
            </a:r>
            <a:endParaRPr/>
          </a:p>
        </p:txBody>
      </p:sp>
      <p:sp>
        <p:nvSpPr>
          <p:cNvPr id="1056" name="Google Shape;1056;p9"/>
          <p:cNvSpPr txBox="1"/>
          <p:nvPr/>
        </p:nvSpPr>
        <p:spPr>
          <a:xfrm>
            <a:off x="3630168" y="6194145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99</a:t>
            </a:r>
            <a:endParaRPr/>
          </a:p>
        </p:txBody>
      </p:sp>
      <p:sp>
        <p:nvSpPr>
          <p:cNvPr id="1057" name="Google Shape;1057;p9"/>
          <p:cNvSpPr txBox="1"/>
          <p:nvPr/>
        </p:nvSpPr>
        <p:spPr>
          <a:xfrm>
            <a:off x="4224528" y="6194145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1058" name="Google Shape;1058;p9"/>
          <p:cNvSpPr txBox="1"/>
          <p:nvPr/>
        </p:nvSpPr>
        <p:spPr>
          <a:xfrm>
            <a:off x="4818888" y="6194145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3.0%</a:t>
            </a:r>
            <a:endParaRPr/>
          </a:p>
        </p:txBody>
      </p:sp>
      <p:sp>
        <p:nvSpPr>
          <p:cNvPr id="1059" name="Google Shape;1059;p9"/>
          <p:cNvSpPr txBox="1"/>
          <p:nvPr/>
        </p:nvSpPr>
        <p:spPr>
          <a:xfrm>
            <a:off x="5413248" y="6194145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▲</a:t>
            </a:r>
            <a:endParaRPr/>
          </a:p>
        </p:txBody>
      </p:sp>
      <p:sp>
        <p:nvSpPr>
          <p:cNvPr id="1060" name="Google Shape;1060;p9"/>
          <p:cNvSpPr/>
          <p:nvPr/>
        </p:nvSpPr>
        <p:spPr>
          <a:xfrm>
            <a:off x="6245352" y="1536192"/>
            <a:ext cx="5760720" cy="27432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9"/>
          <p:cNvSpPr txBox="1"/>
          <p:nvPr/>
        </p:nvSpPr>
        <p:spPr>
          <a:xfrm>
            <a:off x="6355080" y="1572768"/>
            <a:ext cx="5577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CONTINUED  —  Ranked 19–36</a:t>
            </a:r>
            <a:endParaRPr/>
          </a:p>
        </p:txBody>
      </p:sp>
      <p:sp>
        <p:nvSpPr>
          <p:cNvPr id="1062" name="Google Shape;1062;p9"/>
          <p:cNvSpPr txBox="1"/>
          <p:nvPr/>
        </p:nvSpPr>
        <p:spPr>
          <a:xfrm>
            <a:off x="6355080" y="1874519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Agent Name</a:t>
            </a:r>
            <a:endParaRPr/>
          </a:p>
        </p:txBody>
      </p:sp>
      <p:sp>
        <p:nvSpPr>
          <p:cNvPr id="1063" name="Google Shape;1063;p9"/>
          <p:cNvSpPr txBox="1"/>
          <p:nvPr/>
        </p:nvSpPr>
        <p:spPr>
          <a:xfrm>
            <a:off x="7909560" y="1874519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Agency</a:t>
            </a:r>
            <a:endParaRPr/>
          </a:p>
        </p:txBody>
      </p:sp>
      <p:sp>
        <p:nvSpPr>
          <p:cNvPr id="1064" name="Google Shape;1064;p9"/>
          <p:cNvSpPr txBox="1"/>
          <p:nvPr/>
        </p:nvSpPr>
        <p:spPr>
          <a:xfrm>
            <a:off x="9738360" y="1874519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Subs</a:t>
            </a:r>
            <a:endParaRPr/>
          </a:p>
        </p:txBody>
      </p:sp>
      <p:sp>
        <p:nvSpPr>
          <p:cNvPr id="1065" name="Google Shape;1065;p9"/>
          <p:cNvSpPr txBox="1"/>
          <p:nvPr/>
        </p:nvSpPr>
        <p:spPr>
          <a:xfrm>
            <a:off x="10332720" y="1874519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1066" name="Google Shape;1066;p9"/>
          <p:cNvSpPr txBox="1"/>
          <p:nvPr/>
        </p:nvSpPr>
        <p:spPr>
          <a:xfrm>
            <a:off x="10927080" y="1874519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%</a:t>
            </a:r>
            <a:endParaRPr/>
          </a:p>
        </p:txBody>
      </p:sp>
      <p:sp>
        <p:nvSpPr>
          <p:cNvPr id="1067" name="Google Shape;1067;p9"/>
          <p:cNvSpPr txBox="1"/>
          <p:nvPr/>
        </p:nvSpPr>
        <p:spPr>
          <a:xfrm>
            <a:off x="11521440" y="1874519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MoM</a:t>
            </a:r>
            <a:endParaRPr/>
          </a:p>
        </p:txBody>
      </p:sp>
      <p:sp>
        <p:nvSpPr>
          <p:cNvPr id="1068" name="Google Shape;1068;p9"/>
          <p:cNvSpPr/>
          <p:nvPr/>
        </p:nvSpPr>
        <p:spPr>
          <a:xfrm>
            <a:off x="6291072" y="2048255"/>
            <a:ext cx="5650992" cy="5486"/>
          </a:xfrm>
          <a:prstGeom prst="rect">
            <a:avLst/>
          </a:prstGeom>
          <a:solidFill>
            <a:srgbClr val="C4B5F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9"/>
          <p:cNvSpPr/>
          <p:nvPr/>
        </p:nvSpPr>
        <p:spPr>
          <a:xfrm>
            <a:off x="6245352" y="2103120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9"/>
          <p:cNvSpPr txBox="1"/>
          <p:nvPr/>
        </p:nvSpPr>
        <p:spPr>
          <a:xfrm>
            <a:off x="6355080" y="2121408"/>
            <a:ext cx="1554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Kathy Macias</a:t>
            </a:r>
            <a:endParaRPr/>
          </a:p>
        </p:txBody>
      </p:sp>
      <p:sp>
        <p:nvSpPr>
          <p:cNvPr id="1071" name="Google Shape;1071;p9"/>
          <p:cNvSpPr txBox="1"/>
          <p:nvPr/>
        </p:nvSpPr>
        <p:spPr>
          <a:xfrm>
            <a:off x="7909560" y="212140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Prestige International Insuran</a:t>
            </a:r>
            <a:endParaRPr/>
          </a:p>
        </p:txBody>
      </p:sp>
      <p:sp>
        <p:nvSpPr>
          <p:cNvPr id="1072" name="Google Shape;1072;p9"/>
          <p:cNvSpPr txBox="1"/>
          <p:nvPr/>
        </p:nvSpPr>
        <p:spPr>
          <a:xfrm>
            <a:off x="9738360" y="2121408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98</a:t>
            </a:r>
            <a:endParaRPr/>
          </a:p>
        </p:txBody>
      </p:sp>
      <p:sp>
        <p:nvSpPr>
          <p:cNvPr id="1073" name="Google Shape;1073;p9"/>
          <p:cNvSpPr txBox="1"/>
          <p:nvPr/>
        </p:nvSpPr>
        <p:spPr>
          <a:xfrm>
            <a:off x="10332720" y="2121408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1074" name="Google Shape;1074;p9"/>
          <p:cNvSpPr txBox="1"/>
          <p:nvPr/>
        </p:nvSpPr>
        <p:spPr>
          <a:xfrm>
            <a:off x="10927080" y="2121408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1.0%</a:t>
            </a:r>
            <a:endParaRPr/>
          </a:p>
        </p:txBody>
      </p:sp>
      <p:sp>
        <p:nvSpPr>
          <p:cNvPr id="1075" name="Google Shape;1075;p9"/>
          <p:cNvSpPr txBox="1"/>
          <p:nvPr/>
        </p:nvSpPr>
        <p:spPr>
          <a:xfrm>
            <a:off x="11521440" y="2121408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▼</a:t>
            </a:r>
            <a:endParaRPr/>
          </a:p>
        </p:txBody>
      </p:sp>
      <p:sp>
        <p:nvSpPr>
          <p:cNvPr id="1076" name="Google Shape;1076;p9"/>
          <p:cNvSpPr txBox="1"/>
          <p:nvPr/>
        </p:nvSpPr>
        <p:spPr>
          <a:xfrm>
            <a:off x="6355080" y="2360980"/>
            <a:ext cx="1554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Devin Link</a:t>
            </a:r>
            <a:endParaRPr/>
          </a:p>
        </p:txBody>
      </p:sp>
      <p:sp>
        <p:nvSpPr>
          <p:cNvPr id="1077" name="Google Shape;1077;p9"/>
          <p:cNvSpPr txBox="1"/>
          <p:nvPr/>
        </p:nvSpPr>
        <p:spPr>
          <a:xfrm>
            <a:off x="7909560" y="2360980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925 Partners, Llc</a:t>
            </a:r>
            <a:endParaRPr/>
          </a:p>
        </p:txBody>
      </p:sp>
      <p:sp>
        <p:nvSpPr>
          <p:cNvPr id="1078" name="Google Shape;1078;p9"/>
          <p:cNvSpPr txBox="1"/>
          <p:nvPr/>
        </p:nvSpPr>
        <p:spPr>
          <a:xfrm>
            <a:off x="9738360" y="2360980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95</a:t>
            </a:r>
            <a:endParaRPr/>
          </a:p>
        </p:txBody>
      </p:sp>
      <p:sp>
        <p:nvSpPr>
          <p:cNvPr id="1079" name="Google Shape;1079;p9"/>
          <p:cNvSpPr txBox="1"/>
          <p:nvPr/>
        </p:nvSpPr>
        <p:spPr>
          <a:xfrm>
            <a:off x="10332720" y="2360980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1080" name="Google Shape;1080;p9"/>
          <p:cNvSpPr txBox="1"/>
          <p:nvPr/>
        </p:nvSpPr>
        <p:spPr>
          <a:xfrm>
            <a:off x="10927080" y="2360980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4.2%</a:t>
            </a:r>
            <a:endParaRPr/>
          </a:p>
        </p:txBody>
      </p:sp>
      <p:sp>
        <p:nvSpPr>
          <p:cNvPr id="1081" name="Google Shape;1081;p9"/>
          <p:cNvSpPr txBox="1"/>
          <p:nvPr/>
        </p:nvSpPr>
        <p:spPr>
          <a:xfrm>
            <a:off x="11521440" y="2360980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▼</a:t>
            </a:r>
            <a:endParaRPr/>
          </a:p>
        </p:txBody>
      </p:sp>
      <p:sp>
        <p:nvSpPr>
          <p:cNvPr id="1082" name="Google Shape;1082;p9"/>
          <p:cNvSpPr/>
          <p:nvPr/>
        </p:nvSpPr>
        <p:spPr>
          <a:xfrm>
            <a:off x="6245352" y="2582265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9"/>
          <p:cNvSpPr txBox="1"/>
          <p:nvPr/>
        </p:nvSpPr>
        <p:spPr>
          <a:xfrm>
            <a:off x="6355080" y="2600553"/>
            <a:ext cx="1554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Katharine Barrison</a:t>
            </a:r>
            <a:endParaRPr/>
          </a:p>
        </p:txBody>
      </p:sp>
      <p:sp>
        <p:nvSpPr>
          <p:cNvPr id="1084" name="Google Shape;1084;p9"/>
          <p:cNvSpPr txBox="1"/>
          <p:nvPr/>
        </p:nvSpPr>
        <p:spPr>
          <a:xfrm>
            <a:off x="7909560" y="2600553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Prestige International Insuran</a:t>
            </a:r>
            <a:endParaRPr/>
          </a:p>
        </p:txBody>
      </p:sp>
      <p:sp>
        <p:nvSpPr>
          <p:cNvPr id="1085" name="Google Shape;1085;p9"/>
          <p:cNvSpPr txBox="1"/>
          <p:nvPr/>
        </p:nvSpPr>
        <p:spPr>
          <a:xfrm>
            <a:off x="9738360" y="2600553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94</a:t>
            </a:r>
            <a:endParaRPr/>
          </a:p>
        </p:txBody>
      </p:sp>
      <p:sp>
        <p:nvSpPr>
          <p:cNvPr id="1086" name="Google Shape;1086;p9"/>
          <p:cNvSpPr txBox="1"/>
          <p:nvPr/>
        </p:nvSpPr>
        <p:spPr>
          <a:xfrm>
            <a:off x="10332720" y="2600553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1087" name="Google Shape;1087;p9"/>
          <p:cNvSpPr txBox="1"/>
          <p:nvPr/>
        </p:nvSpPr>
        <p:spPr>
          <a:xfrm>
            <a:off x="10927080" y="2600553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1088" name="Google Shape;1088;p9"/>
          <p:cNvSpPr txBox="1"/>
          <p:nvPr/>
        </p:nvSpPr>
        <p:spPr>
          <a:xfrm>
            <a:off x="11521440" y="2600553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▼</a:t>
            </a:r>
            <a:endParaRPr/>
          </a:p>
        </p:txBody>
      </p:sp>
      <p:sp>
        <p:nvSpPr>
          <p:cNvPr id="1089" name="Google Shape;1089;p9"/>
          <p:cNvSpPr txBox="1"/>
          <p:nvPr/>
        </p:nvSpPr>
        <p:spPr>
          <a:xfrm>
            <a:off x="6355080" y="2840126"/>
            <a:ext cx="1554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Ashley Marinez</a:t>
            </a:r>
            <a:endParaRPr/>
          </a:p>
        </p:txBody>
      </p:sp>
      <p:sp>
        <p:nvSpPr>
          <p:cNvPr id="1090" name="Google Shape;1090;p9"/>
          <p:cNvSpPr txBox="1"/>
          <p:nvPr/>
        </p:nvSpPr>
        <p:spPr>
          <a:xfrm>
            <a:off x="7909560" y="2840126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Prestige International Insuran</a:t>
            </a:r>
            <a:endParaRPr/>
          </a:p>
        </p:txBody>
      </p:sp>
      <p:sp>
        <p:nvSpPr>
          <p:cNvPr id="1091" name="Google Shape;1091;p9"/>
          <p:cNvSpPr txBox="1"/>
          <p:nvPr/>
        </p:nvSpPr>
        <p:spPr>
          <a:xfrm>
            <a:off x="9738360" y="2840126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92</a:t>
            </a:r>
            <a:endParaRPr/>
          </a:p>
        </p:txBody>
      </p:sp>
      <p:sp>
        <p:nvSpPr>
          <p:cNvPr id="1092" name="Google Shape;1092;p9"/>
          <p:cNvSpPr txBox="1"/>
          <p:nvPr/>
        </p:nvSpPr>
        <p:spPr>
          <a:xfrm>
            <a:off x="10332720" y="2840126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1093" name="Google Shape;1093;p9"/>
          <p:cNvSpPr txBox="1"/>
          <p:nvPr/>
        </p:nvSpPr>
        <p:spPr>
          <a:xfrm>
            <a:off x="10927080" y="2840126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2.2%</a:t>
            </a:r>
            <a:endParaRPr/>
          </a:p>
        </p:txBody>
      </p:sp>
      <p:sp>
        <p:nvSpPr>
          <p:cNvPr id="1094" name="Google Shape;1094;p9"/>
          <p:cNvSpPr txBox="1"/>
          <p:nvPr/>
        </p:nvSpPr>
        <p:spPr>
          <a:xfrm>
            <a:off x="11521440" y="2840126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▼</a:t>
            </a:r>
            <a:endParaRPr/>
          </a:p>
        </p:txBody>
      </p:sp>
      <p:sp>
        <p:nvSpPr>
          <p:cNvPr id="1095" name="Google Shape;1095;p9"/>
          <p:cNvSpPr/>
          <p:nvPr/>
        </p:nvSpPr>
        <p:spPr>
          <a:xfrm>
            <a:off x="6245352" y="3061411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9"/>
          <p:cNvSpPr txBox="1"/>
          <p:nvPr/>
        </p:nvSpPr>
        <p:spPr>
          <a:xfrm>
            <a:off x="6355080" y="3079699"/>
            <a:ext cx="1554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Tracy Gough</a:t>
            </a:r>
            <a:endParaRPr/>
          </a:p>
        </p:txBody>
      </p:sp>
      <p:sp>
        <p:nvSpPr>
          <p:cNvPr id="1097" name="Google Shape;1097;p9"/>
          <p:cNvSpPr txBox="1"/>
          <p:nvPr/>
        </p:nvSpPr>
        <p:spPr>
          <a:xfrm>
            <a:off x="7909560" y="3079699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Marble City Insurance</a:t>
            </a:r>
            <a:endParaRPr/>
          </a:p>
        </p:txBody>
      </p:sp>
      <p:sp>
        <p:nvSpPr>
          <p:cNvPr id="1098" name="Google Shape;1098;p9"/>
          <p:cNvSpPr txBox="1"/>
          <p:nvPr/>
        </p:nvSpPr>
        <p:spPr>
          <a:xfrm>
            <a:off x="9738360" y="3079699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88</a:t>
            </a:r>
            <a:endParaRPr/>
          </a:p>
        </p:txBody>
      </p:sp>
      <p:sp>
        <p:nvSpPr>
          <p:cNvPr id="1099" name="Google Shape;1099;p9"/>
          <p:cNvSpPr txBox="1"/>
          <p:nvPr/>
        </p:nvSpPr>
        <p:spPr>
          <a:xfrm>
            <a:off x="10332720" y="3079699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/>
          </a:p>
        </p:txBody>
      </p:sp>
      <p:sp>
        <p:nvSpPr>
          <p:cNvPr id="1100" name="Google Shape;1100;p9"/>
          <p:cNvSpPr txBox="1"/>
          <p:nvPr/>
        </p:nvSpPr>
        <p:spPr>
          <a:xfrm>
            <a:off x="10927080" y="3079699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8.0%</a:t>
            </a:r>
            <a:endParaRPr/>
          </a:p>
        </p:txBody>
      </p:sp>
      <p:sp>
        <p:nvSpPr>
          <p:cNvPr id="1101" name="Google Shape;1101;p9"/>
          <p:cNvSpPr txBox="1"/>
          <p:nvPr/>
        </p:nvSpPr>
        <p:spPr>
          <a:xfrm>
            <a:off x="11521440" y="3079699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▼</a:t>
            </a:r>
            <a:endParaRPr/>
          </a:p>
        </p:txBody>
      </p:sp>
      <p:sp>
        <p:nvSpPr>
          <p:cNvPr id="1102" name="Google Shape;1102;p9"/>
          <p:cNvSpPr txBox="1"/>
          <p:nvPr/>
        </p:nvSpPr>
        <p:spPr>
          <a:xfrm>
            <a:off x="6355080" y="3319272"/>
            <a:ext cx="1554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Kasim Goluab</a:t>
            </a:r>
            <a:endParaRPr/>
          </a:p>
        </p:txBody>
      </p:sp>
      <p:sp>
        <p:nvSpPr>
          <p:cNvPr id="1103" name="Google Shape;1103;p9"/>
          <p:cNvSpPr txBox="1"/>
          <p:nvPr/>
        </p:nvSpPr>
        <p:spPr>
          <a:xfrm>
            <a:off x="7909560" y="3319272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Prestige International Insuran</a:t>
            </a:r>
            <a:endParaRPr/>
          </a:p>
        </p:txBody>
      </p:sp>
      <p:sp>
        <p:nvSpPr>
          <p:cNvPr id="1104" name="Google Shape;1104;p9"/>
          <p:cNvSpPr txBox="1"/>
          <p:nvPr/>
        </p:nvSpPr>
        <p:spPr>
          <a:xfrm>
            <a:off x="9738360" y="3319272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87</a:t>
            </a:r>
            <a:endParaRPr/>
          </a:p>
        </p:txBody>
      </p:sp>
      <p:sp>
        <p:nvSpPr>
          <p:cNvPr id="1105" name="Google Shape;1105;p9"/>
          <p:cNvSpPr txBox="1"/>
          <p:nvPr/>
        </p:nvSpPr>
        <p:spPr>
          <a:xfrm>
            <a:off x="10332720" y="3319272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</a:t>
            </a:r>
            <a:endParaRPr/>
          </a:p>
        </p:txBody>
      </p:sp>
      <p:sp>
        <p:nvSpPr>
          <p:cNvPr id="1106" name="Google Shape;1106;p9"/>
          <p:cNvSpPr txBox="1"/>
          <p:nvPr/>
        </p:nvSpPr>
        <p:spPr>
          <a:xfrm>
            <a:off x="10927080" y="3319272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16.1%</a:t>
            </a:r>
            <a:endParaRPr/>
          </a:p>
        </p:txBody>
      </p:sp>
      <p:sp>
        <p:nvSpPr>
          <p:cNvPr id="1107" name="Google Shape;1107;p9"/>
          <p:cNvSpPr txBox="1"/>
          <p:nvPr/>
        </p:nvSpPr>
        <p:spPr>
          <a:xfrm>
            <a:off x="11521440" y="3319272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▼</a:t>
            </a:r>
            <a:endParaRPr/>
          </a:p>
        </p:txBody>
      </p:sp>
      <p:sp>
        <p:nvSpPr>
          <p:cNvPr id="1108" name="Google Shape;1108;p9"/>
          <p:cNvSpPr/>
          <p:nvPr/>
        </p:nvSpPr>
        <p:spPr>
          <a:xfrm>
            <a:off x="6245352" y="3540556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9"/>
          <p:cNvSpPr txBox="1"/>
          <p:nvPr/>
        </p:nvSpPr>
        <p:spPr>
          <a:xfrm>
            <a:off x="6355080" y="3558844"/>
            <a:ext cx="1554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Olga Conev</a:t>
            </a:r>
            <a:endParaRPr/>
          </a:p>
        </p:txBody>
      </p:sp>
      <p:sp>
        <p:nvSpPr>
          <p:cNvPr id="1110" name="Google Shape;1110;p9"/>
          <p:cNvSpPr txBox="1"/>
          <p:nvPr/>
        </p:nvSpPr>
        <p:spPr>
          <a:xfrm>
            <a:off x="7909560" y="3558844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Five Star Insurance Services I</a:t>
            </a:r>
            <a:endParaRPr/>
          </a:p>
        </p:txBody>
      </p:sp>
      <p:sp>
        <p:nvSpPr>
          <p:cNvPr id="1111" name="Google Shape;1111;p9"/>
          <p:cNvSpPr txBox="1"/>
          <p:nvPr/>
        </p:nvSpPr>
        <p:spPr>
          <a:xfrm>
            <a:off x="9738360" y="3558844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83</a:t>
            </a:r>
            <a:endParaRPr/>
          </a:p>
        </p:txBody>
      </p:sp>
      <p:sp>
        <p:nvSpPr>
          <p:cNvPr id="1112" name="Google Shape;1112;p9"/>
          <p:cNvSpPr txBox="1"/>
          <p:nvPr/>
        </p:nvSpPr>
        <p:spPr>
          <a:xfrm>
            <a:off x="10332720" y="3558844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1113" name="Google Shape;1113;p9"/>
          <p:cNvSpPr txBox="1"/>
          <p:nvPr/>
        </p:nvSpPr>
        <p:spPr>
          <a:xfrm>
            <a:off x="10927080" y="3558844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6.0%</a:t>
            </a:r>
            <a:endParaRPr/>
          </a:p>
        </p:txBody>
      </p:sp>
      <p:sp>
        <p:nvSpPr>
          <p:cNvPr id="1114" name="Google Shape;1114;p9"/>
          <p:cNvSpPr txBox="1"/>
          <p:nvPr/>
        </p:nvSpPr>
        <p:spPr>
          <a:xfrm>
            <a:off x="11521440" y="3558844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</a:t>
            </a:r>
            <a:endParaRPr/>
          </a:p>
        </p:txBody>
      </p:sp>
      <p:sp>
        <p:nvSpPr>
          <p:cNvPr id="1115" name="Google Shape;1115;p9"/>
          <p:cNvSpPr txBox="1"/>
          <p:nvPr/>
        </p:nvSpPr>
        <p:spPr>
          <a:xfrm>
            <a:off x="6355080" y="3798417"/>
            <a:ext cx="1554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Brent Hardin</a:t>
            </a:r>
            <a:endParaRPr/>
          </a:p>
        </p:txBody>
      </p:sp>
      <p:sp>
        <p:nvSpPr>
          <p:cNvPr id="1116" name="Google Shape;1116;p9"/>
          <p:cNvSpPr txBox="1"/>
          <p:nvPr/>
        </p:nvSpPr>
        <p:spPr>
          <a:xfrm>
            <a:off x="7909560" y="3798417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PMHLP LLC DBA Coverboxx</a:t>
            </a:r>
            <a:endParaRPr/>
          </a:p>
        </p:txBody>
      </p:sp>
      <p:sp>
        <p:nvSpPr>
          <p:cNvPr id="1117" name="Google Shape;1117;p9"/>
          <p:cNvSpPr txBox="1"/>
          <p:nvPr/>
        </p:nvSpPr>
        <p:spPr>
          <a:xfrm>
            <a:off x="9738360" y="3798417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82</a:t>
            </a:r>
            <a:endParaRPr/>
          </a:p>
        </p:txBody>
      </p:sp>
      <p:sp>
        <p:nvSpPr>
          <p:cNvPr id="1118" name="Google Shape;1118;p9"/>
          <p:cNvSpPr txBox="1"/>
          <p:nvPr/>
        </p:nvSpPr>
        <p:spPr>
          <a:xfrm>
            <a:off x="10332720" y="3798417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1119" name="Google Shape;1119;p9"/>
          <p:cNvSpPr txBox="1"/>
          <p:nvPr/>
        </p:nvSpPr>
        <p:spPr>
          <a:xfrm>
            <a:off x="10927080" y="3798417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2.4%</a:t>
            </a:r>
            <a:endParaRPr/>
          </a:p>
        </p:txBody>
      </p:sp>
      <p:sp>
        <p:nvSpPr>
          <p:cNvPr id="1120" name="Google Shape;1120;p9"/>
          <p:cNvSpPr txBox="1"/>
          <p:nvPr/>
        </p:nvSpPr>
        <p:spPr>
          <a:xfrm>
            <a:off x="11521440" y="3798417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▼</a:t>
            </a:r>
            <a:endParaRPr/>
          </a:p>
        </p:txBody>
      </p:sp>
      <p:sp>
        <p:nvSpPr>
          <p:cNvPr id="1121" name="Google Shape;1121;p9"/>
          <p:cNvSpPr/>
          <p:nvPr/>
        </p:nvSpPr>
        <p:spPr>
          <a:xfrm>
            <a:off x="6245352" y="4019702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9"/>
          <p:cNvSpPr txBox="1"/>
          <p:nvPr/>
        </p:nvSpPr>
        <p:spPr>
          <a:xfrm>
            <a:off x="6355080" y="4037990"/>
            <a:ext cx="1554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Natalie Soto</a:t>
            </a:r>
            <a:endParaRPr/>
          </a:p>
        </p:txBody>
      </p:sp>
      <p:sp>
        <p:nvSpPr>
          <p:cNvPr id="1123" name="Google Shape;1123;p9"/>
          <p:cNvSpPr txBox="1"/>
          <p:nvPr/>
        </p:nvSpPr>
        <p:spPr>
          <a:xfrm>
            <a:off x="7909560" y="4037990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Prestige International Insuran</a:t>
            </a:r>
            <a:endParaRPr/>
          </a:p>
        </p:txBody>
      </p:sp>
      <p:sp>
        <p:nvSpPr>
          <p:cNvPr id="1124" name="Google Shape;1124;p9"/>
          <p:cNvSpPr txBox="1"/>
          <p:nvPr/>
        </p:nvSpPr>
        <p:spPr>
          <a:xfrm>
            <a:off x="9738360" y="4037990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82</a:t>
            </a:r>
            <a:endParaRPr/>
          </a:p>
        </p:txBody>
      </p:sp>
      <p:sp>
        <p:nvSpPr>
          <p:cNvPr id="1125" name="Google Shape;1125;p9"/>
          <p:cNvSpPr txBox="1"/>
          <p:nvPr/>
        </p:nvSpPr>
        <p:spPr>
          <a:xfrm>
            <a:off x="10332720" y="4037990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1126" name="Google Shape;1126;p9"/>
          <p:cNvSpPr txBox="1"/>
          <p:nvPr/>
        </p:nvSpPr>
        <p:spPr>
          <a:xfrm>
            <a:off x="10927080" y="4037990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1127" name="Google Shape;1127;p9"/>
          <p:cNvSpPr txBox="1"/>
          <p:nvPr/>
        </p:nvSpPr>
        <p:spPr>
          <a:xfrm>
            <a:off x="11521440" y="4037990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▲</a:t>
            </a:r>
            <a:endParaRPr/>
          </a:p>
        </p:txBody>
      </p:sp>
      <p:sp>
        <p:nvSpPr>
          <p:cNvPr id="1128" name="Google Shape;1128;p9"/>
          <p:cNvSpPr txBox="1"/>
          <p:nvPr/>
        </p:nvSpPr>
        <p:spPr>
          <a:xfrm>
            <a:off x="6355080" y="4277563"/>
            <a:ext cx="1554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Zachary Flowers</a:t>
            </a:r>
            <a:endParaRPr/>
          </a:p>
        </p:txBody>
      </p:sp>
      <p:sp>
        <p:nvSpPr>
          <p:cNvPr id="1129" name="Google Shape;1129;p9"/>
          <p:cNvSpPr txBox="1"/>
          <p:nvPr/>
        </p:nvSpPr>
        <p:spPr>
          <a:xfrm>
            <a:off x="7909560" y="4277563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Waypoint Agency LLC</a:t>
            </a:r>
            <a:endParaRPr/>
          </a:p>
        </p:txBody>
      </p:sp>
      <p:sp>
        <p:nvSpPr>
          <p:cNvPr id="1130" name="Google Shape;1130;p9"/>
          <p:cNvSpPr txBox="1"/>
          <p:nvPr/>
        </p:nvSpPr>
        <p:spPr>
          <a:xfrm>
            <a:off x="9738360" y="4277563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82</a:t>
            </a:r>
            <a:endParaRPr/>
          </a:p>
        </p:txBody>
      </p:sp>
      <p:sp>
        <p:nvSpPr>
          <p:cNvPr id="1131" name="Google Shape;1131;p9"/>
          <p:cNvSpPr txBox="1"/>
          <p:nvPr/>
        </p:nvSpPr>
        <p:spPr>
          <a:xfrm>
            <a:off x="10332720" y="4277563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1132" name="Google Shape;1132;p9"/>
          <p:cNvSpPr txBox="1"/>
          <p:nvPr/>
        </p:nvSpPr>
        <p:spPr>
          <a:xfrm>
            <a:off x="10927080" y="4277563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3.7%</a:t>
            </a:r>
            <a:endParaRPr/>
          </a:p>
        </p:txBody>
      </p:sp>
      <p:sp>
        <p:nvSpPr>
          <p:cNvPr id="1133" name="Google Shape;1133;p9"/>
          <p:cNvSpPr txBox="1"/>
          <p:nvPr/>
        </p:nvSpPr>
        <p:spPr>
          <a:xfrm>
            <a:off x="11521440" y="4277563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▼</a:t>
            </a:r>
            <a:endParaRPr/>
          </a:p>
        </p:txBody>
      </p:sp>
      <p:sp>
        <p:nvSpPr>
          <p:cNvPr id="1134" name="Google Shape;1134;p9"/>
          <p:cNvSpPr/>
          <p:nvPr/>
        </p:nvSpPr>
        <p:spPr>
          <a:xfrm>
            <a:off x="6245352" y="4498848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9"/>
          <p:cNvSpPr txBox="1"/>
          <p:nvPr/>
        </p:nvSpPr>
        <p:spPr>
          <a:xfrm>
            <a:off x="6355080" y="4517136"/>
            <a:ext cx="1554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Merryl Gerhardt</a:t>
            </a:r>
            <a:endParaRPr/>
          </a:p>
        </p:txBody>
      </p:sp>
      <p:sp>
        <p:nvSpPr>
          <p:cNvPr id="1136" name="Google Shape;1136;p9"/>
          <p:cNvSpPr txBox="1"/>
          <p:nvPr/>
        </p:nvSpPr>
        <p:spPr>
          <a:xfrm>
            <a:off x="7909560" y="4517136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Insurance4truckers Llc</a:t>
            </a:r>
            <a:endParaRPr/>
          </a:p>
        </p:txBody>
      </p:sp>
      <p:sp>
        <p:nvSpPr>
          <p:cNvPr id="1137" name="Google Shape;1137;p9"/>
          <p:cNvSpPr txBox="1"/>
          <p:nvPr/>
        </p:nvSpPr>
        <p:spPr>
          <a:xfrm>
            <a:off x="9738360" y="4517136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75</a:t>
            </a:r>
            <a:endParaRPr/>
          </a:p>
        </p:txBody>
      </p:sp>
      <p:sp>
        <p:nvSpPr>
          <p:cNvPr id="1138" name="Google Shape;1138;p9"/>
          <p:cNvSpPr txBox="1"/>
          <p:nvPr/>
        </p:nvSpPr>
        <p:spPr>
          <a:xfrm>
            <a:off x="10332720" y="4517136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/>
          </a:p>
        </p:txBody>
      </p:sp>
      <p:sp>
        <p:nvSpPr>
          <p:cNvPr id="1139" name="Google Shape;1139;p9"/>
          <p:cNvSpPr txBox="1"/>
          <p:nvPr/>
        </p:nvSpPr>
        <p:spPr>
          <a:xfrm>
            <a:off x="10927080" y="4517136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9.3%</a:t>
            </a:r>
            <a:endParaRPr/>
          </a:p>
        </p:txBody>
      </p:sp>
      <p:sp>
        <p:nvSpPr>
          <p:cNvPr id="1140" name="Google Shape;1140;p9"/>
          <p:cNvSpPr txBox="1"/>
          <p:nvPr/>
        </p:nvSpPr>
        <p:spPr>
          <a:xfrm>
            <a:off x="11521440" y="4517136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▲</a:t>
            </a:r>
            <a:endParaRPr/>
          </a:p>
        </p:txBody>
      </p:sp>
      <p:sp>
        <p:nvSpPr>
          <p:cNvPr id="1141" name="Google Shape;1141;p9"/>
          <p:cNvSpPr txBox="1"/>
          <p:nvPr/>
        </p:nvSpPr>
        <p:spPr>
          <a:xfrm>
            <a:off x="6355080" y="4756708"/>
            <a:ext cx="1554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Mika Leone-Pettit</a:t>
            </a:r>
            <a:endParaRPr/>
          </a:p>
        </p:txBody>
      </p:sp>
      <p:sp>
        <p:nvSpPr>
          <p:cNvPr id="1142" name="Google Shape;1142;p9"/>
          <p:cNvSpPr txBox="1"/>
          <p:nvPr/>
        </p:nvSpPr>
        <p:spPr>
          <a:xfrm>
            <a:off x="7909560" y="475670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Valion Security Llc</a:t>
            </a:r>
            <a:endParaRPr/>
          </a:p>
        </p:txBody>
      </p:sp>
      <p:sp>
        <p:nvSpPr>
          <p:cNvPr id="1143" name="Google Shape;1143;p9"/>
          <p:cNvSpPr txBox="1"/>
          <p:nvPr/>
        </p:nvSpPr>
        <p:spPr>
          <a:xfrm>
            <a:off x="9738360" y="4756708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74</a:t>
            </a:r>
            <a:endParaRPr/>
          </a:p>
        </p:txBody>
      </p:sp>
      <p:sp>
        <p:nvSpPr>
          <p:cNvPr id="1144" name="Google Shape;1144;p9"/>
          <p:cNvSpPr txBox="1"/>
          <p:nvPr/>
        </p:nvSpPr>
        <p:spPr>
          <a:xfrm>
            <a:off x="10332720" y="4756708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</a:t>
            </a:r>
            <a:endParaRPr/>
          </a:p>
        </p:txBody>
      </p:sp>
      <p:sp>
        <p:nvSpPr>
          <p:cNvPr id="1145" name="Google Shape;1145;p9"/>
          <p:cNvSpPr txBox="1"/>
          <p:nvPr/>
        </p:nvSpPr>
        <p:spPr>
          <a:xfrm>
            <a:off x="10927080" y="4756708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33.8%</a:t>
            </a:r>
            <a:endParaRPr/>
          </a:p>
        </p:txBody>
      </p:sp>
      <p:sp>
        <p:nvSpPr>
          <p:cNvPr id="1146" name="Google Shape;1146;p9"/>
          <p:cNvSpPr txBox="1"/>
          <p:nvPr/>
        </p:nvSpPr>
        <p:spPr>
          <a:xfrm>
            <a:off x="11521440" y="4756708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▲</a:t>
            </a:r>
            <a:endParaRPr/>
          </a:p>
        </p:txBody>
      </p:sp>
      <p:sp>
        <p:nvSpPr>
          <p:cNvPr id="1147" name="Google Shape;1147;p9"/>
          <p:cNvSpPr/>
          <p:nvPr/>
        </p:nvSpPr>
        <p:spPr>
          <a:xfrm>
            <a:off x="6245352" y="4977993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9"/>
          <p:cNvSpPr txBox="1"/>
          <p:nvPr/>
        </p:nvSpPr>
        <p:spPr>
          <a:xfrm>
            <a:off x="6355080" y="4996281"/>
            <a:ext cx="1554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Michael Judd</a:t>
            </a:r>
            <a:endParaRPr/>
          </a:p>
        </p:txBody>
      </p:sp>
      <p:sp>
        <p:nvSpPr>
          <p:cNvPr id="1149" name="Google Shape;1149;p9"/>
          <p:cNvSpPr txBox="1"/>
          <p:nvPr/>
        </p:nvSpPr>
        <p:spPr>
          <a:xfrm>
            <a:off x="7909560" y="4996281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Insurance4truckers Llc</a:t>
            </a:r>
            <a:endParaRPr/>
          </a:p>
        </p:txBody>
      </p:sp>
      <p:sp>
        <p:nvSpPr>
          <p:cNvPr id="1150" name="Google Shape;1150;p9"/>
          <p:cNvSpPr txBox="1"/>
          <p:nvPr/>
        </p:nvSpPr>
        <p:spPr>
          <a:xfrm>
            <a:off x="9738360" y="4996281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69</a:t>
            </a:r>
            <a:endParaRPr/>
          </a:p>
        </p:txBody>
      </p:sp>
      <p:sp>
        <p:nvSpPr>
          <p:cNvPr id="1151" name="Google Shape;1151;p9"/>
          <p:cNvSpPr txBox="1"/>
          <p:nvPr/>
        </p:nvSpPr>
        <p:spPr>
          <a:xfrm>
            <a:off x="10332720" y="4996281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</a:t>
            </a:r>
            <a:endParaRPr/>
          </a:p>
        </p:txBody>
      </p:sp>
      <p:sp>
        <p:nvSpPr>
          <p:cNvPr id="1152" name="Google Shape;1152;p9"/>
          <p:cNvSpPr txBox="1"/>
          <p:nvPr/>
        </p:nvSpPr>
        <p:spPr>
          <a:xfrm>
            <a:off x="10927080" y="4996281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13.0%</a:t>
            </a:r>
            <a:endParaRPr/>
          </a:p>
        </p:txBody>
      </p:sp>
      <p:sp>
        <p:nvSpPr>
          <p:cNvPr id="1153" name="Google Shape;1153;p9"/>
          <p:cNvSpPr txBox="1"/>
          <p:nvPr/>
        </p:nvSpPr>
        <p:spPr>
          <a:xfrm>
            <a:off x="11521440" y="4996281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▲</a:t>
            </a:r>
            <a:endParaRPr/>
          </a:p>
        </p:txBody>
      </p:sp>
      <p:sp>
        <p:nvSpPr>
          <p:cNvPr id="1154" name="Google Shape;1154;p9"/>
          <p:cNvSpPr txBox="1"/>
          <p:nvPr/>
        </p:nvSpPr>
        <p:spPr>
          <a:xfrm>
            <a:off x="6355080" y="5235854"/>
            <a:ext cx="1554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David Pederson</a:t>
            </a:r>
            <a:endParaRPr/>
          </a:p>
        </p:txBody>
      </p:sp>
      <p:sp>
        <p:nvSpPr>
          <p:cNvPr id="1155" name="Google Shape;1155;p9"/>
          <p:cNvSpPr txBox="1"/>
          <p:nvPr/>
        </p:nvSpPr>
        <p:spPr>
          <a:xfrm>
            <a:off x="7909560" y="5235854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Insurance4truckers Llc</a:t>
            </a:r>
            <a:endParaRPr/>
          </a:p>
        </p:txBody>
      </p:sp>
      <p:sp>
        <p:nvSpPr>
          <p:cNvPr id="1156" name="Google Shape;1156;p9"/>
          <p:cNvSpPr txBox="1"/>
          <p:nvPr/>
        </p:nvSpPr>
        <p:spPr>
          <a:xfrm>
            <a:off x="9738360" y="5235854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66</a:t>
            </a:r>
            <a:endParaRPr/>
          </a:p>
        </p:txBody>
      </p:sp>
      <p:sp>
        <p:nvSpPr>
          <p:cNvPr id="1157" name="Google Shape;1157;p9"/>
          <p:cNvSpPr txBox="1"/>
          <p:nvPr/>
        </p:nvSpPr>
        <p:spPr>
          <a:xfrm>
            <a:off x="10332720" y="5235854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</a:t>
            </a:r>
            <a:endParaRPr/>
          </a:p>
        </p:txBody>
      </p:sp>
      <p:sp>
        <p:nvSpPr>
          <p:cNvPr id="1158" name="Google Shape;1158;p9"/>
          <p:cNvSpPr txBox="1"/>
          <p:nvPr/>
        </p:nvSpPr>
        <p:spPr>
          <a:xfrm>
            <a:off x="10927080" y="5235854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12.1%</a:t>
            </a:r>
            <a:endParaRPr/>
          </a:p>
        </p:txBody>
      </p:sp>
      <p:sp>
        <p:nvSpPr>
          <p:cNvPr id="1159" name="Google Shape;1159;p9"/>
          <p:cNvSpPr txBox="1"/>
          <p:nvPr/>
        </p:nvSpPr>
        <p:spPr>
          <a:xfrm>
            <a:off x="11521440" y="5235854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</a:t>
            </a:r>
            <a:endParaRPr/>
          </a:p>
        </p:txBody>
      </p:sp>
      <p:sp>
        <p:nvSpPr>
          <p:cNvPr id="1160" name="Google Shape;1160;p9"/>
          <p:cNvSpPr/>
          <p:nvPr/>
        </p:nvSpPr>
        <p:spPr>
          <a:xfrm>
            <a:off x="6245352" y="5457139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9"/>
          <p:cNvSpPr txBox="1"/>
          <p:nvPr/>
        </p:nvSpPr>
        <p:spPr>
          <a:xfrm>
            <a:off x="6355080" y="5475427"/>
            <a:ext cx="1554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Luis Reyes</a:t>
            </a:r>
            <a:endParaRPr/>
          </a:p>
        </p:txBody>
      </p:sp>
      <p:sp>
        <p:nvSpPr>
          <p:cNvPr id="1162" name="Google Shape;1162;p9"/>
          <p:cNvSpPr txBox="1"/>
          <p:nvPr/>
        </p:nvSpPr>
        <p:spPr>
          <a:xfrm>
            <a:off x="7909560" y="5475427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Independence Insurance Agency </a:t>
            </a:r>
            <a:endParaRPr/>
          </a:p>
        </p:txBody>
      </p:sp>
      <p:sp>
        <p:nvSpPr>
          <p:cNvPr id="1163" name="Google Shape;1163;p9"/>
          <p:cNvSpPr txBox="1"/>
          <p:nvPr/>
        </p:nvSpPr>
        <p:spPr>
          <a:xfrm>
            <a:off x="9738360" y="5475427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65</a:t>
            </a:r>
            <a:endParaRPr/>
          </a:p>
        </p:txBody>
      </p:sp>
      <p:sp>
        <p:nvSpPr>
          <p:cNvPr id="1164" name="Google Shape;1164;p9"/>
          <p:cNvSpPr txBox="1"/>
          <p:nvPr/>
        </p:nvSpPr>
        <p:spPr>
          <a:xfrm>
            <a:off x="10332720" y="5475427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1165" name="Google Shape;1165;p9"/>
          <p:cNvSpPr txBox="1"/>
          <p:nvPr/>
        </p:nvSpPr>
        <p:spPr>
          <a:xfrm>
            <a:off x="10927080" y="5475427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3.1%</a:t>
            </a:r>
            <a:endParaRPr/>
          </a:p>
        </p:txBody>
      </p:sp>
      <p:sp>
        <p:nvSpPr>
          <p:cNvPr id="1166" name="Google Shape;1166;p9"/>
          <p:cNvSpPr txBox="1"/>
          <p:nvPr/>
        </p:nvSpPr>
        <p:spPr>
          <a:xfrm>
            <a:off x="11521440" y="5475427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▲</a:t>
            </a:r>
            <a:endParaRPr/>
          </a:p>
        </p:txBody>
      </p:sp>
      <p:sp>
        <p:nvSpPr>
          <p:cNvPr id="1167" name="Google Shape;1167;p9"/>
          <p:cNvSpPr txBox="1"/>
          <p:nvPr/>
        </p:nvSpPr>
        <p:spPr>
          <a:xfrm>
            <a:off x="6355080" y="5715000"/>
            <a:ext cx="1554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Jesselyn Kennedy</a:t>
            </a:r>
            <a:endParaRPr/>
          </a:p>
        </p:txBody>
      </p:sp>
      <p:sp>
        <p:nvSpPr>
          <p:cNvPr id="1168" name="Google Shape;1168;p9"/>
          <p:cNvSpPr txBox="1"/>
          <p:nvPr/>
        </p:nvSpPr>
        <p:spPr>
          <a:xfrm>
            <a:off x="7909560" y="5715000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Insurance4truckers Llc</a:t>
            </a:r>
            <a:endParaRPr/>
          </a:p>
        </p:txBody>
      </p:sp>
      <p:sp>
        <p:nvSpPr>
          <p:cNvPr id="1169" name="Google Shape;1169;p9"/>
          <p:cNvSpPr txBox="1"/>
          <p:nvPr/>
        </p:nvSpPr>
        <p:spPr>
          <a:xfrm>
            <a:off x="9738360" y="5715000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64</a:t>
            </a:r>
            <a:endParaRPr/>
          </a:p>
        </p:txBody>
      </p:sp>
      <p:sp>
        <p:nvSpPr>
          <p:cNvPr id="1170" name="Google Shape;1170;p9"/>
          <p:cNvSpPr txBox="1"/>
          <p:nvPr/>
        </p:nvSpPr>
        <p:spPr>
          <a:xfrm>
            <a:off x="10332720" y="5715000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1171" name="Google Shape;1171;p9"/>
          <p:cNvSpPr txBox="1"/>
          <p:nvPr/>
        </p:nvSpPr>
        <p:spPr>
          <a:xfrm>
            <a:off x="10927080" y="5715000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4.7%</a:t>
            </a:r>
            <a:endParaRPr/>
          </a:p>
        </p:txBody>
      </p:sp>
      <p:sp>
        <p:nvSpPr>
          <p:cNvPr id="1172" name="Google Shape;1172;p9"/>
          <p:cNvSpPr txBox="1"/>
          <p:nvPr/>
        </p:nvSpPr>
        <p:spPr>
          <a:xfrm>
            <a:off x="11521440" y="5715000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▼</a:t>
            </a:r>
            <a:endParaRPr/>
          </a:p>
        </p:txBody>
      </p:sp>
      <p:sp>
        <p:nvSpPr>
          <p:cNvPr id="1173" name="Google Shape;1173;p9"/>
          <p:cNvSpPr/>
          <p:nvPr/>
        </p:nvSpPr>
        <p:spPr>
          <a:xfrm>
            <a:off x="6245352" y="5936284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9"/>
          <p:cNvSpPr txBox="1"/>
          <p:nvPr/>
        </p:nvSpPr>
        <p:spPr>
          <a:xfrm>
            <a:off x="6355080" y="5954572"/>
            <a:ext cx="1554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Michele Bell</a:t>
            </a:r>
            <a:endParaRPr/>
          </a:p>
        </p:txBody>
      </p:sp>
      <p:sp>
        <p:nvSpPr>
          <p:cNvPr id="1175" name="Google Shape;1175;p9"/>
          <p:cNvSpPr txBox="1"/>
          <p:nvPr/>
        </p:nvSpPr>
        <p:spPr>
          <a:xfrm>
            <a:off x="7909560" y="5954572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Prestige International Insuran</a:t>
            </a:r>
            <a:endParaRPr/>
          </a:p>
        </p:txBody>
      </p:sp>
      <p:sp>
        <p:nvSpPr>
          <p:cNvPr id="1176" name="Google Shape;1176;p9"/>
          <p:cNvSpPr txBox="1"/>
          <p:nvPr/>
        </p:nvSpPr>
        <p:spPr>
          <a:xfrm>
            <a:off x="9738360" y="5954572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64</a:t>
            </a:r>
            <a:endParaRPr/>
          </a:p>
        </p:txBody>
      </p:sp>
      <p:sp>
        <p:nvSpPr>
          <p:cNvPr id="1177" name="Google Shape;1177;p9"/>
          <p:cNvSpPr txBox="1"/>
          <p:nvPr/>
        </p:nvSpPr>
        <p:spPr>
          <a:xfrm>
            <a:off x="10332720" y="5954572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1178" name="Google Shape;1178;p9"/>
          <p:cNvSpPr txBox="1"/>
          <p:nvPr/>
        </p:nvSpPr>
        <p:spPr>
          <a:xfrm>
            <a:off x="10927080" y="5954572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1179" name="Google Shape;1179;p9"/>
          <p:cNvSpPr txBox="1"/>
          <p:nvPr/>
        </p:nvSpPr>
        <p:spPr>
          <a:xfrm>
            <a:off x="11521440" y="5954572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▼</a:t>
            </a:r>
            <a:endParaRPr/>
          </a:p>
        </p:txBody>
      </p:sp>
      <p:sp>
        <p:nvSpPr>
          <p:cNvPr id="1180" name="Google Shape;1180;p9"/>
          <p:cNvSpPr txBox="1"/>
          <p:nvPr/>
        </p:nvSpPr>
        <p:spPr>
          <a:xfrm>
            <a:off x="6355080" y="6194145"/>
            <a:ext cx="1554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Ninderjit Kaur</a:t>
            </a:r>
            <a:endParaRPr/>
          </a:p>
        </p:txBody>
      </p:sp>
      <p:sp>
        <p:nvSpPr>
          <p:cNvPr id="1181" name="Google Shape;1181;p9"/>
          <p:cNvSpPr txBox="1"/>
          <p:nvPr/>
        </p:nvSpPr>
        <p:spPr>
          <a:xfrm>
            <a:off x="7909560" y="6194145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Eagle Insurance Agency</a:t>
            </a:r>
            <a:endParaRPr/>
          </a:p>
        </p:txBody>
      </p:sp>
      <p:sp>
        <p:nvSpPr>
          <p:cNvPr id="1182" name="Google Shape;1182;p9"/>
          <p:cNvSpPr txBox="1"/>
          <p:nvPr/>
        </p:nvSpPr>
        <p:spPr>
          <a:xfrm>
            <a:off x="9738360" y="6194145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63</a:t>
            </a:r>
            <a:endParaRPr/>
          </a:p>
        </p:txBody>
      </p:sp>
      <p:sp>
        <p:nvSpPr>
          <p:cNvPr id="1183" name="Google Shape;1183;p9"/>
          <p:cNvSpPr txBox="1"/>
          <p:nvPr/>
        </p:nvSpPr>
        <p:spPr>
          <a:xfrm>
            <a:off x="10332720" y="6194145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</a:t>
            </a:r>
            <a:endParaRPr/>
          </a:p>
        </p:txBody>
      </p:sp>
      <p:sp>
        <p:nvSpPr>
          <p:cNvPr id="1184" name="Google Shape;1184;p9"/>
          <p:cNvSpPr txBox="1"/>
          <p:nvPr/>
        </p:nvSpPr>
        <p:spPr>
          <a:xfrm>
            <a:off x="10927080" y="6194145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19.0%</a:t>
            </a:r>
            <a:endParaRPr/>
          </a:p>
        </p:txBody>
      </p:sp>
      <p:sp>
        <p:nvSpPr>
          <p:cNvPr id="1185" name="Google Shape;1185;p9"/>
          <p:cNvSpPr txBox="1"/>
          <p:nvPr/>
        </p:nvSpPr>
        <p:spPr>
          <a:xfrm>
            <a:off x="11521440" y="6194145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▲</a:t>
            </a:r>
            <a:endParaRPr/>
          </a:p>
        </p:txBody>
      </p:sp>
      <p:sp>
        <p:nvSpPr>
          <p:cNvPr id="1186" name="Google Shape;1186;p9"/>
          <p:cNvSpPr txBox="1"/>
          <p:nvPr/>
        </p:nvSpPr>
        <p:spPr>
          <a:xfrm>
            <a:off x="274320" y="6510528"/>
            <a:ext cx="1170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Source: Metabase  |  Agent = broker_contact_user_id on submission record  |  Hit ratio = binds / subs  |  MoM = month-over-month  |  4 subs had no agent mapped (broker_contact_user_id not set)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1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10"/>
          <p:cNvSpPr txBox="1"/>
          <p:nvPr/>
        </p:nvSpPr>
        <p:spPr>
          <a:xfrm>
            <a:off x="365760" y="73152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Top Performers vs Underperformers</a:t>
            </a:r>
            <a:endParaRPr/>
          </a:p>
        </p:txBody>
      </p:sp>
      <p:sp>
        <p:nvSpPr>
          <p:cNvPr id="1193" name="Google Shape;1193;p10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4B5F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Jan–Jun 2026  |  Standouts and agencies needing attention</a:t>
            </a:r>
            <a:endParaRPr/>
          </a:p>
        </p:txBody>
      </p:sp>
      <p:sp>
        <p:nvSpPr>
          <p:cNvPr id="1194" name="Google Shape;1194;p10"/>
          <p:cNvSpPr/>
          <p:nvPr/>
        </p:nvSpPr>
        <p:spPr>
          <a:xfrm>
            <a:off x="365760" y="914400"/>
            <a:ext cx="5486400" cy="329184"/>
          </a:xfrm>
          <a:prstGeom prst="rect">
            <a:avLst/>
          </a:prstGeom>
          <a:solidFill>
            <a:srgbClr val="D1FA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10"/>
          <p:cNvSpPr txBox="1"/>
          <p:nvPr/>
        </p:nvSpPr>
        <p:spPr>
          <a:xfrm>
            <a:off x="502920" y="960120"/>
            <a:ext cx="5212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65F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EXCEEDING — Top 5</a:t>
            </a:r>
            <a:endParaRPr/>
          </a:p>
        </p:txBody>
      </p:sp>
      <p:sp>
        <p:nvSpPr>
          <p:cNvPr id="1196" name="Google Shape;1196;p10"/>
          <p:cNvSpPr/>
          <p:nvPr/>
        </p:nvSpPr>
        <p:spPr>
          <a:xfrm>
            <a:off x="6336792" y="914400"/>
            <a:ext cx="5486400" cy="329184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7" name="Google Shape;1197;p10"/>
          <p:cNvSpPr txBox="1"/>
          <p:nvPr/>
        </p:nvSpPr>
        <p:spPr>
          <a:xfrm>
            <a:off x="6473952" y="960120"/>
            <a:ext cx="5212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NEEDS ATTENTION — Bottom 5</a:t>
            </a:r>
            <a:endParaRPr/>
          </a:p>
        </p:txBody>
      </p:sp>
      <p:sp>
        <p:nvSpPr>
          <p:cNvPr id="1198" name="Google Shape;1198;p10"/>
          <p:cNvSpPr/>
          <p:nvPr/>
        </p:nvSpPr>
        <p:spPr>
          <a:xfrm>
            <a:off x="411480" y="137160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199" name="Google Shape;1199;p10"/>
          <p:cNvSpPr txBox="1"/>
          <p:nvPr/>
        </p:nvSpPr>
        <p:spPr>
          <a:xfrm>
            <a:off x="868680" y="1353312"/>
            <a:ext cx="4937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Usa Specialty Insurance/dba Preventty</a:t>
            </a:r>
            <a:endParaRPr/>
          </a:p>
        </p:txBody>
      </p:sp>
      <p:sp>
        <p:nvSpPr>
          <p:cNvPr id="1200" name="Google Shape;1200;p10"/>
          <p:cNvSpPr txBox="1"/>
          <p:nvPr/>
        </p:nvSpPr>
        <p:spPr>
          <a:xfrm>
            <a:off x="868680" y="1554480"/>
            <a:ext cx="4937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GWP $7,898,000  |  Subs 3136  |  Binds 263  |  HR 8.4%</a:t>
            </a:r>
            <a:endParaRPr/>
          </a:p>
        </p:txBody>
      </p:sp>
      <p:sp>
        <p:nvSpPr>
          <p:cNvPr id="1201" name="Google Shape;1201;p10"/>
          <p:cNvSpPr txBox="1"/>
          <p:nvPr/>
        </p:nvSpPr>
        <p:spPr>
          <a:xfrm>
            <a:off x="868680" y="1792224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65F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 8.4% (portfolio avg: 4.8%)  |  $7,898,000 YTD GWP</a:t>
            </a:r>
            <a:endParaRPr/>
          </a:p>
        </p:txBody>
      </p:sp>
      <p:sp>
        <p:nvSpPr>
          <p:cNvPr id="1202" name="Google Shape;1202;p10"/>
          <p:cNvSpPr/>
          <p:nvPr/>
        </p:nvSpPr>
        <p:spPr>
          <a:xfrm>
            <a:off x="411480" y="237744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203" name="Google Shape;1203;p10"/>
          <p:cNvSpPr txBox="1"/>
          <p:nvPr/>
        </p:nvSpPr>
        <p:spPr>
          <a:xfrm>
            <a:off x="868680" y="2359152"/>
            <a:ext cx="4937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Insurance4truckers Llc</a:t>
            </a:r>
            <a:endParaRPr/>
          </a:p>
        </p:txBody>
      </p:sp>
      <p:sp>
        <p:nvSpPr>
          <p:cNvPr id="1204" name="Google Shape;1204;p10"/>
          <p:cNvSpPr txBox="1"/>
          <p:nvPr/>
        </p:nvSpPr>
        <p:spPr>
          <a:xfrm>
            <a:off x="868680" y="2560320"/>
            <a:ext cx="4937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GWP $2,947,338  |  Subs 5487  |  Binds 125  |  HR 2.3%</a:t>
            </a:r>
            <a:endParaRPr/>
          </a:p>
        </p:txBody>
      </p:sp>
      <p:sp>
        <p:nvSpPr>
          <p:cNvPr id="1205" name="Google Shape;1205;p10"/>
          <p:cNvSpPr txBox="1"/>
          <p:nvPr/>
        </p:nvSpPr>
        <p:spPr>
          <a:xfrm>
            <a:off x="868680" y="2798064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65F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$2,947,338 YTD GWP  |  125 binds in Q1</a:t>
            </a:r>
            <a:endParaRPr/>
          </a:p>
        </p:txBody>
      </p:sp>
      <p:sp>
        <p:nvSpPr>
          <p:cNvPr id="1206" name="Google Shape;1206;p10"/>
          <p:cNvSpPr/>
          <p:nvPr/>
        </p:nvSpPr>
        <p:spPr>
          <a:xfrm>
            <a:off x="411480" y="338328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207" name="Google Shape;1207;p10"/>
          <p:cNvSpPr txBox="1"/>
          <p:nvPr/>
        </p:nvSpPr>
        <p:spPr>
          <a:xfrm>
            <a:off x="868680" y="3364992"/>
            <a:ext cx="4937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Valion Security Llc</a:t>
            </a:r>
            <a:endParaRPr/>
          </a:p>
        </p:txBody>
      </p:sp>
      <p:sp>
        <p:nvSpPr>
          <p:cNvPr id="1208" name="Google Shape;1208;p10"/>
          <p:cNvSpPr txBox="1"/>
          <p:nvPr/>
        </p:nvSpPr>
        <p:spPr>
          <a:xfrm>
            <a:off x="868680" y="3566160"/>
            <a:ext cx="4937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GWP $2,269,517  |  Subs 521  |  Binds 78  |  HR 15.0%</a:t>
            </a:r>
            <a:endParaRPr/>
          </a:p>
        </p:txBody>
      </p:sp>
      <p:sp>
        <p:nvSpPr>
          <p:cNvPr id="1209" name="Google Shape;1209;p10"/>
          <p:cNvSpPr txBox="1"/>
          <p:nvPr/>
        </p:nvSpPr>
        <p:spPr>
          <a:xfrm>
            <a:off x="868680" y="3803904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65F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 15.0% (portfolio avg: 4.8%)  |  $2,269,517 YTD GWP</a:t>
            </a:r>
            <a:endParaRPr/>
          </a:p>
        </p:txBody>
      </p:sp>
      <p:sp>
        <p:nvSpPr>
          <p:cNvPr id="1210" name="Google Shape;1210;p10"/>
          <p:cNvSpPr/>
          <p:nvPr/>
        </p:nvSpPr>
        <p:spPr>
          <a:xfrm>
            <a:off x="411480" y="438912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211" name="Google Shape;1211;p10"/>
          <p:cNvSpPr txBox="1"/>
          <p:nvPr/>
        </p:nvSpPr>
        <p:spPr>
          <a:xfrm>
            <a:off x="868680" y="4370832"/>
            <a:ext cx="4937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Prestige International Insurance Group Inc</a:t>
            </a:r>
            <a:endParaRPr/>
          </a:p>
        </p:txBody>
      </p:sp>
      <p:sp>
        <p:nvSpPr>
          <p:cNvPr id="1212" name="Google Shape;1212;p10"/>
          <p:cNvSpPr txBox="1"/>
          <p:nvPr/>
        </p:nvSpPr>
        <p:spPr>
          <a:xfrm>
            <a:off x="868680" y="4572000"/>
            <a:ext cx="4937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GWP $1,417,112  |  Subs 1486  |  Binds 51  |  HR 3.4%</a:t>
            </a:r>
            <a:endParaRPr/>
          </a:p>
        </p:txBody>
      </p:sp>
      <p:sp>
        <p:nvSpPr>
          <p:cNvPr id="1213" name="Google Shape;1213;p10"/>
          <p:cNvSpPr txBox="1"/>
          <p:nvPr/>
        </p:nvSpPr>
        <p:spPr>
          <a:xfrm>
            <a:off x="868680" y="4809744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65F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$1,417,112 YTD GWP  |  51 binds in Q1</a:t>
            </a:r>
            <a:endParaRPr/>
          </a:p>
        </p:txBody>
      </p:sp>
      <p:sp>
        <p:nvSpPr>
          <p:cNvPr id="1214" name="Google Shape;1214;p10"/>
          <p:cNvSpPr/>
          <p:nvPr/>
        </p:nvSpPr>
        <p:spPr>
          <a:xfrm>
            <a:off x="411480" y="539496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215" name="Google Shape;1215;p10"/>
          <p:cNvSpPr txBox="1"/>
          <p:nvPr/>
        </p:nvSpPr>
        <p:spPr>
          <a:xfrm>
            <a:off x="868680" y="5376672"/>
            <a:ext cx="4937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Vantage Ins Llc</a:t>
            </a:r>
            <a:endParaRPr/>
          </a:p>
        </p:txBody>
      </p:sp>
      <p:sp>
        <p:nvSpPr>
          <p:cNvPr id="1216" name="Google Shape;1216;p10"/>
          <p:cNvSpPr txBox="1"/>
          <p:nvPr/>
        </p:nvSpPr>
        <p:spPr>
          <a:xfrm>
            <a:off x="868680" y="5577840"/>
            <a:ext cx="4937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GWP $860,378  |  Subs 799  |  Binds 19  |  HR 2.4%</a:t>
            </a:r>
            <a:endParaRPr/>
          </a:p>
        </p:txBody>
      </p:sp>
      <p:sp>
        <p:nvSpPr>
          <p:cNvPr id="1217" name="Google Shape;1217;p10"/>
          <p:cNvSpPr txBox="1"/>
          <p:nvPr/>
        </p:nvSpPr>
        <p:spPr>
          <a:xfrm>
            <a:off x="868680" y="5815584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65F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$860,378 YTD GWP  |  19 binds in Q1</a:t>
            </a:r>
            <a:endParaRPr/>
          </a:p>
        </p:txBody>
      </p:sp>
      <p:sp>
        <p:nvSpPr>
          <p:cNvPr id="1218" name="Google Shape;1218;p10"/>
          <p:cNvSpPr/>
          <p:nvPr/>
        </p:nvSpPr>
        <p:spPr>
          <a:xfrm>
            <a:off x="6382512" y="137160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219" name="Google Shape;1219;p10"/>
          <p:cNvSpPr txBox="1"/>
          <p:nvPr/>
        </p:nvSpPr>
        <p:spPr>
          <a:xfrm>
            <a:off x="6839712" y="1353312"/>
            <a:ext cx="4937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COASTAL TRUCKING INSURANCE LLC</a:t>
            </a:r>
            <a:endParaRPr/>
          </a:p>
        </p:txBody>
      </p:sp>
      <p:sp>
        <p:nvSpPr>
          <p:cNvPr id="1220" name="Google Shape;1220;p10"/>
          <p:cNvSpPr txBox="1"/>
          <p:nvPr/>
        </p:nvSpPr>
        <p:spPr>
          <a:xfrm>
            <a:off x="6839712" y="1554480"/>
            <a:ext cx="4937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GWP $42,841  |  Subs 292  |  Binds 5  |  HR 1.7%</a:t>
            </a:r>
            <a:endParaRPr/>
          </a:p>
        </p:txBody>
      </p:sp>
      <p:sp>
        <p:nvSpPr>
          <p:cNvPr id="1221" name="Google Shape;1221;p10"/>
          <p:cNvSpPr txBox="1"/>
          <p:nvPr/>
        </p:nvSpPr>
        <p:spPr>
          <a:xfrm>
            <a:off x="6839712" y="1792224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 only 1.7% on 292 subs  |  Cancellations are 157% of new business ($43,323 vs $27,571)</a:t>
            </a:r>
            <a:endParaRPr/>
          </a:p>
        </p:txBody>
      </p:sp>
      <p:sp>
        <p:nvSpPr>
          <p:cNvPr id="1222" name="Google Shape;1222;p10"/>
          <p:cNvSpPr/>
          <p:nvPr/>
        </p:nvSpPr>
        <p:spPr>
          <a:xfrm>
            <a:off x="6382512" y="237744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223" name="Google Shape;1223;p10"/>
          <p:cNvSpPr txBox="1"/>
          <p:nvPr/>
        </p:nvSpPr>
        <p:spPr>
          <a:xfrm>
            <a:off x="6839712" y="2359152"/>
            <a:ext cx="4937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Peco Insurance LLC</a:t>
            </a:r>
            <a:endParaRPr/>
          </a:p>
        </p:txBody>
      </p:sp>
      <p:sp>
        <p:nvSpPr>
          <p:cNvPr id="1224" name="Google Shape;1224;p10"/>
          <p:cNvSpPr txBox="1"/>
          <p:nvPr/>
        </p:nvSpPr>
        <p:spPr>
          <a:xfrm>
            <a:off x="6839712" y="2560320"/>
            <a:ext cx="4937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GWP $351,233  |  Subs 170  |  Binds 21  |  HR 12.4%</a:t>
            </a:r>
            <a:endParaRPr/>
          </a:p>
        </p:txBody>
      </p:sp>
      <p:sp>
        <p:nvSpPr>
          <p:cNvPr id="1225" name="Google Shape;1225;p10"/>
          <p:cNvSpPr txBox="1"/>
          <p:nvPr/>
        </p:nvSpPr>
        <p:spPr>
          <a:xfrm>
            <a:off x="6839712" y="2798064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 are 317% of new business ($261,730 vs $82,561)  |  Submissions dropped 95% MoM (20 -&gt; 1)</a:t>
            </a:r>
            <a:endParaRPr/>
          </a:p>
        </p:txBody>
      </p:sp>
      <p:sp>
        <p:nvSpPr>
          <p:cNvPr id="1226" name="Google Shape;1226;p10"/>
          <p:cNvSpPr/>
          <p:nvPr/>
        </p:nvSpPr>
        <p:spPr>
          <a:xfrm>
            <a:off x="6382512" y="338328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227" name="Google Shape;1227;p10"/>
          <p:cNvSpPr txBox="1"/>
          <p:nvPr/>
        </p:nvSpPr>
        <p:spPr>
          <a:xfrm>
            <a:off x="6839712" y="3364992"/>
            <a:ext cx="4937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Interglobal Insurance Company</a:t>
            </a:r>
            <a:endParaRPr/>
          </a:p>
        </p:txBody>
      </p:sp>
      <p:sp>
        <p:nvSpPr>
          <p:cNvPr id="1228" name="Google Shape;1228;p10"/>
          <p:cNvSpPr txBox="1"/>
          <p:nvPr/>
        </p:nvSpPr>
        <p:spPr>
          <a:xfrm>
            <a:off x="6839712" y="3566160"/>
            <a:ext cx="4937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GWP $915  |  Subs 186  |  Binds 1  |  HR 0.5%</a:t>
            </a:r>
            <a:endParaRPr/>
          </a:p>
        </p:txBody>
      </p:sp>
      <p:sp>
        <p:nvSpPr>
          <p:cNvPr id="1229" name="Google Shape;1229;p10"/>
          <p:cNvSpPr txBox="1"/>
          <p:nvPr/>
        </p:nvSpPr>
        <p:spPr>
          <a:xfrm>
            <a:off x="6839712" y="3803904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 only 0.5% on 186 subs</a:t>
            </a:r>
            <a:endParaRPr/>
          </a:p>
        </p:txBody>
      </p:sp>
      <p:sp>
        <p:nvSpPr>
          <p:cNvPr id="1230" name="Google Shape;1230;p10"/>
          <p:cNvSpPr/>
          <p:nvPr/>
        </p:nvSpPr>
        <p:spPr>
          <a:xfrm>
            <a:off x="6382512" y="438912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231" name="Google Shape;1231;p10"/>
          <p:cNvSpPr txBox="1"/>
          <p:nvPr/>
        </p:nvSpPr>
        <p:spPr>
          <a:xfrm>
            <a:off x="6839712" y="4370832"/>
            <a:ext cx="4937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Durham Specialty Insurance LLC</a:t>
            </a:r>
            <a:endParaRPr/>
          </a:p>
        </p:txBody>
      </p:sp>
      <p:sp>
        <p:nvSpPr>
          <p:cNvPr id="1232" name="Google Shape;1232;p10"/>
          <p:cNvSpPr txBox="1"/>
          <p:nvPr/>
        </p:nvSpPr>
        <p:spPr>
          <a:xfrm>
            <a:off x="6839712" y="4572000"/>
            <a:ext cx="4937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GWP $9,109  |  Subs 19  |  Binds 0  |  HR 0.0%</a:t>
            </a:r>
            <a:endParaRPr/>
          </a:p>
        </p:txBody>
      </p:sp>
      <p:sp>
        <p:nvSpPr>
          <p:cNvPr id="1233" name="Google Shape;1233;p10"/>
          <p:cNvSpPr txBox="1"/>
          <p:nvPr/>
        </p:nvSpPr>
        <p:spPr>
          <a:xfrm>
            <a:off x="6839712" y="4809744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 submissions with 0 binds - zero conversion  |  15 quotes generated but 0 converted to binds</a:t>
            </a:r>
            <a:endParaRPr/>
          </a:p>
        </p:txBody>
      </p:sp>
      <p:sp>
        <p:nvSpPr>
          <p:cNvPr id="1234" name="Google Shape;1234;p10"/>
          <p:cNvSpPr/>
          <p:nvPr/>
        </p:nvSpPr>
        <p:spPr>
          <a:xfrm>
            <a:off x="6382512" y="539496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235" name="Google Shape;1235;p10"/>
          <p:cNvSpPr txBox="1"/>
          <p:nvPr/>
        </p:nvSpPr>
        <p:spPr>
          <a:xfrm>
            <a:off x="6839712" y="5376672"/>
            <a:ext cx="4937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Risk Management Group, Inc</a:t>
            </a:r>
            <a:endParaRPr/>
          </a:p>
        </p:txBody>
      </p:sp>
      <p:sp>
        <p:nvSpPr>
          <p:cNvPr id="1236" name="Google Shape;1236;p10"/>
          <p:cNvSpPr txBox="1"/>
          <p:nvPr/>
        </p:nvSpPr>
        <p:spPr>
          <a:xfrm>
            <a:off x="6839712" y="5577840"/>
            <a:ext cx="4937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GWP $-6,605  |  Subs 14  |  Binds 0  |  HR 0.0%</a:t>
            </a:r>
            <a:endParaRPr/>
          </a:p>
        </p:txBody>
      </p:sp>
      <p:sp>
        <p:nvSpPr>
          <p:cNvPr id="1237" name="Google Shape;1237;p10"/>
          <p:cNvSpPr txBox="1"/>
          <p:nvPr/>
        </p:nvSpPr>
        <p:spPr>
          <a:xfrm>
            <a:off x="6839712" y="5815584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 submissions with 0 binds - zero conversion  |  Negative net written premium: $-6,605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1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3" name="Google Shape;1243;p11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Agencies I Appointed — Ron Douglas</a:t>
            </a:r>
            <a:endParaRPr/>
          </a:p>
        </p:txBody>
      </p:sp>
      <p:sp>
        <p:nvSpPr>
          <p:cNvPr id="1244" name="Google Shape;1244;p11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4B5F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OKR 4 progress  |  Q2 goal: 4 new producing agencies  |  Source: HubSpot Net New Agency / Activated Won</a:t>
            </a:r>
            <a:endParaRPr/>
          </a:p>
        </p:txBody>
      </p:sp>
      <p:sp>
        <p:nvSpPr>
          <p:cNvPr id="1245" name="Google Shape;1245;p11"/>
          <p:cNvSpPr/>
          <p:nvPr/>
        </p:nvSpPr>
        <p:spPr>
          <a:xfrm>
            <a:off x="365760" y="960120"/>
            <a:ext cx="2286000" cy="86868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 of 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Q2 OKR 4 PROGRESS</a:t>
            </a:r>
            <a:endParaRPr/>
          </a:p>
        </p:txBody>
      </p:sp>
      <p:sp>
        <p:nvSpPr>
          <p:cNvPr id="1246" name="Google Shape;1246;p11"/>
          <p:cNvSpPr/>
          <p:nvPr/>
        </p:nvSpPr>
        <p:spPr>
          <a:xfrm>
            <a:off x="2743200" y="960120"/>
            <a:ext cx="2286000" cy="86868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APPOINTED YTD</a:t>
            </a:r>
            <a:endParaRPr/>
          </a:p>
        </p:txBody>
      </p:sp>
      <p:sp>
        <p:nvSpPr>
          <p:cNvPr id="1247" name="Google Shape;1247;p11"/>
          <p:cNvSpPr/>
          <p:nvPr/>
        </p:nvSpPr>
        <p:spPr>
          <a:xfrm>
            <a:off x="5120640" y="960120"/>
            <a:ext cx="2286000" cy="86868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AVG TIME TO 1ST SUB</a:t>
            </a:r>
            <a:endParaRPr/>
          </a:p>
        </p:txBody>
      </p:sp>
      <p:sp>
        <p:nvSpPr>
          <p:cNvPr id="1248" name="Google Shape;1248;p11"/>
          <p:cNvSpPr/>
          <p:nvPr/>
        </p:nvSpPr>
        <p:spPr>
          <a:xfrm>
            <a:off x="7498079" y="960120"/>
            <a:ext cx="2286000" cy="86868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AVG TIME TO 1ST BIND</a:t>
            </a:r>
            <a:endParaRPr/>
          </a:p>
        </p:txBody>
      </p:sp>
      <p:sp>
        <p:nvSpPr>
          <p:cNvPr id="1249" name="Google Shape;1249;p11"/>
          <p:cNvSpPr/>
          <p:nvPr/>
        </p:nvSpPr>
        <p:spPr>
          <a:xfrm>
            <a:off x="9875520" y="960120"/>
            <a:ext cx="2286000" cy="86868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TOTAL SUBS POST-APPT</a:t>
            </a:r>
            <a:endParaRPr/>
          </a:p>
        </p:txBody>
      </p:sp>
      <p:sp>
        <p:nvSpPr>
          <p:cNvPr id="1250" name="Google Shape;1250;p11"/>
          <p:cNvSpPr txBox="1"/>
          <p:nvPr/>
        </p:nvSpPr>
        <p:spPr>
          <a:xfrm>
            <a:off x="457200" y="192024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Activation: 0/5 appointed agencies have submitted (0%)  •  0/5 have bound (0%)  •  Total bound: 0  •  Total GWP: $0</a:t>
            </a:r>
            <a:endParaRPr/>
          </a:p>
        </p:txBody>
      </p:sp>
      <p:sp>
        <p:nvSpPr>
          <p:cNvPr id="1251" name="Google Shape;1251;p11"/>
          <p:cNvSpPr/>
          <p:nvPr/>
        </p:nvSpPr>
        <p:spPr>
          <a:xfrm>
            <a:off x="365760" y="2240280"/>
            <a:ext cx="11430000" cy="27432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11"/>
          <p:cNvSpPr txBox="1"/>
          <p:nvPr/>
        </p:nvSpPr>
        <p:spPr>
          <a:xfrm>
            <a:off x="475488" y="2276856"/>
            <a:ext cx="11247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APPOINTED AGENCIES (newest first)</a:t>
            </a:r>
            <a:endParaRPr/>
          </a:p>
        </p:txBody>
      </p:sp>
      <p:sp>
        <p:nvSpPr>
          <p:cNvPr id="1253" name="Google Shape;1253;p11"/>
          <p:cNvSpPr txBox="1"/>
          <p:nvPr/>
        </p:nvSpPr>
        <p:spPr>
          <a:xfrm>
            <a:off x="365760" y="2606040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Agency</a:t>
            </a:r>
            <a:endParaRPr/>
          </a:p>
        </p:txBody>
      </p:sp>
      <p:sp>
        <p:nvSpPr>
          <p:cNvPr id="1254" name="Google Shape;1254;p11"/>
          <p:cNvSpPr txBox="1"/>
          <p:nvPr/>
        </p:nvSpPr>
        <p:spPr>
          <a:xfrm>
            <a:off x="3657600" y="260604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Appointed</a:t>
            </a:r>
            <a:endParaRPr/>
          </a:p>
        </p:txBody>
      </p:sp>
      <p:sp>
        <p:nvSpPr>
          <p:cNvPr id="1255" name="Google Shape;1255;p11"/>
          <p:cNvSpPr txBox="1"/>
          <p:nvPr/>
        </p:nvSpPr>
        <p:spPr>
          <a:xfrm>
            <a:off x="4754880" y="2606040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Subs</a:t>
            </a:r>
            <a:endParaRPr/>
          </a:p>
        </p:txBody>
      </p:sp>
      <p:sp>
        <p:nvSpPr>
          <p:cNvPr id="1256" name="Google Shape;1256;p11"/>
          <p:cNvSpPr txBox="1"/>
          <p:nvPr/>
        </p:nvSpPr>
        <p:spPr>
          <a:xfrm>
            <a:off x="5623560" y="2606040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Days to 1st Sub</a:t>
            </a:r>
            <a:endParaRPr/>
          </a:p>
        </p:txBody>
      </p:sp>
      <p:sp>
        <p:nvSpPr>
          <p:cNvPr id="1257" name="Google Shape;1257;p11"/>
          <p:cNvSpPr txBox="1"/>
          <p:nvPr/>
        </p:nvSpPr>
        <p:spPr>
          <a:xfrm>
            <a:off x="6903720" y="2606040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1258" name="Google Shape;1258;p11"/>
          <p:cNvSpPr txBox="1"/>
          <p:nvPr/>
        </p:nvSpPr>
        <p:spPr>
          <a:xfrm>
            <a:off x="7772400" y="260604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Days to 1st Bind</a:t>
            </a:r>
            <a:endParaRPr/>
          </a:p>
        </p:txBody>
      </p:sp>
      <p:sp>
        <p:nvSpPr>
          <p:cNvPr id="1259" name="Google Shape;1259;p11"/>
          <p:cNvSpPr txBox="1"/>
          <p:nvPr/>
        </p:nvSpPr>
        <p:spPr>
          <a:xfrm>
            <a:off x="9144000" y="260604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GWP</a:t>
            </a:r>
            <a:endParaRPr/>
          </a:p>
        </p:txBody>
      </p:sp>
      <p:sp>
        <p:nvSpPr>
          <p:cNvPr id="1260" name="Google Shape;1260;p11"/>
          <p:cNvSpPr/>
          <p:nvPr/>
        </p:nvSpPr>
        <p:spPr>
          <a:xfrm>
            <a:off x="365760" y="2880360"/>
            <a:ext cx="10149840" cy="310896"/>
          </a:xfrm>
          <a:prstGeom prst="rect">
            <a:avLst/>
          </a:prstGeom>
          <a:solidFill>
            <a:srgbClr val="FAF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1" name="Google Shape;1261;p11"/>
          <p:cNvSpPr txBox="1"/>
          <p:nvPr/>
        </p:nvSpPr>
        <p:spPr>
          <a:xfrm>
            <a:off x="365760" y="2916936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Classic Truck Insurance</a:t>
            </a:r>
            <a:endParaRPr/>
          </a:p>
        </p:txBody>
      </p:sp>
      <p:sp>
        <p:nvSpPr>
          <p:cNvPr id="1262" name="Google Shape;1262;p11"/>
          <p:cNvSpPr txBox="1"/>
          <p:nvPr/>
        </p:nvSpPr>
        <p:spPr>
          <a:xfrm>
            <a:off x="3657600" y="291693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2026-05-21</a:t>
            </a:r>
            <a:endParaRPr/>
          </a:p>
        </p:txBody>
      </p:sp>
      <p:sp>
        <p:nvSpPr>
          <p:cNvPr id="1263" name="Google Shape;1263;p11"/>
          <p:cNvSpPr txBox="1"/>
          <p:nvPr/>
        </p:nvSpPr>
        <p:spPr>
          <a:xfrm>
            <a:off x="4754880" y="2916936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1264" name="Google Shape;1264;p11"/>
          <p:cNvSpPr txBox="1"/>
          <p:nvPr/>
        </p:nvSpPr>
        <p:spPr>
          <a:xfrm>
            <a:off x="5623560" y="2916936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</a:t>
            </a:r>
            <a:endParaRPr/>
          </a:p>
        </p:txBody>
      </p:sp>
      <p:sp>
        <p:nvSpPr>
          <p:cNvPr id="1265" name="Google Shape;1265;p11"/>
          <p:cNvSpPr txBox="1"/>
          <p:nvPr/>
        </p:nvSpPr>
        <p:spPr>
          <a:xfrm>
            <a:off x="6903720" y="2916936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1266" name="Google Shape;1266;p11"/>
          <p:cNvSpPr txBox="1"/>
          <p:nvPr/>
        </p:nvSpPr>
        <p:spPr>
          <a:xfrm>
            <a:off x="7772400" y="2916936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</a:t>
            </a:r>
            <a:endParaRPr/>
          </a:p>
        </p:txBody>
      </p:sp>
      <p:sp>
        <p:nvSpPr>
          <p:cNvPr id="1267" name="Google Shape;1267;p11"/>
          <p:cNvSpPr txBox="1"/>
          <p:nvPr/>
        </p:nvSpPr>
        <p:spPr>
          <a:xfrm>
            <a:off x="9144000" y="2916936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</a:t>
            </a:r>
            <a:endParaRPr/>
          </a:p>
        </p:txBody>
      </p:sp>
      <p:sp>
        <p:nvSpPr>
          <p:cNvPr id="1268" name="Google Shape;1268;p11"/>
          <p:cNvSpPr txBox="1"/>
          <p:nvPr/>
        </p:nvSpPr>
        <p:spPr>
          <a:xfrm>
            <a:off x="365760" y="322783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Deal created/pending paperwork - The Associate</a:t>
            </a:r>
            <a:endParaRPr/>
          </a:p>
        </p:txBody>
      </p:sp>
      <p:sp>
        <p:nvSpPr>
          <p:cNvPr id="1269" name="Google Shape;1269;p11"/>
          <p:cNvSpPr txBox="1"/>
          <p:nvPr/>
        </p:nvSpPr>
        <p:spPr>
          <a:xfrm>
            <a:off x="3657600" y="322783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2026-04-23</a:t>
            </a:r>
            <a:endParaRPr/>
          </a:p>
        </p:txBody>
      </p:sp>
      <p:sp>
        <p:nvSpPr>
          <p:cNvPr id="1270" name="Google Shape;1270;p11"/>
          <p:cNvSpPr txBox="1"/>
          <p:nvPr/>
        </p:nvSpPr>
        <p:spPr>
          <a:xfrm>
            <a:off x="4754880" y="3227832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1271" name="Google Shape;1271;p11"/>
          <p:cNvSpPr txBox="1"/>
          <p:nvPr/>
        </p:nvSpPr>
        <p:spPr>
          <a:xfrm>
            <a:off x="5623560" y="322783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</a:t>
            </a:r>
            <a:endParaRPr/>
          </a:p>
        </p:txBody>
      </p:sp>
      <p:sp>
        <p:nvSpPr>
          <p:cNvPr id="1272" name="Google Shape;1272;p11"/>
          <p:cNvSpPr txBox="1"/>
          <p:nvPr/>
        </p:nvSpPr>
        <p:spPr>
          <a:xfrm>
            <a:off x="6903720" y="3227832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1273" name="Google Shape;1273;p11"/>
          <p:cNvSpPr txBox="1"/>
          <p:nvPr/>
        </p:nvSpPr>
        <p:spPr>
          <a:xfrm>
            <a:off x="7772400" y="322783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</a:t>
            </a:r>
            <a:endParaRPr/>
          </a:p>
        </p:txBody>
      </p:sp>
      <p:sp>
        <p:nvSpPr>
          <p:cNvPr id="1274" name="Google Shape;1274;p11"/>
          <p:cNvSpPr txBox="1"/>
          <p:nvPr/>
        </p:nvSpPr>
        <p:spPr>
          <a:xfrm>
            <a:off x="9144000" y="322783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</a:t>
            </a:r>
            <a:endParaRPr/>
          </a:p>
        </p:txBody>
      </p:sp>
      <p:sp>
        <p:nvSpPr>
          <p:cNvPr id="1275" name="Google Shape;1275;p11"/>
          <p:cNvSpPr/>
          <p:nvPr/>
        </p:nvSpPr>
        <p:spPr>
          <a:xfrm>
            <a:off x="365760" y="3502151"/>
            <a:ext cx="10149840" cy="310896"/>
          </a:xfrm>
          <a:prstGeom prst="rect">
            <a:avLst/>
          </a:prstGeom>
          <a:solidFill>
            <a:srgbClr val="FAF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6" name="Google Shape;1276;p11"/>
          <p:cNvSpPr txBox="1"/>
          <p:nvPr/>
        </p:nvSpPr>
        <p:spPr>
          <a:xfrm>
            <a:off x="365760" y="3538727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deal received - 10K Insurance Services Inc</a:t>
            </a:r>
            <a:endParaRPr/>
          </a:p>
        </p:txBody>
      </p:sp>
      <p:sp>
        <p:nvSpPr>
          <p:cNvPr id="1277" name="Google Shape;1277;p11"/>
          <p:cNvSpPr txBox="1"/>
          <p:nvPr/>
        </p:nvSpPr>
        <p:spPr>
          <a:xfrm>
            <a:off x="3657600" y="3538727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2026-04-17</a:t>
            </a:r>
            <a:endParaRPr/>
          </a:p>
        </p:txBody>
      </p:sp>
      <p:sp>
        <p:nvSpPr>
          <p:cNvPr id="1278" name="Google Shape;1278;p11"/>
          <p:cNvSpPr txBox="1"/>
          <p:nvPr/>
        </p:nvSpPr>
        <p:spPr>
          <a:xfrm>
            <a:off x="4754880" y="3538727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1279" name="Google Shape;1279;p11"/>
          <p:cNvSpPr txBox="1"/>
          <p:nvPr/>
        </p:nvSpPr>
        <p:spPr>
          <a:xfrm>
            <a:off x="5623560" y="3538727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</a:t>
            </a:r>
            <a:endParaRPr/>
          </a:p>
        </p:txBody>
      </p:sp>
      <p:sp>
        <p:nvSpPr>
          <p:cNvPr id="1280" name="Google Shape;1280;p11"/>
          <p:cNvSpPr txBox="1"/>
          <p:nvPr/>
        </p:nvSpPr>
        <p:spPr>
          <a:xfrm>
            <a:off x="6903720" y="3538727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1281" name="Google Shape;1281;p11"/>
          <p:cNvSpPr txBox="1"/>
          <p:nvPr/>
        </p:nvSpPr>
        <p:spPr>
          <a:xfrm>
            <a:off x="7772400" y="3538727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</a:t>
            </a:r>
            <a:endParaRPr/>
          </a:p>
        </p:txBody>
      </p:sp>
      <p:sp>
        <p:nvSpPr>
          <p:cNvPr id="1282" name="Google Shape;1282;p11"/>
          <p:cNvSpPr txBox="1"/>
          <p:nvPr/>
        </p:nvSpPr>
        <p:spPr>
          <a:xfrm>
            <a:off x="9144000" y="3538727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</a:t>
            </a:r>
            <a:endParaRPr/>
          </a:p>
        </p:txBody>
      </p:sp>
      <p:sp>
        <p:nvSpPr>
          <p:cNvPr id="1283" name="Google Shape;1283;p11"/>
          <p:cNvSpPr txBox="1"/>
          <p:nvPr/>
        </p:nvSpPr>
        <p:spPr>
          <a:xfrm>
            <a:off x="365760" y="3849624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Alvix Insurance Group</a:t>
            </a:r>
            <a:endParaRPr/>
          </a:p>
        </p:txBody>
      </p:sp>
      <p:sp>
        <p:nvSpPr>
          <p:cNvPr id="1284" name="Google Shape;1284;p11"/>
          <p:cNvSpPr txBox="1"/>
          <p:nvPr/>
        </p:nvSpPr>
        <p:spPr>
          <a:xfrm>
            <a:off x="3657600" y="3849624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2026-04-15</a:t>
            </a:r>
            <a:endParaRPr/>
          </a:p>
        </p:txBody>
      </p:sp>
      <p:sp>
        <p:nvSpPr>
          <p:cNvPr id="1285" name="Google Shape;1285;p11"/>
          <p:cNvSpPr txBox="1"/>
          <p:nvPr/>
        </p:nvSpPr>
        <p:spPr>
          <a:xfrm>
            <a:off x="4754880" y="3849624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1286" name="Google Shape;1286;p11"/>
          <p:cNvSpPr txBox="1"/>
          <p:nvPr/>
        </p:nvSpPr>
        <p:spPr>
          <a:xfrm>
            <a:off x="5623560" y="3849624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</a:t>
            </a:r>
            <a:endParaRPr/>
          </a:p>
        </p:txBody>
      </p:sp>
      <p:sp>
        <p:nvSpPr>
          <p:cNvPr id="1287" name="Google Shape;1287;p11"/>
          <p:cNvSpPr txBox="1"/>
          <p:nvPr/>
        </p:nvSpPr>
        <p:spPr>
          <a:xfrm>
            <a:off x="6903720" y="3849624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1288" name="Google Shape;1288;p11"/>
          <p:cNvSpPr txBox="1"/>
          <p:nvPr/>
        </p:nvSpPr>
        <p:spPr>
          <a:xfrm>
            <a:off x="7772400" y="3849624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</a:t>
            </a:r>
            <a:endParaRPr/>
          </a:p>
        </p:txBody>
      </p:sp>
      <p:sp>
        <p:nvSpPr>
          <p:cNvPr id="1289" name="Google Shape;1289;p11"/>
          <p:cNvSpPr txBox="1"/>
          <p:nvPr/>
        </p:nvSpPr>
        <p:spPr>
          <a:xfrm>
            <a:off x="9144000" y="3849624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</a:t>
            </a:r>
            <a:endParaRPr/>
          </a:p>
        </p:txBody>
      </p:sp>
      <p:sp>
        <p:nvSpPr>
          <p:cNvPr id="1290" name="Google Shape;1290;p11"/>
          <p:cNvSpPr/>
          <p:nvPr/>
        </p:nvSpPr>
        <p:spPr>
          <a:xfrm>
            <a:off x="365760" y="4123944"/>
            <a:ext cx="10149840" cy="310896"/>
          </a:xfrm>
          <a:prstGeom prst="rect">
            <a:avLst/>
          </a:prstGeom>
          <a:solidFill>
            <a:srgbClr val="FAF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1" name="Google Shape;1291;p11"/>
          <p:cNvSpPr txBox="1"/>
          <p:nvPr/>
        </p:nvSpPr>
        <p:spPr>
          <a:xfrm>
            <a:off x="365760" y="416052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Salter Insurance Agency</a:t>
            </a:r>
            <a:endParaRPr/>
          </a:p>
        </p:txBody>
      </p:sp>
      <p:sp>
        <p:nvSpPr>
          <p:cNvPr id="1292" name="Google Shape;1292;p11"/>
          <p:cNvSpPr txBox="1"/>
          <p:nvPr/>
        </p:nvSpPr>
        <p:spPr>
          <a:xfrm>
            <a:off x="3657600" y="416052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2026-03-19</a:t>
            </a:r>
            <a:endParaRPr/>
          </a:p>
        </p:txBody>
      </p:sp>
      <p:sp>
        <p:nvSpPr>
          <p:cNvPr id="1293" name="Google Shape;1293;p11"/>
          <p:cNvSpPr txBox="1"/>
          <p:nvPr/>
        </p:nvSpPr>
        <p:spPr>
          <a:xfrm>
            <a:off x="4754880" y="4160520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1294" name="Google Shape;1294;p11"/>
          <p:cNvSpPr txBox="1"/>
          <p:nvPr/>
        </p:nvSpPr>
        <p:spPr>
          <a:xfrm>
            <a:off x="5623560" y="4160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</a:t>
            </a:r>
            <a:endParaRPr/>
          </a:p>
        </p:txBody>
      </p:sp>
      <p:sp>
        <p:nvSpPr>
          <p:cNvPr id="1295" name="Google Shape;1295;p11"/>
          <p:cNvSpPr txBox="1"/>
          <p:nvPr/>
        </p:nvSpPr>
        <p:spPr>
          <a:xfrm>
            <a:off x="6903720" y="4160520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1296" name="Google Shape;1296;p11"/>
          <p:cNvSpPr txBox="1"/>
          <p:nvPr/>
        </p:nvSpPr>
        <p:spPr>
          <a:xfrm>
            <a:off x="7772400" y="41605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</a:t>
            </a:r>
            <a:endParaRPr/>
          </a:p>
        </p:txBody>
      </p:sp>
      <p:sp>
        <p:nvSpPr>
          <p:cNvPr id="1297" name="Google Shape;1297;p11"/>
          <p:cNvSpPr txBox="1"/>
          <p:nvPr/>
        </p:nvSpPr>
        <p:spPr>
          <a:xfrm>
            <a:off x="9144000" y="41605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</a:t>
            </a:r>
            <a:endParaRPr/>
          </a:p>
        </p:txBody>
      </p:sp>
      <p:sp>
        <p:nvSpPr>
          <p:cNvPr id="1298" name="Google Shape;1298;p11"/>
          <p:cNvSpPr txBox="1"/>
          <p:nvPr/>
        </p:nvSpPr>
        <p:spPr>
          <a:xfrm>
            <a:off x="365760" y="6492240"/>
            <a:ext cx="11430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OKR 4 source: HubSpot Net New Agency Prospect Pipeline · Activated Won stage · only 'Appointed - ' prefix deals count (matches BD Rep Scoreboard). BDMs scored on count vs goal of 4/quarter.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p1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4" name="Google Shape;1304;p1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Strategic Assessment &amp; Priorities</a:t>
            </a:r>
            <a:endParaRPr/>
          </a:p>
        </p:txBody>
      </p:sp>
      <p:sp>
        <p:nvSpPr>
          <p:cNvPr id="1305" name="Google Shape;1305;p12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4B5F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Ron Douglas Portfolio  |  Jan–Jun 2026  |  Strengths, gaps, and ranked action items</a:t>
            </a:r>
            <a:endParaRPr/>
          </a:p>
        </p:txBody>
      </p:sp>
      <p:sp>
        <p:nvSpPr>
          <p:cNvPr id="1306" name="Google Shape;1306;p12"/>
          <p:cNvSpPr/>
          <p:nvPr/>
        </p:nvSpPr>
        <p:spPr>
          <a:xfrm>
            <a:off x="365760" y="914400"/>
            <a:ext cx="5486400" cy="365760"/>
          </a:xfrm>
          <a:prstGeom prst="rect">
            <a:avLst/>
          </a:prstGeom>
          <a:solidFill>
            <a:srgbClr val="D1FA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7" name="Google Shape;1307;p12"/>
          <p:cNvSpPr txBox="1"/>
          <p:nvPr/>
        </p:nvSpPr>
        <p:spPr>
          <a:xfrm>
            <a:off x="502920" y="9601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65F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STRENGTHS - What's Working</a:t>
            </a:r>
            <a:endParaRPr/>
          </a:p>
        </p:txBody>
      </p:sp>
      <p:sp>
        <p:nvSpPr>
          <p:cNvPr id="1308" name="Google Shape;1308;p12"/>
          <p:cNvSpPr txBox="1"/>
          <p:nvPr/>
        </p:nvSpPr>
        <p:spPr>
          <a:xfrm>
            <a:off x="457200" y="137160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1309" name="Google Shape;1309;p12"/>
          <p:cNvSpPr txBox="1"/>
          <p:nvPr/>
        </p:nvSpPr>
        <p:spPr>
          <a:xfrm>
            <a:off x="640080" y="137160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Top 3 (Usa Specialty Insurance/d, Insurance4truckers Llc, Valion Security Llc) drive $13,114,855 (69%) of portfolio YTD GWP</a:t>
            </a:r>
            <a:endParaRPr/>
          </a:p>
        </p:txBody>
      </p:sp>
      <p:sp>
        <p:nvSpPr>
          <p:cNvPr id="1310" name="Google Shape;1310;p12"/>
          <p:cNvSpPr txBox="1"/>
          <p:nvPr/>
        </p:nvSpPr>
        <p:spPr>
          <a:xfrm>
            <a:off x="457200" y="1682496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1311" name="Google Shape;1311;p12"/>
          <p:cNvSpPr txBox="1"/>
          <p:nvPr/>
        </p:nvSpPr>
        <p:spPr>
          <a:xfrm>
            <a:off x="640080" y="1682496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Strong hit ratios: Lynne Ernest Insuran (20.8%), Ameritrans Risk Solu (20.0%), Eagle Insurance Agen (19.0%)</a:t>
            </a:r>
            <a:endParaRPr/>
          </a:p>
        </p:txBody>
      </p:sp>
      <p:sp>
        <p:nvSpPr>
          <p:cNvPr id="1312" name="Google Shape;1312;p12"/>
          <p:cNvSpPr txBox="1"/>
          <p:nvPr/>
        </p:nvSpPr>
        <p:spPr>
          <a:xfrm>
            <a:off x="457200" y="1993392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1313" name="Google Shape;1313;p12"/>
          <p:cNvSpPr txBox="1"/>
          <p:nvPr/>
        </p:nvSpPr>
        <p:spPr>
          <a:xfrm>
            <a:off x="640080" y="1993392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32 agencies converting submissions to bound business in Jan–Jun 2026</a:t>
            </a:r>
            <a:endParaRPr/>
          </a:p>
        </p:txBody>
      </p:sp>
      <p:sp>
        <p:nvSpPr>
          <p:cNvPr id="1314" name="Google Shape;1314;p12"/>
          <p:cNvSpPr txBox="1"/>
          <p:nvPr/>
        </p:nvSpPr>
        <p:spPr>
          <a:xfrm>
            <a:off x="457200" y="2304288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1315" name="Google Shape;1315;p12"/>
          <p:cNvSpPr txBox="1"/>
          <p:nvPr/>
        </p:nvSpPr>
        <p:spPr>
          <a:xfrm>
            <a:off x="640080" y="230428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14,585 total submissions across 34 active agencies</a:t>
            </a:r>
            <a:endParaRPr/>
          </a:p>
        </p:txBody>
      </p:sp>
      <p:sp>
        <p:nvSpPr>
          <p:cNvPr id="1316" name="Google Shape;1316;p12"/>
          <p:cNvSpPr/>
          <p:nvPr/>
        </p:nvSpPr>
        <p:spPr>
          <a:xfrm>
            <a:off x="6217920" y="914400"/>
            <a:ext cx="5486400" cy="365760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p12"/>
          <p:cNvSpPr txBox="1"/>
          <p:nvPr/>
        </p:nvSpPr>
        <p:spPr>
          <a:xfrm>
            <a:off x="6355080" y="9601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NEEDS ATTENTION - Areas for Improvement</a:t>
            </a:r>
            <a:endParaRPr/>
          </a:p>
        </p:txBody>
      </p:sp>
      <p:sp>
        <p:nvSpPr>
          <p:cNvPr id="1318" name="Google Shape;1318;p12"/>
          <p:cNvSpPr txBox="1"/>
          <p:nvPr/>
        </p:nvSpPr>
        <p:spPr>
          <a:xfrm>
            <a:off x="6309359" y="137160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1319" name="Google Shape;1319;p12"/>
          <p:cNvSpPr txBox="1"/>
          <p:nvPr/>
        </p:nvSpPr>
        <p:spPr>
          <a:xfrm>
            <a:off x="6492240" y="137160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 agencies submitting but 0 binds (33 subs): Durham Specialty Ins (19), The Risk Management  (14)</a:t>
            </a:r>
            <a:endParaRPr/>
          </a:p>
        </p:txBody>
      </p:sp>
      <p:sp>
        <p:nvSpPr>
          <p:cNvPr id="1320" name="Google Shape;1320;p12"/>
          <p:cNvSpPr txBox="1"/>
          <p:nvPr/>
        </p:nvSpPr>
        <p:spPr>
          <a:xfrm>
            <a:off x="6309359" y="1682496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1321" name="Google Shape;1321;p12"/>
          <p:cNvSpPr txBox="1"/>
          <p:nvPr/>
        </p:nvSpPr>
        <p:spPr>
          <a:xfrm>
            <a:off x="6492240" y="1682496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Low hit ratios need coaching: Interglobal Insuranc (0.5%), COASTAL TRUCKING INS (1.7%), S &amp; R Agency LLC (1.8%)</a:t>
            </a:r>
            <a:endParaRPr/>
          </a:p>
        </p:txBody>
      </p:sp>
      <p:sp>
        <p:nvSpPr>
          <p:cNvPr id="1322" name="Google Shape;1322;p12"/>
          <p:cNvSpPr txBox="1"/>
          <p:nvPr/>
        </p:nvSpPr>
        <p:spPr>
          <a:xfrm>
            <a:off x="6309359" y="1993392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1323" name="Google Shape;1323;p12"/>
          <p:cNvSpPr txBox="1"/>
          <p:nvPr/>
        </p:nvSpPr>
        <p:spPr>
          <a:xfrm>
            <a:off x="6492240" y="1993392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Overall portfolio hit ratio 4.8% — below 5-8% target</a:t>
            </a:r>
            <a:endParaRPr/>
          </a:p>
        </p:txBody>
      </p:sp>
      <p:sp>
        <p:nvSpPr>
          <p:cNvPr id="1324" name="Google Shape;1324;p12"/>
          <p:cNvSpPr/>
          <p:nvPr/>
        </p:nvSpPr>
        <p:spPr>
          <a:xfrm>
            <a:off x="365760" y="2926080"/>
            <a:ext cx="11430000" cy="365760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5" name="Google Shape;1325;p12"/>
          <p:cNvSpPr txBox="1"/>
          <p:nvPr/>
        </p:nvSpPr>
        <p:spPr>
          <a:xfrm>
            <a:off x="548640" y="29718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TOP STRATEGIC PRIORITIES — Ranked by Estimated Impact</a:t>
            </a:r>
            <a:endParaRPr/>
          </a:p>
        </p:txBody>
      </p:sp>
      <p:sp>
        <p:nvSpPr>
          <p:cNvPr id="1326" name="Google Shape;1326;p12"/>
          <p:cNvSpPr/>
          <p:nvPr/>
        </p:nvSpPr>
        <p:spPr>
          <a:xfrm>
            <a:off x="274320" y="342900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327" name="Google Shape;1327;p12"/>
          <p:cNvSpPr txBox="1"/>
          <p:nvPr/>
        </p:nvSpPr>
        <p:spPr>
          <a:xfrm>
            <a:off x="777240" y="341071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Reduce Cancellation Rates</a:t>
            </a:r>
            <a:endParaRPr/>
          </a:p>
        </p:txBody>
      </p:sp>
      <p:sp>
        <p:nvSpPr>
          <p:cNvPr id="1328" name="Google Shape;1328;p12"/>
          <p:cNvSpPr txBox="1"/>
          <p:nvPr/>
        </p:nvSpPr>
        <p:spPr>
          <a:xfrm>
            <a:off x="777240" y="3639312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18 agencies with cancellations &gt;40% of new biz: Usa Specialty Insurance/d, Insurance4truckers Llc, Valion Security Llc. $8,007,457 total cancellations - investigate retention.</a:t>
            </a:r>
            <a:endParaRPr/>
          </a:p>
        </p:txBody>
      </p:sp>
      <p:sp>
        <p:nvSpPr>
          <p:cNvPr id="1329" name="Google Shape;1329;p12"/>
          <p:cNvSpPr/>
          <p:nvPr/>
        </p:nvSpPr>
        <p:spPr>
          <a:xfrm>
            <a:off x="274320" y="406908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30" name="Google Shape;1330;p12"/>
          <p:cNvSpPr txBox="1"/>
          <p:nvPr/>
        </p:nvSpPr>
        <p:spPr>
          <a:xfrm>
            <a:off x="777240" y="405079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Improve Low Hit Ratio Agencies</a:t>
            </a:r>
            <a:endParaRPr/>
          </a:p>
        </p:txBody>
      </p:sp>
      <p:sp>
        <p:nvSpPr>
          <p:cNvPr id="1331" name="Google Shape;1331;p12"/>
          <p:cNvSpPr txBox="1"/>
          <p:nvPr/>
        </p:nvSpPr>
        <p:spPr>
          <a:xfrm>
            <a:off x="777240" y="4279392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 agencies with 20+ subs but &lt;3% HR: Interglobal Insuranc (0.5%), COASTAL TRUCKING INS (1.7%), S &amp; R Agency LLC (1.8%). Conduct submission quality training to lift conversion 2-3 points.</a:t>
            </a:r>
            <a:endParaRPr/>
          </a:p>
        </p:txBody>
      </p:sp>
      <p:sp>
        <p:nvSpPr>
          <p:cNvPr id="1332" name="Google Shape;1332;p12"/>
          <p:cNvSpPr/>
          <p:nvPr/>
        </p:nvSpPr>
        <p:spPr>
          <a:xfrm>
            <a:off x="274320" y="470916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333" name="Google Shape;1333;p12"/>
          <p:cNvSpPr txBox="1"/>
          <p:nvPr/>
        </p:nvSpPr>
        <p:spPr>
          <a:xfrm>
            <a:off x="777240" y="46908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Develop High-Volume Growth Candidates</a:t>
            </a:r>
            <a:endParaRPr/>
          </a:p>
        </p:txBody>
      </p:sp>
      <p:sp>
        <p:nvSpPr>
          <p:cNvPr id="1334" name="Google Shape;1334;p12"/>
          <p:cNvSpPr txBox="1"/>
          <p:nvPr/>
        </p:nvSpPr>
        <p:spPr>
          <a:xfrm>
            <a:off x="777240" y="4919472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 agencies with 30+ subs and some binds but &lt;5% HR: Insurance4truckers L (5487s/125b), Prestige Internation (1486s/51b), Vantage Ins Llc (799s/19b). Small HR improvements on large volume = significant premium lift.</a:t>
            </a:r>
            <a:endParaRPr/>
          </a:p>
        </p:txBody>
      </p:sp>
      <p:sp>
        <p:nvSpPr>
          <p:cNvPr id="1335" name="Google Shape;1335;p12"/>
          <p:cNvSpPr/>
          <p:nvPr/>
        </p:nvSpPr>
        <p:spPr>
          <a:xfrm>
            <a:off x="274320" y="534924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336" name="Google Shape;1336;p12"/>
          <p:cNvSpPr txBox="1"/>
          <p:nvPr/>
        </p:nvSpPr>
        <p:spPr>
          <a:xfrm>
            <a:off x="777240" y="533095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Diversify Revenue Base</a:t>
            </a:r>
            <a:endParaRPr/>
          </a:p>
        </p:txBody>
      </p:sp>
      <p:sp>
        <p:nvSpPr>
          <p:cNvPr id="1337" name="Google Shape;1337;p12"/>
          <p:cNvSpPr txBox="1"/>
          <p:nvPr/>
        </p:nvSpPr>
        <p:spPr>
          <a:xfrm>
            <a:off x="777240" y="5559552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Top 3 agencies drive 69% of premium. Develop mid-tier: Prestige International In, Vantage Ins Llc, Insurance Planet. Target 25-50% growth each.</a:t>
            </a:r>
            <a:endParaRPr/>
          </a:p>
        </p:txBody>
      </p:sp>
      <p:sp>
        <p:nvSpPr>
          <p:cNvPr id="1338" name="Google Shape;1338;p12"/>
          <p:cNvSpPr/>
          <p:nvPr/>
        </p:nvSpPr>
        <p:spPr>
          <a:xfrm>
            <a:off x="274320" y="598932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339" name="Google Shape;1339;p12"/>
          <p:cNvSpPr txBox="1"/>
          <p:nvPr/>
        </p:nvSpPr>
        <p:spPr>
          <a:xfrm>
            <a:off x="777240" y="597103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Scale Top Performers</a:t>
            </a:r>
            <a:endParaRPr/>
          </a:p>
        </p:txBody>
      </p:sp>
      <p:sp>
        <p:nvSpPr>
          <p:cNvPr id="1340" name="Google Shape;1340;p12"/>
          <p:cNvSpPr txBox="1"/>
          <p:nvPr/>
        </p:nvSpPr>
        <p:spPr>
          <a:xfrm>
            <a:off x="777240" y="6199632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Double down on high-converting agencies: Usa Specialty Insurance/d, Valion Security Llc, Insurance Planet. Increase submission volume 20% through marketing support and referral incentives.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4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p13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6" name="Google Shape;1346;p13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Recently Bound Submissions</a:t>
            </a:r>
            <a:endParaRPr/>
          </a:p>
        </p:txBody>
      </p:sp>
      <p:sp>
        <p:nvSpPr>
          <p:cNvPr id="1347" name="Google Shape;1347;p1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4B5F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Ron Douglas  |  Last 25 Bound Submissions  |  704 Total Bound in Portfolio</a:t>
            </a:r>
            <a:endParaRPr/>
          </a:p>
        </p:txBody>
      </p:sp>
      <p:sp>
        <p:nvSpPr>
          <p:cNvPr id="1348" name="Google Shape;1348;p13"/>
          <p:cNvSpPr txBox="1"/>
          <p:nvPr/>
        </p:nvSpPr>
        <p:spPr>
          <a:xfrm>
            <a:off x="548640" y="100584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#</a:t>
            </a:r>
            <a:endParaRPr/>
          </a:p>
        </p:txBody>
      </p:sp>
      <p:sp>
        <p:nvSpPr>
          <p:cNvPr id="1349" name="Google Shape;1349;p13"/>
          <p:cNvSpPr txBox="1"/>
          <p:nvPr/>
        </p:nvSpPr>
        <p:spPr>
          <a:xfrm>
            <a:off x="914400" y="1005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 #</a:t>
            </a:r>
            <a:endParaRPr/>
          </a:p>
        </p:txBody>
      </p:sp>
      <p:sp>
        <p:nvSpPr>
          <p:cNvPr id="1350" name="Google Shape;1350;p13"/>
          <p:cNvSpPr txBox="1"/>
          <p:nvPr/>
        </p:nvSpPr>
        <p:spPr>
          <a:xfrm>
            <a:off x="1828800" y="1005840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Agency</a:t>
            </a:r>
            <a:endParaRPr/>
          </a:p>
        </p:txBody>
      </p:sp>
      <p:sp>
        <p:nvSpPr>
          <p:cNvPr id="1351" name="Google Shape;1351;p13"/>
          <p:cNvSpPr txBox="1"/>
          <p:nvPr/>
        </p:nvSpPr>
        <p:spPr>
          <a:xfrm>
            <a:off x="4800600" y="1005840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Insured (Account)</a:t>
            </a:r>
            <a:endParaRPr/>
          </a:p>
        </p:txBody>
      </p:sp>
      <p:sp>
        <p:nvSpPr>
          <p:cNvPr id="1352" name="Google Shape;1352;p13"/>
          <p:cNvSpPr txBox="1"/>
          <p:nvPr/>
        </p:nvSpPr>
        <p:spPr>
          <a:xfrm>
            <a:off x="7635240" y="1005840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Agent</a:t>
            </a:r>
            <a:endParaRPr/>
          </a:p>
        </p:txBody>
      </p:sp>
      <p:sp>
        <p:nvSpPr>
          <p:cNvPr id="1353" name="Google Shape;1353;p13"/>
          <p:cNvSpPr txBox="1"/>
          <p:nvPr/>
        </p:nvSpPr>
        <p:spPr>
          <a:xfrm>
            <a:off x="10012680" y="1005840"/>
            <a:ext cx="1325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Premium</a:t>
            </a:r>
            <a:endParaRPr/>
          </a:p>
        </p:txBody>
      </p:sp>
      <p:sp>
        <p:nvSpPr>
          <p:cNvPr id="1354" name="Google Shape;1354;p13"/>
          <p:cNvSpPr txBox="1"/>
          <p:nvPr/>
        </p:nvSpPr>
        <p:spPr>
          <a:xfrm>
            <a:off x="11338559" y="1005840"/>
            <a:ext cx="1325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 Date</a:t>
            </a:r>
            <a:endParaRPr/>
          </a:p>
        </p:txBody>
      </p:sp>
      <p:sp>
        <p:nvSpPr>
          <p:cNvPr id="1355" name="Google Shape;1355;p13"/>
          <p:cNvSpPr/>
          <p:nvPr/>
        </p:nvSpPr>
        <p:spPr>
          <a:xfrm>
            <a:off x="548640" y="1207008"/>
            <a:ext cx="1115568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6" name="Google Shape;1356;p13"/>
          <p:cNvSpPr txBox="1"/>
          <p:nvPr/>
        </p:nvSpPr>
        <p:spPr>
          <a:xfrm>
            <a:off x="548640" y="128016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1357" name="Google Shape;1357;p13"/>
          <p:cNvSpPr txBox="1"/>
          <p:nvPr/>
        </p:nvSpPr>
        <p:spPr>
          <a:xfrm>
            <a:off x="914400" y="12801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252217477783</a:t>
            </a:r>
            <a:endParaRPr/>
          </a:p>
        </p:txBody>
      </p:sp>
      <p:sp>
        <p:nvSpPr>
          <p:cNvPr id="1358" name="Google Shape;1358;p13"/>
          <p:cNvSpPr txBox="1"/>
          <p:nvPr/>
        </p:nvSpPr>
        <p:spPr>
          <a:xfrm>
            <a:off x="1828800" y="1280160"/>
            <a:ext cx="297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Usa Specialty Insurance/dba Preven</a:t>
            </a:r>
            <a:endParaRPr/>
          </a:p>
        </p:txBody>
      </p:sp>
      <p:sp>
        <p:nvSpPr>
          <p:cNvPr id="1359" name="Google Shape;1359;p13"/>
          <p:cNvSpPr txBox="1"/>
          <p:nvPr/>
        </p:nvSpPr>
        <p:spPr>
          <a:xfrm>
            <a:off x="4800600" y="1280160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BELISA TRANSPORT LLC</a:t>
            </a:r>
            <a:endParaRPr/>
          </a:p>
        </p:txBody>
      </p:sp>
      <p:sp>
        <p:nvSpPr>
          <p:cNvPr id="1360" name="Google Shape;1360;p13"/>
          <p:cNvSpPr txBox="1"/>
          <p:nvPr/>
        </p:nvSpPr>
        <p:spPr>
          <a:xfrm>
            <a:off x="7635240" y="128016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John Medina</a:t>
            </a:r>
            <a:endParaRPr/>
          </a:p>
        </p:txBody>
      </p:sp>
      <p:sp>
        <p:nvSpPr>
          <p:cNvPr id="1361" name="Google Shape;1361;p13"/>
          <p:cNvSpPr txBox="1"/>
          <p:nvPr/>
        </p:nvSpPr>
        <p:spPr>
          <a:xfrm>
            <a:off x="10012680" y="1280160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$63,341</a:t>
            </a:r>
            <a:endParaRPr/>
          </a:p>
        </p:txBody>
      </p:sp>
      <p:sp>
        <p:nvSpPr>
          <p:cNvPr id="1362" name="Google Shape;1362;p13"/>
          <p:cNvSpPr txBox="1"/>
          <p:nvPr/>
        </p:nvSpPr>
        <p:spPr>
          <a:xfrm>
            <a:off x="11338559" y="1280160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29, 2026</a:t>
            </a:r>
            <a:endParaRPr/>
          </a:p>
        </p:txBody>
      </p:sp>
      <p:sp>
        <p:nvSpPr>
          <p:cNvPr id="1363" name="Google Shape;1363;p13"/>
          <p:cNvSpPr/>
          <p:nvPr/>
        </p:nvSpPr>
        <p:spPr>
          <a:xfrm>
            <a:off x="457200" y="1463040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4" name="Google Shape;1364;p13"/>
          <p:cNvSpPr txBox="1"/>
          <p:nvPr/>
        </p:nvSpPr>
        <p:spPr>
          <a:xfrm>
            <a:off x="548640" y="148132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1365" name="Google Shape;1365;p13"/>
          <p:cNvSpPr txBox="1"/>
          <p:nvPr/>
        </p:nvSpPr>
        <p:spPr>
          <a:xfrm>
            <a:off x="914400" y="148132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267104075596</a:t>
            </a:r>
            <a:endParaRPr/>
          </a:p>
        </p:txBody>
      </p:sp>
      <p:sp>
        <p:nvSpPr>
          <p:cNvPr id="1366" name="Google Shape;1366;p13"/>
          <p:cNvSpPr txBox="1"/>
          <p:nvPr/>
        </p:nvSpPr>
        <p:spPr>
          <a:xfrm>
            <a:off x="1828800" y="1481328"/>
            <a:ext cx="297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Usa Specialty Insurance/dba Preven</a:t>
            </a:r>
            <a:endParaRPr/>
          </a:p>
        </p:txBody>
      </p:sp>
      <p:sp>
        <p:nvSpPr>
          <p:cNvPr id="1367" name="Google Shape;1367;p13"/>
          <p:cNvSpPr txBox="1"/>
          <p:nvPr/>
        </p:nvSpPr>
        <p:spPr>
          <a:xfrm>
            <a:off x="4800600" y="148132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ACOSTA TRUCKERS LLC</a:t>
            </a:r>
            <a:endParaRPr/>
          </a:p>
        </p:txBody>
      </p:sp>
      <p:sp>
        <p:nvSpPr>
          <p:cNvPr id="1368" name="Google Shape;1368;p13"/>
          <p:cNvSpPr txBox="1"/>
          <p:nvPr/>
        </p:nvSpPr>
        <p:spPr>
          <a:xfrm>
            <a:off x="7635240" y="148132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John Medina</a:t>
            </a:r>
            <a:endParaRPr/>
          </a:p>
        </p:txBody>
      </p:sp>
      <p:sp>
        <p:nvSpPr>
          <p:cNvPr id="1369" name="Google Shape;1369;p13"/>
          <p:cNvSpPr txBox="1"/>
          <p:nvPr/>
        </p:nvSpPr>
        <p:spPr>
          <a:xfrm>
            <a:off x="10012680" y="1481328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$32,037</a:t>
            </a:r>
            <a:endParaRPr/>
          </a:p>
        </p:txBody>
      </p:sp>
      <p:sp>
        <p:nvSpPr>
          <p:cNvPr id="1370" name="Google Shape;1370;p13"/>
          <p:cNvSpPr txBox="1"/>
          <p:nvPr/>
        </p:nvSpPr>
        <p:spPr>
          <a:xfrm>
            <a:off x="11338559" y="1481328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29, 2026</a:t>
            </a:r>
            <a:endParaRPr/>
          </a:p>
        </p:txBody>
      </p:sp>
      <p:sp>
        <p:nvSpPr>
          <p:cNvPr id="1371" name="Google Shape;1371;p13"/>
          <p:cNvSpPr txBox="1"/>
          <p:nvPr/>
        </p:nvSpPr>
        <p:spPr>
          <a:xfrm>
            <a:off x="548640" y="1682496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1372" name="Google Shape;1372;p13"/>
          <p:cNvSpPr txBox="1"/>
          <p:nvPr/>
        </p:nvSpPr>
        <p:spPr>
          <a:xfrm>
            <a:off x="914400" y="1682496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262703038291</a:t>
            </a:r>
            <a:endParaRPr/>
          </a:p>
        </p:txBody>
      </p:sp>
      <p:sp>
        <p:nvSpPr>
          <p:cNvPr id="1373" name="Google Shape;1373;p13"/>
          <p:cNvSpPr txBox="1"/>
          <p:nvPr/>
        </p:nvSpPr>
        <p:spPr>
          <a:xfrm>
            <a:off x="1828800" y="1682496"/>
            <a:ext cx="297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Usa Specialty Insurance/dba Preven</a:t>
            </a:r>
            <a:endParaRPr/>
          </a:p>
        </p:txBody>
      </p:sp>
      <p:sp>
        <p:nvSpPr>
          <p:cNvPr id="1374" name="Google Shape;1374;p13"/>
          <p:cNvSpPr txBox="1"/>
          <p:nvPr/>
        </p:nvSpPr>
        <p:spPr>
          <a:xfrm>
            <a:off x="4800600" y="1682496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PURE ENVY ENTERPRISE LLC</a:t>
            </a:r>
            <a:endParaRPr/>
          </a:p>
        </p:txBody>
      </p:sp>
      <p:sp>
        <p:nvSpPr>
          <p:cNvPr id="1375" name="Google Shape;1375;p13"/>
          <p:cNvSpPr txBox="1"/>
          <p:nvPr/>
        </p:nvSpPr>
        <p:spPr>
          <a:xfrm>
            <a:off x="7635240" y="1682496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John Medina</a:t>
            </a:r>
            <a:endParaRPr/>
          </a:p>
        </p:txBody>
      </p:sp>
      <p:sp>
        <p:nvSpPr>
          <p:cNvPr id="1376" name="Google Shape;1376;p13"/>
          <p:cNvSpPr txBox="1"/>
          <p:nvPr/>
        </p:nvSpPr>
        <p:spPr>
          <a:xfrm>
            <a:off x="10012680" y="1682496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$22,817</a:t>
            </a:r>
            <a:endParaRPr/>
          </a:p>
        </p:txBody>
      </p:sp>
      <p:sp>
        <p:nvSpPr>
          <p:cNvPr id="1377" name="Google Shape;1377;p13"/>
          <p:cNvSpPr txBox="1"/>
          <p:nvPr/>
        </p:nvSpPr>
        <p:spPr>
          <a:xfrm>
            <a:off x="11338559" y="1682496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29, 2026</a:t>
            </a:r>
            <a:endParaRPr/>
          </a:p>
        </p:txBody>
      </p:sp>
      <p:sp>
        <p:nvSpPr>
          <p:cNvPr id="1378" name="Google Shape;1378;p13"/>
          <p:cNvSpPr/>
          <p:nvPr/>
        </p:nvSpPr>
        <p:spPr>
          <a:xfrm>
            <a:off x="457200" y="1865376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9" name="Google Shape;1379;p13"/>
          <p:cNvSpPr txBox="1"/>
          <p:nvPr/>
        </p:nvSpPr>
        <p:spPr>
          <a:xfrm>
            <a:off x="548640" y="1883664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1380" name="Google Shape;1380;p13"/>
          <p:cNvSpPr txBox="1"/>
          <p:nvPr/>
        </p:nvSpPr>
        <p:spPr>
          <a:xfrm>
            <a:off x="914400" y="1883664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255520512718</a:t>
            </a:r>
            <a:endParaRPr/>
          </a:p>
        </p:txBody>
      </p:sp>
      <p:sp>
        <p:nvSpPr>
          <p:cNvPr id="1381" name="Google Shape;1381;p13"/>
          <p:cNvSpPr txBox="1"/>
          <p:nvPr/>
        </p:nvSpPr>
        <p:spPr>
          <a:xfrm>
            <a:off x="1828800" y="1883664"/>
            <a:ext cx="297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Valion Security Llc</a:t>
            </a:r>
            <a:endParaRPr/>
          </a:p>
        </p:txBody>
      </p:sp>
      <p:sp>
        <p:nvSpPr>
          <p:cNvPr id="1382" name="Google Shape;1382;p13"/>
          <p:cNvSpPr txBox="1"/>
          <p:nvPr/>
        </p:nvSpPr>
        <p:spPr>
          <a:xfrm>
            <a:off x="4800600" y="1883664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SALAS 3 TRUCKING LLC</a:t>
            </a:r>
            <a:endParaRPr/>
          </a:p>
        </p:txBody>
      </p:sp>
      <p:sp>
        <p:nvSpPr>
          <p:cNvPr id="1383" name="Google Shape;1383;p13"/>
          <p:cNvSpPr txBox="1"/>
          <p:nvPr/>
        </p:nvSpPr>
        <p:spPr>
          <a:xfrm>
            <a:off x="7635240" y="1883664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Mika Leone-Pettit</a:t>
            </a:r>
            <a:endParaRPr/>
          </a:p>
        </p:txBody>
      </p:sp>
      <p:sp>
        <p:nvSpPr>
          <p:cNvPr id="1384" name="Google Shape;1384;p13"/>
          <p:cNvSpPr txBox="1"/>
          <p:nvPr/>
        </p:nvSpPr>
        <p:spPr>
          <a:xfrm>
            <a:off x="10012680" y="1883664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$48,590</a:t>
            </a:r>
            <a:endParaRPr/>
          </a:p>
        </p:txBody>
      </p:sp>
      <p:sp>
        <p:nvSpPr>
          <p:cNvPr id="1385" name="Google Shape;1385;p13"/>
          <p:cNvSpPr txBox="1"/>
          <p:nvPr/>
        </p:nvSpPr>
        <p:spPr>
          <a:xfrm>
            <a:off x="11338559" y="1883664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29, 2026</a:t>
            </a:r>
            <a:endParaRPr/>
          </a:p>
        </p:txBody>
      </p:sp>
      <p:sp>
        <p:nvSpPr>
          <p:cNvPr id="1386" name="Google Shape;1386;p13"/>
          <p:cNvSpPr txBox="1"/>
          <p:nvPr/>
        </p:nvSpPr>
        <p:spPr>
          <a:xfrm>
            <a:off x="548640" y="208483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1387" name="Google Shape;1387;p13"/>
          <p:cNvSpPr txBox="1"/>
          <p:nvPr/>
        </p:nvSpPr>
        <p:spPr>
          <a:xfrm>
            <a:off x="914400" y="208483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259096107850</a:t>
            </a:r>
            <a:endParaRPr/>
          </a:p>
        </p:txBody>
      </p:sp>
      <p:sp>
        <p:nvSpPr>
          <p:cNvPr id="1388" name="Google Shape;1388;p13"/>
          <p:cNvSpPr txBox="1"/>
          <p:nvPr/>
        </p:nvSpPr>
        <p:spPr>
          <a:xfrm>
            <a:off x="1828800" y="2084832"/>
            <a:ext cx="297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Prestige International Insurance G</a:t>
            </a:r>
            <a:endParaRPr/>
          </a:p>
        </p:txBody>
      </p:sp>
      <p:sp>
        <p:nvSpPr>
          <p:cNvPr id="1389" name="Google Shape;1389;p13"/>
          <p:cNvSpPr txBox="1"/>
          <p:nvPr/>
        </p:nvSpPr>
        <p:spPr>
          <a:xfrm>
            <a:off x="4800600" y="2084832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STAR SCOTT LOGISTICS LLC</a:t>
            </a:r>
            <a:endParaRPr/>
          </a:p>
        </p:txBody>
      </p:sp>
      <p:sp>
        <p:nvSpPr>
          <p:cNvPr id="1390" name="Google Shape;1390;p13"/>
          <p:cNvSpPr txBox="1"/>
          <p:nvPr/>
        </p:nvSpPr>
        <p:spPr>
          <a:xfrm>
            <a:off x="7635240" y="2084832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Kasim Goluab</a:t>
            </a:r>
            <a:endParaRPr/>
          </a:p>
        </p:txBody>
      </p:sp>
      <p:sp>
        <p:nvSpPr>
          <p:cNvPr id="1391" name="Google Shape;1391;p13"/>
          <p:cNvSpPr txBox="1"/>
          <p:nvPr/>
        </p:nvSpPr>
        <p:spPr>
          <a:xfrm>
            <a:off x="10012680" y="2084832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$202,079</a:t>
            </a:r>
            <a:endParaRPr/>
          </a:p>
        </p:txBody>
      </p:sp>
      <p:sp>
        <p:nvSpPr>
          <p:cNvPr id="1392" name="Google Shape;1392;p13"/>
          <p:cNvSpPr txBox="1"/>
          <p:nvPr/>
        </p:nvSpPr>
        <p:spPr>
          <a:xfrm>
            <a:off x="11338559" y="2084832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29, 2026</a:t>
            </a:r>
            <a:endParaRPr/>
          </a:p>
        </p:txBody>
      </p:sp>
      <p:sp>
        <p:nvSpPr>
          <p:cNvPr id="1393" name="Google Shape;1393;p13"/>
          <p:cNvSpPr/>
          <p:nvPr/>
        </p:nvSpPr>
        <p:spPr>
          <a:xfrm>
            <a:off x="457200" y="2267712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4" name="Google Shape;1394;p13"/>
          <p:cNvSpPr txBox="1"/>
          <p:nvPr/>
        </p:nvSpPr>
        <p:spPr>
          <a:xfrm>
            <a:off x="548640" y="228600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/>
          </a:p>
        </p:txBody>
      </p:sp>
      <p:sp>
        <p:nvSpPr>
          <p:cNvPr id="1395" name="Google Shape;1395;p13"/>
          <p:cNvSpPr txBox="1"/>
          <p:nvPr/>
        </p:nvSpPr>
        <p:spPr>
          <a:xfrm>
            <a:off x="914400" y="22860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256160252476</a:t>
            </a:r>
            <a:endParaRPr/>
          </a:p>
        </p:txBody>
      </p:sp>
      <p:sp>
        <p:nvSpPr>
          <p:cNvPr id="1396" name="Google Shape;1396;p13"/>
          <p:cNvSpPr txBox="1"/>
          <p:nvPr/>
        </p:nvSpPr>
        <p:spPr>
          <a:xfrm>
            <a:off x="1828800" y="2286000"/>
            <a:ext cx="297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COASTAL TRUCKING INSURANCE LLC</a:t>
            </a:r>
            <a:endParaRPr/>
          </a:p>
        </p:txBody>
      </p:sp>
      <p:sp>
        <p:nvSpPr>
          <p:cNvPr id="1397" name="Google Shape;1397;p13"/>
          <p:cNvSpPr txBox="1"/>
          <p:nvPr/>
        </p:nvSpPr>
        <p:spPr>
          <a:xfrm>
            <a:off x="4800600" y="2286000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RK EXPRESS LOGISTICS LLC</a:t>
            </a:r>
            <a:endParaRPr/>
          </a:p>
        </p:txBody>
      </p:sp>
      <p:sp>
        <p:nvSpPr>
          <p:cNvPr id="1398" name="Google Shape;1398;p13"/>
          <p:cNvSpPr txBox="1"/>
          <p:nvPr/>
        </p:nvSpPr>
        <p:spPr>
          <a:xfrm>
            <a:off x="7635240" y="228600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Simon Ashi</a:t>
            </a:r>
            <a:endParaRPr/>
          </a:p>
        </p:txBody>
      </p:sp>
      <p:sp>
        <p:nvSpPr>
          <p:cNvPr id="1399" name="Google Shape;1399;p13"/>
          <p:cNvSpPr txBox="1"/>
          <p:nvPr/>
        </p:nvSpPr>
        <p:spPr>
          <a:xfrm>
            <a:off x="10012680" y="2286000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$57,127</a:t>
            </a:r>
            <a:endParaRPr/>
          </a:p>
        </p:txBody>
      </p:sp>
      <p:sp>
        <p:nvSpPr>
          <p:cNvPr id="1400" name="Google Shape;1400;p13"/>
          <p:cNvSpPr txBox="1"/>
          <p:nvPr/>
        </p:nvSpPr>
        <p:spPr>
          <a:xfrm>
            <a:off x="11338559" y="2286000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29, 2026</a:t>
            </a:r>
            <a:endParaRPr/>
          </a:p>
        </p:txBody>
      </p:sp>
      <p:sp>
        <p:nvSpPr>
          <p:cNvPr id="1401" name="Google Shape;1401;p13"/>
          <p:cNvSpPr txBox="1"/>
          <p:nvPr/>
        </p:nvSpPr>
        <p:spPr>
          <a:xfrm>
            <a:off x="548640" y="248716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/>
          </a:p>
        </p:txBody>
      </p:sp>
      <p:sp>
        <p:nvSpPr>
          <p:cNvPr id="1402" name="Google Shape;1402;p13"/>
          <p:cNvSpPr txBox="1"/>
          <p:nvPr/>
        </p:nvSpPr>
        <p:spPr>
          <a:xfrm>
            <a:off x="914400" y="248716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259266541016</a:t>
            </a:r>
            <a:endParaRPr/>
          </a:p>
        </p:txBody>
      </p:sp>
      <p:sp>
        <p:nvSpPr>
          <p:cNvPr id="1403" name="Google Shape;1403;p13"/>
          <p:cNvSpPr txBox="1"/>
          <p:nvPr/>
        </p:nvSpPr>
        <p:spPr>
          <a:xfrm>
            <a:off x="1828800" y="2487168"/>
            <a:ext cx="297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Renegade Insurance (Formerly Cover</a:t>
            </a:r>
            <a:endParaRPr/>
          </a:p>
        </p:txBody>
      </p:sp>
      <p:sp>
        <p:nvSpPr>
          <p:cNvPr id="1404" name="Google Shape;1404;p13"/>
          <p:cNvSpPr txBox="1"/>
          <p:nvPr/>
        </p:nvSpPr>
        <p:spPr>
          <a:xfrm>
            <a:off x="4800600" y="248716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Santos E Canales Cruz</a:t>
            </a:r>
            <a:endParaRPr/>
          </a:p>
        </p:txBody>
      </p:sp>
      <p:sp>
        <p:nvSpPr>
          <p:cNvPr id="1405" name="Google Shape;1405;p13"/>
          <p:cNvSpPr txBox="1"/>
          <p:nvPr/>
        </p:nvSpPr>
        <p:spPr>
          <a:xfrm>
            <a:off x="7635240" y="248716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Angel Barefoot</a:t>
            </a:r>
            <a:endParaRPr/>
          </a:p>
        </p:txBody>
      </p:sp>
      <p:sp>
        <p:nvSpPr>
          <p:cNvPr id="1406" name="Google Shape;1406;p13"/>
          <p:cNvSpPr txBox="1"/>
          <p:nvPr/>
        </p:nvSpPr>
        <p:spPr>
          <a:xfrm>
            <a:off x="10012680" y="2487168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$2,501</a:t>
            </a:r>
            <a:endParaRPr/>
          </a:p>
        </p:txBody>
      </p:sp>
      <p:sp>
        <p:nvSpPr>
          <p:cNvPr id="1407" name="Google Shape;1407;p13"/>
          <p:cNvSpPr txBox="1"/>
          <p:nvPr/>
        </p:nvSpPr>
        <p:spPr>
          <a:xfrm>
            <a:off x="11338559" y="2487168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29, 2026</a:t>
            </a:r>
            <a:endParaRPr/>
          </a:p>
        </p:txBody>
      </p:sp>
      <p:sp>
        <p:nvSpPr>
          <p:cNvPr id="1408" name="Google Shape;1408;p13"/>
          <p:cNvSpPr/>
          <p:nvPr/>
        </p:nvSpPr>
        <p:spPr>
          <a:xfrm>
            <a:off x="457200" y="2670048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9" name="Google Shape;1409;p13"/>
          <p:cNvSpPr txBox="1"/>
          <p:nvPr/>
        </p:nvSpPr>
        <p:spPr>
          <a:xfrm>
            <a:off x="548640" y="2688336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</a:t>
            </a:r>
            <a:endParaRPr/>
          </a:p>
        </p:txBody>
      </p:sp>
      <p:sp>
        <p:nvSpPr>
          <p:cNvPr id="1410" name="Google Shape;1410;p13"/>
          <p:cNvSpPr txBox="1"/>
          <p:nvPr/>
        </p:nvSpPr>
        <p:spPr>
          <a:xfrm>
            <a:off x="914400" y="2688336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255859100307</a:t>
            </a:r>
            <a:endParaRPr/>
          </a:p>
        </p:txBody>
      </p:sp>
      <p:sp>
        <p:nvSpPr>
          <p:cNvPr id="1411" name="Google Shape;1411;p13"/>
          <p:cNvSpPr txBox="1"/>
          <p:nvPr/>
        </p:nvSpPr>
        <p:spPr>
          <a:xfrm>
            <a:off x="1828800" y="2688336"/>
            <a:ext cx="297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Waypoint Agency LLC</a:t>
            </a:r>
            <a:endParaRPr/>
          </a:p>
        </p:txBody>
      </p:sp>
      <p:sp>
        <p:nvSpPr>
          <p:cNvPr id="1412" name="Google Shape;1412;p13"/>
          <p:cNvSpPr txBox="1"/>
          <p:nvPr/>
        </p:nvSpPr>
        <p:spPr>
          <a:xfrm>
            <a:off x="4800600" y="2688336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O2K TRUCKING LLC</a:t>
            </a:r>
            <a:endParaRPr/>
          </a:p>
        </p:txBody>
      </p:sp>
      <p:sp>
        <p:nvSpPr>
          <p:cNvPr id="1413" name="Google Shape;1413;p13"/>
          <p:cNvSpPr txBox="1"/>
          <p:nvPr/>
        </p:nvSpPr>
        <p:spPr>
          <a:xfrm>
            <a:off x="7635240" y="2688336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Zachary Flowers</a:t>
            </a:r>
            <a:endParaRPr/>
          </a:p>
        </p:txBody>
      </p:sp>
      <p:sp>
        <p:nvSpPr>
          <p:cNvPr id="1414" name="Google Shape;1414;p13"/>
          <p:cNvSpPr txBox="1"/>
          <p:nvPr/>
        </p:nvSpPr>
        <p:spPr>
          <a:xfrm>
            <a:off x="10012680" y="2688336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$15,483</a:t>
            </a:r>
            <a:endParaRPr/>
          </a:p>
        </p:txBody>
      </p:sp>
      <p:sp>
        <p:nvSpPr>
          <p:cNvPr id="1415" name="Google Shape;1415;p13"/>
          <p:cNvSpPr txBox="1"/>
          <p:nvPr/>
        </p:nvSpPr>
        <p:spPr>
          <a:xfrm>
            <a:off x="11338559" y="2688336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29, 2026</a:t>
            </a:r>
            <a:endParaRPr/>
          </a:p>
        </p:txBody>
      </p:sp>
      <p:sp>
        <p:nvSpPr>
          <p:cNvPr id="1416" name="Google Shape;1416;p13"/>
          <p:cNvSpPr txBox="1"/>
          <p:nvPr/>
        </p:nvSpPr>
        <p:spPr>
          <a:xfrm>
            <a:off x="548640" y="2889504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</a:t>
            </a:r>
            <a:endParaRPr/>
          </a:p>
        </p:txBody>
      </p:sp>
      <p:sp>
        <p:nvSpPr>
          <p:cNvPr id="1417" name="Google Shape;1417;p13"/>
          <p:cNvSpPr txBox="1"/>
          <p:nvPr/>
        </p:nvSpPr>
        <p:spPr>
          <a:xfrm>
            <a:off x="914400" y="2889504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251507002657</a:t>
            </a:r>
            <a:endParaRPr/>
          </a:p>
        </p:txBody>
      </p:sp>
      <p:sp>
        <p:nvSpPr>
          <p:cNvPr id="1418" name="Google Shape;1418;p13"/>
          <p:cNvSpPr txBox="1"/>
          <p:nvPr/>
        </p:nvSpPr>
        <p:spPr>
          <a:xfrm>
            <a:off x="1828800" y="2889504"/>
            <a:ext cx="297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Waypoint Agency LLC</a:t>
            </a:r>
            <a:endParaRPr/>
          </a:p>
        </p:txBody>
      </p:sp>
      <p:sp>
        <p:nvSpPr>
          <p:cNvPr id="1419" name="Google Shape;1419;p13"/>
          <p:cNvSpPr txBox="1"/>
          <p:nvPr/>
        </p:nvSpPr>
        <p:spPr>
          <a:xfrm>
            <a:off x="4800600" y="2889504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O2K TRUCKING LLC</a:t>
            </a:r>
            <a:endParaRPr/>
          </a:p>
        </p:txBody>
      </p:sp>
      <p:sp>
        <p:nvSpPr>
          <p:cNvPr id="1420" name="Google Shape;1420;p13"/>
          <p:cNvSpPr txBox="1"/>
          <p:nvPr/>
        </p:nvSpPr>
        <p:spPr>
          <a:xfrm>
            <a:off x="7635240" y="2889504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Zachary Flowers</a:t>
            </a:r>
            <a:endParaRPr/>
          </a:p>
        </p:txBody>
      </p:sp>
      <p:sp>
        <p:nvSpPr>
          <p:cNvPr id="1421" name="Google Shape;1421;p13"/>
          <p:cNvSpPr txBox="1"/>
          <p:nvPr/>
        </p:nvSpPr>
        <p:spPr>
          <a:xfrm>
            <a:off x="10012680" y="2889504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$4,544</a:t>
            </a:r>
            <a:endParaRPr/>
          </a:p>
        </p:txBody>
      </p:sp>
      <p:sp>
        <p:nvSpPr>
          <p:cNvPr id="1422" name="Google Shape;1422;p13"/>
          <p:cNvSpPr txBox="1"/>
          <p:nvPr/>
        </p:nvSpPr>
        <p:spPr>
          <a:xfrm>
            <a:off x="11338559" y="2889504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29, 2026</a:t>
            </a:r>
            <a:endParaRPr/>
          </a:p>
        </p:txBody>
      </p:sp>
      <p:sp>
        <p:nvSpPr>
          <p:cNvPr id="1423" name="Google Shape;1423;p13"/>
          <p:cNvSpPr/>
          <p:nvPr/>
        </p:nvSpPr>
        <p:spPr>
          <a:xfrm>
            <a:off x="457200" y="3072384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4" name="Google Shape;1424;p13"/>
          <p:cNvSpPr txBox="1"/>
          <p:nvPr/>
        </p:nvSpPr>
        <p:spPr>
          <a:xfrm>
            <a:off x="548640" y="309067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/>
          </a:p>
        </p:txBody>
      </p:sp>
      <p:sp>
        <p:nvSpPr>
          <p:cNvPr id="1425" name="Google Shape;1425;p13"/>
          <p:cNvSpPr txBox="1"/>
          <p:nvPr/>
        </p:nvSpPr>
        <p:spPr>
          <a:xfrm>
            <a:off x="914400" y="309067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254761271002</a:t>
            </a:r>
            <a:endParaRPr/>
          </a:p>
        </p:txBody>
      </p:sp>
      <p:sp>
        <p:nvSpPr>
          <p:cNvPr id="1426" name="Google Shape;1426;p13"/>
          <p:cNvSpPr txBox="1"/>
          <p:nvPr/>
        </p:nvSpPr>
        <p:spPr>
          <a:xfrm>
            <a:off x="1828800" y="3090672"/>
            <a:ext cx="297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Insurance4truckers Llc</a:t>
            </a:r>
            <a:endParaRPr/>
          </a:p>
        </p:txBody>
      </p:sp>
      <p:sp>
        <p:nvSpPr>
          <p:cNvPr id="1427" name="Google Shape;1427;p13"/>
          <p:cNvSpPr txBox="1"/>
          <p:nvPr/>
        </p:nvSpPr>
        <p:spPr>
          <a:xfrm>
            <a:off x="4800600" y="3090672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KHADIJA &amp; DELWARA LOGISTICS LLC</a:t>
            </a:r>
            <a:endParaRPr/>
          </a:p>
        </p:txBody>
      </p:sp>
      <p:sp>
        <p:nvSpPr>
          <p:cNvPr id="1428" name="Google Shape;1428;p13"/>
          <p:cNvSpPr txBox="1"/>
          <p:nvPr/>
        </p:nvSpPr>
        <p:spPr>
          <a:xfrm>
            <a:off x="7635240" y="3090672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David Pederson</a:t>
            </a:r>
            <a:endParaRPr/>
          </a:p>
        </p:txBody>
      </p:sp>
      <p:sp>
        <p:nvSpPr>
          <p:cNvPr id="1429" name="Google Shape;1429;p13"/>
          <p:cNvSpPr txBox="1"/>
          <p:nvPr/>
        </p:nvSpPr>
        <p:spPr>
          <a:xfrm>
            <a:off x="10012680" y="3090672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$65,024</a:t>
            </a:r>
            <a:endParaRPr/>
          </a:p>
        </p:txBody>
      </p:sp>
      <p:sp>
        <p:nvSpPr>
          <p:cNvPr id="1430" name="Google Shape;1430;p13"/>
          <p:cNvSpPr txBox="1"/>
          <p:nvPr/>
        </p:nvSpPr>
        <p:spPr>
          <a:xfrm>
            <a:off x="11338559" y="3090672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28, 2026</a:t>
            </a:r>
            <a:endParaRPr/>
          </a:p>
        </p:txBody>
      </p:sp>
      <p:sp>
        <p:nvSpPr>
          <p:cNvPr id="1431" name="Google Shape;1431;p13"/>
          <p:cNvSpPr txBox="1"/>
          <p:nvPr/>
        </p:nvSpPr>
        <p:spPr>
          <a:xfrm>
            <a:off x="548640" y="329184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</a:t>
            </a:r>
            <a:endParaRPr/>
          </a:p>
        </p:txBody>
      </p:sp>
      <p:sp>
        <p:nvSpPr>
          <p:cNvPr id="1432" name="Google Shape;1432;p13"/>
          <p:cNvSpPr txBox="1"/>
          <p:nvPr/>
        </p:nvSpPr>
        <p:spPr>
          <a:xfrm>
            <a:off x="914400" y="32918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254535183710</a:t>
            </a:r>
            <a:endParaRPr/>
          </a:p>
        </p:txBody>
      </p:sp>
      <p:sp>
        <p:nvSpPr>
          <p:cNvPr id="1433" name="Google Shape;1433;p13"/>
          <p:cNvSpPr txBox="1"/>
          <p:nvPr/>
        </p:nvSpPr>
        <p:spPr>
          <a:xfrm>
            <a:off x="1828800" y="3291840"/>
            <a:ext cx="297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Insurance4truckers Llc</a:t>
            </a:r>
            <a:endParaRPr/>
          </a:p>
        </p:txBody>
      </p:sp>
      <p:sp>
        <p:nvSpPr>
          <p:cNvPr id="1434" name="Google Shape;1434;p13"/>
          <p:cNvSpPr txBox="1"/>
          <p:nvPr/>
        </p:nvSpPr>
        <p:spPr>
          <a:xfrm>
            <a:off x="4800600" y="3291840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GUERREROS TRUCKING</a:t>
            </a:r>
            <a:endParaRPr/>
          </a:p>
        </p:txBody>
      </p:sp>
      <p:sp>
        <p:nvSpPr>
          <p:cNvPr id="1435" name="Google Shape;1435;p13"/>
          <p:cNvSpPr txBox="1"/>
          <p:nvPr/>
        </p:nvSpPr>
        <p:spPr>
          <a:xfrm>
            <a:off x="7635240" y="329184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David Pederson</a:t>
            </a:r>
            <a:endParaRPr/>
          </a:p>
        </p:txBody>
      </p:sp>
      <p:sp>
        <p:nvSpPr>
          <p:cNvPr id="1436" name="Google Shape;1436;p13"/>
          <p:cNvSpPr txBox="1"/>
          <p:nvPr/>
        </p:nvSpPr>
        <p:spPr>
          <a:xfrm>
            <a:off x="10012680" y="3291840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$71,684</a:t>
            </a:r>
            <a:endParaRPr/>
          </a:p>
        </p:txBody>
      </p:sp>
      <p:sp>
        <p:nvSpPr>
          <p:cNvPr id="1437" name="Google Shape;1437;p13"/>
          <p:cNvSpPr txBox="1"/>
          <p:nvPr/>
        </p:nvSpPr>
        <p:spPr>
          <a:xfrm>
            <a:off x="11338559" y="3291840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28, 2026</a:t>
            </a:r>
            <a:endParaRPr/>
          </a:p>
        </p:txBody>
      </p:sp>
      <p:sp>
        <p:nvSpPr>
          <p:cNvPr id="1438" name="Google Shape;1438;p13"/>
          <p:cNvSpPr/>
          <p:nvPr/>
        </p:nvSpPr>
        <p:spPr>
          <a:xfrm>
            <a:off x="457200" y="3474720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9" name="Google Shape;1439;p13"/>
          <p:cNvSpPr txBox="1"/>
          <p:nvPr/>
        </p:nvSpPr>
        <p:spPr>
          <a:xfrm>
            <a:off x="548640" y="349300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</a:t>
            </a:r>
            <a:endParaRPr/>
          </a:p>
        </p:txBody>
      </p:sp>
      <p:sp>
        <p:nvSpPr>
          <p:cNvPr id="1440" name="Google Shape;1440;p13"/>
          <p:cNvSpPr txBox="1"/>
          <p:nvPr/>
        </p:nvSpPr>
        <p:spPr>
          <a:xfrm>
            <a:off x="914400" y="349300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266966167110</a:t>
            </a:r>
            <a:endParaRPr/>
          </a:p>
        </p:txBody>
      </p:sp>
      <p:sp>
        <p:nvSpPr>
          <p:cNvPr id="1441" name="Google Shape;1441;p13"/>
          <p:cNvSpPr txBox="1"/>
          <p:nvPr/>
        </p:nvSpPr>
        <p:spPr>
          <a:xfrm>
            <a:off x="1828800" y="3493008"/>
            <a:ext cx="297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Insurance4truckers Llc</a:t>
            </a:r>
            <a:endParaRPr/>
          </a:p>
        </p:txBody>
      </p:sp>
      <p:sp>
        <p:nvSpPr>
          <p:cNvPr id="1442" name="Google Shape;1442;p13"/>
          <p:cNvSpPr txBox="1"/>
          <p:nvPr/>
        </p:nvSpPr>
        <p:spPr>
          <a:xfrm>
            <a:off x="4800600" y="349300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ROCK TRANSPORTATION</a:t>
            </a:r>
            <a:endParaRPr/>
          </a:p>
        </p:txBody>
      </p:sp>
      <p:sp>
        <p:nvSpPr>
          <p:cNvPr id="1443" name="Google Shape;1443;p13"/>
          <p:cNvSpPr txBox="1"/>
          <p:nvPr/>
        </p:nvSpPr>
        <p:spPr>
          <a:xfrm>
            <a:off x="7635240" y="349300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Brandon Durham</a:t>
            </a:r>
            <a:endParaRPr/>
          </a:p>
        </p:txBody>
      </p:sp>
      <p:sp>
        <p:nvSpPr>
          <p:cNvPr id="1444" name="Google Shape;1444;p13"/>
          <p:cNvSpPr txBox="1"/>
          <p:nvPr/>
        </p:nvSpPr>
        <p:spPr>
          <a:xfrm>
            <a:off x="10012680" y="3493008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$72,818</a:t>
            </a:r>
            <a:endParaRPr/>
          </a:p>
        </p:txBody>
      </p:sp>
      <p:sp>
        <p:nvSpPr>
          <p:cNvPr id="1445" name="Google Shape;1445;p13"/>
          <p:cNvSpPr txBox="1"/>
          <p:nvPr/>
        </p:nvSpPr>
        <p:spPr>
          <a:xfrm>
            <a:off x="11338559" y="3493008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28, 2026</a:t>
            </a:r>
            <a:endParaRPr/>
          </a:p>
        </p:txBody>
      </p:sp>
      <p:sp>
        <p:nvSpPr>
          <p:cNvPr id="1446" name="Google Shape;1446;p13"/>
          <p:cNvSpPr txBox="1"/>
          <p:nvPr/>
        </p:nvSpPr>
        <p:spPr>
          <a:xfrm>
            <a:off x="548640" y="3694176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</a:t>
            </a:r>
            <a:endParaRPr/>
          </a:p>
        </p:txBody>
      </p:sp>
      <p:sp>
        <p:nvSpPr>
          <p:cNvPr id="1447" name="Google Shape;1447;p13"/>
          <p:cNvSpPr txBox="1"/>
          <p:nvPr/>
        </p:nvSpPr>
        <p:spPr>
          <a:xfrm>
            <a:off x="914400" y="3694176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267418608756</a:t>
            </a:r>
            <a:endParaRPr/>
          </a:p>
        </p:txBody>
      </p:sp>
      <p:sp>
        <p:nvSpPr>
          <p:cNvPr id="1448" name="Google Shape;1448;p13"/>
          <p:cNvSpPr txBox="1"/>
          <p:nvPr/>
        </p:nvSpPr>
        <p:spPr>
          <a:xfrm>
            <a:off x="1828800" y="3694176"/>
            <a:ext cx="297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Insurance4truckers Llc</a:t>
            </a:r>
            <a:endParaRPr/>
          </a:p>
        </p:txBody>
      </p:sp>
      <p:sp>
        <p:nvSpPr>
          <p:cNvPr id="1449" name="Google Shape;1449;p13"/>
          <p:cNvSpPr txBox="1"/>
          <p:nvPr/>
        </p:nvSpPr>
        <p:spPr>
          <a:xfrm>
            <a:off x="4800600" y="3694176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ERG TRANS INC</a:t>
            </a:r>
            <a:endParaRPr/>
          </a:p>
        </p:txBody>
      </p:sp>
      <p:sp>
        <p:nvSpPr>
          <p:cNvPr id="1450" name="Google Shape;1450;p13"/>
          <p:cNvSpPr txBox="1"/>
          <p:nvPr/>
        </p:nvSpPr>
        <p:spPr>
          <a:xfrm>
            <a:off x="7635240" y="3694176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API_USER API_USER</a:t>
            </a:r>
            <a:endParaRPr/>
          </a:p>
        </p:txBody>
      </p:sp>
      <p:sp>
        <p:nvSpPr>
          <p:cNvPr id="1451" name="Google Shape;1451;p13"/>
          <p:cNvSpPr txBox="1"/>
          <p:nvPr/>
        </p:nvSpPr>
        <p:spPr>
          <a:xfrm>
            <a:off x="10012680" y="3694176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$20,801</a:t>
            </a:r>
            <a:endParaRPr/>
          </a:p>
        </p:txBody>
      </p:sp>
      <p:sp>
        <p:nvSpPr>
          <p:cNvPr id="1452" name="Google Shape;1452;p13"/>
          <p:cNvSpPr txBox="1"/>
          <p:nvPr/>
        </p:nvSpPr>
        <p:spPr>
          <a:xfrm>
            <a:off x="11338559" y="3694176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28, 2026</a:t>
            </a:r>
            <a:endParaRPr/>
          </a:p>
        </p:txBody>
      </p:sp>
      <p:sp>
        <p:nvSpPr>
          <p:cNvPr id="1453" name="Google Shape;1453;p13"/>
          <p:cNvSpPr/>
          <p:nvPr/>
        </p:nvSpPr>
        <p:spPr>
          <a:xfrm>
            <a:off x="457200" y="3877056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4" name="Google Shape;1454;p13"/>
          <p:cNvSpPr txBox="1"/>
          <p:nvPr/>
        </p:nvSpPr>
        <p:spPr>
          <a:xfrm>
            <a:off x="548640" y="3895344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</a:t>
            </a:r>
            <a:endParaRPr/>
          </a:p>
        </p:txBody>
      </p:sp>
      <p:sp>
        <p:nvSpPr>
          <p:cNvPr id="1455" name="Google Shape;1455;p13"/>
          <p:cNvSpPr txBox="1"/>
          <p:nvPr/>
        </p:nvSpPr>
        <p:spPr>
          <a:xfrm>
            <a:off x="914400" y="3895344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250521146933</a:t>
            </a:r>
            <a:endParaRPr/>
          </a:p>
        </p:txBody>
      </p:sp>
      <p:sp>
        <p:nvSpPr>
          <p:cNvPr id="1456" name="Google Shape;1456;p13"/>
          <p:cNvSpPr txBox="1"/>
          <p:nvPr/>
        </p:nvSpPr>
        <p:spPr>
          <a:xfrm>
            <a:off x="1828800" y="3895344"/>
            <a:ext cx="297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Vantage Ins Llc</a:t>
            </a:r>
            <a:endParaRPr/>
          </a:p>
        </p:txBody>
      </p:sp>
      <p:sp>
        <p:nvSpPr>
          <p:cNvPr id="1457" name="Google Shape;1457;p13"/>
          <p:cNvSpPr txBox="1"/>
          <p:nvPr/>
        </p:nvSpPr>
        <p:spPr>
          <a:xfrm>
            <a:off x="4800600" y="3895344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DEL ANGEL TRANSPORT</a:t>
            </a:r>
            <a:endParaRPr/>
          </a:p>
        </p:txBody>
      </p:sp>
      <p:sp>
        <p:nvSpPr>
          <p:cNvPr id="1458" name="Google Shape;1458;p13"/>
          <p:cNvSpPr txBox="1"/>
          <p:nvPr/>
        </p:nvSpPr>
        <p:spPr>
          <a:xfrm>
            <a:off x="7635240" y="3895344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Koraima Pino</a:t>
            </a:r>
            <a:endParaRPr/>
          </a:p>
        </p:txBody>
      </p:sp>
      <p:sp>
        <p:nvSpPr>
          <p:cNvPr id="1459" name="Google Shape;1459;p13"/>
          <p:cNvSpPr txBox="1"/>
          <p:nvPr/>
        </p:nvSpPr>
        <p:spPr>
          <a:xfrm>
            <a:off x="10012680" y="3895344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$50,947</a:t>
            </a:r>
            <a:endParaRPr/>
          </a:p>
        </p:txBody>
      </p:sp>
      <p:sp>
        <p:nvSpPr>
          <p:cNvPr id="1460" name="Google Shape;1460;p13"/>
          <p:cNvSpPr txBox="1"/>
          <p:nvPr/>
        </p:nvSpPr>
        <p:spPr>
          <a:xfrm>
            <a:off x="11338559" y="3895344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28, 2026</a:t>
            </a:r>
            <a:endParaRPr/>
          </a:p>
        </p:txBody>
      </p:sp>
      <p:sp>
        <p:nvSpPr>
          <p:cNvPr id="1461" name="Google Shape;1461;p13"/>
          <p:cNvSpPr txBox="1"/>
          <p:nvPr/>
        </p:nvSpPr>
        <p:spPr>
          <a:xfrm>
            <a:off x="548640" y="409651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</a:t>
            </a:r>
            <a:endParaRPr/>
          </a:p>
        </p:txBody>
      </p:sp>
      <p:sp>
        <p:nvSpPr>
          <p:cNvPr id="1462" name="Google Shape;1462;p13"/>
          <p:cNvSpPr txBox="1"/>
          <p:nvPr/>
        </p:nvSpPr>
        <p:spPr>
          <a:xfrm>
            <a:off x="914400" y="409651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265146025025</a:t>
            </a:r>
            <a:endParaRPr/>
          </a:p>
        </p:txBody>
      </p:sp>
      <p:sp>
        <p:nvSpPr>
          <p:cNvPr id="1463" name="Google Shape;1463;p13"/>
          <p:cNvSpPr txBox="1"/>
          <p:nvPr/>
        </p:nvSpPr>
        <p:spPr>
          <a:xfrm>
            <a:off x="1828800" y="4096512"/>
            <a:ext cx="297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Valion Security Llc</a:t>
            </a:r>
            <a:endParaRPr/>
          </a:p>
        </p:txBody>
      </p:sp>
      <p:sp>
        <p:nvSpPr>
          <p:cNvPr id="1464" name="Google Shape;1464;p13"/>
          <p:cNvSpPr txBox="1"/>
          <p:nvPr/>
        </p:nvSpPr>
        <p:spPr>
          <a:xfrm>
            <a:off x="4800600" y="4096512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SULTAN FREIGHT LOGISTICS LLC</a:t>
            </a:r>
            <a:endParaRPr/>
          </a:p>
        </p:txBody>
      </p:sp>
      <p:sp>
        <p:nvSpPr>
          <p:cNvPr id="1465" name="Google Shape;1465;p13"/>
          <p:cNvSpPr txBox="1"/>
          <p:nvPr/>
        </p:nvSpPr>
        <p:spPr>
          <a:xfrm>
            <a:off x="7635240" y="4096512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Mary Davis-Spivak</a:t>
            </a:r>
            <a:endParaRPr/>
          </a:p>
        </p:txBody>
      </p:sp>
      <p:sp>
        <p:nvSpPr>
          <p:cNvPr id="1466" name="Google Shape;1466;p13"/>
          <p:cNvSpPr txBox="1"/>
          <p:nvPr/>
        </p:nvSpPr>
        <p:spPr>
          <a:xfrm>
            <a:off x="10012680" y="4096512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$14,200</a:t>
            </a:r>
            <a:endParaRPr/>
          </a:p>
        </p:txBody>
      </p:sp>
      <p:sp>
        <p:nvSpPr>
          <p:cNvPr id="1467" name="Google Shape;1467;p13"/>
          <p:cNvSpPr txBox="1"/>
          <p:nvPr/>
        </p:nvSpPr>
        <p:spPr>
          <a:xfrm>
            <a:off x="11338559" y="4096512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28, 2026</a:t>
            </a:r>
            <a:endParaRPr/>
          </a:p>
        </p:txBody>
      </p:sp>
      <p:sp>
        <p:nvSpPr>
          <p:cNvPr id="1468" name="Google Shape;1468;p13"/>
          <p:cNvSpPr/>
          <p:nvPr/>
        </p:nvSpPr>
        <p:spPr>
          <a:xfrm>
            <a:off x="457200" y="4279392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9" name="Google Shape;1469;p13"/>
          <p:cNvSpPr txBox="1"/>
          <p:nvPr/>
        </p:nvSpPr>
        <p:spPr>
          <a:xfrm>
            <a:off x="548640" y="429768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</a:t>
            </a:r>
            <a:endParaRPr/>
          </a:p>
        </p:txBody>
      </p:sp>
      <p:sp>
        <p:nvSpPr>
          <p:cNvPr id="1470" name="Google Shape;1470;p13"/>
          <p:cNvSpPr txBox="1"/>
          <p:nvPr/>
        </p:nvSpPr>
        <p:spPr>
          <a:xfrm>
            <a:off x="914400" y="42976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267115004249</a:t>
            </a:r>
            <a:endParaRPr/>
          </a:p>
        </p:txBody>
      </p:sp>
      <p:sp>
        <p:nvSpPr>
          <p:cNvPr id="1471" name="Google Shape;1471;p13"/>
          <p:cNvSpPr txBox="1"/>
          <p:nvPr/>
        </p:nvSpPr>
        <p:spPr>
          <a:xfrm>
            <a:off x="1828800" y="4297680"/>
            <a:ext cx="297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 &amp; R Agency LLC</a:t>
            </a:r>
            <a:endParaRPr/>
          </a:p>
        </p:txBody>
      </p:sp>
      <p:sp>
        <p:nvSpPr>
          <p:cNvPr id="1472" name="Google Shape;1472;p13"/>
          <p:cNvSpPr txBox="1"/>
          <p:nvPr/>
        </p:nvSpPr>
        <p:spPr>
          <a:xfrm>
            <a:off x="4800600" y="4297680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K&amp;D PLAYGROUND CONNECTION LLC</a:t>
            </a:r>
            <a:endParaRPr/>
          </a:p>
        </p:txBody>
      </p:sp>
      <p:sp>
        <p:nvSpPr>
          <p:cNvPr id="1473" name="Google Shape;1473;p13"/>
          <p:cNvSpPr txBox="1"/>
          <p:nvPr/>
        </p:nvSpPr>
        <p:spPr>
          <a:xfrm>
            <a:off x="7635240" y="429768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William Brown</a:t>
            </a:r>
            <a:endParaRPr/>
          </a:p>
        </p:txBody>
      </p:sp>
      <p:sp>
        <p:nvSpPr>
          <p:cNvPr id="1474" name="Google Shape;1474;p13"/>
          <p:cNvSpPr txBox="1"/>
          <p:nvPr/>
        </p:nvSpPr>
        <p:spPr>
          <a:xfrm>
            <a:off x="10012680" y="4297680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$98,726</a:t>
            </a:r>
            <a:endParaRPr/>
          </a:p>
        </p:txBody>
      </p:sp>
      <p:sp>
        <p:nvSpPr>
          <p:cNvPr id="1475" name="Google Shape;1475;p13"/>
          <p:cNvSpPr txBox="1"/>
          <p:nvPr/>
        </p:nvSpPr>
        <p:spPr>
          <a:xfrm>
            <a:off x="11338559" y="4297680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28, 2026</a:t>
            </a:r>
            <a:endParaRPr/>
          </a:p>
        </p:txBody>
      </p:sp>
      <p:sp>
        <p:nvSpPr>
          <p:cNvPr id="1476" name="Google Shape;1476;p13"/>
          <p:cNvSpPr txBox="1"/>
          <p:nvPr/>
        </p:nvSpPr>
        <p:spPr>
          <a:xfrm>
            <a:off x="548640" y="449884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17</a:t>
            </a:r>
            <a:endParaRPr/>
          </a:p>
        </p:txBody>
      </p:sp>
      <p:sp>
        <p:nvSpPr>
          <p:cNvPr id="1477" name="Google Shape;1477;p13"/>
          <p:cNvSpPr txBox="1"/>
          <p:nvPr/>
        </p:nvSpPr>
        <p:spPr>
          <a:xfrm>
            <a:off x="914400" y="449884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252433643358</a:t>
            </a:r>
            <a:endParaRPr/>
          </a:p>
        </p:txBody>
      </p:sp>
      <p:sp>
        <p:nvSpPr>
          <p:cNvPr id="1478" name="Google Shape;1478;p13"/>
          <p:cNvSpPr txBox="1"/>
          <p:nvPr/>
        </p:nvSpPr>
        <p:spPr>
          <a:xfrm>
            <a:off x="1828800" y="4498848"/>
            <a:ext cx="297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Eagle National Insurance Services,</a:t>
            </a:r>
            <a:endParaRPr/>
          </a:p>
        </p:txBody>
      </p:sp>
      <p:sp>
        <p:nvSpPr>
          <p:cNvPr id="1479" name="Google Shape;1479;p13"/>
          <p:cNvSpPr txBox="1"/>
          <p:nvPr/>
        </p:nvSpPr>
        <p:spPr>
          <a:xfrm>
            <a:off x="4800600" y="44988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DIAZ&amp;CREW TRANSPORTATION LLC</a:t>
            </a:r>
            <a:endParaRPr/>
          </a:p>
        </p:txBody>
      </p:sp>
      <p:sp>
        <p:nvSpPr>
          <p:cNvPr id="1480" name="Google Shape;1480;p13"/>
          <p:cNvSpPr txBox="1"/>
          <p:nvPr/>
        </p:nvSpPr>
        <p:spPr>
          <a:xfrm>
            <a:off x="7635240" y="449884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Miguel Bilbao</a:t>
            </a:r>
            <a:endParaRPr/>
          </a:p>
        </p:txBody>
      </p:sp>
      <p:sp>
        <p:nvSpPr>
          <p:cNvPr id="1481" name="Google Shape;1481;p13"/>
          <p:cNvSpPr txBox="1"/>
          <p:nvPr/>
        </p:nvSpPr>
        <p:spPr>
          <a:xfrm>
            <a:off x="10012680" y="4498848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$43,117</a:t>
            </a:r>
            <a:endParaRPr/>
          </a:p>
        </p:txBody>
      </p:sp>
      <p:sp>
        <p:nvSpPr>
          <p:cNvPr id="1482" name="Google Shape;1482;p13"/>
          <p:cNvSpPr txBox="1"/>
          <p:nvPr/>
        </p:nvSpPr>
        <p:spPr>
          <a:xfrm>
            <a:off x="11338559" y="4498848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28, 2026</a:t>
            </a:r>
            <a:endParaRPr/>
          </a:p>
        </p:txBody>
      </p:sp>
      <p:sp>
        <p:nvSpPr>
          <p:cNvPr id="1483" name="Google Shape;1483;p13"/>
          <p:cNvSpPr/>
          <p:nvPr/>
        </p:nvSpPr>
        <p:spPr>
          <a:xfrm>
            <a:off x="457200" y="4681728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4" name="Google Shape;1484;p13"/>
          <p:cNvSpPr txBox="1"/>
          <p:nvPr/>
        </p:nvSpPr>
        <p:spPr>
          <a:xfrm>
            <a:off x="548640" y="4700016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18</a:t>
            </a:r>
            <a:endParaRPr/>
          </a:p>
        </p:txBody>
      </p:sp>
      <p:sp>
        <p:nvSpPr>
          <p:cNvPr id="1485" name="Google Shape;1485;p13"/>
          <p:cNvSpPr txBox="1"/>
          <p:nvPr/>
        </p:nvSpPr>
        <p:spPr>
          <a:xfrm>
            <a:off x="914400" y="4700016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267135186484</a:t>
            </a:r>
            <a:endParaRPr/>
          </a:p>
        </p:txBody>
      </p:sp>
      <p:sp>
        <p:nvSpPr>
          <p:cNvPr id="1486" name="Google Shape;1486;p13"/>
          <p:cNvSpPr txBox="1"/>
          <p:nvPr/>
        </p:nvSpPr>
        <p:spPr>
          <a:xfrm>
            <a:off x="1828800" y="4700016"/>
            <a:ext cx="297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Marble City Insurance</a:t>
            </a:r>
            <a:endParaRPr/>
          </a:p>
        </p:txBody>
      </p:sp>
      <p:sp>
        <p:nvSpPr>
          <p:cNvPr id="1487" name="Google Shape;1487;p13"/>
          <p:cNvSpPr txBox="1"/>
          <p:nvPr/>
        </p:nvSpPr>
        <p:spPr>
          <a:xfrm>
            <a:off x="4800600" y="4700016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Almaged Transportation LLC</a:t>
            </a:r>
            <a:endParaRPr/>
          </a:p>
        </p:txBody>
      </p:sp>
      <p:sp>
        <p:nvSpPr>
          <p:cNvPr id="1488" name="Google Shape;1488;p13"/>
          <p:cNvSpPr txBox="1"/>
          <p:nvPr/>
        </p:nvSpPr>
        <p:spPr>
          <a:xfrm>
            <a:off x="7635240" y="4700016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Harold Shealy</a:t>
            </a:r>
            <a:endParaRPr/>
          </a:p>
        </p:txBody>
      </p:sp>
      <p:sp>
        <p:nvSpPr>
          <p:cNvPr id="1489" name="Google Shape;1489;p13"/>
          <p:cNvSpPr txBox="1"/>
          <p:nvPr/>
        </p:nvSpPr>
        <p:spPr>
          <a:xfrm>
            <a:off x="10012680" y="4700016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$550</a:t>
            </a:r>
            <a:endParaRPr/>
          </a:p>
        </p:txBody>
      </p:sp>
      <p:sp>
        <p:nvSpPr>
          <p:cNvPr id="1490" name="Google Shape;1490;p13"/>
          <p:cNvSpPr txBox="1"/>
          <p:nvPr/>
        </p:nvSpPr>
        <p:spPr>
          <a:xfrm>
            <a:off x="11338559" y="4700016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28, 2026</a:t>
            </a:r>
            <a:endParaRPr/>
          </a:p>
        </p:txBody>
      </p:sp>
      <p:sp>
        <p:nvSpPr>
          <p:cNvPr id="1491" name="Google Shape;1491;p13"/>
          <p:cNvSpPr txBox="1"/>
          <p:nvPr/>
        </p:nvSpPr>
        <p:spPr>
          <a:xfrm>
            <a:off x="548640" y="4901184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</a:t>
            </a:r>
            <a:endParaRPr/>
          </a:p>
        </p:txBody>
      </p:sp>
      <p:sp>
        <p:nvSpPr>
          <p:cNvPr id="1492" name="Google Shape;1492;p13"/>
          <p:cNvSpPr txBox="1"/>
          <p:nvPr/>
        </p:nvSpPr>
        <p:spPr>
          <a:xfrm>
            <a:off x="914400" y="4901184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255636258141</a:t>
            </a:r>
            <a:endParaRPr/>
          </a:p>
        </p:txBody>
      </p:sp>
      <p:sp>
        <p:nvSpPr>
          <p:cNvPr id="1493" name="Google Shape;1493;p13"/>
          <p:cNvSpPr txBox="1"/>
          <p:nvPr/>
        </p:nvSpPr>
        <p:spPr>
          <a:xfrm>
            <a:off x="1828800" y="4901184"/>
            <a:ext cx="297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SINGH BROTHERS INSURANCE LLC</a:t>
            </a:r>
            <a:endParaRPr/>
          </a:p>
        </p:txBody>
      </p:sp>
      <p:sp>
        <p:nvSpPr>
          <p:cNvPr id="1494" name="Google Shape;1494;p13"/>
          <p:cNvSpPr txBox="1"/>
          <p:nvPr/>
        </p:nvSpPr>
        <p:spPr>
          <a:xfrm>
            <a:off x="4800600" y="4901184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SAMAR TRANS INC</a:t>
            </a:r>
            <a:endParaRPr/>
          </a:p>
        </p:txBody>
      </p:sp>
      <p:sp>
        <p:nvSpPr>
          <p:cNvPr id="1495" name="Google Shape;1495;p13"/>
          <p:cNvSpPr txBox="1"/>
          <p:nvPr/>
        </p:nvSpPr>
        <p:spPr>
          <a:xfrm>
            <a:off x="7635240" y="4901184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Tejinder Singh</a:t>
            </a:r>
            <a:endParaRPr/>
          </a:p>
        </p:txBody>
      </p:sp>
      <p:sp>
        <p:nvSpPr>
          <p:cNvPr id="1496" name="Google Shape;1496;p13"/>
          <p:cNvSpPr txBox="1"/>
          <p:nvPr/>
        </p:nvSpPr>
        <p:spPr>
          <a:xfrm>
            <a:off x="10012680" y="4901184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$28,647</a:t>
            </a:r>
            <a:endParaRPr/>
          </a:p>
        </p:txBody>
      </p:sp>
      <p:sp>
        <p:nvSpPr>
          <p:cNvPr id="1497" name="Google Shape;1497;p13"/>
          <p:cNvSpPr txBox="1"/>
          <p:nvPr/>
        </p:nvSpPr>
        <p:spPr>
          <a:xfrm>
            <a:off x="11338559" y="4901184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28, 2026</a:t>
            </a:r>
            <a:endParaRPr/>
          </a:p>
        </p:txBody>
      </p:sp>
      <p:sp>
        <p:nvSpPr>
          <p:cNvPr id="1498" name="Google Shape;1498;p13"/>
          <p:cNvSpPr/>
          <p:nvPr/>
        </p:nvSpPr>
        <p:spPr>
          <a:xfrm>
            <a:off x="457200" y="5084064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9" name="Google Shape;1499;p13"/>
          <p:cNvSpPr txBox="1"/>
          <p:nvPr/>
        </p:nvSpPr>
        <p:spPr>
          <a:xfrm>
            <a:off x="548640" y="510235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</a:t>
            </a:r>
            <a:endParaRPr/>
          </a:p>
        </p:txBody>
      </p:sp>
      <p:sp>
        <p:nvSpPr>
          <p:cNvPr id="1500" name="Google Shape;1500;p13"/>
          <p:cNvSpPr txBox="1"/>
          <p:nvPr/>
        </p:nvSpPr>
        <p:spPr>
          <a:xfrm>
            <a:off x="914400" y="510235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250567089767</a:t>
            </a:r>
            <a:endParaRPr/>
          </a:p>
        </p:txBody>
      </p:sp>
      <p:sp>
        <p:nvSpPr>
          <p:cNvPr id="1501" name="Google Shape;1501;p13"/>
          <p:cNvSpPr txBox="1"/>
          <p:nvPr/>
        </p:nvSpPr>
        <p:spPr>
          <a:xfrm>
            <a:off x="1828800" y="5102352"/>
            <a:ext cx="297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Insurance4truckers Llc</a:t>
            </a:r>
            <a:endParaRPr/>
          </a:p>
        </p:txBody>
      </p:sp>
      <p:sp>
        <p:nvSpPr>
          <p:cNvPr id="1502" name="Google Shape;1502;p13"/>
          <p:cNvSpPr txBox="1"/>
          <p:nvPr/>
        </p:nvSpPr>
        <p:spPr>
          <a:xfrm>
            <a:off x="4800600" y="5102352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ALITRANS LLC</a:t>
            </a:r>
            <a:endParaRPr/>
          </a:p>
        </p:txBody>
      </p:sp>
      <p:sp>
        <p:nvSpPr>
          <p:cNvPr id="1503" name="Google Shape;1503;p13"/>
          <p:cNvSpPr txBox="1"/>
          <p:nvPr/>
        </p:nvSpPr>
        <p:spPr>
          <a:xfrm>
            <a:off x="7635240" y="5102352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Michael Judd</a:t>
            </a:r>
            <a:endParaRPr/>
          </a:p>
        </p:txBody>
      </p:sp>
      <p:sp>
        <p:nvSpPr>
          <p:cNvPr id="1504" name="Google Shape;1504;p13"/>
          <p:cNvSpPr txBox="1"/>
          <p:nvPr/>
        </p:nvSpPr>
        <p:spPr>
          <a:xfrm>
            <a:off x="10012680" y="5102352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$21,592</a:t>
            </a:r>
            <a:endParaRPr/>
          </a:p>
        </p:txBody>
      </p:sp>
      <p:sp>
        <p:nvSpPr>
          <p:cNvPr id="1505" name="Google Shape;1505;p13"/>
          <p:cNvSpPr txBox="1"/>
          <p:nvPr/>
        </p:nvSpPr>
        <p:spPr>
          <a:xfrm>
            <a:off x="11338559" y="5102352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27, 2026</a:t>
            </a:r>
            <a:endParaRPr/>
          </a:p>
        </p:txBody>
      </p:sp>
      <p:sp>
        <p:nvSpPr>
          <p:cNvPr id="1506" name="Google Shape;1506;p13"/>
          <p:cNvSpPr txBox="1"/>
          <p:nvPr/>
        </p:nvSpPr>
        <p:spPr>
          <a:xfrm>
            <a:off x="548640" y="530352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</a:t>
            </a:r>
            <a:endParaRPr/>
          </a:p>
        </p:txBody>
      </p:sp>
      <p:sp>
        <p:nvSpPr>
          <p:cNvPr id="1507" name="Google Shape;1507;p13"/>
          <p:cNvSpPr txBox="1"/>
          <p:nvPr/>
        </p:nvSpPr>
        <p:spPr>
          <a:xfrm>
            <a:off x="914400" y="53035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266201739352</a:t>
            </a:r>
            <a:endParaRPr/>
          </a:p>
        </p:txBody>
      </p:sp>
      <p:sp>
        <p:nvSpPr>
          <p:cNvPr id="1508" name="Google Shape;1508;p13"/>
          <p:cNvSpPr txBox="1"/>
          <p:nvPr/>
        </p:nvSpPr>
        <p:spPr>
          <a:xfrm>
            <a:off x="1828800" y="5303520"/>
            <a:ext cx="297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Insurance4truckers Llc</a:t>
            </a:r>
            <a:endParaRPr/>
          </a:p>
        </p:txBody>
      </p:sp>
      <p:sp>
        <p:nvSpPr>
          <p:cNvPr id="1509" name="Google Shape;1509;p13"/>
          <p:cNvSpPr txBox="1"/>
          <p:nvPr/>
        </p:nvSpPr>
        <p:spPr>
          <a:xfrm>
            <a:off x="4800600" y="5303520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ABSOLUTE BEST TRANSPORTATION LLC</a:t>
            </a:r>
            <a:endParaRPr/>
          </a:p>
        </p:txBody>
      </p:sp>
      <p:sp>
        <p:nvSpPr>
          <p:cNvPr id="1510" name="Google Shape;1510;p13"/>
          <p:cNvSpPr txBox="1"/>
          <p:nvPr/>
        </p:nvSpPr>
        <p:spPr>
          <a:xfrm>
            <a:off x="7635240" y="530352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James Painter</a:t>
            </a:r>
            <a:endParaRPr/>
          </a:p>
        </p:txBody>
      </p:sp>
      <p:sp>
        <p:nvSpPr>
          <p:cNvPr id="1511" name="Google Shape;1511;p13"/>
          <p:cNvSpPr txBox="1"/>
          <p:nvPr/>
        </p:nvSpPr>
        <p:spPr>
          <a:xfrm>
            <a:off x="10012680" y="5303520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$550</a:t>
            </a:r>
            <a:endParaRPr/>
          </a:p>
        </p:txBody>
      </p:sp>
      <p:sp>
        <p:nvSpPr>
          <p:cNvPr id="1512" name="Google Shape;1512;p13"/>
          <p:cNvSpPr txBox="1"/>
          <p:nvPr/>
        </p:nvSpPr>
        <p:spPr>
          <a:xfrm>
            <a:off x="11338559" y="5303520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27, 2026</a:t>
            </a:r>
            <a:endParaRPr/>
          </a:p>
        </p:txBody>
      </p:sp>
      <p:sp>
        <p:nvSpPr>
          <p:cNvPr id="1513" name="Google Shape;1513;p13"/>
          <p:cNvSpPr/>
          <p:nvPr/>
        </p:nvSpPr>
        <p:spPr>
          <a:xfrm>
            <a:off x="457200" y="5486400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4" name="Google Shape;1514;p13"/>
          <p:cNvSpPr txBox="1"/>
          <p:nvPr/>
        </p:nvSpPr>
        <p:spPr>
          <a:xfrm>
            <a:off x="548640" y="550468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22</a:t>
            </a:r>
            <a:endParaRPr/>
          </a:p>
        </p:txBody>
      </p:sp>
      <p:sp>
        <p:nvSpPr>
          <p:cNvPr id="1515" name="Google Shape;1515;p13"/>
          <p:cNvSpPr txBox="1"/>
          <p:nvPr/>
        </p:nvSpPr>
        <p:spPr>
          <a:xfrm>
            <a:off x="914400" y="550468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250259777795</a:t>
            </a:r>
            <a:endParaRPr/>
          </a:p>
        </p:txBody>
      </p:sp>
      <p:sp>
        <p:nvSpPr>
          <p:cNvPr id="1516" name="Google Shape;1516;p13"/>
          <p:cNvSpPr txBox="1"/>
          <p:nvPr/>
        </p:nvSpPr>
        <p:spPr>
          <a:xfrm>
            <a:off x="1828800" y="5504688"/>
            <a:ext cx="297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Insurance4truckers Llc</a:t>
            </a:r>
            <a:endParaRPr/>
          </a:p>
        </p:txBody>
      </p:sp>
      <p:sp>
        <p:nvSpPr>
          <p:cNvPr id="1517" name="Google Shape;1517;p13"/>
          <p:cNvSpPr txBox="1"/>
          <p:nvPr/>
        </p:nvSpPr>
        <p:spPr>
          <a:xfrm>
            <a:off x="4800600" y="550468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LATTE TRUCKING LLC</a:t>
            </a:r>
            <a:endParaRPr/>
          </a:p>
        </p:txBody>
      </p:sp>
      <p:sp>
        <p:nvSpPr>
          <p:cNvPr id="1518" name="Google Shape;1518;p13"/>
          <p:cNvSpPr txBox="1"/>
          <p:nvPr/>
        </p:nvSpPr>
        <p:spPr>
          <a:xfrm>
            <a:off x="7635240" y="550468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Michael Judd</a:t>
            </a:r>
            <a:endParaRPr/>
          </a:p>
        </p:txBody>
      </p:sp>
      <p:sp>
        <p:nvSpPr>
          <p:cNvPr id="1519" name="Google Shape;1519;p13"/>
          <p:cNvSpPr txBox="1"/>
          <p:nvPr/>
        </p:nvSpPr>
        <p:spPr>
          <a:xfrm>
            <a:off x="10012680" y="5504688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$17,411</a:t>
            </a:r>
            <a:endParaRPr/>
          </a:p>
        </p:txBody>
      </p:sp>
      <p:sp>
        <p:nvSpPr>
          <p:cNvPr id="1520" name="Google Shape;1520;p13"/>
          <p:cNvSpPr txBox="1"/>
          <p:nvPr/>
        </p:nvSpPr>
        <p:spPr>
          <a:xfrm>
            <a:off x="11338559" y="5504688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27, 2026</a:t>
            </a:r>
            <a:endParaRPr/>
          </a:p>
        </p:txBody>
      </p:sp>
      <p:sp>
        <p:nvSpPr>
          <p:cNvPr id="1521" name="Google Shape;1521;p13"/>
          <p:cNvSpPr txBox="1"/>
          <p:nvPr/>
        </p:nvSpPr>
        <p:spPr>
          <a:xfrm>
            <a:off x="548640" y="5705856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23</a:t>
            </a:r>
            <a:endParaRPr/>
          </a:p>
        </p:txBody>
      </p:sp>
      <p:sp>
        <p:nvSpPr>
          <p:cNvPr id="1522" name="Google Shape;1522;p13"/>
          <p:cNvSpPr txBox="1"/>
          <p:nvPr/>
        </p:nvSpPr>
        <p:spPr>
          <a:xfrm>
            <a:off x="914400" y="5705856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257449003320</a:t>
            </a:r>
            <a:endParaRPr/>
          </a:p>
        </p:txBody>
      </p:sp>
      <p:sp>
        <p:nvSpPr>
          <p:cNvPr id="1523" name="Google Shape;1523;p13"/>
          <p:cNvSpPr txBox="1"/>
          <p:nvPr/>
        </p:nvSpPr>
        <p:spPr>
          <a:xfrm>
            <a:off x="1828800" y="5705856"/>
            <a:ext cx="297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Usa Specialty Insurance/dba Preven</a:t>
            </a:r>
            <a:endParaRPr/>
          </a:p>
        </p:txBody>
      </p:sp>
      <p:sp>
        <p:nvSpPr>
          <p:cNvPr id="1524" name="Google Shape;1524;p13"/>
          <p:cNvSpPr txBox="1"/>
          <p:nvPr/>
        </p:nvSpPr>
        <p:spPr>
          <a:xfrm>
            <a:off x="4800600" y="5705856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PAEZ HEAVY LOADS LLC</a:t>
            </a:r>
            <a:endParaRPr/>
          </a:p>
        </p:txBody>
      </p:sp>
      <p:sp>
        <p:nvSpPr>
          <p:cNvPr id="1525" name="Google Shape;1525;p13"/>
          <p:cNvSpPr txBox="1"/>
          <p:nvPr/>
        </p:nvSpPr>
        <p:spPr>
          <a:xfrm>
            <a:off x="7635240" y="5705856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John Medina</a:t>
            </a:r>
            <a:endParaRPr/>
          </a:p>
        </p:txBody>
      </p:sp>
      <p:sp>
        <p:nvSpPr>
          <p:cNvPr id="1526" name="Google Shape;1526;p13"/>
          <p:cNvSpPr txBox="1"/>
          <p:nvPr/>
        </p:nvSpPr>
        <p:spPr>
          <a:xfrm>
            <a:off x="10012680" y="5705856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$21,695</a:t>
            </a:r>
            <a:endParaRPr/>
          </a:p>
        </p:txBody>
      </p:sp>
      <p:sp>
        <p:nvSpPr>
          <p:cNvPr id="1527" name="Google Shape;1527;p13"/>
          <p:cNvSpPr txBox="1"/>
          <p:nvPr/>
        </p:nvSpPr>
        <p:spPr>
          <a:xfrm>
            <a:off x="11338559" y="5705856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27, 2026</a:t>
            </a:r>
            <a:endParaRPr/>
          </a:p>
        </p:txBody>
      </p:sp>
      <p:sp>
        <p:nvSpPr>
          <p:cNvPr id="1528" name="Google Shape;1528;p13"/>
          <p:cNvSpPr/>
          <p:nvPr/>
        </p:nvSpPr>
        <p:spPr>
          <a:xfrm>
            <a:off x="457200" y="5888736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9" name="Google Shape;1529;p13"/>
          <p:cNvSpPr txBox="1"/>
          <p:nvPr/>
        </p:nvSpPr>
        <p:spPr>
          <a:xfrm>
            <a:off x="548640" y="5907024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24</a:t>
            </a:r>
            <a:endParaRPr/>
          </a:p>
        </p:txBody>
      </p:sp>
      <p:sp>
        <p:nvSpPr>
          <p:cNvPr id="1530" name="Google Shape;1530;p13"/>
          <p:cNvSpPr txBox="1"/>
          <p:nvPr/>
        </p:nvSpPr>
        <p:spPr>
          <a:xfrm>
            <a:off x="914400" y="5907024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262827112996</a:t>
            </a:r>
            <a:endParaRPr/>
          </a:p>
        </p:txBody>
      </p:sp>
      <p:sp>
        <p:nvSpPr>
          <p:cNvPr id="1531" name="Google Shape;1531;p13"/>
          <p:cNvSpPr txBox="1"/>
          <p:nvPr/>
        </p:nvSpPr>
        <p:spPr>
          <a:xfrm>
            <a:off x="1828800" y="5907024"/>
            <a:ext cx="297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Marble City Insurance</a:t>
            </a:r>
            <a:endParaRPr/>
          </a:p>
        </p:txBody>
      </p:sp>
      <p:sp>
        <p:nvSpPr>
          <p:cNvPr id="1532" name="Google Shape;1532;p13"/>
          <p:cNvSpPr txBox="1"/>
          <p:nvPr/>
        </p:nvSpPr>
        <p:spPr>
          <a:xfrm>
            <a:off x="4800600" y="5907024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Yousef Saleha Ahmed Al Gholi</a:t>
            </a:r>
            <a:endParaRPr/>
          </a:p>
        </p:txBody>
      </p:sp>
      <p:sp>
        <p:nvSpPr>
          <p:cNvPr id="1533" name="Google Shape;1533;p13"/>
          <p:cNvSpPr txBox="1"/>
          <p:nvPr/>
        </p:nvSpPr>
        <p:spPr>
          <a:xfrm>
            <a:off x="7635240" y="5907024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Tracy Gough</a:t>
            </a:r>
            <a:endParaRPr/>
          </a:p>
        </p:txBody>
      </p:sp>
      <p:sp>
        <p:nvSpPr>
          <p:cNvPr id="1534" name="Google Shape;1534;p13"/>
          <p:cNvSpPr txBox="1"/>
          <p:nvPr/>
        </p:nvSpPr>
        <p:spPr>
          <a:xfrm>
            <a:off x="10012680" y="5907024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$550</a:t>
            </a:r>
            <a:endParaRPr/>
          </a:p>
        </p:txBody>
      </p:sp>
      <p:sp>
        <p:nvSpPr>
          <p:cNvPr id="1535" name="Google Shape;1535;p13"/>
          <p:cNvSpPr txBox="1"/>
          <p:nvPr/>
        </p:nvSpPr>
        <p:spPr>
          <a:xfrm>
            <a:off x="11338559" y="5907024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27, 2026</a:t>
            </a:r>
            <a:endParaRPr/>
          </a:p>
        </p:txBody>
      </p:sp>
      <p:sp>
        <p:nvSpPr>
          <p:cNvPr id="1536" name="Google Shape;1536;p13"/>
          <p:cNvSpPr txBox="1"/>
          <p:nvPr/>
        </p:nvSpPr>
        <p:spPr>
          <a:xfrm>
            <a:off x="548640" y="610819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</a:t>
            </a:r>
            <a:endParaRPr/>
          </a:p>
        </p:txBody>
      </p:sp>
      <p:sp>
        <p:nvSpPr>
          <p:cNvPr id="1537" name="Google Shape;1537;p13"/>
          <p:cNvSpPr txBox="1"/>
          <p:nvPr/>
        </p:nvSpPr>
        <p:spPr>
          <a:xfrm>
            <a:off x="914400" y="610819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269927268648</a:t>
            </a:r>
            <a:endParaRPr/>
          </a:p>
        </p:txBody>
      </p:sp>
      <p:sp>
        <p:nvSpPr>
          <p:cNvPr id="1538" name="Google Shape;1538;p13"/>
          <p:cNvSpPr txBox="1"/>
          <p:nvPr/>
        </p:nvSpPr>
        <p:spPr>
          <a:xfrm>
            <a:off x="1828800" y="6108192"/>
            <a:ext cx="297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Marble City Insurance</a:t>
            </a:r>
            <a:endParaRPr/>
          </a:p>
        </p:txBody>
      </p:sp>
      <p:sp>
        <p:nvSpPr>
          <p:cNvPr id="1539" name="Google Shape;1539;p13"/>
          <p:cNvSpPr txBox="1"/>
          <p:nvPr/>
        </p:nvSpPr>
        <p:spPr>
          <a:xfrm>
            <a:off x="4800600" y="6108192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Khidir Saad Abdelrhman Mohammed</a:t>
            </a:r>
            <a:endParaRPr/>
          </a:p>
        </p:txBody>
      </p:sp>
      <p:sp>
        <p:nvSpPr>
          <p:cNvPr id="1540" name="Google Shape;1540;p13"/>
          <p:cNvSpPr txBox="1"/>
          <p:nvPr/>
        </p:nvSpPr>
        <p:spPr>
          <a:xfrm>
            <a:off x="7635240" y="6108192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Tracy Gough</a:t>
            </a:r>
            <a:endParaRPr/>
          </a:p>
        </p:txBody>
      </p:sp>
      <p:sp>
        <p:nvSpPr>
          <p:cNvPr id="1541" name="Google Shape;1541;p13"/>
          <p:cNvSpPr txBox="1"/>
          <p:nvPr/>
        </p:nvSpPr>
        <p:spPr>
          <a:xfrm>
            <a:off x="10012680" y="6108192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$550</a:t>
            </a:r>
            <a:endParaRPr/>
          </a:p>
        </p:txBody>
      </p:sp>
      <p:sp>
        <p:nvSpPr>
          <p:cNvPr id="1542" name="Google Shape;1542;p13"/>
          <p:cNvSpPr txBox="1"/>
          <p:nvPr/>
        </p:nvSpPr>
        <p:spPr>
          <a:xfrm>
            <a:off x="11338559" y="6108192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27, 2026</a:t>
            </a:r>
            <a:endParaRPr/>
          </a:p>
        </p:txBody>
      </p:sp>
      <p:sp>
        <p:nvSpPr>
          <p:cNvPr id="1543" name="Google Shape;1543;p13"/>
          <p:cNvSpPr/>
          <p:nvPr/>
        </p:nvSpPr>
        <p:spPr>
          <a:xfrm>
            <a:off x="548640" y="6345936"/>
            <a:ext cx="11155680" cy="10972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4" name="Google Shape;1544;p13"/>
          <p:cNvSpPr txBox="1"/>
          <p:nvPr/>
        </p:nvSpPr>
        <p:spPr>
          <a:xfrm>
            <a:off x="548640" y="6400800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Total (Last 25 Submissions)</a:t>
            </a:r>
            <a:endParaRPr/>
          </a:p>
        </p:txBody>
      </p:sp>
      <p:sp>
        <p:nvSpPr>
          <p:cNvPr id="1545" name="Google Shape;1545;p13"/>
          <p:cNvSpPr txBox="1"/>
          <p:nvPr/>
        </p:nvSpPr>
        <p:spPr>
          <a:xfrm>
            <a:off x="8412480" y="640080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$977,380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9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p14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1" name="Google Shape;1551;p14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 Watch — Next 90 Days</a:t>
            </a:r>
            <a:endParaRPr/>
          </a:p>
        </p:txBody>
      </p:sp>
      <p:sp>
        <p:nvSpPr>
          <p:cNvPr id="1552" name="Google Shape;1552;p14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4B5F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Ron Douglas  |  Active in-force policies expiring through Aug 30, 2026</a:t>
            </a:r>
            <a:endParaRPr/>
          </a:p>
        </p:txBody>
      </p:sp>
      <p:sp>
        <p:nvSpPr>
          <p:cNvPr id="1553" name="Google Shape;1553;p14"/>
          <p:cNvSpPr/>
          <p:nvPr/>
        </p:nvSpPr>
        <p:spPr>
          <a:xfrm>
            <a:off x="365760" y="960120"/>
            <a:ext cx="2286000" cy="86868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223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POLICIES UP</a:t>
            </a:r>
            <a:endParaRPr/>
          </a:p>
        </p:txBody>
      </p:sp>
      <p:sp>
        <p:nvSpPr>
          <p:cNvPr id="1554" name="Google Shape;1554;p14"/>
          <p:cNvSpPr/>
          <p:nvPr/>
        </p:nvSpPr>
        <p:spPr>
          <a:xfrm>
            <a:off x="2743200" y="960120"/>
            <a:ext cx="2286000" cy="86868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$3,061,047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TOTAL PREMIUM AT RISK</a:t>
            </a:r>
            <a:endParaRPr/>
          </a:p>
        </p:txBody>
      </p:sp>
      <p:sp>
        <p:nvSpPr>
          <p:cNvPr id="1555" name="Google Shape;1555;p14"/>
          <p:cNvSpPr/>
          <p:nvPr/>
        </p:nvSpPr>
        <p:spPr>
          <a:xfrm>
            <a:off x="5120640" y="960120"/>
            <a:ext cx="2286000" cy="86868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EXPIRE ≤30 DAYS</a:t>
            </a:r>
            <a:endParaRPr/>
          </a:p>
        </p:txBody>
      </p:sp>
      <p:sp>
        <p:nvSpPr>
          <p:cNvPr id="1556" name="Google Shape;1556;p14"/>
          <p:cNvSpPr/>
          <p:nvPr/>
        </p:nvSpPr>
        <p:spPr>
          <a:xfrm>
            <a:off x="7498079" y="960120"/>
            <a:ext cx="2286000" cy="86868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31-60 DAYS</a:t>
            </a:r>
            <a:endParaRPr/>
          </a:p>
        </p:txBody>
      </p:sp>
      <p:sp>
        <p:nvSpPr>
          <p:cNvPr id="1557" name="Google Shape;1557;p14"/>
          <p:cNvSpPr/>
          <p:nvPr/>
        </p:nvSpPr>
        <p:spPr>
          <a:xfrm>
            <a:off x="9875520" y="960120"/>
            <a:ext cx="2286000" cy="86868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61-90 DAYS</a:t>
            </a:r>
            <a:endParaRPr/>
          </a:p>
        </p:txBody>
      </p:sp>
      <p:sp>
        <p:nvSpPr>
          <p:cNvPr id="1558" name="Google Shape;1558;p14"/>
          <p:cNvSpPr/>
          <p:nvPr/>
        </p:nvSpPr>
        <p:spPr>
          <a:xfrm>
            <a:off x="365760" y="1993392"/>
            <a:ext cx="11430000" cy="27432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9" name="Google Shape;1559;p14"/>
          <p:cNvSpPr txBox="1"/>
          <p:nvPr/>
        </p:nvSpPr>
        <p:spPr>
          <a:xfrm>
            <a:off x="475488" y="2029968"/>
            <a:ext cx="11247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POLICIES EXPIRING (sorted by date — earliest first)</a:t>
            </a:r>
            <a:endParaRPr/>
          </a:p>
        </p:txBody>
      </p:sp>
      <p:sp>
        <p:nvSpPr>
          <p:cNvPr id="1560" name="Google Shape;1560;p14"/>
          <p:cNvSpPr txBox="1"/>
          <p:nvPr/>
        </p:nvSpPr>
        <p:spPr>
          <a:xfrm>
            <a:off x="365760" y="2359152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Agency</a:t>
            </a:r>
            <a:endParaRPr/>
          </a:p>
        </p:txBody>
      </p:sp>
      <p:sp>
        <p:nvSpPr>
          <p:cNvPr id="1561" name="Google Shape;1561;p14"/>
          <p:cNvSpPr txBox="1"/>
          <p:nvPr/>
        </p:nvSpPr>
        <p:spPr>
          <a:xfrm>
            <a:off x="2743200" y="2359152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 #</a:t>
            </a:r>
            <a:endParaRPr/>
          </a:p>
        </p:txBody>
      </p:sp>
      <p:sp>
        <p:nvSpPr>
          <p:cNvPr id="1562" name="Google Shape;1562;p14"/>
          <p:cNvSpPr txBox="1"/>
          <p:nvPr/>
        </p:nvSpPr>
        <p:spPr>
          <a:xfrm>
            <a:off x="3931920" y="2359152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Insured</a:t>
            </a:r>
            <a:endParaRPr/>
          </a:p>
        </p:txBody>
      </p:sp>
      <p:sp>
        <p:nvSpPr>
          <p:cNvPr id="1563" name="Google Shape;1563;p14"/>
          <p:cNvSpPr txBox="1"/>
          <p:nvPr/>
        </p:nvSpPr>
        <p:spPr>
          <a:xfrm>
            <a:off x="6949440" y="2359152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Exp Date</a:t>
            </a:r>
            <a:endParaRPr/>
          </a:p>
        </p:txBody>
      </p:sp>
      <p:sp>
        <p:nvSpPr>
          <p:cNvPr id="1564" name="Google Shape;1564;p14"/>
          <p:cNvSpPr txBox="1"/>
          <p:nvPr/>
        </p:nvSpPr>
        <p:spPr>
          <a:xfrm>
            <a:off x="7955279" y="2359152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Days</a:t>
            </a:r>
            <a:endParaRPr/>
          </a:p>
        </p:txBody>
      </p:sp>
      <p:sp>
        <p:nvSpPr>
          <p:cNvPr id="1565" name="Google Shape;1565;p14"/>
          <p:cNvSpPr txBox="1"/>
          <p:nvPr/>
        </p:nvSpPr>
        <p:spPr>
          <a:xfrm>
            <a:off x="8458200" y="2359152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Coverage</a:t>
            </a:r>
            <a:endParaRPr/>
          </a:p>
        </p:txBody>
      </p:sp>
      <p:sp>
        <p:nvSpPr>
          <p:cNvPr id="1566" name="Google Shape;1566;p14"/>
          <p:cNvSpPr txBox="1"/>
          <p:nvPr/>
        </p:nvSpPr>
        <p:spPr>
          <a:xfrm>
            <a:off x="9555480" y="2359152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GWP</a:t>
            </a:r>
            <a:endParaRPr/>
          </a:p>
        </p:txBody>
      </p:sp>
      <p:sp>
        <p:nvSpPr>
          <p:cNvPr id="1567" name="Google Shape;1567;p14"/>
          <p:cNvSpPr txBox="1"/>
          <p:nvPr/>
        </p:nvSpPr>
        <p:spPr>
          <a:xfrm>
            <a:off x="10881359" y="2359152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State</a:t>
            </a:r>
            <a:endParaRPr/>
          </a:p>
        </p:txBody>
      </p:sp>
      <p:sp>
        <p:nvSpPr>
          <p:cNvPr id="1568" name="Google Shape;1568;p14"/>
          <p:cNvSpPr/>
          <p:nvPr/>
        </p:nvSpPr>
        <p:spPr>
          <a:xfrm>
            <a:off x="365760" y="2633472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9" name="Google Shape;1569;p14"/>
          <p:cNvSpPr txBox="1"/>
          <p:nvPr/>
        </p:nvSpPr>
        <p:spPr>
          <a:xfrm>
            <a:off x="365760" y="267004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Prestige International Insuran</a:t>
            </a:r>
            <a:endParaRPr/>
          </a:p>
        </p:txBody>
      </p:sp>
      <p:sp>
        <p:nvSpPr>
          <p:cNvPr id="1570" name="Google Shape;1570;p14"/>
          <p:cNvSpPr txBox="1"/>
          <p:nvPr/>
        </p:nvSpPr>
        <p:spPr>
          <a:xfrm>
            <a:off x="2743200" y="267004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253029491205</a:t>
            </a:r>
            <a:endParaRPr/>
          </a:p>
        </p:txBody>
      </p:sp>
      <p:sp>
        <p:nvSpPr>
          <p:cNvPr id="1571" name="Google Shape;1571;p14"/>
          <p:cNvSpPr txBox="1"/>
          <p:nvPr/>
        </p:nvSpPr>
        <p:spPr>
          <a:xfrm>
            <a:off x="3931920" y="267004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VIGIA INVESTMENT TRUCKS AND FREIGHT LLC</a:t>
            </a:r>
            <a:endParaRPr/>
          </a:p>
        </p:txBody>
      </p:sp>
      <p:sp>
        <p:nvSpPr>
          <p:cNvPr id="1572" name="Google Shape;1572;p14"/>
          <p:cNvSpPr txBox="1"/>
          <p:nvPr/>
        </p:nvSpPr>
        <p:spPr>
          <a:xfrm>
            <a:off x="6949440" y="2670048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2026-06-02</a:t>
            </a:r>
            <a:endParaRPr/>
          </a:p>
        </p:txBody>
      </p:sp>
      <p:sp>
        <p:nvSpPr>
          <p:cNvPr id="1573" name="Google Shape;1573;p14"/>
          <p:cNvSpPr txBox="1"/>
          <p:nvPr/>
        </p:nvSpPr>
        <p:spPr>
          <a:xfrm>
            <a:off x="7955279" y="267004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1d</a:t>
            </a:r>
            <a:endParaRPr/>
          </a:p>
        </p:txBody>
      </p:sp>
      <p:sp>
        <p:nvSpPr>
          <p:cNvPr id="1574" name="Google Shape;1574;p14"/>
          <p:cNvSpPr txBox="1"/>
          <p:nvPr/>
        </p:nvSpPr>
        <p:spPr>
          <a:xfrm>
            <a:off x="8458200" y="267004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</a:t>
            </a:r>
            <a:endParaRPr/>
          </a:p>
        </p:txBody>
      </p:sp>
      <p:sp>
        <p:nvSpPr>
          <p:cNvPr id="1575" name="Google Shape;1575;p14"/>
          <p:cNvSpPr txBox="1"/>
          <p:nvPr/>
        </p:nvSpPr>
        <p:spPr>
          <a:xfrm>
            <a:off x="9555480" y="2670048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$18,810</a:t>
            </a:r>
            <a:endParaRPr/>
          </a:p>
        </p:txBody>
      </p:sp>
      <p:sp>
        <p:nvSpPr>
          <p:cNvPr id="1576" name="Google Shape;1576;p14"/>
          <p:cNvSpPr txBox="1"/>
          <p:nvPr/>
        </p:nvSpPr>
        <p:spPr>
          <a:xfrm>
            <a:off x="10881359" y="267004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</a:t>
            </a:r>
            <a:endParaRPr/>
          </a:p>
        </p:txBody>
      </p:sp>
      <p:sp>
        <p:nvSpPr>
          <p:cNvPr id="1577" name="Google Shape;1577;p14"/>
          <p:cNvSpPr txBox="1"/>
          <p:nvPr/>
        </p:nvSpPr>
        <p:spPr>
          <a:xfrm>
            <a:off x="365760" y="2980944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Usa Specialty Insurance/dba Pr</a:t>
            </a:r>
            <a:endParaRPr/>
          </a:p>
        </p:txBody>
      </p:sp>
      <p:sp>
        <p:nvSpPr>
          <p:cNvPr id="1578" name="Google Shape;1578;p14"/>
          <p:cNvSpPr txBox="1"/>
          <p:nvPr/>
        </p:nvSpPr>
        <p:spPr>
          <a:xfrm>
            <a:off x="2743200" y="2980944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255768834684</a:t>
            </a:r>
            <a:endParaRPr/>
          </a:p>
        </p:txBody>
      </p:sp>
      <p:sp>
        <p:nvSpPr>
          <p:cNvPr id="1579" name="Google Shape;1579;p14"/>
          <p:cNvSpPr txBox="1"/>
          <p:nvPr/>
        </p:nvSpPr>
        <p:spPr>
          <a:xfrm>
            <a:off x="3931920" y="2980944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GLOBAL TRANSPORT FREIGHT LLC</a:t>
            </a:r>
            <a:endParaRPr/>
          </a:p>
        </p:txBody>
      </p:sp>
      <p:sp>
        <p:nvSpPr>
          <p:cNvPr id="1580" name="Google Shape;1580;p14"/>
          <p:cNvSpPr txBox="1"/>
          <p:nvPr/>
        </p:nvSpPr>
        <p:spPr>
          <a:xfrm>
            <a:off x="6949440" y="2980944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2026-06-03</a:t>
            </a:r>
            <a:endParaRPr/>
          </a:p>
        </p:txBody>
      </p:sp>
      <p:sp>
        <p:nvSpPr>
          <p:cNvPr id="1581" name="Google Shape;1581;p14"/>
          <p:cNvSpPr txBox="1"/>
          <p:nvPr/>
        </p:nvSpPr>
        <p:spPr>
          <a:xfrm>
            <a:off x="7955279" y="2980944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2d</a:t>
            </a:r>
            <a:endParaRPr/>
          </a:p>
        </p:txBody>
      </p:sp>
      <p:sp>
        <p:nvSpPr>
          <p:cNvPr id="1582" name="Google Shape;1582;p14"/>
          <p:cNvSpPr txBox="1"/>
          <p:nvPr/>
        </p:nvSpPr>
        <p:spPr>
          <a:xfrm>
            <a:off x="8458200" y="2980944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</a:t>
            </a:r>
            <a:endParaRPr/>
          </a:p>
        </p:txBody>
      </p:sp>
      <p:sp>
        <p:nvSpPr>
          <p:cNvPr id="1583" name="Google Shape;1583;p14"/>
          <p:cNvSpPr txBox="1"/>
          <p:nvPr/>
        </p:nvSpPr>
        <p:spPr>
          <a:xfrm>
            <a:off x="9555480" y="2980944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$852</a:t>
            </a:r>
            <a:endParaRPr/>
          </a:p>
        </p:txBody>
      </p:sp>
      <p:sp>
        <p:nvSpPr>
          <p:cNvPr id="1584" name="Google Shape;1584;p14"/>
          <p:cNvSpPr txBox="1"/>
          <p:nvPr/>
        </p:nvSpPr>
        <p:spPr>
          <a:xfrm>
            <a:off x="10881359" y="2980944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TX</a:t>
            </a:r>
            <a:endParaRPr/>
          </a:p>
        </p:txBody>
      </p:sp>
      <p:sp>
        <p:nvSpPr>
          <p:cNvPr id="1585" name="Google Shape;1585;p14"/>
          <p:cNvSpPr/>
          <p:nvPr/>
        </p:nvSpPr>
        <p:spPr>
          <a:xfrm>
            <a:off x="365760" y="3255263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6" name="Google Shape;1586;p14"/>
          <p:cNvSpPr txBox="1"/>
          <p:nvPr/>
        </p:nvSpPr>
        <p:spPr>
          <a:xfrm>
            <a:off x="365760" y="3291839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Usa Specialty Insurance/dba Pr</a:t>
            </a:r>
            <a:endParaRPr/>
          </a:p>
        </p:txBody>
      </p:sp>
      <p:sp>
        <p:nvSpPr>
          <p:cNvPr id="1587" name="Google Shape;1587;p14"/>
          <p:cNvSpPr txBox="1"/>
          <p:nvPr/>
        </p:nvSpPr>
        <p:spPr>
          <a:xfrm>
            <a:off x="2743200" y="3291839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252870166671</a:t>
            </a:r>
            <a:endParaRPr/>
          </a:p>
        </p:txBody>
      </p:sp>
      <p:sp>
        <p:nvSpPr>
          <p:cNvPr id="1588" name="Google Shape;1588;p14"/>
          <p:cNvSpPr txBox="1"/>
          <p:nvPr/>
        </p:nvSpPr>
        <p:spPr>
          <a:xfrm>
            <a:off x="3931920" y="3291839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MENDIOLA &amp; AD TRANSPORTATION LLC</a:t>
            </a:r>
            <a:endParaRPr/>
          </a:p>
        </p:txBody>
      </p:sp>
      <p:sp>
        <p:nvSpPr>
          <p:cNvPr id="1589" name="Google Shape;1589;p14"/>
          <p:cNvSpPr txBox="1"/>
          <p:nvPr/>
        </p:nvSpPr>
        <p:spPr>
          <a:xfrm>
            <a:off x="6949440" y="3291839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2026-06-03</a:t>
            </a:r>
            <a:endParaRPr/>
          </a:p>
        </p:txBody>
      </p:sp>
      <p:sp>
        <p:nvSpPr>
          <p:cNvPr id="1590" name="Google Shape;1590;p14"/>
          <p:cNvSpPr txBox="1"/>
          <p:nvPr/>
        </p:nvSpPr>
        <p:spPr>
          <a:xfrm>
            <a:off x="7955279" y="3291839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2d</a:t>
            </a:r>
            <a:endParaRPr/>
          </a:p>
        </p:txBody>
      </p:sp>
      <p:sp>
        <p:nvSpPr>
          <p:cNvPr id="1591" name="Google Shape;1591;p14"/>
          <p:cNvSpPr txBox="1"/>
          <p:nvPr/>
        </p:nvSpPr>
        <p:spPr>
          <a:xfrm>
            <a:off x="8458200" y="3291839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APD</a:t>
            </a:r>
            <a:endParaRPr/>
          </a:p>
        </p:txBody>
      </p:sp>
      <p:sp>
        <p:nvSpPr>
          <p:cNvPr id="1592" name="Google Shape;1592;p14"/>
          <p:cNvSpPr txBox="1"/>
          <p:nvPr/>
        </p:nvSpPr>
        <p:spPr>
          <a:xfrm>
            <a:off x="9555480" y="3291839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$1,653</a:t>
            </a:r>
            <a:endParaRPr/>
          </a:p>
        </p:txBody>
      </p:sp>
      <p:sp>
        <p:nvSpPr>
          <p:cNvPr id="1593" name="Google Shape;1593;p14"/>
          <p:cNvSpPr txBox="1"/>
          <p:nvPr/>
        </p:nvSpPr>
        <p:spPr>
          <a:xfrm>
            <a:off x="10881359" y="3291839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TX</a:t>
            </a:r>
            <a:endParaRPr/>
          </a:p>
        </p:txBody>
      </p:sp>
      <p:sp>
        <p:nvSpPr>
          <p:cNvPr id="1594" name="Google Shape;1594;p14"/>
          <p:cNvSpPr txBox="1"/>
          <p:nvPr/>
        </p:nvSpPr>
        <p:spPr>
          <a:xfrm>
            <a:off x="365760" y="3602735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Prestige International Insuran</a:t>
            </a:r>
            <a:endParaRPr/>
          </a:p>
        </p:txBody>
      </p:sp>
      <p:sp>
        <p:nvSpPr>
          <p:cNvPr id="1595" name="Google Shape;1595;p14"/>
          <p:cNvSpPr txBox="1"/>
          <p:nvPr/>
        </p:nvSpPr>
        <p:spPr>
          <a:xfrm>
            <a:off x="2743200" y="3602735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253516958656</a:t>
            </a:r>
            <a:endParaRPr/>
          </a:p>
        </p:txBody>
      </p:sp>
      <p:sp>
        <p:nvSpPr>
          <p:cNvPr id="1596" name="Google Shape;1596;p14"/>
          <p:cNvSpPr txBox="1"/>
          <p:nvPr/>
        </p:nvSpPr>
        <p:spPr>
          <a:xfrm>
            <a:off x="3931920" y="3602735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FRICE EXPRESS LLC</a:t>
            </a:r>
            <a:endParaRPr/>
          </a:p>
        </p:txBody>
      </p:sp>
      <p:sp>
        <p:nvSpPr>
          <p:cNvPr id="1597" name="Google Shape;1597;p14"/>
          <p:cNvSpPr txBox="1"/>
          <p:nvPr/>
        </p:nvSpPr>
        <p:spPr>
          <a:xfrm>
            <a:off x="6949440" y="3602735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2026-06-03</a:t>
            </a:r>
            <a:endParaRPr/>
          </a:p>
        </p:txBody>
      </p:sp>
      <p:sp>
        <p:nvSpPr>
          <p:cNvPr id="1598" name="Google Shape;1598;p14"/>
          <p:cNvSpPr txBox="1"/>
          <p:nvPr/>
        </p:nvSpPr>
        <p:spPr>
          <a:xfrm>
            <a:off x="7955279" y="3602735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2d</a:t>
            </a:r>
            <a:endParaRPr/>
          </a:p>
        </p:txBody>
      </p:sp>
      <p:sp>
        <p:nvSpPr>
          <p:cNvPr id="1599" name="Google Shape;1599;p14"/>
          <p:cNvSpPr txBox="1"/>
          <p:nvPr/>
        </p:nvSpPr>
        <p:spPr>
          <a:xfrm>
            <a:off x="8458200" y="3602735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APD</a:t>
            </a:r>
            <a:endParaRPr/>
          </a:p>
        </p:txBody>
      </p:sp>
      <p:sp>
        <p:nvSpPr>
          <p:cNvPr id="1600" name="Google Shape;1600;p14"/>
          <p:cNvSpPr txBox="1"/>
          <p:nvPr/>
        </p:nvSpPr>
        <p:spPr>
          <a:xfrm>
            <a:off x="9555480" y="3602735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$10,713</a:t>
            </a:r>
            <a:endParaRPr/>
          </a:p>
        </p:txBody>
      </p:sp>
      <p:sp>
        <p:nvSpPr>
          <p:cNvPr id="1601" name="Google Shape;1601;p14"/>
          <p:cNvSpPr txBox="1"/>
          <p:nvPr/>
        </p:nvSpPr>
        <p:spPr>
          <a:xfrm>
            <a:off x="10881359" y="3602735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MD</a:t>
            </a:r>
            <a:endParaRPr/>
          </a:p>
        </p:txBody>
      </p:sp>
      <p:sp>
        <p:nvSpPr>
          <p:cNvPr id="1602" name="Google Shape;1602;p14"/>
          <p:cNvSpPr/>
          <p:nvPr/>
        </p:nvSpPr>
        <p:spPr>
          <a:xfrm>
            <a:off x="365760" y="3877055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3" name="Google Shape;1603;p14"/>
          <p:cNvSpPr txBox="1"/>
          <p:nvPr/>
        </p:nvSpPr>
        <p:spPr>
          <a:xfrm>
            <a:off x="365760" y="3913631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Usa Specialty Insurance/dba Pr</a:t>
            </a:r>
            <a:endParaRPr/>
          </a:p>
        </p:txBody>
      </p:sp>
      <p:sp>
        <p:nvSpPr>
          <p:cNvPr id="1604" name="Google Shape;1604;p14"/>
          <p:cNvSpPr txBox="1"/>
          <p:nvPr/>
        </p:nvSpPr>
        <p:spPr>
          <a:xfrm>
            <a:off x="2743200" y="3913631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253290073541</a:t>
            </a:r>
            <a:endParaRPr/>
          </a:p>
        </p:txBody>
      </p:sp>
      <p:sp>
        <p:nvSpPr>
          <p:cNvPr id="1605" name="Google Shape;1605;p14"/>
          <p:cNvSpPr txBox="1"/>
          <p:nvPr/>
        </p:nvSpPr>
        <p:spPr>
          <a:xfrm>
            <a:off x="3931920" y="3913631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JRTV LOGISTICS LLC</a:t>
            </a:r>
            <a:endParaRPr/>
          </a:p>
        </p:txBody>
      </p:sp>
      <p:sp>
        <p:nvSpPr>
          <p:cNvPr id="1606" name="Google Shape;1606;p14"/>
          <p:cNvSpPr txBox="1"/>
          <p:nvPr/>
        </p:nvSpPr>
        <p:spPr>
          <a:xfrm>
            <a:off x="6949440" y="3913631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2026-06-03</a:t>
            </a:r>
            <a:endParaRPr/>
          </a:p>
        </p:txBody>
      </p:sp>
      <p:sp>
        <p:nvSpPr>
          <p:cNvPr id="1607" name="Google Shape;1607;p14"/>
          <p:cNvSpPr txBox="1"/>
          <p:nvPr/>
        </p:nvSpPr>
        <p:spPr>
          <a:xfrm>
            <a:off x="7955279" y="3913631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2d</a:t>
            </a:r>
            <a:endParaRPr/>
          </a:p>
        </p:txBody>
      </p:sp>
      <p:sp>
        <p:nvSpPr>
          <p:cNvPr id="1608" name="Google Shape;1608;p14"/>
          <p:cNvSpPr txBox="1"/>
          <p:nvPr/>
        </p:nvSpPr>
        <p:spPr>
          <a:xfrm>
            <a:off x="8458200" y="3913631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</a:t>
            </a:r>
            <a:endParaRPr/>
          </a:p>
        </p:txBody>
      </p:sp>
      <p:sp>
        <p:nvSpPr>
          <p:cNvPr id="1609" name="Google Shape;1609;p14"/>
          <p:cNvSpPr txBox="1"/>
          <p:nvPr/>
        </p:nvSpPr>
        <p:spPr>
          <a:xfrm>
            <a:off x="9555480" y="3913631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1610" name="Google Shape;1610;p14"/>
          <p:cNvSpPr txBox="1"/>
          <p:nvPr/>
        </p:nvSpPr>
        <p:spPr>
          <a:xfrm>
            <a:off x="10881359" y="3913631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TX</a:t>
            </a:r>
            <a:endParaRPr/>
          </a:p>
        </p:txBody>
      </p:sp>
      <p:sp>
        <p:nvSpPr>
          <p:cNvPr id="1611" name="Google Shape;1611;p14"/>
          <p:cNvSpPr txBox="1"/>
          <p:nvPr/>
        </p:nvSpPr>
        <p:spPr>
          <a:xfrm>
            <a:off x="365760" y="4224527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Peco Insurance LLC</a:t>
            </a:r>
            <a:endParaRPr/>
          </a:p>
        </p:txBody>
      </p:sp>
      <p:sp>
        <p:nvSpPr>
          <p:cNvPr id="1612" name="Google Shape;1612;p14"/>
          <p:cNvSpPr txBox="1"/>
          <p:nvPr/>
        </p:nvSpPr>
        <p:spPr>
          <a:xfrm>
            <a:off x="2743200" y="4224527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256890965907</a:t>
            </a:r>
            <a:endParaRPr/>
          </a:p>
        </p:txBody>
      </p:sp>
      <p:sp>
        <p:nvSpPr>
          <p:cNvPr id="1613" name="Google Shape;1613;p14"/>
          <p:cNvSpPr txBox="1"/>
          <p:nvPr/>
        </p:nvSpPr>
        <p:spPr>
          <a:xfrm>
            <a:off x="3931920" y="4224527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WET TRANSPORT LLC</a:t>
            </a:r>
            <a:endParaRPr/>
          </a:p>
        </p:txBody>
      </p:sp>
      <p:sp>
        <p:nvSpPr>
          <p:cNvPr id="1614" name="Google Shape;1614;p14"/>
          <p:cNvSpPr txBox="1"/>
          <p:nvPr/>
        </p:nvSpPr>
        <p:spPr>
          <a:xfrm>
            <a:off x="6949440" y="4224527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2026-06-03</a:t>
            </a:r>
            <a:endParaRPr/>
          </a:p>
        </p:txBody>
      </p:sp>
      <p:sp>
        <p:nvSpPr>
          <p:cNvPr id="1615" name="Google Shape;1615;p14"/>
          <p:cNvSpPr txBox="1"/>
          <p:nvPr/>
        </p:nvSpPr>
        <p:spPr>
          <a:xfrm>
            <a:off x="7955279" y="4224527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2d</a:t>
            </a:r>
            <a:endParaRPr/>
          </a:p>
        </p:txBody>
      </p:sp>
      <p:sp>
        <p:nvSpPr>
          <p:cNvPr id="1616" name="Google Shape;1616;p14"/>
          <p:cNvSpPr txBox="1"/>
          <p:nvPr/>
        </p:nvSpPr>
        <p:spPr>
          <a:xfrm>
            <a:off x="8458200" y="4224527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</a:t>
            </a:r>
            <a:endParaRPr/>
          </a:p>
        </p:txBody>
      </p:sp>
      <p:sp>
        <p:nvSpPr>
          <p:cNvPr id="1617" name="Google Shape;1617;p14"/>
          <p:cNvSpPr txBox="1"/>
          <p:nvPr/>
        </p:nvSpPr>
        <p:spPr>
          <a:xfrm>
            <a:off x="9555480" y="4224527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1618" name="Google Shape;1618;p14"/>
          <p:cNvSpPr txBox="1"/>
          <p:nvPr/>
        </p:nvSpPr>
        <p:spPr>
          <a:xfrm>
            <a:off x="10881359" y="4224527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NC</a:t>
            </a:r>
            <a:endParaRPr/>
          </a:p>
        </p:txBody>
      </p:sp>
      <p:sp>
        <p:nvSpPr>
          <p:cNvPr id="1619" name="Google Shape;1619;p14"/>
          <p:cNvSpPr/>
          <p:nvPr/>
        </p:nvSpPr>
        <p:spPr>
          <a:xfrm>
            <a:off x="365760" y="4498847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0" name="Google Shape;1620;p14"/>
          <p:cNvSpPr txBox="1"/>
          <p:nvPr/>
        </p:nvSpPr>
        <p:spPr>
          <a:xfrm>
            <a:off x="365760" y="4535423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Insurance4truckers Llc</a:t>
            </a:r>
            <a:endParaRPr/>
          </a:p>
        </p:txBody>
      </p:sp>
      <p:sp>
        <p:nvSpPr>
          <p:cNvPr id="1621" name="Google Shape;1621;p14"/>
          <p:cNvSpPr txBox="1"/>
          <p:nvPr/>
        </p:nvSpPr>
        <p:spPr>
          <a:xfrm>
            <a:off x="2743200" y="4535423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254433539588</a:t>
            </a:r>
            <a:endParaRPr/>
          </a:p>
        </p:txBody>
      </p:sp>
      <p:sp>
        <p:nvSpPr>
          <p:cNvPr id="1622" name="Google Shape;1622;p14"/>
          <p:cNvSpPr txBox="1"/>
          <p:nvPr/>
        </p:nvSpPr>
        <p:spPr>
          <a:xfrm>
            <a:off x="3931920" y="4535423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TEAM MARVIN TRUCKING LLC</a:t>
            </a:r>
            <a:endParaRPr/>
          </a:p>
        </p:txBody>
      </p:sp>
      <p:sp>
        <p:nvSpPr>
          <p:cNvPr id="1623" name="Google Shape;1623;p14"/>
          <p:cNvSpPr txBox="1"/>
          <p:nvPr/>
        </p:nvSpPr>
        <p:spPr>
          <a:xfrm>
            <a:off x="6949440" y="4535423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2026-06-04</a:t>
            </a:r>
            <a:endParaRPr/>
          </a:p>
        </p:txBody>
      </p:sp>
      <p:sp>
        <p:nvSpPr>
          <p:cNvPr id="1624" name="Google Shape;1624;p14"/>
          <p:cNvSpPr txBox="1"/>
          <p:nvPr/>
        </p:nvSpPr>
        <p:spPr>
          <a:xfrm>
            <a:off x="7955279" y="4535423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3d</a:t>
            </a:r>
            <a:endParaRPr/>
          </a:p>
        </p:txBody>
      </p:sp>
      <p:sp>
        <p:nvSpPr>
          <p:cNvPr id="1625" name="Google Shape;1625;p14"/>
          <p:cNvSpPr txBox="1"/>
          <p:nvPr/>
        </p:nvSpPr>
        <p:spPr>
          <a:xfrm>
            <a:off x="8458200" y="4535423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</a:t>
            </a:r>
            <a:endParaRPr/>
          </a:p>
        </p:txBody>
      </p:sp>
      <p:sp>
        <p:nvSpPr>
          <p:cNvPr id="1626" name="Google Shape;1626;p14"/>
          <p:cNvSpPr txBox="1"/>
          <p:nvPr/>
        </p:nvSpPr>
        <p:spPr>
          <a:xfrm>
            <a:off x="9555480" y="4535423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$14,779</a:t>
            </a:r>
            <a:endParaRPr/>
          </a:p>
        </p:txBody>
      </p:sp>
      <p:sp>
        <p:nvSpPr>
          <p:cNvPr id="1627" name="Google Shape;1627;p14"/>
          <p:cNvSpPr txBox="1"/>
          <p:nvPr/>
        </p:nvSpPr>
        <p:spPr>
          <a:xfrm>
            <a:off x="10881359" y="4535423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NC</a:t>
            </a:r>
            <a:endParaRPr/>
          </a:p>
        </p:txBody>
      </p:sp>
      <p:sp>
        <p:nvSpPr>
          <p:cNvPr id="1628" name="Google Shape;1628;p14"/>
          <p:cNvSpPr txBox="1"/>
          <p:nvPr/>
        </p:nvSpPr>
        <p:spPr>
          <a:xfrm>
            <a:off x="365760" y="4846319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Insurance4truckers Llc</a:t>
            </a:r>
            <a:endParaRPr/>
          </a:p>
        </p:txBody>
      </p:sp>
      <p:sp>
        <p:nvSpPr>
          <p:cNvPr id="1629" name="Google Shape;1629;p14"/>
          <p:cNvSpPr txBox="1"/>
          <p:nvPr/>
        </p:nvSpPr>
        <p:spPr>
          <a:xfrm>
            <a:off x="2743200" y="4846319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257541325669</a:t>
            </a:r>
            <a:endParaRPr/>
          </a:p>
        </p:txBody>
      </p:sp>
      <p:sp>
        <p:nvSpPr>
          <p:cNvPr id="1630" name="Google Shape;1630;p14"/>
          <p:cNvSpPr txBox="1"/>
          <p:nvPr/>
        </p:nvSpPr>
        <p:spPr>
          <a:xfrm>
            <a:off x="3931920" y="4846319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Ranger Freight LLC</a:t>
            </a:r>
            <a:endParaRPr/>
          </a:p>
        </p:txBody>
      </p:sp>
      <p:sp>
        <p:nvSpPr>
          <p:cNvPr id="1631" name="Google Shape;1631;p14"/>
          <p:cNvSpPr txBox="1"/>
          <p:nvPr/>
        </p:nvSpPr>
        <p:spPr>
          <a:xfrm>
            <a:off x="6949440" y="4846319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2026-06-05</a:t>
            </a:r>
            <a:endParaRPr/>
          </a:p>
        </p:txBody>
      </p:sp>
      <p:sp>
        <p:nvSpPr>
          <p:cNvPr id="1632" name="Google Shape;1632;p14"/>
          <p:cNvSpPr txBox="1"/>
          <p:nvPr/>
        </p:nvSpPr>
        <p:spPr>
          <a:xfrm>
            <a:off x="7955279" y="4846319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4d</a:t>
            </a:r>
            <a:endParaRPr/>
          </a:p>
        </p:txBody>
      </p:sp>
      <p:sp>
        <p:nvSpPr>
          <p:cNvPr id="1633" name="Google Shape;1633;p14"/>
          <p:cNvSpPr txBox="1"/>
          <p:nvPr/>
        </p:nvSpPr>
        <p:spPr>
          <a:xfrm>
            <a:off x="8458200" y="4846319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</a:t>
            </a:r>
            <a:endParaRPr/>
          </a:p>
        </p:txBody>
      </p:sp>
      <p:sp>
        <p:nvSpPr>
          <p:cNvPr id="1634" name="Google Shape;1634;p14"/>
          <p:cNvSpPr txBox="1"/>
          <p:nvPr/>
        </p:nvSpPr>
        <p:spPr>
          <a:xfrm>
            <a:off x="9555480" y="4846319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$19,060</a:t>
            </a:r>
            <a:endParaRPr/>
          </a:p>
        </p:txBody>
      </p:sp>
      <p:sp>
        <p:nvSpPr>
          <p:cNvPr id="1635" name="Google Shape;1635;p14"/>
          <p:cNvSpPr txBox="1"/>
          <p:nvPr/>
        </p:nvSpPr>
        <p:spPr>
          <a:xfrm>
            <a:off x="10881359" y="4846319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</a:t>
            </a:r>
            <a:endParaRPr/>
          </a:p>
        </p:txBody>
      </p:sp>
      <p:sp>
        <p:nvSpPr>
          <p:cNvPr id="1636" name="Google Shape;1636;p14"/>
          <p:cNvSpPr/>
          <p:nvPr/>
        </p:nvSpPr>
        <p:spPr>
          <a:xfrm>
            <a:off x="365760" y="5120639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7" name="Google Shape;1637;p14"/>
          <p:cNvSpPr txBox="1"/>
          <p:nvPr/>
        </p:nvSpPr>
        <p:spPr>
          <a:xfrm>
            <a:off x="365760" y="5157215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Interglobal Insurance Company</a:t>
            </a:r>
            <a:endParaRPr/>
          </a:p>
        </p:txBody>
      </p:sp>
      <p:sp>
        <p:nvSpPr>
          <p:cNvPr id="1638" name="Google Shape;1638;p14"/>
          <p:cNvSpPr txBox="1"/>
          <p:nvPr/>
        </p:nvSpPr>
        <p:spPr>
          <a:xfrm>
            <a:off x="2743200" y="5157215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257777123481</a:t>
            </a:r>
            <a:endParaRPr/>
          </a:p>
        </p:txBody>
      </p:sp>
      <p:sp>
        <p:nvSpPr>
          <p:cNvPr id="1639" name="Google Shape;1639;p14"/>
          <p:cNvSpPr txBox="1"/>
          <p:nvPr/>
        </p:nvSpPr>
        <p:spPr>
          <a:xfrm>
            <a:off x="3931920" y="5157215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RICHMAK LLC</a:t>
            </a:r>
            <a:endParaRPr/>
          </a:p>
        </p:txBody>
      </p:sp>
      <p:sp>
        <p:nvSpPr>
          <p:cNvPr id="1640" name="Google Shape;1640;p14"/>
          <p:cNvSpPr txBox="1"/>
          <p:nvPr/>
        </p:nvSpPr>
        <p:spPr>
          <a:xfrm>
            <a:off x="6949440" y="5157215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2026-06-05</a:t>
            </a:r>
            <a:endParaRPr/>
          </a:p>
        </p:txBody>
      </p:sp>
      <p:sp>
        <p:nvSpPr>
          <p:cNvPr id="1641" name="Google Shape;1641;p14"/>
          <p:cNvSpPr txBox="1"/>
          <p:nvPr/>
        </p:nvSpPr>
        <p:spPr>
          <a:xfrm>
            <a:off x="7955279" y="5157215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4d</a:t>
            </a:r>
            <a:endParaRPr/>
          </a:p>
        </p:txBody>
      </p:sp>
      <p:sp>
        <p:nvSpPr>
          <p:cNvPr id="1642" name="Google Shape;1642;p14"/>
          <p:cNvSpPr txBox="1"/>
          <p:nvPr/>
        </p:nvSpPr>
        <p:spPr>
          <a:xfrm>
            <a:off x="8458200" y="5157215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</a:t>
            </a:r>
            <a:endParaRPr/>
          </a:p>
        </p:txBody>
      </p:sp>
      <p:sp>
        <p:nvSpPr>
          <p:cNvPr id="1643" name="Google Shape;1643;p14"/>
          <p:cNvSpPr txBox="1"/>
          <p:nvPr/>
        </p:nvSpPr>
        <p:spPr>
          <a:xfrm>
            <a:off x="9555480" y="5157215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$13,890</a:t>
            </a:r>
            <a:endParaRPr/>
          </a:p>
        </p:txBody>
      </p:sp>
      <p:sp>
        <p:nvSpPr>
          <p:cNvPr id="1644" name="Google Shape;1644;p14"/>
          <p:cNvSpPr txBox="1"/>
          <p:nvPr/>
        </p:nvSpPr>
        <p:spPr>
          <a:xfrm>
            <a:off x="10881359" y="5157215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</a:t>
            </a:r>
            <a:endParaRPr/>
          </a:p>
        </p:txBody>
      </p:sp>
      <p:sp>
        <p:nvSpPr>
          <p:cNvPr id="1645" name="Google Shape;1645;p14"/>
          <p:cNvSpPr txBox="1"/>
          <p:nvPr/>
        </p:nvSpPr>
        <p:spPr>
          <a:xfrm>
            <a:off x="365760" y="5468111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Florida Property And Casualty </a:t>
            </a:r>
            <a:endParaRPr/>
          </a:p>
        </p:txBody>
      </p:sp>
      <p:sp>
        <p:nvSpPr>
          <p:cNvPr id="1646" name="Google Shape;1646;p14"/>
          <p:cNvSpPr txBox="1"/>
          <p:nvPr/>
        </p:nvSpPr>
        <p:spPr>
          <a:xfrm>
            <a:off x="2743200" y="5468111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257868861734</a:t>
            </a:r>
            <a:endParaRPr/>
          </a:p>
        </p:txBody>
      </p:sp>
      <p:sp>
        <p:nvSpPr>
          <p:cNvPr id="1647" name="Google Shape;1647;p14"/>
          <p:cNvSpPr txBox="1"/>
          <p:nvPr/>
        </p:nvSpPr>
        <p:spPr>
          <a:xfrm>
            <a:off x="3931920" y="5468111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GGM TRANSPORTATION LLC</a:t>
            </a:r>
            <a:endParaRPr/>
          </a:p>
        </p:txBody>
      </p:sp>
      <p:sp>
        <p:nvSpPr>
          <p:cNvPr id="1648" name="Google Shape;1648;p14"/>
          <p:cNvSpPr txBox="1"/>
          <p:nvPr/>
        </p:nvSpPr>
        <p:spPr>
          <a:xfrm>
            <a:off x="6949440" y="5468111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2026-06-05</a:t>
            </a:r>
            <a:endParaRPr/>
          </a:p>
        </p:txBody>
      </p:sp>
      <p:sp>
        <p:nvSpPr>
          <p:cNvPr id="1649" name="Google Shape;1649;p14"/>
          <p:cNvSpPr txBox="1"/>
          <p:nvPr/>
        </p:nvSpPr>
        <p:spPr>
          <a:xfrm>
            <a:off x="7955279" y="5468111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4d</a:t>
            </a:r>
            <a:endParaRPr/>
          </a:p>
        </p:txBody>
      </p:sp>
      <p:sp>
        <p:nvSpPr>
          <p:cNvPr id="1650" name="Google Shape;1650;p14"/>
          <p:cNvSpPr txBox="1"/>
          <p:nvPr/>
        </p:nvSpPr>
        <p:spPr>
          <a:xfrm>
            <a:off x="8458200" y="5468111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MTC</a:t>
            </a:r>
            <a:endParaRPr/>
          </a:p>
        </p:txBody>
      </p:sp>
      <p:sp>
        <p:nvSpPr>
          <p:cNvPr id="1651" name="Google Shape;1651;p14"/>
          <p:cNvSpPr txBox="1"/>
          <p:nvPr/>
        </p:nvSpPr>
        <p:spPr>
          <a:xfrm>
            <a:off x="9555480" y="5468111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$1,762</a:t>
            </a:r>
            <a:endParaRPr/>
          </a:p>
        </p:txBody>
      </p:sp>
      <p:sp>
        <p:nvSpPr>
          <p:cNvPr id="1652" name="Google Shape;1652;p14"/>
          <p:cNvSpPr txBox="1"/>
          <p:nvPr/>
        </p:nvSpPr>
        <p:spPr>
          <a:xfrm>
            <a:off x="10881359" y="5468111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</a:t>
            </a:r>
            <a:endParaRPr/>
          </a:p>
        </p:txBody>
      </p:sp>
      <p:sp>
        <p:nvSpPr>
          <p:cNvPr id="1653" name="Google Shape;1653;p14"/>
          <p:cNvSpPr/>
          <p:nvPr/>
        </p:nvSpPr>
        <p:spPr>
          <a:xfrm>
            <a:off x="365760" y="5742431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4" name="Google Shape;1654;p14"/>
          <p:cNvSpPr txBox="1"/>
          <p:nvPr/>
        </p:nvSpPr>
        <p:spPr>
          <a:xfrm>
            <a:off x="365760" y="5779007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Insurance4truckers Llc</a:t>
            </a:r>
            <a:endParaRPr/>
          </a:p>
        </p:txBody>
      </p:sp>
      <p:sp>
        <p:nvSpPr>
          <p:cNvPr id="1655" name="Google Shape;1655;p14"/>
          <p:cNvSpPr txBox="1"/>
          <p:nvPr/>
        </p:nvSpPr>
        <p:spPr>
          <a:xfrm>
            <a:off x="2743200" y="5779007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257839997684</a:t>
            </a:r>
            <a:endParaRPr/>
          </a:p>
        </p:txBody>
      </p:sp>
      <p:sp>
        <p:nvSpPr>
          <p:cNvPr id="1656" name="Google Shape;1656;p14"/>
          <p:cNvSpPr txBox="1"/>
          <p:nvPr/>
        </p:nvSpPr>
        <p:spPr>
          <a:xfrm>
            <a:off x="3931920" y="5779007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SKC TRANSPORT LLC</a:t>
            </a:r>
            <a:endParaRPr/>
          </a:p>
        </p:txBody>
      </p:sp>
      <p:sp>
        <p:nvSpPr>
          <p:cNvPr id="1657" name="Google Shape;1657;p14"/>
          <p:cNvSpPr txBox="1"/>
          <p:nvPr/>
        </p:nvSpPr>
        <p:spPr>
          <a:xfrm>
            <a:off x="6949440" y="5779007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2026-06-06</a:t>
            </a:r>
            <a:endParaRPr/>
          </a:p>
        </p:txBody>
      </p:sp>
      <p:sp>
        <p:nvSpPr>
          <p:cNvPr id="1658" name="Google Shape;1658;p14"/>
          <p:cNvSpPr txBox="1"/>
          <p:nvPr/>
        </p:nvSpPr>
        <p:spPr>
          <a:xfrm>
            <a:off x="7955279" y="5779007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5d</a:t>
            </a:r>
            <a:endParaRPr/>
          </a:p>
        </p:txBody>
      </p:sp>
      <p:sp>
        <p:nvSpPr>
          <p:cNvPr id="1659" name="Google Shape;1659;p14"/>
          <p:cNvSpPr txBox="1"/>
          <p:nvPr/>
        </p:nvSpPr>
        <p:spPr>
          <a:xfrm>
            <a:off x="8458200" y="5779007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MTC</a:t>
            </a:r>
            <a:endParaRPr/>
          </a:p>
        </p:txBody>
      </p:sp>
      <p:sp>
        <p:nvSpPr>
          <p:cNvPr id="1660" name="Google Shape;1660;p14"/>
          <p:cNvSpPr txBox="1"/>
          <p:nvPr/>
        </p:nvSpPr>
        <p:spPr>
          <a:xfrm>
            <a:off x="9555480" y="5779007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$979</a:t>
            </a:r>
            <a:endParaRPr/>
          </a:p>
        </p:txBody>
      </p:sp>
      <p:sp>
        <p:nvSpPr>
          <p:cNvPr id="1661" name="Google Shape;1661;p14"/>
          <p:cNvSpPr txBox="1"/>
          <p:nvPr/>
        </p:nvSpPr>
        <p:spPr>
          <a:xfrm>
            <a:off x="10881359" y="5779007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</a:t>
            </a:r>
            <a:endParaRPr/>
          </a:p>
        </p:txBody>
      </p:sp>
      <p:sp>
        <p:nvSpPr>
          <p:cNvPr id="1662" name="Google Shape;1662;p14"/>
          <p:cNvSpPr txBox="1"/>
          <p:nvPr/>
        </p:nvSpPr>
        <p:spPr>
          <a:xfrm>
            <a:off x="365760" y="6089903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Sunstar Insurance Group Llc Db</a:t>
            </a:r>
            <a:endParaRPr/>
          </a:p>
        </p:txBody>
      </p:sp>
      <p:sp>
        <p:nvSpPr>
          <p:cNvPr id="1663" name="Google Shape;1663;p14"/>
          <p:cNvSpPr txBox="1"/>
          <p:nvPr/>
        </p:nvSpPr>
        <p:spPr>
          <a:xfrm>
            <a:off x="2743200" y="6089903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254628810125</a:t>
            </a:r>
            <a:endParaRPr/>
          </a:p>
        </p:txBody>
      </p:sp>
      <p:sp>
        <p:nvSpPr>
          <p:cNvPr id="1664" name="Google Shape;1664;p14"/>
          <p:cNvSpPr txBox="1"/>
          <p:nvPr/>
        </p:nvSpPr>
        <p:spPr>
          <a:xfrm>
            <a:off x="3931920" y="6089903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ALL AROUND WORK LLC</a:t>
            </a:r>
            <a:endParaRPr/>
          </a:p>
        </p:txBody>
      </p:sp>
      <p:sp>
        <p:nvSpPr>
          <p:cNvPr id="1665" name="Google Shape;1665;p14"/>
          <p:cNvSpPr txBox="1"/>
          <p:nvPr/>
        </p:nvSpPr>
        <p:spPr>
          <a:xfrm>
            <a:off x="6949440" y="6089903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2026-06-06</a:t>
            </a:r>
            <a:endParaRPr/>
          </a:p>
        </p:txBody>
      </p:sp>
      <p:sp>
        <p:nvSpPr>
          <p:cNvPr id="1666" name="Google Shape;1666;p14"/>
          <p:cNvSpPr txBox="1"/>
          <p:nvPr/>
        </p:nvSpPr>
        <p:spPr>
          <a:xfrm>
            <a:off x="7955279" y="6089903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5d</a:t>
            </a:r>
            <a:endParaRPr/>
          </a:p>
        </p:txBody>
      </p:sp>
      <p:sp>
        <p:nvSpPr>
          <p:cNvPr id="1667" name="Google Shape;1667;p14"/>
          <p:cNvSpPr txBox="1"/>
          <p:nvPr/>
        </p:nvSpPr>
        <p:spPr>
          <a:xfrm>
            <a:off x="8458200" y="6089903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MTC</a:t>
            </a:r>
            <a:endParaRPr/>
          </a:p>
        </p:txBody>
      </p:sp>
      <p:sp>
        <p:nvSpPr>
          <p:cNvPr id="1668" name="Google Shape;1668;p14"/>
          <p:cNvSpPr txBox="1"/>
          <p:nvPr/>
        </p:nvSpPr>
        <p:spPr>
          <a:xfrm>
            <a:off x="9555480" y="6089903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1669" name="Google Shape;1669;p14"/>
          <p:cNvSpPr txBox="1"/>
          <p:nvPr/>
        </p:nvSpPr>
        <p:spPr>
          <a:xfrm>
            <a:off x="10881359" y="6089903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GA</a:t>
            </a:r>
            <a:endParaRPr/>
          </a:p>
        </p:txBody>
      </p:sp>
      <p:sp>
        <p:nvSpPr>
          <p:cNvPr id="1670" name="Google Shape;1670;p14"/>
          <p:cNvSpPr/>
          <p:nvPr/>
        </p:nvSpPr>
        <p:spPr>
          <a:xfrm>
            <a:off x="365760" y="6364223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1" name="Google Shape;1671;p14"/>
          <p:cNvSpPr txBox="1"/>
          <p:nvPr/>
        </p:nvSpPr>
        <p:spPr>
          <a:xfrm>
            <a:off x="365760" y="6400799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Insurance4truckers Llc</a:t>
            </a:r>
            <a:endParaRPr/>
          </a:p>
        </p:txBody>
      </p:sp>
      <p:sp>
        <p:nvSpPr>
          <p:cNvPr id="1672" name="Google Shape;1672;p14"/>
          <p:cNvSpPr txBox="1"/>
          <p:nvPr/>
        </p:nvSpPr>
        <p:spPr>
          <a:xfrm>
            <a:off x="2743200" y="6400799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259021706318</a:t>
            </a:r>
            <a:endParaRPr/>
          </a:p>
        </p:txBody>
      </p:sp>
      <p:sp>
        <p:nvSpPr>
          <p:cNvPr id="1673" name="Google Shape;1673;p14"/>
          <p:cNvSpPr txBox="1"/>
          <p:nvPr/>
        </p:nvSpPr>
        <p:spPr>
          <a:xfrm>
            <a:off x="3931920" y="6400799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D&amp;E FREIGHT LLC</a:t>
            </a:r>
            <a:endParaRPr/>
          </a:p>
        </p:txBody>
      </p:sp>
      <p:sp>
        <p:nvSpPr>
          <p:cNvPr id="1674" name="Google Shape;1674;p14"/>
          <p:cNvSpPr txBox="1"/>
          <p:nvPr/>
        </p:nvSpPr>
        <p:spPr>
          <a:xfrm>
            <a:off x="6949440" y="6400799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2026-06-06</a:t>
            </a:r>
            <a:endParaRPr/>
          </a:p>
        </p:txBody>
      </p:sp>
      <p:sp>
        <p:nvSpPr>
          <p:cNvPr id="1675" name="Google Shape;1675;p14"/>
          <p:cNvSpPr txBox="1"/>
          <p:nvPr/>
        </p:nvSpPr>
        <p:spPr>
          <a:xfrm>
            <a:off x="7955279" y="6400799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5d</a:t>
            </a:r>
            <a:endParaRPr/>
          </a:p>
        </p:txBody>
      </p:sp>
      <p:sp>
        <p:nvSpPr>
          <p:cNvPr id="1676" name="Google Shape;1676;p14"/>
          <p:cNvSpPr txBox="1"/>
          <p:nvPr/>
        </p:nvSpPr>
        <p:spPr>
          <a:xfrm>
            <a:off x="8458200" y="6400799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TGL</a:t>
            </a:r>
            <a:endParaRPr/>
          </a:p>
        </p:txBody>
      </p:sp>
      <p:sp>
        <p:nvSpPr>
          <p:cNvPr id="1677" name="Google Shape;1677;p14"/>
          <p:cNvSpPr txBox="1"/>
          <p:nvPr/>
        </p:nvSpPr>
        <p:spPr>
          <a:xfrm>
            <a:off x="9555480" y="6400799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$650</a:t>
            </a:r>
            <a:endParaRPr/>
          </a:p>
        </p:txBody>
      </p:sp>
      <p:sp>
        <p:nvSpPr>
          <p:cNvPr id="1678" name="Google Shape;1678;p14"/>
          <p:cNvSpPr txBox="1"/>
          <p:nvPr/>
        </p:nvSpPr>
        <p:spPr>
          <a:xfrm>
            <a:off x="10881359" y="6400799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NC</a:t>
            </a:r>
            <a:endParaRPr/>
          </a:p>
        </p:txBody>
      </p:sp>
      <p:sp>
        <p:nvSpPr>
          <p:cNvPr id="1679" name="Google Shape;1679;p14"/>
          <p:cNvSpPr txBox="1"/>
          <p:nvPr/>
        </p:nvSpPr>
        <p:spPr>
          <a:xfrm>
            <a:off x="365760" y="6492240"/>
            <a:ext cx="11430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Showing 13 of 223 upcoming renewals  |  Source: dw_reader.policy_premium  |  Active in-force only  |  Sorted by expiration date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3" name="Shape 1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4" name="Google Shape;1684;p1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5" name="Google Shape;1685;p15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Pending Cancellations — Save List — Next 90 Days</a:t>
            </a:r>
            <a:endParaRPr/>
          </a:p>
        </p:txBody>
      </p:sp>
      <p:sp>
        <p:nvSpPr>
          <p:cNvPr id="1686" name="Google Shape;1686;p15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4B5F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Ron Douglas  |  Policies with cancellation_date on or before Aug 30, 2026  |  Sorted by urgency — call these agencies first</a:t>
            </a:r>
            <a:endParaRPr/>
          </a:p>
        </p:txBody>
      </p:sp>
      <p:sp>
        <p:nvSpPr>
          <p:cNvPr id="1687" name="Google Shape;1687;p15"/>
          <p:cNvSpPr/>
          <p:nvPr/>
        </p:nvSpPr>
        <p:spPr>
          <a:xfrm>
            <a:off x="365760" y="960120"/>
            <a:ext cx="2286000" cy="86868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POLICIES PENDING CANCEL</a:t>
            </a:r>
            <a:endParaRPr/>
          </a:p>
        </p:txBody>
      </p:sp>
      <p:sp>
        <p:nvSpPr>
          <p:cNvPr id="1688" name="Google Shape;1688;p15"/>
          <p:cNvSpPr/>
          <p:nvPr/>
        </p:nvSpPr>
        <p:spPr>
          <a:xfrm>
            <a:off x="2743200" y="960120"/>
            <a:ext cx="2286000" cy="86868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$3,286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PREMIUM AT RISK</a:t>
            </a:r>
            <a:endParaRPr/>
          </a:p>
        </p:txBody>
      </p:sp>
      <p:sp>
        <p:nvSpPr>
          <p:cNvPr id="1689" name="Google Shape;1689;p15"/>
          <p:cNvSpPr/>
          <p:nvPr/>
        </p:nvSpPr>
        <p:spPr>
          <a:xfrm>
            <a:off x="5120640" y="960120"/>
            <a:ext cx="2286000" cy="86868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59E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≤30 DAYS (URGENT)</a:t>
            </a:r>
            <a:endParaRPr/>
          </a:p>
        </p:txBody>
      </p:sp>
      <p:sp>
        <p:nvSpPr>
          <p:cNvPr id="1690" name="Google Shape;1690;p15"/>
          <p:cNvSpPr/>
          <p:nvPr/>
        </p:nvSpPr>
        <p:spPr>
          <a:xfrm>
            <a:off x="7498079" y="960120"/>
            <a:ext cx="2286000" cy="86868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9E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$3,286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≤30 DAY PREMIUM</a:t>
            </a:r>
            <a:endParaRPr/>
          </a:p>
        </p:txBody>
      </p:sp>
      <p:sp>
        <p:nvSpPr>
          <p:cNvPr id="1691" name="Google Shape;1691;p15"/>
          <p:cNvSpPr/>
          <p:nvPr/>
        </p:nvSpPr>
        <p:spPr>
          <a:xfrm>
            <a:off x="9875520" y="960120"/>
            <a:ext cx="2286000" cy="86868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Does Not Meet Uw 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TOP REASON</a:t>
            </a:r>
            <a:endParaRPr/>
          </a:p>
        </p:txBody>
      </p:sp>
      <p:sp>
        <p:nvSpPr>
          <p:cNvPr id="1692" name="Google Shape;1692;p15"/>
          <p:cNvSpPr/>
          <p:nvPr/>
        </p:nvSpPr>
        <p:spPr>
          <a:xfrm>
            <a:off x="365760" y="1993392"/>
            <a:ext cx="11430000" cy="27432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3" name="Google Shape;1693;p15"/>
          <p:cNvSpPr txBox="1"/>
          <p:nvPr/>
        </p:nvSpPr>
        <p:spPr>
          <a:xfrm>
            <a:off x="475488" y="2029968"/>
            <a:ext cx="11247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PENDING CANCELS (sorted by cancel date — earliest first)</a:t>
            </a:r>
            <a:endParaRPr/>
          </a:p>
        </p:txBody>
      </p:sp>
      <p:sp>
        <p:nvSpPr>
          <p:cNvPr id="1694" name="Google Shape;1694;p15"/>
          <p:cNvSpPr txBox="1"/>
          <p:nvPr/>
        </p:nvSpPr>
        <p:spPr>
          <a:xfrm>
            <a:off x="365760" y="2359152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Days</a:t>
            </a:r>
            <a:endParaRPr/>
          </a:p>
        </p:txBody>
      </p:sp>
      <p:sp>
        <p:nvSpPr>
          <p:cNvPr id="1695" name="Google Shape;1695;p15"/>
          <p:cNvSpPr txBox="1"/>
          <p:nvPr/>
        </p:nvSpPr>
        <p:spPr>
          <a:xfrm>
            <a:off x="868680" y="2359152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 Date</a:t>
            </a:r>
            <a:endParaRPr/>
          </a:p>
        </p:txBody>
      </p:sp>
      <p:sp>
        <p:nvSpPr>
          <p:cNvPr id="1696" name="Google Shape;1696;p15"/>
          <p:cNvSpPr txBox="1"/>
          <p:nvPr/>
        </p:nvSpPr>
        <p:spPr>
          <a:xfrm>
            <a:off x="1783080" y="2359152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 #</a:t>
            </a:r>
            <a:endParaRPr/>
          </a:p>
        </p:txBody>
      </p:sp>
      <p:sp>
        <p:nvSpPr>
          <p:cNvPr id="1697" name="Google Shape;1697;p15"/>
          <p:cNvSpPr txBox="1"/>
          <p:nvPr/>
        </p:nvSpPr>
        <p:spPr>
          <a:xfrm>
            <a:off x="2788920" y="2359152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Insured</a:t>
            </a:r>
            <a:endParaRPr/>
          </a:p>
        </p:txBody>
      </p:sp>
      <p:sp>
        <p:nvSpPr>
          <p:cNvPr id="1698" name="Google Shape;1698;p15"/>
          <p:cNvSpPr txBox="1"/>
          <p:nvPr/>
        </p:nvSpPr>
        <p:spPr>
          <a:xfrm>
            <a:off x="5394960" y="2359152"/>
            <a:ext cx="2057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Agency</a:t>
            </a:r>
            <a:endParaRPr/>
          </a:p>
        </p:txBody>
      </p:sp>
      <p:sp>
        <p:nvSpPr>
          <p:cNvPr id="1699" name="Google Shape;1699;p15"/>
          <p:cNvSpPr txBox="1"/>
          <p:nvPr/>
        </p:nvSpPr>
        <p:spPr>
          <a:xfrm>
            <a:off x="7452360" y="235915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LOB</a:t>
            </a:r>
            <a:endParaRPr/>
          </a:p>
        </p:txBody>
      </p:sp>
      <p:sp>
        <p:nvSpPr>
          <p:cNvPr id="1700" name="Google Shape;1700;p15"/>
          <p:cNvSpPr txBox="1"/>
          <p:nvPr/>
        </p:nvSpPr>
        <p:spPr>
          <a:xfrm>
            <a:off x="7909560" y="235915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State</a:t>
            </a:r>
            <a:endParaRPr/>
          </a:p>
        </p:txBody>
      </p:sp>
      <p:sp>
        <p:nvSpPr>
          <p:cNvPr id="1701" name="Google Shape;1701;p15"/>
          <p:cNvSpPr txBox="1"/>
          <p:nvPr/>
        </p:nvSpPr>
        <p:spPr>
          <a:xfrm>
            <a:off x="8366760" y="2359152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GWP</a:t>
            </a:r>
            <a:endParaRPr/>
          </a:p>
        </p:txBody>
      </p:sp>
      <p:sp>
        <p:nvSpPr>
          <p:cNvPr id="1702" name="Google Shape;1702;p15"/>
          <p:cNvSpPr txBox="1"/>
          <p:nvPr/>
        </p:nvSpPr>
        <p:spPr>
          <a:xfrm>
            <a:off x="9418320" y="2359152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Reason</a:t>
            </a:r>
            <a:endParaRPr/>
          </a:p>
        </p:txBody>
      </p:sp>
      <p:sp>
        <p:nvSpPr>
          <p:cNvPr id="1703" name="Google Shape;1703;p15"/>
          <p:cNvSpPr/>
          <p:nvPr/>
        </p:nvSpPr>
        <p:spPr>
          <a:xfrm>
            <a:off x="365760" y="2633472"/>
            <a:ext cx="11430000" cy="310896"/>
          </a:xfrm>
          <a:prstGeom prst="rect">
            <a:avLst/>
          </a:prstGeom>
          <a:solidFill>
            <a:srgbClr val="FAF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4" name="Google Shape;1704;p15"/>
          <p:cNvSpPr txBox="1"/>
          <p:nvPr/>
        </p:nvSpPr>
        <p:spPr>
          <a:xfrm>
            <a:off x="365760" y="267004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0d</a:t>
            </a:r>
            <a:endParaRPr/>
          </a:p>
        </p:txBody>
      </p:sp>
      <p:sp>
        <p:nvSpPr>
          <p:cNvPr id="1705" name="Google Shape;1705;p15"/>
          <p:cNvSpPr txBox="1"/>
          <p:nvPr/>
        </p:nvSpPr>
        <p:spPr>
          <a:xfrm>
            <a:off x="868680" y="267004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2026-06-01</a:t>
            </a:r>
            <a:endParaRPr/>
          </a:p>
        </p:txBody>
      </p:sp>
      <p:sp>
        <p:nvSpPr>
          <p:cNvPr id="1706" name="Google Shape;1706;p15"/>
          <p:cNvSpPr txBox="1"/>
          <p:nvPr/>
        </p:nvSpPr>
        <p:spPr>
          <a:xfrm>
            <a:off x="1783080" y="2670048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268973319591</a:t>
            </a:r>
            <a:endParaRPr/>
          </a:p>
        </p:txBody>
      </p:sp>
      <p:sp>
        <p:nvSpPr>
          <p:cNvPr id="1707" name="Google Shape;1707;p15"/>
          <p:cNvSpPr txBox="1"/>
          <p:nvPr/>
        </p:nvSpPr>
        <p:spPr>
          <a:xfrm>
            <a:off x="2788920" y="2670048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TOW AUSTIN LLC</a:t>
            </a:r>
            <a:endParaRPr/>
          </a:p>
        </p:txBody>
      </p:sp>
      <p:sp>
        <p:nvSpPr>
          <p:cNvPr id="1708" name="Google Shape;1708;p15"/>
          <p:cNvSpPr txBox="1"/>
          <p:nvPr/>
        </p:nvSpPr>
        <p:spPr>
          <a:xfrm>
            <a:off x="5394960" y="2670048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Usa Specialty Insurance/dba</a:t>
            </a:r>
            <a:endParaRPr/>
          </a:p>
        </p:txBody>
      </p:sp>
      <p:sp>
        <p:nvSpPr>
          <p:cNvPr id="1709" name="Google Shape;1709;p15"/>
          <p:cNvSpPr txBox="1"/>
          <p:nvPr/>
        </p:nvSpPr>
        <p:spPr>
          <a:xfrm>
            <a:off x="7452360" y="267004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</a:t>
            </a:r>
            <a:endParaRPr/>
          </a:p>
        </p:txBody>
      </p:sp>
      <p:sp>
        <p:nvSpPr>
          <p:cNvPr id="1710" name="Google Shape;1710;p15"/>
          <p:cNvSpPr txBox="1"/>
          <p:nvPr/>
        </p:nvSpPr>
        <p:spPr>
          <a:xfrm>
            <a:off x="7909560" y="267004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TX</a:t>
            </a:r>
            <a:endParaRPr/>
          </a:p>
        </p:txBody>
      </p:sp>
      <p:sp>
        <p:nvSpPr>
          <p:cNvPr id="1711" name="Google Shape;1711;p15"/>
          <p:cNvSpPr txBox="1"/>
          <p:nvPr/>
        </p:nvSpPr>
        <p:spPr>
          <a:xfrm>
            <a:off x="8366760" y="2670048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$912</a:t>
            </a:r>
            <a:endParaRPr/>
          </a:p>
        </p:txBody>
      </p:sp>
      <p:sp>
        <p:nvSpPr>
          <p:cNvPr id="1712" name="Google Shape;1712;p15"/>
          <p:cNvSpPr txBox="1"/>
          <p:nvPr/>
        </p:nvSpPr>
        <p:spPr>
          <a:xfrm>
            <a:off x="9418320" y="267004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Does Not Meet Uw Guidelines</a:t>
            </a:r>
            <a:endParaRPr/>
          </a:p>
        </p:txBody>
      </p:sp>
      <p:sp>
        <p:nvSpPr>
          <p:cNvPr id="1713" name="Google Shape;1713;p15"/>
          <p:cNvSpPr txBox="1"/>
          <p:nvPr/>
        </p:nvSpPr>
        <p:spPr>
          <a:xfrm>
            <a:off x="365760" y="2980944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0d</a:t>
            </a:r>
            <a:endParaRPr/>
          </a:p>
        </p:txBody>
      </p:sp>
      <p:sp>
        <p:nvSpPr>
          <p:cNvPr id="1714" name="Google Shape;1714;p15"/>
          <p:cNvSpPr txBox="1"/>
          <p:nvPr/>
        </p:nvSpPr>
        <p:spPr>
          <a:xfrm>
            <a:off x="868680" y="298094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2026-06-01</a:t>
            </a:r>
            <a:endParaRPr/>
          </a:p>
        </p:txBody>
      </p:sp>
      <p:sp>
        <p:nvSpPr>
          <p:cNvPr id="1715" name="Google Shape;1715;p15"/>
          <p:cNvSpPr txBox="1"/>
          <p:nvPr/>
        </p:nvSpPr>
        <p:spPr>
          <a:xfrm>
            <a:off x="1783080" y="2980944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261781530849</a:t>
            </a:r>
            <a:endParaRPr/>
          </a:p>
        </p:txBody>
      </p:sp>
      <p:sp>
        <p:nvSpPr>
          <p:cNvPr id="1716" name="Google Shape;1716;p15"/>
          <p:cNvSpPr txBox="1"/>
          <p:nvPr/>
        </p:nvSpPr>
        <p:spPr>
          <a:xfrm>
            <a:off x="2788920" y="2980944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CUB CENTER LLC</a:t>
            </a:r>
            <a:endParaRPr/>
          </a:p>
        </p:txBody>
      </p:sp>
      <p:sp>
        <p:nvSpPr>
          <p:cNvPr id="1717" name="Google Shape;1717;p15"/>
          <p:cNvSpPr txBox="1"/>
          <p:nvPr/>
        </p:nvSpPr>
        <p:spPr>
          <a:xfrm>
            <a:off x="5394960" y="2980944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Usa Specialty Insurance/dba</a:t>
            </a:r>
            <a:endParaRPr/>
          </a:p>
        </p:txBody>
      </p:sp>
      <p:sp>
        <p:nvSpPr>
          <p:cNvPr id="1718" name="Google Shape;1718;p15"/>
          <p:cNvSpPr txBox="1"/>
          <p:nvPr/>
        </p:nvSpPr>
        <p:spPr>
          <a:xfrm>
            <a:off x="7452360" y="2980944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</a:t>
            </a:r>
            <a:endParaRPr/>
          </a:p>
        </p:txBody>
      </p:sp>
      <p:sp>
        <p:nvSpPr>
          <p:cNvPr id="1719" name="Google Shape;1719;p15"/>
          <p:cNvSpPr txBox="1"/>
          <p:nvPr/>
        </p:nvSpPr>
        <p:spPr>
          <a:xfrm>
            <a:off x="7909560" y="2980944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NV</a:t>
            </a:r>
            <a:endParaRPr/>
          </a:p>
        </p:txBody>
      </p:sp>
      <p:sp>
        <p:nvSpPr>
          <p:cNvPr id="1720" name="Google Shape;1720;p15"/>
          <p:cNvSpPr txBox="1"/>
          <p:nvPr/>
        </p:nvSpPr>
        <p:spPr>
          <a:xfrm>
            <a:off x="8366760" y="2980944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$2,256</a:t>
            </a:r>
            <a:endParaRPr/>
          </a:p>
        </p:txBody>
      </p:sp>
      <p:sp>
        <p:nvSpPr>
          <p:cNvPr id="1721" name="Google Shape;1721;p15"/>
          <p:cNvSpPr txBox="1"/>
          <p:nvPr/>
        </p:nvSpPr>
        <p:spPr>
          <a:xfrm>
            <a:off x="9418320" y="2980944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Non Payment Internal</a:t>
            </a:r>
            <a:endParaRPr/>
          </a:p>
        </p:txBody>
      </p:sp>
      <p:sp>
        <p:nvSpPr>
          <p:cNvPr id="1722" name="Google Shape;1722;p15"/>
          <p:cNvSpPr/>
          <p:nvPr/>
        </p:nvSpPr>
        <p:spPr>
          <a:xfrm>
            <a:off x="365760" y="3255263"/>
            <a:ext cx="11430000" cy="310896"/>
          </a:xfrm>
          <a:prstGeom prst="rect">
            <a:avLst/>
          </a:prstGeom>
          <a:solidFill>
            <a:srgbClr val="FAF8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3" name="Google Shape;1723;p15"/>
          <p:cNvSpPr txBox="1"/>
          <p:nvPr/>
        </p:nvSpPr>
        <p:spPr>
          <a:xfrm>
            <a:off x="365760" y="3291839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0d</a:t>
            </a:r>
            <a:endParaRPr/>
          </a:p>
        </p:txBody>
      </p:sp>
      <p:sp>
        <p:nvSpPr>
          <p:cNvPr id="1724" name="Google Shape;1724;p15"/>
          <p:cNvSpPr txBox="1"/>
          <p:nvPr/>
        </p:nvSpPr>
        <p:spPr>
          <a:xfrm>
            <a:off x="868680" y="3291839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2026-06-01</a:t>
            </a:r>
            <a:endParaRPr/>
          </a:p>
        </p:txBody>
      </p:sp>
      <p:sp>
        <p:nvSpPr>
          <p:cNvPr id="1725" name="Google Shape;1725;p15"/>
          <p:cNvSpPr txBox="1"/>
          <p:nvPr/>
        </p:nvSpPr>
        <p:spPr>
          <a:xfrm>
            <a:off x="1783080" y="3291839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261781530849</a:t>
            </a:r>
            <a:endParaRPr/>
          </a:p>
        </p:txBody>
      </p:sp>
      <p:sp>
        <p:nvSpPr>
          <p:cNvPr id="1726" name="Google Shape;1726;p15"/>
          <p:cNvSpPr txBox="1"/>
          <p:nvPr/>
        </p:nvSpPr>
        <p:spPr>
          <a:xfrm>
            <a:off x="2788920" y="3291839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CUB CENTER LLC</a:t>
            </a:r>
            <a:endParaRPr/>
          </a:p>
        </p:txBody>
      </p:sp>
      <p:sp>
        <p:nvSpPr>
          <p:cNvPr id="1727" name="Google Shape;1727;p15"/>
          <p:cNvSpPr txBox="1"/>
          <p:nvPr/>
        </p:nvSpPr>
        <p:spPr>
          <a:xfrm>
            <a:off x="5394960" y="3291839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Usa Specialty Insurance/dba</a:t>
            </a:r>
            <a:endParaRPr/>
          </a:p>
        </p:txBody>
      </p:sp>
      <p:sp>
        <p:nvSpPr>
          <p:cNvPr id="1728" name="Google Shape;1728;p15"/>
          <p:cNvSpPr txBox="1"/>
          <p:nvPr/>
        </p:nvSpPr>
        <p:spPr>
          <a:xfrm>
            <a:off x="7452360" y="3291839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MTC</a:t>
            </a:r>
            <a:endParaRPr/>
          </a:p>
        </p:txBody>
      </p:sp>
      <p:sp>
        <p:nvSpPr>
          <p:cNvPr id="1729" name="Google Shape;1729;p15"/>
          <p:cNvSpPr txBox="1"/>
          <p:nvPr/>
        </p:nvSpPr>
        <p:spPr>
          <a:xfrm>
            <a:off x="7909560" y="3291839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NV</a:t>
            </a:r>
            <a:endParaRPr/>
          </a:p>
        </p:txBody>
      </p:sp>
      <p:sp>
        <p:nvSpPr>
          <p:cNvPr id="1730" name="Google Shape;1730;p15"/>
          <p:cNvSpPr txBox="1"/>
          <p:nvPr/>
        </p:nvSpPr>
        <p:spPr>
          <a:xfrm>
            <a:off x="8366760" y="3291839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$97</a:t>
            </a:r>
            <a:endParaRPr/>
          </a:p>
        </p:txBody>
      </p:sp>
      <p:sp>
        <p:nvSpPr>
          <p:cNvPr id="1731" name="Google Shape;1731;p15"/>
          <p:cNvSpPr txBox="1"/>
          <p:nvPr/>
        </p:nvSpPr>
        <p:spPr>
          <a:xfrm>
            <a:off x="9418320" y="3291839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Non Payment Internal</a:t>
            </a:r>
            <a:endParaRPr/>
          </a:p>
        </p:txBody>
      </p:sp>
      <p:sp>
        <p:nvSpPr>
          <p:cNvPr id="1732" name="Google Shape;1732;p15"/>
          <p:cNvSpPr txBox="1"/>
          <p:nvPr/>
        </p:nvSpPr>
        <p:spPr>
          <a:xfrm>
            <a:off x="365760" y="3602735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0d</a:t>
            </a:r>
            <a:endParaRPr/>
          </a:p>
        </p:txBody>
      </p:sp>
      <p:sp>
        <p:nvSpPr>
          <p:cNvPr id="1733" name="Google Shape;1733;p15"/>
          <p:cNvSpPr txBox="1"/>
          <p:nvPr/>
        </p:nvSpPr>
        <p:spPr>
          <a:xfrm>
            <a:off x="868680" y="3602735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2026-06-01</a:t>
            </a:r>
            <a:endParaRPr/>
          </a:p>
        </p:txBody>
      </p:sp>
      <p:sp>
        <p:nvSpPr>
          <p:cNvPr id="1734" name="Google Shape;1734;p15"/>
          <p:cNvSpPr txBox="1"/>
          <p:nvPr/>
        </p:nvSpPr>
        <p:spPr>
          <a:xfrm>
            <a:off x="1783080" y="3602735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268973319591</a:t>
            </a:r>
            <a:endParaRPr/>
          </a:p>
        </p:txBody>
      </p:sp>
      <p:sp>
        <p:nvSpPr>
          <p:cNvPr id="1735" name="Google Shape;1735;p15"/>
          <p:cNvSpPr txBox="1"/>
          <p:nvPr/>
        </p:nvSpPr>
        <p:spPr>
          <a:xfrm>
            <a:off x="2788920" y="3602735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TOW AUSTIN LLC</a:t>
            </a:r>
            <a:endParaRPr/>
          </a:p>
        </p:txBody>
      </p:sp>
      <p:sp>
        <p:nvSpPr>
          <p:cNvPr id="1736" name="Google Shape;1736;p15"/>
          <p:cNvSpPr txBox="1"/>
          <p:nvPr/>
        </p:nvSpPr>
        <p:spPr>
          <a:xfrm>
            <a:off x="5394960" y="3602735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Usa Specialty Insurance/dba</a:t>
            </a:r>
            <a:endParaRPr/>
          </a:p>
        </p:txBody>
      </p:sp>
      <p:sp>
        <p:nvSpPr>
          <p:cNvPr id="1737" name="Google Shape;1737;p15"/>
          <p:cNvSpPr txBox="1"/>
          <p:nvPr/>
        </p:nvSpPr>
        <p:spPr>
          <a:xfrm>
            <a:off x="7452360" y="3602735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TGL</a:t>
            </a:r>
            <a:endParaRPr/>
          </a:p>
        </p:txBody>
      </p:sp>
      <p:sp>
        <p:nvSpPr>
          <p:cNvPr id="1738" name="Google Shape;1738;p15"/>
          <p:cNvSpPr txBox="1"/>
          <p:nvPr/>
        </p:nvSpPr>
        <p:spPr>
          <a:xfrm>
            <a:off x="7909560" y="3602735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TX</a:t>
            </a:r>
            <a:endParaRPr/>
          </a:p>
        </p:txBody>
      </p:sp>
      <p:sp>
        <p:nvSpPr>
          <p:cNvPr id="1739" name="Google Shape;1739;p15"/>
          <p:cNvSpPr txBox="1"/>
          <p:nvPr/>
        </p:nvSpPr>
        <p:spPr>
          <a:xfrm>
            <a:off x="8366760" y="3602735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$21</a:t>
            </a:r>
            <a:endParaRPr/>
          </a:p>
        </p:txBody>
      </p:sp>
      <p:sp>
        <p:nvSpPr>
          <p:cNvPr id="1740" name="Google Shape;1740;p15"/>
          <p:cNvSpPr txBox="1"/>
          <p:nvPr/>
        </p:nvSpPr>
        <p:spPr>
          <a:xfrm>
            <a:off x="9418320" y="3602735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Does Not Meet Uw Guidelines</a:t>
            </a:r>
            <a:endParaRPr/>
          </a:p>
        </p:txBody>
      </p:sp>
      <p:sp>
        <p:nvSpPr>
          <p:cNvPr id="1741" name="Google Shape;1741;p15"/>
          <p:cNvSpPr txBox="1"/>
          <p:nvPr/>
        </p:nvSpPr>
        <p:spPr>
          <a:xfrm>
            <a:off x="365760" y="6492240"/>
            <a:ext cx="11430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Showing 4 of 4 pending cancels  |  Source: dw_reader.policy_premium  |  Non-payment = green (most savable), Insured-requested = red, Days ≤14 = red  |  Action: contact agency, confirm reinstatement plan, escalate non-payment cases for billing fix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5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p16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7" name="Google Shape;1747;p16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Usa Specialty Insurance/dba Preventty</a:t>
            </a:r>
            <a:endParaRPr/>
          </a:p>
        </p:txBody>
      </p:sp>
      <p:sp>
        <p:nvSpPr>
          <p:cNvPr id="1748" name="Google Shape;1748;p16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4B5F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Tier: Tier 1  |  Region: Southeast  |  State: FL  |  City: Orlando</a:t>
            </a:r>
            <a:endParaRPr/>
          </a:p>
        </p:txBody>
      </p:sp>
      <p:sp>
        <p:nvSpPr>
          <p:cNvPr id="1749" name="Google Shape;1749;p16"/>
          <p:cNvSpPr/>
          <p:nvPr/>
        </p:nvSpPr>
        <p:spPr>
          <a:xfrm>
            <a:off x="22860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$7,898,000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YTD GWP</a:t>
            </a:r>
            <a:endParaRPr/>
          </a:p>
        </p:txBody>
      </p:sp>
      <p:sp>
        <p:nvSpPr>
          <p:cNvPr id="1750" name="Google Shape;1750;p16"/>
          <p:cNvSpPr/>
          <p:nvPr/>
        </p:nvSpPr>
        <p:spPr>
          <a:xfrm>
            <a:off x="256032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$6,183,385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1751" name="Google Shape;1751;p16"/>
          <p:cNvSpPr/>
          <p:nvPr/>
        </p:nvSpPr>
        <p:spPr>
          <a:xfrm>
            <a:off x="489204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$578,824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1752" name="Google Shape;1752;p16"/>
          <p:cNvSpPr/>
          <p:nvPr/>
        </p:nvSpPr>
        <p:spPr>
          <a:xfrm>
            <a:off x="7223759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$1,135,791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1753" name="Google Shape;1753;p16"/>
          <p:cNvSpPr/>
          <p:nvPr/>
        </p:nvSpPr>
        <p:spPr>
          <a:xfrm>
            <a:off x="955548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$-3,838,210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1754" name="Google Shape;1754;p16"/>
          <p:cNvSpPr/>
          <p:nvPr/>
        </p:nvSpPr>
        <p:spPr>
          <a:xfrm>
            <a:off x="137160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$13,138,537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2025 Full Year GWP</a:t>
            </a:r>
            <a:endParaRPr/>
          </a:p>
        </p:txBody>
      </p:sp>
      <p:sp>
        <p:nvSpPr>
          <p:cNvPr id="1755" name="Google Shape;1755;p16"/>
          <p:cNvSpPr/>
          <p:nvPr/>
        </p:nvSpPr>
        <p:spPr>
          <a:xfrm>
            <a:off x="1627631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$14,681,613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Rolling 12M GWP</a:t>
            </a:r>
            <a:endParaRPr/>
          </a:p>
        </p:txBody>
      </p:sp>
      <p:sp>
        <p:nvSpPr>
          <p:cNvPr id="1756" name="Google Shape;1756;p16"/>
          <p:cNvSpPr/>
          <p:nvPr/>
        </p:nvSpPr>
        <p:spPr>
          <a:xfrm>
            <a:off x="3118103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50%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% to Goal</a:t>
            </a:r>
            <a:endParaRPr/>
          </a:p>
        </p:txBody>
      </p:sp>
      <p:sp>
        <p:nvSpPr>
          <p:cNvPr id="1757" name="Google Shape;1757;p16"/>
          <p:cNvSpPr/>
          <p:nvPr/>
        </p:nvSpPr>
        <p:spPr>
          <a:xfrm>
            <a:off x="4608576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3136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1758" name="Google Shape;1758;p16"/>
          <p:cNvSpPr/>
          <p:nvPr/>
        </p:nvSpPr>
        <p:spPr>
          <a:xfrm>
            <a:off x="6099048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263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1759" name="Google Shape;1759;p16"/>
          <p:cNvSpPr/>
          <p:nvPr/>
        </p:nvSpPr>
        <p:spPr>
          <a:xfrm>
            <a:off x="7589519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8.4%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1760" name="Google Shape;1760;p16"/>
          <p:cNvSpPr/>
          <p:nvPr/>
        </p:nvSpPr>
        <p:spPr>
          <a:xfrm>
            <a:off x="9079992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$1,575,782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 Bound Prem</a:t>
            </a:r>
            <a:endParaRPr/>
          </a:p>
        </p:txBody>
      </p:sp>
      <p:sp>
        <p:nvSpPr>
          <p:cNvPr id="1761" name="Google Shape;1761;p16"/>
          <p:cNvSpPr/>
          <p:nvPr/>
        </p:nvSpPr>
        <p:spPr>
          <a:xfrm>
            <a:off x="10570464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$5,421,367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NF Bound Prem</a:t>
            </a:r>
            <a:endParaRPr/>
          </a:p>
        </p:txBody>
      </p:sp>
      <p:sp>
        <p:nvSpPr>
          <p:cNvPr id="1762" name="Google Shape;1762;p16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3" name="Google Shape;1763;p16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PRODUCTION BY MONTH</a:t>
            </a:r>
            <a:endParaRPr/>
          </a:p>
        </p:txBody>
      </p:sp>
      <p:sp>
        <p:nvSpPr>
          <p:cNvPr id="1764" name="Google Shape;1764;p16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1765" name="Google Shape;1765;p16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Written Premium</a:t>
            </a:r>
            <a:endParaRPr/>
          </a:p>
        </p:txBody>
      </p:sp>
      <p:sp>
        <p:nvSpPr>
          <p:cNvPr id="1766" name="Google Shape;1766;p16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1767" name="Google Shape;1767;p16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1768" name="Google Shape;1768;p16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1769" name="Google Shape;1769;p16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1770" name="Google Shape;1770;p16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1" name="Google Shape;1771;p1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1772" name="Google Shape;1772;p16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$1,141,804</a:t>
            </a:r>
            <a:endParaRPr/>
          </a:p>
        </p:txBody>
      </p:sp>
      <p:sp>
        <p:nvSpPr>
          <p:cNvPr id="1773" name="Google Shape;1773;p16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$928,842</a:t>
            </a:r>
            <a:endParaRPr/>
          </a:p>
        </p:txBody>
      </p:sp>
      <p:sp>
        <p:nvSpPr>
          <p:cNvPr id="1774" name="Google Shape;1774;p16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$31,846</a:t>
            </a:r>
            <a:endParaRPr/>
          </a:p>
        </p:txBody>
      </p:sp>
      <p:sp>
        <p:nvSpPr>
          <p:cNvPr id="1775" name="Google Shape;1775;p16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$181,117</a:t>
            </a:r>
            <a:endParaRPr/>
          </a:p>
        </p:txBody>
      </p:sp>
      <p:sp>
        <p:nvSpPr>
          <p:cNvPr id="1776" name="Google Shape;1776;p16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$-591,526</a:t>
            </a:r>
            <a:endParaRPr/>
          </a:p>
        </p:txBody>
      </p:sp>
      <p:sp>
        <p:nvSpPr>
          <p:cNvPr id="1777" name="Google Shape;1777;p16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8" name="Google Shape;1778;p16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1779" name="Google Shape;1779;p16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$1,336,794</a:t>
            </a:r>
            <a:endParaRPr/>
          </a:p>
        </p:txBody>
      </p:sp>
      <p:sp>
        <p:nvSpPr>
          <p:cNvPr id="1780" name="Google Shape;1780;p16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$984,986</a:t>
            </a:r>
            <a:endParaRPr/>
          </a:p>
        </p:txBody>
      </p:sp>
      <p:sp>
        <p:nvSpPr>
          <p:cNvPr id="1781" name="Google Shape;1781;p1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$131,900</a:t>
            </a:r>
            <a:endParaRPr/>
          </a:p>
        </p:txBody>
      </p:sp>
      <p:sp>
        <p:nvSpPr>
          <p:cNvPr id="1782" name="Google Shape;1782;p16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$219,908</a:t>
            </a:r>
            <a:endParaRPr/>
          </a:p>
        </p:txBody>
      </p:sp>
      <p:sp>
        <p:nvSpPr>
          <p:cNvPr id="1783" name="Google Shape;1783;p16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$-433,222</a:t>
            </a:r>
            <a:endParaRPr/>
          </a:p>
        </p:txBody>
      </p:sp>
      <p:sp>
        <p:nvSpPr>
          <p:cNvPr id="1784" name="Google Shape;1784;p16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5" name="Google Shape;1785;p16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1786" name="Google Shape;1786;p16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$1,775,629</a:t>
            </a:r>
            <a:endParaRPr/>
          </a:p>
        </p:txBody>
      </p:sp>
      <p:sp>
        <p:nvSpPr>
          <p:cNvPr id="1787" name="Google Shape;1787;p16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$1,585,412</a:t>
            </a:r>
            <a:endParaRPr/>
          </a:p>
        </p:txBody>
      </p:sp>
      <p:sp>
        <p:nvSpPr>
          <p:cNvPr id="1788" name="Google Shape;1788;p16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$21,874</a:t>
            </a:r>
            <a:endParaRPr/>
          </a:p>
        </p:txBody>
      </p:sp>
      <p:sp>
        <p:nvSpPr>
          <p:cNvPr id="1789" name="Google Shape;1789;p16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$168,343</a:t>
            </a:r>
            <a:endParaRPr/>
          </a:p>
        </p:txBody>
      </p:sp>
      <p:sp>
        <p:nvSpPr>
          <p:cNvPr id="1790" name="Google Shape;1790;p16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$-724,452</a:t>
            </a:r>
            <a:endParaRPr/>
          </a:p>
        </p:txBody>
      </p:sp>
      <p:sp>
        <p:nvSpPr>
          <p:cNvPr id="1791" name="Google Shape;1791;p1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2" name="Google Shape;1792;p16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1793" name="Google Shape;1793;p16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$1,844,234</a:t>
            </a:r>
            <a:endParaRPr/>
          </a:p>
        </p:txBody>
      </p:sp>
      <p:sp>
        <p:nvSpPr>
          <p:cNvPr id="1794" name="Google Shape;1794;p16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$1,397,247</a:t>
            </a:r>
            <a:endParaRPr/>
          </a:p>
        </p:txBody>
      </p:sp>
      <p:sp>
        <p:nvSpPr>
          <p:cNvPr id="1795" name="Google Shape;1795;p16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$127,200</a:t>
            </a:r>
            <a:endParaRPr/>
          </a:p>
        </p:txBody>
      </p:sp>
      <p:sp>
        <p:nvSpPr>
          <p:cNvPr id="1796" name="Google Shape;1796;p16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$319,787</a:t>
            </a:r>
            <a:endParaRPr/>
          </a:p>
        </p:txBody>
      </p:sp>
      <p:sp>
        <p:nvSpPr>
          <p:cNvPr id="1797" name="Google Shape;1797;p16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$-977,679</a:t>
            </a:r>
            <a:endParaRPr/>
          </a:p>
        </p:txBody>
      </p:sp>
      <p:sp>
        <p:nvSpPr>
          <p:cNvPr id="1798" name="Google Shape;1798;p16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9" name="Google Shape;1799;p16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1800" name="Google Shape;1800;p16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$1,764,502</a:t>
            </a:r>
            <a:endParaRPr/>
          </a:p>
        </p:txBody>
      </p:sp>
      <p:sp>
        <p:nvSpPr>
          <p:cNvPr id="1801" name="Google Shape;1801;p1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$1,286,899</a:t>
            </a:r>
            <a:endParaRPr/>
          </a:p>
        </p:txBody>
      </p:sp>
      <p:sp>
        <p:nvSpPr>
          <p:cNvPr id="1802" name="Google Shape;1802;p16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$233,967</a:t>
            </a:r>
            <a:endParaRPr/>
          </a:p>
        </p:txBody>
      </p:sp>
      <p:sp>
        <p:nvSpPr>
          <p:cNvPr id="1803" name="Google Shape;1803;p16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$243,635</a:t>
            </a:r>
            <a:endParaRPr/>
          </a:p>
        </p:txBody>
      </p:sp>
      <p:sp>
        <p:nvSpPr>
          <p:cNvPr id="1804" name="Google Shape;1804;p16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$-1,051,332</a:t>
            </a:r>
            <a:endParaRPr/>
          </a:p>
        </p:txBody>
      </p:sp>
      <p:sp>
        <p:nvSpPr>
          <p:cNvPr id="1805" name="Google Shape;1805;p16"/>
          <p:cNvSpPr/>
          <p:nvPr/>
        </p:nvSpPr>
        <p:spPr>
          <a:xfrm>
            <a:off x="365760" y="4123944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6" name="Google Shape;1806;p16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1807" name="Google Shape;1807;p16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$35,037</a:t>
            </a:r>
            <a:endParaRPr/>
          </a:p>
        </p:txBody>
      </p:sp>
      <p:sp>
        <p:nvSpPr>
          <p:cNvPr id="1808" name="Google Shape;1808;p16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1809" name="Google Shape;1809;p16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$32,037</a:t>
            </a:r>
            <a:endParaRPr/>
          </a:p>
        </p:txBody>
      </p:sp>
      <p:sp>
        <p:nvSpPr>
          <p:cNvPr id="1810" name="Google Shape;1810;p16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$3,000</a:t>
            </a:r>
            <a:endParaRPr/>
          </a:p>
        </p:txBody>
      </p:sp>
      <p:sp>
        <p:nvSpPr>
          <p:cNvPr id="1811" name="Google Shape;1811;p1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$-59,999</a:t>
            </a:r>
            <a:endParaRPr/>
          </a:p>
        </p:txBody>
      </p:sp>
      <p:sp>
        <p:nvSpPr>
          <p:cNvPr id="1812" name="Google Shape;1812;p16"/>
          <p:cNvSpPr/>
          <p:nvPr/>
        </p:nvSpPr>
        <p:spPr>
          <a:xfrm>
            <a:off x="365760" y="4425696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3" name="Google Shape;1813;p16"/>
          <p:cNvSpPr txBox="1"/>
          <p:nvPr/>
        </p:nvSpPr>
        <p:spPr>
          <a:xfrm>
            <a:off x="3657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1814" name="Google Shape;1814;p16"/>
          <p:cNvSpPr txBox="1"/>
          <p:nvPr/>
        </p:nvSpPr>
        <p:spPr>
          <a:xfrm>
            <a:off x="1280160" y="446227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$7,898,000</a:t>
            </a:r>
            <a:endParaRPr/>
          </a:p>
        </p:txBody>
      </p:sp>
      <p:sp>
        <p:nvSpPr>
          <p:cNvPr id="1815" name="Google Shape;1815;p16"/>
          <p:cNvSpPr txBox="1"/>
          <p:nvPr/>
        </p:nvSpPr>
        <p:spPr>
          <a:xfrm>
            <a:off x="2377439" y="446227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$6,183,385</a:t>
            </a:r>
            <a:endParaRPr/>
          </a:p>
        </p:txBody>
      </p:sp>
      <p:sp>
        <p:nvSpPr>
          <p:cNvPr id="1816" name="Google Shape;1816;p16"/>
          <p:cNvSpPr txBox="1"/>
          <p:nvPr/>
        </p:nvSpPr>
        <p:spPr>
          <a:xfrm>
            <a:off x="33832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$578,824</a:t>
            </a:r>
            <a:endParaRPr/>
          </a:p>
        </p:txBody>
      </p:sp>
      <p:sp>
        <p:nvSpPr>
          <p:cNvPr id="1817" name="Google Shape;1817;p16"/>
          <p:cNvSpPr txBox="1"/>
          <p:nvPr/>
        </p:nvSpPr>
        <p:spPr>
          <a:xfrm>
            <a:off x="42976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$1,135,791</a:t>
            </a:r>
            <a:endParaRPr/>
          </a:p>
        </p:txBody>
      </p:sp>
      <p:sp>
        <p:nvSpPr>
          <p:cNvPr id="1818" name="Google Shape;1818;p16"/>
          <p:cNvSpPr txBox="1"/>
          <p:nvPr/>
        </p:nvSpPr>
        <p:spPr>
          <a:xfrm>
            <a:off x="52120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$-3,838,210</a:t>
            </a:r>
            <a:endParaRPr/>
          </a:p>
        </p:txBody>
      </p:sp>
      <p:sp>
        <p:nvSpPr>
          <p:cNvPr id="1819" name="Google Shape;1819;p16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0" name="Google Shape;1820;p16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 &amp; PIPELINE</a:t>
            </a:r>
            <a:endParaRPr/>
          </a:p>
        </p:txBody>
      </p:sp>
      <p:sp>
        <p:nvSpPr>
          <p:cNvPr id="1821" name="Google Shape;1821;p16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1822" name="Google Shape;1822;p16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Subs</a:t>
            </a:r>
            <a:endParaRPr/>
          </a:p>
        </p:txBody>
      </p:sp>
      <p:sp>
        <p:nvSpPr>
          <p:cNvPr id="1823" name="Google Shape;1823;p16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</a:t>
            </a:r>
            <a:endParaRPr/>
          </a:p>
        </p:txBody>
      </p:sp>
      <p:sp>
        <p:nvSpPr>
          <p:cNvPr id="1824" name="Google Shape;1824;p16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Non-Fleet</a:t>
            </a:r>
            <a:endParaRPr/>
          </a:p>
        </p:txBody>
      </p:sp>
      <p:sp>
        <p:nvSpPr>
          <p:cNvPr id="1825" name="Google Shape;1825;p16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1826" name="Google Shape;1826;p16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1827" name="Google Shape;1827;p16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8" name="Google Shape;1828;p1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1829" name="Google Shape;1829;p16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601</a:t>
            </a:r>
            <a:endParaRPr/>
          </a:p>
        </p:txBody>
      </p:sp>
      <p:sp>
        <p:nvSpPr>
          <p:cNvPr id="1830" name="Google Shape;1830;p16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55</a:t>
            </a:r>
            <a:endParaRPr/>
          </a:p>
        </p:txBody>
      </p:sp>
      <p:sp>
        <p:nvSpPr>
          <p:cNvPr id="1831" name="Google Shape;1831;p16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546</a:t>
            </a:r>
            <a:endParaRPr/>
          </a:p>
        </p:txBody>
      </p:sp>
      <p:sp>
        <p:nvSpPr>
          <p:cNvPr id="1832" name="Google Shape;1832;p16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83</a:t>
            </a:r>
            <a:endParaRPr/>
          </a:p>
        </p:txBody>
      </p:sp>
      <p:sp>
        <p:nvSpPr>
          <p:cNvPr id="1833" name="Google Shape;1833;p16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13.8%</a:t>
            </a:r>
            <a:endParaRPr/>
          </a:p>
        </p:txBody>
      </p:sp>
      <p:sp>
        <p:nvSpPr>
          <p:cNvPr id="1834" name="Google Shape;1834;p16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5" name="Google Shape;1835;p16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1836" name="Google Shape;1836;p16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649</a:t>
            </a:r>
            <a:endParaRPr/>
          </a:p>
        </p:txBody>
      </p:sp>
      <p:sp>
        <p:nvSpPr>
          <p:cNvPr id="1837" name="Google Shape;1837;p16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66</a:t>
            </a:r>
            <a:endParaRPr/>
          </a:p>
        </p:txBody>
      </p:sp>
      <p:sp>
        <p:nvSpPr>
          <p:cNvPr id="1838" name="Google Shape;1838;p1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583</a:t>
            </a:r>
            <a:endParaRPr/>
          </a:p>
        </p:txBody>
      </p:sp>
      <p:sp>
        <p:nvSpPr>
          <p:cNvPr id="1839" name="Google Shape;1839;p16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88</a:t>
            </a:r>
            <a:endParaRPr/>
          </a:p>
        </p:txBody>
      </p:sp>
      <p:sp>
        <p:nvSpPr>
          <p:cNvPr id="1840" name="Google Shape;1840;p16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13.6%</a:t>
            </a:r>
            <a:endParaRPr/>
          </a:p>
        </p:txBody>
      </p:sp>
      <p:sp>
        <p:nvSpPr>
          <p:cNvPr id="1841" name="Google Shape;1841;p16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2" name="Google Shape;1842;p16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1843" name="Google Shape;1843;p16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748</a:t>
            </a:r>
            <a:endParaRPr/>
          </a:p>
        </p:txBody>
      </p:sp>
      <p:sp>
        <p:nvSpPr>
          <p:cNvPr id="1844" name="Google Shape;1844;p16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68</a:t>
            </a:r>
            <a:endParaRPr/>
          </a:p>
        </p:txBody>
      </p:sp>
      <p:sp>
        <p:nvSpPr>
          <p:cNvPr id="1845" name="Google Shape;1845;p16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680</a:t>
            </a:r>
            <a:endParaRPr/>
          </a:p>
        </p:txBody>
      </p:sp>
      <p:sp>
        <p:nvSpPr>
          <p:cNvPr id="1846" name="Google Shape;1846;p16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85</a:t>
            </a:r>
            <a:endParaRPr/>
          </a:p>
        </p:txBody>
      </p:sp>
      <p:sp>
        <p:nvSpPr>
          <p:cNvPr id="1847" name="Google Shape;1847;p16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11.4%</a:t>
            </a:r>
            <a:endParaRPr/>
          </a:p>
        </p:txBody>
      </p:sp>
      <p:sp>
        <p:nvSpPr>
          <p:cNvPr id="1848" name="Google Shape;1848;p1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9" name="Google Shape;1849;p16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1850" name="Google Shape;1850;p16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889</a:t>
            </a:r>
            <a:endParaRPr/>
          </a:p>
        </p:txBody>
      </p:sp>
      <p:sp>
        <p:nvSpPr>
          <p:cNvPr id="1851" name="Google Shape;1851;p16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72</a:t>
            </a:r>
            <a:endParaRPr/>
          </a:p>
        </p:txBody>
      </p:sp>
      <p:sp>
        <p:nvSpPr>
          <p:cNvPr id="1852" name="Google Shape;1852;p16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817</a:t>
            </a:r>
            <a:endParaRPr/>
          </a:p>
        </p:txBody>
      </p:sp>
      <p:sp>
        <p:nvSpPr>
          <p:cNvPr id="1853" name="Google Shape;1853;p16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106</a:t>
            </a:r>
            <a:endParaRPr/>
          </a:p>
        </p:txBody>
      </p:sp>
      <p:sp>
        <p:nvSpPr>
          <p:cNvPr id="1854" name="Google Shape;1854;p16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11.9%</a:t>
            </a:r>
            <a:endParaRPr/>
          </a:p>
        </p:txBody>
      </p:sp>
      <p:sp>
        <p:nvSpPr>
          <p:cNvPr id="1855" name="Google Shape;1855;p16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6" name="Google Shape;1856;p16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1857" name="Google Shape;1857;p16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671</a:t>
            </a:r>
            <a:endParaRPr/>
          </a:p>
        </p:txBody>
      </p:sp>
      <p:sp>
        <p:nvSpPr>
          <p:cNvPr id="1858" name="Google Shape;1858;p1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66</a:t>
            </a:r>
            <a:endParaRPr/>
          </a:p>
        </p:txBody>
      </p:sp>
      <p:sp>
        <p:nvSpPr>
          <p:cNvPr id="1859" name="Google Shape;1859;p16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605</a:t>
            </a:r>
            <a:endParaRPr/>
          </a:p>
        </p:txBody>
      </p:sp>
      <p:sp>
        <p:nvSpPr>
          <p:cNvPr id="1860" name="Google Shape;1860;p16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68</a:t>
            </a:r>
            <a:endParaRPr/>
          </a:p>
        </p:txBody>
      </p:sp>
      <p:sp>
        <p:nvSpPr>
          <p:cNvPr id="1861" name="Google Shape;1861;p16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10.1%</a:t>
            </a:r>
            <a:endParaRPr/>
          </a:p>
        </p:txBody>
      </p:sp>
      <p:sp>
        <p:nvSpPr>
          <p:cNvPr id="1862" name="Google Shape;1862;p16"/>
          <p:cNvSpPr/>
          <p:nvPr/>
        </p:nvSpPr>
        <p:spPr>
          <a:xfrm>
            <a:off x="6309360" y="4123944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3" name="Google Shape;1863;p16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1864" name="Google Shape;1864;p16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1865" name="Google Shape;1865;p16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1866" name="Google Shape;1866;p16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1867" name="Google Shape;1867;p16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1868" name="Google Shape;1868;p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1869" name="Google Shape;1869;p16"/>
          <p:cNvSpPr/>
          <p:nvPr/>
        </p:nvSpPr>
        <p:spPr>
          <a:xfrm>
            <a:off x="6309360" y="4425696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0" name="Google Shape;1870;p16"/>
          <p:cNvSpPr txBox="1"/>
          <p:nvPr/>
        </p:nvSpPr>
        <p:spPr>
          <a:xfrm>
            <a:off x="63093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1871" name="Google Shape;1871;p16"/>
          <p:cNvSpPr txBox="1"/>
          <p:nvPr/>
        </p:nvSpPr>
        <p:spPr>
          <a:xfrm>
            <a:off x="722376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3136</a:t>
            </a:r>
            <a:endParaRPr/>
          </a:p>
        </p:txBody>
      </p:sp>
      <p:sp>
        <p:nvSpPr>
          <p:cNvPr id="1872" name="Google Shape;1872;p16"/>
          <p:cNvSpPr txBox="1"/>
          <p:nvPr/>
        </p:nvSpPr>
        <p:spPr>
          <a:xfrm>
            <a:off x="804672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297</a:t>
            </a:r>
            <a:endParaRPr/>
          </a:p>
        </p:txBody>
      </p:sp>
      <p:sp>
        <p:nvSpPr>
          <p:cNvPr id="1873" name="Google Shape;1873;p16"/>
          <p:cNvSpPr txBox="1"/>
          <p:nvPr/>
        </p:nvSpPr>
        <p:spPr>
          <a:xfrm>
            <a:off x="886968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2839</a:t>
            </a:r>
            <a:endParaRPr/>
          </a:p>
        </p:txBody>
      </p:sp>
      <p:sp>
        <p:nvSpPr>
          <p:cNvPr id="1874" name="Google Shape;1874;p16"/>
          <p:cNvSpPr txBox="1"/>
          <p:nvPr/>
        </p:nvSpPr>
        <p:spPr>
          <a:xfrm>
            <a:off x="978408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263</a:t>
            </a:r>
            <a:endParaRPr/>
          </a:p>
        </p:txBody>
      </p:sp>
      <p:sp>
        <p:nvSpPr>
          <p:cNvPr id="1875" name="Google Shape;1875;p16"/>
          <p:cNvSpPr txBox="1"/>
          <p:nvPr/>
        </p:nvSpPr>
        <p:spPr>
          <a:xfrm>
            <a:off x="1060704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8.4%</a:t>
            </a:r>
            <a:endParaRPr/>
          </a:p>
        </p:txBody>
      </p:sp>
      <p:sp>
        <p:nvSpPr>
          <p:cNvPr id="1876" name="Google Shape;1876;p16"/>
          <p:cNvSpPr/>
          <p:nvPr/>
        </p:nvSpPr>
        <p:spPr>
          <a:xfrm>
            <a:off x="365760" y="4782312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7" name="Google Shape;1877;p16"/>
          <p:cNvSpPr txBox="1"/>
          <p:nvPr/>
        </p:nvSpPr>
        <p:spPr>
          <a:xfrm>
            <a:off x="457200" y="4800599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YOY COMPARISON — Jan–Jun 2025 vs Jan–Jun 2026</a:t>
            </a:r>
            <a:endParaRPr/>
          </a:p>
        </p:txBody>
      </p:sp>
      <p:sp>
        <p:nvSpPr>
          <p:cNvPr id="1878" name="Google Shape;1878;p16"/>
          <p:cNvSpPr txBox="1"/>
          <p:nvPr/>
        </p:nvSpPr>
        <p:spPr>
          <a:xfrm>
            <a:off x="365760" y="5056631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00" u="none" cap="none" strike="noStrike">
              <a:solidFill>
                <a:srgbClr val="6B728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79" name="Google Shape;1879;p16"/>
          <p:cNvSpPr txBox="1"/>
          <p:nvPr/>
        </p:nvSpPr>
        <p:spPr>
          <a:xfrm>
            <a:off x="1463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'25</a:t>
            </a:r>
            <a:endParaRPr/>
          </a:p>
        </p:txBody>
      </p:sp>
      <p:sp>
        <p:nvSpPr>
          <p:cNvPr id="1880" name="Google Shape;1880;p16"/>
          <p:cNvSpPr txBox="1"/>
          <p:nvPr/>
        </p:nvSpPr>
        <p:spPr>
          <a:xfrm>
            <a:off x="2148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'26</a:t>
            </a:r>
            <a:endParaRPr/>
          </a:p>
        </p:txBody>
      </p:sp>
      <p:sp>
        <p:nvSpPr>
          <p:cNvPr id="1881" name="Google Shape;1881;p16"/>
          <p:cNvSpPr txBox="1"/>
          <p:nvPr/>
        </p:nvSpPr>
        <p:spPr>
          <a:xfrm>
            <a:off x="2834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'25</a:t>
            </a:r>
            <a:endParaRPr/>
          </a:p>
        </p:txBody>
      </p:sp>
      <p:sp>
        <p:nvSpPr>
          <p:cNvPr id="1882" name="Google Shape;1882;p16"/>
          <p:cNvSpPr txBox="1"/>
          <p:nvPr/>
        </p:nvSpPr>
        <p:spPr>
          <a:xfrm>
            <a:off x="3520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'26</a:t>
            </a:r>
            <a:endParaRPr/>
          </a:p>
        </p:txBody>
      </p:sp>
      <p:sp>
        <p:nvSpPr>
          <p:cNvPr id="1883" name="Google Shape;1883;p16"/>
          <p:cNvSpPr txBox="1"/>
          <p:nvPr/>
        </p:nvSpPr>
        <p:spPr>
          <a:xfrm>
            <a:off x="4206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'25</a:t>
            </a:r>
            <a:endParaRPr/>
          </a:p>
        </p:txBody>
      </p:sp>
      <p:sp>
        <p:nvSpPr>
          <p:cNvPr id="1884" name="Google Shape;1884;p16"/>
          <p:cNvSpPr txBox="1"/>
          <p:nvPr/>
        </p:nvSpPr>
        <p:spPr>
          <a:xfrm>
            <a:off x="4892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'26</a:t>
            </a:r>
            <a:endParaRPr/>
          </a:p>
        </p:txBody>
      </p:sp>
      <p:sp>
        <p:nvSpPr>
          <p:cNvPr id="1885" name="Google Shape;1885;p16"/>
          <p:cNvSpPr txBox="1"/>
          <p:nvPr/>
        </p:nvSpPr>
        <p:spPr>
          <a:xfrm>
            <a:off x="5577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'25</a:t>
            </a:r>
            <a:endParaRPr/>
          </a:p>
        </p:txBody>
      </p:sp>
      <p:sp>
        <p:nvSpPr>
          <p:cNvPr id="1886" name="Google Shape;1886;p16"/>
          <p:cNvSpPr txBox="1"/>
          <p:nvPr/>
        </p:nvSpPr>
        <p:spPr>
          <a:xfrm>
            <a:off x="6263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'26</a:t>
            </a:r>
            <a:endParaRPr/>
          </a:p>
        </p:txBody>
      </p:sp>
      <p:sp>
        <p:nvSpPr>
          <p:cNvPr id="1887" name="Google Shape;1887;p16"/>
          <p:cNvSpPr txBox="1"/>
          <p:nvPr/>
        </p:nvSpPr>
        <p:spPr>
          <a:xfrm>
            <a:off x="6949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'25</a:t>
            </a:r>
            <a:endParaRPr/>
          </a:p>
        </p:txBody>
      </p:sp>
      <p:sp>
        <p:nvSpPr>
          <p:cNvPr id="1888" name="Google Shape;1888;p16"/>
          <p:cNvSpPr txBox="1"/>
          <p:nvPr/>
        </p:nvSpPr>
        <p:spPr>
          <a:xfrm>
            <a:off x="7635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'26</a:t>
            </a:r>
            <a:endParaRPr/>
          </a:p>
        </p:txBody>
      </p:sp>
      <p:sp>
        <p:nvSpPr>
          <p:cNvPr id="1889" name="Google Shape;1889;p16"/>
          <p:cNvSpPr txBox="1"/>
          <p:nvPr/>
        </p:nvSpPr>
        <p:spPr>
          <a:xfrm>
            <a:off x="8321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'25</a:t>
            </a:r>
            <a:endParaRPr/>
          </a:p>
        </p:txBody>
      </p:sp>
      <p:sp>
        <p:nvSpPr>
          <p:cNvPr id="1890" name="Google Shape;1890;p16"/>
          <p:cNvSpPr txBox="1"/>
          <p:nvPr/>
        </p:nvSpPr>
        <p:spPr>
          <a:xfrm>
            <a:off x="9006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'26</a:t>
            </a:r>
            <a:endParaRPr/>
          </a:p>
        </p:txBody>
      </p:sp>
      <p:sp>
        <p:nvSpPr>
          <p:cNvPr id="1891" name="Google Shape;1891;p16"/>
          <p:cNvSpPr txBox="1"/>
          <p:nvPr/>
        </p:nvSpPr>
        <p:spPr>
          <a:xfrm>
            <a:off x="969264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'25 Tot</a:t>
            </a:r>
            <a:endParaRPr/>
          </a:p>
        </p:txBody>
      </p:sp>
      <p:sp>
        <p:nvSpPr>
          <p:cNvPr id="1892" name="Google Shape;1892;p16"/>
          <p:cNvSpPr txBox="1"/>
          <p:nvPr/>
        </p:nvSpPr>
        <p:spPr>
          <a:xfrm>
            <a:off x="1088136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'26 Tot</a:t>
            </a:r>
            <a:endParaRPr/>
          </a:p>
        </p:txBody>
      </p:sp>
      <p:sp>
        <p:nvSpPr>
          <p:cNvPr id="1893" name="Google Shape;1893;p16"/>
          <p:cNvSpPr txBox="1"/>
          <p:nvPr/>
        </p:nvSpPr>
        <p:spPr>
          <a:xfrm>
            <a:off x="365760" y="523951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1894" name="Google Shape;1894;p16"/>
          <p:cNvSpPr txBox="1"/>
          <p:nvPr/>
        </p:nvSpPr>
        <p:spPr>
          <a:xfrm>
            <a:off x="1463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563</a:t>
            </a:r>
            <a:endParaRPr/>
          </a:p>
        </p:txBody>
      </p:sp>
      <p:sp>
        <p:nvSpPr>
          <p:cNvPr id="1895" name="Google Shape;1895;p16"/>
          <p:cNvSpPr txBox="1"/>
          <p:nvPr/>
        </p:nvSpPr>
        <p:spPr>
          <a:xfrm>
            <a:off x="2148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601</a:t>
            </a:r>
            <a:endParaRPr/>
          </a:p>
        </p:txBody>
      </p:sp>
      <p:sp>
        <p:nvSpPr>
          <p:cNvPr id="1896" name="Google Shape;1896;p16"/>
          <p:cNvSpPr txBox="1"/>
          <p:nvPr/>
        </p:nvSpPr>
        <p:spPr>
          <a:xfrm>
            <a:off x="2834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533</a:t>
            </a:r>
            <a:endParaRPr/>
          </a:p>
        </p:txBody>
      </p:sp>
      <p:sp>
        <p:nvSpPr>
          <p:cNvPr id="1897" name="Google Shape;1897;p16"/>
          <p:cNvSpPr txBox="1"/>
          <p:nvPr/>
        </p:nvSpPr>
        <p:spPr>
          <a:xfrm>
            <a:off x="3520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649</a:t>
            </a:r>
            <a:endParaRPr/>
          </a:p>
        </p:txBody>
      </p:sp>
      <p:sp>
        <p:nvSpPr>
          <p:cNvPr id="1898" name="Google Shape;1898;p16"/>
          <p:cNvSpPr txBox="1"/>
          <p:nvPr/>
        </p:nvSpPr>
        <p:spPr>
          <a:xfrm>
            <a:off x="4206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666</a:t>
            </a:r>
            <a:endParaRPr/>
          </a:p>
        </p:txBody>
      </p:sp>
      <p:sp>
        <p:nvSpPr>
          <p:cNvPr id="1899" name="Google Shape;1899;p16"/>
          <p:cNvSpPr txBox="1"/>
          <p:nvPr/>
        </p:nvSpPr>
        <p:spPr>
          <a:xfrm>
            <a:off x="4892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748</a:t>
            </a:r>
            <a:endParaRPr/>
          </a:p>
        </p:txBody>
      </p:sp>
      <p:sp>
        <p:nvSpPr>
          <p:cNvPr id="1900" name="Google Shape;1900;p16"/>
          <p:cNvSpPr txBox="1"/>
          <p:nvPr/>
        </p:nvSpPr>
        <p:spPr>
          <a:xfrm>
            <a:off x="5577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747</a:t>
            </a:r>
            <a:endParaRPr/>
          </a:p>
        </p:txBody>
      </p:sp>
      <p:sp>
        <p:nvSpPr>
          <p:cNvPr id="1901" name="Google Shape;1901;p16"/>
          <p:cNvSpPr txBox="1"/>
          <p:nvPr/>
        </p:nvSpPr>
        <p:spPr>
          <a:xfrm>
            <a:off x="6263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889</a:t>
            </a:r>
            <a:endParaRPr/>
          </a:p>
        </p:txBody>
      </p:sp>
      <p:sp>
        <p:nvSpPr>
          <p:cNvPr id="1902" name="Google Shape;1902;p16"/>
          <p:cNvSpPr txBox="1"/>
          <p:nvPr/>
        </p:nvSpPr>
        <p:spPr>
          <a:xfrm>
            <a:off x="6949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741</a:t>
            </a:r>
            <a:endParaRPr/>
          </a:p>
        </p:txBody>
      </p:sp>
      <p:sp>
        <p:nvSpPr>
          <p:cNvPr id="1903" name="Google Shape;1903;p16"/>
          <p:cNvSpPr txBox="1"/>
          <p:nvPr/>
        </p:nvSpPr>
        <p:spPr>
          <a:xfrm>
            <a:off x="7635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671</a:t>
            </a:r>
            <a:endParaRPr/>
          </a:p>
        </p:txBody>
      </p:sp>
      <p:sp>
        <p:nvSpPr>
          <p:cNvPr id="1904" name="Google Shape;1904;p16"/>
          <p:cNvSpPr txBox="1"/>
          <p:nvPr/>
        </p:nvSpPr>
        <p:spPr>
          <a:xfrm>
            <a:off x="8321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710</a:t>
            </a:r>
            <a:endParaRPr/>
          </a:p>
        </p:txBody>
      </p:sp>
      <p:sp>
        <p:nvSpPr>
          <p:cNvPr id="1905" name="Google Shape;1905;p16"/>
          <p:cNvSpPr txBox="1"/>
          <p:nvPr/>
        </p:nvSpPr>
        <p:spPr>
          <a:xfrm>
            <a:off x="9006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1906" name="Google Shape;1906;p16"/>
          <p:cNvSpPr txBox="1"/>
          <p:nvPr/>
        </p:nvSpPr>
        <p:spPr>
          <a:xfrm>
            <a:off x="969264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3960</a:t>
            </a:r>
            <a:endParaRPr/>
          </a:p>
        </p:txBody>
      </p:sp>
      <p:sp>
        <p:nvSpPr>
          <p:cNvPr id="1907" name="Google Shape;1907;p16"/>
          <p:cNvSpPr txBox="1"/>
          <p:nvPr/>
        </p:nvSpPr>
        <p:spPr>
          <a:xfrm>
            <a:off x="1088136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3559</a:t>
            </a:r>
            <a:endParaRPr/>
          </a:p>
        </p:txBody>
      </p:sp>
      <p:sp>
        <p:nvSpPr>
          <p:cNvPr id="1908" name="Google Shape;1908;p16"/>
          <p:cNvSpPr txBox="1"/>
          <p:nvPr/>
        </p:nvSpPr>
        <p:spPr>
          <a:xfrm>
            <a:off x="365760" y="542239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Bound Premium</a:t>
            </a:r>
            <a:endParaRPr/>
          </a:p>
        </p:txBody>
      </p:sp>
      <p:sp>
        <p:nvSpPr>
          <p:cNvPr id="1909" name="Google Shape;1909;p16"/>
          <p:cNvSpPr txBox="1"/>
          <p:nvPr/>
        </p:nvSpPr>
        <p:spPr>
          <a:xfrm>
            <a:off x="1463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$598K</a:t>
            </a:r>
            <a:endParaRPr/>
          </a:p>
        </p:txBody>
      </p:sp>
      <p:sp>
        <p:nvSpPr>
          <p:cNvPr id="1910" name="Google Shape;1910;p16"/>
          <p:cNvSpPr txBox="1"/>
          <p:nvPr/>
        </p:nvSpPr>
        <p:spPr>
          <a:xfrm>
            <a:off x="2148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$1.1M</a:t>
            </a:r>
            <a:endParaRPr/>
          </a:p>
        </p:txBody>
      </p:sp>
      <p:sp>
        <p:nvSpPr>
          <p:cNvPr id="1911" name="Google Shape;1911;p16"/>
          <p:cNvSpPr txBox="1"/>
          <p:nvPr/>
        </p:nvSpPr>
        <p:spPr>
          <a:xfrm>
            <a:off x="2834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$634K</a:t>
            </a:r>
            <a:endParaRPr/>
          </a:p>
        </p:txBody>
      </p:sp>
      <p:sp>
        <p:nvSpPr>
          <p:cNvPr id="1912" name="Google Shape;1912;p16"/>
          <p:cNvSpPr txBox="1"/>
          <p:nvPr/>
        </p:nvSpPr>
        <p:spPr>
          <a:xfrm>
            <a:off x="3520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$1.3M</a:t>
            </a:r>
            <a:endParaRPr/>
          </a:p>
        </p:txBody>
      </p:sp>
      <p:sp>
        <p:nvSpPr>
          <p:cNvPr id="1913" name="Google Shape;1913;p16"/>
          <p:cNvSpPr txBox="1"/>
          <p:nvPr/>
        </p:nvSpPr>
        <p:spPr>
          <a:xfrm>
            <a:off x="4206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$816K</a:t>
            </a:r>
            <a:endParaRPr/>
          </a:p>
        </p:txBody>
      </p:sp>
      <p:sp>
        <p:nvSpPr>
          <p:cNvPr id="1914" name="Google Shape;1914;p16"/>
          <p:cNvSpPr txBox="1"/>
          <p:nvPr/>
        </p:nvSpPr>
        <p:spPr>
          <a:xfrm>
            <a:off x="4892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$1.8M</a:t>
            </a:r>
            <a:endParaRPr/>
          </a:p>
        </p:txBody>
      </p:sp>
      <p:sp>
        <p:nvSpPr>
          <p:cNvPr id="1915" name="Google Shape;1915;p16"/>
          <p:cNvSpPr txBox="1"/>
          <p:nvPr/>
        </p:nvSpPr>
        <p:spPr>
          <a:xfrm>
            <a:off x="5577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$1.2M</a:t>
            </a:r>
            <a:endParaRPr/>
          </a:p>
        </p:txBody>
      </p:sp>
      <p:sp>
        <p:nvSpPr>
          <p:cNvPr id="1916" name="Google Shape;1916;p16"/>
          <p:cNvSpPr txBox="1"/>
          <p:nvPr/>
        </p:nvSpPr>
        <p:spPr>
          <a:xfrm>
            <a:off x="6263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$1.8M</a:t>
            </a:r>
            <a:endParaRPr/>
          </a:p>
        </p:txBody>
      </p:sp>
      <p:sp>
        <p:nvSpPr>
          <p:cNvPr id="1917" name="Google Shape;1917;p16"/>
          <p:cNvSpPr txBox="1"/>
          <p:nvPr/>
        </p:nvSpPr>
        <p:spPr>
          <a:xfrm>
            <a:off x="6949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$1.3M</a:t>
            </a:r>
            <a:endParaRPr/>
          </a:p>
        </p:txBody>
      </p:sp>
      <p:sp>
        <p:nvSpPr>
          <p:cNvPr id="1918" name="Google Shape;1918;p16"/>
          <p:cNvSpPr txBox="1"/>
          <p:nvPr/>
        </p:nvSpPr>
        <p:spPr>
          <a:xfrm>
            <a:off x="7635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$1.8M</a:t>
            </a:r>
            <a:endParaRPr/>
          </a:p>
        </p:txBody>
      </p:sp>
      <p:sp>
        <p:nvSpPr>
          <p:cNvPr id="1919" name="Google Shape;1919;p16"/>
          <p:cNvSpPr txBox="1"/>
          <p:nvPr/>
        </p:nvSpPr>
        <p:spPr>
          <a:xfrm>
            <a:off x="8321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$1.8M</a:t>
            </a:r>
            <a:endParaRPr/>
          </a:p>
        </p:txBody>
      </p:sp>
      <p:sp>
        <p:nvSpPr>
          <p:cNvPr id="1920" name="Google Shape;1920;p16"/>
          <p:cNvSpPr txBox="1"/>
          <p:nvPr/>
        </p:nvSpPr>
        <p:spPr>
          <a:xfrm>
            <a:off x="9006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$35K</a:t>
            </a:r>
            <a:endParaRPr/>
          </a:p>
        </p:txBody>
      </p:sp>
      <p:sp>
        <p:nvSpPr>
          <p:cNvPr id="1921" name="Google Shape;1921;p16"/>
          <p:cNvSpPr txBox="1"/>
          <p:nvPr/>
        </p:nvSpPr>
        <p:spPr>
          <a:xfrm>
            <a:off x="969264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$6.4M</a:t>
            </a:r>
            <a:endParaRPr/>
          </a:p>
        </p:txBody>
      </p:sp>
      <p:sp>
        <p:nvSpPr>
          <p:cNvPr id="1922" name="Google Shape;1922;p16"/>
          <p:cNvSpPr txBox="1"/>
          <p:nvPr/>
        </p:nvSpPr>
        <p:spPr>
          <a:xfrm>
            <a:off x="1088136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$7.9M</a:t>
            </a:r>
            <a:endParaRPr/>
          </a:p>
        </p:txBody>
      </p:sp>
      <p:sp>
        <p:nvSpPr>
          <p:cNvPr id="1923" name="Google Shape;1923;p16"/>
          <p:cNvSpPr/>
          <p:nvPr/>
        </p:nvSpPr>
        <p:spPr>
          <a:xfrm>
            <a:off x="365760" y="5678423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4" name="Google Shape;1924;p16"/>
          <p:cNvSpPr txBox="1"/>
          <p:nvPr/>
        </p:nvSpPr>
        <p:spPr>
          <a:xfrm>
            <a:off x="4572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65F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STRENGTHS - What's Working</a:t>
            </a:r>
            <a:endParaRPr/>
          </a:p>
        </p:txBody>
      </p:sp>
      <p:sp>
        <p:nvSpPr>
          <p:cNvPr id="1925" name="Google Shape;1925;p16"/>
          <p:cNvSpPr txBox="1"/>
          <p:nvPr/>
        </p:nvSpPr>
        <p:spPr>
          <a:xfrm>
            <a:off x="4572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1926" name="Google Shape;1926;p16"/>
          <p:cNvSpPr txBox="1"/>
          <p:nvPr/>
        </p:nvSpPr>
        <p:spPr>
          <a:xfrm>
            <a:off x="685800" y="5952743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$7,898,000 YTD gross written premium</a:t>
            </a:r>
            <a:endParaRPr/>
          </a:p>
        </p:txBody>
      </p:sp>
      <p:sp>
        <p:nvSpPr>
          <p:cNvPr id="1927" name="Google Shape;1927;p16"/>
          <p:cNvSpPr txBox="1"/>
          <p:nvPr/>
        </p:nvSpPr>
        <p:spPr>
          <a:xfrm>
            <a:off x="457200" y="6153911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1928" name="Google Shape;1928;p16"/>
          <p:cNvSpPr txBox="1"/>
          <p:nvPr/>
        </p:nvSpPr>
        <p:spPr>
          <a:xfrm>
            <a:off x="685800" y="6153911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$6,183,385 in new business production</a:t>
            </a:r>
            <a:endParaRPr/>
          </a:p>
        </p:txBody>
      </p:sp>
      <p:sp>
        <p:nvSpPr>
          <p:cNvPr id="1929" name="Google Shape;1929;p16"/>
          <p:cNvSpPr/>
          <p:nvPr/>
        </p:nvSpPr>
        <p:spPr>
          <a:xfrm>
            <a:off x="6309360" y="5678423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0" name="Google Shape;1930;p16"/>
          <p:cNvSpPr txBox="1"/>
          <p:nvPr/>
        </p:nvSpPr>
        <p:spPr>
          <a:xfrm>
            <a:off x="64008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NEEDS ATTENTION</a:t>
            </a:r>
            <a:endParaRPr/>
          </a:p>
        </p:txBody>
      </p:sp>
      <p:sp>
        <p:nvSpPr>
          <p:cNvPr id="1931" name="Google Shape;1931;p16"/>
          <p:cNvSpPr txBox="1"/>
          <p:nvPr/>
        </p:nvSpPr>
        <p:spPr>
          <a:xfrm>
            <a:off x="64008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1932" name="Google Shape;1932;p16"/>
          <p:cNvSpPr txBox="1"/>
          <p:nvPr/>
        </p:nvSpPr>
        <p:spPr>
          <a:xfrm>
            <a:off x="6629400" y="5952743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 at 62% of new business ($3,838,210)</a:t>
            </a:r>
            <a:endParaRPr/>
          </a:p>
        </p:txBody>
      </p:sp>
      <p:sp>
        <p:nvSpPr>
          <p:cNvPr id="1933" name="Google Shape;1933;p16"/>
          <p:cNvSpPr txBox="1"/>
          <p:nvPr/>
        </p:nvSpPr>
        <p:spPr>
          <a:xfrm>
            <a:off x="6400800" y="6153911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1934" name="Google Shape;1934;p16"/>
          <p:cNvSpPr txBox="1"/>
          <p:nvPr/>
        </p:nvSpPr>
        <p:spPr>
          <a:xfrm>
            <a:off x="6629400" y="6153911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Written premium dropped 98% month-over-month</a:t>
            </a:r>
            <a:endParaRPr/>
          </a:p>
        </p:txBody>
      </p:sp>
      <p:sp>
        <p:nvSpPr>
          <p:cNvPr id="1935" name="Google Shape;1935;p16"/>
          <p:cNvSpPr/>
          <p:nvPr/>
        </p:nvSpPr>
        <p:spPr>
          <a:xfrm>
            <a:off x="365760" y="6455663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6" name="Google Shape;1936;p16"/>
          <p:cNvSpPr txBox="1"/>
          <p:nvPr/>
        </p:nvSpPr>
        <p:spPr>
          <a:xfrm>
            <a:off x="457200" y="6464807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STRATEGIC SALES TIPS - Conversation Starters</a:t>
            </a:r>
            <a:endParaRPr/>
          </a:p>
        </p:txBody>
      </p:sp>
      <p:sp>
        <p:nvSpPr>
          <p:cNvPr id="1937" name="Google Shape;1937;p16"/>
          <p:cNvSpPr txBox="1"/>
          <p:nvPr/>
        </p:nvSpPr>
        <p:spPr>
          <a:xfrm>
            <a:off x="457200" y="6711695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endParaRPr/>
          </a:p>
        </p:txBody>
      </p:sp>
      <p:sp>
        <p:nvSpPr>
          <p:cNvPr id="1938" name="Google Shape;1938;p16"/>
          <p:cNvSpPr txBox="1"/>
          <p:nvPr/>
        </p:nvSpPr>
        <p:spPr>
          <a:xfrm>
            <a:off x="777240" y="6711695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Acknowledge their $6,183,385 in new business. Ask: "What types of accounts are you seeing the most success with?" Use this to identify more of their book that fits our appetite.</a:t>
            </a:r>
            <a:endParaRPr/>
          </a:p>
        </p:txBody>
      </p:sp>
      <p:sp>
        <p:nvSpPr>
          <p:cNvPr id="1939" name="Google Shape;1939;p16"/>
          <p:cNvSpPr txBox="1"/>
          <p:nvPr/>
        </p:nvSpPr>
        <p:spPr>
          <a:xfrm>
            <a:off x="457200" y="6949439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endParaRPr/>
          </a:p>
        </p:txBody>
      </p:sp>
      <p:sp>
        <p:nvSpPr>
          <p:cNvPr id="1940" name="Google Shape;1940;p16"/>
          <p:cNvSpPr txBox="1"/>
          <p:nvPr/>
        </p:nvSpPr>
        <p:spPr>
          <a:xfrm>
            <a:off x="777240" y="6949439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Address the $3,838,210 in cancellations. Ask: "Are we losing these to price, service, or coverage?" Proactive retention discussions can protect the book and strengthen the relationship.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4" name="Shape 1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" name="Google Shape;1945;p17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6" name="Google Shape;1946;p17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Insurance4truckers Llc</a:t>
            </a:r>
            <a:endParaRPr/>
          </a:p>
        </p:txBody>
      </p:sp>
      <p:sp>
        <p:nvSpPr>
          <p:cNvPr id="1947" name="Google Shape;1947;p17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4B5F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Tier: Tier 3  |  Region: Southeast  |  State: TN  |  City: Fredericksburg</a:t>
            </a:r>
            <a:endParaRPr/>
          </a:p>
        </p:txBody>
      </p:sp>
      <p:sp>
        <p:nvSpPr>
          <p:cNvPr id="1948" name="Google Shape;1948;p17"/>
          <p:cNvSpPr/>
          <p:nvPr/>
        </p:nvSpPr>
        <p:spPr>
          <a:xfrm>
            <a:off x="22860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$2,947,338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YTD GWP</a:t>
            </a:r>
            <a:endParaRPr/>
          </a:p>
        </p:txBody>
      </p:sp>
      <p:sp>
        <p:nvSpPr>
          <p:cNvPr id="1949" name="Google Shape;1949;p17"/>
          <p:cNvSpPr/>
          <p:nvPr/>
        </p:nvSpPr>
        <p:spPr>
          <a:xfrm>
            <a:off x="256032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$2,043,674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1950" name="Google Shape;1950;p17"/>
          <p:cNvSpPr/>
          <p:nvPr/>
        </p:nvSpPr>
        <p:spPr>
          <a:xfrm>
            <a:off x="489204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$353,049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1951" name="Google Shape;1951;p17"/>
          <p:cNvSpPr/>
          <p:nvPr/>
        </p:nvSpPr>
        <p:spPr>
          <a:xfrm>
            <a:off x="7223759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$550,615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1952" name="Google Shape;1952;p17"/>
          <p:cNvSpPr/>
          <p:nvPr/>
        </p:nvSpPr>
        <p:spPr>
          <a:xfrm>
            <a:off x="955548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$-1,001,331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1953" name="Google Shape;1953;p17"/>
          <p:cNvSpPr/>
          <p:nvPr/>
        </p:nvSpPr>
        <p:spPr>
          <a:xfrm>
            <a:off x="137160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$4,955,246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2025 Full Year GWP</a:t>
            </a:r>
            <a:endParaRPr/>
          </a:p>
        </p:txBody>
      </p:sp>
      <p:sp>
        <p:nvSpPr>
          <p:cNvPr id="1954" name="Google Shape;1954;p17"/>
          <p:cNvSpPr/>
          <p:nvPr/>
        </p:nvSpPr>
        <p:spPr>
          <a:xfrm>
            <a:off x="1627631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$5,439,188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Rolling 12M GWP</a:t>
            </a:r>
            <a:endParaRPr/>
          </a:p>
        </p:txBody>
      </p:sp>
      <p:sp>
        <p:nvSpPr>
          <p:cNvPr id="1955" name="Google Shape;1955;p17"/>
          <p:cNvSpPr/>
          <p:nvPr/>
        </p:nvSpPr>
        <p:spPr>
          <a:xfrm>
            <a:off x="3118103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50%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% to Goal</a:t>
            </a:r>
            <a:endParaRPr/>
          </a:p>
        </p:txBody>
      </p:sp>
      <p:sp>
        <p:nvSpPr>
          <p:cNvPr id="1956" name="Google Shape;1956;p17"/>
          <p:cNvSpPr/>
          <p:nvPr/>
        </p:nvSpPr>
        <p:spPr>
          <a:xfrm>
            <a:off x="4608576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5487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1957" name="Google Shape;1957;p17"/>
          <p:cNvSpPr/>
          <p:nvPr/>
        </p:nvSpPr>
        <p:spPr>
          <a:xfrm>
            <a:off x="6099048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1958" name="Google Shape;1958;p17"/>
          <p:cNvSpPr/>
          <p:nvPr/>
        </p:nvSpPr>
        <p:spPr>
          <a:xfrm>
            <a:off x="7589519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2.3%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1959" name="Google Shape;1959;p17"/>
          <p:cNvSpPr/>
          <p:nvPr/>
        </p:nvSpPr>
        <p:spPr>
          <a:xfrm>
            <a:off x="9079992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$358,754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 Bound Prem</a:t>
            </a:r>
            <a:endParaRPr/>
          </a:p>
        </p:txBody>
      </p:sp>
      <p:sp>
        <p:nvSpPr>
          <p:cNvPr id="1960" name="Google Shape;1960;p17"/>
          <p:cNvSpPr/>
          <p:nvPr/>
        </p:nvSpPr>
        <p:spPr>
          <a:xfrm>
            <a:off x="10570464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$2,333,227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NF Bound Prem</a:t>
            </a:r>
            <a:endParaRPr/>
          </a:p>
        </p:txBody>
      </p:sp>
      <p:sp>
        <p:nvSpPr>
          <p:cNvPr id="1961" name="Google Shape;1961;p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2" name="Google Shape;1962;p17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PRODUCTION BY MONTH</a:t>
            </a:r>
            <a:endParaRPr/>
          </a:p>
        </p:txBody>
      </p:sp>
      <p:sp>
        <p:nvSpPr>
          <p:cNvPr id="1963" name="Google Shape;1963;p17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1964" name="Google Shape;1964;p17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Written Premium</a:t>
            </a:r>
            <a:endParaRPr/>
          </a:p>
        </p:txBody>
      </p:sp>
      <p:sp>
        <p:nvSpPr>
          <p:cNvPr id="1965" name="Google Shape;1965;p17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1966" name="Google Shape;1966;p17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1967" name="Google Shape;1967;p17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1968" name="Google Shape;1968;p17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1969" name="Google Shape;1969;p17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0" name="Google Shape;1970;p17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1971" name="Google Shape;1971;p1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$556,812</a:t>
            </a:r>
            <a:endParaRPr/>
          </a:p>
        </p:txBody>
      </p:sp>
      <p:sp>
        <p:nvSpPr>
          <p:cNvPr id="1972" name="Google Shape;1972;p17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$452,159</a:t>
            </a:r>
            <a:endParaRPr/>
          </a:p>
        </p:txBody>
      </p:sp>
      <p:sp>
        <p:nvSpPr>
          <p:cNvPr id="1973" name="Google Shape;1973;p17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$15,497</a:t>
            </a:r>
            <a:endParaRPr/>
          </a:p>
        </p:txBody>
      </p:sp>
      <p:sp>
        <p:nvSpPr>
          <p:cNvPr id="1974" name="Google Shape;1974;p17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$89,156</a:t>
            </a:r>
            <a:endParaRPr/>
          </a:p>
        </p:txBody>
      </p:sp>
      <p:sp>
        <p:nvSpPr>
          <p:cNvPr id="1975" name="Google Shape;1975;p17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$-178,793</a:t>
            </a:r>
            <a:endParaRPr/>
          </a:p>
        </p:txBody>
      </p:sp>
      <p:sp>
        <p:nvSpPr>
          <p:cNvPr id="1976" name="Google Shape;1976;p17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7" name="Google Shape;1977;p17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1978" name="Google Shape;1978;p17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$577,769</a:t>
            </a:r>
            <a:endParaRPr/>
          </a:p>
        </p:txBody>
      </p:sp>
      <p:sp>
        <p:nvSpPr>
          <p:cNvPr id="1979" name="Google Shape;1979;p17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$385,510</a:t>
            </a:r>
            <a:endParaRPr/>
          </a:p>
        </p:txBody>
      </p:sp>
      <p:sp>
        <p:nvSpPr>
          <p:cNvPr id="1980" name="Google Shape;1980;p17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$111,103</a:t>
            </a:r>
            <a:endParaRPr/>
          </a:p>
        </p:txBody>
      </p:sp>
      <p:sp>
        <p:nvSpPr>
          <p:cNvPr id="1981" name="Google Shape;1981;p1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$81,156</a:t>
            </a:r>
            <a:endParaRPr/>
          </a:p>
        </p:txBody>
      </p:sp>
      <p:sp>
        <p:nvSpPr>
          <p:cNvPr id="1982" name="Google Shape;1982;p17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$-143,092</a:t>
            </a:r>
            <a:endParaRPr/>
          </a:p>
        </p:txBody>
      </p:sp>
      <p:sp>
        <p:nvSpPr>
          <p:cNvPr id="1983" name="Google Shape;1983;p17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4" name="Google Shape;1984;p17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1985" name="Google Shape;1985;p17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$466,148</a:t>
            </a:r>
            <a:endParaRPr/>
          </a:p>
        </p:txBody>
      </p:sp>
      <p:sp>
        <p:nvSpPr>
          <p:cNvPr id="1986" name="Google Shape;1986;p17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$301,112</a:t>
            </a:r>
            <a:endParaRPr/>
          </a:p>
        </p:txBody>
      </p:sp>
      <p:sp>
        <p:nvSpPr>
          <p:cNvPr id="1987" name="Google Shape;1987;p17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$85,585</a:t>
            </a:r>
            <a:endParaRPr/>
          </a:p>
        </p:txBody>
      </p:sp>
      <p:sp>
        <p:nvSpPr>
          <p:cNvPr id="1988" name="Google Shape;1988;p17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$79,451</a:t>
            </a:r>
            <a:endParaRPr/>
          </a:p>
        </p:txBody>
      </p:sp>
      <p:sp>
        <p:nvSpPr>
          <p:cNvPr id="1989" name="Google Shape;1989;p17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$-216,994</a:t>
            </a:r>
            <a:endParaRPr/>
          </a:p>
        </p:txBody>
      </p:sp>
      <p:sp>
        <p:nvSpPr>
          <p:cNvPr id="1990" name="Google Shape;1990;p17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1" name="Google Shape;1991;p1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1992" name="Google Shape;1992;p17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$482,724</a:t>
            </a:r>
            <a:endParaRPr/>
          </a:p>
        </p:txBody>
      </p:sp>
      <p:sp>
        <p:nvSpPr>
          <p:cNvPr id="1993" name="Google Shape;1993;p17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$338,286</a:t>
            </a:r>
            <a:endParaRPr/>
          </a:p>
        </p:txBody>
      </p:sp>
      <p:sp>
        <p:nvSpPr>
          <p:cNvPr id="1994" name="Google Shape;1994;p17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$33,425</a:t>
            </a:r>
            <a:endParaRPr/>
          </a:p>
        </p:txBody>
      </p:sp>
      <p:sp>
        <p:nvSpPr>
          <p:cNvPr id="1995" name="Google Shape;1995;p17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$111,013</a:t>
            </a:r>
            <a:endParaRPr/>
          </a:p>
        </p:txBody>
      </p:sp>
      <p:sp>
        <p:nvSpPr>
          <p:cNvPr id="1996" name="Google Shape;1996;p17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$-218,936</a:t>
            </a:r>
            <a:endParaRPr/>
          </a:p>
        </p:txBody>
      </p:sp>
      <p:sp>
        <p:nvSpPr>
          <p:cNvPr id="1997" name="Google Shape;1997;p17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8" name="Google Shape;1998;p17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1999" name="Google Shape;1999;p17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$813,873</a:t>
            </a:r>
            <a:endParaRPr/>
          </a:p>
        </p:txBody>
      </p:sp>
      <p:sp>
        <p:nvSpPr>
          <p:cNvPr id="2000" name="Google Shape;2000;p17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$523,560</a:t>
            </a:r>
            <a:endParaRPr/>
          </a:p>
        </p:txBody>
      </p:sp>
      <p:sp>
        <p:nvSpPr>
          <p:cNvPr id="2001" name="Google Shape;2001;p1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$107,440</a:t>
            </a:r>
            <a:endParaRPr/>
          </a:p>
        </p:txBody>
      </p:sp>
      <p:sp>
        <p:nvSpPr>
          <p:cNvPr id="2002" name="Google Shape;2002;p17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$182,873</a:t>
            </a:r>
            <a:endParaRPr/>
          </a:p>
        </p:txBody>
      </p:sp>
      <p:sp>
        <p:nvSpPr>
          <p:cNvPr id="2003" name="Google Shape;2003;p17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$-243,516</a:t>
            </a:r>
            <a:endParaRPr/>
          </a:p>
        </p:txBody>
      </p:sp>
      <p:sp>
        <p:nvSpPr>
          <p:cNvPr id="2004" name="Google Shape;2004;p17"/>
          <p:cNvSpPr/>
          <p:nvPr/>
        </p:nvSpPr>
        <p:spPr>
          <a:xfrm>
            <a:off x="365760" y="4123944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5" name="Google Shape;2005;p17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2006" name="Google Shape;2006;p17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$50,013</a:t>
            </a:r>
            <a:endParaRPr/>
          </a:p>
        </p:txBody>
      </p:sp>
      <p:sp>
        <p:nvSpPr>
          <p:cNvPr id="2007" name="Google Shape;2007;p17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$43,048</a:t>
            </a:r>
            <a:endParaRPr/>
          </a:p>
        </p:txBody>
      </p:sp>
      <p:sp>
        <p:nvSpPr>
          <p:cNvPr id="2008" name="Google Shape;2008;p17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009" name="Google Shape;2009;p17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$6,965</a:t>
            </a:r>
            <a:endParaRPr/>
          </a:p>
        </p:txBody>
      </p:sp>
      <p:sp>
        <p:nvSpPr>
          <p:cNvPr id="2010" name="Google Shape;2010;p17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011" name="Google Shape;2011;p17"/>
          <p:cNvSpPr/>
          <p:nvPr/>
        </p:nvSpPr>
        <p:spPr>
          <a:xfrm>
            <a:off x="365760" y="4425696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2" name="Google Shape;2012;p17"/>
          <p:cNvSpPr txBox="1"/>
          <p:nvPr/>
        </p:nvSpPr>
        <p:spPr>
          <a:xfrm>
            <a:off x="3657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2013" name="Google Shape;2013;p17"/>
          <p:cNvSpPr txBox="1"/>
          <p:nvPr/>
        </p:nvSpPr>
        <p:spPr>
          <a:xfrm>
            <a:off x="1280160" y="446227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$2,947,338</a:t>
            </a:r>
            <a:endParaRPr/>
          </a:p>
        </p:txBody>
      </p:sp>
      <p:sp>
        <p:nvSpPr>
          <p:cNvPr id="2014" name="Google Shape;2014;p17"/>
          <p:cNvSpPr txBox="1"/>
          <p:nvPr/>
        </p:nvSpPr>
        <p:spPr>
          <a:xfrm>
            <a:off x="2377439" y="446227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$2,043,674</a:t>
            </a:r>
            <a:endParaRPr/>
          </a:p>
        </p:txBody>
      </p:sp>
      <p:sp>
        <p:nvSpPr>
          <p:cNvPr id="2015" name="Google Shape;2015;p17"/>
          <p:cNvSpPr txBox="1"/>
          <p:nvPr/>
        </p:nvSpPr>
        <p:spPr>
          <a:xfrm>
            <a:off x="33832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$353,049</a:t>
            </a:r>
            <a:endParaRPr/>
          </a:p>
        </p:txBody>
      </p:sp>
      <p:sp>
        <p:nvSpPr>
          <p:cNvPr id="2016" name="Google Shape;2016;p17"/>
          <p:cNvSpPr txBox="1"/>
          <p:nvPr/>
        </p:nvSpPr>
        <p:spPr>
          <a:xfrm>
            <a:off x="42976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$550,615</a:t>
            </a:r>
            <a:endParaRPr/>
          </a:p>
        </p:txBody>
      </p:sp>
      <p:sp>
        <p:nvSpPr>
          <p:cNvPr id="2017" name="Google Shape;2017;p17"/>
          <p:cNvSpPr txBox="1"/>
          <p:nvPr/>
        </p:nvSpPr>
        <p:spPr>
          <a:xfrm>
            <a:off x="52120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$-1,001,331</a:t>
            </a:r>
            <a:endParaRPr/>
          </a:p>
        </p:txBody>
      </p:sp>
      <p:sp>
        <p:nvSpPr>
          <p:cNvPr id="2018" name="Google Shape;2018;p1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9" name="Google Shape;2019;p17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 &amp; PIPELINE</a:t>
            </a:r>
            <a:endParaRPr/>
          </a:p>
        </p:txBody>
      </p:sp>
      <p:sp>
        <p:nvSpPr>
          <p:cNvPr id="2020" name="Google Shape;2020;p17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2021" name="Google Shape;2021;p17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Subs</a:t>
            </a:r>
            <a:endParaRPr/>
          </a:p>
        </p:txBody>
      </p:sp>
      <p:sp>
        <p:nvSpPr>
          <p:cNvPr id="2022" name="Google Shape;2022;p17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</a:t>
            </a:r>
            <a:endParaRPr/>
          </a:p>
        </p:txBody>
      </p:sp>
      <p:sp>
        <p:nvSpPr>
          <p:cNvPr id="2023" name="Google Shape;2023;p17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Non-Fleet</a:t>
            </a:r>
            <a:endParaRPr/>
          </a:p>
        </p:txBody>
      </p:sp>
      <p:sp>
        <p:nvSpPr>
          <p:cNvPr id="2024" name="Google Shape;2024;p17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2025" name="Google Shape;2025;p17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2026" name="Google Shape;2026;p17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7" name="Google Shape;2027;p17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2028" name="Google Shape;2028;p1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1160</a:t>
            </a:r>
            <a:endParaRPr/>
          </a:p>
        </p:txBody>
      </p:sp>
      <p:sp>
        <p:nvSpPr>
          <p:cNvPr id="2029" name="Google Shape;2029;p17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62</a:t>
            </a:r>
            <a:endParaRPr/>
          </a:p>
        </p:txBody>
      </p:sp>
      <p:sp>
        <p:nvSpPr>
          <p:cNvPr id="2030" name="Google Shape;2030;p17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1098</a:t>
            </a:r>
            <a:endParaRPr/>
          </a:p>
        </p:txBody>
      </p:sp>
      <p:sp>
        <p:nvSpPr>
          <p:cNvPr id="2031" name="Google Shape;2031;p17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51</a:t>
            </a:r>
            <a:endParaRPr/>
          </a:p>
        </p:txBody>
      </p:sp>
      <p:sp>
        <p:nvSpPr>
          <p:cNvPr id="2032" name="Google Shape;2032;p17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4.4%</a:t>
            </a:r>
            <a:endParaRPr/>
          </a:p>
        </p:txBody>
      </p:sp>
      <p:sp>
        <p:nvSpPr>
          <p:cNvPr id="2033" name="Google Shape;2033;p17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4" name="Google Shape;2034;p17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2035" name="Google Shape;2035;p17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1179</a:t>
            </a:r>
            <a:endParaRPr/>
          </a:p>
        </p:txBody>
      </p:sp>
      <p:sp>
        <p:nvSpPr>
          <p:cNvPr id="2036" name="Google Shape;2036;p17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65</a:t>
            </a:r>
            <a:endParaRPr/>
          </a:p>
        </p:txBody>
      </p:sp>
      <p:sp>
        <p:nvSpPr>
          <p:cNvPr id="2037" name="Google Shape;2037;p17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1114</a:t>
            </a:r>
            <a:endParaRPr/>
          </a:p>
        </p:txBody>
      </p:sp>
      <p:sp>
        <p:nvSpPr>
          <p:cNvPr id="2038" name="Google Shape;2038;p1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51</a:t>
            </a:r>
            <a:endParaRPr/>
          </a:p>
        </p:txBody>
      </p:sp>
      <p:sp>
        <p:nvSpPr>
          <p:cNvPr id="2039" name="Google Shape;2039;p17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4.3%</a:t>
            </a:r>
            <a:endParaRPr/>
          </a:p>
        </p:txBody>
      </p:sp>
      <p:sp>
        <p:nvSpPr>
          <p:cNvPr id="2040" name="Google Shape;2040;p17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1" name="Google Shape;2041;p17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2042" name="Google Shape;2042;p17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1081</a:t>
            </a:r>
            <a:endParaRPr/>
          </a:p>
        </p:txBody>
      </p:sp>
      <p:sp>
        <p:nvSpPr>
          <p:cNvPr id="2043" name="Google Shape;2043;p17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41</a:t>
            </a:r>
            <a:endParaRPr/>
          </a:p>
        </p:txBody>
      </p:sp>
      <p:sp>
        <p:nvSpPr>
          <p:cNvPr id="2044" name="Google Shape;2044;p17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1040</a:t>
            </a:r>
            <a:endParaRPr/>
          </a:p>
        </p:txBody>
      </p:sp>
      <p:sp>
        <p:nvSpPr>
          <p:cNvPr id="2045" name="Google Shape;2045;p17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50</a:t>
            </a:r>
            <a:endParaRPr/>
          </a:p>
        </p:txBody>
      </p:sp>
      <p:sp>
        <p:nvSpPr>
          <p:cNvPr id="2046" name="Google Shape;2046;p17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4.6%</a:t>
            </a:r>
            <a:endParaRPr/>
          </a:p>
        </p:txBody>
      </p:sp>
      <p:sp>
        <p:nvSpPr>
          <p:cNvPr id="2047" name="Google Shape;2047;p17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8" name="Google Shape;2048;p1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2049" name="Google Shape;2049;p17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1291</a:t>
            </a:r>
            <a:endParaRPr/>
          </a:p>
        </p:txBody>
      </p:sp>
      <p:sp>
        <p:nvSpPr>
          <p:cNvPr id="2050" name="Google Shape;2050;p17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46</a:t>
            </a:r>
            <a:endParaRPr/>
          </a:p>
        </p:txBody>
      </p:sp>
      <p:sp>
        <p:nvSpPr>
          <p:cNvPr id="2051" name="Google Shape;2051;p17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1245</a:t>
            </a:r>
            <a:endParaRPr/>
          </a:p>
        </p:txBody>
      </p:sp>
      <p:sp>
        <p:nvSpPr>
          <p:cNvPr id="2052" name="Google Shape;2052;p17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59</a:t>
            </a:r>
            <a:endParaRPr/>
          </a:p>
        </p:txBody>
      </p:sp>
      <p:sp>
        <p:nvSpPr>
          <p:cNvPr id="2053" name="Google Shape;2053;p17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4.6%</a:t>
            </a:r>
            <a:endParaRPr/>
          </a:p>
        </p:txBody>
      </p:sp>
      <p:sp>
        <p:nvSpPr>
          <p:cNvPr id="2054" name="Google Shape;2054;p17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5" name="Google Shape;2055;p17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2056" name="Google Shape;2056;p17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1005</a:t>
            </a:r>
            <a:endParaRPr/>
          </a:p>
        </p:txBody>
      </p:sp>
      <p:sp>
        <p:nvSpPr>
          <p:cNvPr id="2057" name="Google Shape;2057;p17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51</a:t>
            </a:r>
            <a:endParaRPr/>
          </a:p>
        </p:txBody>
      </p:sp>
      <p:sp>
        <p:nvSpPr>
          <p:cNvPr id="2058" name="Google Shape;2058;p1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954</a:t>
            </a:r>
            <a:endParaRPr/>
          </a:p>
        </p:txBody>
      </p:sp>
      <p:sp>
        <p:nvSpPr>
          <p:cNvPr id="2059" name="Google Shape;2059;p17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43</a:t>
            </a:r>
            <a:endParaRPr/>
          </a:p>
        </p:txBody>
      </p:sp>
      <p:sp>
        <p:nvSpPr>
          <p:cNvPr id="2060" name="Google Shape;2060;p17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4.3%</a:t>
            </a:r>
            <a:endParaRPr/>
          </a:p>
        </p:txBody>
      </p:sp>
      <p:sp>
        <p:nvSpPr>
          <p:cNvPr id="2061" name="Google Shape;2061;p17"/>
          <p:cNvSpPr/>
          <p:nvPr/>
        </p:nvSpPr>
        <p:spPr>
          <a:xfrm>
            <a:off x="6309360" y="4123944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2" name="Google Shape;2062;p17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2063" name="Google Shape;2063;p17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2064" name="Google Shape;2064;p17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2065" name="Google Shape;2065;p17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2066" name="Google Shape;2066;p17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2067" name="Google Shape;2067;p17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2068" name="Google Shape;2068;p17"/>
          <p:cNvSpPr/>
          <p:nvPr/>
        </p:nvSpPr>
        <p:spPr>
          <a:xfrm>
            <a:off x="6309360" y="4425696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9" name="Google Shape;2069;p17"/>
          <p:cNvSpPr txBox="1"/>
          <p:nvPr/>
        </p:nvSpPr>
        <p:spPr>
          <a:xfrm>
            <a:off x="63093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2070" name="Google Shape;2070;p17"/>
          <p:cNvSpPr txBox="1"/>
          <p:nvPr/>
        </p:nvSpPr>
        <p:spPr>
          <a:xfrm>
            <a:off x="722376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5487</a:t>
            </a:r>
            <a:endParaRPr/>
          </a:p>
        </p:txBody>
      </p:sp>
      <p:sp>
        <p:nvSpPr>
          <p:cNvPr id="2071" name="Google Shape;2071;p17"/>
          <p:cNvSpPr txBox="1"/>
          <p:nvPr/>
        </p:nvSpPr>
        <p:spPr>
          <a:xfrm>
            <a:off x="804672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243</a:t>
            </a:r>
            <a:endParaRPr/>
          </a:p>
        </p:txBody>
      </p:sp>
      <p:sp>
        <p:nvSpPr>
          <p:cNvPr id="2072" name="Google Shape;2072;p17"/>
          <p:cNvSpPr txBox="1"/>
          <p:nvPr/>
        </p:nvSpPr>
        <p:spPr>
          <a:xfrm>
            <a:off x="886968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5244</a:t>
            </a:r>
            <a:endParaRPr/>
          </a:p>
        </p:txBody>
      </p:sp>
      <p:sp>
        <p:nvSpPr>
          <p:cNvPr id="2073" name="Google Shape;2073;p17"/>
          <p:cNvSpPr txBox="1"/>
          <p:nvPr/>
        </p:nvSpPr>
        <p:spPr>
          <a:xfrm>
            <a:off x="978408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125</a:t>
            </a:r>
            <a:endParaRPr/>
          </a:p>
        </p:txBody>
      </p:sp>
      <p:sp>
        <p:nvSpPr>
          <p:cNvPr id="2074" name="Google Shape;2074;p17"/>
          <p:cNvSpPr txBox="1"/>
          <p:nvPr/>
        </p:nvSpPr>
        <p:spPr>
          <a:xfrm>
            <a:off x="1060704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2.3%</a:t>
            </a:r>
            <a:endParaRPr/>
          </a:p>
        </p:txBody>
      </p:sp>
      <p:sp>
        <p:nvSpPr>
          <p:cNvPr id="2075" name="Google Shape;2075;p17"/>
          <p:cNvSpPr/>
          <p:nvPr/>
        </p:nvSpPr>
        <p:spPr>
          <a:xfrm>
            <a:off x="365760" y="4782312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6" name="Google Shape;2076;p17"/>
          <p:cNvSpPr txBox="1"/>
          <p:nvPr/>
        </p:nvSpPr>
        <p:spPr>
          <a:xfrm>
            <a:off x="457200" y="4800599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YOY COMPARISON — Jan–Jun 2025 vs Jan–Jun 2026</a:t>
            </a:r>
            <a:endParaRPr/>
          </a:p>
        </p:txBody>
      </p:sp>
      <p:sp>
        <p:nvSpPr>
          <p:cNvPr id="2077" name="Google Shape;2077;p17"/>
          <p:cNvSpPr txBox="1"/>
          <p:nvPr/>
        </p:nvSpPr>
        <p:spPr>
          <a:xfrm>
            <a:off x="365760" y="5056631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00" u="none" cap="none" strike="noStrike">
              <a:solidFill>
                <a:srgbClr val="6B728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78" name="Google Shape;2078;p17"/>
          <p:cNvSpPr txBox="1"/>
          <p:nvPr/>
        </p:nvSpPr>
        <p:spPr>
          <a:xfrm>
            <a:off x="1463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'25</a:t>
            </a:r>
            <a:endParaRPr/>
          </a:p>
        </p:txBody>
      </p:sp>
      <p:sp>
        <p:nvSpPr>
          <p:cNvPr id="2079" name="Google Shape;2079;p17"/>
          <p:cNvSpPr txBox="1"/>
          <p:nvPr/>
        </p:nvSpPr>
        <p:spPr>
          <a:xfrm>
            <a:off x="2148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'26</a:t>
            </a:r>
            <a:endParaRPr/>
          </a:p>
        </p:txBody>
      </p:sp>
      <p:sp>
        <p:nvSpPr>
          <p:cNvPr id="2080" name="Google Shape;2080;p17"/>
          <p:cNvSpPr txBox="1"/>
          <p:nvPr/>
        </p:nvSpPr>
        <p:spPr>
          <a:xfrm>
            <a:off x="2834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'25</a:t>
            </a:r>
            <a:endParaRPr/>
          </a:p>
        </p:txBody>
      </p:sp>
      <p:sp>
        <p:nvSpPr>
          <p:cNvPr id="2081" name="Google Shape;2081;p17"/>
          <p:cNvSpPr txBox="1"/>
          <p:nvPr/>
        </p:nvSpPr>
        <p:spPr>
          <a:xfrm>
            <a:off x="3520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'26</a:t>
            </a:r>
            <a:endParaRPr/>
          </a:p>
        </p:txBody>
      </p:sp>
      <p:sp>
        <p:nvSpPr>
          <p:cNvPr id="2082" name="Google Shape;2082;p17"/>
          <p:cNvSpPr txBox="1"/>
          <p:nvPr/>
        </p:nvSpPr>
        <p:spPr>
          <a:xfrm>
            <a:off x="4206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'25</a:t>
            </a:r>
            <a:endParaRPr/>
          </a:p>
        </p:txBody>
      </p:sp>
      <p:sp>
        <p:nvSpPr>
          <p:cNvPr id="2083" name="Google Shape;2083;p17"/>
          <p:cNvSpPr txBox="1"/>
          <p:nvPr/>
        </p:nvSpPr>
        <p:spPr>
          <a:xfrm>
            <a:off x="4892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'26</a:t>
            </a:r>
            <a:endParaRPr/>
          </a:p>
        </p:txBody>
      </p:sp>
      <p:sp>
        <p:nvSpPr>
          <p:cNvPr id="2084" name="Google Shape;2084;p17"/>
          <p:cNvSpPr txBox="1"/>
          <p:nvPr/>
        </p:nvSpPr>
        <p:spPr>
          <a:xfrm>
            <a:off x="5577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'25</a:t>
            </a:r>
            <a:endParaRPr/>
          </a:p>
        </p:txBody>
      </p:sp>
      <p:sp>
        <p:nvSpPr>
          <p:cNvPr id="2085" name="Google Shape;2085;p17"/>
          <p:cNvSpPr txBox="1"/>
          <p:nvPr/>
        </p:nvSpPr>
        <p:spPr>
          <a:xfrm>
            <a:off x="6263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'26</a:t>
            </a:r>
            <a:endParaRPr/>
          </a:p>
        </p:txBody>
      </p:sp>
      <p:sp>
        <p:nvSpPr>
          <p:cNvPr id="2086" name="Google Shape;2086;p17"/>
          <p:cNvSpPr txBox="1"/>
          <p:nvPr/>
        </p:nvSpPr>
        <p:spPr>
          <a:xfrm>
            <a:off x="6949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'25</a:t>
            </a:r>
            <a:endParaRPr/>
          </a:p>
        </p:txBody>
      </p:sp>
      <p:sp>
        <p:nvSpPr>
          <p:cNvPr id="2087" name="Google Shape;2087;p17"/>
          <p:cNvSpPr txBox="1"/>
          <p:nvPr/>
        </p:nvSpPr>
        <p:spPr>
          <a:xfrm>
            <a:off x="7635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'26</a:t>
            </a:r>
            <a:endParaRPr/>
          </a:p>
        </p:txBody>
      </p:sp>
      <p:sp>
        <p:nvSpPr>
          <p:cNvPr id="2088" name="Google Shape;2088;p17"/>
          <p:cNvSpPr txBox="1"/>
          <p:nvPr/>
        </p:nvSpPr>
        <p:spPr>
          <a:xfrm>
            <a:off x="8321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'25</a:t>
            </a:r>
            <a:endParaRPr/>
          </a:p>
        </p:txBody>
      </p:sp>
      <p:sp>
        <p:nvSpPr>
          <p:cNvPr id="2089" name="Google Shape;2089;p17"/>
          <p:cNvSpPr txBox="1"/>
          <p:nvPr/>
        </p:nvSpPr>
        <p:spPr>
          <a:xfrm>
            <a:off x="9006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'26</a:t>
            </a:r>
            <a:endParaRPr/>
          </a:p>
        </p:txBody>
      </p:sp>
      <p:sp>
        <p:nvSpPr>
          <p:cNvPr id="2090" name="Google Shape;2090;p17"/>
          <p:cNvSpPr txBox="1"/>
          <p:nvPr/>
        </p:nvSpPr>
        <p:spPr>
          <a:xfrm>
            <a:off x="969264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'25 Tot</a:t>
            </a:r>
            <a:endParaRPr/>
          </a:p>
        </p:txBody>
      </p:sp>
      <p:sp>
        <p:nvSpPr>
          <p:cNvPr id="2091" name="Google Shape;2091;p17"/>
          <p:cNvSpPr txBox="1"/>
          <p:nvPr/>
        </p:nvSpPr>
        <p:spPr>
          <a:xfrm>
            <a:off x="1088136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'26 Tot</a:t>
            </a:r>
            <a:endParaRPr/>
          </a:p>
        </p:txBody>
      </p:sp>
      <p:sp>
        <p:nvSpPr>
          <p:cNvPr id="2092" name="Google Shape;2092;p17"/>
          <p:cNvSpPr txBox="1"/>
          <p:nvPr/>
        </p:nvSpPr>
        <p:spPr>
          <a:xfrm>
            <a:off x="365760" y="523951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2093" name="Google Shape;2093;p17"/>
          <p:cNvSpPr txBox="1"/>
          <p:nvPr/>
        </p:nvSpPr>
        <p:spPr>
          <a:xfrm>
            <a:off x="1463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728</a:t>
            </a:r>
            <a:endParaRPr/>
          </a:p>
        </p:txBody>
      </p:sp>
      <p:sp>
        <p:nvSpPr>
          <p:cNvPr id="2094" name="Google Shape;2094;p17"/>
          <p:cNvSpPr txBox="1"/>
          <p:nvPr/>
        </p:nvSpPr>
        <p:spPr>
          <a:xfrm>
            <a:off x="2148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1160</a:t>
            </a:r>
            <a:endParaRPr/>
          </a:p>
        </p:txBody>
      </p:sp>
      <p:sp>
        <p:nvSpPr>
          <p:cNvPr id="2095" name="Google Shape;2095;p17"/>
          <p:cNvSpPr txBox="1"/>
          <p:nvPr/>
        </p:nvSpPr>
        <p:spPr>
          <a:xfrm>
            <a:off x="2834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699</a:t>
            </a:r>
            <a:endParaRPr/>
          </a:p>
        </p:txBody>
      </p:sp>
      <p:sp>
        <p:nvSpPr>
          <p:cNvPr id="2096" name="Google Shape;2096;p17"/>
          <p:cNvSpPr txBox="1"/>
          <p:nvPr/>
        </p:nvSpPr>
        <p:spPr>
          <a:xfrm>
            <a:off x="3520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1179</a:t>
            </a:r>
            <a:endParaRPr/>
          </a:p>
        </p:txBody>
      </p:sp>
      <p:sp>
        <p:nvSpPr>
          <p:cNvPr id="2097" name="Google Shape;2097;p17"/>
          <p:cNvSpPr txBox="1"/>
          <p:nvPr/>
        </p:nvSpPr>
        <p:spPr>
          <a:xfrm>
            <a:off x="4206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699</a:t>
            </a:r>
            <a:endParaRPr/>
          </a:p>
        </p:txBody>
      </p:sp>
      <p:sp>
        <p:nvSpPr>
          <p:cNvPr id="2098" name="Google Shape;2098;p17"/>
          <p:cNvSpPr txBox="1"/>
          <p:nvPr/>
        </p:nvSpPr>
        <p:spPr>
          <a:xfrm>
            <a:off x="4892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1081</a:t>
            </a:r>
            <a:endParaRPr/>
          </a:p>
        </p:txBody>
      </p:sp>
      <p:sp>
        <p:nvSpPr>
          <p:cNvPr id="2099" name="Google Shape;2099;p17"/>
          <p:cNvSpPr txBox="1"/>
          <p:nvPr/>
        </p:nvSpPr>
        <p:spPr>
          <a:xfrm>
            <a:off x="5577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637</a:t>
            </a:r>
            <a:endParaRPr/>
          </a:p>
        </p:txBody>
      </p:sp>
      <p:sp>
        <p:nvSpPr>
          <p:cNvPr id="2100" name="Google Shape;2100;p17"/>
          <p:cNvSpPr txBox="1"/>
          <p:nvPr/>
        </p:nvSpPr>
        <p:spPr>
          <a:xfrm>
            <a:off x="6263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1291</a:t>
            </a:r>
            <a:endParaRPr/>
          </a:p>
        </p:txBody>
      </p:sp>
      <p:sp>
        <p:nvSpPr>
          <p:cNvPr id="2101" name="Google Shape;2101;p17"/>
          <p:cNvSpPr txBox="1"/>
          <p:nvPr/>
        </p:nvSpPr>
        <p:spPr>
          <a:xfrm>
            <a:off x="6949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665</a:t>
            </a:r>
            <a:endParaRPr/>
          </a:p>
        </p:txBody>
      </p:sp>
      <p:sp>
        <p:nvSpPr>
          <p:cNvPr id="2102" name="Google Shape;2102;p17"/>
          <p:cNvSpPr txBox="1"/>
          <p:nvPr/>
        </p:nvSpPr>
        <p:spPr>
          <a:xfrm>
            <a:off x="7635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1005</a:t>
            </a:r>
            <a:endParaRPr/>
          </a:p>
        </p:txBody>
      </p:sp>
      <p:sp>
        <p:nvSpPr>
          <p:cNvPr id="2103" name="Google Shape;2103;p17"/>
          <p:cNvSpPr txBox="1"/>
          <p:nvPr/>
        </p:nvSpPr>
        <p:spPr>
          <a:xfrm>
            <a:off x="8321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647</a:t>
            </a:r>
            <a:endParaRPr/>
          </a:p>
        </p:txBody>
      </p:sp>
      <p:sp>
        <p:nvSpPr>
          <p:cNvPr id="2104" name="Google Shape;2104;p17"/>
          <p:cNvSpPr txBox="1"/>
          <p:nvPr/>
        </p:nvSpPr>
        <p:spPr>
          <a:xfrm>
            <a:off x="9006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2105" name="Google Shape;2105;p17"/>
          <p:cNvSpPr txBox="1"/>
          <p:nvPr/>
        </p:nvSpPr>
        <p:spPr>
          <a:xfrm>
            <a:off x="969264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4075</a:t>
            </a:r>
            <a:endParaRPr/>
          </a:p>
        </p:txBody>
      </p:sp>
      <p:sp>
        <p:nvSpPr>
          <p:cNvPr id="2106" name="Google Shape;2106;p17"/>
          <p:cNvSpPr txBox="1"/>
          <p:nvPr/>
        </p:nvSpPr>
        <p:spPr>
          <a:xfrm>
            <a:off x="1088136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5718</a:t>
            </a:r>
            <a:endParaRPr/>
          </a:p>
        </p:txBody>
      </p:sp>
      <p:sp>
        <p:nvSpPr>
          <p:cNvPr id="2107" name="Google Shape;2107;p17"/>
          <p:cNvSpPr txBox="1"/>
          <p:nvPr/>
        </p:nvSpPr>
        <p:spPr>
          <a:xfrm>
            <a:off x="365760" y="542239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Bound Premium</a:t>
            </a:r>
            <a:endParaRPr/>
          </a:p>
        </p:txBody>
      </p:sp>
      <p:sp>
        <p:nvSpPr>
          <p:cNvPr id="2108" name="Google Shape;2108;p17"/>
          <p:cNvSpPr txBox="1"/>
          <p:nvPr/>
        </p:nvSpPr>
        <p:spPr>
          <a:xfrm>
            <a:off x="1463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$184K</a:t>
            </a:r>
            <a:endParaRPr/>
          </a:p>
        </p:txBody>
      </p:sp>
      <p:sp>
        <p:nvSpPr>
          <p:cNvPr id="2109" name="Google Shape;2109;p17"/>
          <p:cNvSpPr txBox="1"/>
          <p:nvPr/>
        </p:nvSpPr>
        <p:spPr>
          <a:xfrm>
            <a:off x="2148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$557K</a:t>
            </a:r>
            <a:endParaRPr/>
          </a:p>
        </p:txBody>
      </p:sp>
      <p:sp>
        <p:nvSpPr>
          <p:cNvPr id="2110" name="Google Shape;2110;p17"/>
          <p:cNvSpPr txBox="1"/>
          <p:nvPr/>
        </p:nvSpPr>
        <p:spPr>
          <a:xfrm>
            <a:off x="2834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$262K</a:t>
            </a:r>
            <a:endParaRPr/>
          </a:p>
        </p:txBody>
      </p:sp>
      <p:sp>
        <p:nvSpPr>
          <p:cNvPr id="2111" name="Google Shape;2111;p17"/>
          <p:cNvSpPr txBox="1"/>
          <p:nvPr/>
        </p:nvSpPr>
        <p:spPr>
          <a:xfrm>
            <a:off x="3520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$578K</a:t>
            </a:r>
            <a:endParaRPr/>
          </a:p>
        </p:txBody>
      </p:sp>
      <p:sp>
        <p:nvSpPr>
          <p:cNvPr id="2112" name="Google Shape;2112;p17"/>
          <p:cNvSpPr txBox="1"/>
          <p:nvPr/>
        </p:nvSpPr>
        <p:spPr>
          <a:xfrm>
            <a:off x="4206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$534K</a:t>
            </a:r>
            <a:endParaRPr/>
          </a:p>
        </p:txBody>
      </p:sp>
      <p:sp>
        <p:nvSpPr>
          <p:cNvPr id="2113" name="Google Shape;2113;p17"/>
          <p:cNvSpPr txBox="1"/>
          <p:nvPr/>
        </p:nvSpPr>
        <p:spPr>
          <a:xfrm>
            <a:off x="4892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$466K</a:t>
            </a:r>
            <a:endParaRPr/>
          </a:p>
        </p:txBody>
      </p:sp>
      <p:sp>
        <p:nvSpPr>
          <p:cNvPr id="2114" name="Google Shape;2114;p17"/>
          <p:cNvSpPr txBox="1"/>
          <p:nvPr/>
        </p:nvSpPr>
        <p:spPr>
          <a:xfrm>
            <a:off x="5577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$560K</a:t>
            </a:r>
            <a:endParaRPr/>
          </a:p>
        </p:txBody>
      </p:sp>
      <p:sp>
        <p:nvSpPr>
          <p:cNvPr id="2115" name="Google Shape;2115;p17"/>
          <p:cNvSpPr txBox="1"/>
          <p:nvPr/>
        </p:nvSpPr>
        <p:spPr>
          <a:xfrm>
            <a:off x="6263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$483K</a:t>
            </a:r>
            <a:endParaRPr/>
          </a:p>
        </p:txBody>
      </p:sp>
      <p:sp>
        <p:nvSpPr>
          <p:cNvPr id="2116" name="Google Shape;2116;p17"/>
          <p:cNvSpPr txBox="1"/>
          <p:nvPr/>
        </p:nvSpPr>
        <p:spPr>
          <a:xfrm>
            <a:off x="6949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$467K</a:t>
            </a:r>
            <a:endParaRPr/>
          </a:p>
        </p:txBody>
      </p:sp>
      <p:sp>
        <p:nvSpPr>
          <p:cNvPr id="2117" name="Google Shape;2117;p17"/>
          <p:cNvSpPr txBox="1"/>
          <p:nvPr/>
        </p:nvSpPr>
        <p:spPr>
          <a:xfrm>
            <a:off x="7635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$814K</a:t>
            </a:r>
            <a:endParaRPr/>
          </a:p>
        </p:txBody>
      </p:sp>
      <p:sp>
        <p:nvSpPr>
          <p:cNvPr id="2118" name="Google Shape;2118;p17"/>
          <p:cNvSpPr txBox="1"/>
          <p:nvPr/>
        </p:nvSpPr>
        <p:spPr>
          <a:xfrm>
            <a:off x="8321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$457K</a:t>
            </a:r>
            <a:endParaRPr/>
          </a:p>
        </p:txBody>
      </p:sp>
      <p:sp>
        <p:nvSpPr>
          <p:cNvPr id="2119" name="Google Shape;2119;p17"/>
          <p:cNvSpPr txBox="1"/>
          <p:nvPr/>
        </p:nvSpPr>
        <p:spPr>
          <a:xfrm>
            <a:off x="9006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$50K</a:t>
            </a:r>
            <a:endParaRPr/>
          </a:p>
        </p:txBody>
      </p:sp>
      <p:sp>
        <p:nvSpPr>
          <p:cNvPr id="2120" name="Google Shape;2120;p17"/>
          <p:cNvSpPr txBox="1"/>
          <p:nvPr/>
        </p:nvSpPr>
        <p:spPr>
          <a:xfrm>
            <a:off x="969264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$2.5M</a:t>
            </a:r>
            <a:endParaRPr/>
          </a:p>
        </p:txBody>
      </p:sp>
      <p:sp>
        <p:nvSpPr>
          <p:cNvPr id="2121" name="Google Shape;2121;p17"/>
          <p:cNvSpPr txBox="1"/>
          <p:nvPr/>
        </p:nvSpPr>
        <p:spPr>
          <a:xfrm>
            <a:off x="1088136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$2.9M</a:t>
            </a:r>
            <a:endParaRPr/>
          </a:p>
        </p:txBody>
      </p:sp>
      <p:sp>
        <p:nvSpPr>
          <p:cNvPr id="2122" name="Google Shape;2122;p17"/>
          <p:cNvSpPr/>
          <p:nvPr/>
        </p:nvSpPr>
        <p:spPr>
          <a:xfrm>
            <a:off x="365760" y="5678423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3" name="Google Shape;2123;p17"/>
          <p:cNvSpPr txBox="1"/>
          <p:nvPr/>
        </p:nvSpPr>
        <p:spPr>
          <a:xfrm>
            <a:off x="4572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65F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STRENGTHS - What's Working</a:t>
            </a:r>
            <a:endParaRPr/>
          </a:p>
        </p:txBody>
      </p:sp>
      <p:sp>
        <p:nvSpPr>
          <p:cNvPr id="2124" name="Google Shape;2124;p17"/>
          <p:cNvSpPr txBox="1"/>
          <p:nvPr/>
        </p:nvSpPr>
        <p:spPr>
          <a:xfrm>
            <a:off x="4572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2125" name="Google Shape;2125;p17"/>
          <p:cNvSpPr txBox="1"/>
          <p:nvPr/>
        </p:nvSpPr>
        <p:spPr>
          <a:xfrm>
            <a:off x="685800" y="5952743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$2,947,338 YTD gross written premium</a:t>
            </a:r>
            <a:endParaRPr/>
          </a:p>
        </p:txBody>
      </p:sp>
      <p:sp>
        <p:nvSpPr>
          <p:cNvPr id="2126" name="Google Shape;2126;p17"/>
          <p:cNvSpPr txBox="1"/>
          <p:nvPr/>
        </p:nvSpPr>
        <p:spPr>
          <a:xfrm>
            <a:off x="457200" y="6153911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2127" name="Google Shape;2127;p17"/>
          <p:cNvSpPr txBox="1"/>
          <p:nvPr/>
        </p:nvSpPr>
        <p:spPr>
          <a:xfrm>
            <a:off x="685800" y="6153911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$2,043,674 in new business production</a:t>
            </a:r>
            <a:endParaRPr/>
          </a:p>
        </p:txBody>
      </p:sp>
      <p:sp>
        <p:nvSpPr>
          <p:cNvPr id="2128" name="Google Shape;2128;p17"/>
          <p:cNvSpPr/>
          <p:nvPr/>
        </p:nvSpPr>
        <p:spPr>
          <a:xfrm>
            <a:off x="6309360" y="5678423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9" name="Google Shape;2129;p17"/>
          <p:cNvSpPr txBox="1"/>
          <p:nvPr/>
        </p:nvSpPr>
        <p:spPr>
          <a:xfrm>
            <a:off x="64008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NEEDS ATTENTION</a:t>
            </a:r>
            <a:endParaRPr/>
          </a:p>
        </p:txBody>
      </p:sp>
      <p:sp>
        <p:nvSpPr>
          <p:cNvPr id="2130" name="Google Shape;2130;p17"/>
          <p:cNvSpPr txBox="1"/>
          <p:nvPr/>
        </p:nvSpPr>
        <p:spPr>
          <a:xfrm>
            <a:off x="64008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2131" name="Google Shape;2131;p17"/>
          <p:cNvSpPr txBox="1"/>
          <p:nvPr/>
        </p:nvSpPr>
        <p:spPr>
          <a:xfrm>
            <a:off x="6629400" y="5952743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Low 2.3% hit ratio on 5487 subs - needs coaching</a:t>
            </a:r>
            <a:endParaRPr/>
          </a:p>
        </p:txBody>
      </p:sp>
      <p:sp>
        <p:nvSpPr>
          <p:cNvPr id="2132" name="Google Shape;2132;p17"/>
          <p:cNvSpPr txBox="1"/>
          <p:nvPr/>
        </p:nvSpPr>
        <p:spPr>
          <a:xfrm>
            <a:off x="6400800" y="6153911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2133" name="Google Shape;2133;p17"/>
          <p:cNvSpPr txBox="1"/>
          <p:nvPr/>
        </p:nvSpPr>
        <p:spPr>
          <a:xfrm>
            <a:off x="6629400" y="6153911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 at 49% of new business ($1,001,331)</a:t>
            </a:r>
            <a:endParaRPr/>
          </a:p>
        </p:txBody>
      </p:sp>
      <p:sp>
        <p:nvSpPr>
          <p:cNvPr id="2134" name="Google Shape;2134;p17"/>
          <p:cNvSpPr/>
          <p:nvPr/>
        </p:nvSpPr>
        <p:spPr>
          <a:xfrm>
            <a:off x="365760" y="6455663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5" name="Google Shape;2135;p17"/>
          <p:cNvSpPr txBox="1"/>
          <p:nvPr/>
        </p:nvSpPr>
        <p:spPr>
          <a:xfrm>
            <a:off x="457200" y="6464807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STRATEGIC SALES TIPS - Conversation Starters</a:t>
            </a:r>
            <a:endParaRPr/>
          </a:p>
        </p:txBody>
      </p:sp>
      <p:sp>
        <p:nvSpPr>
          <p:cNvPr id="2136" name="Google Shape;2136;p17"/>
          <p:cNvSpPr txBox="1"/>
          <p:nvPr/>
        </p:nvSpPr>
        <p:spPr>
          <a:xfrm>
            <a:off x="457200" y="6711695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endParaRPr/>
          </a:p>
        </p:txBody>
      </p:sp>
      <p:sp>
        <p:nvSpPr>
          <p:cNvPr id="2137" name="Google Shape;2137;p17"/>
          <p:cNvSpPr txBox="1"/>
          <p:nvPr/>
        </p:nvSpPr>
        <p:spPr>
          <a:xfrm>
            <a:off x="777240" y="6711695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Walk through recent lost quotes (5487 subs, only 125 binds). Ask: "What are the top 2 reasons your clients go elsewhere?" Use answers to tailor appetite and pricing discussions.</a:t>
            </a:r>
            <a:endParaRPr/>
          </a:p>
        </p:txBody>
      </p:sp>
      <p:sp>
        <p:nvSpPr>
          <p:cNvPr id="2138" name="Google Shape;2138;p17"/>
          <p:cNvSpPr txBox="1"/>
          <p:nvPr/>
        </p:nvSpPr>
        <p:spPr>
          <a:xfrm>
            <a:off x="457200" y="6949439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endParaRPr/>
          </a:p>
        </p:txBody>
      </p:sp>
      <p:sp>
        <p:nvSpPr>
          <p:cNvPr id="2139" name="Google Shape;2139;p17"/>
          <p:cNvSpPr txBox="1"/>
          <p:nvPr/>
        </p:nvSpPr>
        <p:spPr>
          <a:xfrm>
            <a:off x="777240" y="6949439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Acknowledge their $2,043,674 in new business. Ask: "What types of accounts are you seeing the most success with?" Use this to identify more of their book that fits our appetite.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3" name="Shape 2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4" name="Google Shape;2144;p18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5" name="Google Shape;2145;p18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Valion Security Llc</a:t>
            </a:r>
            <a:endParaRPr/>
          </a:p>
        </p:txBody>
      </p:sp>
      <p:sp>
        <p:nvSpPr>
          <p:cNvPr id="2146" name="Google Shape;2146;p18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4B5F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Tier: Tier 1  |  Region: Southeast  |  State: FL  |  City: N/A</a:t>
            </a:r>
            <a:endParaRPr/>
          </a:p>
        </p:txBody>
      </p:sp>
      <p:sp>
        <p:nvSpPr>
          <p:cNvPr id="2147" name="Google Shape;2147;p18"/>
          <p:cNvSpPr/>
          <p:nvPr/>
        </p:nvSpPr>
        <p:spPr>
          <a:xfrm>
            <a:off x="22860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$2,269,517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YTD GWP</a:t>
            </a:r>
            <a:endParaRPr/>
          </a:p>
        </p:txBody>
      </p:sp>
      <p:sp>
        <p:nvSpPr>
          <p:cNvPr id="2148" name="Google Shape;2148;p18"/>
          <p:cNvSpPr/>
          <p:nvPr/>
        </p:nvSpPr>
        <p:spPr>
          <a:xfrm>
            <a:off x="256032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$1,648,524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2149" name="Google Shape;2149;p18"/>
          <p:cNvSpPr/>
          <p:nvPr/>
        </p:nvSpPr>
        <p:spPr>
          <a:xfrm>
            <a:off x="489204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$205,019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2150" name="Google Shape;2150;p18"/>
          <p:cNvSpPr/>
          <p:nvPr/>
        </p:nvSpPr>
        <p:spPr>
          <a:xfrm>
            <a:off x="7223759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$415,974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2151" name="Google Shape;2151;p18"/>
          <p:cNvSpPr/>
          <p:nvPr/>
        </p:nvSpPr>
        <p:spPr>
          <a:xfrm>
            <a:off x="955548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$-776,121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2152" name="Google Shape;2152;p18"/>
          <p:cNvSpPr/>
          <p:nvPr/>
        </p:nvSpPr>
        <p:spPr>
          <a:xfrm>
            <a:off x="137160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$2,381,365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2025 Full Year GWP</a:t>
            </a:r>
            <a:endParaRPr/>
          </a:p>
        </p:txBody>
      </p:sp>
      <p:sp>
        <p:nvSpPr>
          <p:cNvPr id="2153" name="Google Shape;2153;p18"/>
          <p:cNvSpPr/>
          <p:nvPr/>
        </p:nvSpPr>
        <p:spPr>
          <a:xfrm>
            <a:off x="1627631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$4,010,068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Rolling 12M GWP</a:t>
            </a:r>
            <a:endParaRPr/>
          </a:p>
        </p:txBody>
      </p:sp>
      <p:sp>
        <p:nvSpPr>
          <p:cNvPr id="2154" name="Google Shape;2154;p18"/>
          <p:cNvSpPr/>
          <p:nvPr/>
        </p:nvSpPr>
        <p:spPr>
          <a:xfrm>
            <a:off x="3118103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79%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% to Goal</a:t>
            </a:r>
            <a:endParaRPr/>
          </a:p>
        </p:txBody>
      </p:sp>
      <p:sp>
        <p:nvSpPr>
          <p:cNvPr id="2155" name="Google Shape;2155;p18"/>
          <p:cNvSpPr/>
          <p:nvPr/>
        </p:nvSpPr>
        <p:spPr>
          <a:xfrm>
            <a:off x="4608576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521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2156" name="Google Shape;2156;p18"/>
          <p:cNvSpPr/>
          <p:nvPr/>
        </p:nvSpPr>
        <p:spPr>
          <a:xfrm>
            <a:off x="6099048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78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2157" name="Google Shape;2157;p18"/>
          <p:cNvSpPr/>
          <p:nvPr/>
        </p:nvSpPr>
        <p:spPr>
          <a:xfrm>
            <a:off x="7589519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15.0%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2158" name="Google Shape;2158;p18"/>
          <p:cNvSpPr/>
          <p:nvPr/>
        </p:nvSpPr>
        <p:spPr>
          <a:xfrm>
            <a:off x="9079992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$418,260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 Bound Prem</a:t>
            </a:r>
            <a:endParaRPr/>
          </a:p>
        </p:txBody>
      </p:sp>
      <p:sp>
        <p:nvSpPr>
          <p:cNvPr id="2159" name="Google Shape;2159;p18"/>
          <p:cNvSpPr/>
          <p:nvPr/>
        </p:nvSpPr>
        <p:spPr>
          <a:xfrm>
            <a:off x="10570464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$1,562,343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NF Bound Prem</a:t>
            </a:r>
            <a:endParaRPr/>
          </a:p>
        </p:txBody>
      </p:sp>
      <p:sp>
        <p:nvSpPr>
          <p:cNvPr id="2160" name="Google Shape;2160;p18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1" name="Google Shape;2161;p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PRODUCTION BY MONTH</a:t>
            </a:r>
            <a:endParaRPr/>
          </a:p>
        </p:txBody>
      </p:sp>
      <p:sp>
        <p:nvSpPr>
          <p:cNvPr id="2162" name="Google Shape;2162;p18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2163" name="Google Shape;2163;p18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Written Premium</a:t>
            </a:r>
            <a:endParaRPr/>
          </a:p>
        </p:txBody>
      </p:sp>
      <p:sp>
        <p:nvSpPr>
          <p:cNvPr id="2164" name="Google Shape;2164;p18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2165" name="Google Shape;2165;p18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2166" name="Google Shape;2166;p18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2167" name="Google Shape;2167;p18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2168" name="Google Shape;2168;p18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9" name="Google Shape;2169;p18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2170" name="Google Shape;2170;p18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$559,429</a:t>
            </a:r>
            <a:endParaRPr/>
          </a:p>
        </p:txBody>
      </p:sp>
      <p:sp>
        <p:nvSpPr>
          <p:cNvPr id="2171" name="Google Shape;2171;p1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$460,080</a:t>
            </a:r>
            <a:endParaRPr/>
          </a:p>
        </p:txBody>
      </p:sp>
      <p:sp>
        <p:nvSpPr>
          <p:cNvPr id="2172" name="Google Shape;2172;p18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173" name="Google Shape;2173;p18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$99,349</a:t>
            </a:r>
            <a:endParaRPr/>
          </a:p>
        </p:txBody>
      </p:sp>
      <p:sp>
        <p:nvSpPr>
          <p:cNvPr id="2174" name="Google Shape;2174;p18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$-171,158</a:t>
            </a:r>
            <a:endParaRPr/>
          </a:p>
        </p:txBody>
      </p:sp>
      <p:sp>
        <p:nvSpPr>
          <p:cNvPr id="2175" name="Google Shape;2175;p18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6" name="Google Shape;2176;p18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2177" name="Google Shape;2177;p18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$289,143</a:t>
            </a:r>
            <a:endParaRPr/>
          </a:p>
        </p:txBody>
      </p:sp>
      <p:sp>
        <p:nvSpPr>
          <p:cNvPr id="2178" name="Google Shape;2178;p18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$178,724</a:t>
            </a:r>
            <a:endParaRPr/>
          </a:p>
        </p:txBody>
      </p:sp>
      <p:sp>
        <p:nvSpPr>
          <p:cNvPr id="2179" name="Google Shape;2179;p18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$38,877</a:t>
            </a:r>
            <a:endParaRPr/>
          </a:p>
        </p:txBody>
      </p:sp>
      <p:sp>
        <p:nvSpPr>
          <p:cNvPr id="2180" name="Google Shape;2180;p18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$71,542</a:t>
            </a:r>
            <a:endParaRPr/>
          </a:p>
        </p:txBody>
      </p:sp>
      <p:sp>
        <p:nvSpPr>
          <p:cNvPr id="2181" name="Google Shape;2181;p1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$-141,657</a:t>
            </a:r>
            <a:endParaRPr/>
          </a:p>
        </p:txBody>
      </p:sp>
      <p:sp>
        <p:nvSpPr>
          <p:cNvPr id="2182" name="Google Shape;2182;p18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3" name="Google Shape;2183;p18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2184" name="Google Shape;2184;p18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$556,394</a:t>
            </a:r>
            <a:endParaRPr/>
          </a:p>
        </p:txBody>
      </p:sp>
      <p:sp>
        <p:nvSpPr>
          <p:cNvPr id="2185" name="Google Shape;2185;p18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$412,390</a:t>
            </a:r>
            <a:endParaRPr/>
          </a:p>
        </p:txBody>
      </p:sp>
      <p:sp>
        <p:nvSpPr>
          <p:cNvPr id="2186" name="Google Shape;2186;p18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187" name="Google Shape;2187;p18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$144,004</a:t>
            </a:r>
            <a:endParaRPr/>
          </a:p>
        </p:txBody>
      </p:sp>
      <p:sp>
        <p:nvSpPr>
          <p:cNvPr id="2188" name="Google Shape;2188;p18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$-158,552</a:t>
            </a:r>
            <a:endParaRPr/>
          </a:p>
        </p:txBody>
      </p:sp>
      <p:sp>
        <p:nvSpPr>
          <p:cNvPr id="2189" name="Google Shape;2189;p18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0" name="Google Shape;2190;p18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2191" name="Google Shape;2191;p1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$394,946</a:t>
            </a:r>
            <a:endParaRPr/>
          </a:p>
        </p:txBody>
      </p:sp>
      <p:sp>
        <p:nvSpPr>
          <p:cNvPr id="2192" name="Google Shape;2192;p18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$258,387</a:t>
            </a:r>
            <a:endParaRPr/>
          </a:p>
        </p:txBody>
      </p:sp>
      <p:sp>
        <p:nvSpPr>
          <p:cNvPr id="2193" name="Google Shape;2193;p18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$64,692</a:t>
            </a:r>
            <a:endParaRPr/>
          </a:p>
        </p:txBody>
      </p:sp>
      <p:sp>
        <p:nvSpPr>
          <p:cNvPr id="2194" name="Google Shape;2194;p18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$71,866</a:t>
            </a:r>
            <a:endParaRPr/>
          </a:p>
        </p:txBody>
      </p:sp>
      <p:sp>
        <p:nvSpPr>
          <p:cNvPr id="2195" name="Google Shape;2195;p18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$-99,483</a:t>
            </a:r>
            <a:endParaRPr/>
          </a:p>
        </p:txBody>
      </p:sp>
      <p:sp>
        <p:nvSpPr>
          <p:cNvPr id="2196" name="Google Shape;2196;p18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7" name="Google Shape;2197;p18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2198" name="Google Shape;2198;p18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$469,606</a:t>
            </a:r>
            <a:endParaRPr/>
          </a:p>
        </p:txBody>
      </p:sp>
      <p:sp>
        <p:nvSpPr>
          <p:cNvPr id="2199" name="Google Shape;2199;p18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$338,944</a:t>
            </a:r>
            <a:endParaRPr/>
          </a:p>
        </p:txBody>
      </p:sp>
      <p:sp>
        <p:nvSpPr>
          <p:cNvPr id="2200" name="Google Shape;2200;p18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$101,450</a:t>
            </a:r>
            <a:endParaRPr/>
          </a:p>
        </p:txBody>
      </p:sp>
      <p:sp>
        <p:nvSpPr>
          <p:cNvPr id="2201" name="Google Shape;2201;p1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$29,212</a:t>
            </a:r>
            <a:endParaRPr/>
          </a:p>
        </p:txBody>
      </p:sp>
      <p:sp>
        <p:nvSpPr>
          <p:cNvPr id="2202" name="Google Shape;2202;p18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$-205,270</a:t>
            </a:r>
            <a:endParaRPr/>
          </a:p>
        </p:txBody>
      </p:sp>
      <p:sp>
        <p:nvSpPr>
          <p:cNvPr id="2203" name="Google Shape;2203;p18"/>
          <p:cNvSpPr/>
          <p:nvPr/>
        </p:nvSpPr>
        <p:spPr>
          <a:xfrm>
            <a:off x="365760" y="4123944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4" name="Google Shape;2204;p18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2205" name="Google Shape;2205;p18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206" name="Google Shape;2206;p18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207" name="Google Shape;2207;p18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208" name="Google Shape;2208;p18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209" name="Google Shape;2209;p18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210" name="Google Shape;2210;p18"/>
          <p:cNvSpPr/>
          <p:nvPr/>
        </p:nvSpPr>
        <p:spPr>
          <a:xfrm>
            <a:off x="365760" y="4425696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1" name="Google Shape;2211;p18"/>
          <p:cNvSpPr txBox="1"/>
          <p:nvPr/>
        </p:nvSpPr>
        <p:spPr>
          <a:xfrm>
            <a:off x="3657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2212" name="Google Shape;2212;p18"/>
          <p:cNvSpPr txBox="1"/>
          <p:nvPr/>
        </p:nvSpPr>
        <p:spPr>
          <a:xfrm>
            <a:off x="1280160" y="446227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$2,269,517</a:t>
            </a:r>
            <a:endParaRPr/>
          </a:p>
        </p:txBody>
      </p:sp>
      <p:sp>
        <p:nvSpPr>
          <p:cNvPr id="2213" name="Google Shape;2213;p18"/>
          <p:cNvSpPr txBox="1"/>
          <p:nvPr/>
        </p:nvSpPr>
        <p:spPr>
          <a:xfrm>
            <a:off x="2377439" y="446227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$1,648,524</a:t>
            </a:r>
            <a:endParaRPr/>
          </a:p>
        </p:txBody>
      </p:sp>
      <p:sp>
        <p:nvSpPr>
          <p:cNvPr id="2214" name="Google Shape;2214;p18"/>
          <p:cNvSpPr txBox="1"/>
          <p:nvPr/>
        </p:nvSpPr>
        <p:spPr>
          <a:xfrm>
            <a:off x="33832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$205,019</a:t>
            </a:r>
            <a:endParaRPr/>
          </a:p>
        </p:txBody>
      </p:sp>
      <p:sp>
        <p:nvSpPr>
          <p:cNvPr id="2215" name="Google Shape;2215;p18"/>
          <p:cNvSpPr txBox="1"/>
          <p:nvPr/>
        </p:nvSpPr>
        <p:spPr>
          <a:xfrm>
            <a:off x="42976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$415,974</a:t>
            </a:r>
            <a:endParaRPr/>
          </a:p>
        </p:txBody>
      </p:sp>
      <p:sp>
        <p:nvSpPr>
          <p:cNvPr id="2216" name="Google Shape;2216;p18"/>
          <p:cNvSpPr txBox="1"/>
          <p:nvPr/>
        </p:nvSpPr>
        <p:spPr>
          <a:xfrm>
            <a:off x="52120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$-776,121</a:t>
            </a:r>
            <a:endParaRPr/>
          </a:p>
        </p:txBody>
      </p:sp>
      <p:sp>
        <p:nvSpPr>
          <p:cNvPr id="2217" name="Google Shape;2217;p18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8" name="Google Shape;2218;p1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 &amp; PIPELINE</a:t>
            </a:r>
            <a:endParaRPr/>
          </a:p>
        </p:txBody>
      </p:sp>
      <p:sp>
        <p:nvSpPr>
          <p:cNvPr id="2219" name="Google Shape;2219;p18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2220" name="Google Shape;2220;p18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Subs</a:t>
            </a:r>
            <a:endParaRPr/>
          </a:p>
        </p:txBody>
      </p:sp>
      <p:sp>
        <p:nvSpPr>
          <p:cNvPr id="2221" name="Google Shape;2221;p18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</a:t>
            </a:r>
            <a:endParaRPr/>
          </a:p>
        </p:txBody>
      </p:sp>
      <p:sp>
        <p:nvSpPr>
          <p:cNvPr id="2222" name="Google Shape;2222;p18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Non-Fleet</a:t>
            </a:r>
            <a:endParaRPr/>
          </a:p>
        </p:txBody>
      </p:sp>
      <p:sp>
        <p:nvSpPr>
          <p:cNvPr id="2223" name="Google Shape;2223;p18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2224" name="Google Shape;2224;p18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2225" name="Google Shape;2225;p18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6" name="Google Shape;2226;p18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2227" name="Google Shape;2227;p18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116</a:t>
            </a:r>
            <a:endParaRPr/>
          </a:p>
        </p:txBody>
      </p:sp>
      <p:sp>
        <p:nvSpPr>
          <p:cNvPr id="2228" name="Google Shape;2228;p1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/>
          </a:p>
        </p:txBody>
      </p:sp>
      <p:sp>
        <p:nvSpPr>
          <p:cNvPr id="2229" name="Google Shape;2229;p18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106</a:t>
            </a:r>
            <a:endParaRPr/>
          </a:p>
        </p:txBody>
      </p:sp>
      <p:sp>
        <p:nvSpPr>
          <p:cNvPr id="2230" name="Google Shape;2230;p18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31</a:t>
            </a:r>
            <a:endParaRPr/>
          </a:p>
        </p:txBody>
      </p:sp>
      <p:sp>
        <p:nvSpPr>
          <p:cNvPr id="2231" name="Google Shape;2231;p18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26.7%</a:t>
            </a:r>
            <a:endParaRPr/>
          </a:p>
        </p:txBody>
      </p:sp>
      <p:sp>
        <p:nvSpPr>
          <p:cNvPr id="2232" name="Google Shape;2232;p18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3" name="Google Shape;2233;p18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2234" name="Google Shape;2234;p18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116</a:t>
            </a:r>
            <a:endParaRPr/>
          </a:p>
        </p:txBody>
      </p:sp>
      <p:sp>
        <p:nvSpPr>
          <p:cNvPr id="2235" name="Google Shape;2235;p18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/>
          </a:p>
        </p:txBody>
      </p:sp>
      <p:sp>
        <p:nvSpPr>
          <p:cNvPr id="2236" name="Google Shape;2236;p18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106</a:t>
            </a:r>
            <a:endParaRPr/>
          </a:p>
        </p:txBody>
      </p:sp>
      <p:sp>
        <p:nvSpPr>
          <p:cNvPr id="2237" name="Google Shape;2237;p18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</a:t>
            </a:r>
            <a:endParaRPr/>
          </a:p>
        </p:txBody>
      </p:sp>
      <p:sp>
        <p:nvSpPr>
          <p:cNvPr id="2238" name="Google Shape;2238;p1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22.4%</a:t>
            </a:r>
            <a:endParaRPr/>
          </a:p>
        </p:txBody>
      </p:sp>
      <p:sp>
        <p:nvSpPr>
          <p:cNvPr id="2239" name="Google Shape;2239;p18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0" name="Google Shape;2240;p18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2241" name="Google Shape;2241;p18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156</a:t>
            </a:r>
            <a:endParaRPr/>
          </a:p>
        </p:txBody>
      </p:sp>
      <p:sp>
        <p:nvSpPr>
          <p:cNvPr id="2242" name="Google Shape;2242;p18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/>
          </a:p>
        </p:txBody>
      </p:sp>
      <p:sp>
        <p:nvSpPr>
          <p:cNvPr id="2243" name="Google Shape;2243;p18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150</a:t>
            </a:r>
            <a:endParaRPr/>
          </a:p>
        </p:txBody>
      </p:sp>
      <p:sp>
        <p:nvSpPr>
          <p:cNvPr id="2244" name="Google Shape;2244;p18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40</a:t>
            </a:r>
            <a:endParaRPr/>
          </a:p>
        </p:txBody>
      </p:sp>
      <p:sp>
        <p:nvSpPr>
          <p:cNvPr id="2245" name="Google Shape;2245;p18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25.6%</a:t>
            </a:r>
            <a:endParaRPr/>
          </a:p>
        </p:txBody>
      </p:sp>
      <p:sp>
        <p:nvSpPr>
          <p:cNvPr id="2246" name="Google Shape;2246;p18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7" name="Google Shape;2247;p18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2248" name="Google Shape;2248;p1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165</a:t>
            </a:r>
            <a:endParaRPr/>
          </a:p>
        </p:txBody>
      </p:sp>
      <p:sp>
        <p:nvSpPr>
          <p:cNvPr id="2249" name="Google Shape;2249;p18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</a:t>
            </a:r>
            <a:endParaRPr/>
          </a:p>
        </p:txBody>
      </p:sp>
      <p:sp>
        <p:nvSpPr>
          <p:cNvPr id="2250" name="Google Shape;2250;p18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146</a:t>
            </a:r>
            <a:endParaRPr/>
          </a:p>
        </p:txBody>
      </p:sp>
      <p:sp>
        <p:nvSpPr>
          <p:cNvPr id="2251" name="Google Shape;2251;p18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35</a:t>
            </a:r>
            <a:endParaRPr/>
          </a:p>
        </p:txBody>
      </p:sp>
      <p:sp>
        <p:nvSpPr>
          <p:cNvPr id="2252" name="Google Shape;2252;p18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21.2%</a:t>
            </a:r>
            <a:endParaRPr/>
          </a:p>
        </p:txBody>
      </p:sp>
      <p:sp>
        <p:nvSpPr>
          <p:cNvPr id="2253" name="Google Shape;2253;p18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4" name="Google Shape;2254;p18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2255" name="Google Shape;2255;p18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138</a:t>
            </a:r>
            <a:endParaRPr/>
          </a:p>
        </p:txBody>
      </p:sp>
      <p:sp>
        <p:nvSpPr>
          <p:cNvPr id="2256" name="Google Shape;2256;p18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</a:t>
            </a:r>
            <a:endParaRPr/>
          </a:p>
        </p:txBody>
      </p:sp>
      <p:sp>
        <p:nvSpPr>
          <p:cNvPr id="2257" name="Google Shape;2257;p18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127</a:t>
            </a:r>
            <a:endParaRPr/>
          </a:p>
        </p:txBody>
      </p:sp>
      <p:sp>
        <p:nvSpPr>
          <p:cNvPr id="2258" name="Google Shape;2258;p1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</a:t>
            </a:r>
            <a:endParaRPr/>
          </a:p>
        </p:txBody>
      </p:sp>
      <p:sp>
        <p:nvSpPr>
          <p:cNvPr id="2259" name="Google Shape;2259;p18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18.8%</a:t>
            </a:r>
            <a:endParaRPr/>
          </a:p>
        </p:txBody>
      </p:sp>
      <p:sp>
        <p:nvSpPr>
          <p:cNvPr id="2260" name="Google Shape;2260;p18"/>
          <p:cNvSpPr/>
          <p:nvPr/>
        </p:nvSpPr>
        <p:spPr>
          <a:xfrm>
            <a:off x="6309360" y="4123944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1" name="Google Shape;2261;p18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2262" name="Google Shape;2262;p18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2263" name="Google Shape;2263;p18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2264" name="Google Shape;2264;p18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2265" name="Google Shape;2265;p18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2266" name="Google Shape;2266;p18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2267" name="Google Shape;2267;p18"/>
          <p:cNvSpPr/>
          <p:nvPr/>
        </p:nvSpPr>
        <p:spPr>
          <a:xfrm>
            <a:off x="6309360" y="4425696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8" name="Google Shape;2268;p18"/>
          <p:cNvSpPr txBox="1"/>
          <p:nvPr/>
        </p:nvSpPr>
        <p:spPr>
          <a:xfrm>
            <a:off x="63093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2269" name="Google Shape;2269;p18"/>
          <p:cNvSpPr txBox="1"/>
          <p:nvPr/>
        </p:nvSpPr>
        <p:spPr>
          <a:xfrm>
            <a:off x="722376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521</a:t>
            </a:r>
            <a:endParaRPr/>
          </a:p>
        </p:txBody>
      </p:sp>
      <p:sp>
        <p:nvSpPr>
          <p:cNvPr id="2270" name="Google Shape;2270;p18"/>
          <p:cNvSpPr txBox="1"/>
          <p:nvPr/>
        </p:nvSpPr>
        <p:spPr>
          <a:xfrm>
            <a:off x="804672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41</a:t>
            </a:r>
            <a:endParaRPr/>
          </a:p>
        </p:txBody>
      </p:sp>
      <p:sp>
        <p:nvSpPr>
          <p:cNvPr id="2271" name="Google Shape;2271;p18"/>
          <p:cNvSpPr txBox="1"/>
          <p:nvPr/>
        </p:nvSpPr>
        <p:spPr>
          <a:xfrm>
            <a:off x="886968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480</a:t>
            </a:r>
            <a:endParaRPr/>
          </a:p>
        </p:txBody>
      </p:sp>
      <p:sp>
        <p:nvSpPr>
          <p:cNvPr id="2272" name="Google Shape;2272;p18"/>
          <p:cNvSpPr txBox="1"/>
          <p:nvPr/>
        </p:nvSpPr>
        <p:spPr>
          <a:xfrm>
            <a:off x="978408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78</a:t>
            </a:r>
            <a:endParaRPr/>
          </a:p>
        </p:txBody>
      </p:sp>
      <p:sp>
        <p:nvSpPr>
          <p:cNvPr id="2273" name="Google Shape;2273;p18"/>
          <p:cNvSpPr txBox="1"/>
          <p:nvPr/>
        </p:nvSpPr>
        <p:spPr>
          <a:xfrm>
            <a:off x="1060704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15.0%</a:t>
            </a:r>
            <a:endParaRPr/>
          </a:p>
        </p:txBody>
      </p:sp>
      <p:sp>
        <p:nvSpPr>
          <p:cNvPr id="2274" name="Google Shape;2274;p18"/>
          <p:cNvSpPr/>
          <p:nvPr/>
        </p:nvSpPr>
        <p:spPr>
          <a:xfrm>
            <a:off x="365760" y="4782312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5" name="Google Shape;2275;p18"/>
          <p:cNvSpPr txBox="1"/>
          <p:nvPr/>
        </p:nvSpPr>
        <p:spPr>
          <a:xfrm>
            <a:off x="457200" y="4800599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YOY COMPARISON — Jan–Jun 2025 vs Jan–Jun 2026</a:t>
            </a:r>
            <a:endParaRPr/>
          </a:p>
        </p:txBody>
      </p:sp>
      <p:sp>
        <p:nvSpPr>
          <p:cNvPr id="2276" name="Google Shape;2276;p18"/>
          <p:cNvSpPr txBox="1"/>
          <p:nvPr/>
        </p:nvSpPr>
        <p:spPr>
          <a:xfrm>
            <a:off x="365760" y="5056631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00" u="none" cap="none" strike="noStrike">
              <a:solidFill>
                <a:srgbClr val="6B728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77" name="Google Shape;2277;p18"/>
          <p:cNvSpPr txBox="1"/>
          <p:nvPr/>
        </p:nvSpPr>
        <p:spPr>
          <a:xfrm>
            <a:off x="1463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'25</a:t>
            </a:r>
            <a:endParaRPr/>
          </a:p>
        </p:txBody>
      </p:sp>
      <p:sp>
        <p:nvSpPr>
          <p:cNvPr id="2278" name="Google Shape;2278;p18"/>
          <p:cNvSpPr txBox="1"/>
          <p:nvPr/>
        </p:nvSpPr>
        <p:spPr>
          <a:xfrm>
            <a:off x="2148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'26</a:t>
            </a:r>
            <a:endParaRPr/>
          </a:p>
        </p:txBody>
      </p:sp>
      <p:sp>
        <p:nvSpPr>
          <p:cNvPr id="2279" name="Google Shape;2279;p18"/>
          <p:cNvSpPr txBox="1"/>
          <p:nvPr/>
        </p:nvSpPr>
        <p:spPr>
          <a:xfrm>
            <a:off x="2834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'25</a:t>
            </a:r>
            <a:endParaRPr/>
          </a:p>
        </p:txBody>
      </p:sp>
      <p:sp>
        <p:nvSpPr>
          <p:cNvPr id="2280" name="Google Shape;2280;p18"/>
          <p:cNvSpPr txBox="1"/>
          <p:nvPr/>
        </p:nvSpPr>
        <p:spPr>
          <a:xfrm>
            <a:off x="3520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'26</a:t>
            </a:r>
            <a:endParaRPr/>
          </a:p>
        </p:txBody>
      </p:sp>
      <p:sp>
        <p:nvSpPr>
          <p:cNvPr id="2281" name="Google Shape;2281;p18"/>
          <p:cNvSpPr txBox="1"/>
          <p:nvPr/>
        </p:nvSpPr>
        <p:spPr>
          <a:xfrm>
            <a:off x="4206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'25</a:t>
            </a:r>
            <a:endParaRPr/>
          </a:p>
        </p:txBody>
      </p:sp>
      <p:sp>
        <p:nvSpPr>
          <p:cNvPr id="2282" name="Google Shape;2282;p18"/>
          <p:cNvSpPr txBox="1"/>
          <p:nvPr/>
        </p:nvSpPr>
        <p:spPr>
          <a:xfrm>
            <a:off x="4892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'26</a:t>
            </a:r>
            <a:endParaRPr/>
          </a:p>
        </p:txBody>
      </p:sp>
      <p:sp>
        <p:nvSpPr>
          <p:cNvPr id="2283" name="Google Shape;2283;p18"/>
          <p:cNvSpPr txBox="1"/>
          <p:nvPr/>
        </p:nvSpPr>
        <p:spPr>
          <a:xfrm>
            <a:off x="5577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'25</a:t>
            </a:r>
            <a:endParaRPr/>
          </a:p>
        </p:txBody>
      </p:sp>
      <p:sp>
        <p:nvSpPr>
          <p:cNvPr id="2284" name="Google Shape;2284;p18"/>
          <p:cNvSpPr txBox="1"/>
          <p:nvPr/>
        </p:nvSpPr>
        <p:spPr>
          <a:xfrm>
            <a:off x="6263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'26</a:t>
            </a:r>
            <a:endParaRPr/>
          </a:p>
        </p:txBody>
      </p:sp>
      <p:sp>
        <p:nvSpPr>
          <p:cNvPr id="2285" name="Google Shape;2285;p18"/>
          <p:cNvSpPr txBox="1"/>
          <p:nvPr/>
        </p:nvSpPr>
        <p:spPr>
          <a:xfrm>
            <a:off x="6949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'25</a:t>
            </a:r>
            <a:endParaRPr/>
          </a:p>
        </p:txBody>
      </p:sp>
      <p:sp>
        <p:nvSpPr>
          <p:cNvPr id="2286" name="Google Shape;2286;p18"/>
          <p:cNvSpPr txBox="1"/>
          <p:nvPr/>
        </p:nvSpPr>
        <p:spPr>
          <a:xfrm>
            <a:off x="7635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'26</a:t>
            </a:r>
            <a:endParaRPr/>
          </a:p>
        </p:txBody>
      </p:sp>
      <p:sp>
        <p:nvSpPr>
          <p:cNvPr id="2287" name="Google Shape;2287;p18"/>
          <p:cNvSpPr txBox="1"/>
          <p:nvPr/>
        </p:nvSpPr>
        <p:spPr>
          <a:xfrm>
            <a:off x="8321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'25</a:t>
            </a:r>
            <a:endParaRPr/>
          </a:p>
        </p:txBody>
      </p:sp>
      <p:sp>
        <p:nvSpPr>
          <p:cNvPr id="2288" name="Google Shape;2288;p18"/>
          <p:cNvSpPr txBox="1"/>
          <p:nvPr/>
        </p:nvSpPr>
        <p:spPr>
          <a:xfrm>
            <a:off x="9006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'26</a:t>
            </a:r>
            <a:endParaRPr/>
          </a:p>
        </p:txBody>
      </p:sp>
      <p:sp>
        <p:nvSpPr>
          <p:cNvPr id="2289" name="Google Shape;2289;p18"/>
          <p:cNvSpPr txBox="1"/>
          <p:nvPr/>
        </p:nvSpPr>
        <p:spPr>
          <a:xfrm>
            <a:off x="969264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'25 Tot</a:t>
            </a:r>
            <a:endParaRPr/>
          </a:p>
        </p:txBody>
      </p:sp>
      <p:sp>
        <p:nvSpPr>
          <p:cNvPr id="2290" name="Google Shape;2290;p18"/>
          <p:cNvSpPr txBox="1"/>
          <p:nvPr/>
        </p:nvSpPr>
        <p:spPr>
          <a:xfrm>
            <a:off x="1088136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'26 Tot</a:t>
            </a:r>
            <a:endParaRPr/>
          </a:p>
        </p:txBody>
      </p:sp>
      <p:sp>
        <p:nvSpPr>
          <p:cNvPr id="2291" name="Google Shape;2291;p18"/>
          <p:cNvSpPr txBox="1"/>
          <p:nvPr/>
        </p:nvSpPr>
        <p:spPr>
          <a:xfrm>
            <a:off x="365760" y="523951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2292" name="Google Shape;2292;p18"/>
          <p:cNvSpPr txBox="1"/>
          <p:nvPr/>
        </p:nvSpPr>
        <p:spPr>
          <a:xfrm>
            <a:off x="1463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2293" name="Google Shape;2293;p18"/>
          <p:cNvSpPr txBox="1"/>
          <p:nvPr/>
        </p:nvSpPr>
        <p:spPr>
          <a:xfrm>
            <a:off x="2148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116</a:t>
            </a:r>
            <a:endParaRPr/>
          </a:p>
        </p:txBody>
      </p:sp>
      <p:sp>
        <p:nvSpPr>
          <p:cNvPr id="2294" name="Google Shape;2294;p18"/>
          <p:cNvSpPr txBox="1"/>
          <p:nvPr/>
        </p:nvSpPr>
        <p:spPr>
          <a:xfrm>
            <a:off x="2834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2295" name="Google Shape;2295;p18"/>
          <p:cNvSpPr txBox="1"/>
          <p:nvPr/>
        </p:nvSpPr>
        <p:spPr>
          <a:xfrm>
            <a:off x="3520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116</a:t>
            </a:r>
            <a:endParaRPr/>
          </a:p>
        </p:txBody>
      </p:sp>
      <p:sp>
        <p:nvSpPr>
          <p:cNvPr id="2296" name="Google Shape;2296;p18"/>
          <p:cNvSpPr txBox="1"/>
          <p:nvPr/>
        </p:nvSpPr>
        <p:spPr>
          <a:xfrm>
            <a:off x="4206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2297" name="Google Shape;2297;p18"/>
          <p:cNvSpPr txBox="1"/>
          <p:nvPr/>
        </p:nvSpPr>
        <p:spPr>
          <a:xfrm>
            <a:off x="4892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156</a:t>
            </a:r>
            <a:endParaRPr/>
          </a:p>
        </p:txBody>
      </p:sp>
      <p:sp>
        <p:nvSpPr>
          <p:cNvPr id="2298" name="Google Shape;2298;p18"/>
          <p:cNvSpPr txBox="1"/>
          <p:nvPr/>
        </p:nvSpPr>
        <p:spPr>
          <a:xfrm>
            <a:off x="5577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82</a:t>
            </a:r>
            <a:endParaRPr/>
          </a:p>
        </p:txBody>
      </p:sp>
      <p:sp>
        <p:nvSpPr>
          <p:cNvPr id="2299" name="Google Shape;2299;p18"/>
          <p:cNvSpPr txBox="1"/>
          <p:nvPr/>
        </p:nvSpPr>
        <p:spPr>
          <a:xfrm>
            <a:off x="6263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165</a:t>
            </a:r>
            <a:endParaRPr/>
          </a:p>
        </p:txBody>
      </p:sp>
      <p:sp>
        <p:nvSpPr>
          <p:cNvPr id="2300" name="Google Shape;2300;p18"/>
          <p:cNvSpPr txBox="1"/>
          <p:nvPr/>
        </p:nvSpPr>
        <p:spPr>
          <a:xfrm>
            <a:off x="6949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73</a:t>
            </a:r>
            <a:endParaRPr/>
          </a:p>
        </p:txBody>
      </p:sp>
      <p:sp>
        <p:nvSpPr>
          <p:cNvPr id="2301" name="Google Shape;2301;p18"/>
          <p:cNvSpPr txBox="1"/>
          <p:nvPr/>
        </p:nvSpPr>
        <p:spPr>
          <a:xfrm>
            <a:off x="7635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138</a:t>
            </a:r>
            <a:endParaRPr/>
          </a:p>
        </p:txBody>
      </p:sp>
      <p:sp>
        <p:nvSpPr>
          <p:cNvPr id="2302" name="Google Shape;2302;p18"/>
          <p:cNvSpPr txBox="1"/>
          <p:nvPr/>
        </p:nvSpPr>
        <p:spPr>
          <a:xfrm>
            <a:off x="8321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61</a:t>
            </a:r>
            <a:endParaRPr/>
          </a:p>
        </p:txBody>
      </p:sp>
      <p:sp>
        <p:nvSpPr>
          <p:cNvPr id="2303" name="Google Shape;2303;p18"/>
          <p:cNvSpPr txBox="1"/>
          <p:nvPr/>
        </p:nvSpPr>
        <p:spPr>
          <a:xfrm>
            <a:off x="9006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2304" name="Google Shape;2304;p18"/>
          <p:cNvSpPr txBox="1"/>
          <p:nvPr/>
        </p:nvSpPr>
        <p:spPr>
          <a:xfrm>
            <a:off x="969264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216</a:t>
            </a:r>
            <a:endParaRPr/>
          </a:p>
        </p:txBody>
      </p:sp>
      <p:sp>
        <p:nvSpPr>
          <p:cNvPr id="2305" name="Google Shape;2305;p18"/>
          <p:cNvSpPr txBox="1"/>
          <p:nvPr/>
        </p:nvSpPr>
        <p:spPr>
          <a:xfrm>
            <a:off x="1088136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691</a:t>
            </a:r>
            <a:endParaRPr/>
          </a:p>
        </p:txBody>
      </p:sp>
      <p:sp>
        <p:nvSpPr>
          <p:cNvPr id="2306" name="Google Shape;2306;p18"/>
          <p:cNvSpPr txBox="1"/>
          <p:nvPr/>
        </p:nvSpPr>
        <p:spPr>
          <a:xfrm>
            <a:off x="365760" y="542239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Bound Premium</a:t>
            </a:r>
            <a:endParaRPr/>
          </a:p>
        </p:txBody>
      </p:sp>
      <p:sp>
        <p:nvSpPr>
          <p:cNvPr id="2307" name="Google Shape;2307;p18"/>
          <p:cNvSpPr txBox="1"/>
          <p:nvPr/>
        </p:nvSpPr>
        <p:spPr>
          <a:xfrm>
            <a:off x="1463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308" name="Google Shape;2308;p18"/>
          <p:cNvSpPr txBox="1"/>
          <p:nvPr/>
        </p:nvSpPr>
        <p:spPr>
          <a:xfrm>
            <a:off x="2148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$559K</a:t>
            </a:r>
            <a:endParaRPr/>
          </a:p>
        </p:txBody>
      </p:sp>
      <p:sp>
        <p:nvSpPr>
          <p:cNvPr id="2309" name="Google Shape;2309;p18"/>
          <p:cNvSpPr txBox="1"/>
          <p:nvPr/>
        </p:nvSpPr>
        <p:spPr>
          <a:xfrm>
            <a:off x="2834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310" name="Google Shape;2310;p18"/>
          <p:cNvSpPr txBox="1"/>
          <p:nvPr/>
        </p:nvSpPr>
        <p:spPr>
          <a:xfrm>
            <a:off x="3520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$289K</a:t>
            </a:r>
            <a:endParaRPr/>
          </a:p>
        </p:txBody>
      </p:sp>
      <p:sp>
        <p:nvSpPr>
          <p:cNvPr id="2311" name="Google Shape;2311;p18"/>
          <p:cNvSpPr txBox="1"/>
          <p:nvPr/>
        </p:nvSpPr>
        <p:spPr>
          <a:xfrm>
            <a:off x="4206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312" name="Google Shape;2312;p18"/>
          <p:cNvSpPr txBox="1"/>
          <p:nvPr/>
        </p:nvSpPr>
        <p:spPr>
          <a:xfrm>
            <a:off x="4892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$556K</a:t>
            </a:r>
            <a:endParaRPr/>
          </a:p>
        </p:txBody>
      </p:sp>
      <p:sp>
        <p:nvSpPr>
          <p:cNvPr id="2313" name="Google Shape;2313;p18"/>
          <p:cNvSpPr txBox="1"/>
          <p:nvPr/>
        </p:nvSpPr>
        <p:spPr>
          <a:xfrm>
            <a:off x="5577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$110K</a:t>
            </a:r>
            <a:endParaRPr/>
          </a:p>
        </p:txBody>
      </p:sp>
      <p:sp>
        <p:nvSpPr>
          <p:cNvPr id="2314" name="Google Shape;2314;p18"/>
          <p:cNvSpPr txBox="1"/>
          <p:nvPr/>
        </p:nvSpPr>
        <p:spPr>
          <a:xfrm>
            <a:off x="6263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$395K</a:t>
            </a:r>
            <a:endParaRPr/>
          </a:p>
        </p:txBody>
      </p:sp>
      <p:sp>
        <p:nvSpPr>
          <p:cNvPr id="2315" name="Google Shape;2315;p18"/>
          <p:cNvSpPr txBox="1"/>
          <p:nvPr/>
        </p:nvSpPr>
        <p:spPr>
          <a:xfrm>
            <a:off x="6949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$312K</a:t>
            </a:r>
            <a:endParaRPr/>
          </a:p>
        </p:txBody>
      </p:sp>
      <p:sp>
        <p:nvSpPr>
          <p:cNvPr id="2316" name="Google Shape;2316;p18"/>
          <p:cNvSpPr txBox="1"/>
          <p:nvPr/>
        </p:nvSpPr>
        <p:spPr>
          <a:xfrm>
            <a:off x="7635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$470K</a:t>
            </a:r>
            <a:endParaRPr/>
          </a:p>
        </p:txBody>
      </p:sp>
      <p:sp>
        <p:nvSpPr>
          <p:cNvPr id="2317" name="Google Shape;2317;p18"/>
          <p:cNvSpPr txBox="1"/>
          <p:nvPr/>
        </p:nvSpPr>
        <p:spPr>
          <a:xfrm>
            <a:off x="8321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$219K</a:t>
            </a:r>
            <a:endParaRPr/>
          </a:p>
        </p:txBody>
      </p:sp>
      <p:sp>
        <p:nvSpPr>
          <p:cNvPr id="2318" name="Google Shape;2318;p18"/>
          <p:cNvSpPr txBox="1"/>
          <p:nvPr/>
        </p:nvSpPr>
        <p:spPr>
          <a:xfrm>
            <a:off x="9006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319" name="Google Shape;2319;p18"/>
          <p:cNvSpPr txBox="1"/>
          <p:nvPr/>
        </p:nvSpPr>
        <p:spPr>
          <a:xfrm>
            <a:off x="969264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$641K</a:t>
            </a:r>
            <a:endParaRPr/>
          </a:p>
        </p:txBody>
      </p:sp>
      <p:sp>
        <p:nvSpPr>
          <p:cNvPr id="2320" name="Google Shape;2320;p18"/>
          <p:cNvSpPr txBox="1"/>
          <p:nvPr/>
        </p:nvSpPr>
        <p:spPr>
          <a:xfrm>
            <a:off x="1088136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$2.3M</a:t>
            </a:r>
            <a:endParaRPr/>
          </a:p>
        </p:txBody>
      </p:sp>
      <p:sp>
        <p:nvSpPr>
          <p:cNvPr id="2321" name="Google Shape;2321;p18"/>
          <p:cNvSpPr/>
          <p:nvPr/>
        </p:nvSpPr>
        <p:spPr>
          <a:xfrm>
            <a:off x="365760" y="5678423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2" name="Google Shape;2322;p18"/>
          <p:cNvSpPr txBox="1"/>
          <p:nvPr/>
        </p:nvSpPr>
        <p:spPr>
          <a:xfrm>
            <a:off x="4572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65F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STRENGTHS - What's Working</a:t>
            </a:r>
            <a:endParaRPr/>
          </a:p>
        </p:txBody>
      </p:sp>
      <p:sp>
        <p:nvSpPr>
          <p:cNvPr id="2323" name="Google Shape;2323;p18"/>
          <p:cNvSpPr txBox="1"/>
          <p:nvPr/>
        </p:nvSpPr>
        <p:spPr>
          <a:xfrm>
            <a:off x="4572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2324" name="Google Shape;2324;p18"/>
          <p:cNvSpPr txBox="1"/>
          <p:nvPr/>
        </p:nvSpPr>
        <p:spPr>
          <a:xfrm>
            <a:off x="685800" y="5952743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$2,269,517 YTD gross written premium</a:t>
            </a:r>
            <a:endParaRPr/>
          </a:p>
        </p:txBody>
      </p:sp>
      <p:sp>
        <p:nvSpPr>
          <p:cNvPr id="2325" name="Google Shape;2325;p18"/>
          <p:cNvSpPr txBox="1"/>
          <p:nvPr/>
        </p:nvSpPr>
        <p:spPr>
          <a:xfrm>
            <a:off x="457200" y="6153911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2326" name="Google Shape;2326;p18"/>
          <p:cNvSpPr txBox="1"/>
          <p:nvPr/>
        </p:nvSpPr>
        <p:spPr>
          <a:xfrm>
            <a:off x="685800" y="6153911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$1,648,524 in new business production</a:t>
            </a:r>
            <a:endParaRPr/>
          </a:p>
        </p:txBody>
      </p:sp>
      <p:sp>
        <p:nvSpPr>
          <p:cNvPr id="2327" name="Google Shape;2327;p18"/>
          <p:cNvSpPr/>
          <p:nvPr/>
        </p:nvSpPr>
        <p:spPr>
          <a:xfrm>
            <a:off x="6309360" y="5678423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8" name="Google Shape;2328;p18"/>
          <p:cNvSpPr txBox="1"/>
          <p:nvPr/>
        </p:nvSpPr>
        <p:spPr>
          <a:xfrm>
            <a:off x="64008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NEEDS ATTENTION</a:t>
            </a:r>
            <a:endParaRPr/>
          </a:p>
        </p:txBody>
      </p:sp>
      <p:sp>
        <p:nvSpPr>
          <p:cNvPr id="2329" name="Google Shape;2329;p18"/>
          <p:cNvSpPr txBox="1"/>
          <p:nvPr/>
        </p:nvSpPr>
        <p:spPr>
          <a:xfrm>
            <a:off x="64008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2330" name="Google Shape;2330;p18"/>
          <p:cNvSpPr txBox="1"/>
          <p:nvPr/>
        </p:nvSpPr>
        <p:spPr>
          <a:xfrm>
            <a:off x="6629400" y="5952743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 at 47% of new business ($776,121)</a:t>
            </a:r>
            <a:endParaRPr/>
          </a:p>
        </p:txBody>
      </p:sp>
      <p:sp>
        <p:nvSpPr>
          <p:cNvPr id="2331" name="Google Shape;2331;p18"/>
          <p:cNvSpPr/>
          <p:nvPr/>
        </p:nvSpPr>
        <p:spPr>
          <a:xfrm>
            <a:off x="365760" y="6455663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2" name="Google Shape;2332;p18"/>
          <p:cNvSpPr txBox="1"/>
          <p:nvPr/>
        </p:nvSpPr>
        <p:spPr>
          <a:xfrm>
            <a:off x="457200" y="6464807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STRATEGIC SALES TIPS - Conversation Starters</a:t>
            </a:r>
            <a:endParaRPr/>
          </a:p>
        </p:txBody>
      </p:sp>
      <p:sp>
        <p:nvSpPr>
          <p:cNvPr id="2333" name="Google Shape;2333;p18"/>
          <p:cNvSpPr txBox="1"/>
          <p:nvPr/>
        </p:nvSpPr>
        <p:spPr>
          <a:xfrm>
            <a:off x="457200" y="6711695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endParaRPr/>
          </a:p>
        </p:txBody>
      </p:sp>
      <p:sp>
        <p:nvSpPr>
          <p:cNvPr id="2334" name="Google Shape;2334;p18"/>
          <p:cNvSpPr txBox="1"/>
          <p:nvPr/>
        </p:nvSpPr>
        <p:spPr>
          <a:xfrm>
            <a:off x="777240" y="6711695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Acknowledge their $1,648,524 in new business. Ask: "What types of accounts are you seeing the most success with?" Use this to identify more of their book that fits our appetite.</a:t>
            </a:r>
            <a:endParaRPr/>
          </a:p>
        </p:txBody>
      </p:sp>
      <p:sp>
        <p:nvSpPr>
          <p:cNvPr id="2335" name="Google Shape;2335;p18"/>
          <p:cNvSpPr txBox="1"/>
          <p:nvPr/>
        </p:nvSpPr>
        <p:spPr>
          <a:xfrm>
            <a:off x="457200" y="6949439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endParaRPr/>
          </a:p>
        </p:txBody>
      </p:sp>
      <p:sp>
        <p:nvSpPr>
          <p:cNvPr id="2336" name="Google Shape;2336;p18"/>
          <p:cNvSpPr txBox="1"/>
          <p:nvPr/>
        </p:nvSpPr>
        <p:spPr>
          <a:xfrm>
            <a:off x="777240" y="6949439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Address the $776,121 in cancellations. Ask: "Are we losing these to price, service, or coverage?" Proactive retention discussions can protect the book and strengthen the relationship.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40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1" name="Google Shape;2341;p19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2" name="Google Shape;2342;p19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Prestige International Insurance Group Inc Dba Prestige Trucking Insurance Inc</a:t>
            </a:r>
            <a:endParaRPr/>
          </a:p>
        </p:txBody>
      </p:sp>
      <p:sp>
        <p:nvSpPr>
          <p:cNvPr id="2343" name="Google Shape;2343;p19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4B5F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Tier: Tier 1  |  Region: Southeast  |  State: FL  |  City: Fort Lauderdale</a:t>
            </a:r>
            <a:endParaRPr/>
          </a:p>
        </p:txBody>
      </p:sp>
      <p:sp>
        <p:nvSpPr>
          <p:cNvPr id="2344" name="Google Shape;2344;p19"/>
          <p:cNvSpPr/>
          <p:nvPr/>
        </p:nvSpPr>
        <p:spPr>
          <a:xfrm>
            <a:off x="22860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$1,417,112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YTD GWP</a:t>
            </a:r>
            <a:endParaRPr/>
          </a:p>
        </p:txBody>
      </p:sp>
      <p:sp>
        <p:nvSpPr>
          <p:cNvPr id="2345" name="Google Shape;2345;p19"/>
          <p:cNvSpPr/>
          <p:nvPr/>
        </p:nvSpPr>
        <p:spPr>
          <a:xfrm>
            <a:off x="256032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$740,153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2346" name="Google Shape;2346;p19"/>
          <p:cNvSpPr/>
          <p:nvPr/>
        </p:nvSpPr>
        <p:spPr>
          <a:xfrm>
            <a:off x="489204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$345,285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2347" name="Google Shape;2347;p19"/>
          <p:cNvSpPr/>
          <p:nvPr/>
        </p:nvSpPr>
        <p:spPr>
          <a:xfrm>
            <a:off x="7223759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$331,674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2348" name="Google Shape;2348;p19"/>
          <p:cNvSpPr/>
          <p:nvPr/>
        </p:nvSpPr>
        <p:spPr>
          <a:xfrm>
            <a:off x="955548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$-674,225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2349" name="Google Shape;2349;p19"/>
          <p:cNvSpPr/>
          <p:nvPr/>
        </p:nvSpPr>
        <p:spPr>
          <a:xfrm>
            <a:off x="137160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$5,400,437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2025 Full Year GWP</a:t>
            </a:r>
            <a:endParaRPr/>
          </a:p>
        </p:txBody>
      </p:sp>
      <p:sp>
        <p:nvSpPr>
          <p:cNvPr id="2350" name="Google Shape;2350;p19"/>
          <p:cNvSpPr/>
          <p:nvPr/>
        </p:nvSpPr>
        <p:spPr>
          <a:xfrm>
            <a:off x="1627631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$4,158,455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Rolling 12M GWP</a:t>
            </a:r>
            <a:endParaRPr/>
          </a:p>
        </p:txBody>
      </p:sp>
      <p:sp>
        <p:nvSpPr>
          <p:cNvPr id="2351" name="Google Shape;2351;p19"/>
          <p:cNvSpPr/>
          <p:nvPr/>
        </p:nvSpPr>
        <p:spPr>
          <a:xfrm>
            <a:off x="3118103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22%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% to Goal</a:t>
            </a:r>
            <a:endParaRPr/>
          </a:p>
        </p:txBody>
      </p:sp>
      <p:sp>
        <p:nvSpPr>
          <p:cNvPr id="2352" name="Google Shape;2352;p19"/>
          <p:cNvSpPr/>
          <p:nvPr/>
        </p:nvSpPr>
        <p:spPr>
          <a:xfrm>
            <a:off x="4608576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1486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2353" name="Google Shape;2353;p19"/>
          <p:cNvSpPr/>
          <p:nvPr/>
        </p:nvSpPr>
        <p:spPr>
          <a:xfrm>
            <a:off x="6099048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2354" name="Google Shape;2354;p19"/>
          <p:cNvSpPr/>
          <p:nvPr/>
        </p:nvSpPr>
        <p:spPr>
          <a:xfrm>
            <a:off x="7589519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3.4%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2355" name="Google Shape;2355;p19"/>
          <p:cNvSpPr/>
          <p:nvPr/>
        </p:nvSpPr>
        <p:spPr>
          <a:xfrm>
            <a:off x="9079992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$1,150,289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 Bound Prem</a:t>
            </a:r>
            <a:endParaRPr/>
          </a:p>
        </p:txBody>
      </p:sp>
      <p:sp>
        <p:nvSpPr>
          <p:cNvPr id="2356" name="Google Shape;2356;p19"/>
          <p:cNvSpPr/>
          <p:nvPr/>
        </p:nvSpPr>
        <p:spPr>
          <a:xfrm>
            <a:off x="10570464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$839,993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NF Bound Prem</a:t>
            </a:r>
            <a:endParaRPr/>
          </a:p>
        </p:txBody>
      </p:sp>
      <p:sp>
        <p:nvSpPr>
          <p:cNvPr id="2357" name="Google Shape;2357;p19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8" name="Google Shape;2358;p19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PRODUCTION BY MONTH</a:t>
            </a:r>
            <a:endParaRPr/>
          </a:p>
        </p:txBody>
      </p:sp>
      <p:sp>
        <p:nvSpPr>
          <p:cNvPr id="2359" name="Google Shape;2359;p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2360" name="Google Shape;2360;p19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Written Premium</a:t>
            </a:r>
            <a:endParaRPr/>
          </a:p>
        </p:txBody>
      </p:sp>
      <p:sp>
        <p:nvSpPr>
          <p:cNvPr id="2361" name="Google Shape;2361;p19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2362" name="Google Shape;2362;p19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2363" name="Google Shape;2363;p19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2364" name="Google Shape;2364;p19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2365" name="Google Shape;2365;p19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6" name="Google Shape;2366;p19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2367" name="Google Shape;2367;p19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$284,996</a:t>
            </a:r>
            <a:endParaRPr/>
          </a:p>
        </p:txBody>
      </p:sp>
      <p:sp>
        <p:nvSpPr>
          <p:cNvPr id="2368" name="Google Shape;2368;p19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$218,129</a:t>
            </a:r>
            <a:endParaRPr/>
          </a:p>
        </p:txBody>
      </p:sp>
      <p:sp>
        <p:nvSpPr>
          <p:cNvPr id="2369" name="Google Shape;2369;p1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$19,345</a:t>
            </a:r>
            <a:endParaRPr/>
          </a:p>
        </p:txBody>
      </p:sp>
      <p:sp>
        <p:nvSpPr>
          <p:cNvPr id="2370" name="Google Shape;2370;p19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$47,521</a:t>
            </a:r>
            <a:endParaRPr/>
          </a:p>
        </p:txBody>
      </p:sp>
      <p:sp>
        <p:nvSpPr>
          <p:cNvPr id="2371" name="Google Shape;2371;p19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$-35,198</a:t>
            </a:r>
            <a:endParaRPr/>
          </a:p>
        </p:txBody>
      </p:sp>
      <p:sp>
        <p:nvSpPr>
          <p:cNvPr id="2372" name="Google Shape;2372;p19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3" name="Google Shape;2373;p19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2374" name="Google Shape;2374;p19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$298,282</a:t>
            </a:r>
            <a:endParaRPr/>
          </a:p>
        </p:txBody>
      </p:sp>
      <p:sp>
        <p:nvSpPr>
          <p:cNvPr id="2375" name="Google Shape;2375;p19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$176,724</a:t>
            </a:r>
            <a:endParaRPr/>
          </a:p>
        </p:txBody>
      </p:sp>
      <p:sp>
        <p:nvSpPr>
          <p:cNvPr id="2376" name="Google Shape;2376;p19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$42,731</a:t>
            </a:r>
            <a:endParaRPr/>
          </a:p>
        </p:txBody>
      </p:sp>
      <p:sp>
        <p:nvSpPr>
          <p:cNvPr id="2377" name="Google Shape;2377;p19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$78,827</a:t>
            </a:r>
            <a:endParaRPr/>
          </a:p>
        </p:txBody>
      </p:sp>
      <p:sp>
        <p:nvSpPr>
          <p:cNvPr id="2378" name="Google Shape;2378;p19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$-204,175</a:t>
            </a:r>
            <a:endParaRPr/>
          </a:p>
        </p:txBody>
      </p:sp>
      <p:sp>
        <p:nvSpPr>
          <p:cNvPr id="2379" name="Google Shape;2379;p1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0" name="Google Shape;2380;p19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2381" name="Google Shape;2381;p19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$167,384</a:t>
            </a:r>
            <a:endParaRPr/>
          </a:p>
        </p:txBody>
      </p:sp>
      <p:sp>
        <p:nvSpPr>
          <p:cNvPr id="2382" name="Google Shape;2382;p19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$137,894</a:t>
            </a:r>
            <a:endParaRPr/>
          </a:p>
        </p:txBody>
      </p:sp>
      <p:sp>
        <p:nvSpPr>
          <p:cNvPr id="2383" name="Google Shape;2383;p19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$32,214</a:t>
            </a:r>
            <a:endParaRPr/>
          </a:p>
        </p:txBody>
      </p:sp>
      <p:sp>
        <p:nvSpPr>
          <p:cNvPr id="2384" name="Google Shape;2384;p19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$-2,724</a:t>
            </a:r>
            <a:endParaRPr/>
          </a:p>
        </p:txBody>
      </p:sp>
      <p:sp>
        <p:nvSpPr>
          <p:cNvPr id="2385" name="Google Shape;2385;p19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$-24,309</a:t>
            </a:r>
            <a:endParaRPr/>
          </a:p>
        </p:txBody>
      </p:sp>
      <p:sp>
        <p:nvSpPr>
          <p:cNvPr id="2386" name="Google Shape;2386;p19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7" name="Google Shape;2387;p19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2388" name="Google Shape;2388;p19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$470,143</a:t>
            </a:r>
            <a:endParaRPr/>
          </a:p>
        </p:txBody>
      </p:sp>
      <p:sp>
        <p:nvSpPr>
          <p:cNvPr id="2389" name="Google Shape;2389;p1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$118,841</a:t>
            </a:r>
            <a:endParaRPr/>
          </a:p>
        </p:txBody>
      </p:sp>
      <p:sp>
        <p:nvSpPr>
          <p:cNvPr id="2390" name="Google Shape;2390;p19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$137,438</a:t>
            </a:r>
            <a:endParaRPr/>
          </a:p>
        </p:txBody>
      </p:sp>
      <p:sp>
        <p:nvSpPr>
          <p:cNvPr id="2391" name="Google Shape;2391;p19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$213,864</a:t>
            </a:r>
            <a:endParaRPr/>
          </a:p>
        </p:txBody>
      </p:sp>
      <p:sp>
        <p:nvSpPr>
          <p:cNvPr id="2392" name="Google Shape;2392;p19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$-347,386</a:t>
            </a:r>
            <a:endParaRPr/>
          </a:p>
        </p:txBody>
      </p:sp>
      <p:sp>
        <p:nvSpPr>
          <p:cNvPr id="2393" name="Google Shape;2393;p19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4" name="Google Shape;2394;p19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2395" name="Google Shape;2395;p19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$196,308</a:t>
            </a:r>
            <a:endParaRPr/>
          </a:p>
        </p:txBody>
      </p:sp>
      <p:sp>
        <p:nvSpPr>
          <p:cNvPr id="2396" name="Google Shape;2396;p19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$88,566</a:t>
            </a:r>
            <a:endParaRPr/>
          </a:p>
        </p:txBody>
      </p:sp>
      <p:sp>
        <p:nvSpPr>
          <p:cNvPr id="2397" name="Google Shape;2397;p19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$113,556</a:t>
            </a:r>
            <a:endParaRPr/>
          </a:p>
        </p:txBody>
      </p:sp>
      <p:sp>
        <p:nvSpPr>
          <p:cNvPr id="2398" name="Google Shape;2398;p19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$-5,814</a:t>
            </a:r>
            <a:endParaRPr/>
          </a:p>
        </p:txBody>
      </p:sp>
      <p:sp>
        <p:nvSpPr>
          <p:cNvPr id="2399" name="Google Shape;2399;p1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$-63,157</a:t>
            </a:r>
            <a:endParaRPr/>
          </a:p>
        </p:txBody>
      </p:sp>
      <p:sp>
        <p:nvSpPr>
          <p:cNvPr id="2400" name="Google Shape;2400;p19"/>
          <p:cNvSpPr/>
          <p:nvPr/>
        </p:nvSpPr>
        <p:spPr>
          <a:xfrm>
            <a:off x="365760" y="4123944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1" name="Google Shape;2401;p19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2402" name="Google Shape;2402;p19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403" name="Google Shape;2403;p19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404" name="Google Shape;2404;p19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405" name="Google Shape;2405;p19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406" name="Google Shape;2406;p19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407" name="Google Shape;2407;p19"/>
          <p:cNvSpPr/>
          <p:nvPr/>
        </p:nvSpPr>
        <p:spPr>
          <a:xfrm>
            <a:off x="365760" y="4425696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8" name="Google Shape;2408;p19"/>
          <p:cNvSpPr txBox="1"/>
          <p:nvPr/>
        </p:nvSpPr>
        <p:spPr>
          <a:xfrm>
            <a:off x="3657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2409" name="Google Shape;2409;p19"/>
          <p:cNvSpPr txBox="1"/>
          <p:nvPr/>
        </p:nvSpPr>
        <p:spPr>
          <a:xfrm>
            <a:off x="1280160" y="446227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$1,417,112</a:t>
            </a:r>
            <a:endParaRPr/>
          </a:p>
        </p:txBody>
      </p:sp>
      <p:sp>
        <p:nvSpPr>
          <p:cNvPr id="2410" name="Google Shape;2410;p19"/>
          <p:cNvSpPr txBox="1"/>
          <p:nvPr/>
        </p:nvSpPr>
        <p:spPr>
          <a:xfrm>
            <a:off x="2377439" y="446227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$740,153</a:t>
            </a:r>
            <a:endParaRPr/>
          </a:p>
        </p:txBody>
      </p:sp>
      <p:sp>
        <p:nvSpPr>
          <p:cNvPr id="2411" name="Google Shape;2411;p19"/>
          <p:cNvSpPr txBox="1"/>
          <p:nvPr/>
        </p:nvSpPr>
        <p:spPr>
          <a:xfrm>
            <a:off x="33832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$345,285</a:t>
            </a:r>
            <a:endParaRPr/>
          </a:p>
        </p:txBody>
      </p:sp>
      <p:sp>
        <p:nvSpPr>
          <p:cNvPr id="2412" name="Google Shape;2412;p19"/>
          <p:cNvSpPr txBox="1"/>
          <p:nvPr/>
        </p:nvSpPr>
        <p:spPr>
          <a:xfrm>
            <a:off x="42976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$331,674</a:t>
            </a:r>
            <a:endParaRPr/>
          </a:p>
        </p:txBody>
      </p:sp>
      <p:sp>
        <p:nvSpPr>
          <p:cNvPr id="2413" name="Google Shape;2413;p19"/>
          <p:cNvSpPr txBox="1"/>
          <p:nvPr/>
        </p:nvSpPr>
        <p:spPr>
          <a:xfrm>
            <a:off x="52120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$-674,225</a:t>
            </a:r>
            <a:endParaRPr/>
          </a:p>
        </p:txBody>
      </p:sp>
      <p:sp>
        <p:nvSpPr>
          <p:cNvPr id="2414" name="Google Shape;2414;p19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5" name="Google Shape;2415;p19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 &amp; PIPELINE</a:t>
            </a:r>
            <a:endParaRPr/>
          </a:p>
        </p:txBody>
      </p:sp>
      <p:sp>
        <p:nvSpPr>
          <p:cNvPr id="2416" name="Google Shape;2416;p1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2417" name="Google Shape;2417;p19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Subs</a:t>
            </a:r>
            <a:endParaRPr/>
          </a:p>
        </p:txBody>
      </p:sp>
      <p:sp>
        <p:nvSpPr>
          <p:cNvPr id="2418" name="Google Shape;2418;p19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</a:t>
            </a:r>
            <a:endParaRPr/>
          </a:p>
        </p:txBody>
      </p:sp>
      <p:sp>
        <p:nvSpPr>
          <p:cNvPr id="2419" name="Google Shape;2419;p19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Non-Fleet</a:t>
            </a:r>
            <a:endParaRPr/>
          </a:p>
        </p:txBody>
      </p:sp>
      <p:sp>
        <p:nvSpPr>
          <p:cNvPr id="2420" name="Google Shape;2420;p19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2421" name="Google Shape;2421;p19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2422" name="Google Shape;2422;p19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3" name="Google Shape;2423;p19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2424" name="Google Shape;2424;p19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256</a:t>
            </a:r>
            <a:endParaRPr/>
          </a:p>
        </p:txBody>
      </p:sp>
      <p:sp>
        <p:nvSpPr>
          <p:cNvPr id="2425" name="Google Shape;2425;p19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27</a:t>
            </a:r>
            <a:endParaRPr/>
          </a:p>
        </p:txBody>
      </p:sp>
      <p:sp>
        <p:nvSpPr>
          <p:cNvPr id="2426" name="Google Shape;2426;p1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229</a:t>
            </a:r>
            <a:endParaRPr/>
          </a:p>
        </p:txBody>
      </p:sp>
      <p:sp>
        <p:nvSpPr>
          <p:cNvPr id="2427" name="Google Shape;2427;p19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27</a:t>
            </a:r>
            <a:endParaRPr/>
          </a:p>
        </p:txBody>
      </p:sp>
      <p:sp>
        <p:nvSpPr>
          <p:cNvPr id="2428" name="Google Shape;2428;p19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10.5%</a:t>
            </a:r>
            <a:endParaRPr/>
          </a:p>
        </p:txBody>
      </p:sp>
      <p:sp>
        <p:nvSpPr>
          <p:cNvPr id="2429" name="Google Shape;2429;p19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0" name="Google Shape;2430;p19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2431" name="Google Shape;2431;p19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327</a:t>
            </a:r>
            <a:endParaRPr/>
          </a:p>
        </p:txBody>
      </p:sp>
      <p:sp>
        <p:nvSpPr>
          <p:cNvPr id="2432" name="Google Shape;2432;p19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</a:t>
            </a:r>
            <a:endParaRPr/>
          </a:p>
        </p:txBody>
      </p:sp>
      <p:sp>
        <p:nvSpPr>
          <p:cNvPr id="2433" name="Google Shape;2433;p19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302</a:t>
            </a:r>
            <a:endParaRPr/>
          </a:p>
        </p:txBody>
      </p:sp>
      <p:sp>
        <p:nvSpPr>
          <p:cNvPr id="2434" name="Google Shape;2434;p19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22</a:t>
            </a:r>
            <a:endParaRPr/>
          </a:p>
        </p:txBody>
      </p:sp>
      <p:sp>
        <p:nvSpPr>
          <p:cNvPr id="2435" name="Google Shape;2435;p19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6.7%</a:t>
            </a:r>
            <a:endParaRPr/>
          </a:p>
        </p:txBody>
      </p:sp>
      <p:sp>
        <p:nvSpPr>
          <p:cNvPr id="2436" name="Google Shape;2436;p1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7" name="Google Shape;2437;p19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2438" name="Google Shape;2438;p19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371</a:t>
            </a:r>
            <a:endParaRPr/>
          </a:p>
        </p:txBody>
      </p:sp>
      <p:sp>
        <p:nvSpPr>
          <p:cNvPr id="2439" name="Google Shape;2439;p19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</a:t>
            </a:r>
            <a:endParaRPr/>
          </a:p>
        </p:txBody>
      </p:sp>
      <p:sp>
        <p:nvSpPr>
          <p:cNvPr id="2440" name="Google Shape;2440;p19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346</a:t>
            </a:r>
            <a:endParaRPr/>
          </a:p>
        </p:txBody>
      </p:sp>
      <p:sp>
        <p:nvSpPr>
          <p:cNvPr id="2441" name="Google Shape;2441;p19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</a:t>
            </a:r>
            <a:endParaRPr/>
          </a:p>
        </p:txBody>
      </p:sp>
      <p:sp>
        <p:nvSpPr>
          <p:cNvPr id="2442" name="Google Shape;2442;p19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5.4%</a:t>
            </a:r>
            <a:endParaRPr/>
          </a:p>
        </p:txBody>
      </p:sp>
      <p:sp>
        <p:nvSpPr>
          <p:cNvPr id="2443" name="Google Shape;2443;p19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4" name="Google Shape;2444;p19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2445" name="Google Shape;2445;p19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354</a:t>
            </a:r>
            <a:endParaRPr/>
          </a:p>
        </p:txBody>
      </p:sp>
      <p:sp>
        <p:nvSpPr>
          <p:cNvPr id="2446" name="Google Shape;2446;p1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29</a:t>
            </a:r>
            <a:endParaRPr/>
          </a:p>
        </p:txBody>
      </p:sp>
      <p:sp>
        <p:nvSpPr>
          <p:cNvPr id="2447" name="Google Shape;2447;p19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325</a:t>
            </a:r>
            <a:endParaRPr/>
          </a:p>
        </p:txBody>
      </p:sp>
      <p:sp>
        <p:nvSpPr>
          <p:cNvPr id="2448" name="Google Shape;2448;p19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22</a:t>
            </a:r>
            <a:endParaRPr/>
          </a:p>
        </p:txBody>
      </p:sp>
      <p:sp>
        <p:nvSpPr>
          <p:cNvPr id="2449" name="Google Shape;2449;p19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6.2%</a:t>
            </a:r>
            <a:endParaRPr/>
          </a:p>
        </p:txBody>
      </p:sp>
      <p:sp>
        <p:nvSpPr>
          <p:cNvPr id="2450" name="Google Shape;2450;p19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1" name="Google Shape;2451;p19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2452" name="Google Shape;2452;p19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279</a:t>
            </a:r>
            <a:endParaRPr/>
          </a:p>
        </p:txBody>
      </p:sp>
      <p:sp>
        <p:nvSpPr>
          <p:cNvPr id="2453" name="Google Shape;2453;p19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</a:t>
            </a:r>
            <a:endParaRPr/>
          </a:p>
        </p:txBody>
      </p:sp>
      <p:sp>
        <p:nvSpPr>
          <p:cNvPr id="2454" name="Google Shape;2454;p19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259</a:t>
            </a:r>
            <a:endParaRPr/>
          </a:p>
        </p:txBody>
      </p:sp>
      <p:sp>
        <p:nvSpPr>
          <p:cNvPr id="2455" name="Google Shape;2455;p19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</a:t>
            </a:r>
            <a:endParaRPr/>
          </a:p>
        </p:txBody>
      </p:sp>
      <p:sp>
        <p:nvSpPr>
          <p:cNvPr id="2456" name="Google Shape;2456;p1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5.0%</a:t>
            </a:r>
            <a:endParaRPr/>
          </a:p>
        </p:txBody>
      </p:sp>
      <p:sp>
        <p:nvSpPr>
          <p:cNvPr id="2457" name="Google Shape;2457;p19"/>
          <p:cNvSpPr/>
          <p:nvPr/>
        </p:nvSpPr>
        <p:spPr>
          <a:xfrm>
            <a:off x="6309360" y="4123944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8" name="Google Shape;2458;p19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2459" name="Google Shape;2459;p19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2460" name="Google Shape;2460;p19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2461" name="Google Shape;2461;p19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2462" name="Google Shape;2462;p19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2463" name="Google Shape;2463;p19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2464" name="Google Shape;2464;p19"/>
          <p:cNvSpPr/>
          <p:nvPr/>
        </p:nvSpPr>
        <p:spPr>
          <a:xfrm>
            <a:off x="6309360" y="4425696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5" name="Google Shape;2465;p19"/>
          <p:cNvSpPr txBox="1"/>
          <p:nvPr/>
        </p:nvSpPr>
        <p:spPr>
          <a:xfrm>
            <a:off x="63093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2466" name="Google Shape;2466;p19"/>
          <p:cNvSpPr txBox="1"/>
          <p:nvPr/>
        </p:nvSpPr>
        <p:spPr>
          <a:xfrm>
            <a:off x="722376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1486</a:t>
            </a:r>
            <a:endParaRPr/>
          </a:p>
        </p:txBody>
      </p:sp>
      <p:sp>
        <p:nvSpPr>
          <p:cNvPr id="2467" name="Google Shape;2467;p19"/>
          <p:cNvSpPr txBox="1"/>
          <p:nvPr/>
        </p:nvSpPr>
        <p:spPr>
          <a:xfrm>
            <a:off x="804672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100</a:t>
            </a:r>
            <a:endParaRPr/>
          </a:p>
        </p:txBody>
      </p:sp>
      <p:sp>
        <p:nvSpPr>
          <p:cNvPr id="2468" name="Google Shape;2468;p19"/>
          <p:cNvSpPr txBox="1"/>
          <p:nvPr/>
        </p:nvSpPr>
        <p:spPr>
          <a:xfrm>
            <a:off x="886968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1386</a:t>
            </a:r>
            <a:endParaRPr/>
          </a:p>
        </p:txBody>
      </p:sp>
      <p:sp>
        <p:nvSpPr>
          <p:cNvPr id="2469" name="Google Shape;2469;p19"/>
          <p:cNvSpPr txBox="1"/>
          <p:nvPr/>
        </p:nvSpPr>
        <p:spPr>
          <a:xfrm>
            <a:off x="978408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51</a:t>
            </a:r>
            <a:endParaRPr/>
          </a:p>
        </p:txBody>
      </p:sp>
      <p:sp>
        <p:nvSpPr>
          <p:cNvPr id="2470" name="Google Shape;2470;p19"/>
          <p:cNvSpPr txBox="1"/>
          <p:nvPr/>
        </p:nvSpPr>
        <p:spPr>
          <a:xfrm>
            <a:off x="1060704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3.4%</a:t>
            </a:r>
            <a:endParaRPr/>
          </a:p>
        </p:txBody>
      </p:sp>
      <p:sp>
        <p:nvSpPr>
          <p:cNvPr id="2471" name="Google Shape;2471;p19"/>
          <p:cNvSpPr/>
          <p:nvPr/>
        </p:nvSpPr>
        <p:spPr>
          <a:xfrm>
            <a:off x="365760" y="4782312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2" name="Google Shape;2472;p19"/>
          <p:cNvSpPr txBox="1"/>
          <p:nvPr/>
        </p:nvSpPr>
        <p:spPr>
          <a:xfrm>
            <a:off x="457200" y="4800599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YOY COMPARISON — Jan–Jun 2025 vs Jan–Jun 2026</a:t>
            </a:r>
            <a:endParaRPr/>
          </a:p>
        </p:txBody>
      </p:sp>
      <p:sp>
        <p:nvSpPr>
          <p:cNvPr id="2473" name="Google Shape;2473;p19"/>
          <p:cNvSpPr txBox="1"/>
          <p:nvPr/>
        </p:nvSpPr>
        <p:spPr>
          <a:xfrm>
            <a:off x="365760" y="5056631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00" u="none" cap="none" strike="noStrike">
              <a:solidFill>
                <a:srgbClr val="6B728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74" name="Google Shape;2474;p19"/>
          <p:cNvSpPr txBox="1"/>
          <p:nvPr/>
        </p:nvSpPr>
        <p:spPr>
          <a:xfrm>
            <a:off x="1463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'25</a:t>
            </a:r>
            <a:endParaRPr/>
          </a:p>
        </p:txBody>
      </p:sp>
      <p:sp>
        <p:nvSpPr>
          <p:cNvPr id="2475" name="Google Shape;2475;p19"/>
          <p:cNvSpPr txBox="1"/>
          <p:nvPr/>
        </p:nvSpPr>
        <p:spPr>
          <a:xfrm>
            <a:off x="2148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'26</a:t>
            </a:r>
            <a:endParaRPr/>
          </a:p>
        </p:txBody>
      </p:sp>
      <p:sp>
        <p:nvSpPr>
          <p:cNvPr id="2476" name="Google Shape;2476;p19"/>
          <p:cNvSpPr txBox="1"/>
          <p:nvPr/>
        </p:nvSpPr>
        <p:spPr>
          <a:xfrm>
            <a:off x="2834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'25</a:t>
            </a:r>
            <a:endParaRPr/>
          </a:p>
        </p:txBody>
      </p:sp>
      <p:sp>
        <p:nvSpPr>
          <p:cNvPr id="2477" name="Google Shape;2477;p19"/>
          <p:cNvSpPr txBox="1"/>
          <p:nvPr/>
        </p:nvSpPr>
        <p:spPr>
          <a:xfrm>
            <a:off x="3520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'26</a:t>
            </a:r>
            <a:endParaRPr/>
          </a:p>
        </p:txBody>
      </p:sp>
      <p:sp>
        <p:nvSpPr>
          <p:cNvPr id="2478" name="Google Shape;2478;p19"/>
          <p:cNvSpPr txBox="1"/>
          <p:nvPr/>
        </p:nvSpPr>
        <p:spPr>
          <a:xfrm>
            <a:off x="4206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'25</a:t>
            </a:r>
            <a:endParaRPr/>
          </a:p>
        </p:txBody>
      </p:sp>
      <p:sp>
        <p:nvSpPr>
          <p:cNvPr id="2479" name="Google Shape;2479;p19"/>
          <p:cNvSpPr txBox="1"/>
          <p:nvPr/>
        </p:nvSpPr>
        <p:spPr>
          <a:xfrm>
            <a:off x="4892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'26</a:t>
            </a:r>
            <a:endParaRPr/>
          </a:p>
        </p:txBody>
      </p:sp>
      <p:sp>
        <p:nvSpPr>
          <p:cNvPr id="2480" name="Google Shape;2480;p19"/>
          <p:cNvSpPr txBox="1"/>
          <p:nvPr/>
        </p:nvSpPr>
        <p:spPr>
          <a:xfrm>
            <a:off x="5577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'25</a:t>
            </a:r>
            <a:endParaRPr/>
          </a:p>
        </p:txBody>
      </p:sp>
      <p:sp>
        <p:nvSpPr>
          <p:cNvPr id="2481" name="Google Shape;2481;p19"/>
          <p:cNvSpPr txBox="1"/>
          <p:nvPr/>
        </p:nvSpPr>
        <p:spPr>
          <a:xfrm>
            <a:off x="6263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'26</a:t>
            </a:r>
            <a:endParaRPr/>
          </a:p>
        </p:txBody>
      </p:sp>
      <p:sp>
        <p:nvSpPr>
          <p:cNvPr id="2482" name="Google Shape;2482;p19"/>
          <p:cNvSpPr txBox="1"/>
          <p:nvPr/>
        </p:nvSpPr>
        <p:spPr>
          <a:xfrm>
            <a:off x="6949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'25</a:t>
            </a:r>
            <a:endParaRPr/>
          </a:p>
        </p:txBody>
      </p:sp>
      <p:sp>
        <p:nvSpPr>
          <p:cNvPr id="2483" name="Google Shape;2483;p19"/>
          <p:cNvSpPr txBox="1"/>
          <p:nvPr/>
        </p:nvSpPr>
        <p:spPr>
          <a:xfrm>
            <a:off x="7635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'26</a:t>
            </a:r>
            <a:endParaRPr/>
          </a:p>
        </p:txBody>
      </p:sp>
      <p:sp>
        <p:nvSpPr>
          <p:cNvPr id="2484" name="Google Shape;2484;p19"/>
          <p:cNvSpPr txBox="1"/>
          <p:nvPr/>
        </p:nvSpPr>
        <p:spPr>
          <a:xfrm>
            <a:off x="8321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'25</a:t>
            </a:r>
            <a:endParaRPr/>
          </a:p>
        </p:txBody>
      </p:sp>
      <p:sp>
        <p:nvSpPr>
          <p:cNvPr id="2485" name="Google Shape;2485;p19"/>
          <p:cNvSpPr txBox="1"/>
          <p:nvPr/>
        </p:nvSpPr>
        <p:spPr>
          <a:xfrm>
            <a:off x="9006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'26</a:t>
            </a:r>
            <a:endParaRPr/>
          </a:p>
        </p:txBody>
      </p:sp>
      <p:sp>
        <p:nvSpPr>
          <p:cNvPr id="2486" name="Google Shape;2486;p19"/>
          <p:cNvSpPr txBox="1"/>
          <p:nvPr/>
        </p:nvSpPr>
        <p:spPr>
          <a:xfrm>
            <a:off x="969264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'25 Tot</a:t>
            </a:r>
            <a:endParaRPr/>
          </a:p>
        </p:txBody>
      </p:sp>
      <p:sp>
        <p:nvSpPr>
          <p:cNvPr id="2487" name="Google Shape;2487;p19"/>
          <p:cNvSpPr txBox="1"/>
          <p:nvPr/>
        </p:nvSpPr>
        <p:spPr>
          <a:xfrm>
            <a:off x="1088136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'26 Tot</a:t>
            </a:r>
            <a:endParaRPr/>
          </a:p>
        </p:txBody>
      </p:sp>
      <p:sp>
        <p:nvSpPr>
          <p:cNvPr id="2488" name="Google Shape;2488;p19"/>
          <p:cNvSpPr txBox="1"/>
          <p:nvPr/>
        </p:nvSpPr>
        <p:spPr>
          <a:xfrm>
            <a:off x="365760" y="523951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2489" name="Google Shape;2489;p19"/>
          <p:cNvSpPr txBox="1"/>
          <p:nvPr/>
        </p:nvSpPr>
        <p:spPr>
          <a:xfrm>
            <a:off x="1463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261</a:t>
            </a:r>
            <a:endParaRPr/>
          </a:p>
        </p:txBody>
      </p:sp>
      <p:sp>
        <p:nvSpPr>
          <p:cNvPr id="2490" name="Google Shape;2490;p19"/>
          <p:cNvSpPr txBox="1"/>
          <p:nvPr/>
        </p:nvSpPr>
        <p:spPr>
          <a:xfrm>
            <a:off x="2148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256</a:t>
            </a:r>
            <a:endParaRPr/>
          </a:p>
        </p:txBody>
      </p:sp>
      <p:sp>
        <p:nvSpPr>
          <p:cNvPr id="2491" name="Google Shape;2491;p19"/>
          <p:cNvSpPr txBox="1"/>
          <p:nvPr/>
        </p:nvSpPr>
        <p:spPr>
          <a:xfrm>
            <a:off x="2834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176</a:t>
            </a:r>
            <a:endParaRPr/>
          </a:p>
        </p:txBody>
      </p:sp>
      <p:sp>
        <p:nvSpPr>
          <p:cNvPr id="2492" name="Google Shape;2492;p19"/>
          <p:cNvSpPr txBox="1"/>
          <p:nvPr/>
        </p:nvSpPr>
        <p:spPr>
          <a:xfrm>
            <a:off x="3520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327</a:t>
            </a:r>
            <a:endParaRPr/>
          </a:p>
        </p:txBody>
      </p:sp>
      <p:sp>
        <p:nvSpPr>
          <p:cNvPr id="2493" name="Google Shape;2493;p19"/>
          <p:cNvSpPr txBox="1"/>
          <p:nvPr/>
        </p:nvSpPr>
        <p:spPr>
          <a:xfrm>
            <a:off x="4206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264</a:t>
            </a:r>
            <a:endParaRPr/>
          </a:p>
        </p:txBody>
      </p:sp>
      <p:sp>
        <p:nvSpPr>
          <p:cNvPr id="2494" name="Google Shape;2494;p19"/>
          <p:cNvSpPr txBox="1"/>
          <p:nvPr/>
        </p:nvSpPr>
        <p:spPr>
          <a:xfrm>
            <a:off x="4892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371</a:t>
            </a:r>
            <a:endParaRPr/>
          </a:p>
        </p:txBody>
      </p:sp>
      <p:sp>
        <p:nvSpPr>
          <p:cNvPr id="2495" name="Google Shape;2495;p19"/>
          <p:cNvSpPr txBox="1"/>
          <p:nvPr/>
        </p:nvSpPr>
        <p:spPr>
          <a:xfrm>
            <a:off x="5577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201</a:t>
            </a:r>
            <a:endParaRPr/>
          </a:p>
        </p:txBody>
      </p:sp>
      <p:sp>
        <p:nvSpPr>
          <p:cNvPr id="2496" name="Google Shape;2496;p19"/>
          <p:cNvSpPr txBox="1"/>
          <p:nvPr/>
        </p:nvSpPr>
        <p:spPr>
          <a:xfrm>
            <a:off x="6263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354</a:t>
            </a:r>
            <a:endParaRPr/>
          </a:p>
        </p:txBody>
      </p:sp>
      <p:sp>
        <p:nvSpPr>
          <p:cNvPr id="2497" name="Google Shape;2497;p19"/>
          <p:cNvSpPr txBox="1"/>
          <p:nvPr/>
        </p:nvSpPr>
        <p:spPr>
          <a:xfrm>
            <a:off x="6949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203</a:t>
            </a:r>
            <a:endParaRPr/>
          </a:p>
        </p:txBody>
      </p:sp>
      <p:sp>
        <p:nvSpPr>
          <p:cNvPr id="2498" name="Google Shape;2498;p19"/>
          <p:cNvSpPr txBox="1"/>
          <p:nvPr/>
        </p:nvSpPr>
        <p:spPr>
          <a:xfrm>
            <a:off x="7635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279</a:t>
            </a:r>
            <a:endParaRPr/>
          </a:p>
        </p:txBody>
      </p:sp>
      <p:sp>
        <p:nvSpPr>
          <p:cNvPr id="2499" name="Google Shape;2499;p19"/>
          <p:cNvSpPr txBox="1"/>
          <p:nvPr/>
        </p:nvSpPr>
        <p:spPr>
          <a:xfrm>
            <a:off x="8321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288</a:t>
            </a:r>
            <a:endParaRPr/>
          </a:p>
        </p:txBody>
      </p:sp>
      <p:sp>
        <p:nvSpPr>
          <p:cNvPr id="2500" name="Google Shape;2500;p19"/>
          <p:cNvSpPr txBox="1"/>
          <p:nvPr/>
        </p:nvSpPr>
        <p:spPr>
          <a:xfrm>
            <a:off x="9006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2501" name="Google Shape;2501;p19"/>
          <p:cNvSpPr txBox="1"/>
          <p:nvPr/>
        </p:nvSpPr>
        <p:spPr>
          <a:xfrm>
            <a:off x="969264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1393</a:t>
            </a:r>
            <a:endParaRPr/>
          </a:p>
        </p:txBody>
      </p:sp>
      <p:sp>
        <p:nvSpPr>
          <p:cNvPr id="2502" name="Google Shape;2502;p19"/>
          <p:cNvSpPr txBox="1"/>
          <p:nvPr/>
        </p:nvSpPr>
        <p:spPr>
          <a:xfrm>
            <a:off x="1088136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1587</a:t>
            </a:r>
            <a:endParaRPr/>
          </a:p>
        </p:txBody>
      </p:sp>
      <p:sp>
        <p:nvSpPr>
          <p:cNvPr id="2503" name="Google Shape;2503;p19"/>
          <p:cNvSpPr txBox="1"/>
          <p:nvPr/>
        </p:nvSpPr>
        <p:spPr>
          <a:xfrm>
            <a:off x="365760" y="542239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Bound Premium</a:t>
            </a:r>
            <a:endParaRPr/>
          </a:p>
        </p:txBody>
      </p:sp>
      <p:sp>
        <p:nvSpPr>
          <p:cNvPr id="2504" name="Google Shape;2504;p19"/>
          <p:cNvSpPr txBox="1"/>
          <p:nvPr/>
        </p:nvSpPr>
        <p:spPr>
          <a:xfrm>
            <a:off x="1463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$372K</a:t>
            </a:r>
            <a:endParaRPr/>
          </a:p>
        </p:txBody>
      </p:sp>
      <p:sp>
        <p:nvSpPr>
          <p:cNvPr id="2505" name="Google Shape;2505;p19"/>
          <p:cNvSpPr txBox="1"/>
          <p:nvPr/>
        </p:nvSpPr>
        <p:spPr>
          <a:xfrm>
            <a:off x="2148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$285K</a:t>
            </a:r>
            <a:endParaRPr/>
          </a:p>
        </p:txBody>
      </p:sp>
      <p:sp>
        <p:nvSpPr>
          <p:cNvPr id="2506" name="Google Shape;2506;p19"/>
          <p:cNvSpPr txBox="1"/>
          <p:nvPr/>
        </p:nvSpPr>
        <p:spPr>
          <a:xfrm>
            <a:off x="2834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$450K</a:t>
            </a:r>
            <a:endParaRPr/>
          </a:p>
        </p:txBody>
      </p:sp>
      <p:sp>
        <p:nvSpPr>
          <p:cNvPr id="2507" name="Google Shape;2507;p19"/>
          <p:cNvSpPr txBox="1"/>
          <p:nvPr/>
        </p:nvSpPr>
        <p:spPr>
          <a:xfrm>
            <a:off x="3520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$298K</a:t>
            </a:r>
            <a:endParaRPr/>
          </a:p>
        </p:txBody>
      </p:sp>
      <p:sp>
        <p:nvSpPr>
          <p:cNvPr id="2508" name="Google Shape;2508;p19"/>
          <p:cNvSpPr txBox="1"/>
          <p:nvPr/>
        </p:nvSpPr>
        <p:spPr>
          <a:xfrm>
            <a:off x="4206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$447K</a:t>
            </a:r>
            <a:endParaRPr/>
          </a:p>
        </p:txBody>
      </p:sp>
      <p:sp>
        <p:nvSpPr>
          <p:cNvPr id="2509" name="Google Shape;2509;p19"/>
          <p:cNvSpPr txBox="1"/>
          <p:nvPr/>
        </p:nvSpPr>
        <p:spPr>
          <a:xfrm>
            <a:off x="4892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$167K</a:t>
            </a:r>
            <a:endParaRPr/>
          </a:p>
        </p:txBody>
      </p:sp>
      <p:sp>
        <p:nvSpPr>
          <p:cNvPr id="2510" name="Google Shape;2510;p19"/>
          <p:cNvSpPr txBox="1"/>
          <p:nvPr/>
        </p:nvSpPr>
        <p:spPr>
          <a:xfrm>
            <a:off x="5577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$566K</a:t>
            </a:r>
            <a:endParaRPr/>
          </a:p>
        </p:txBody>
      </p:sp>
      <p:sp>
        <p:nvSpPr>
          <p:cNvPr id="2511" name="Google Shape;2511;p19"/>
          <p:cNvSpPr txBox="1"/>
          <p:nvPr/>
        </p:nvSpPr>
        <p:spPr>
          <a:xfrm>
            <a:off x="6263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$470K</a:t>
            </a:r>
            <a:endParaRPr/>
          </a:p>
        </p:txBody>
      </p:sp>
      <p:sp>
        <p:nvSpPr>
          <p:cNvPr id="2512" name="Google Shape;2512;p19"/>
          <p:cNvSpPr txBox="1"/>
          <p:nvPr/>
        </p:nvSpPr>
        <p:spPr>
          <a:xfrm>
            <a:off x="6949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$360K</a:t>
            </a:r>
            <a:endParaRPr/>
          </a:p>
        </p:txBody>
      </p:sp>
      <p:sp>
        <p:nvSpPr>
          <p:cNvPr id="2513" name="Google Shape;2513;p19"/>
          <p:cNvSpPr txBox="1"/>
          <p:nvPr/>
        </p:nvSpPr>
        <p:spPr>
          <a:xfrm>
            <a:off x="7635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$196K</a:t>
            </a:r>
            <a:endParaRPr/>
          </a:p>
        </p:txBody>
      </p:sp>
      <p:sp>
        <p:nvSpPr>
          <p:cNvPr id="2514" name="Google Shape;2514;p19"/>
          <p:cNvSpPr txBox="1"/>
          <p:nvPr/>
        </p:nvSpPr>
        <p:spPr>
          <a:xfrm>
            <a:off x="8321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$464K</a:t>
            </a:r>
            <a:endParaRPr/>
          </a:p>
        </p:txBody>
      </p:sp>
      <p:sp>
        <p:nvSpPr>
          <p:cNvPr id="2515" name="Google Shape;2515;p19"/>
          <p:cNvSpPr txBox="1"/>
          <p:nvPr/>
        </p:nvSpPr>
        <p:spPr>
          <a:xfrm>
            <a:off x="9006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516" name="Google Shape;2516;p19"/>
          <p:cNvSpPr txBox="1"/>
          <p:nvPr/>
        </p:nvSpPr>
        <p:spPr>
          <a:xfrm>
            <a:off x="969264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$2.7M</a:t>
            </a:r>
            <a:endParaRPr/>
          </a:p>
        </p:txBody>
      </p:sp>
      <p:sp>
        <p:nvSpPr>
          <p:cNvPr id="2517" name="Google Shape;2517;p19"/>
          <p:cNvSpPr txBox="1"/>
          <p:nvPr/>
        </p:nvSpPr>
        <p:spPr>
          <a:xfrm>
            <a:off x="1088136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$1.4M</a:t>
            </a:r>
            <a:endParaRPr/>
          </a:p>
        </p:txBody>
      </p:sp>
      <p:sp>
        <p:nvSpPr>
          <p:cNvPr id="2518" name="Google Shape;2518;p19"/>
          <p:cNvSpPr/>
          <p:nvPr/>
        </p:nvSpPr>
        <p:spPr>
          <a:xfrm>
            <a:off x="365760" y="5678423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9" name="Google Shape;2519;p19"/>
          <p:cNvSpPr txBox="1"/>
          <p:nvPr/>
        </p:nvSpPr>
        <p:spPr>
          <a:xfrm>
            <a:off x="4572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65F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STRENGTHS - What's Working</a:t>
            </a:r>
            <a:endParaRPr/>
          </a:p>
        </p:txBody>
      </p:sp>
      <p:sp>
        <p:nvSpPr>
          <p:cNvPr id="2520" name="Google Shape;2520;p19"/>
          <p:cNvSpPr txBox="1"/>
          <p:nvPr/>
        </p:nvSpPr>
        <p:spPr>
          <a:xfrm>
            <a:off x="4572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2521" name="Google Shape;2521;p19"/>
          <p:cNvSpPr txBox="1"/>
          <p:nvPr/>
        </p:nvSpPr>
        <p:spPr>
          <a:xfrm>
            <a:off x="685800" y="5952743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$1,417,112 YTD gross written premium</a:t>
            </a:r>
            <a:endParaRPr/>
          </a:p>
        </p:txBody>
      </p:sp>
      <p:sp>
        <p:nvSpPr>
          <p:cNvPr id="2522" name="Google Shape;2522;p19"/>
          <p:cNvSpPr txBox="1"/>
          <p:nvPr/>
        </p:nvSpPr>
        <p:spPr>
          <a:xfrm>
            <a:off x="457200" y="6153911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2523" name="Google Shape;2523;p19"/>
          <p:cNvSpPr txBox="1"/>
          <p:nvPr/>
        </p:nvSpPr>
        <p:spPr>
          <a:xfrm>
            <a:off x="685800" y="6153911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$740,153 in new business production</a:t>
            </a:r>
            <a:endParaRPr/>
          </a:p>
        </p:txBody>
      </p:sp>
      <p:sp>
        <p:nvSpPr>
          <p:cNvPr id="2524" name="Google Shape;2524;p19"/>
          <p:cNvSpPr/>
          <p:nvPr/>
        </p:nvSpPr>
        <p:spPr>
          <a:xfrm>
            <a:off x="6309360" y="5678423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5" name="Google Shape;2525;p19"/>
          <p:cNvSpPr txBox="1"/>
          <p:nvPr/>
        </p:nvSpPr>
        <p:spPr>
          <a:xfrm>
            <a:off x="64008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NEEDS ATTENTION</a:t>
            </a:r>
            <a:endParaRPr/>
          </a:p>
        </p:txBody>
      </p:sp>
      <p:sp>
        <p:nvSpPr>
          <p:cNvPr id="2526" name="Google Shape;2526;p19"/>
          <p:cNvSpPr txBox="1"/>
          <p:nvPr/>
        </p:nvSpPr>
        <p:spPr>
          <a:xfrm>
            <a:off x="64008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2527" name="Google Shape;2527;p19"/>
          <p:cNvSpPr txBox="1"/>
          <p:nvPr/>
        </p:nvSpPr>
        <p:spPr>
          <a:xfrm>
            <a:off x="6629400" y="5952743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 at 91% of new business ($674,225)</a:t>
            </a:r>
            <a:endParaRPr/>
          </a:p>
        </p:txBody>
      </p:sp>
      <p:sp>
        <p:nvSpPr>
          <p:cNvPr id="2528" name="Google Shape;2528;p19"/>
          <p:cNvSpPr txBox="1"/>
          <p:nvPr/>
        </p:nvSpPr>
        <p:spPr>
          <a:xfrm>
            <a:off x="6400800" y="6153911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2529" name="Google Shape;2529;p19"/>
          <p:cNvSpPr txBox="1"/>
          <p:nvPr/>
        </p:nvSpPr>
        <p:spPr>
          <a:xfrm>
            <a:off x="6629400" y="6153911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Written premium dropped 58% month-over-month</a:t>
            </a:r>
            <a:endParaRPr/>
          </a:p>
        </p:txBody>
      </p:sp>
      <p:sp>
        <p:nvSpPr>
          <p:cNvPr id="2530" name="Google Shape;2530;p19"/>
          <p:cNvSpPr/>
          <p:nvPr/>
        </p:nvSpPr>
        <p:spPr>
          <a:xfrm>
            <a:off x="365760" y="6455663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1" name="Google Shape;2531;p19"/>
          <p:cNvSpPr txBox="1"/>
          <p:nvPr/>
        </p:nvSpPr>
        <p:spPr>
          <a:xfrm>
            <a:off x="457200" y="6464807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STRATEGIC SALES TIPS - Conversation Starters</a:t>
            </a:r>
            <a:endParaRPr/>
          </a:p>
        </p:txBody>
      </p:sp>
      <p:sp>
        <p:nvSpPr>
          <p:cNvPr id="2532" name="Google Shape;2532;p19"/>
          <p:cNvSpPr txBox="1"/>
          <p:nvPr/>
        </p:nvSpPr>
        <p:spPr>
          <a:xfrm>
            <a:off x="457200" y="6711695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endParaRPr/>
          </a:p>
        </p:txBody>
      </p:sp>
      <p:sp>
        <p:nvSpPr>
          <p:cNvPr id="2533" name="Google Shape;2533;p19"/>
          <p:cNvSpPr txBox="1"/>
          <p:nvPr/>
        </p:nvSpPr>
        <p:spPr>
          <a:xfrm>
            <a:off x="777240" y="6711695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Acknowledge their $740,153 in new business. Ask: "What types of accounts are you seeing the most success with?" Use this to identify more of their book that fits our appetite.</a:t>
            </a:r>
            <a:endParaRPr/>
          </a:p>
        </p:txBody>
      </p:sp>
      <p:sp>
        <p:nvSpPr>
          <p:cNvPr id="2534" name="Google Shape;2534;p19"/>
          <p:cNvSpPr txBox="1"/>
          <p:nvPr/>
        </p:nvSpPr>
        <p:spPr>
          <a:xfrm>
            <a:off x="457200" y="6949439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endParaRPr/>
          </a:p>
        </p:txBody>
      </p:sp>
      <p:sp>
        <p:nvSpPr>
          <p:cNvPr id="2535" name="Google Shape;2535;p19"/>
          <p:cNvSpPr txBox="1"/>
          <p:nvPr/>
        </p:nvSpPr>
        <p:spPr>
          <a:xfrm>
            <a:off x="777240" y="6949439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Address the $674,225 in cancellations. Ask: "Are we losing these to price, service, or coverage?" Proactive retention discussions can protect the book and strengthen the relationship.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39" name="Shape 2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0" name="Google Shape;2540;p2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1" name="Google Shape;2541;p20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Vantage Ins Llc</a:t>
            </a:r>
            <a:endParaRPr/>
          </a:p>
        </p:txBody>
      </p:sp>
      <p:sp>
        <p:nvSpPr>
          <p:cNvPr id="2542" name="Google Shape;2542;p20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4B5F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Tier: Tier 3  |  Region: Southeast  |  State: N/A  |  City: N/A</a:t>
            </a:r>
            <a:endParaRPr/>
          </a:p>
        </p:txBody>
      </p:sp>
      <p:sp>
        <p:nvSpPr>
          <p:cNvPr id="2543" name="Google Shape;2543;p20"/>
          <p:cNvSpPr/>
          <p:nvPr/>
        </p:nvSpPr>
        <p:spPr>
          <a:xfrm>
            <a:off x="22860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$860,378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YTD GWP</a:t>
            </a:r>
            <a:endParaRPr/>
          </a:p>
        </p:txBody>
      </p:sp>
      <p:sp>
        <p:nvSpPr>
          <p:cNvPr id="2544" name="Google Shape;2544;p20"/>
          <p:cNvSpPr/>
          <p:nvPr/>
        </p:nvSpPr>
        <p:spPr>
          <a:xfrm>
            <a:off x="256032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$525,662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2545" name="Google Shape;2545;p20"/>
          <p:cNvSpPr/>
          <p:nvPr/>
        </p:nvSpPr>
        <p:spPr>
          <a:xfrm>
            <a:off x="489204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$44,107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2546" name="Google Shape;2546;p20"/>
          <p:cNvSpPr/>
          <p:nvPr/>
        </p:nvSpPr>
        <p:spPr>
          <a:xfrm>
            <a:off x="7223759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$290,608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2547" name="Google Shape;2547;p20"/>
          <p:cNvSpPr/>
          <p:nvPr/>
        </p:nvSpPr>
        <p:spPr>
          <a:xfrm>
            <a:off x="955548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$-374,009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2548" name="Google Shape;2548;p20"/>
          <p:cNvSpPr/>
          <p:nvPr/>
        </p:nvSpPr>
        <p:spPr>
          <a:xfrm>
            <a:off x="137160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$761,577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2025 Full Year GWP</a:t>
            </a:r>
            <a:endParaRPr/>
          </a:p>
        </p:txBody>
      </p:sp>
      <p:sp>
        <p:nvSpPr>
          <p:cNvPr id="2549" name="Google Shape;2549;p20"/>
          <p:cNvSpPr/>
          <p:nvPr/>
        </p:nvSpPr>
        <p:spPr>
          <a:xfrm>
            <a:off x="1627631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$1,493,490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Rolling 12M GWP</a:t>
            </a:r>
            <a:endParaRPr/>
          </a:p>
        </p:txBody>
      </p:sp>
      <p:sp>
        <p:nvSpPr>
          <p:cNvPr id="2550" name="Google Shape;2550;p20"/>
          <p:cNvSpPr/>
          <p:nvPr/>
        </p:nvSpPr>
        <p:spPr>
          <a:xfrm>
            <a:off x="3118103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94%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% to Goal</a:t>
            </a:r>
            <a:endParaRPr/>
          </a:p>
        </p:txBody>
      </p:sp>
      <p:sp>
        <p:nvSpPr>
          <p:cNvPr id="2551" name="Google Shape;2551;p20"/>
          <p:cNvSpPr/>
          <p:nvPr/>
        </p:nvSpPr>
        <p:spPr>
          <a:xfrm>
            <a:off x="4608576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799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2552" name="Google Shape;2552;p20"/>
          <p:cNvSpPr/>
          <p:nvPr/>
        </p:nvSpPr>
        <p:spPr>
          <a:xfrm>
            <a:off x="6099048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2553" name="Google Shape;2553;p20"/>
          <p:cNvSpPr/>
          <p:nvPr/>
        </p:nvSpPr>
        <p:spPr>
          <a:xfrm>
            <a:off x="7589519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2.4%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2554" name="Google Shape;2554;p20"/>
          <p:cNvSpPr/>
          <p:nvPr/>
        </p:nvSpPr>
        <p:spPr>
          <a:xfrm>
            <a:off x="9079992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$293,089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 Bound Prem</a:t>
            </a:r>
            <a:endParaRPr/>
          </a:p>
        </p:txBody>
      </p:sp>
      <p:sp>
        <p:nvSpPr>
          <p:cNvPr id="2555" name="Google Shape;2555;p20"/>
          <p:cNvSpPr/>
          <p:nvPr/>
        </p:nvSpPr>
        <p:spPr>
          <a:xfrm>
            <a:off x="10570464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$352,045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NF Bound Prem</a:t>
            </a:r>
            <a:endParaRPr/>
          </a:p>
        </p:txBody>
      </p:sp>
      <p:sp>
        <p:nvSpPr>
          <p:cNvPr id="2556" name="Google Shape;2556;p20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7" name="Google Shape;2557;p20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PRODUCTION BY MONTH</a:t>
            </a:r>
            <a:endParaRPr/>
          </a:p>
        </p:txBody>
      </p:sp>
      <p:sp>
        <p:nvSpPr>
          <p:cNvPr id="2558" name="Google Shape;2558;p20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2559" name="Google Shape;2559;p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Written Premium</a:t>
            </a:r>
            <a:endParaRPr/>
          </a:p>
        </p:txBody>
      </p:sp>
      <p:sp>
        <p:nvSpPr>
          <p:cNvPr id="2560" name="Google Shape;2560;p20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2561" name="Google Shape;2561;p20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2562" name="Google Shape;2562;p20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2563" name="Google Shape;2563;p20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2564" name="Google Shape;2564;p20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5" name="Google Shape;2565;p20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2566" name="Google Shape;2566;p20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$86,046</a:t>
            </a:r>
            <a:endParaRPr/>
          </a:p>
        </p:txBody>
      </p:sp>
      <p:sp>
        <p:nvSpPr>
          <p:cNvPr id="2567" name="Google Shape;2567;p20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$68,097</a:t>
            </a:r>
            <a:endParaRPr/>
          </a:p>
        </p:txBody>
      </p:sp>
      <p:sp>
        <p:nvSpPr>
          <p:cNvPr id="2568" name="Google Shape;2568;p20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569" name="Google Shape;2569;p2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$17,948</a:t>
            </a:r>
            <a:endParaRPr/>
          </a:p>
        </p:txBody>
      </p:sp>
      <p:sp>
        <p:nvSpPr>
          <p:cNvPr id="2570" name="Google Shape;2570;p20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$-17,037</a:t>
            </a:r>
            <a:endParaRPr/>
          </a:p>
        </p:txBody>
      </p:sp>
      <p:sp>
        <p:nvSpPr>
          <p:cNvPr id="2571" name="Google Shape;2571;p20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2" name="Google Shape;2572;p20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2573" name="Google Shape;2573;p20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$196,128</a:t>
            </a:r>
            <a:endParaRPr/>
          </a:p>
        </p:txBody>
      </p:sp>
      <p:sp>
        <p:nvSpPr>
          <p:cNvPr id="2574" name="Google Shape;2574;p20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$103,155</a:t>
            </a:r>
            <a:endParaRPr/>
          </a:p>
        </p:txBody>
      </p:sp>
      <p:sp>
        <p:nvSpPr>
          <p:cNvPr id="2575" name="Google Shape;2575;p20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$44,107</a:t>
            </a:r>
            <a:endParaRPr/>
          </a:p>
        </p:txBody>
      </p:sp>
      <p:sp>
        <p:nvSpPr>
          <p:cNvPr id="2576" name="Google Shape;2576;p20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$48,865</a:t>
            </a:r>
            <a:endParaRPr/>
          </a:p>
        </p:txBody>
      </p:sp>
      <p:sp>
        <p:nvSpPr>
          <p:cNvPr id="2577" name="Google Shape;2577;p20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$-114,675</a:t>
            </a:r>
            <a:endParaRPr/>
          </a:p>
        </p:txBody>
      </p:sp>
      <p:sp>
        <p:nvSpPr>
          <p:cNvPr id="2578" name="Google Shape;2578;p20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9" name="Google Shape;2579;p2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2580" name="Google Shape;2580;p20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$114,149</a:t>
            </a:r>
            <a:endParaRPr/>
          </a:p>
        </p:txBody>
      </p:sp>
      <p:sp>
        <p:nvSpPr>
          <p:cNvPr id="2581" name="Google Shape;2581;p20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$48,762</a:t>
            </a:r>
            <a:endParaRPr/>
          </a:p>
        </p:txBody>
      </p:sp>
      <p:sp>
        <p:nvSpPr>
          <p:cNvPr id="2582" name="Google Shape;2582;p20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583" name="Google Shape;2583;p20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$65,388</a:t>
            </a:r>
            <a:endParaRPr/>
          </a:p>
        </p:txBody>
      </p:sp>
      <p:sp>
        <p:nvSpPr>
          <p:cNvPr id="2584" name="Google Shape;2584;p20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$-62,815</a:t>
            </a:r>
            <a:endParaRPr/>
          </a:p>
        </p:txBody>
      </p:sp>
      <p:sp>
        <p:nvSpPr>
          <p:cNvPr id="2585" name="Google Shape;2585;p20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6" name="Google Shape;2586;p20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2587" name="Google Shape;2587;p20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$199,219</a:t>
            </a:r>
            <a:endParaRPr/>
          </a:p>
        </p:txBody>
      </p:sp>
      <p:sp>
        <p:nvSpPr>
          <p:cNvPr id="2588" name="Google Shape;2588;p20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$178,418</a:t>
            </a:r>
            <a:endParaRPr/>
          </a:p>
        </p:txBody>
      </p:sp>
      <p:sp>
        <p:nvSpPr>
          <p:cNvPr id="2589" name="Google Shape;2589;p2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590" name="Google Shape;2590;p20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$20,801</a:t>
            </a:r>
            <a:endParaRPr/>
          </a:p>
        </p:txBody>
      </p:sp>
      <p:sp>
        <p:nvSpPr>
          <p:cNvPr id="2591" name="Google Shape;2591;p20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$-36,967</a:t>
            </a:r>
            <a:endParaRPr/>
          </a:p>
        </p:txBody>
      </p:sp>
      <p:sp>
        <p:nvSpPr>
          <p:cNvPr id="2592" name="Google Shape;2592;p20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3" name="Google Shape;2593;p20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2594" name="Google Shape;2594;p20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$264,836</a:t>
            </a:r>
            <a:endParaRPr/>
          </a:p>
        </p:txBody>
      </p:sp>
      <p:sp>
        <p:nvSpPr>
          <p:cNvPr id="2595" name="Google Shape;2595;p20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$127,230</a:t>
            </a:r>
            <a:endParaRPr/>
          </a:p>
        </p:txBody>
      </p:sp>
      <p:sp>
        <p:nvSpPr>
          <p:cNvPr id="2596" name="Google Shape;2596;p20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597" name="Google Shape;2597;p20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$137,606</a:t>
            </a:r>
            <a:endParaRPr/>
          </a:p>
        </p:txBody>
      </p:sp>
      <p:sp>
        <p:nvSpPr>
          <p:cNvPr id="2598" name="Google Shape;2598;p20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$-142,515</a:t>
            </a:r>
            <a:endParaRPr/>
          </a:p>
        </p:txBody>
      </p:sp>
      <p:sp>
        <p:nvSpPr>
          <p:cNvPr id="2599" name="Google Shape;2599;p20"/>
          <p:cNvSpPr/>
          <p:nvPr/>
        </p:nvSpPr>
        <p:spPr>
          <a:xfrm>
            <a:off x="365760" y="4123944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0" name="Google Shape;2600;p20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2601" name="Google Shape;2601;p20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602" name="Google Shape;2602;p20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603" name="Google Shape;2603;p20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604" name="Google Shape;2604;p20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605" name="Google Shape;2605;p20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606" name="Google Shape;2606;p20"/>
          <p:cNvSpPr/>
          <p:nvPr/>
        </p:nvSpPr>
        <p:spPr>
          <a:xfrm>
            <a:off x="365760" y="4425696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7" name="Google Shape;2607;p20"/>
          <p:cNvSpPr txBox="1"/>
          <p:nvPr/>
        </p:nvSpPr>
        <p:spPr>
          <a:xfrm>
            <a:off x="3657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2608" name="Google Shape;2608;p20"/>
          <p:cNvSpPr txBox="1"/>
          <p:nvPr/>
        </p:nvSpPr>
        <p:spPr>
          <a:xfrm>
            <a:off x="1280160" y="446227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$860,378</a:t>
            </a:r>
            <a:endParaRPr/>
          </a:p>
        </p:txBody>
      </p:sp>
      <p:sp>
        <p:nvSpPr>
          <p:cNvPr id="2609" name="Google Shape;2609;p20"/>
          <p:cNvSpPr txBox="1"/>
          <p:nvPr/>
        </p:nvSpPr>
        <p:spPr>
          <a:xfrm>
            <a:off x="2377439" y="446227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$525,662</a:t>
            </a:r>
            <a:endParaRPr/>
          </a:p>
        </p:txBody>
      </p:sp>
      <p:sp>
        <p:nvSpPr>
          <p:cNvPr id="2610" name="Google Shape;2610;p20"/>
          <p:cNvSpPr txBox="1"/>
          <p:nvPr/>
        </p:nvSpPr>
        <p:spPr>
          <a:xfrm>
            <a:off x="33832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$44,107</a:t>
            </a:r>
            <a:endParaRPr/>
          </a:p>
        </p:txBody>
      </p:sp>
      <p:sp>
        <p:nvSpPr>
          <p:cNvPr id="2611" name="Google Shape;2611;p20"/>
          <p:cNvSpPr txBox="1"/>
          <p:nvPr/>
        </p:nvSpPr>
        <p:spPr>
          <a:xfrm>
            <a:off x="42976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$290,608</a:t>
            </a:r>
            <a:endParaRPr/>
          </a:p>
        </p:txBody>
      </p:sp>
      <p:sp>
        <p:nvSpPr>
          <p:cNvPr id="2612" name="Google Shape;2612;p20"/>
          <p:cNvSpPr txBox="1"/>
          <p:nvPr/>
        </p:nvSpPr>
        <p:spPr>
          <a:xfrm>
            <a:off x="52120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$-374,009</a:t>
            </a:r>
            <a:endParaRPr/>
          </a:p>
        </p:txBody>
      </p:sp>
      <p:sp>
        <p:nvSpPr>
          <p:cNvPr id="2613" name="Google Shape;2613;p20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4" name="Google Shape;2614;p20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 &amp; PIPELINE</a:t>
            </a:r>
            <a:endParaRPr/>
          </a:p>
        </p:txBody>
      </p:sp>
      <p:sp>
        <p:nvSpPr>
          <p:cNvPr id="2615" name="Google Shape;2615;p20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2616" name="Google Shape;2616;p2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Subs</a:t>
            </a:r>
            <a:endParaRPr/>
          </a:p>
        </p:txBody>
      </p:sp>
      <p:sp>
        <p:nvSpPr>
          <p:cNvPr id="2617" name="Google Shape;2617;p20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</a:t>
            </a:r>
            <a:endParaRPr/>
          </a:p>
        </p:txBody>
      </p:sp>
      <p:sp>
        <p:nvSpPr>
          <p:cNvPr id="2618" name="Google Shape;2618;p20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Non-Fleet</a:t>
            </a:r>
            <a:endParaRPr/>
          </a:p>
        </p:txBody>
      </p:sp>
      <p:sp>
        <p:nvSpPr>
          <p:cNvPr id="2619" name="Google Shape;2619;p20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2620" name="Google Shape;2620;p20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2621" name="Google Shape;2621;p20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2" name="Google Shape;2622;p20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2623" name="Google Shape;2623;p20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198</a:t>
            </a:r>
            <a:endParaRPr/>
          </a:p>
        </p:txBody>
      </p:sp>
      <p:sp>
        <p:nvSpPr>
          <p:cNvPr id="2624" name="Google Shape;2624;p20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</a:t>
            </a:r>
            <a:endParaRPr/>
          </a:p>
        </p:txBody>
      </p:sp>
      <p:sp>
        <p:nvSpPr>
          <p:cNvPr id="2625" name="Google Shape;2625;p20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183</a:t>
            </a:r>
            <a:endParaRPr/>
          </a:p>
        </p:txBody>
      </p:sp>
      <p:sp>
        <p:nvSpPr>
          <p:cNvPr id="2626" name="Google Shape;2626;p2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</a:t>
            </a:r>
            <a:endParaRPr/>
          </a:p>
        </p:txBody>
      </p:sp>
      <p:sp>
        <p:nvSpPr>
          <p:cNvPr id="2627" name="Google Shape;2627;p20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4.0%</a:t>
            </a:r>
            <a:endParaRPr/>
          </a:p>
        </p:txBody>
      </p:sp>
      <p:sp>
        <p:nvSpPr>
          <p:cNvPr id="2628" name="Google Shape;2628;p20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9" name="Google Shape;2629;p20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2630" name="Google Shape;2630;p20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167</a:t>
            </a:r>
            <a:endParaRPr/>
          </a:p>
        </p:txBody>
      </p:sp>
      <p:sp>
        <p:nvSpPr>
          <p:cNvPr id="2631" name="Google Shape;2631;p20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17</a:t>
            </a:r>
            <a:endParaRPr/>
          </a:p>
        </p:txBody>
      </p:sp>
      <p:sp>
        <p:nvSpPr>
          <p:cNvPr id="2632" name="Google Shape;2632;p20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150</a:t>
            </a:r>
            <a:endParaRPr/>
          </a:p>
        </p:txBody>
      </p:sp>
      <p:sp>
        <p:nvSpPr>
          <p:cNvPr id="2633" name="Google Shape;2633;p20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/>
          </a:p>
        </p:txBody>
      </p:sp>
      <p:sp>
        <p:nvSpPr>
          <p:cNvPr id="2634" name="Google Shape;2634;p20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4.2%</a:t>
            </a:r>
            <a:endParaRPr/>
          </a:p>
        </p:txBody>
      </p:sp>
      <p:sp>
        <p:nvSpPr>
          <p:cNvPr id="2635" name="Google Shape;2635;p20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6" name="Google Shape;2636;p2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2637" name="Google Shape;2637;p20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144</a:t>
            </a:r>
            <a:endParaRPr/>
          </a:p>
        </p:txBody>
      </p:sp>
      <p:sp>
        <p:nvSpPr>
          <p:cNvPr id="2638" name="Google Shape;2638;p20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18</a:t>
            </a:r>
            <a:endParaRPr/>
          </a:p>
        </p:txBody>
      </p:sp>
      <p:sp>
        <p:nvSpPr>
          <p:cNvPr id="2639" name="Google Shape;2639;p20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126</a:t>
            </a:r>
            <a:endParaRPr/>
          </a:p>
        </p:txBody>
      </p:sp>
      <p:sp>
        <p:nvSpPr>
          <p:cNvPr id="2640" name="Google Shape;2640;p20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</a:t>
            </a:r>
            <a:endParaRPr/>
          </a:p>
        </p:txBody>
      </p:sp>
      <p:sp>
        <p:nvSpPr>
          <p:cNvPr id="2641" name="Google Shape;2641;p20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11.1%</a:t>
            </a:r>
            <a:endParaRPr/>
          </a:p>
        </p:txBody>
      </p:sp>
      <p:sp>
        <p:nvSpPr>
          <p:cNvPr id="2642" name="Google Shape;2642;p20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3" name="Google Shape;2643;p20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2644" name="Google Shape;2644;p20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191</a:t>
            </a:r>
            <a:endParaRPr/>
          </a:p>
        </p:txBody>
      </p:sp>
      <p:sp>
        <p:nvSpPr>
          <p:cNvPr id="2645" name="Google Shape;2645;p20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18</a:t>
            </a:r>
            <a:endParaRPr/>
          </a:p>
        </p:txBody>
      </p:sp>
      <p:sp>
        <p:nvSpPr>
          <p:cNvPr id="2646" name="Google Shape;2646;p2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173</a:t>
            </a:r>
            <a:endParaRPr/>
          </a:p>
        </p:txBody>
      </p:sp>
      <p:sp>
        <p:nvSpPr>
          <p:cNvPr id="2647" name="Google Shape;2647;p20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</a:t>
            </a:r>
            <a:endParaRPr/>
          </a:p>
        </p:txBody>
      </p:sp>
      <p:sp>
        <p:nvSpPr>
          <p:cNvPr id="2648" name="Google Shape;2648;p20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6.8%</a:t>
            </a:r>
            <a:endParaRPr/>
          </a:p>
        </p:txBody>
      </p:sp>
      <p:sp>
        <p:nvSpPr>
          <p:cNvPr id="2649" name="Google Shape;2649;p20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0" name="Google Shape;2650;p20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2651" name="Google Shape;2651;p20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151</a:t>
            </a:r>
            <a:endParaRPr/>
          </a:p>
        </p:txBody>
      </p:sp>
      <p:sp>
        <p:nvSpPr>
          <p:cNvPr id="2652" name="Google Shape;2652;p20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</a:t>
            </a:r>
            <a:endParaRPr/>
          </a:p>
        </p:txBody>
      </p:sp>
      <p:sp>
        <p:nvSpPr>
          <p:cNvPr id="2653" name="Google Shape;2653;p20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139</a:t>
            </a:r>
            <a:endParaRPr/>
          </a:p>
        </p:txBody>
      </p:sp>
      <p:sp>
        <p:nvSpPr>
          <p:cNvPr id="2654" name="Google Shape;2654;p20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/>
          </a:p>
        </p:txBody>
      </p:sp>
      <p:sp>
        <p:nvSpPr>
          <p:cNvPr id="2655" name="Google Shape;2655;p20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4.6%</a:t>
            </a:r>
            <a:endParaRPr/>
          </a:p>
        </p:txBody>
      </p:sp>
      <p:sp>
        <p:nvSpPr>
          <p:cNvPr id="2656" name="Google Shape;2656;p20"/>
          <p:cNvSpPr/>
          <p:nvPr/>
        </p:nvSpPr>
        <p:spPr>
          <a:xfrm>
            <a:off x="6309360" y="4123944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7" name="Google Shape;2657;p20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2658" name="Google Shape;2658;p20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2659" name="Google Shape;2659;p20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2660" name="Google Shape;2660;p20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2661" name="Google Shape;2661;p20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2662" name="Google Shape;2662;p20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2663" name="Google Shape;2663;p20"/>
          <p:cNvSpPr/>
          <p:nvPr/>
        </p:nvSpPr>
        <p:spPr>
          <a:xfrm>
            <a:off x="6309360" y="4425696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4" name="Google Shape;2664;p20"/>
          <p:cNvSpPr txBox="1"/>
          <p:nvPr/>
        </p:nvSpPr>
        <p:spPr>
          <a:xfrm>
            <a:off x="63093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2665" name="Google Shape;2665;p20"/>
          <p:cNvSpPr txBox="1"/>
          <p:nvPr/>
        </p:nvSpPr>
        <p:spPr>
          <a:xfrm>
            <a:off x="722376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799</a:t>
            </a:r>
            <a:endParaRPr/>
          </a:p>
        </p:txBody>
      </p:sp>
      <p:sp>
        <p:nvSpPr>
          <p:cNvPr id="2666" name="Google Shape;2666;p20"/>
          <p:cNvSpPr txBox="1"/>
          <p:nvPr/>
        </p:nvSpPr>
        <p:spPr>
          <a:xfrm>
            <a:off x="804672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67</a:t>
            </a:r>
            <a:endParaRPr/>
          </a:p>
        </p:txBody>
      </p:sp>
      <p:sp>
        <p:nvSpPr>
          <p:cNvPr id="2667" name="Google Shape;2667;p20"/>
          <p:cNvSpPr txBox="1"/>
          <p:nvPr/>
        </p:nvSpPr>
        <p:spPr>
          <a:xfrm>
            <a:off x="886968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732</a:t>
            </a:r>
            <a:endParaRPr/>
          </a:p>
        </p:txBody>
      </p:sp>
      <p:sp>
        <p:nvSpPr>
          <p:cNvPr id="2668" name="Google Shape;2668;p20"/>
          <p:cNvSpPr txBox="1"/>
          <p:nvPr/>
        </p:nvSpPr>
        <p:spPr>
          <a:xfrm>
            <a:off x="978408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</a:t>
            </a:r>
            <a:endParaRPr/>
          </a:p>
        </p:txBody>
      </p:sp>
      <p:sp>
        <p:nvSpPr>
          <p:cNvPr id="2669" name="Google Shape;2669;p20"/>
          <p:cNvSpPr txBox="1"/>
          <p:nvPr/>
        </p:nvSpPr>
        <p:spPr>
          <a:xfrm>
            <a:off x="1060704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2.4%</a:t>
            </a:r>
            <a:endParaRPr/>
          </a:p>
        </p:txBody>
      </p:sp>
      <p:sp>
        <p:nvSpPr>
          <p:cNvPr id="2670" name="Google Shape;2670;p20"/>
          <p:cNvSpPr/>
          <p:nvPr/>
        </p:nvSpPr>
        <p:spPr>
          <a:xfrm>
            <a:off x="365760" y="4782312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1" name="Google Shape;2671;p20"/>
          <p:cNvSpPr txBox="1"/>
          <p:nvPr/>
        </p:nvSpPr>
        <p:spPr>
          <a:xfrm>
            <a:off x="457200" y="4800599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YOY COMPARISON — Jan–Jun 2025 vs Jan–Jun 2026</a:t>
            </a:r>
            <a:endParaRPr/>
          </a:p>
        </p:txBody>
      </p:sp>
      <p:sp>
        <p:nvSpPr>
          <p:cNvPr id="2672" name="Google Shape;2672;p20"/>
          <p:cNvSpPr txBox="1"/>
          <p:nvPr/>
        </p:nvSpPr>
        <p:spPr>
          <a:xfrm>
            <a:off x="365760" y="5056631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00" u="none" cap="none" strike="noStrike">
              <a:solidFill>
                <a:srgbClr val="6B728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73" name="Google Shape;2673;p20"/>
          <p:cNvSpPr txBox="1"/>
          <p:nvPr/>
        </p:nvSpPr>
        <p:spPr>
          <a:xfrm>
            <a:off x="1463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'25</a:t>
            </a:r>
            <a:endParaRPr/>
          </a:p>
        </p:txBody>
      </p:sp>
      <p:sp>
        <p:nvSpPr>
          <p:cNvPr id="2674" name="Google Shape;2674;p20"/>
          <p:cNvSpPr txBox="1"/>
          <p:nvPr/>
        </p:nvSpPr>
        <p:spPr>
          <a:xfrm>
            <a:off x="2148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'26</a:t>
            </a:r>
            <a:endParaRPr/>
          </a:p>
        </p:txBody>
      </p:sp>
      <p:sp>
        <p:nvSpPr>
          <p:cNvPr id="2675" name="Google Shape;2675;p20"/>
          <p:cNvSpPr txBox="1"/>
          <p:nvPr/>
        </p:nvSpPr>
        <p:spPr>
          <a:xfrm>
            <a:off x="2834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'25</a:t>
            </a:r>
            <a:endParaRPr/>
          </a:p>
        </p:txBody>
      </p:sp>
      <p:sp>
        <p:nvSpPr>
          <p:cNvPr id="2676" name="Google Shape;2676;p20"/>
          <p:cNvSpPr txBox="1"/>
          <p:nvPr/>
        </p:nvSpPr>
        <p:spPr>
          <a:xfrm>
            <a:off x="3520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'26</a:t>
            </a:r>
            <a:endParaRPr/>
          </a:p>
        </p:txBody>
      </p:sp>
      <p:sp>
        <p:nvSpPr>
          <p:cNvPr id="2677" name="Google Shape;2677;p20"/>
          <p:cNvSpPr txBox="1"/>
          <p:nvPr/>
        </p:nvSpPr>
        <p:spPr>
          <a:xfrm>
            <a:off x="4206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'25</a:t>
            </a:r>
            <a:endParaRPr/>
          </a:p>
        </p:txBody>
      </p:sp>
      <p:sp>
        <p:nvSpPr>
          <p:cNvPr id="2678" name="Google Shape;2678;p20"/>
          <p:cNvSpPr txBox="1"/>
          <p:nvPr/>
        </p:nvSpPr>
        <p:spPr>
          <a:xfrm>
            <a:off x="4892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'26</a:t>
            </a:r>
            <a:endParaRPr/>
          </a:p>
        </p:txBody>
      </p:sp>
      <p:sp>
        <p:nvSpPr>
          <p:cNvPr id="2679" name="Google Shape;2679;p20"/>
          <p:cNvSpPr txBox="1"/>
          <p:nvPr/>
        </p:nvSpPr>
        <p:spPr>
          <a:xfrm>
            <a:off x="5577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'25</a:t>
            </a:r>
            <a:endParaRPr/>
          </a:p>
        </p:txBody>
      </p:sp>
      <p:sp>
        <p:nvSpPr>
          <p:cNvPr id="2680" name="Google Shape;2680;p20"/>
          <p:cNvSpPr txBox="1"/>
          <p:nvPr/>
        </p:nvSpPr>
        <p:spPr>
          <a:xfrm>
            <a:off x="6263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'26</a:t>
            </a:r>
            <a:endParaRPr/>
          </a:p>
        </p:txBody>
      </p:sp>
      <p:sp>
        <p:nvSpPr>
          <p:cNvPr id="2681" name="Google Shape;2681;p20"/>
          <p:cNvSpPr txBox="1"/>
          <p:nvPr/>
        </p:nvSpPr>
        <p:spPr>
          <a:xfrm>
            <a:off x="6949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'25</a:t>
            </a:r>
            <a:endParaRPr/>
          </a:p>
        </p:txBody>
      </p:sp>
      <p:sp>
        <p:nvSpPr>
          <p:cNvPr id="2682" name="Google Shape;2682;p20"/>
          <p:cNvSpPr txBox="1"/>
          <p:nvPr/>
        </p:nvSpPr>
        <p:spPr>
          <a:xfrm>
            <a:off x="7635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'26</a:t>
            </a:r>
            <a:endParaRPr/>
          </a:p>
        </p:txBody>
      </p:sp>
      <p:sp>
        <p:nvSpPr>
          <p:cNvPr id="2683" name="Google Shape;2683;p20"/>
          <p:cNvSpPr txBox="1"/>
          <p:nvPr/>
        </p:nvSpPr>
        <p:spPr>
          <a:xfrm>
            <a:off x="8321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'25</a:t>
            </a:r>
            <a:endParaRPr/>
          </a:p>
        </p:txBody>
      </p:sp>
      <p:sp>
        <p:nvSpPr>
          <p:cNvPr id="2684" name="Google Shape;2684;p20"/>
          <p:cNvSpPr txBox="1"/>
          <p:nvPr/>
        </p:nvSpPr>
        <p:spPr>
          <a:xfrm>
            <a:off x="9006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'26</a:t>
            </a:r>
            <a:endParaRPr/>
          </a:p>
        </p:txBody>
      </p:sp>
      <p:sp>
        <p:nvSpPr>
          <p:cNvPr id="2685" name="Google Shape;2685;p20"/>
          <p:cNvSpPr txBox="1"/>
          <p:nvPr/>
        </p:nvSpPr>
        <p:spPr>
          <a:xfrm>
            <a:off x="969264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'25 Tot</a:t>
            </a:r>
            <a:endParaRPr/>
          </a:p>
        </p:txBody>
      </p:sp>
      <p:sp>
        <p:nvSpPr>
          <p:cNvPr id="2686" name="Google Shape;2686;p20"/>
          <p:cNvSpPr txBox="1"/>
          <p:nvPr/>
        </p:nvSpPr>
        <p:spPr>
          <a:xfrm>
            <a:off x="1088136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'26 Tot</a:t>
            </a:r>
            <a:endParaRPr/>
          </a:p>
        </p:txBody>
      </p:sp>
      <p:sp>
        <p:nvSpPr>
          <p:cNvPr id="2687" name="Google Shape;2687;p20"/>
          <p:cNvSpPr txBox="1"/>
          <p:nvPr/>
        </p:nvSpPr>
        <p:spPr>
          <a:xfrm>
            <a:off x="365760" y="523951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2688" name="Google Shape;2688;p20"/>
          <p:cNvSpPr txBox="1"/>
          <p:nvPr/>
        </p:nvSpPr>
        <p:spPr>
          <a:xfrm>
            <a:off x="1463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2689" name="Google Shape;2689;p20"/>
          <p:cNvSpPr txBox="1"/>
          <p:nvPr/>
        </p:nvSpPr>
        <p:spPr>
          <a:xfrm>
            <a:off x="2148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198</a:t>
            </a:r>
            <a:endParaRPr/>
          </a:p>
        </p:txBody>
      </p:sp>
      <p:sp>
        <p:nvSpPr>
          <p:cNvPr id="2690" name="Google Shape;2690;p20"/>
          <p:cNvSpPr txBox="1"/>
          <p:nvPr/>
        </p:nvSpPr>
        <p:spPr>
          <a:xfrm>
            <a:off x="2834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2691" name="Google Shape;2691;p20"/>
          <p:cNvSpPr txBox="1"/>
          <p:nvPr/>
        </p:nvSpPr>
        <p:spPr>
          <a:xfrm>
            <a:off x="3520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167</a:t>
            </a:r>
            <a:endParaRPr/>
          </a:p>
        </p:txBody>
      </p:sp>
      <p:sp>
        <p:nvSpPr>
          <p:cNvPr id="2692" name="Google Shape;2692;p20"/>
          <p:cNvSpPr txBox="1"/>
          <p:nvPr/>
        </p:nvSpPr>
        <p:spPr>
          <a:xfrm>
            <a:off x="4206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</a:t>
            </a:r>
            <a:endParaRPr/>
          </a:p>
        </p:txBody>
      </p:sp>
      <p:sp>
        <p:nvSpPr>
          <p:cNvPr id="2693" name="Google Shape;2693;p20"/>
          <p:cNvSpPr txBox="1"/>
          <p:nvPr/>
        </p:nvSpPr>
        <p:spPr>
          <a:xfrm>
            <a:off x="4892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144</a:t>
            </a:r>
            <a:endParaRPr/>
          </a:p>
        </p:txBody>
      </p:sp>
      <p:sp>
        <p:nvSpPr>
          <p:cNvPr id="2694" name="Google Shape;2694;p20"/>
          <p:cNvSpPr txBox="1"/>
          <p:nvPr/>
        </p:nvSpPr>
        <p:spPr>
          <a:xfrm>
            <a:off x="5577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72</a:t>
            </a:r>
            <a:endParaRPr/>
          </a:p>
        </p:txBody>
      </p:sp>
      <p:sp>
        <p:nvSpPr>
          <p:cNvPr id="2695" name="Google Shape;2695;p20"/>
          <p:cNvSpPr txBox="1"/>
          <p:nvPr/>
        </p:nvSpPr>
        <p:spPr>
          <a:xfrm>
            <a:off x="6263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191</a:t>
            </a:r>
            <a:endParaRPr/>
          </a:p>
        </p:txBody>
      </p:sp>
      <p:sp>
        <p:nvSpPr>
          <p:cNvPr id="2696" name="Google Shape;2696;p20"/>
          <p:cNvSpPr txBox="1"/>
          <p:nvPr/>
        </p:nvSpPr>
        <p:spPr>
          <a:xfrm>
            <a:off x="6949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135</a:t>
            </a:r>
            <a:endParaRPr/>
          </a:p>
        </p:txBody>
      </p:sp>
      <p:sp>
        <p:nvSpPr>
          <p:cNvPr id="2697" name="Google Shape;2697;p20"/>
          <p:cNvSpPr txBox="1"/>
          <p:nvPr/>
        </p:nvSpPr>
        <p:spPr>
          <a:xfrm>
            <a:off x="7635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151</a:t>
            </a:r>
            <a:endParaRPr/>
          </a:p>
        </p:txBody>
      </p:sp>
      <p:sp>
        <p:nvSpPr>
          <p:cNvPr id="2698" name="Google Shape;2698;p20"/>
          <p:cNvSpPr txBox="1"/>
          <p:nvPr/>
        </p:nvSpPr>
        <p:spPr>
          <a:xfrm>
            <a:off x="8321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105</a:t>
            </a:r>
            <a:endParaRPr/>
          </a:p>
        </p:txBody>
      </p:sp>
      <p:sp>
        <p:nvSpPr>
          <p:cNvPr id="2699" name="Google Shape;2699;p20"/>
          <p:cNvSpPr txBox="1"/>
          <p:nvPr/>
        </p:nvSpPr>
        <p:spPr>
          <a:xfrm>
            <a:off x="9006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2700" name="Google Shape;2700;p20"/>
          <p:cNvSpPr txBox="1"/>
          <p:nvPr/>
        </p:nvSpPr>
        <p:spPr>
          <a:xfrm>
            <a:off x="969264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324</a:t>
            </a:r>
            <a:endParaRPr/>
          </a:p>
        </p:txBody>
      </p:sp>
      <p:sp>
        <p:nvSpPr>
          <p:cNvPr id="2701" name="Google Shape;2701;p20"/>
          <p:cNvSpPr txBox="1"/>
          <p:nvPr/>
        </p:nvSpPr>
        <p:spPr>
          <a:xfrm>
            <a:off x="1088136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851</a:t>
            </a:r>
            <a:endParaRPr/>
          </a:p>
        </p:txBody>
      </p:sp>
      <p:sp>
        <p:nvSpPr>
          <p:cNvPr id="2702" name="Google Shape;2702;p20"/>
          <p:cNvSpPr txBox="1"/>
          <p:nvPr/>
        </p:nvSpPr>
        <p:spPr>
          <a:xfrm>
            <a:off x="365760" y="542239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Bound Premium</a:t>
            </a:r>
            <a:endParaRPr/>
          </a:p>
        </p:txBody>
      </p:sp>
      <p:sp>
        <p:nvSpPr>
          <p:cNvPr id="2703" name="Google Shape;2703;p20"/>
          <p:cNvSpPr txBox="1"/>
          <p:nvPr/>
        </p:nvSpPr>
        <p:spPr>
          <a:xfrm>
            <a:off x="1463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704" name="Google Shape;2704;p20"/>
          <p:cNvSpPr txBox="1"/>
          <p:nvPr/>
        </p:nvSpPr>
        <p:spPr>
          <a:xfrm>
            <a:off x="2148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$86K</a:t>
            </a:r>
            <a:endParaRPr/>
          </a:p>
        </p:txBody>
      </p:sp>
      <p:sp>
        <p:nvSpPr>
          <p:cNvPr id="2705" name="Google Shape;2705;p20"/>
          <p:cNvSpPr txBox="1"/>
          <p:nvPr/>
        </p:nvSpPr>
        <p:spPr>
          <a:xfrm>
            <a:off x="2834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706" name="Google Shape;2706;p20"/>
          <p:cNvSpPr txBox="1"/>
          <p:nvPr/>
        </p:nvSpPr>
        <p:spPr>
          <a:xfrm>
            <a:off x="3520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$196K</a:t>
            </a:r>
            <a:endParaRPr/>
          </a:p>
        </p:txBody>
      </p:sp>
      <p:sp>
        <p:nvSpPr>
          <p:cNvPr id="2707" name="Google Shape;2707;p20"/>
          <p:cNvSpPr txBox="1"/>
          <p:nvPr/>
        </p:nvSpPr>
        <p:spPr>
          <a:xfrm>
            <a:off x="4206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708" name="Google Shape;2708;p20"/>
          <p:cNvSpPr txBox="1"/>
          <p:nvPr/>
        </p:nvSpPr>
        <p:spPr>
          <a:xfrm>
            <a:off x="4892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$114K</a:t>
            </a:r>
            <a:endParaRPr/>
          </a:p>
        </p:txBody>
      </p:sp>
      <p:sp>
        <p:nvSpPr>
          <p:cNvPr id="2709" name="Google Shape;2709;p20"/>
          <p:cNvSpPr txBox="1"/>
          <p:nvPr/>
        </p:nvSpPr>
        <p:spPr>
          <a:xfrm>
            <a:off x="5577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$35K</a:t>
            </a:r>
            <a:endParaRPr/>
          </a:p>
        </p:txBody>
      </p:sp>
      <p:sp>
        <p:nvSpPr>
          <p:cNvPr id="2710" name="Google Shape;2710;p20"/>
          <p:cNvSpPr txBox="1"/>
          <p:nvPr/>
        </p:nvSpPr>
        <p:spPr>
          <a:xfrm>
            <a:off x="6263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$199K</a:t>
            </a:r>
            <a:endParaRPr/>
          </a:p>
        </p:txBody>
      </p:sp>
      <p:sp>
        <p:nvSpPr>
          <p:cNvPr id="2711" name="Google Shape;2711;p20"/>
          <p:cNvSpPr txBox="1"/>
          <p:nvPr/>
        </p:nvSpPr>
        <p:spPr>
          <a:xfrm>
            <a:off x="6949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$70K</a:t>
            </a:r>
            <a:endParaRPr/>
          </a:p>
        </p:txBody>
      </p:sp>
      <p:sp>
        <p:nvSpPr>
          <p:cNvPr id="2712" name="Google Shape;2712;p20"/>
          <p:cNvSpPr txBox="1"/>
          <p:nvPr/>
        </p:nvSpPr>
        <p:spPr>
          <a:xfrm>
            <a:off x="7635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$265K</a:t>
            </a:r>
            <a:endParaRPr/>
          </a:p>
        </p:txBody>
      </p:sp>
      <p:sp>
        <p:nvSpPr>
          <p:cNvPr id="2713" name="Google Shape;2713;p20"/>
          <p:cNvSpPr txBox="1"/>
          <p:nvPr/>
        </p:nvSpPr>
        <p:spPr>
          <a:xfrm>
            <a:off x="8321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$24K</a:t>
            </a:r>
            <a:endParaRPr/>
          </a:p>
        </p:txBody>
      </p:sp>
      <p:sp>
        <p:nvSpPr>
          <p:cNvPr id="2714" name="Google Shape;2714;p20"/>
          <p:cNvSpPr txBox="1"/>
          <p:nvPr/>
        </p:nvSpPr>
        <p:spPr>
          <a:xfrm>
            <a:off x="9006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715" name="Google Shape;2715;p20"/>
          <p:cNvSpPr txBox="1"/>
          <p:nvPr/>
        </p:nvSpPr>
        <p:spPr>
          <a:xfrm>
            <a:off x="969264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$128K</a:t>
            </a:r>
            <a:endParaRPr/>
          </a:p>
        </p:txBody>
      </p:sp>
      <p:sp>
        <p:nvSpPr>
          <p:cNvPr id="2716" name="Google Shape;2716;p20"/>
          <p:cNvSpPr txBox="1"/>
          <p:nvPr/>
        </p:nvSpPr>
        <p:spPr>
          <a:xfrm>
            <a:off x="1088136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$860K</a:t>
            </a:r>
            <a:endParaRPr/>
          </a:p>
        </p:txBody>
      </p:sp>
      <p:sp>
        <p:nvSpPr>
          <p:cNvPr id="2717" name="Google Shape;2717;p20"/>
          <p:cNvSpPr/>
          <p:nvPr/>
        </p:nvSpPr>
        <p:spPr>
          <a:xfrm>
            <a:off x="365760" y="5678423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8" name="Google Shape;2718;p20"/>
          <p:cNvSpPr txBox="1"/>
          <p:nvPr/>
        </p:nvSpPr>
        <p:spPr>
          <a:xfrm>
            <a:off x="4572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65F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STRENGTHS - What's Working</a:t>
            </a:r>
            <a:endParaRPr/>
          </a:p>
        </p:txBody>
      </p:sp>
      <p:sp>
        <p:nvSpPr>
          <p:cNvPr id="2719" name="Google Shape;2719;p20"/>
          <p:cNvSpPr txBox="1"/>
          <p:nvPr/>
        </p:nvSpPr>
        <p:spPr>
          <a:xfrm>
            <a:off x="4572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2720" name="Google Shape;2720;p20"/>
          <p:cNvSpPr txBox="1"/>
          <p:nvPr/>
        </p:nvSpPr>
        <p:spPr>
          <a:xfrm>
            <a:off x="685800" y="5952743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$860,378 YTD gross written premium</a:t>
            </a:r>
            <a:endParaRPr/>
          </a:p>
        </p:txBody>
      </p:sp>
      <p:sp>
        <p:nvSpPr>
          <p:cNvPr id="2721" name="Google Shape;2721;p20"/>
          <p:cNvSpPr txBox="1"/>
          <p:nvPr/>
        </p:nvSpPr>
        <p:spPr>
          <a:xfrm>
            <a:off x="457200" y="6153911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2722" name="Google Shape;2722;p20"/>
          <p:cNvSpPr txBox="1"/>
          <p:nvPr/>
        </p:nvSpPr>
        <p:spPr>
          <a:xfrm>
            <a:off x="685800" y="6153911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$525,662 in new business production</a:t>
            </a:r>
            <a:endParaRPr/>
          </a:p>
        </p:txBody>
      </p:sp>
      <p:sp>
        <p:nvSpPr>
          <p:cNvPr id="2723" name="Google Shape;2723;p20"/>
          <p:cNvSpPr/>
          <p:nvPr/>
        </p:nvSpPr>
        <p:spPr>
          <a:xfrm>
            <a:off x="6309360" y="5678423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4" name="Google Shape;2724;p20"/>
          <p:cNvSpPr txBox="1"/>
          <p:nvPr/>
        </p:nvSpPr>
        <p:spPr>
          <a:xfrm>
            <a:off x="64008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NEEDS ATTENTION</a:t>
            </a:r>
            <a:endParaRPr/>
          </a:p>
        </p:txBody>
      </p:sp>
      <p:sp>
        <p:nvSpPr>
          <p:cNvPr id="2725" name="Google Shape;2725;p20"/>
          <p:cNvSpPr txBox="1"/>
          <p:nvPr/>
        </p:nvSpPr>
        <p:spPr>
          <a:xfrm>
            <a:off x="64008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2726" name="Google Shape;2726;p20"/>
          <p:cNvSpPr txBox="1"/>
          <p:nvPr/>
        </p:nvSpPr>
        <p:spPr>
          <a:xfrm>
            <a:off x="6629400" y="5952743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Low 2.4% hit ratio on 799 subs - needs coaching</a:t>
            </a:r>
            <a:endParaRPr/>
          </a:p>
        </p:txBody>
      </p:sp>
      <p:sp>
        <p:nvSpPr>
          <p:cNvPr id="2727" name="Google Shape;2727;p20"/>
          <p:cNvSpPr txBox="1"/>
          <p:nvPr/>
        </p:nvSpPr>
        <p:spPr>
          <a:xfrm>
            <a:off x="6400800" y="6153911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2728" name="Google Shape;2728;p20"/>
          <p:cNvSpPr txBox="1"/>
          <p:nvPr/>
        </p:nvSpPr>
        <p:spPr>
          <a:xfrm>
            <a:off x="6629400" y="6153911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 at 71% of new business ($374,009)</a:t>
            </a:r>
            <a:endParaRPr/>
          </a:p>
        </p:txBody>
      </p:sp>
      <p:sp>
        <p:nvSpPr>
          <p:cNvPr id="2729" name="Google Shape;2729;p20"/>
          <p:cNvSpPr/>
          <p:nvPr/>
        </p:nvSpPr>
        <p:spPr>
          <a:xfrm>
            <a:off x="365760" y="6455663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0" name="Google Shape;2730;p20"/>
          <p:cNvSpPr txBox="1"/>
          <p:nvPr/>
        </p:nvSpPr>
        <p:spPr>
          <a:xfrm>
            <a:off x="457200" y="6464807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STRATEGIC SALES TIPS - Conversation Starters</a:t>
            </a:r>
            <a:endParaRPr/>
          </a:p>
        </p:txBody>
      </p:sp>
      <p:sp>
        <p:nvSpPr>
          <p:cNvPr id="2731" name="Google Shape;2731;p20"/>
          <p:cNvSpPr txBox="1"/>
          <p:nvPr/>
        </p:nvSpPr>
        <p:spPr>
          <a:xfrm>
            <a:off x="457200" y="6711695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endParaRPr/>
          </a:p>
        </p:txBody>
      </p:sp>
      <p:sp>
        <p:nvSpPr>
          <p:cNvPr id="2732" name="Google Shape;2732;p20"/>
          <p:cNvSpPr txBox="1"/>
          <p:nvPr/>
        </p:nvSpPr>
        <p:spPr>
          <a:xfrm>
            <a:off x="777240" y="6711695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Walk through recent lost quotes (799 subs, only 19 binds). Ask: "What are the top 2 reasons your clients go elsewhere?" Use answers to tailor appetite and pricing discussions.</a:t>
            </a:r>
            <a:endParaRPr/>
          </a:p>
        </p:txBody>
      </p:sp>
      <p:sp>
        <p:nvSpPr>
          <p:cNvPr id="2733" name="Google Shape;2733;p20"/>
          <p:cNvSpPr txBox="1"/>
          <p:nvPr/>
        </p:nvSpPr>
        <p:spPr>
          <a:xfrm>
            <a:off x="457200" y="6949439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endParaRPr/>
          </a:p>
        </p:txBody>
      </p:sp>
      <p:sp>
        <p:nvSpPr>
          <p:cNvPr id="2734" name="Google Shape;2734;p20"/>
          <p:cNvSpPr txBox="1"/>
          <p:nvPr/>
        </p:nvSpPr>
        <p:spPr>
          <a:xfrm>
            <a:off x="777240" y="6949439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Acknowledge their $525,662 in new business. Ask: "What types of accounts are you seeing the most success with?" Use this to identify more of their book that fits our appetite.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38" name="Shape 2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9" name="Google Shape;2739;p2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0" name="Google Shape;2740;p21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Insurance Planet</a:t>
            </a:r>
            <a:endParaRPr/>
          </a:p>
        </p:txBody>
      </p:sp>
      <p:sp>
        <p:nvSpPr>
          <p:cNvPr id="2741" name="Google Shape;2741;p21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4B5F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Tier: Tier 1  |  Region: Southeast  |  State: Florida  |  City: Jacksonville</a:t>
            </a:r>
            <a:endParaRPr/>
          </a:p>
        </p:txBody>
      </p:sp>
      <p:sp>
        <p:nvSpPr>
          <p:cNvPr id="2742" name="Google Shape;2742;p21"/>
          <p:cNvSpPr/>
          <p:nvPr/>
        </p:nvSpPr>
        <p:spPr>
          <a:xfrm>
            <a:off x="22860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$608,829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YTD GWP</a:t>
            </a:r>
            <a:endParaRPr/>
          </a:p>
        </p:txBody>
      </p:sp>
      <p:sp>
        <p:nvSpPr>
          <p:cNvPr id="2743" name="Google Shape;2743;p21"/>
          <p:cNvSpPr/>
          <p:nvPr/>
        </p:nvSpPr>
        <p:spPr>
          <a:xfrm>
            <a:off x="256032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$417,441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2744" name="Google Shape;2744;p21"/>
          <p:cNvSpPr/>
          <p:nvPr/>
        </p:nvSpPr>
        <p:spPr>
          <a:xfrm>
            <a:off x="489204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$70,501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2745" name="Google Shape;2745;p21"/>
          <p:cNvSpPr/>
          <p:nvPr/>
        </p:nvSpPr>
        <p:spPr>
          <a:xfrm>
            <a:off x="7223759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$120,887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2746" name="Google Shape;2746;p21"/>
          <p:cNvSpPr/>
          <p:nvPr/>
        </p:nvSpPr>
        <p:spPr>
          <a:xfrm>
            <a:off x="955548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$-233,032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2747" name="Google Shape;2747;p21"/>
          <p:cNvSpPr/>
          <p:nvPr/>
        </p:nvSpPr>
        <p:spPr>
          <a:xfrm>
            <a:off x="137160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$1,163,463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2025 Full Year GWP</a:t>
            </a:r>
            <a:endParaRPr/>
          </a:p>
        </p:txBody>
      </p:sp>
      <p:sp>
        <p:nvSpPr>
          <p:cNvPr id="2748" name="Google Shape;2748;p21"/>
          <p:cNvSpPr/>
          <p:nvPr/>
        </p:nvSpPr>
        <p:spPr>
          <a:xfrm>
            <a:off x="1627631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$1,091,324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Rolling 12M GWP</a:t>
            </a:r>
            <a:endParaRPr/>
          </a:p>
        </p:txBody>
      </p:sp>
      <p:sp>
        <p:nvSpPr>
          <p:cNvPr id="2749" name="Google Shape;2749;p21"/>
          <p:cNvSpPr/>
          <p:nvPr/>
        </p:nvSpPr>
        <p:spPr>
          <a:xfrm>
            <a:off x="3118103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44%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% to Goal</a:t>
            </a:r>
            <a:endParaRPr/>
          </a:p>
        </p:txBody>
      </p:sp>
      <p:sp>
        <p:nvSpPr>
          <p:cNvPr id="2750" name="Google Shape;2750;p21"/>
          <p:cNvSpPr/>
          <p:nvPr/>
        </p:nvSpPr>
        <p:spPr>
          <a:xfrm>
            <a:off x="4608576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296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2751" name="Google Shape;2751;p21"/>
          <p:cNvSpPr/>
          <p:nvPr/>
        </p:nvSpPr>
        <p:spPr>
          <a:xfrm>
            <a:off x="6099048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2752" name="Google Shape;2752;p21"/>
          <p:cNvSpPr/>
          <p:nvPr/>
        </p:nvSpPr>
        <p:spPr>
          <a:xfrm>
            <a:off x="7589519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7.1%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2753" name="Google Shape;2753;p21"/>
          <p:cNvSpPr/>
          <p:nvPr/>
        </p:nvSpPr>
        <p:spPr>
          <a:xfrm>
            <a:off x="9079992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$193,376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 Bound Prem</a:t>
            </a:r>
            <a:endParaRPr/>
          </a:p>
        </p:txBody>
      </p:sp>
      <p:sp>
        <p:nvSpPr>
          <p:cNvPr id="2754" name="Google Shape;2754;p21"/>
          <p:cNvSpPr/>
          <p:nvPr/>
        </p:nvSpPr>
        <p:spPr>
          <a:xfrm>
            <a:off x="10570464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$296,672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NF Bound Prem</a:t>
            </a:r>
            <a:endParaRPr/>
          </a:p>
        </p:txBody>
      </p:sp>
      <p:sp>
        <p:nvSpPr>
          <p:cNvPr id="2755" name="Google Shape;2755;p21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6" name="Google Shape;2756;p21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PRODUCTION BY MONTH</a:t>
            </a:r>
            <a:endParaRPr/>
          </a:p>
        </p:txBody>
      </p:sp>
      <p:sp>
        <p:nvSpPr>
          <p:cNvPr id="2757" name="Google Shape;2757;p21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2758" name="Google Shape;2758;p21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Written Premium</a:t>
            </a:r>
            <a:endParaRPr/>
          </a:p>
        </p:txBody>
      </p:sp>
      <p:sp>
        <p:nvSpPr>
          <p:cNvPr id="2759" name="Google Shape;2759;p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2760" name="Google Shape;2760;p21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2761" name="Google Shape;2761;p21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2762" name="Google Shape;2762;p21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2763" name="Google Shape;2763;p21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4" name="Google Shape;2764;p21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2765" name="Google Shape;2765;p21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$36,300</a:t>
            </a:r>
            <a:endParaRPr/>
          </a:p>
        </p:txBody>
      </p:sp>
      <p:sp>
        <p:nvSpPr>
          <p:cNvPr id="2766" name="Google Shape;2766;p21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767" name="Google Shape;2767;p21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768" name="Google Shape;2768;p21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$36,300</a:t>
            </a:r>
            <a:endParaRPr/>
          </a:p>
        </p:txBody>
      </p:sp>
      <p:sp>
        <p:nvSpPr>
          <p:cNvPr id="2769" name="Google Shape;2769;p2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770" name="Google Shape;2770;p21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1" name="Google Shape;2771;p21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2772" name="Google Shape;2772;p21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$31,165</a:t>
            </a:r>
            <a:endParaRPr/>
          </a:p>
        </p:txBody>
      </p:sp>
      <p:sp>
        <p:nvSpPr>
          <p:cNvPr id="2773" name="Google Shape;2773;p21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774" name="Google Shape;2774;p21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775" name="Google Shape;2775;p21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$31,165</a:t>
            </a:r>
            <a:endParaRPr/>
          </a:p>
        </p:txBody>
      </p:sp>
      <p:sp>
        <p:nvSpPr>
          <p:cNvPr id="2776" name="Google Shape;2776;p21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$-29,647</a:t>
            </a:r>
            <a:endParaRPr/>
          </a:p>
        </p:txBody>
      </p:sp>
      <p:sp>
        <p:nvSpPr>
          <p:cNvPr id="2777" name="Google Shape;2777;p21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8" name="Google Shape;2778;p21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2779" name="Google Shape;2779;p2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$129,301</a:t>
            </a:r>
            <a:endParaRPr/>
          </a:p>
        </p:txBody>
      </p:sp>
      <p:sp>
        <p:nvSpPr>
          <p:cNvPr id="2780" name="Google Shape;2780;p21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$105,465</a:t>
            </a:r>
            <a:endParaRPr/>
          </a:p>
        </p:txBody>
      </p:sp>
      <p:sp>
        <p:nvSpPr>
          <p:cNvPr id="2781" name="Google Shape;2781;p21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782" name="Google Shape;2782;p21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$23,836</a:t>
            </a:r>
            <a:endParaRPr/>
          </a:p>
        </p:txBody>
      </p:sp>
      <p:sp>
        <p:nvSpPr>
          <p:cNvPr id="2783" name="Google Shape;2783;p21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$-25,797</a:t>
            </a:r>
            <a:endParaRPr/>
          </a:p>
        </p:txBody>
      </p:sp>
      <p:sp>
        <p:nvSpPr>
          <p:cNvPr id="2784" name="Google Shape;2784;p21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5" name="Google Shape;2785;p21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2786" name="Google Shape;2786;p21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$109,280</a:t>
            </a:r>
            <a:endParaRPr/>
          </a:p>
        </p:txBody>
      </p:sp>
      <p:sp>
        <p:nvSpPr>
          <p:cNvPr id="2787" name="Google Shape;2787;p21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$81,468</a:t>
            </a:r>
            <a:endParaRPr/>
          </a:p>
        </p:txBody>
      </p:sp>
      <p:sp>
        <p:nvSpPr>
          <p:cNvPr id="2788" name="Google Shape;2788;p21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789" name="Google Shape;2789;p2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$27,812</a:t>
            </a:r>
            <a:endParaRPr/>
          </a:p>
        </p:txBody>
      </p:sp>
      <p:sp>
        <p:nvSpPr>
          <p:cNvPr id="2790" name="Google Shape;2790;p21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$-145,340</a:t>
            </a:r>
            <a:endParaRPr/>
          </a:p>
        </p:txBody>
      </p:sp>
      <p:sp>
        <p:nvSpPr>
          <p:cNvPr id="2791" name="Google Shape;2791;p21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2" name="Google Shape;2792;p21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2793" name="Google Shape;2793;p21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$302,782</a:t>
            </a:r>
            <a:endParaRPr/>
          </a:p>
        </p:txBody>
      </p:sp>
      <p:sp>
        <p:nvSpPr>
          <p:cNvPr id="2794" name="Google Shape;2794;p21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$230,508</a:t>
            </a:r>
            <a:endParaRPr/>
          </a:p>
        </p:txBody>
      </p:sp>
      <p:sp>
        <p:nvSpPr>
          <p:cNvPr id="2795" name="Google Shape;2795;p21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$70,501</a:t>
            </a:r>
            <a:endParaRPr/>
          </a:p>
        </p:txBody>
      </p:sp>
      <p:sp>
        <p:nvSpPr>
          <p:cNvPr id="2796" name="Google Shape;2796;p21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$1,773</a:t>
            </a:r>
            <a:endParaRPr/>
          </a:p>
        </p:txBody>
      </p:sp>
      <p:sp>
        <p:nvSpPr>
          <p:cNvPr id="2797" name="Google Shape;2797;p21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$-32,247</a:t>
            </a:r>
            <a:endParaRPr/>
          </a:p>
        </p:txBody>
      </p:sp>
      <p:sp>
        <p:nvSpPr>
          <p:cNvPr id="2798" name="Google Shape;2798;p21"/>
          <p:cNvSpPr/>
          <p:nvPr/>
        </p:nvSpPr>
        <p:spPr>
          <a:xfrm>
            <a:off x="365760" y="4123944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9" name="Google Shape;2799;p2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2800" name="Google Shape;2800;p21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801" name="Google Shape;2801;p21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802" name="Google Shape;2802;p21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803" name="Google Shape;2803;p21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804" name="Google Shape;2804;p21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805" name="Google Shape;2805;p21"/>
          <p:cNvSpPr/>
          <p:nvPr/>
        </p:nvSpPr>
        <p:spPr>
          <a:xfrm>
            <a:off x="365760" y="4425696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6" name="Google Shape;2806;p21"/>
          <p:cNvSpPr txBox="1"/>
          <p:nvPr/>
        </p:nvSpPr>
        <p:spPr>
          <a:xfrm>
            <a:off x="3657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2807" name="Google Shape;2807;p21"/>
          <p:cNvSpPr txBox="1"/>
          <p:nvPr/>
        </p:nvSpPr>
        <p:spPr>
          <a:xfrm>
            <a:off x="1280160" y="446227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$608,829</a:t>
            </a:r>
            <a:endParaRPr/>
          </a:p>
        </p:txBody>
      </p:sp>
      <p:sp>
        <p:nvSpPr>
          <p:cNvPr id="2808" name="Google Shape;2808;p21"/>
          <p:cNvSpPr txBox="1"/>
          <p:nvPr/>
        </p:nvSpPr>
        <p:spPr>
          <a:xfrm>
            <a:off x="2377439" y="446227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$417,441</a:t>
            </a:r>
            <a:endParaRPr/>
          </a:p>
        </p:txBody>
      </p:sp>
      <p:sp>
        <p:nvSpPr>
          <p:cNvPr id="2809" name="Google Shape;2809;p21"/>
          <p:cNvSpPr txBox="1"/>
          <p:nvPr/>
        </p:nvSpPr>
        <p:spPr>
          <a:xfrm>
            <a:off x="33832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$70,501</a:t>
            </a:r>
            <a:endParaRPr/>
          </a:p>
        </p:txBody>
      </p:sp>
      <p:sp>
        <p:nvSpPr>
          <p:cNvPr id="2810" name="Google Shape;2810;p21"/>
          <p:cNvSpPr txBox="1"/>
          <p:nvPr/>
        </p:nvSpPr>
        <p:spPr>
          <a:xfrm>
            <a:off x="42976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$120,887</a:t>
            </a:r>
            <a:endParaRPr/>
          </a:p>
        </p:txBody>
      </p:sp>
      <p:sp>
        <p:nvSpPr>
          <p:cNvPr id="2811" name="Google Shape;2811;p21"/>
          <p:cNvSpPr txBox="1"/>
          <p:nvPr/>
        </p:nvSpPr>
        <p:spPr>
          <a:xfrm>
            <a:off x="52120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$-233,032</a:t>
            </a:r>
            <a:endParaRPr/>
          </a:p>
        </p:txBody>
      </p:sp>
      <p:sp>
        <p:nvSpPr>
          <p:cNvPr id="2812" name="Google Shape;2812;p21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3" name="Google Shape;2813;p21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 &amp; PIPELINE</a:t>
            </a:r>
            <a:endParaRPr/>
          </a:p>
        </p:txBody>
      </p:sp>
      <p:sp>
        <p:nvSpPr>
          <p:cNvPr id="2814" name="Google Shape;2814;p21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2815" name="Google Shape;2815;p21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Subs</a:t>
            </a:r>
            <a:endParaRPr/>
          </a:p>
        </p:txBody>
      </p:sp>
      <p:sp>
        <p:nvSpPr>
          <p:cNvPr id="2816" name="Google Shape;2816;p2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</a:t>
            </a:r>
            <a:endParaRPr/>
          </a:p>
        </p:txBody>
      </p:sp>
      <p:sp>
        <p:nvSpPr>
          <p:cNvPr id="2817" name="Google Shape;2817;p21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Non-Fleet</a:t>
            </a:r>
            <a:endParaRPr/>
          </a:p>
        </p:txBody>
      </p:sp>
      <p:sp>
        <p:nvSpPr>
          <p:cNvPr id="2818" name="Google Shape;2818;p21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2819" name="Google Shape;2819;p21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2820" name="Google Shape;2820;p21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1" name="Google Shape;2821;p21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2822" name="Google Shape;2822;p21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36</a:t>
            </a:r>
            <a:endParaRPr/>
          </a:p>
        </p:txBody>
      </p:sp>
      <p:sp>
        <p:nvSpPr>
          <p:cNvPr id="2823" name="Google Shape;2823;p21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2824" name="Google Shape;2824;p21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33</a:t>
            </a:r>
            <a:endParaRPr/>
          </a:p>
        </p:txBody>
      </p:sp>
      <p:sp>
        <p:nvSpPr>
          <p:cNvPr id="2825" name="Google Shape;2825;p21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2826" name="Google Shape;2826;p2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11.1%</a:t>
            </a:r>
            <a:endParaRPr/>
          </a:p>
        </p:txBody>
      </p:sp>
      <p:sp>
        <p:nvSpPr>
          <p:cNvPr id="2827" name="Google Shape;2827;p21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8" name="Google Shape;2828;p21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2829" name="Google Shape;2829;p21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41</a:t>
            </a:r>
            <a:endParaRPr/>
          </a:p>
        </p:txBody>
      </p:sp>
      <p:sp>
        <p:nvSpPr>
          <p:cNvPr id="2830" name="Google Shape;2830;p21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/>
          </a:p>
        </p:txBody>
      </p:sp>
      <p:sp>
        <p:nvSpPr>
          <p:cNvPr id="2831" name="Google Shape;2831;p21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34</a:t>
            </a:r>
            <a:endParaRPr/>
          </a:p>
        </p:txBody>
      </p:sp>
      <p:sp>
        <p:nvSpPr>
          <p:cNvPr id="2832" name="Google Shape;2832;p21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2833" name="Google Shape;2833;p21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9.8%</a:t>
            </a:r>
            <a:endParaRPr/>
          </a:p>
        </p:txBody>
      </p:sp>
      <p:sp>
        <p:nvSpPr>
          <p:cNvPr id="2834" name="Google Shape;2834;p21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5" name="Google Shape;2835;p21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2836" name="Google Shape;2836;p2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62</a:t>
            </a:r>
            <a:endParaRPr/>
          </a:p>
        </p:txBody>
      </p:sp>
      <p:sp>
        <p:nvSpPr>
          <p:cNvPr id="2837" name="Google Shape;2837;p21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2838" name="Google Shape;2838;p21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59</a:t>
            </a:r>
            <a:endParaRPr/>
          </a:p>
        </p:txBody>
      </p:sp>
      <p:sp>
        <p:nvSpPr>
          <p:cNvPr id="2839" name="Google Shape;2839;p21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2840" name="Google Shape;2840;p21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6.5%</a:t>
            </a:r>
            <a:endParaRPr/>
          </a:p>
        </p:txBody>
      </p:sp>
      <p:sp>
        <p:nvSpPr>
          <p:cNvPr id="2841" name="Google Shape;2841;p21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2" name="Google Shape;2842;p21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2843" name="Google Shape;2843;p21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83</a:t>
            </a:r>
            <a:endParaRPr/>
          </a:p>
        </p:txBody>
      </p:sp>
      <p:sp>
        <p:nvSpPr>
          <p:cNvPr id="2844" name="Google Shape;2844;p21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2845" name="Google Shape;2845;p21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79</a:t>
            </a:r>
            <a:endParaRPr/>
          </a:p>
        </p:txBody>
      </p:sp>
      <p:sp>
        <p:nvSpPr>
          <p:cNvPr id="2846" name="Google Shape;2846;p2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</a:t>
            </a:r>
            <a:endParaRPr/>
          </a:p>
        </p:txBody>
      </p:sp>
      <p:sp>
        <p:nvSpPr>
          <p:cNvPr id="2847" name="Google Shape;2847;p21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13.3%</a:t>
            </a:r>
            <a:endParaRPr/>
          </a:p>
        </p:txBody>
      </p:sp>
      <p:sp>
        <p:nvSpPr>
          <p:cNvPr id="2848" name="Google Shape;2848;p21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9" name="Google Shape;2849;p21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2850" name="Google Shape;2850;p21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97</a:t>
            </a:r>
            <a:endParaRPr/>
          </a:p>
        </p:txBody>
      </p:sp>
      <p:sp>
        <p:nvSpPr>
          <p:cNvPr id="2851" name="Google Shape;2851;p21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</a:t>
            </a:r>
            <a:endParaRPr/>
          </a:p>
        </p:txBody>
      </p:sp>
      <p:sp>
        <p:nvSpPr>
          <p:cNvPr id="2852" name="Google Shape;2852;p21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83</a:t>
            </a:r>
            <a:endParaRPr/>
          </a:p>
        </p:txBody>
      </p:sp>
      <p:sp>
        <p:nvSpPr>
          <p:cNvPr id="2853" name="Google Shape;2853;p21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</a:t>
            </a:r>
            <a:endParaRPr/>
          </a:p>
        </p:txBody>
      </p:sp>
      <p:sp>
        <p:nvSpPr>
          <p:cNvPr id="2854" name="Google Shape;2854;p21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13.4%</a:t>
            </a:r>
            <a:endParaRPr/>
          </a:p>
        </p:txBody>
      </p:sp>
      <p:sp>
        <p:nvSpPr>
          <p:cNvPr id="2855" name="Google Shape;2855;p21"/>
          <p:cNvSpPr/>
          <p:nvPr/>
        </p:nvSpPr>
        <p:spPr>
          <a:xfrm>
            <a:off x="6309360" y="4123944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6" name="Google Shape;2856;p2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2857" name="Google Shape;2857;p21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2858" name="Google Shape;2858;p21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2859" name="Google Shape;2859;p21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2860" name="Google Shape;2860;p21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2861" name="Google Shape;2861;p21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2862" name="Google Shape;2862;p21"/>
          <p:cNvSpPr/>
          <p:nvPr/>
        </p:nvSpPr>
        <p:spPr>
          <a:xfrm>
            <a:off x="6309360" y="4425696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3" name="Google Shape;2863;p21"/>
          <p:cNvSpPr txBox="1"/>
          <p:nvPr/>
        </p:nvSpPr>
        <p:spPr>
          <a:xfrm>
            <a:off x="63093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2864" name="Google Shape;2864;p21"/>
          <p:cNvSpPr txBox="1"/>
          <p:nvPr/>
        </p:nvSpPr>
        <p:spPr>
          <a:xfrm>
            <a:off x="722376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296</a:t>
            </a:r>
            <a:endParaRPr/>
          </a:p>
        </p:txBody>
      </p:sp>
      <p:sp>
        <p:nvSpPr>
          <p:cNvPr id="2865" name="Google Shape;2865;p21"/>
          <p:cNvSpPr txBox="1"/>
          <p:nvPr/>
        </p:nvSpPr>
        <p:spPr>
          <a:xfrm>
            <a:off x="804672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28</a:t>
            </a:r>
            <a:endParaRPr/>
          </a:p>
        </p:txBody>
      </p:sp>
      <p:sp>
        <p:nvSpPr>
          <p:cNvPr id="2866" name="Google Shape;2866;p21"/>
          <p:cNvSpPr txBox="1"/>
          <p:nvPr/>
        </p:nvSpPr>
        <p:spPr>
          <a:xfrm>
            <a:off x="886968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268</a:t>
            </a:r>
            <a:endParaRPr/>
          </a:p>
        </p:txBody>
      </p:sp>
      <p:sp>
        <p:nvSpPr>
          <p:cNvPr id="2867" name="Google Shape;2867;p21"/>
          <p:cNvSpPr txBox="1"/>
          <p:nvPr/>
        </p:nvSpPr>
        <p:spPr>
          <a:xfrm>
            <a:off x="978408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</a:t>
            </a:r>
            <a:endParaRPr/>
          </a:p>
        </p:txBody>
      </p:sp>
      <p:sp>
        <p:nvSpPr>
          <p:cNvPr id="2868" name="Google Shape;2868;p21"/>
          <p:cNvSpPr txBox="1"/>
          <p:nvPr/>
        </p:nvSpPr>
        <p:spPr>
          <a:xfrm>
            <a:off x="1060704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7.1%</a:t>
            </a:r>
            <a:endParaRPr/>
          </a:p>
        </p:txBody>
      </p:sp>
      <p:sp>
        <p:nvSpPr>
          <p:cNvPr id="2869" name="Google Shape;2869;p21"/>
          <p:cNvSpPr/>
          <p:nvPr/>
        </p:nvSpPr>
        <p:spPr>
          <a:xfrm>
            <a:off x="365760" y="4782312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0" name="Google Shape;2870;p21"/>
          <p:cNvSpPr txBox="1"/>
          <p:nvPr/>
        </p:nvSpPr>
        <p:spPr>
          <a:xfrm>
            <a:off x="457200" y="4800599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YOY COMPARISON — Jan–Jun 2025 vs Jan–Jun 2026</a:t>
            </a:r>
            <a:endParaRPr/>
          </a:p>
        </p:txBody>
      </p:sp>
      <p:sp>
        <p:nvSpPr>
          <p:cNvPr id="2871" name="Google Shape;2871;p21"/>
          <p:cNvSpPr txBox="1"/>
          <p:nvPr/>
        </p:nvSpPr>
        <p:spPr>
          <a:xfrm>
            <a:off x="365760" y="5056631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00" u="none" cap="none" strike="noStrike">
              <a:solidFill>
                <a:srgbClr val="6B728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872" name="Google Shape;2872;p21"/>
          <p:cNvSpPr txBox="1"/>
          <p:nvPr/>
        </p:nvSpPr>
        <p:spPr>
          <a:xfrm>
            <a:off x="1463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'25</a:t>
            </a:r>
            <a:endParaRPr/>
          </a:p>
        </p:txBody>
      </p:sp>
      <p:sp>
        <p:nvSpPr>
          <p:cNvPr id="2873" name="Google Shape;2873;p21"/>
          <p:cNvSpPr txBox="1"/>
          <p:nvPr/>
        </p:nvSpPr>
        <p:spPr>
          <a:xfrm>
            <a:off x="2148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'26</a:t>
            </a:r>
            <a:endParaRPr/>
          </a:p>
        </p:txBody>
      </p:sp>
      <p:sp>
        <p:nvSpPr>
          <p:cNvPr id="2874" name="Google Shape;2874;p21"/>
          <p:cNvSpPr txBox="1"/>
          <p:nvPr/>
        </p:nvSpPr>
        <p:spPr>
          <a:xfrm>
            <a:off x="2834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'25</a:t>
            </a:r>
            <a:endParaRPr/>
          </a:p>
        </p:txBody>
      </p:sp>
      <p:sp>
        <p:nvSpPr>
          <p:cNvPr id="2875" name="Google Shape;2875;p21"/>
          <p:cNvSpPr txBox="1"/>
          <p:nvPr/>
        </p:nvSpPr>
        <p:spPr>
          <a:xfrm>
            <a:off x="3520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'26</a:t>
            </a:r>
            <a:endParaRPr/>
          </a:p>
        </p:txBody>
      </p:sp>
      <p:sp>
        <p:nvSpPr>
          <p:cNvPr id="2876" name="Google Shape;2876;p21"/>
          <p:cNvSpPr txBox="1"/>
          <p:nvPr/>
        </p:nvSpPr>
        <p:spPr>
          <a:xfrm>
            <a:off x="4206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'25</a:t>
            </a:r>
            <a:endParaRPr/>
          </a:p>
        </p:txBody>
      </p:sp>
      <p:sp>
        <p:nvSpPr>
          <p:cNvPr id="2877" name="Google Shape;2877;p21"/>
          <p:cNvSpPr txBox="1"/>
          <p:nvPr/>
        </p:nvSpPr>
        <p:spPr>
          <a:xfrm>
            <a:off x="4892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'26</a:t>
            </a:r>
            <a:endParaRPr/>
          </a:p>
        </p:txBody>
      </p:sp>
      <p:sp>
        <p:nvSpPr>
          <p:cNvPr id="2878" name="Google Shape;2878;p21"/>
          <p:cNvSpPr txBox="1"/>
          <p:nvPr/>
        </p:nvSpPr>
        <p:spPr>
          <a:xfrm>
            <a:off x="5577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'25</a:t>
            </a:r>
            <a:endParaRPr/>
          </a:p>
        </p:txBody>
      </p:sp>
      <p:sp>
        <p:nvSpPr>
          <p:cNvPr id="2879" name="Google Shape;2879;p21"/>
          <p:cNvSpPr txBox="1"/>
          <p:nvPr/>
        </p:nvSpPr>
        <p:spPr>
          <a:xfrm>
            <a:off x="6263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'26</a:t>
            </a:r>
            <a:endParaRPr/>
          </a:p>
        </p:txBody>
      </p:sp>
      <p:sp>
        <p:nvSpPr>
          <p:cNvPr id="2880" name="Google Shape;2880;p21"/>
          <p:cNvSpPr txBox="1"/>
          <p:nvPr/>
        </p:nvSpPr>
        <p:spPr>
          <a:xfrm>
            <a:off x="6949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'25</a:t>
            </a:r>
            <a:endParaRPr/>
          </a:p>
        </p:txBody>
      </p:sp>
      <p:sp>
        <p:nvSpPr>
          <p:cNvPr id="2881" name="Google Shape;2881;p21"/>
          <p:cNvSpPr txBox="1"/>
          <p:nvPr/>
        </p:nvSpPr>
        <p:spPr>
          <a:xfrm>
            <a:off x="7635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'26</a:t>
            </a:r>
            <a:endParaRPr/>
          </a:p>
        </p:txBody>
      </p:sp>
      <p:sp>
        <p:nvSpPr>
          <p:cNvPr id="2882" name="Google Shape;2882;p21"/>
          <p:cNvSpPr txBox="1"/>
          <p:nvPr/>
        </p:nvSpPr>
        <p:spPr>
          <a:xfrm>
            <a:off x="8321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'25</a:t>
            </a:r>
            <a:endParaRPr/>
          </a:p>
        </p:txBody>
      </p:sp>
      <p:sp>
        <p:nvSpPr>
          <p:cNvPr id="2883" name="Google Shape;2883;p21"/>
          <p:cNvSpPr txBox="1"/>
          <p:nvPr/>
        </p:nvSpPr>
        <p:spPr>
          <a:xfrm>
            <a:off x="9006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'26</a:t>
            </a:r>
            <a:endParaRPr/>
          </a:p>
        </p:txBody>
      </p:sp>
      <p:sp>
        <p:nvSpPr>
          <p:cNvPr id="2884" name="Google Shape;2884;p21"/>
          <p:cNvSpPr txBox="1"/>
          <p:nvPr/>
        </p:nvSpPr>
        <p:spPr>
          <a:xfrm>
            <a:off x="969264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'25 Tot</a:t>
            </a:r>
            <a:endParaRPr/>
          </a:p>
        </p:txBody>
      </p:sp>
      <p:sp>
        <p:nvSpPr>
          <p:cNvPr id="2885" name="Google Shape;2885;p21"/>
          <p:cNvSpPr txBox="1"/>
          <p:nvPr/>
        </p:nvSpPr>
        <p:spPr>
          <a:xfrm>
            <a:off x="1088136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'26 Tot</a:t>
            </a:r>
            <a:endParaRPr/>
          </a:p>
        </p:txBody>
      </p:sp>
      <p:sp>
        <p:nvSpPr>
          <p:cNvPr id="2886" name="Google Shape;2886;p21"/>
          <p:cNvSpPr txBox="1"/>
          <p:nvPr/>
        </p:nvSpPr>
        <p:spPr>
          <a:xfrm>
            <a:off x="365760" y="523951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2887" name="Google Shape;2887;p21"/>
          <p:cNvSpPr txBox="1"/>
          <p:nvPr/>
        </p:nvSpPr>
        <p:spPr>
          <a:xfrm>
            <a:off x="1463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65</a:t>
            </a:r>
            <a:endParaRPr/>
          </a:p>
        </p:txBody>
      </p:sp>
      <p:sp>
        <p:nvSpPr>
          <p:cNvPr id="2888" name="Google Shape;2888;p21"/>
          <p:cNvSpPr txBox="1"/>
          <p:nvPr/>
        </p:nvSpPr>
        <p:spPr>
          <a:xfrm>
            <a:off x="2148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36</a:t>
            </a:r>
            <a:endParaRPr/>
          </a:p>
        </p:txBody>
      </p:sp>
      <p:sp>
        <p:nvSpPr>
          <p:cNvPr id="2889" name="Google Shape;2889;p21"/>
          <p:cNvSpPr txBox="1"/>
          <p:nvPr/>
        </p:nvSpPr>
        <p:spPr>
          <a:xfrm>
            <a:off x="2834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47</a:t>
            </a:r>
            <a:endParaRPr/>
          </a:p>
        </p:txBody>
      </p:sp>
      <p:sp>
        <p:nvSpPr>
          <p:cNvPr id="2890" name="Google Shape;2890;p21"/>
          <p:cNvSpPr txBox="1"/>
          <p:nvPr/>
        </p:nvSpPr>
        <p:spPr>
          <a:xfrm>
            <a:off x="3520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41</a:t>
            </a:r>
            <a:endParaRPr/>
          </a:p>
        </p:txBody>
      </p:sp>
      <p:sp>
        <p:nvSpPr>
          <p:cNvPr id="2891" name="Google Shape;2891;p21"/>
          <p:cNvSpPr txBox="1"/>
          <p:nvPr/>
        </p:nvSpPr>
        <p:spPr>
          <a:xfrm>
            <a:off x="4206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58</a:t>
            </a:r>
            <a:endParaRPr/>
          </a:p>
        </p:txBody>
      </p:sp>
      <p:sp>
        <p:nvSpPr>
          <p:cNvPr id="2892" name="Google Shape;2892;p21"/>
          <p:cNvSpPr txBox="1"/>
          <p:nvPr/>
        </p:nvSpPr>
        <p:spPr>
          <a:xfrm>
            <a:off x="4892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62</a:t>
            </a:r>
            <a:endParaRPr/>
          </a:p>
        </p:txBody>
      </p:sp>
      <p:sp>
        <p:nvSpPr>
          <p:cNvPr id="2893" name="Google Shape;2893;p21"/>
          <p:cNvSpPr txBox="1"/>
          <p:nvPr/>
        </p:nvSpPr>
        <p:spPr>
          <a:xfrm>
            <a:off x="5577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48</a:t>
            </a:r>
            <a:endParaRPr/>
          </a:p>
        </p:txBody>
      </p:sp>
      <p:sp>
        <p:nvSpPr>
          <p:cNvPr id="2894" name="Google Shape;2894;p21"/>
          <p:cNvSpPr txBox="1"/>
          <p:nvPr/>
        </p:nvSpPr>
        <p:spPr>
          <a:xfrm>
            <a:off x="6263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83</a:t>
            </a:r>
            <a:endParaRPr/>
          </a:p>
        </p:txBody>
      </p:sp>
      <p:sp>
        <p:nvSpPr>
          <p:cNvPr id="2895" name="Google Shape;2895;p21"/>
          <p:cNvSpPr txBox="1"/>
          <p:nvPr/>
        </p:nvSpPr>
        <p:spPr>
          <a:xfrm>
            <a:off x="6949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55</a:t>
            </a:r>
            <a:endParaRPr/>
          </a:p>
        </p:txBody>
      </p:sp>
      <p:sp>
        <p:nvSpPr>
          <p:cNvPr id="2896" name="Google Shape;2896;p21"/>
          <p:cNvSpPr txBox="1"/>
          <p:nvPr/>
        </p:nvSpPr>
        <p:spPr>
          <a:xfrm>
            <a:off x="7635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97</a:t>
            </a:r>
            <a:endParaRPr/>
          </a:p>
        </p:txBody>
      </p:sp>
      <p:sp>
        <p:nvSpPr>
          <p:cNvPr id="2897" name="Google Shape;2897;p21"/>
          <p:cNvSpPr txBox="1"/>
          <p:nvPr/>
        </p:nvSpPr>
        <p:spPr>
          <a:xfrm>
            <a:off x="8321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82</a:t>
            </a:r>
            <a:endParaRPr/>
          </a:p>
        </p:txBody>
      </p:sp>
      <p:sp>
        <p:nvSpPr>
          <p:cNvPr id="2898" name="Google Shape;2898;p21"/>
          <p:cNvSpPr txBox="1"/>
          <p:nvPr/>
        </p:nvSpPr>
        <p:spPr>
          <a:xfrm>
            <a:off x="9006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2899" name="Google Shape;2899;p21"/>
          <p:cNvSpPr txBox="1"/>
          <p:nvPr/>
        </p:nvSpPr>
        <p:spPr>
          <a:xfrm>
            <a:off x="969264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355</a:t>
            </a:r>
            <a:endParaRPr/>
          </a:p>
        </p:txBody>
      </p:sp>
      <p:sp>
        <p:nvSpPr>
          <p:cNvPr id="2900" name="Google Shape;2900;p21"/>
          <p:cNvSpPr txBox="1"/>
          <p:nvPr/>
        </p:nvSpPr>
        <p:spPr>
          <a:xfrm>
            <a:off x="1088136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319</a:t>
            </a:r>
            <a:endParaRPr/>
          </a:p>
        </p:txBody>
      </p:sp>
      <p:sp>
        <p:nvSpPr>
          <p:cNvPr id="2901" name="Google Shape;2901;p21"/>
          <p:cNvSpPr txBox="1"/>
          <p:nvPr/>
        </p:nvSpPr>
        <p:spPr>
          <a:xfrm>
            <a:off x="365760" y="542239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Bound Premium</a:t>
            </a:r>
            <a:endParaRPr/>
          </a:p>
        </p:txBody>
      </p:sp>
      <p:sp>
        <p:nvSpPr>
          <p:cNvPr id="2902" name="Google Shape;2902;p21"/>
          <p:cNvSpPr txBox="1"/>
          <p:nvPr/>
        </p:nvSpPr>
        <p:spPr>
          <a:xfrm>
            <a:off x="1463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$55K</a:t>
            </a:r>
            <a:endParaRPr/>
          </a:p>
        </p:txBody>
      </p:sp>
      <p:sp>
        <p:nvSpPr>
          <p:cNvPr id="2903" name="Google Shape;2903;p21"/>
          <p:cNvSpPr txBox="1"/>
          <p:nvPr/>
        </p:nvSpPr>
        <p:spPr>
          <a:xfrm>
            <a:off x="2148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$36K</a:t>
            </a:r>
            <a:endParaRPr/>
          </a:p>
        </p:txBody>
      </p:sp>
      <p:sp>
        <p:nvSpPr>
          <p:cNvPr id="2904" name="Google Shape;2904;p21"/>
          <p:cNvSpPr txBox="1"/>
          <p:nvPr/>
        </p:nvSpPr>
        <p:spPr>
          <a:xfrm>
            <a:off x="2834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$56K</a:t>
            </a:r>
            <a:endParaRPr/>
          </a:p>
        </p:txBody>
      </p:sp>
      <p:sp>
        <p:nvSpPr>
          <p:cNvPr id="2905" name="Google Shape;2905;p21"/>
          <p:cNvSpPr txBox="1"/>
          <p:nvPr/>
        </p:nvSpPr>
        <p:spPr>
          <a:xfrm>
            <a:off x="3520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$31K</a:t>
            </a:r>
            <a:endParaRPr/>
          </a:p>
        </p:txBody>
      </p:sp>
      <p:sp>
        <p:nvSpPr>
          <p:cNvPr id="2906" name="Google Shape;2906;p21"/>
          <p:cNvSpPr txBox="1"/>
          <p:nvPr/>
        </p:nvSpPr>
        <p:spPr>
          <a:xfrm>
            <a:off x="4206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$258K</a:t>
            </a:r>
            <a:endParaRPr/>
          </a:p>
        </p:txBody>
      </p:sp>
      <p:sp>
        <p:nvSpPr>
          <p:cNvPr id="2907" name="Google Shape;2907;p21"/>
          <p:cNvSpPr txBox="1"/>
          <p:nvPr/>
        </p:nvSpPr>
        <p:spPr>
          <a:xfrm>
            <a:off x="4892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$129K</a:t>
            </a:r>
            <a:endParaRPr/>
          </a:p>
        </p:txBody>
      </p:sp>
      <p:sp>
        <p:nvSpPr>
          <p:cNvPr id="2908" name="Google Shape;2908;p21"/>
          <p:cNvSpPr txBox="1"/>
          <p:nvPr/>
        </p:nvSpPr>
        <p:spPr>
          <a:xfrm>
            <a:off x="5577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$12K</a:t>
            </a:r>
            <a:endParaRPr/>
          </a:p>
        </p:txBody>
      </p:sp>
      <p:sp>
        <p:nvSpPr>
          <p:cNvPr id="2909" name="Google Shape;2909;p21"/>
          <p:cNvSpPr txBox="1"/>
          <p:nvPr/>
        </p:nvSpPr>
        <p:spPr>
          <a:xfrm>
            <a:off x="6263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$109K</a:t>
            </a:r>
            <a:endParaRPr/>
          </a:p>
        </p:txBody>
      </p:sp>
      <p:sp>
        <p:nvSpPr>
          <p:cNvPr id="2910" name="Google Shape;2910;p21"/>
          <p:cNvSpPr txBox="1"/>
          <p:nvPr/>
        </p:nvSpPr>
        <p:spPr>
          <a:xfrm>
            <a:off x="6949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$76K</a:t>
            </a:r>
            <a:endParaRPr/>
          </a:p>
        </p:txBody>
      </p:sp>
      <p:sp>
        <p:nvSpPr>
          <p:cNvPr id="2911" name="Google Shape;2911;p21"/>
          <p:cNvSpPr txBox="1"/>
          <p:nvPr/>
        </p:nvSpPr>
        <p:spPr>
          <a:xfrm>
            <a:off x="7635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$303K</a:t>
            </a:r>
            <a:endParaRPr/>
          </a:p>
        </p:txBody>
      </p:sp>
      <p:sp>
        <p:nvSpPr>
          <p:cNvPr id="2912" name="Google Shape;2912;p21"/>
          <p:cNvSpPr txBox="1"/>
          <p:nvPr/>
        </p:nvSpPr>
        <p:spPr>
          <a:xfrm>
            <a:off x="8321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$224K</a:t>
            </a:r>
            <a:endParaRPr/>
          </a:p>
        </p:txBody>
      </p:sp>
      <p:sp>
        <p:nvSpPr>
          <p:cNvPr id="2913" name="Google Shape;2913;p21"/>
          <p:cNvSpPr txBox="1"/>
          <p:nvPr/>
        </p:nvSpPr>
        <p:spPr>
          <a:xfrm>
            <a:off x="9006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914" name="Google Shape;2914;p21"/>
          <p:cNvSpPr txBox="1"/>
          <p:nvPr/>
        </p:nvSpPr>
        <p:spPr>
          <a:xfrm>
            <a:off x="969264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$681K</a:t>
            </a:r>
            <a:endParaRPr/>
          </a:p>
        </p:txBody>
      </p:sp>
      <p:sp>
        <p:nvSpPr>
          <p:cNvPr id="2915" name="Google Shape;2915;p21"/>
          <p:cNvSpPr txBox="1"/>
          <p:nvPr/>
        </p:nvSpPr>
        <p:spPr>
          <a:xfrm>
            <a:off x="1088136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$609K</a:t>
            </a:r>
            <a:endParaRPr/>
          </a:p>
        </p:txBody>
      </p:sp>
      <p:sp>
        <p:nvSpPr>
          <p:cNvPr id="2916" name="Google Shape;2916;p21"/>
          <p:cNvSpPr/>
          <p:nvPr/>
        </p:nvSpPr>
        <p:spPr>
          <a:xfrm>
            <a:off x="365760" y="5678423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7" name="Google Shape;2917;p21"/>
          <p:cNvSpPr txBox="1"/>
          <p:nvPr/>
        </p:nvSpPr>
        <p:spPr>
          <a:xfrm>
            <a:off x="4572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65F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STRENGTHS - What's Working</a:t>
            </a:r>
            <a:endParaRPr/>
          </a:p>
        </p:txBody>
      </p:sp>
      <p:sp>
        <p:nvSpPr>
          <p:cNvPr id="2918" name="Google Shape;2918;p21"/>
          <p:cNvSpPr txBox="1"/>
          <p:nvPr/>
        </p:nvSpPr>
        <p:spPr>
          <a:xfrm>
            <a:off x="4572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2919" name="Google Shape;2919;p21"/>
          <p:cNvSpPr txBox="1"/>
          <p:nvPr/>
        </p:nvSpPr>
        <p:spPr>
          <a:xfrm>
            <a:off x="685800" y="5952743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$608,829 YTD gross written premium</a:t>
            </a:r>
            <a:endParaRPr/>
          </a:p>
        </p:txBody>
      </p:sp>
      <p:sp>
        <p:nvSpPr>
          <p:cNvPr id="2920" name="Google Shape;2920;p21"/>
          <p:cNvSpPr txBox="1"/>
          <p:nvPr/>
        </p:nvSpPr>
        <p:spPr>
          <a:xfrm>
            <a:off x="457200" y="6153911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2921" name="Google Shape;2921;p21"/>
          <p:cNvSpPr txBox="1"/>
          <p:nvPr/>
        </p:nvSpPr>
        <p:spPr>
          <a:xfrm>
            <a:off x="685800" y="6153911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$417,441 in new business production</a:t>
            </a:r>
            <a:endParaRPr/>
          </a:p>
        </p:txBody>
      </p:sp>
      <p:sp>
        <p:nvSpPr>
          <p:cNvPr id="2922" name="Google Shape;2922;p21"/>
          <p:cNvSpPr/>
          <p:nvPr/>
        </p:nvSpPr>
        <p:spPr>
          <a:xfrm>
            <a:off x="6309360" y="5678423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3" name="Google Shape;2923;p21"/>
          <p:cNvSpPr txBox="1"/>
          <p:nvPr/>
        </p:nvSpPr>
        <p:spPr>
          <a:xfrm>
            <a:off x="64008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NEEDS ATTENTION</a:t>
            </a:r>
            <a:endParaRPr/>
          </a:p>
        </p:txBody>
      </p:sp>
      <p:sp>
        <p:nvSpPr>
          <p:cNvPr id="2924" name="Google Shape;2924;p21"/>
          <p:cNvSpPr txBox="1"/>
          <p:nvPr/>
        </p:nvSpPr>
        <p:spPr>
          <a:xfrm>
            <a:off x="64008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2925" name="Google Shape;2925;p21"/>
          <p:cNvSpPr txBox="1"/>
          <p:nvPr/>
        </p:nvSpPr>
        <p:spPr>
          <a:xfrm>
            <a:off x="6629400" y="5952743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 at 56% of new business ($233,032)</a:t>
            </a:r>
            <a:endParaRPr/>
          </a:p>
        </p:txBody>
      </p:sp>
      <p:sp>
        <p:nvSpPr>
          <p:cNvPr id="2926" name="Google Shape;2926;p21"/>
          <p:cNvSpPr/>
          <p:nvPr/>
        </p:nvSpPr>
        <p:spPr>
          <a:xfrm>
            <a:off x="365760" y="6455663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7" name="Google Shape;2927;p21"/>
          <p:cNvSpPr txBox="1"/>
          <p:nvPr/>
        </p:nvSpPr>
        <p:spPr>
          <a:xfrm>
            <a:off x="457200" y="6464807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STRATEGIC SALES TIPS - Conversation Starters</a:t>
            </a:r>
            <a:endParaRPr/>
          </a:p>
        </p:txBody>
      </p:sp>
      <p:sp>
        <p:nvSpPr>
          <p:cNvPr id="2928" name="Google Shape;2928;p21"/>
          <p:cNvSpPr txBox="1"/>
          <p:nvPr/>
        </p:nvSpPr>
        <p:spPr>
          <a:xfrm>
            <a:off x="457200" y="6711695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endParaRPr/>
          </a:p>
        </p:txBody>
      </p:sp>
      <p:sp>
        <p:nvSpPr>
          <p:cNvPr id="2929" name="Google Shape;2929;p21"/>
          <p:cNvSpPr txBox="1"/>
          <p:nvPr/>
        </p:nvSpPr>
        <p:spPr>
          <a:xfrm>
            <a:off x="777240" y="6711695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Acknowledge their $417,441 in new business. Ask: "What types of accounts are you seeing the most success with?" Use this to identify more of their book that fits our appetite.</a:t>
            </a:r>
            <a:endParaRPr/>
          </a:p>
        </p:txBody>
      </p:sp>
      <p:sp>
        <p:nvSpPr>
          <p:cNvPr id="2930" name="Google Shape;2930;p21"/>
          <p:cNvSpPr txBox="1"/>
          <p:nvPr/>
        </p:nvSpPr>
        <p:spPr>
          <a:xfrm>
            <a:off x="457200" y="6949439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endParaRPr/>
          </a:p>
        </p:txBody>
      </p:sp>
      <p:sp>
        <p:nvSpPr>
          <p:cNvPr id="2931" name="Google Shape;2931;p21"/>
          <p:cNvSpPr txBox="1"/>
          <p:nvPr/>
        </p:nvSpPr>
        <p:spPr>
          <a:xfrm>
            <a:off x="777240" y="6949439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Address the $233,032 in cancellations. Ask: "Are we losing these to price, service, or coverage?" Proactive retention discussions can protect the book and strengthen the relationship.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35" name="Shape 2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6" name="Google Shape;2936;p2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7" name="Google Shape;2937;p2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Stone Era Insurance Agency</a:t>
            </a:r>
            <a:endParaRPr/>
          </a:p>
        </p:txBody>
      </p:sp>
      <p:sp>
        <p:nvSpPr>
          <p:cNvPr id="2938" name="Google Shape;2938;p22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4B5F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Tier: Tier 2  |  Region: Southeast  |  State: FL  |  City: Naples</a:t>
            </a:r>
            <a:endParaRPr/>
          </a:p>
        </p:txBody>
      </p:sp>
      <p:sp>
        <p:nvSpPr>
          <p:cNvPr id="2939" name="Google Shape;2939;p22"/>
          <p:cNvSpPr/>
          <p:nvPr/>
        </p:nvSpPr>
        <p:spPr>
          <a:xfrm>
            <a:off x="22860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$429,456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YTD GWP</a:t>
            </a:r>
            <a:endParaRPr/>
          </a:p>
        </p:txBody>
      </p:sp>
      <p:sp>
        <p:nvSpPr>
          <p:cNvPr id="2940" name="Google Shape;2940;p22"/>
          <p:cNvSpPr/>
          <p:nvPr/>
        </p:nvSpPr>
        <p:spPr>
          <a:xfrm>
            <a:off x="256032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$343,460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2941" name="Google Shape;2941;p22"/>
          <p:cNvSpPr/>
          <p:nvPr/>
        </p:nvSpPr>
        <p:spPr>
          <a:xfrm>
            <a:off x="489204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$96,326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2942" name="Google Shape;2942;p22"/>
          <p:cNvSpPr/>
          <p:nvPr/>
        </p:nvSpPr>
        <p:spPr>
          <a:xfrm>
            <a:off x="7223759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$-10,330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2943" name="Google Shape;2943;p22"/>
          <p:cNvSpPr/>
          <p:nvPr/>
        </p:nvSpPr>
        <p:spPr>
          <a:xfrm>
            <a:off x="955548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2944" name="Google Shape;2944;p22"/>
          <p:cNvSpPr/>
          <p:nvPr/>
        </p:nvSpPr>
        <p:spPr>
          <a:xfrm>
            <a:off x="137160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$173,908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2025 Full Year GWP</a:t>
            </a:r>
            <a:endParaRPr/>
          </a:p>
        </p:txBody>
      </p:sp>
      <p:sp>
        <p:nvSpPr>
          <p:cNvPr id="2945" name="Google Shape;2945;p22"/>
          <p:cNvSpPr/>
          <p:nvPr/>
        </p:nvSpPr>
        <p:spPr>
          <a:xfrm>
            <a:off x="1627631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$603,364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Rolling 12M GWP</a:t>
            </a:r>
            <a:endParaRPr/>
          </a:p>
        </p:txBody>
      </p:sp>
      <p:sp>
        <p:nvSpPr>
          <p:cNvPr id="2946" name="Google Shape;2946;p22"/>
          <p:cNvSpPr/>
          <p:nvPr/>
        </p:nvSpPr>
        <p:spPr>
          <a:xfrm>
            <a:off x="3118103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206%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% to Goal</a:t>
            </a:r>
            <a:endParaRPr/>
          </a:p>
        </p:txBody>
      </p:sp>
      <p:sp>
        <p:nvSpPr>
          <p:cNvPr id="2947" name="Google Shape;2947;p22"/>
          <p:cNvSpPr/>
          <p:nvPr/>
        </p:nvSpPr>
        <p:spPr>
          <a:xfrm>
            <a:off x="4608576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128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2948" name="Google Shape;2948;p22"/>
          <p:cNvSpPr/>
          <p:nvPr/>
        </p:nvSpPr>
        <p:spPr>
          <a:xfrm>
            <a:off x="6099048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2949" name="Google Shape;2949;p22"/>
          <p:cNvSpPr/>
          <p:nvPr/>
        </p:nvSpPr>
        <p:spPr>
          <a:xfrm>
            <a:off x="7589519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3.9%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2950" name="Google Shape;2950;p22"/>
          <p:cNvSpPr/>
          <p:nvPr/>
        </p:nvSpPr>
        <p:spPr>
          <a:xfrm>
            <a:off x="9079992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$142,923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 Bound Prem</a:t>
            </a:r>
            <a:endParaRPr/>
          </a:p>
        </p:txBody>
      </p:sp>
      <p:sp>
        <p:nvSpPr>
          <p:cNvPr id="2951" name="Google Shape;2951;p22"/>
          <p:cNvSpPr/>
          <p:nvPr/>
        </p:nvSpPr>
        <p:spPr>
          <a:xfrm>
            <a:off x="10570464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$117,591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NF Bound Prem</a:t>
            </a:r>
            <a:endParaRPr/>
          </a:p>
        </p:txBody>
      </p:sp>
      <p:sp>
        <p:nvSpPr>
          <p:cNvPr id="2952" name="Google Shape;2952;p22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3" name="Google Shape;2953;p22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PRODUCTION BY MONTH</a:t>
            </a:r>
            <a:endParaRPr/>
          </a:p>
        </p:txBody>
      </p:sp>
      <p:sp>
        <p:nvSpPr>
          <p:cNvPr id="2954" name="Google Shape;2954;p22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2955" name="Google Shape;2955;p22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Written Premium</a:t>
            </a:r>
            <a:endParaRPr/>
          </a:p>
        </p:txBody>
      </p:sp>
      <p:sp>
        <p:nvSpPr>
          <p:cNvPr id="2956" name="Google Shape;2956;p22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2957" name="Google Shape;2957;p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2958" name="Google Shape;2958;p22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2959" name="Google Shape;2959;p22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2960" name="Google Shape;2960;p22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1" name="Google Shape;2961;p22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2962" name="Google Shape;2962;p22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963" name="Google Shape;2963;p22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964" name="Google Shape;2964;p22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965" name="Google Shape;2965;p22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966" name="Google Shape;2966;p22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967" name="Google Shape;2967;p2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8" name="Google Shape;2968;p22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2969" name="Google Shape;2969;p22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$142,651</a:t>
            </a:r>
            <a:endParaRPr/>
          </a:p>
        </p:txBody>
      </p:sp>
      <p:sp>
        <p:nvSpPr>
          <p:cNvPr id="2970" name="Google Shape;2970;p22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$142,651</a:t>
            </a:r>
            <a:endParaRPr/>
          </a:p>
        </p:txBody>
      </p:sp>
      <p:sp>
        <p:nvSpPr>
          <p:cNvPr id="2971" name="Google Shape;2971;p22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972" name="Google Shape;2972;p22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973" name="Google Shape;2973;p22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974" name="Google Shape;2974;p22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5" name="Google Shape;2975;p22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2976" name="Google Shape;2976;p22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$94,328</a:t>
            </a:r>
            <a:endParaRPr/>
          </a:p>
        </p:txBody>
      </p:sp>
      <p:sp>
        <p:nvSpPr>
          <p:cNvPr id="2977" name="Google Shape;2977;p2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$96,952</a:t>
            </a:r>
            <a:endParaRPr/>
          </a:p>
        </p:txBody>
      </p:sp>
      <p:sp>
        <p:nvSpPr>
          <p:cNvPr id="2978" name="Google Shape;2978;p22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$20,262</a:t>
            </a:r>
            <a:endParaRPr/>
          </a:p>
        </p:txBody>
      </p:sp>
      <p:sp>
        <p:nvSpPr>
          <p:cNvPr id="2979" name="Google Shape;2979;p22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$-22,886</a:t>
            </a:r>
            <a:endParaRPr/>
          </a:p>
        </p:txBody>
      </p:sp>
      <p:sp>
        <p:nvSpPr>
          <p:cNvPr id="2980" name="Google Shape;2980;p22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981" name="Google Shape;2981;p22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2" name="Google Shape;2982;p22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2983" name="Google Shape;2983;p22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$57,581</a:t>
            </a:r>
            <a:endParaRPr/>
          </a:p>
        </p:txBody>
      </p:sp>
      <p:sp>
        <p:nvSpPr>
          <p:cNvPr id="2984" name="Google Shape;2984;p22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985" name="Google Shape;2985;p22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$56,526</a:t>
            </a:r>
            <a:endParaRPr/>
          </a:p>
        </p:txBody>
      </p:sp>
      <p:sp>
        <p:nvSpPr>
          <p:cNvPr id="2986" name="Google Shape;2986;p22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$1,055</a:t>
            </a:r>
            <a:endParaRPr/>
          </a:p>
        </p:txBody>
      </p:sp>
      <p:sp>
        <p:nvSpPr>
          <p:cNvPr id="2987" name="Google Shape;2987;p2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988" name="Google Shape;2988;p22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9" name="Google Shape;2989;p22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2990" name="Google Shape;2990;p22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$134,897</a:t>
            </a:r>
            <a:endParaRPr/>
          </a:p>
        </p:txBody>
      </p:sp>
      <p:sp>
        <p:nvSpPr>
          <p:cNvPr id="2991" name="Google Shape;2991;p22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$103,857</a:t>
            </a:r>
            <a:endParaRPr/>
          </a:p>
        </p:txBody>
      </p:sp>
      <p:sp>
        <p:nvSpPr>
          <p:cNvPr id="2992" name="Google Shape;2992;p22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$19,539</a:t>
            </a:r>
            <a:endParaRPr/>
          </a:p>
        </p:txBody>
      </p:sp>
      <p:sp>
        <p:nvSpPr>
          <p:cNvPr id="2993" name="Google Shape;2993;p22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$11,502</a:t>
            </a:r>
            <a:endParaRPr/>
          </a:p>
        </p:txBody>
      </p:sp>
      <p:sp>
        <p:nvSpPr>
          <p:cNvPr id="2994" name="Google Shape;2994;p22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995" name="Google Shape;2995;p22"/>
          <p:cNvSpPr/>
          <p:nvPr/>
        </p:nvSpPr>
        <p:spPr>
          <a:xfrm>
            <a:off x="365760" y="4123944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6" name="Google Shape;2996;p22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2997" name="Google Shape;2997;p2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998" name="Google Shape;2998;p22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2999" name="Google Shape;2999;p22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000" name="Google Shape;3000;p22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001" name="Google Shape;3001;p22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002" name="Google Shape;3002;p22"/>
          <p:cNvSpPr/>
          <p:nvPr/>
        </p:nvSpPr>
        <p:spPr>
          <a:xfrm>
            <a:off x="365760" y="4425696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3" name="Google Shape;3003;p22"/>
          <p:cNvSpPr txBox="1"/>
          <p:nvPr/>
        </p:nvSpPr>
        <p:spPr>
          <a:xfrm>
            <a:off x="3657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3004" name="Google Shape;3004;p22"/>
          <p:cNvSpPr txBox="1"/>
          <p:nvPr/>
        </p:nvSpPr>
        <p:spPr>
          <a:xfrm>
            <a:off x="1280160" y="446227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$429,456</a:t>
            </a:r>
            <a:endParaRPr/>
          </a:p>
        </p:txBody>
      </p:sp>
      <p:sp>
        <p:nvSpPr>
          <p:cNvPr id="3005" name="Google Shape;3005;p22"/>
          <p:cNvSpPr txBox="1"/>
          <p:nvPr/>
        </p:nvSpPr>
        <p:spPr>
          <a:xfrm>
            <a:off x="2377439" y="446227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$343,460</a:t>
            </a:r>
            <a:endParaRPr/>
          </a:p>
        </p:txBody>
      </p:sp>
      <p:sp>
        <p:nvSpPr>
          <p:cNvPr id="3006" name="Google Shape;3006;p22"/>
          <p:cNvSpPr txBox="1"/>
          <p:nvPr/>
        </p:nvSpPr>
        <p:spPr>
          <a:xfrm>
            <a:off x="33832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$96,326</a:t>
            </a:r>
            <a:endParaRPr/>
          </a:p>
        </p:txBody>
      </p:sp>
      <p:sp>
        <p:nvSpPr>
          <p:cNvPr id="3007" name="Google Shape;3007;p22"/>
          <p:cNvSpPr txBox="1"/>
          <p:nvPr/>
        </p:nvSpPr>
        <p:spPr>
          <a:xfrm>
            <a:off x="42976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$-10,330</a:t>
            </a:r>
            <a:endParaRPr/>
          </a:p>
        </p:txBody>
      </p:sp>
      <p:sp>
        <p:nvSpPr>
          <p:cNvPr id="3008" name="Google Shape;3008;p22"/>
          <p:cNvSpPr txBox="1"/>
          <p:nvPr/>
        </p:nvSpPr>
        <p:spPr>
          <a:xfrm>
            <a:off x="52120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009" name="Google Shape;3009;p22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0" name="Google Shape;3010;p22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 &amp; PIPELINE</a:t>
            </a:r>
            <a:endParaRPr/>
          </a:p>
        </p:txBody>
      </p:sp>
      <p:sp>
        <p:nvSpPr>
          <p:cNvPr id="3011" name="Google Shape;3011;p22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3012" name="Google Shape;3012;p22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Subs</a:t>
            </a:r>
            <a:endParaRPr/>
          </a:p>
        </p:txBody>
      </p:sp>
      <p:sp>
        <p:nvSpPr>
          <p:cNvPr id="3013" name="Google Shape;3013;p22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</a:t>
            </a:r>
            <a:endParaRPr/>
          </a:p>
        </p:txBody>
      </p:sp>
      <p:sp>
        <p:nvSpPr>
          <p:cNvPr id="3014" name="Google Shape;3014;p2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Non-Fleet</a:t>
            </a:r>
            <a:endParaRPr/>
          </a:p>
        </p:txBody>
      </p:sp>
      <p:sp>
        <p:nvSpPr>
          <p:cNvPr id="3015" name="Google Shape;3015;p22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3016" name="Google Shape;3016;p22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3017" name="Google Shape;3017;p22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8" name="Google Shape;3018;p22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3019" name="Google Shape;3019;p22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</a:t>
            </a:r>
            <a:endParaRPr/>
          </a:p>
        </p:txBody>
      </p:sp>
      <p:sp>
        <p:nvSpPr>
          <p:cNvPr id="3020" name="Google Shape;3020;p22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3021" name="Google Shape;3021;p22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</a:t>
            </a:r>
            <a:endParaRPr/>
          </a:p>
        </p:txBody>
      </p:sp>
      <p:sp>
        <p:nvSpPr>
          <p:cNvPr id="3022" name="Google Shape;3022;p22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3023" name="Google Shape;3023;p22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15.4%</a:t>
            </a:r>
            <a:endParaRPr/>
          </a:p>
        </p:txBody>
      </p:sp>
      <p:sp>
        <p:nvSpPr>
          <p:cNvPr id="3024" name="Google Shape;3024;p2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5" name="Google Shape;3025;p22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3026" name="Google Shape;3026;p22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</a:t>
            </a:r>
            <a:endParaRPr/>
          </a:p>
        </p:txBody>
      </p:sp>
      <p:sp>
        <p:nvSpPr>
          <p:cNvPr id="3027" name="Google Shape;3027;p22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3028" name="Google Shape;3028;p22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</a:t>
            </a:r>
            <a:endParaRPr/>
          </a:p>
        </p:txBody>
      </p:sp>
      <p:sp>
        <p:nvSpPr>
          <p:cNvPr id="3029" name="Google Shape;3029;p22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3030" name="Google Shape;3030;p22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13.3%</a:t>
            </a:r>
            <a:endParaRPr/>
          </a:p>
        </p:txBody>
      </p:sp>
      <p:sp>
        <p:nvSpPr>
          <p:cNvPr id="3031" name="Google Shape;3031;p22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2" name="Google Shape;3032;p22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3033" name="Google Shape;3033;p22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24</a:t>
            </a:r>
            <a:endParaRPr/>
          </a:p>
        </p:txBody>
      </p:sp>
      <p:sp>
        <p:nvSpPr>
          <p:cNvPr id="3034" name="Google Shape;3034;p2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</a:t>
            </a:r>
            <a:endParaRPr/>
          </a:p>
        </p:txBody>
      </p:sp>
      <p:sp>
        <p:nvSpPr>
          <p:cNvPr id="3035" name="Google Shape;3035;p22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</a:t>
            </a:r>
            <a:endParaRPr/>
          </a:p>
        </p:txBody>
      </p:sp>
      <p:sp>
        <p:nvSpPr>
          <p:cNvPr id="3036" name="Google Shape;3036;p22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3037" name="Google Shape;3037;p22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16.7%</a:t>
            </a:r>
            <a:endParaRPr/>
          </a:p>
        </p:txBody>
      </p:sp>
      <p:sp>
        <p:nvSpPr>
          <p:cNvPr id="3038" name="Google Shape;3038;p22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9" name="Google Shape;3039;p22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3040" name="Google Shape;3040;p22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41</a:t>
            </a:r>
            <a:endParaRPr/>
          </a:p>
        </p:txBody>
      </p:sp>
      <p:sp>
        <p:nvSpPr>
          <p:cNvPr id="3041" name="Google Shape;3041;p22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3042" name="Google Shape;3042;p22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36</a:t>
            </a:r>
            <a:endParaRPr/>
          </a:p>
        </p:txBody>
      </p:sp>
      <p:sp>
        <p:nvSpPr>
          <p:cNvPr id="3043" name="Google Shape;3043;p22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3044" name="Google Shape;3044;p2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7.3%</a:t>
            </a:r>
            <a:endParaRPr/>
          </a:p>
        </p:txBody>
      </p:sp>
      <p:sp>
        <p:nvSpPr>
          <p:cNvPr id="3045" name="Google Shape;3045;p22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6" name="Google Shape;3046;p22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3047" name="Google Shape;3047;p22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46</a:t>
            </a:r>
            <a:endParaRPr/>
          </a:p>
        </p:txBody>
      </p:sp>
      <p:sp>
        <p:nvSpPr>
          <p:cNvPr id="3048" name="Google Shape;3048;p22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</a:t>
            </a:r>
            <a:endParaRPr/>
          </a:p>
        </p:txBody>
      </p:sp>
      <p:sp>
        <p:nvSpPr>
          <p:cNvPr id="3049" name="Google Shape;3049;p22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34</a:t>
            </a:r>
            <a:endParaRPr/>
          </a:p>
        </p:txBody>
      </p:sp>
      <p:sp>
        <p:nvSpPr>
          <p:cNvPr id="3050" name="Google Shape;3050;p22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3051" name="Google Shape;3051;p22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6.5%</a:t>
            </a:r>
            <a:endParaRPr/>
          </a:p>
        </p:txBody>
      </p:sp>
      <p:sp>
        <p:nvSpPr>
          <p:cNvPr id="3052" name="Google Shape;3052;p22"/>
          <p:cNvSpPr/>
          <p:nvPr/>
        </p:nvSpPr>
        <p:spPr>
          <a:xfrm>
            <a:off x="6309360" y="4123944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3" name="Google Shape;3053;p22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3054" name="Google Shape;3054;p2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3055" name="Google Shape;3055;p22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3056" name="Google Shape;3056;p22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3057" name="Google Shape;3057;p22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3058" name="Google Shape;3058;p22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3059" name="Google Shape;3059;p22"/>
          <p:cNvSpPr/>
          <p:nvPr/>
        </p:nvSpPr>
        <p:spPr>
          <a:xfrm>
            <a:off x="6309360" y="4425696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0" name="Google Shape;3060;p22"/>
          <p:cNvSpPr txBox="1"/>
          <p:nvPr/>
        </p:nvSpPr>
        <p:spPr>
          <a:xfrm>
            <a:off x="63093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3061" name="Google Shape;3061;p22"/>
          <p:cNvSpPr txBox="1"/>
          <p:nvPr/>
        </p:nvSpPr>
        <p:spPr>
          <a:xfrm>
            <a:off x="722376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128</a:t>
            </a:r>
            <a:endParaRPr/>
          </a:p>
        </p:txBody>
      </p:sp>
      <p:sp>
        <p:nvSpPr>
          <p:cNvPr id="3062" name="Google Shape;3062;p22"/>
          <p:cNvSpPr txBox="1"/>
          <p:nvPr/>
        </p:nvSpPr>
        <p:spPr>
          <a:xfrm>
            <a:off x="804672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23</a:t>
            </a:r>
            <a:endParaRPr/>
          </a:p>
        </p:txBody>
      </p:sp>
      <p:sp>
        <p:nvSpPr>
          <p:cNvPr id="3063" name="Google Shape;3063;p22"/>
          <p:cNvSpPr txBox="1"/>
          <p:nvPr/>
        </p:nvSpPr>
        <p:spPr>
          <a:xfrm>
            <a:off x="886968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105</a:t>
            </a:r>
            <a:endParaRPr/>
          </a:p>
        </p:txBody>
      </p:sp>
      <p:sp>
        <p:nvSpPr>
          <p:cNvPr id="3064" name="Google Shape;3064;p22"/>
          <p:cNvSpPr txBox="1"/>
          <p:nvPr/>
        </p:nvSpPr>
        <p:spPr>
          <a:xfrm>
            <a:off x="978408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3065" name="Google Shape;3065;p22"/>
          <p:cNvSpPr txBox="1"/>
          <p:nvPr/>
        </p:nvSpPr>
        <p:spPr>
          <a:xfrm>
            <a:off x="1060704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3.9%</a:t>
            </a:r>
            <a:endParaRPr/>
          </a:p>
        </p:txBody>
      </p:sp>
      <p:sp>
        <p:nvSpPr>
          <p:cNvPr id="3066" name="Google Shape;3066;p22"/>
          <p:cNvSpPr/>
          <p:nvPr/>
        </p:nvSpPr>
        <p:spPr>
          <a:xfrm>
            <a:off x="365760" y="4782312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7" name="Google Shape;3067;p22"/>
          <p:cNvSpPr txBox="1"/>
          <p:nvPr/>
        </p:nvSpPr>
        <p:spPr>
          <a:xfrm>
            <a:off x="457200" y="4800599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YOY COMPARISON — Jan–Jun 2025 vs Jan–Jun 2026</a:t>
            </a:r>
            <a:endParaRPr/>
          </a:p>
        </p:txBody>
      </p:sp>
      <p:sp>
        <p:nvSpPr>
          <p:cNvPr id="3068" name="Google Shape;3068;p22"/>
          <p:cNvSpPr txBox="1"/>
          <p:nvPr/>
        </p:nvSpPr>
        <p:spPr>
          <a:xfrm>
            <a:off x="365760" y="5056631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00" u="none" cap="none" strike="noStrike">
              <a:solidFill>
                <a:srgbClr val="6B728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069" name="Google Shape;3069;p22"/>
          <p:cNvSpPr txBox="1"/>
          <p:nvPr/>
        </p:nvSpPr>
        <p:spPr>
          <a:xfrm>
            <a:off x="1463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'25</a:t>
            </a:r>
            <a:endParaRPr/>
          </a:p>
        </p:txBody>
      </p:sp>
      <p:sp>
        <p:nvSpPr>
          <p:cNvPr id="3070" name="Google Shape;3070;p22"/>
          <p:cNvSpPr txBox="1"/>
          <p:nvPr/>
        </p:nvSpPr>
        <p:spPr>
          <a:xfrm>
            <a:off x="2148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'26</a:t>
            </a:r>
            <a:endParaRPr/>
          </a:p>
        </p:txBody>
      </p:sp>
      <p:sp>
        <p:nvSpPr>
          <p:cNvPr id="3071" name="Google Shape;3071;p22"/>
          <p:cNvSpPr txBox="1"/>
          <p:nvPr/>
        </p:nvSpPr>
        <p:spPr>
          <a:xfrm>
            <a:off x="2834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'25</a:t>
            </a:r>
            <a:endParaRPr/>
          </a:p>
        </p:txBody>
      </p:sp>
      <p:sp>
        <p:nvSpPr>
          <p:cNvPr id="3072" name="Google Shape;3072;p22"/>
          <p:cNvSpPr txBox="1"/>
          <p:nvPr/>
        </p:nvSpPr>
        <p:spPr>
          <a:xfrm>
            <a:off x="3520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'26</a:t>
            </a:r>
            <a:endParaRPr/>
          </a:p>
        </p:txBody>
      </p:sp>
      <p:sp>
        <p:nvSpPr>
          <p:cNvPr id="3073" name="Google Shape;3073;p22"/>
          <p:cNvSpPr txBox="1"/>
          <p:nvPr/>
        </p:nvSpPr>
        <p:spPr>
          <a:xfrm>
            <a:off x="4206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'25</a:t>
            </a:r>
            <a:endParaRPr/>
          </a:p>
        </p:txBody>
      </p:sp>
      <p:sp>
        <p:nvSpPr>
          <p:cNvPr id="3074" name="Google Shape;3074;p22"/>
          <p:cNvSpPr txBox="1"/>
          <p:nvPr/>
        </p:nvSpPr>
        <p:spPr>
          <a:xfrm>
            <a:off x="4892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'26</a:t>
            </a:r>
            <a:endParaRPr/>
          </a:p>
        </p:txBody>
      </p:sp>
      <p:sp>
        <p:nvSpPr>
          <p:cNvPr id="3075" name="Google Shape;3075;p22"/>
          <p:cNvSpPr txBox="1"/>
          <p:nvPr/>
        </p:nvSpPr>
        <p:spPr>
          <a:xfrm>
            <a:off x="5577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'25</a:t>
            </a:r>
            <a:endParaRPr/>
          </a:p>
        </p:txBody>
      </p:sp>
      <p:sp>
        <p:nvSpPr>
          <p:cNvPr id="3076" name="Google Shape;3076;p22"/>
          <p:cNvSpPr txBox="1"/>
          <p:nvPr/>
        </p:nvSpPr>
        <p:spPr>
          <a:xfrm>
            <a:off x="6263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'26</a:t>
            </a:r>
            <a:endParaRPr/>
          </a:p>
        </p:txBody>
      </p:sp>
      <p:sp>
        <p:nvSpPr>
          <p:cNvPr id="3077" name="Google Shape;3077;p22"/>
          <p:cNvSpPr txBox="1"/>
          <p:nvPr/>
        </p:nvSpPr>
        <p:spPr>
          <a:xfrm>
            <a:off x="6949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'25</a:t>
            </a:r>
            <a:endParaRPr/>
          </a:p>
        </p:txBody>
      </p:sp>
      <p:sp>
        <p:nvSpPr>
          <p:cNvPr id="3078" name="Google Shape;3078;p22"/>
          <p:cNvSpPr txBox="1"/>
          <p:nvPr/>
        </p:nvSpPr>
        <p:spPr>
          <a:xfrm>
            <a:off x="7635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'26</a:t>
            </a:r>
            <a:endParaRPr/>
          </a:p>
        </p:txBody>
      </p:sp>
      <p:sp>
        <p:nvSpPr>
          <p:cNvPr id="3079" name="Google Shape;3079;p22"/>
          <p:cNvSpPr txBox="1"/>
          <p:nvPr/>
        </p:nvSpPr>
        <p:spPr>
          <a:xfrm>
            <a:off x="8321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'25</a:t>
            </a:r>
            <a:endParaRPr/>
          </a:p>
        </p:txBody>
      </p:sp>
      <p:sp>
        <p:nvSpPr>
          <p:cNvPr id="3080" name="Google Shape;3080;p22"/>
          <p:cNvSpPr txBox="1"/>
          <p:nvPr/>
        </p:nvSpPr>
        <p:spPr>
          <a:xfrm>
            <a:off x="9006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'26</a:t>
            </a:r>
            <a:endParaRPr/>
          </a:p>
        </p:txBody>
      </p:sp>
      <p:sp>
        <p:nvSpPr>
          <p:cNvPr id="3081" name="Google Shape;3081;p22"/>
          <p:cNvSpPr txBox="1"/>
          <p:nvPr/>
        </p:nvSpPr>
        <p:spPr>
          <a:xfrm>
            <a:off x="969264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'25 Tot</a:t>
            </a:r>
            <a:endParaRPr/>
          </a:p>
        </p:txBody>
      </p:sp>
      <p:sp>
        <p:nvSpPr>
          <p:cNvPr id="3082" name="Google Shape;3082;p22"/>
          <p:cNvSpPr txBox="1"/>
          <p:nvPr/>
        </p:nvSpPr>
        <p:spPr>
          <a:xfrm>
            <a:off x="1088136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'26 Tot</a:t>
            </a:r>
            <a:endParaRPr/>
          </a:p>
        </p:txBody>
      </p:sp>
      <p:sp>
        <p:nvSpPr>
          <p:cNvPr id="3083" name="Google Shape;3083;p22"/>
          <p:cNvSpPr txBox="1"/>
          <p:nvPr/>
        </p:nvSpPr>
        <p:spPr>
          <a:xfrm>
            <a:off x="365760" y="523951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3084" name="Google Shape;3084;p22"/>
          <p:cNvSpPr txBox="1"/>
          <p:nvPr/>
        </p:nvSpPr>
        <p:spPr>
          <a:xfrm>
            <a:off x="1463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3085" name="Google Shape;3085;p22"/>
          <p:cNvSpPr txBox="1"/>
          <p:nvPr/>
        </p:nvSpPr>
        <p:spPr>
          <a:xfrm>
            <a:off x="2148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</a:t>
            </a:r>
            <a:endParaRPr/>
          </a:p>
        </p:txBody>
      </p:sp>
      <p:sp>
        <p:nvSpPr>
          <p:cNvPr id="3086" name="Google Shape;3086;p22"/>
          <p:cNvSpPr txBox="1"/>
          <p:nvPr/>
        </p:nvSpPr>
        <p:spPr>
          <a:xfrm>
            <a:off x="2834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3087" name="Google Shape;3087;p22"/>
          <p:cNvSpPr txBox="1"/>
          <p:nvPr/>
        </p:nvSpPr>
        <p:spPr>
          <a:xfrm>
            <a:off x="3520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</a:t>
            </a:r>
            <a:endParaRPr/>
          </a:p>
        </p:txBody>
      </p:sp>
      <p:sp>
        <p:nvSpPr>
          <p:cNvPr id="3088" name="Google Shape;3088;p22"/>
          <p:cNvSpPr txBox="1"/>
          <p:nvPr/>
        </p:nvSpPr>
        <p:spPr>
          <a:xfrm>
            <a:off x="4206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3089" name="Google Shape;3089;p22"/>
          <p:cNvSpPr txBox="1"/>
          <p:nvPr/>
        </p:nvSpPr>
        <p:spPr>
          <a:xfrm>
            <a:off x="4892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24</a:t>
            </a:r>
            <a:endParaRPr/>
          </a:p>
        </p:txBody>
      </p:sp>
      <p:sp>
        <p:nvSpPr>
          <p:cNvPr id="3090" name="Google Shape;3090;p22"/>
          <p:cNvSpPr txBox="1"/>
          <p:nvPr/>
        </p:nvSpPr>
        <p:spPr>
          <a:xfrm>
            <a:off x="5577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3091" name="Google Shape;3091;p22"/>
          <p:cNvSpPr txBox="1"/>
          <p:nvPr/>
        </p:nvSpPr>
        <p:spPr>
          <a:xfrm>
            <a:off x="6263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41</a:t>
            </a:r>
            <a:endParaRPr/>
          </a:p>
        </p:txBody>
      </p:sp>
      <p:sp>
        <p:nvSpPr>
          <p:cNvPr id="3092" name="Google Shape;3092;p22"/>
          <p:cNvSpPr txBox="1"/>
          <p:nvPr/>
        </p:nvSpPr>
        <p:spPr>
          <a:xfrm>
            <a:off x="6949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3093" name="Google Shape;3093;p22"/>
          <p:cNvSpPr txBox="1"/>
          <p:nvPr/>
        </p:nvSpPr>
        <p:spPr>
          <a:xfrm>
            <a:off x="7635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46</a:t>
            </a:r>
            <a:endParaRPr/>
          </a:p>
        </p:txBody>
      </p:sp>
      <p:sp>
        <p:nvSpPr>
          <p:cNvPr id="3094" name="Google Shape;3094;p22"/>
          <p:cNvSpPr txBox="1"/>
          <p:nvPr/>
        </p:nvSpPr>
        <p:spPr>
          <a:xfrm>
            <a:off x="8321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3095" name="Google Shape;3095;p22"/>
          <p:cNvSpPr txBox="1"/>
          <p:nvPr/>
        </p:nvSpPr>
        <p:spPr>
          <a:xfrm>
            <a:off x="9006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3096" name="Google Shape;3096;p22"/>
          <p:cNvSpPr txBox="1"/>
          <p:nvPr/>
        </p:nvSpPr>
        <p:spPr>
          <a:xfrm>
            <a:off x="969264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3097" name="Google Shape;3097;p22"/>
          <p:cNvSpPr txBox="1"/>
          <p:nvPr/>
        </p:nvSpPr>
        <p:spPr>
          <a:xfrm>
            <a:off x="1088136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139</a:t>
            </a:r>
            <a:endParaRPr/>
          </a:p>
        </p:txBody>
      </p:sp>
      <p:sp>
        <p:nvSpPr>
          <p:cNvPr id="3098" name="Google Shape;3098;p22"/>
          <p:cNvSpPr txBox="1"/>
          <p:nvPr/>
        </p:nvSpPr>
        <p:spPr>
          <a:xfrm>
            <a:off x="365760" y="542239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Bound Premium</a:t>
            </a:r>
            <a:endParaRPr/>
          </a:p>
        </p:txBody>
      </p:sp>
      <p:sp>
        <p:nvSpPr>
          <p:cNvPr id="3099" name="Google Shape;3099;p22"/>
          <p:cNvSpPr txBox="1"/>
          <p:nvPr/>
        </p:nvSpPr>
        <p:spPr>
          <a:xfrm>
            <a:off x="1463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100" name="Google Shape;3100;p22"/>
          <p:cNvSpPr txBox="1"/>
          <p:nvPr/>
        </p:nvSpPr>
        <p:spPr>
          <a:xfrm>
            <a:off x="2148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101" name="Google Shape;3101;p22"/>
          <p:cNvSpPr txBox="1"/>
          <p:nvPr/>
        </p:nvSpPr>
        <p:spPr>
          <a:xfrm>
            <a:off x="2834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102" name="Google Shape;3102;p22"/>
          <p:cNvSpPr txBox="1"/>
          <p:nvPr/>
        </p:nvSpPr>
        <p:spPr>
          <a:xfrm>
            <a:off x="3520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$143K</a:t>
            </a:r>
            <a:endParaRPr/>
          </a:p>
        </p:txBody>
      </p:sp>
      <p:sp>
        <p:nvSpPr>
          <p:cNvPr id="3103" name="Google Shape;3103;p22"/>
          <p:cNvSpPr txBox="1"/>
          <p:nvPr/>
        </p:nvSpPr>
        <p:spPr>
          <a:xfrm>
            <a:off x="4206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104" name="Google Shape;3104;p22"/>
          <p:cNvSpPr txBox="1"/>
          <p:nvPr/>
        </p:nvSpPr>
        <p:spPr>
          <a:xfrm>
            <a:off x="4892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$94K</a:t>
            </a:r>
            <a:endParaRPr/>
          </a:p>
        </p:txBody>
      </p:sp>
      <p:sp>
        <p:nvSpPr>
          <p:cNvPr id="3105" name="Google Shape;3105;p22"/>
          <p:cNvSpPr txBox="1"/>
          <p:nvPr/>
        </p:nvSpPr>
        <p:spPr>
          <a:xfrm>
            <a:off x="5577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106" name="Google Shape;3106;p22"/>
          <p:cNvSpPr txBox="1"/>
          <p:nvPr/>
        </p:nvSpPr>
        <p:spPr>
          <a:xfrm>
            <a:off x="6263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$58K</a:t>
            </a:r>
            <a:endParaRPr/>
          </a:p>
        </p:txBody>
      </p:sp>
      <p:sp>
        <p:nvSpPr>
          <p:cNvPr id="3107" name="Google Shape;3107;p22"/>
          <p:cNvSpPr txBox="1"/>
          <p:nvPr/>
        </p:nvSpPr>
        <p:spPr>
          <a:xfrm>
            <a:off x="6949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108" name="Google Shape;3108;p22"/>
          <p:cNvSpPr txBox="1"/>
          <p:nvPr/>
        </p:nvSpPr>
        <p:spPr>
          <a:xfrm>
            <a:off x="7635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$135K</a:t>
            </a:r>
            <a:endParaRPr/>
          </a:p>
        </p:txBody>
      </p:sp>
      <p:sp>
        <p:nvSpPr>
          <p:cNvPr id="3109" name="Google Shape;3109;p22"/>
          <p:cNvSpPr txBox="1"/>
          <p:nvPr/>
        </p:nvSpPr>
        <p:spPr>
          <a:xfrm>
            <a:off x="8321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110" name="Google Shape;3110;p22"/>
          <p:cNvSpPr txBox="1"/>
          <p:nvPr/>
        </p:nvSpPr>
        <p:spPr>
          <a:xfrm>
            <a:off x="9006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111" name="Google Shape;3111;p22"/>
          <p:cNvSpPr txBox="1"/>
          <p:nvPr/>
        </p:nvSpPr>
        <p:spPr>
          <a:xfrm>
            <a:off x="969264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112" name="Google Shape;3112;p22"/>
          <p:cNvSpPr txBox="1"/>
          <p:nvPr/>
        </p:nvSpPr>
        <p:spPr>
          <a:xfrm>
            <a:off x="1088136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$429K</a:t>
            </a:r>
            <a:endParaRPr/>
          </a:p>
        </p:txBody>
      </p:sp>
      <p:sp>
        <p:nvSpPr>
          <p:cNvPr id="3113" name="Google Shape;3113;p22"/>
          <p:cNvSpPr/>
          <p:nvPr/>
        </p:nvSpPr>
        <p:spPr>
          <a:xfrm>
            <a:off x="365760" y="5678423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4" name="Google Shape;3114;p22"/>
          <p:cNvSpPr txBox="1"/>
          <p:nvPr/>
        </p:nvSpPr>
        <p:spPr>
          <a:xfrm>
            <a:off x="4572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65F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STRENGTHS - What's Working</a:t>
            </a:r>
            <a:endParaRPr/>
          </a:p>
        </p:txBody>
      </p:sp>
      <p:sp>
        <p:nvSpPr>
          <p:cNvPr id="3115" name="Google Shape;3115;p22"/>
          <p:cNvSpPr txBox="1"/>
          <p:nvPr/>
        </p:nvSpPr>
        <p:spPr>
          <a:xfrm>
            <a:off x="4572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3116" name="Google Shape;3116;p22"/>
          <p:cNvSpPr txBox="1"/>
          <p:nvPr/>
        </p:nvSpPr>
        <p:spPr>
          <a:xfrm>
            <a:off x="685800" y="5952743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$429,456 YTD gross written premium</a:t>
            </a:r>
            <a:endParaRPr/>
          </a:p>
        </p:txBody>
      </p:sp>
      <p:sp>
        <p:nvSpPr>
          <p:cNvPr id="3117" name="Google Shape;3117;p22"/>
          <p:cNvSpPr txBox="1"/>
          <p:nvPr/>
        </p:nvSpPr>
        <p:spPr>
          <a:xfrm>
            <a:off x="457200" y="6153911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3118" name="Google Shape;3118;p22"/>
          <p:cNvSpPr txBox="1"/>
          <p:nvPr/>
        </p:nvSpPr>
        <p:spPr>
          <a:xfrm>
            <a:off x="685800" y="6153911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$343,460 in new business production</a:t>
            </a:r>
            <a:endParaRPr/>
          </a:p>
        </p:txBody>
      </p:sp>
      <p:sp>
        <p:nvSpPr>
          <p:cNvPr id="3119" name="Google Shape;3119;p22"/>
          <p:cNvSpPr/>
          <p:nvPr/>
        </p:nvSpPr>
        <p:spPr>
          <a:xfrm>
            <a:off x="6309360" y="5678423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0" name="Google Shape;3120;p22"/>
          <p:cNvSpPr txBox="1"/>
          <p:nvPr/>
        </p:nvSpPr>
        <p:spPr>
          <a:xfrm>
            <a:off x="64008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NEEDS ATTENTION</a:t>
            </a:r>
            <a:endParaRPr/>
          </a:p>
        </p:txBody>
      </p:sp>
      <p:sp>
        <p:nvSpPr>
          <p:cNvPr id="3121" name="Google Shape;3121;p22"/>
          <p:cNvSpPr txBox="1"/>
          <p:nvPr/>
        </p:nvSpPr>
        <p:spPr>
          <a:xfrm>
            <a:off x="64008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3122" name="Google Shape;3122;p22"/>
          <p:cNvSpPr txBox="1"/>
          <p:nvPr/>
        </p:nvSpPr>
        <p:spPr>
          <a:xfrm>
            <a:off x="6629400" y="5952743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significant concerns identified this quarter</a:t>
            </a:r>
            <a:endParaRPr/>
          </a:p>
        </p:txBody>
      </p:sp>
      <p:sp>
        <p:nvSpPr>
          <p:cNvPr id="3123" name="Google Shape;3123;p22"/>
          <p:cNvSpPr txBox="1"/>
          <p:nvPr/>
        </p:nvSpPr>
        <p:spPr>
          <a:xfrm>
            <a:off x="6400800" y="6153911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3124" name="Google Shape;3124;p22"/>
          <p:cNvSpPr txBox="1"/>
          <p:nvPr/>
        </p:nvSpPr>
        <p:spPr>
          <a:xfrm>
            <a:off x="6629400" y="6153911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Continue monitoring performance metrics</a:t>
            </a:r>
            <a:endParaRPr/>
          </a:p>
        </p:txBody>
      </p:sp>
      <p:sp>
        <p:nvSpPr>
          <p:cNvPr id="3125" name="Google Shape;3125;p22"/>
          <p:cNvSpPr/>
          <p:nvPr/>
        </p:nvSpPr>
        <p:spPr>
          <a:xfrm>
            <a:off x="365760" y="6455663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6" name="Google Shape;3126;p22"/>
          <p:cNvSpPr txBox="1"/>
          <p:nvPr/>
        </p:nvSpPr>
        <p:spPr>
          <a:xfrm>
            <a:off x="457200" y="6464807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STRATEGIC SALES TIPS - Conversation Starters</a:t>
            </a:r>
            <a:endParaRPr/>
          </a:p>
        </p:txBody>
      </p:sp>
      <p:sp>
        <p:nvSpPr>
          <p:cNvPr id="3127" name="Google Shape;3127;p22"/>
          <p:cNvSpPr txBox="1"/>
          <p:nvPr/>
        </p:nvSpPr>
        <p:spPr>
          <a:xfrm>
            <a:off x="457200" y="6711695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endParaRPr/>
          </a:p>
        </p:txBody>
      </p:sp>
      <p:sp>
        <p:nvSpPr>
          <p:cNvPr id="3128" name="Google Shape;3128;p22"/>
          <p:cNvSpPr txBox="1"/>
          <p:nvPr/>
        </p:nvSpPr>
        <p:spPr>
          <a:xfrm>
            <a:off x="777240" y="6711695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Acknowledge their $343,460 in new business. Ask: "What types of accounts are you seeing the most success with?" Use this to identify more of their book that fits our appetite.</a:t>
            </a:r>
            <a:endParaRPr/>
          </a:p>
        </p:txBody>
      </p:sp>
      <p:sp>
        <p:nvSpPr>
          <p:cNvPr id="3129" name="Google Shape;3129;p22"/>
          <p:cNvSpPr txBox="1"/>
          <p:nvPr/>
        </p:nvSpPr>
        <p:spPr>
          <a:xfrm>
            <a:off x="457200" y="6949439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endParaRPr/>
          </a:p>
        </p:txBody>
      </p:sp>
      <p:sp>
        <p:nvSpPr>
          <p:cNvPr id="3130" name="Google Shape;3130;p22"/>
          <p:cNvSpPr txBox="1"/>
          <p:nvPr/>
        </p:nvSpPr>
        <p:spPr>
          <a:xfrm>
            <a:off x="777240" y="6949439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Strong $96,326 renewal book. Use this as proof of value: "Your retention shows we're delivering - let's find more accounts like these in your pipeline."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34" name="Shape 3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5" name="Google Shape;3135;p23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6" name="Google Shape;3136;p23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Peco Insurance LLC</a:t>
            </a:r>
            <a:endParaRPr/>
          </a:p>
        </p:txBody>
      </p:sp>
      <p:sp>
        <p:nvSpPr>
          <p:cNvPr id="3137" name="Google Shape;3137;p2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4B5F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Tier: Tier 1  |  Region: Southeast  |  State: FL  |  City: Medley</a:t>
            </a:r>
            <a:endParaRPr/>
          </a:p>
        </p:txBody>
      </p:sp>
      <p:sp>
        <p:nvSpPr>
          <p:cNvPr id="3138" name="Google Shape;3138;p23"/>
          <p:cNvSpPr/>
          <p:nvPr/>
        </p:nvSpPr>
        <p:spPr>
          <a:xfrm>
            <a:off x="22860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$351,233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YTD GWP</a:t>
            </a:r>
            <a:endParaRPr/>
          </a:p>
        </p:txBody>
      </p:sp>
      <p:sp>
        <p:nvSpPr>
          <p:cNvPr id="3139" name="Google Shape;3139;p23"/>
          <p:cNvSpPr/>
          <p:nvPr/>
        </p:nvSpPr>
        <p:spPr>
          <a:xfrm>
            <a:off x="256032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$82,561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3140" name="Google Shape;3140;p23"/>
          <p:cNvSpPr/>
          <p:nvPr/>
        </p:nvSpPr>
        <p:spPr>
          <a:xfrm>
            <a:off x="489204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$101,971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3141" name="Google Shape;3141;p23"/>
          <p:cNvSpPr/>
          <p:nvPr/>
        </p:nvSpPr>
        <p:spPr>
          <a:xfrm>
            <a:off x="7223759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$166,700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3142" name="Google Shape;3142;p23"/>
          <p:cNvSpPr/>
          <p:nvPr/>
        </p:nvSpPr>
        <p:spPr>
          <a:xfrm>
            <a:off x="955548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$-261,730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3143" name="Google Shape;3143;p23"/>
          <p:cNvSpPr/>
          <p:nvPr/>
        </p:nvSpPr>
        <p:spPr>
          <a:xfrm>
            <a:off x="137160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$2,449,765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2025 Full Year GWP</a:t>
            </a:r>
            <a:endParaRPr/>
          </a:p>
        </p:txBody>
      </p:sp>
      <p:sp>
        <p:nvSpPr>
          <p:cNvPr id="3144" name="Google Shape;3144;p23"/>
          <p:cNvSpPr/>
          <p:nvPr/>
        </p:nvSpPr>
        <p:spPr>
          <a:xfrm>
            <a:off x="1627631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$1,685,120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Rolling 12M GWP</a:t>
            </a:r>
            <a:endParaRPr/>
          </a:p>
        </p:txBody>
      </p:sp>
      <p:sp>
        <p:nvSpPr>
          <p:cNvPr id="3145" name="Google Shape;3145;p23"/>
          <p:cNvSpPr/>
          <p:nvPr/>
        </p:nvSpPr>
        <p:spPr>
          <a:xfrm>
            <a:off x="3118103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% to Goal</a:t>
            </a:r>
            <a:endParaRPr/>
          </a:p>
        </p:txBody>
      </p:sp>
      <p:sp>
        <p:nvSpPr>
          <p:cNvPr id="3146" name="Google Shape;3146;p23"/>
          <p:cNvSpPr/>
          <p:nvPr/>
        </p:nvSpPr>
        <p:spPr>
          <a:xfrm>
            <a:off x="4608576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170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3147" name="Google Shape;3147;p23"/>
          <p:cNvSpPr/>
          <p:nvPr/>
        </p:nvSpPr>
        <p:spPr>
          <a:xfrm>
            <a:off x="6099048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3148" name="Google Shape;3148;p23"/>
          <p:cNvSpPr/>
          <p:nvPr/>
        </p:nvSpPr>
        <p:spPr>
          <a:xfrm>
            <a:off x="7589519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12.4%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3149" name="Google Shape;3149;p23"/>
          <p:cNvSpPr/>
          <p:nvPr/>
        </p:nvSpPr>
        <p:spPr>
          <a:xfrm>
            <a:off x="9079992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$155,587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 Bound Prem</a:t>
            </a:r>
            <a:endParaRPr/>
          </a:p>
        </p:txBody>
      </p:sp>
      <p:sp>
        <p:nvSpPr>
          <p:cNvPr id="3150" name="Google Shape;3150;p23"/>
          <p:cNvSpPr/>
          <p:nvPr/>
        </p:nvSpPr>
        <p:spPr>
          <a:xfrm>
            <a:off x="10570464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$450,346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NF Bound Prem</a:t>
            </a:r>
            <a:endParaRPr/>
          </a:p>
        </p:txBody>
      </p:sp>
      <p:sp>
        <p:nvSpPr>
          <p:cNvPr id="3151" name="Google Shape;3151;p23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2" name="Google Shape;3152;p23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PRODUCTION BY MONTH</a:t>
            </a:r>
            <a:endParaRPr/>
          </a:p>
        </p:txBody>
      </p:sp>
      <p:sp>
        <p:nvSpPr>
          <p:cNvPr id="3153" name="Google Shape;3153;p23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3154" name="Google Shape;3154;p23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Written Premium</a:t>
            </a:r>
            <a:endParaRPr/>
          </a:p>
        </p:txBody>
      </p:sp>
      <p:sp>
        <p:nvSpPr>
          <p:cNvPr id="3155" name="Google Shape;3155;p23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3156" name="Google Shape;3156;p23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3157" name="Google Shape;3157;p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3158" name="Google Shape;3158;p23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3159" name="Google Shape;3159;p23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0" name="Google Shape;3160;p23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3161" name="Google Shape;3161;p23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$111,392</a:t>
            </a:r>
            <a:endParaRPr/>
          </a:p>
        </p:txBody>
      </p:sp>
      <p:sp>
        <p:nvSpPr>
          <p:cNvPr id="3162" name="Google Shape;3162;p23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$29,394</a:t>
            </a:r>
            <a:endParaRPr/>
          </a:p>
        </p:txBody>
      </p:sp>
      <p:sp>
        <p:nvSpPr>
          <p:cNvPr id="3163" name="Google Shape;3163;p23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$42,618</a:t>
            </a:r>
            <a:endParaRPr/>
          </a:p>
        </p:txBody>
      </p:sp>
      <p:sp>
        <p:nvSpPr>
          <p:cNvPr id="3164" name="Google Shape;3164;p23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$39,381</a:t>
            </a:r>
            <a:endParaRPr/>
          </a:p>
        </p:txBody>
      </p:sp>
      <p:sp>
        <p:nvSpPr>
          <p:cNvPr id="3165" name="Google Shape;3165;p23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$-70,544</a:t>
            </a:r>
            <a:endParaRPr/>
          </a:p>
        </p:txBody>
      </p:sp>
      <p:sp>
        <p:nvSpPr>
          <p:cNvPr id="3166" name="Google Shape;3166;p23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7" name="Google Shape;3167;p2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3168" name="Google Shape;3168;p23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$94,504</a:t>
            </a:r>
            <a:endParaRPr/>
          </a:p>
        </p:txBody>
      </p:sp>
      <p:sp>
        <p:nvSpPr>
          <p:cNvPr id="3169" name="Google Shape;3169;p23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$53,168</a:t>
            </a:r>
            <a:endParaRPr/>
          </a:p>
        </p:txBody>
      </p:sp>
      <p:sp>
        <p:nvSpPr>
          <p:cNvPr id="3170" name="Google Shape;3170;p23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171" name="Google Shape;3171;p23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$41,336</a:t>
            </a:r>
            <a:endParaRPr/>
          </a:p>
        </p:txBody>
      </p:sp>
      <p:sp>
        <p:nvSpPr>
          <p:cNvPr id="3172" name="Google Shape;3172;p23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173" name="Google Shape;3173;p23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4" name="Google Shape;3174;p23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3175" name="Google Shape;3175;p23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$127,240</a:t>
            </a:r>
            <a:endParaRPr/>
          </a:p>
        </p:txBody>
      </p:sp>
      <p:sp>
        <p:nvSpPr>
          <p:cNvPr id="3176" name="Google Shape;3176;p23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177" name="Google Shape;3177;p2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$59,354</a:t>
            </a:r>
            <a:endParaRPr/>
          </a:p>
        </p:txBody>
      </p:sp>
      <p:sp>
        <p:nvSpPr>
          <p:cNvPr id="3178" name="Google Shape;3178;p23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$67,886</a:t>
            </a:r>
            <a:endParaRPr/>
          </a:p>
        </p:txBody>
      </p:sp>
      <p:sp>
        <p:nvSpPr>
          <p:cNvPr id="3179" name="Google Shape;3179;p23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$-172,172</a:t>
            </a:r>
            <a:endParaRPr/>
          </a:p>
        </p:txBody>
      </p:sp>
      <p:sp>
        <p:nvSpPr>
          <p:cNvPr id="3180" name="Google Shape;3180;p23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1" name="Google Shape;3181;p23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3182" name="Google Shape;3182;p23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$18,194</a:t>
            </a:r>
            <a:endParaRPr/>
          </a:p>
        </p:txBody>
      </p:sp>
      <p:sp>
        <p:nvSpPr>
          <p:cNvPr id="3183" name="Google Shape;3183;p23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184" name="Google Shape;3184;p23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185" name="Google Shape;3185;p23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$18,194</a:t>
            </a:r>
            <a:endParaRPr/>
          </a:p>
        </p:txBody>
      </p:sp>
      <p:sp>
        <p:nvSpPr>
          <p:cNvPr id="3186" name="Google Shape;3186;p23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$-19,014</a:t>
            </a:r>
            <a:endParaRPr/>
          </a:p>
        </p:txBody>
      </p:sp>
      <p:sp>
        <p:nvSpPr>
          <p:cNvPr id="3187" name="Google Shape;3187;p2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8" name="Google Shape;3188;p23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3189" name="Google Shape;3189;p23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$-98</a:t>
            </a:r>
            <a:endParaRPr/>
          </a:p>
        </p:txBody>
      </p:sp>
      <p:sp>
        <p:nvSpPr>
          <p:cNvPr id="3190" name="Google Shape;3190;p23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191" name="Google Shape;3191;p23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192" name="Google Shape;3192;p23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$-98</a:t>
            </a:r>
            <a:endParaRPr/>
          </a:p>
        </p:txBody>
      </p:sp>
      <p:sp>
        <p:nvSpPr>
          <p:cNvPr id="3193" name="Google Shape;3193;p23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194" name="Google Shape;3194;p23"/>
          <p:cNvSpPr/>
          <p:nvPr/>
        </p:nvSpPr>
        <p:spPr>
          <a:xfrm>
            <a:off x="365760" y="4123944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5" name="Google Shape;3195;p23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3196" name="Google Shape;3196;p23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197" name="Google Shape;3197;p2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198" name="Google Shape;3198;p23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199" name="Google Shape;3199;p23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200" name="Google Shape;3200;p23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201" name="Google Shape;3201;p23"/>
          <p:cNvSpPr/>
          <p:nvPr/>
        </p:nvSpPr>
        <p:spPr>
          <a:xfrm>
            <a:off x="365760" y="4425696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2" name="Google Shape;3202;p23"/>
          <p:cNvSpPr txBox="1"/>
          <p:nvPr/>
        </p:nvSpPr>
        <p:spPr>
          <a:xfrm>
            <a:off x="3657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3203" name="Google Shape;3203;p23"/>
          <p:cNvSpPr txBox="1"/>
          <p:nvPr/>
        </p:nvSpPr>
        <p:spPr>
          <a:xfrm>
            <a:off x="1280160" y="446227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$351,233</a:t>
            </a:r>
            <a:endParaRPr/>
          </a:p>
        </p:txBody>
      </p:sp>
      <p:sp>
        <p:nvSpPr>
          <p:cNvPr id="3204" name="Google Shape;3204;p23"/>
          <p:cNvSpPr txBox="1"/>
          <p:nvPr/>
        </p:nvSpPr>
        <p:spPr>
          <a:xfrm>
            <a:off x="2377439" y="446227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$82,561</a:t>
            </a:r>
            <a:endParaRPr/>
          </a:p>
        </p:txBody>
      </p:sp>
      <p:sp>
        <p:nvSpPr>
          <p:cNvPr id="3205" name="Google Shape;3205;p23"/>
          <p:cNvSpPr txBox="1"/>
          <p:nvPr/>
        </p:nvSpPr>
        <p:spPr>
          <a:xfrm>
            <a:off x="33832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$101,971</a:t>
            </a:r>
            <a:endParaRPr/>
          </a:p>
        </p:txBody>
      </p:sp>
      <p:sp>
        <p:nvSpPr>
          <p:cNvPr id="3206" name="Google Shape;3206;p23"/>
          <p:cNvSpPr txBox="1"/>
          <p:nvPr/>
        </p:nvSpPr>
        <p:spPr>
          <a:xfrm>
            <a:off x="42976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$166,700</a:t>
            </a:r>
            <a:endParaRPr/>
          </a:p>
        </p:txBody>
      </p:sp>
      <p:sp>
        <p:nvSpPr>
          <p:cNvPr id="3207" name="Google Shape;3207;p23"/>
          <p:cNvSpPr txBox="1"/>
          <p:nvPr/>
        </p:nvSpPr>
        <p:spPr>
          <a:xfrm>
            <a:off x="52120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$-261,730</a:t>
            </a:r>
            <a:endParaRPr/>
          </a:p>
        </p:txBody>
      </p:sp>
      <p:sp>
        <p:nvSpPr>
          <p:cNvPr id="3208" name="Google Shape;3208;p23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9" name="Google Shape;3209;p23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 &amp; PIPELINE</a:t>
            </a:r>
            <a:endParaRPr/>
          </a:p>
        </p:txBody>
      </p:sp>
      <p:sp>
        <p:nvSpPr>
          <p:cNvPr id="3210" name="Google Shape;3210;p23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3211" name="Google Shape;3211;p23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Subs</a:t>
            </a:r>
            <a:endParaRPr/>
          </a:p>
        </p:txBody>
      </p:sp>
      <p:sp>
        <p:nvSpPr>
          <p:cNvPr id="3212" name="Google Shape;3212;p23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</a:t>
            </a:r>
            <a:endParaRPr/>
          </a:p>
        </p:txBody>
      </p:sp>
      <p:sp>
        <p:nvSpPr>
          <p:cNvPr id="3213" name="Google Shape;3213;p23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Non-Fleet</a:t>
            </a:r>
            <a:endParaRPr/>
          </a:p>
        </p:txBody>
      </p:sp>
      <p:sp>
        <p:nvSpPr>
          <p:cNvPr id="3214" name="Google Shape;3214;p2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3215" name="Google Shape;3215;p23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3216" name="Google Shape;3216;p23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7" name="Google Shape;3217;p23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3218" name="Google Shape;3218;p23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79</a:t>
            </a:r>
            <a:endParaRPr/>
          </a:p>
        </p:txBody>
      </p:sp>
      <p:sp>
        <p:nvSpPr>
          <p:cNvPr id="3219" name="Google Shape;3219;p23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3220" name="Google Shape;3220;p23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76</a:t>
            </a:r>
            <a:endParaRPr/>
          </a:p>
        </p:txBody>
      </p:sp>
      <p:sp>
        <p:nvSpPr>
          <p:cNvPr id="3221" name="Google Shape;3221;p23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</a:t>
            </a:r>
            <a:endParaRPr/>
          </a:p>
        </p:txBody>
      </p:sp>
      <p:sp>
        <p:nvSpPr>
          <p:cNvPr id="3222" name="Google Shape;3222;p23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11.4%</a:t>
            </a:r>
            <a:endParaRPr/>
          </a:p>
        </p:txBody>
      </p:sp>
      <p:sp>
        <p:nvSpPr>
          <p:cNvPr id="3223" name="Google Shape;3223;p23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4" name="Google Shape;3224;p2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3225" name="Google Shape;3225;p23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65</a:t>
            </a:r>
            <a:endParaRPr/>
          </a:p>
        </p:txBody>
      </p:sp>
      <p:sp>
        <p:nvSpPr>
          <p:cNvPr id="3226" name="Google Shape;3226;p23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3227" name="Google Shape;3227;p23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61</a:t>
            </a:r>
            <a:endParaRPr/>
          </a:p>
        </p:txBody>
      </p:sp>
      <p:sp>
        <p:nvSpPr>
          <p:cNvPr id="3228" name="Google Shape;3228;p23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17</a:t>
            </a:r>
            <a:endParaRPr/>
          </a:p>
        </p:txBody>
      </p:sp>
      <p:sp>
        <p:nvSpPr>
          <p:cNvPr id="3229" name="Google Shape;3229;p23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26.2%</a:t>
            </a:r>
            <a:endParaRPr/>
          </a:p>
        </p:txBody>
      </p:sp>
      <p:sp>
        <p:nvSpPr>
          <p:cNvPr id="3230" name="Google Shape;3230;p23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1" name="Google Shape;3231;p23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3232" name="Google Shape;3232;p23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32</a:t>
            </a:r>
            <a:endParaRPr/>
          </a:p>
        </p:txBody>
      </p:sp>
      <p:sp>
        <p:nvSpPr>
          <p:cNvPr id="3233" name="Google Shape;3233;p23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3234" name="Google Shape;3234;p2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30</a:t>
            </a:r>
            <a:endParaRPr/>
          </a:p>
        </p:txBody>
      </p:sp>
      <p:sp>
        <p:nvSpPr>
          <p:cNvPr id="3235" name="Google Shape;3235;p23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</a:t>
            </a:r>
            <a:endParaRPr/>
          </a:p>
        </p:txBody>
      </p:sp>
      <p:sp>
        <p:nvSpPr>
          <p:cNvPr id="3236" name="Google Shape;3236;p23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25.0%</a:t>
            </a:r>
            <a:endParaRPr/>
          </a:p>
        </p:txBody>
      </p:sp>
      <p:sp>
        <p:nvSpPr>
          <p:cNvPr id="3237" name="Google Shape;3237;p23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8" name="Google Shape;3238;p23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3239" name="Google Shape;3239;p23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31</a:t>
            </a:r>
            <a:endParaRPr/>
          </a:p>
        </p:txBody>
      </p:sp>
      <p:sp>
        <p:nvSpPr>
          <p:cNvPr id="3240" name="Google Shape;3240;p23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3241" name="Google Shape;3241;p23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31</a:t>
            </a:r>
            <a:endParaRPr/>
          </a:p>
        </p:txBody>
      </p:sp>
      <p:sp>
        <p:nvSpPr>
          <p:cNvPr id="3242" name="Google Shape;3242;p23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/>
          </a:p>
        </p:txBody>
      </p:sp>
      <p:sp>
        <p:nvSpPr>
          <p:cNvPr id="3243" name="Google Shape;3243;p23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19.4%</a:t>
            </a:r>
            <a:endParaRPr/>
          </a:p>
        </p:txBody>
      </p:sp>
      <p:sp>
        <p:nvSpPr>
          <p:cNvPr id="3244" name="Google Shape;3244;p2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5" name="Google Shape;3245;p23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3246" name="Google Shape;3246;p23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</a:t>
            </a:r>
            <a:endParaRPr/>
          </a:p>
        </p:txBody>
      </p:sp>
      <p:sp>
        <p:nvSpPr>
          <p:cNvPr id="3247" name="Google Shape;3247;p23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3248" name="Google Shape;3248;p23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</a:t>
            </a:r>
            <a:endParaRPr/>
          </a:p>
        </p:txBody>
      </p:sp>
      <p:sp>
        <p:nvSpPr>
          <p:cNvPr id="3249" name="Google Shape;3249;p23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3250" name="Google Shape;3250;p23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20.0%</a:t>
            </a:r>
            <a:endParaRPr/>
          </a:p>
        </p:txBody>
      </p:sp>
      <p:sp>
        <p:nvSpPr>
          <p:cNvPr id="3251" name="Google Shape;3251;p23"/>
          <p:cNvSpPr/>
          <p:nvPr/>
        </p:nvSpPr>
        <p:spPr>
          <a:xfrm>
            <a:off x="6309360" y="4123944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2" name="Google Shape;3252;p23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3253" name="Google Shape;3253;p23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3254" name="Google Shape;3254;p2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3255" name="Google Shape;3255;p23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3256" name="Google Shape;3256;p23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3257" name="Google Shape;3257;p23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3258" name="Google Shape;3258;p23"/>
          <p:cNvSpPr/>
          <p:nvPr/>
        </p:nvSpPr>
        <p:spPr>
          <a:xfrm>
            <a:off x="6309360" y="4425696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9" name="Google Shape;3259;p23"/>
          <p:cNvSpPr txBox="1"/>
          <p:nvPr/>
        </p:nvSpPr>
        <p:spPr>
          <a:xfrm>
            <a:off x="63093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3260" name="Google Shape;3260;p23"/>
          <p:cNvSpPr txBox="1"/>
          <p:nvPr/>
        </p:nvSpPr>
        <p:spPr>
          <a:xfrm>
            <a:off x="722376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170</a:t>
            </a:r>
            <a:endParaRPr/>
          </a:p>
        </p:txBody>
      </p:sp>
      <p:sp>
        <p:nvSpPr>
          <p:cNvPr id="3261" name="Google Shape;3261;p23"/>
          <p:cNvSpPr txBox="1"/>
          <p:nvPr/>
        </p:nvSpPr>
        <p:spPr>
          <a:xfrm>
            <a:off x="804672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/>
          </a:p>
        </p:txBody>
      </p:sp>
      <p:sp>
        <p:nvSpPr>
          <p:cNvPr id="3262" name="Google Shape;3262;p23"/>
          <p:cNvSpPr txBox="1"/>
          <p:nvPr/>
        </p:nvSpPr>
        <p:spPr>
          <a:xfrm>
            <a:off x="886968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164</a:t>
            </a:r>
            <a:endParaRPr/>
          </a:p>
        </p:txBody>
      </p:sp>
      <p:sp>
        <p:nvSpPr>
          <p:cNvPr id="3263" name="Google Shape;3263;p23"/>
          <p:cNvSpPr txBox="1"/>
          <p:nvPr/>
        </p:nvSpPr>
        <p:spPr>
          <a:xfrm>
            <a:off x="978408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</a:t>
            </a:r>
            <a:endParaRPr/>
          </a:p>
        </p:txBody>
      </p:sp>
      <p:sp>
        <p:nvSpPr>
          <p:cNvPr id="3264" name="Google Shape;3264;p23"/>
          <p:cNvSpPr txBox="1"/>
          <p:nvPr/>
        </p:nvSpPr>
        <p:spPr>
          <a:xfrm>
            <a:off x="1060704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12.4%</a:t>
            </a:r>
            <a:endParaRPr/>
          </a:p>
        </p:txBody>
      </p:sp>
      <p:sp>
        <p:nvSpPr>
          <p:cNvPr id="3265" name="Google Shape;3265;p23"/>
          <p:cNvSpPr/>
          <p:nvPr/>
        </p:nvSpPr>
        <p:spPr>
          <a:xfrm>
            <a:off x="365760" y="4782312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6" name="Google Shape;3266;p23"/>
          <p:cNvSpPr txBox="1"/>
          <p:nvPr/>
        </p:nvSpPr>
        <p:spPr>
          <a:xfrm>
            <a:off x="457200" y="4800599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YOY COMPARISON — Jan–Jun 2025 vs Jan–Jun 2026</a:t>
            </a:r>
            <a:endParaRPr/>
          </a:p>
        </p:txBody>
      </p:sp>
      <p:sp>
        <p:nvSpPr>
          <p:cNvPr id="3267" name="Google Shape;3267;p23"/>
          <p:cNvSpPr txBox="1"/>
          <p:nvPr/>
        </p:nvSpPr>
        <p:spPr>
          <a:xfrm>
            <a:off x="365760" y="5056631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00" u="none" cap="none" strike="noStrike">
              <a:solidFill>
                <a:srgbClr val="6B728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268" name="Google Shape;3268;p23"/>
          <p:cNvSpPr txBox="1"/>
          <p:nvPr/>
        </p:nvSpPr>
        <p:spPr>
          <a:xfrm>
            <a:off x="1463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'25</a:t>
            </a:r>
            <a:endParaRPr/>
          </a:p>
        </p:txBody>
      </p:sp>
      <p:sp>
        <p:nvSpPr>
          <p:cNvPr id="3269" name="Google Shape;3269;p23"/>
          <p:cNvSpPr txBox="1"/>
          <p:nvPr/>
        </p:nvSpPr>
        <p:spPr>
          <a:xfrm>
            <a:off x="2148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'26</a:t>
            </a:r>
            <a:endParaRPr/>
          </a:p>
        </p:txBody>
      </p:sp>
      <p:sp>
        <p:nvSpPr>
          <p:cNvPr id="3270" name="Google Shape;3270;p23"/>
          <p:cNvSpPr txBox="1"/>
          <p:nvPr/>
        </p:nvSpPr>
        <p:spPr>
          <a:xfrm>
            <a:off x="2834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'25</a:t>
            </a:r>
            <a:endParaRPr/>
          </a:p>
        </p:txBody>
      </p:sp>
      <p:sp>
        <p:nvSpPr>
          <p:cNvPr id="3271" name="Google Shape;3271;p23"/>
          <p:cNvSpPr txBox="1"/>
          <p:nvPr/>
        </p:nvSpPr>
        <p:spPr>
          <a:xfrm>
            <a:off x="3520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'26</a:t>
            </a:r>
            <a:endParaRPr/>
          </a:p>
        </p:txBody>
      </p:sp>
      <p:sp>
        <p:nvSpPr>
          <p:cNvPr id="3272" name="Google Shape;3272;p23"/>
          <p:cNvSpPr txBox="1"/>
          <p:nvPr/>
        </p:nvSpPr>
        <p:spPr>
          <a:xfrm>
            <a:off x="4206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'25</a:t>
            </a:r>
            <a:endParaRPr/>
          </a:p>
        </p:txBody>
      </p:sp>
      <p:sp>
        <p:nvSpPr>
          <p:cNvPr id="3273" name="Google Shape;3273;p23"/>
          <p:cNvSpPr txBox="1"/>
          <p:nvPr/>
        </p:nvSpPr>
        <p:spPr>
          <a:xfrm>
            <a:off x="4892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'26</a:t>
            </a:r>
            <a:endParaRPr/>
          </a:p>
        </p:txBody>
      </p:sp>
      <p:sp>
        <p:nvSpPr>
          <p:cNvPr id="3274" name="Google Shape;3274;p23"/>
          <p:cNvSpPr txBox="1"/>
          <p:nvPr/>
        </p:nvSpPr>
        <p:spPr>
          <a:xfrm>
            <a:off x="5577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'25</a:t>
            </a:r>
            <a:endParaRPr/>
          </a:p>
        </p:txBody>
      </p:sp>
      <p:sp>
        <p:nvSpPr>
          <p:cNvPr id="3275" name="Google Shape;3275;p23"/>
          <p:cNvSpPr txBox="1"/>
          <p:nvPr/>
        </p:nvSpPr>
        <p:spPr>
          <a:xfrm>
            <a:off x="6263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'26</a:t>
            </a:r>
            <a:endParaRPr/>
          </a:p>
        </p:txBody>
      </p:sp>
      <p:sp>
        <p:nvSpPr>
          <p:cNvPr id="3276" name="Google Shape;3276;p23"/>
          <p:cNvSpPr txBox="1"/>
          <p:nvPr/>
        </p:nvSpPr>
        <p:spPr>
          <a:xfrm>
            <a:off x="6949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'25</a:t>
            </a:r>
            <a:endParaRPr/>
          </a:p>
        </p:txBody>
      </p:sp>
      <p:sp>
        <p:nvSpPr>
          <p:cNvPr id="3277" name="Google Shape;3277;p23"/>
          <p:cNvSpPr txBox="1"/>
          <p:nvPr/>
        </p:nvSpPr>
        <p:spPr>
          <a:xfrm>
            <a:off x="7635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'26</a:t>
            </a:r>
            <a:endParaRPr/>
          </a:p>
        </p:txBody>
      </p:sp>
      <p:sp>
        <p:nvSpPr>
          <p:cNvPr id="3278" name="Google Shape;3278;p23"/>
          <p:cNvSpPr txBox="1"/>
          <p:nvPr/>
        </p:nvSpPr>
        <p:spPr>
          <a:xfrm>
            <a:off x="8321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'25</a:t>
            </a:r>
            <a:endParaRPr/>
          </a:p>
        </p:txBody>
      </p:sp>
      <p:sp>
        <p:nvSpPr>
          <p:cNvPr id="3279" name="Google Shape;3279;p23"/>
          <p:cNvSpPr txBox="1"/>
          <p:nvPr/>
        </p:nvSpPr>
        <p:spPr>
          <a:xfrm>
            <a:off x="9006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'26</a:t>
            </a:r>
            <a:endParaRPr/>
          </a:p>
        </p:txBody>
      </p:sp>
      <p:sp>
        <p:nvSpPr>
          <p:cNvPr id="3280" name="Google Shape;3280;p23"/>
          <p:cNvSpPr txBox="1"/>
          <p:nvPr/>
        </p:nvSpPr>
        <p:spPr>
          <a:xfrm>
            <a:off x="969264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'25 Tot</a:t>
            </a:r>
            <a:endParaRPr/>
          </a:p>
        </p:txBody>
      </p:sp>
      <p:sp>
        <p:nvSpPr>
          <p:cNvPr id="3281" name="Google Shape;3281;p23"/>
          <p:cNvSpPr txBox="1"/>
          <p:nvPr/>
        </p:nvSpPr>
        <p:spPr>
          <a:xfrm>
            <a:off x="1088136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'26 Tot</a:t>
            </a:r>
            <a:endParaRPr/>
          </a:p>
        </p:txBody>
      </p:sp>
      <p:sp>
        <p:nvSpPr>
          <p:cNvPr id="3282" name="Google Shape;3282;p23"/>
          <p:cNvSpPr txBox="1"/>
          <p:nvPr/>
        </p:nvSpPr>
        <p:spPr>
          <a:xfrm>
            <a:off x="365760" y="523951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3283" name="Google Shape;3283;p23"/>
          <p:cNvSpPr txBox="1"/>
          <p:nvPr/>
        </p:nvSpPr>
        <p:spPr>
          <a:xfrm>
            <a:off x="1463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167</a:t>
            </a:r>
            <a:endParaRPr/>
          </a:p>
        </p:txBody>
      </p:sp>
      <p:sp>
        <p:nvSpPr>
          <p:cNvPr id="3284" name="Google Shape;3284;p23"/>
          <p:cNvSpPr txBox="1"/>
          <p:nvPr/>
        </p:nvSpPr>
        <p:spPr>
          <a:xfrm>
            <a:off x="2148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79</a:t>
            </a:r>
            <a:endParaRPr/>
          </a:p>
        </p:txBody>
      </p:sp>
      <p:sp>
        <p:nvSpPr>
          <p:cNvPr id="3285" name="Google Shape;3285;p23"/>
          <p:cNvSpPr txBox="1"/>
          <p:nvPr/>
        </p:nvSpPr>
        <p:spPr>
          <a:xfrm>
            <a:off x="2834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100</a:t>
            </a:r>
            <a:endParaRPr/>
          </a:p>
        </p:txBody>
      </p:sp>
      <p:sp>
        <p:nvSpPr>
          <p:cNvPr id="3286" name="Google Shape;3286;p23"/>
          <p:cNvSpPr txBox="1"/>
          <p:nvPr/>
        </p:nvSpPr>
        <p:spPr>
          <a:xfrm>
            <a:off x="3520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65</a:t>
            </a:r>
            <a:endParaRPr/>
          </a:p>
        </p:txBody>
      </p:sp>
      <p:sp>
        <p:nvSpPr>
          <p:cNvPr id="3287" name="Google Shape;3287;p23"/>
          <p:cNvSpPr txBox="1"/>
          <p:nvPr/>
        </p:nvSpPr>
        <p:spPr>
          <a:xfrm>
            <a:off x="4206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111</a:t>
            </a:r>
            <a:endParaRPr/>
          </a:p>
        </p:txBody>
      </p:sp>
      <p:sp>
        <p:nvSpPr>
          <p:cNvPr id="3288" name="Google Shape;3288;p23"/>
          <p:cNvSpPr txBox="1"/>
          <p:nvPr/>
        </p:nvSpPr>
        <p:spPr>
          <a:xfrm>
            <a:off x="4892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32</a:t>
            </a:r>
            <a:endParaRPr/>
          </a:p>
        </p:txBody>
      </p:sp>
      <p:sp>
        <p:nvSpPr>
          <p:cNvPr id="3289" name="Google Shape;3289;p23"/>
          <p:cNvSpPr txBox="1"/>
          <p:nvPr/>
        </p:nvSpPr>
        <p:spPr>
          <a:xfrm>
            <a:off x="5577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166</a:t>
            </a:r>
            <a:endParaRPr/>
          </a:p>
        </p:txBody>
      </p:sp>
      <p:sp>
        <p:nvSpPr>
          <p:cNvPr id="3290" name="Google Shape;3290;p23"/>
          <p:cNvSpPr txBox="1"/>
          <p:nvPr/>
        </p:nvSpPr>
        <p:spPr>
          <a:xfrm>
            <a:off x="6263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31</a:t>
            </a:r>
            <a:endParaRPr/>
          </a:p>
        </p:txBody>
      </p:sp>
      <p:sp>
        <p:nvSpPr>
          <p:cNvPr id="3291" name="Google Shape;3291;p23"/>
          <p:cNvSpPr txBox="1"/>
          <p:nvPr/>
        </p:nvSpPr>
        <p:spPr>
          <a:xfrm>
            <a:off x="6949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137</a:t>
            </a:r>
            <a:endParaRPr/>
          </a:p>
        </p:txBody>
      </p:sp>
      <p:sp>
        <p:nvSpPr>
          <p:cNvPr id="3292" name="Google Shape;3292;p23"/>
          <p:cNvSpPr txBox="1"/>
          <p:nvPr/>
        </p:nvSpPr>
        <p:spPr>
          <a:xfrm>
            <a:off x="7635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</a:t>
            </a:r>
            <a:endParaRPr/>
          </a:p>
        </p:txBody>
      </p:sp>
      <p:sp>
        <p:nvSpPr>
          <p:cNvPr id="3293" name="Google Shape;3293;p23"/>
          <p:cNvSpPr txBox="1"/>
          <p:nvPr/>
        </p:nvSpPr>
        <p:spPr>
          <a:xfrm>
            <a:off x="8321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125</a:t>
            </a:r>
            <a:endParaRPr/>
          </a:p>
        </p:txBody>
      </p:sp>
      <p:sp>
        <p:nvSpPr>
          <p:cNvPr id="3294" name="Google Shape;3294;p23"/>
          <p:cNvSpPr txBox="1"/>
          <p:nvPr/>
        </p:nvSpPr>
        <p:spPr>
          <a:xfrm>
            <a:off x="9006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3295" name="Google Shape;3295;p23"/>
          <p:cNvSpPr txBox="1"/>
          <p:nvPr/>
        </p:nvSpPr>
        <p:spPr>
          <a:xfrm>
            <a:off x="969264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806</a:t>
            </a:r>
            <a:endParaRPr/>
          </a:p>
        </p:txBody>
      </p:sp>
      <p:sp>
        <p:nvSpPr>
          <p:cNvPr id="3296" name="Google Shape;3296;p23"/>
          <p:cNvSpPr txBox="1"/>
          <p:nvPr/>
        </p:nvSpPr>
        <p:spPr>
          <a:xfrm>
            <a:off x="1088136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228</a:t>
            </a:r>
            <a:endParaRPr/>
          </a:p>
        </p:txBody>
      </p:sp>
      <p:sp>
        <p:nvSpPr>
          <p:cNvPr id="3297" name="Google Shape;3297;p23"/>
          <p:cNvSpPr txBox="1"/>
          <p:nvPr/>
        </p:nvSpPr>
        <p:spPr>
          <a:xfrm>
            <a:off x="365760" y="542239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Bound Premium</a:t>
            </a:r>
            <a:endParaRPr/>
          </a:p>
        </p:txBody>
      </p:sp>
      <p:sp>
        <p:nvSpPr>
          <p:cNvPr id="3298" name="Google Shape;3298;p23"/>
          <p:cNvSpPr txBox="1"/>
          <p:nvPr/>
        </p:nvSpPr>
        <p:spPr>
          <a:xfrm>
            <a:off x="1463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$181K</a:t>
            </a:r>
            <a:endParaRPr/>
          </a:p>
        </p:txBody>
      </p:sp>
      <p:sp>
        <p:nvSpPr>
          <p:cNvPr id="3299" name="Google Shape;3299;p23"/>
          <p:cNvSpPr txBox="1"/>
          <p:nvPr/>
        </p:nvSpPr>
        <p:spPr>
          <a:xfrm>
            <a:off x="2148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$111K</a:t>
            </a:r>
            <a:endParaRPr/>
          </a:p>
        </p:txBody>
      </p:sp>
      <p:sp>
        <p:nvSpPr>
          <p:cNvPr id="3300" name="Google Shape;3300;p23"/>
          <p:cNvSpPr txBox="1"/>
          <p:nvPr/>
        </p:nvSpPr>
        <p:spPr>
          <a:xfrm>
            <a:off x="2834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$162K</a:t>
            </a:r>
            <a:endParaRPr/>
          </a:p>
        </p:txBody>
      </p:sp>
      <p:sp>
        <p:nvSpPr>
          <p:cNvPr id="3301" name="Google Shape;3301;p23"/>
          <p:cNvSpPr txBox="1"/>
          <p:nvPr/>
        </p:nvSpPr>
        <p:spPr>
          <a:xfrm>
            <a:off x="3520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$95K</a:t>
            </a:r>
            <a:endParaRPr/>
          </a:p>
        </p:txBody>
      </p:sp>
      <p:sp>
        <p:nvSpPr>
          <p:cNvPr id="3302" name="Google Shape;3302;p23"/>
          <p:cNvSpPr txBox="1"/>
          <p:nvPr/>
        </p:nvSpPr>
        <p:spPr>
          <a:xfrm>
            <a:off x="4206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$203K</a:t>
            </a:r>
            <a:endParaRPr/>
          </a:p>
        </p:txBody>
      </p:sp>
      <p:sp>
        <p:nvSpPr>
          <p:cNvPr id="3303" name="Google Shape;3303;p23"/>
          <p:cNvSpPr txBox="1"/>
          <p:nvPr/>
        </p:nvSpPr>
        <p:spPr>
          <a:xfrm>
            <a:off x="4892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$127K</a:t>
            </a:r>
            <a:endParaRPr/>
          </a:p>
        </p:txBody>
      </p:sp>
      <p:sp>
        <p:nvSpPr>
          <p:cNvPr id="3304" name="Google Shape;3304;p23"/>
          <p:cNvSpPr txBox="1"/>
          <p:nvPr/>
        </p:nvSpPr>
        <p:spPr>
          <a:xfrm>
            <a:off x="5577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$172K</a:t>
            </a:r>
            <a:endParaRPr/>
          </a:p>
        </p:txBody>
      </p:sp>
      <p:sp>
        <p:nvSpPr>
          <p:cNvPr id="3305" name="Google Shape;3305;p23"/>
          <p:cNvSpPr txBox="1"/>
          <p:nvPr/>
        </p:nvSpPr>
        <p:spPr>
          <a:xfrm>
            <a:off x="6263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$18K</a:t>
            </a:r>
            <a:endParaRPr/>
          </a:p>
        </p:txBody>
      </p:sp>
      <p:sp>
        <p:nvSpPr>
          <p:cNvPr id="3306" name="Google Shape;3306;p23"/>
          <p:cNvSpPr txBox="1"/>
          <p:nvPr/>
        </p:nvSpPr>
        <p:spPr>
          <a:xfrm>
            <a:off x="6949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$115K</a:t>
            </a:r>
            <a:endParaRPr/>
          </a:p>
        </p:txBody>
      </p:sp>
      <p:sp>
        <p:nvSpPr>
          <p:cNvPr id="3307" name="Google Shape;3307;p23"/>
          <p:cNvSpPr txBox="1"/>
          <p:nvPr/>
        </p:nvSpPr>
        <p:spPr>
          <a:xfrm>
            <a:off x="7635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$-98</a:t>
            </a:r>
            <a:endParaRPr/>
          </a:p>
        </p:txBody>
      </p:sp>
      <p:sp>
        <p:nvSpPr>
          <p:cNvPr id="3308" name="Google Shape;3308;p23"/>
          <p:cNvSpPr txBox="1"/>
          <p:nvPr/>
        </p:nvSpPr>
        <p:spPr>
          <a:xfrm>
            <a:off x="8321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$283K</a:t>
            </a:r>
            <a:endParaRPr/>
          </a:p>
        </p:txBody>
      </p:sp>
      <p:sp>
        <p:nvSpPr>
          <p:cNvPr id="3309" name="Google Shape;3309;p23"/>
          <p:cNvSpPr txBox="1"/>
          <p:nvPr/>
        </p:nvSpPr>
        <p:spPr>
          <a:xfrm>
            <a:off x="9006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310" name="Google Shape;3310;p23"/>
          <p:cNvSpPr txBox="1"/>
          <p:nvPr/>
        </p:nvSpPr>
        <p:spPr>
          <a:xfrm>
            <a:off x="969264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$1.1M</a:t>
            </a:r>
            <a:endParaRPr/>
          </a:p>
        </p:txBody>
      </p:sp>
      <p:sp>
        <p:nvSpPr>
          <p:cNvPr id="3311" name="Google Shape;3311;p23"/>
          <p:cNvSpPr txBox="1"/>
          <p:nvPr/>
        </p:nvSpPr>
        <p:spPr>
          <a:xfrm>
            <a:off x="1088136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$351K</a:t>
            </a:r>
            <a:endParaRPr/>
          </a:p>
        </p:txBody>
      </p:sp>
      <p:sp>
        <p:nvSpPr>
          <p:cNvPr id="3312" name="Google Shape;3312;p23"/>
          <p:cNvSpPr/>
          <p:nvPr/>
        </p:nvSpPr>
        <p:spPr>
          <a:xfrm>
            <a:off x="365760" y="5678423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3" name="Google Shape;3313;p23"/>
          <p:cNvSpPr txBox="1"/>
          <p:nvPr/>
        </p:nvSpPr>
        <p:spPr>
          <a:xfrm>
            <a:off x="4572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65F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STRENGTHS - What's Working</a:t>
            </a:r>
            <a:endParaRPr/>
          </a:p>
        </p:txBody>
      </p:sp>
      <p:sp>
        <p:nvSpPr>
          <p:cNvPr id="3314" name="Google Shape;3314;p23"/>
          <p:cNvSpPr txBox="1"/>
          <p:nvPr/>
        </p:nvSpPr>
        <p:spPr>
          <a:xfrm>
            <a:off x="4572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3315" name="Google Shape;3315;p23"/>
          <p:cNvSpPr txBox="1"/>
          <p:nvPr/>
        </p:nvSpPr>
        <p:spPr>
          <a:xfrm>
            <a:off x="685800" y="5952743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$351,233 YTD gross written premium</a:t>
            </a:r>
            <a:endParaRPr/>
          </a:p>
        </p:txBody>
      </p:sp>
      <p:sp>
        <p:nvSpPr>
          <p:cNvPr id="3316" name="Google Shape;3316;p23"/>
          <p:cNvSpPr txBox="1"/>
          <p:nvPr/>
        </p:nvSpPr>
        <p:spPr>
          <a:xfrm>
            <a:off x="457200" y="6153911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3317" name="Google Shape;3317;p23"/>
          <p:cNvSpPr txBox="1"/>
          <p:nvPr/>
        </p:nvSpPr>
        <p:spPr>
          <a:xfrm>
            <a:off x="685800" y="6153911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$82,561 in new business production</a:t>
            </a:r>
            <a:endParaRPr/>
          </a:p>
        </p:txBody>
      </p:sp>
      <p:sp>
        <p:nvSpPr>
          <p:cNvPr id="3318" name="Google Shape;3318;p23"/>
          <p:cNvSpPr/>
          <p:nvPr/>
        </p:nvSpPr>
        <p:spPr>
          <a:xfrm>
            <a:off x="6309360" y="5678423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9" name="Google Shape;3319;p23"/>
          <p:cNvSpPr txBox="1"/>
          <p:nvPr/>
        </p:nvSpPr>
        <p:spPr>
          <a:xfrm>
            <a:off x="64008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NEEDS ATTENTION</a:t>
            </a:r>
            <a:endParaRPr/>
          </a:p>
        </p:txBody>
      </p:sp>
      <p:sp>
        <p:nvSpPr>
          <p:cNvPr id="3320" name="Google Shape;3320;p23"/>
          <p:cNvSpPr txBox="1"/>
          <p:nvPr/>
        </p:nvSpPr>
        <p:spPr>
          <a:xfrm>
            <a:off x="64008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3321" name="Google Shape;3321;p23"/>
          <p:cNvSpPr txBox="1"/>
          <p:nvPr/>
        </p:nvSpPr>
        <p:spPr>
          <a:xfrm>
            <a:off x="6629400" y="5952743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 at 317% of new business ($261,730)</a:t>
            </a:r>
            <a:endParaRPr/>
          </a:p>
        </p:txBody>
      </p:sp>
      <p:sp>
        <p:nvSpPr>
          <p:cNvPr id="3322" name="Google Shape;3322;p23"/>
          <p:cNvSpPr txBox="1"/>
          <p:nvPr/>
        </p:nvSpPr>
        <p:spPr>
          <a:xfrm>
            <a:off x="6400800" y="6153911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3323" name="Google Shape;3323;p23"/>
          <p:cNvSpPr txBox="1"/>
          <p:nvPr/>
        </p:nvSpPr>
        <p:spPr>
          <a:xfrm>
            <a:off x="6629400" y="6153911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Written premium dropped 101% month-over-month</a:t>
            </a:r>
            <a:endParaRPr/>
          </a:p>
        </p:txBody>
      </p:sp>
      <p:sp>
        <p:nvSpPr>
          <p:cNvPr id="3324" name="Google Shape;3324;p23"/>
          <p:cNvSpPr/>
          <p:nvPr/>
        </p:nvSpPr>
        <p:spPr>
          <a:xfrm>
            <a:off x="365760" y="6455663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5" name="Google Shape;3325;p23"/>
          <p:cNvSpPr txBox="1"/>
          <p:nvPr/>
        </p:nvSpPr>
        <p:spPr>
          <a:xfrm>
            <a:off x="457200" y="6464807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STRATEGIC SALES TIPS - Conversation Starters</a:t>
            </a:r>
            <a:endParaRPr/>
          </a:p>
        </p:txBody>
      </p:sp>
      <p:sp>
        <p:nvSpPr>
          <p:cNvPr id="3326" name="Google Shape;3326;p23"/>
          <p:cNvSpPr txBox="1"/>
          <p:nvPr/>
        </p:nvSpPr>
        <p:spPr>
          <a:xfrm>
            <a:off x="457200" y="6711695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endParaRPr/>
          </a:p>
        </p:txBody>
      </p:sp>
      <p:sp>
        <p:nvSpPr>
          <p:cNvPr id="3327" name="Google Shape;3327;p23"/>
          <p:cNvSpPr txBox="1"/>
          <p:nvPr/>
        </p:nvSpPr>
        <p:spPr>
          <a:xfrm>
            <a:off x="777240" y="6711695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Acknowledge their $82,561 in new business. Ask: "What types of accounts are you seeing the most success with?" Use this to identify more of their book that fits our appetite.</a:t>
            </a:r>
            <a:endParaRPr/>
          </a:p>
        </p:txBody>
      </p:sp>
      <p:sp>
        <p:nvSpPr>
          <p:cNvPr id="3328" name="Google Shape;3328;p23"/>
          <p:cNvSpPr txBox="1"/>
          <p:nvPr/>
        </p:nvSpPr>
        <p:spPr>
          <a:xfrm>
            <a:off x="457200" y="6949439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endParaRPr/>
          </a:p>
        </p:txBody>
      </p:sp>
      <p:sp>
        <p:nvSpPr>
          <p:cNvPr id="3329" name="Google Shape;3329;p23"/>
          <p:cNvSpPr txBox="1"/>
          <p:nvPr/>
        </p:nvSpPr>
        <p:spPr>
          <a:xfrm>
            <a:off x="777240" y="6949439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Address the $261,730 in cancellations. Ask: "Are we losing these to price, service, or coverage?" Proactive retention discussions can protect the book and strengthen the relationship.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33" name="Shape 3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4" name="Google Shape;3334;p24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5" name="Google Shape;3335;p24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Eagle National Insurance Services, Inc.</a:t>
            </a:r>
            <a:endParaRPr/>
          </a:p>
        </p:txBody>
      </p:sp>
      <p:sp>
        <p:nvSpPr>
          <p:cNvPr id="3336" name="Google Shape;3336;p24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4B5F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Tier: Tier 2  |  Region: Southeast  |  State: FL  |  City: Miami</a:t>
            </a:r>
            <a:endParaRPr/>
          </a:p>
        </p:txBody>
      </p:sp>
      <p:sp>
        <p:nvSpPr>
          <p:cNvPr id="3337" name="Google Shape;3337;p24"/>
          <p:cNvSpPr/>
          <p:nvPr/>
        </p:nvSpPr>
        <p:spPr>
          <a:xfrm>
            <a:off x="22860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$233,845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YTD GWP</a:t>
            </a:r>
            <a:endParaRPr/>
          </a:p>
        </p:txBody>
      </p:sp>
      <p:sp>
        <p:nvSpPr>
          <p:cNvPr id="3338" name="Google Shape;3338;p24"/>
          <p:cNvSpPr/>
          <p:nvPr/>
        </p:nvSpPr>
        <p:spPr>
          <a:xfrm>
            <a:off x="256032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$145,982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3339" name="Google Shape;3339;p24"/>
          <p:cNvSpPr/>
          <p:nvPr/>
        </p:nvSpPr>
        <p:spPr>
          <a:xfrm>
            <a:off x="489204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$61,108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3340" name="Google Shape;3340;p24"/>
          <p:cNvSpPr/>
          <p:nvPr/>
        </p:nvSpPr>
        <p:spPr>
          <a:xfrm>
            <a:off x="7223759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$26,754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3341" name="Google Shape;3341;p24"/>
          <p:cNvSpPr/>
          <p:nvPr/>
        </p:nvSpPr>
        <p:spPr>
          <a:xfrm>
            <a:off x="955548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3342" name="Google Shape;3342;p24"/>
          <p:cNvSpPr/>
          <p:nvPr/>
        </p:nvSpPr>
        <p:spPr>
          <a:xfrm>
            <a:off x="137160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$631,182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2025 Full Year GWP</a:t>
            </a:r>
            <a:endParaRPr/>
          </a:p>
        </p:txBody>
      </p:sp>
      <p:sp>
        <p:nvSpPr>
          <p:cNvPr id="3343" name="Google Shape;3343;p24"/>
          <p:cNvSpPr/>
          <p:nvPr/>
        </p:nvSpPr>
        <p:spPr>
          <a:xfrm>
            <a:off x="1627631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$519,497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Rolling 12M GWP</a:t>
            </a:r>
            <a:endParaRPr/>
          </a:p>
        </p:txBody>
      </p:sp>
      <p:sp>
        <p:nvSpPr>
          <p:cNvPr id="3344" name="Google Shape;3344;p24"/>
          <p:cNvSpPr/>
          <p:nvPr/>
        </p:nvSpPr>
        <p:spPr>
          <a:xfrm>
            <a:off x="3118103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31%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% to Goal</a:t>
            </a:r>
            <a:endParaRPr/>
          </a:p>
        </p:txBody>
      </p:sp>
      <p:sp>
        <p:nvSpPr>
          <p:cNvPr id="3345" name="Google Shape;3345;p24"/>
          <p:cNvSpPr/>
          <p:nvPr/>
        </p:nvSpPr>
        <p:spPr>
          <a:xfrm>
            <a:off x="4608576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43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3346" name="Google Shape;3346;p24"/>
          <p:cNvSpPr/>
          <p:nvPr/>
        </p:nvSpPr>
        <p:spPr>
          <a:xfrm>
            <a:off x="6099048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3347" name="Google Shape;3347;p24"/>
          <p:cNvSpPr/>
          <p:nvPr/>
        </p:nvSpPr>
        <p:spPr>
          <a:xfrm>
            <a:off x="7589519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11.6%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3348" name="Google Shape;3348;p24"/>
          <p:cNvSpPr/>
          <p:nvPr/>
        </p:nvSpPr>
        <p:spPr>
          <a:xfrm>
            <a:off x="9079992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$393,906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 Bound Prem</a:t>
            </a:r>
            <a:endParaRPr/>
          </a:p>
        </p:txBody>
      </p:sp>
      <p:sp>
        <p:nvSpPr>
          <p:cNvPr id="3349" name="Google Shape;3349;p24"/>
          <p:cNvSpPr/>
          <p:nvPr/>
        </p:nvSpPr>
        <p:spPr>
          <a:xfrm>
            <a:off x="10570464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$70,153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NF Bound Prem</a:t>
            </a:r>
            <a:endParaRPr/>
          </a:p>
        </p:txBody>
      </p:sp>
      <p:sp>
        <p:nvSpPr>
          <p:cNvPr id="3350" name="Google Shape;3350;p24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1" name="Google Shape;3351;p24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PRODUCTION BY MONTH</a:t>
            </a:r>
            <a:endParaRPr/>
          </a:p>
        </p:txBody>
      </p:sp>
      <p:sp>
        <p:nvSpPr>
          <p:cNvPr id="3352" name="Google Shape;3352;p24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3353" name="Google Shape;3353;p24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Written Premium</a:t>
            </a:r>
            <a:endParaRPr/>
          </a:p>
        </p:txBody>
      </p:sp>
      <p:sp>
        <p:nvSpPr>
          <p:cNvPr id="3354" name="Google Shape;3354;p24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3355" name="Google Shape;3355;p24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3356" name="Google Shape;3356;p24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3357" name="Google Shape;3357;p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3358" name="Google Shape;3358;p24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9" name="Google Shape;3359;p24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3360" name="Google Shape;3360;p24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$61,108</a:t>
            </a:r>
            <a:endParaRPr/>
          </a:p>
        </p:txBody>
      </p:sp>
      <p:sp>
        <p:nvSpPr>
          <p:cNvPr id="3361" name="Google Shape;3361;p24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362" name="Google Shape;3362;p24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$61,108</a:t>
            </a:r>
            <a:endParaRPr/>
          </a:p>
        </p:txBody>
      </p:sp>
      <p:sp>
        <p:nvSpPr>
          <p:cNvPr id="3363" name="Google Shape;3363;p24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364" name="Google Shape;3364;p24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365" name="Google Shape;3365;p24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6" name="Google Shape;3366;p24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3367" name="Google Shape;3367;p2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368" name="Google Shape;3368;p24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369" name="Google Shape;3369;p24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370" name="Google Shape;3370;p24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371" name="Google Shape;3371;p24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372" name="Google Shape;3372;p24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3" name="Google Shape;3373;p24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3374" name="Google Shape;3374;p24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375" name="Google Shape;3375;p24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376" name="Google Shape;3376;p24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377" name="Google Shape;3377;p2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378" name="Google Shape;3378;p24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379" name="Google Shape;3379;p24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0" name="Google Shape;3380;p24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3381" name="Google Shape;3381;p24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$138,470</a:t>
            </a:r>
            <a:endParaRPr/>
          </a:p>
        </p:txBody>
      </p:sp>
      <p:sp>
        <p:nvSpPr>
          <p:cNvPr id="3382" name="Google Shape;3382;p24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$118,947</a:t>
            </a:r>
            <a:endParaRPr/>
          </a:p>
        </p:txBody>
      </p:sp>
      <p:sp>
        <p:nvSpPr>
          <p:cNvPr id="3383" name="Google Shape;3383;p24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384" name="Google Shape;3384;p24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$19,524</a:t>
            </a:r>
            <a:endParaRPr/>
          </a:p>
        </p:txBody>
      </p:sp>
      <p:sp>
        <p:nvSpPr>
          <p:cNvPr id="3385" name="Google Shape;3385;p24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386" name="Google Shape;3386;p24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7" name="Google Shape;3387;p2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3388" name="Google Shape;3388;p24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$34,266</a:t>
            </a:r>
            <a:endParaRPr/>
          </a:p>
        </p:txBody>
      </p:sp>
      <p:sp>
        <p:nvSpPr>
          <p:cNvPr id="3389" name="Google Shape;3389;p24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$27,036</a:t>
            </a:r>
            <a:endParaRPr/>
          </a:p>
        </p:txBody>
      </p:sp>
      <p:sp>
        <p:nvSpPr>
          <p:cNvPr id="3390" name="Google Shape;3390;p24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391" name="Google Shape;3391;p24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$7,231</a:t>
            </a:r>
            <a:endParaRPr/>
          </a:p>
        </p:txBody>
      </p:sp>
      <p:sp>
        <p:nvSpPr>
          <p:cNvPr id="3392" name="Google Shape;3392;p24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393" name="Google Shape;3393;p24"/>
          <p:cNvSpPr/>
          <p:nvPr/>
        </p:nvSpPr>
        <p:spPr>
          <a:xfrm>
            <a:off x="365760" y="4123944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4" name="Google Shape;3394;p24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3395" name="Google Shape;3395;p24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396" name="Google Shape;3396;p24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397" name="Google Shape;3397;p2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398" name="Google Shape;3398;p24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399" name="Google Shape;3399;p24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400" name="Google Shape;3400;p24"/>
          <p:cNvSpPr/>
          <p:nvPr/>
        </p:nvSpPr>
        <p:spPr>
          <a:xfrm>
            <a:off x="365760" y="4425696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1" name="Google Shape;3401;p24"/>
          <p:cNvSpPr txBox="1"/>
          <p:nvPr/>
        </p:nvSpPr>
        <p:spPr>
          <a:xfrm>
            <a:off x="3657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3402" name="Google Shape;3402;p24"/>
          <p:cNvSpPr txBox="1"/>
          <p:nvPr/>
        </p:nvSpPr>
        <p:spPr>
          <a:xfrm>
            <a:off x="1280160" y="446227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$233,845</a:t>
            </a:r>
            <a:endParaRPr/>
          </a:p>
        </p:txBody>
      </p:sp>
      <p:sp>
        <p:nvSpPr>
          <p:cNvPr id="3403" name="Google Shape;3403;p24"/>
          <p:cNvSpPr txBox="1"/>
          <p:nvPr/>
        </p:nvSpPr>
        <p:spPr>
          <a:xfrm>
            <a:off x="2377439" y="446227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$145,982</a:t>
            </a:r>
            <a:endParaRPr/>
          </a:p>
        </p:txBody>
      </p:sp>
      <p:sp>
        <p:nvSpPr>
          <p:cNvPr id="3404" name="Google Shape;3404;p24"/>
          <p:cNvSpPr txBox="1"/>
          <p:nvPr/>
        </p:nvSpPr>
        <p:spPr>
          <a:xfrm>
            <a:off x="33832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$61,108</a:t>
            </a:r>
            <a:endParaRPr/>
          </a:p>
        </p:txBody>
      </p:sp>
      <p:sp>
        <p:nvSpPr>
          <p:cNvPr id="3405" name="Google Shape;3405;p24"/>
          <p:cNvSpPr txBox="1"/>
          <p:nvPr/>
        </p:nvSpPr>
        <p:spPr>
          <a:xfrm>
            <a:off x="42976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$26,754</a:t>
            </a:r>
            <a:endParaRPr/>
          </a:p>
        </p:txBody>
      </p:sp>
      <p:sp>
        <p:nvSpPr>
          <p:cNvPr id="3406" name="Google Shape;3406;p24"/>
          <p:cNvSpPr txBox="1"/>
          <p:nvPr/>
        </p:nvSpPr>
        <p:spPr>
          <a:xfrm>
            <a:off x="52120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407" name="Google Shape;3407;p24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8" name="Google Shape;3408;p24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 &amp; PIPELINE</a:t>
            </a:r>
            <a:endParaRPr/>
          </a:p>
        </p:txBody>
      </p:sp>
      <p:sp>
        <p:nvSpPr>
          <p:cNvPr id="3409" name="Google Shape;3409;p24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3410" name="Google Shape;3410;p24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Subs</a:t>
            </a:r>
            <a:endParaRPr/>
          </a:p>
        </p:txBody>
      </p:sp>
      <p:sp>
        <p:nvSpPr>
          <p:cNvPr id="3411" name="Google Shape;3411;p24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</a:t>
            </a:r>
            <a:endParaRPr/>
          </a:p>
        </p:txBody>
      </p:sp>
      <p:sp>
        <p:nvSpPr>
          <p:cNvPr id="3412" name="Google Shape;3412;p24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Non-Fleet</a:t>
            </a:r>
            <a:endParaRPr/>
          </a:p>
        </p:txBody>
      </p:sp>
      <p:sp>
        <p:nvSpPr>
          <p:cNvPr id="3413" name="Google Shape;3413;p24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3414" name="Google Shape;3414;p2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3415" name="Google Shape;3415;p24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6" name="Google Shape;3416;p24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3417" name="Google Shape;3417;p24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/>
          </a:p>
        </p:txBody>
      </p:sp>
      <p:sp>
        <p:nvSpPr>
          <p:cNvPr id="3418" name="Google Shape;3418;p24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3419" name="Google Shape;3419;p24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3420" name="Google Shape;3420;p24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3421" name="Google Shape;3421;p24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28.6%</a:t>
            </a:r>
            <a:endParaRPr/>
          </a:p>
        </p:txBody>
      </p:sp>
      <p:sp>
        <p:nvSpPr>
          <p:cNvPr id="3422" name="Google Shape;3422;p24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3" name="Google Shape;3423;p24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3424" name="Google Shape;3424;p2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3425" name="Google Shape;3425;p24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3426" name="Google Shape;3426;p24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3427" name="Google Shape;3427;p24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3428" name="Google Shape;3428;p24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50.0%</a:t>
            </a:r>
            <a:endParaRPr/>
          </a:p>
        </p:txBody>
      </p:sp>
      <p:sp>
        <p:nvSpPr>
          <p:cNvPr id="3429" name="Google Shape;3429;p24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0" name="Google Shape;3430;p24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3431" name="Google Shape;3431;p24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/>
          </a:p>
        </p:txBody>
      </p:sp>
      <p:sp>
        <p:nvSpPr>
          <p:cNvPr id="3432" name="Google Shape;3432;p24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/>
          </a:p>
        </p:txBody>
      </p:sp>
      <p:sp>
        <p:nvSpPr>
          <p:cNvPr id="3433" name="Google Shape;3433;p24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3434" name="Google Shape;3434;p2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3435" name="Google Shape;3435;p24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30.0%</a:t>
            </a:r>
            <a:endParaRPr/>
          </a:p>
        </p:txBody>
      </p:sp>
      <p:sp>
        <p:nvSpPr>
          <p:cNvPr id="3436" name="Google Shape;3436;p24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7" name="Google Shape;3437;p24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3438" name="Google Shape;3438;p24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</a:t>
            </a:r>
            <a:endParaRPr/>
          </a:p>
        </p:txBody>
      </p:sp>
      <p:sp>
        <p:nvSpPr>
          <p:cNvPr id="3439" name="Google Shape;3439;p24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3440" name="Google Shape;3440;p24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</a:t>
            </a:r>
            <a:endParaRPr/>
          </a:p>
        </p:txBody>
      </p:sp>
      <p:sp>
        <p:nvSpPr>
          <p:cNvPr id="3441" name="Google Shape;3441;p24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3442" name="Google Shape;3442;p24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30.8%</a:t>
            </a:r>
            <a:endParaRPr/>
          </a:p>
        </p:txBody>
      </p:sp>
      <p:sp>
        <p:nvSpPr>
          <p:cNvPr id="3443" name="Google Shape;3443;p24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4" name="Google Shape;3444;p2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3445" name="Google Shape;3445;p24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</a:t>
            </a:r>
            <a:endParaRPr/>
          </a:p>
        </p:txBody>
      </p:sp>
      <p:sp>
        <p:nvSpPr>
          <p:cNvPr id="3446" name="Google Shape;3446;p24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/>
          </a:p>
        </p:txBody>
      </p:sp>
      <p:sp>
        <p:nvSpPr>
          <p:cNvPr id="3447" name="Google Shape;3447;p24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</a:t>
            </a:r>
            <a:endParaRPr/>
          </a:p>
        </p:txBody>
      </p:sp>
      <p:sp>
        <p:nvSpPr>
          <p:cNvPr id="3448" name="Google Shape;3448;p24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3449" name="Google Shape;3449;p24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15.8%</a:t>
            </a:r>
            <a:endParaRPr/>
          </a:p>
        </p:txBody>
      </p:sp>
      <p:sp>
        <p:nvSpPr>
          <p:cNvPr id="3450" name="Google Shape;3450;p24"/>
          <p:cNvSpPr/>
          <p:nvPr/>
        </p:nvSpPr>
        <p:spPr>
          <a:xfrm>
            <a:off x="6309360" y="4123944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1" name="Google Shape;3451;p24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3452" name="Google Shape;3452;p24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3453" name="Google Shape;3453;p24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3454" name="Google Shape;3454;p2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3455" name="Google Shape;3455;p24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3456" name="Google Shape;3456;p24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3457" name="Google Shape;3457;p24"/>
          <p:cNvSpPr/>
          <p:nvPr/>
        </p:nvSpPr>
        <p:spPr>
          <a:xfrm>
            <a:off x="6309360" y="4425696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8" name="Google Shape;3458;p24"/>
          <p:cNvSpPr txBox="1"/>
          <p:nvPr/>
        </p:nvSpPr>
        <p:spPr>
          <a:xfrm>
            <a:off x="63093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3459" name="Google Shape;3459;p24"/>
          <p:cNvSpPr txBox="1"/>
          <p:nvPr/>
        </p:nvSpPr>
        <p:spPr>
          <a:xfrm>
            <a:off x="722376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43</a:t>
            </a:r>
            <a:endParaRPr/>
          </a:p>
        </p:txBody>
      </p:sp>
      <p:sp>
        <p:nvSpPr>
          <p:cNvPr id="3460" name="Google Shape;3460;p24"/>
          <p:cNvSpPr txBox="1"/>
          <p:nvPr/>
        </p:nvSpPr>
        <p:spPr>
          <a:xfrm>
            <a:off x="804672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</a:t>
            </a:r>
            <a:endParaRPr/>
          </a:p>
        </p:txBody>
      </p:sp>
      <p:sp>
        <p:nvSpPr>
          <p:cNvPr id="3461" name="Google Shape;3461;p24"/>
          <p:cNvSpPr txBox="1"/>
          <p:nvPr/>
        </p:nvSpPr>
        <p:spPr>
          <a:xfrm>
            <a:off x="886968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31</a:t>
            </a:r>
            <a:endParaRPr/>
          </a:p>
        </p:txBody>
      </p:sp>
      <p:sp>
        <p:nvSpPr>
          <p:cNvPr id="3462" name="Google Shape;3462;p24"/>
          <p:cNvSpPr txBox="1"/>
          <p:nvPr/>
        </p:nvSpPr>
        <p:spPr>
          <a:xfrm>
            <a:off x="978408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3463" name="Google Shape;3463;p24"/>
          <p:cNvSpPr txBox="1"/>
          <p:nvPr/>
        </p:nvSpPr>
        <p:spPr>
          <a:xfrm>
            <a:off x="1060704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11.6%</a:t>
            </a:r>
            <a:endParaRPr/>
          </a:p>
        </p:txBody>
      </p:sp>
      <p:sp>
        <p:nvSpPr>
          <p:cNvPr id="3464" name="Google Shape;3464;p24"/>
          <p:cNvSpPr/>
          <p:nvPr/>
        </p:nvSpPr>
        <p:spPr>
          <a:xfrm>
            <a:off x="365760" y="4782312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5" name="Google Shape;3465;p24"/>
          <p:cNvSpPr txBox="1"/>
          <p:nvPr/>
        </p:nvSpPr>
        <p:spPr>
          <a:xfrm>
            <a:off x="457200" y="4800599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YOY COMPARISON — Jan–Jun 2025 vs Jan–Jun 2026</a:t>
            </a:r>
            <a:endParaRPr/>
          </a:p>
        </p:txBody>
      </p:sp>
      <p:sp>
        <p:nvSpPr>
          <p:cNvPr id="3466" name="Google Shape;3466;p24"/>
          <p:cNvSpPr txBox="1"/>
          <p:nvPr/>
        </p:nvSpPr>
        <p:spPr>
          <a:xfrm>
            <a:off x="365760" y="5056631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00" u="none" cap="none" strike="noStrike">
              <a:solidFill>
                <a:srgbClr val="6B728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67" name="Google Shape;3467;p24"/>
          <p:cNvSpPr txBox="1"/>
          <p:nvPr/>
        </p:nvSpPr>
        <p:spPr>
          <a:xfrm>
            <a:off x="1463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'25</a:t>
            </a:r>
            <a:endParaRPr/>
          </a:p>
        </p:txBody>
      </p:sp>
      <p:sp>
        <p:nvSpPr>
          <p:cNvPr id="3468" name="Google Shape;3468;p24"/>
          <p:cNvSpPr txBox="1"/>
          <p:nvPr/>
        </p:nvSpPr>
        <p:spPr>
          <a:xfrm>
            <a:off x="2148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'26</a:t>
            </a:r>
            <a:endParaRPr/>
          </a:p>
        </p:txBody>
      </p:sp>
      <p:sp>
        <p:nvSpPr>
          <p:cNvPr id="3469" name="Google Shape;3469;p24"/>
          <p:cNvSpPr txBox="1"/>
          <p:nvPr/>
        </p:nvSpPr>
        <p:spPr>
          <a:xfrm>
            <a:off x="2834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'25</a:t>
            </a:r>
            <a:endParaRPr/>
          </a:p>
        </p:txBody>
      </p:sp>
      <p:sp>
        <p:nvSpPr>
          <p:cNvPr id="3470" name="Google Shape;3470;p24"/>
          <p:cNvSpPr txBox="1"/>
          <p:nvPr/>
        </p:nvSpPr>
        <p:spPr>
          <a:xfrm>
            <a:off x="3520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'26</a:t>
            </a:r>
            <a:endParaRPr/>
          </a:p>
        </p:txBody>
      </p:sp>
      <p:sp>
        <p:nvSpPr>
          <p:cNvPr id="3471" name="Google Shape;3471;p24"/>
          <p:cNvSpPr txBox="1"/>
          <p:nvPr/>
        </p:nvSpPr>
        <p:spPr>
          <a:xfrm>
            <a:off x="4206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'25</a:t>
            </a:r>
            <a:endParaRPr/>
          </a:p>
        </p:txBody>
      </p:sp>
      <p:sp>
        <p:nvSpPr>
          <p:cNvPr id="3472" name="Google Shape;3472;p24"/>
          <p:cNvSpPr txBox="1"/>
          <p:nvPr/>
        </p:nvSpPr>
        <p:spPr>
          <a:xfrm>
            <a:off x="4892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'26</a:t>
            </a:r>
            <a:endParaRPr/>
          </a:p>
        </p:txBody>
      </p:sp>
      <p:sp>
        <p:nvSpPr>
          <p:cNvPr id="3473" name="Google Shape;3473;p24"/>
          <p:cNvSpPr txBox="1"/>
          <p:nvPr/>
        </p:nvSpPr>
        <p:spPr>
          <a:xfrm>
            <a:off x="5577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'25</a:t>
            </a:r>
            <a:endParaRPr/>
          </a:p>
        </p:txBody>
      </p:sp>
      <p:sp>
        <p:nvSpPr>
          <p:cNvPr id="3474" name="Google Shape;3474;p24"/>
          <p:cNvSpPr txBox="1"/>
          <p:nvPr/>
        </p:nvSpPr>
        <p:spPr>
          <a:xfrm>
            <a:off x="6263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'26</a:t>
            </a:r>
            <a:endParaRPr/>
          </a:p>
        </p:txBody>
      </p:sp>
      <p:sp>
        <p:nvSpPr>
          <p:cNvPr id="3475" name="Google Shape;3475;p24"/>
          <p:cNvSpPr txBox="1"/>
          <p:nvPr/>
        </p:nvSpPr>
        <p:spPr>
          <a:xfrm>
            <a:off x="6949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'25</a:t>
            </a:r>
            <a:endParaRPr/>
          </a:p>
        </p:txBody>
      </p:sp>
      <p:sp>
        <p:nvSpPr>
          <p:cNvPr id="3476" name="Google Shape;3476;p24"/>
          <p:cNvSpPr txBox="1"/>
          <p:nvPr/>
        </p:nvSpPr>
        <p:spPr>
          <a:xfrm>
            <a:off x="7635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'26</a:t>
            </a:r>
            <a:endParaRPr/>
          </a:p>
        </p:txBody>
      </p:sp>
      <p:sp>
        <p:nvSpPr>
          <p:cNvPr id="3477" name="Google Shape;3477;p24"/>
          <p:cNvSpPr txBox="1"/>
          <p:nvPr/>
        </p:nvSpPr>
        <p:spPr>
          <a:xfrm>
            <a:off x="8321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'25</a:t>
            </a:r>
            <a:endParaRPr/>
          </a:p>
        </p:txBody>
      </p:sp>
      <p:sp>
        <p:nvSpPr>
          <p:cNvPr id="3478" name="Google Shape;3478;p24"/>
          <p:cNvSpPr txBox="1"/>
          <p:nvPr/>
        </p:nvSpPr>
        <p:spPr>
          <a:xfrm>
            <a:off x="9006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'26</a:t>
            </a:r>
            <a:endParaRPr/>
          </a:p>
        </p:txBody>
      </p:sp>
      <p:sp>
        <p:nvSpPr>
          <p:cNvPr id="3479" name="Google Shape;3479;p24"/>
          <p:cNvSpPr txBox="1"/>
          <p:nvPr/>
        </p:nvSpPr>
        <p:spPr>
          <a:xfrm>
            <a:off x="969264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'25 Tot</a:t>
            </a:r>
            <a:endParaRPr/>
          </a:p>
        </p:txBody>
      </p:sp>
      <p:sp>
        <p:nvSpPr>
          <p:cNvPr id="3480" name="Google Shape;3480;p24"/>
          <p:cNvSpPr txBox="1"/>
          <p:nvPr/>
        </p:nvSpPr>
        <p:spPr>
          <a:xfrm>
            <a:off x="1088136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'26 Tot</a:t>
            </a:r>
            <a:endParaRPr/>
          </a:p>
        </p:txBody>
      </p:sp>
      <p:sp>
        <p:nvSpPr>
          <p:cNvPr id="3481" name="Google Shape;3481;p24"/>
          <p:cNvSpPr txBox="1"/>
          <p:nvPr/>
        </p:nvSpPr>
        <p:spPr>
          <a:xfrm>
            <a:off x="365760" y="523951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3482" name="Google Shape;3482;p24"/>
          <p:cNvSpPr txBox="1"/>
          <p:nvPr/>
        </p:nvSpPr>
        <p:spPr>
          <a:xfrm>
            <a:off x="1463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</a:t>
            </a:r>
            <a:endParaRPr/>
          </a:p>
        </p:txBody>
      </p:sp>
      <p:sp>
        <p:nvSpPr>
          <p:cNvPr id="3483" name="Google Shape;3483;p24"/>
          <p:cNvSpPr txBox="1"/>
          <p:nvPr/>
        </p:nvSpPr>
        <p:spPr>
          <a:xfrm>
            <a:off x="2148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/>
          </a:p>
        </p:txBody>
      </p:sp>
      <p:sp>
        <p:nvSpPr>
          <p:cNvPr id="3484" name="Google Shape;3484;p24"/>
          <p:cNvSpPr txBox="1"/>
          <p:nvPr/>
        </p:nvSpPr>
        <p:spPr>
          <a:xfrm>
            <a:off x="2834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</a:t>
            </a:r>
            <a:endParaRPr/>
          </a:p>
        </p:txBody>
      </p:sp>
      <p:sp>
        <p:nvSpPr>
          <p:cNvPr id="3485" name="Google Shape;3485;p24"/>
          <p:cNvSpPr txBox="1"/>
          <p:nvPr/>
        </p:nvSpPr>
        <p:spPr>
          <a:xfrm>
            <a:off x="3520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3486" name="Google Shape;3486;p24"/>
          <p:cNvSpPr txBox="1"/>
          <p:nvPr/>
        </p:nvSpPr>
        <p:spPr>
          <a:xfrm>
            <a:off x="4206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24</a:t>
            </a:r>
            <a:endParaRPr/>
          </a:p>
        </p:txBody>
      </p:sp>
      <p:sp>
        <p:nvSpPr>
          <p:cNvPr id="3487" name="Google Shape;3487;p24"/>
          <p:cNvSpPr txBox="1"/>
          <p:nvPr/>
        </p:nvSpPr>
        <p:spPr>
          <a:xfrm>
            <a:off x="4892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/>
          </a:p>
        </p:txBody>
      </p:sp>
      <p:sp>
        <p:nvSpPr>
          <p:cNvPr id="3488" name="Google Shape;3488;p24"/>
          <p:cNvSpPr txBox="1"/>
          <p:nvPr/>
        </p:nvSpPr>
        <p:spPr>
          <a:xfrm>
            <a:off x="5577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</a:t>
            </a:r>
            <a:endParaRPr/>
          </a:p>
        </p:txBody>
      </p:sp>
      <p:sp>
        <p:nvSpPr>
          <p:cNvPr id="3489" name="Google Shape;3489;p24"/>
          <p:cNvSpPr txBox="1"/>
          <p:nvPr/>
        </p:nvSpPr>
        <p:spPr>
          <a:xfrm>
            <a:off x="6263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</a:t>
            </a:r>
            <a:endParaRPr/>
          </a:p>
        </p:txBody>
      </p:sp>
      <p:sp>
        <p:nvSpPr>
          <p:cNvPr id="3490" name="Google Shape;3490;p24"/>
          <p:cNvSpPr txBox="1"/>
          <p:nvPr/>
        </p:nvSpPr>
        <p:spPr>
          <a:xfrm>
            <a:off x="6949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</a:t>
            </a:r>
            <a:endParaRPr/>
          </a:p>
        </p:txBody>
      </p:sp>
      <p:sp>
        <p:nvSpPr>
          <p:cNvPr id="3491" name="Google Shape;3491;p24"/>
          <p:cNvSpPr txBox="1"/>
          <p:nvPr/>
        </p:nvSpPr>
        <p:spPr>
          <a:xfrm>
            <a:off x="7635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</a:t>
            </a:r>
            <a:endParaRPr/>
          </a:p>
        </p:txBody>
      </p:sp>
      <p:sp>
        <p:nvSpPr>
          <p:cNvPr id="3492" name="Google Shape;3492;p24"/>
          <p:cNvSpPr txBox="1"/>
          <p:nvPr/>
        </p:nvSpPr>
        <p:spPr>
          <a:xfrm>
            <a:off x="8321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</a:t>
            </a:r>
            <a:endParaRPr/>
          </a:p>
        </p:txBody>
      </p:sp>
      <p:sp>
        <p:nvSpPr>
          <p:cNvPr id="3493" name="Google Shape;3493;p24"/>
          <p:cNvSpPr txBox="1"/>
          <p:nvPr/>
        </p:nvSpPr>
        <p:spPr>
          <a:xfrm>
            <a:off x="9006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3494" name="Google Shape;3494;p24"/>
          <p:cNvSpPr txBox="1"/>
          <p:nvPr/>
        </p:nvSpPr>
        <p:spPr>
          <a:xfrm>
            <a:off x="969264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108</a:t>
            </a:r>
            <a:endParaRPr/>
          </a:p>
        </p:txBody>
      </p:sp>
      <p:sp>
        <p:nvSpPr>
          <p:cNvPr id="3495" name="Google Shape;3495;p24"/>
          <p:cNvSpPr txBox="1"/>
          <p:nvPr/>
        </p:nvSpPr>
        <p:spPr>
          <a:xfrm>
            <a:off x="1088136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51</a:t>
            </a:r>
            <a:endParaRPr/>
          </a:p>
        </p:txBody>
      </p:sp>
      <p:sp>
        <p:nvSpPr>
          <p:cNvPr id="3496" name="Google Shape;3496;p24"/>
          <p:cNvSpPr txBox="1"/>
          <p:nvPr/>
        </p:nvSpPr>
        <p:spPr>
          <a:xfrm>
            <a:off x="365760" y="542239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Bound Premium</a:t>
            </a:r>
            <a:endParaRPr/>
          </a:p>
        </p:txBody>
      </p:sp>
      <p:sp>
        <p:nvSpPr>
          <p:cNvPr id="3497" name="Google Shape;3497;p24"/>
          <p:cNvSpPr txBox="1"/>
          <p:nvPr/>
        </p:nvSpPr>
        <p:spPr>
          <a:xfrm>
            <a:off x="1463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$191K</a:t>
            </a:r>
            <a:endParaRPr/>
          </a:p>
        </p:txBody>
      </p:sp>
      <p:sp>
        <p:nvSpPr>
          <p:cNvPr id="3498" name="Google Shape;3498;p24"/>
          <p:cNvSpPr txBox="1"/>
          <p:nvPr/>
        </p:nvSpPr>
        <p:spPr>
          <a:xfrm>
            <a:off x="2148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$61K</a:t>
            </a:r>
            <a:endParaRPr/>
          </a:p>
        </p:txBody>
      </p:sp>
      <p:sp>
        <p:nvSpPr>
          <p:cNvPr id="3499" name="Google Shape;3499;p24"/>
          <p:cNvSpPr txBox="1"/>
          <p:nvPr/>
        </p:nvSpPr>
        <p:spPr>
          <a:xfrm>
            <a:off x="2834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$28K</a:t>
            </a:r>
            <a:endParaRPr/>
          </a:p>
        </p:txBody>
      </p:sp>
      <p:sp>
        <p:nvSpPr>
          <p:cNvPr id="3500" name="Google Shape;3500;p24"/>
          <p:cNvSpPr txBox="1"/>
          <p:nvPr/>
        </p:nvSpPr>
        <p:spPr>
          <a:xfrm>
            <a:off x="3520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501" name="Google Shape;3501;p24"/>
          <p:cNvSpPr txBox="1"/>
          <p:nvPr/>
        </p:nvSpPr>
        <p:spPr>
          <a:xfrm>
            <a:off x="4206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$44K</a:t>
            </a:r>
            <a:endParaRPr/>
          </a:p>
        </p:txBody>
      </p:sp>
      <p:sp>
        <p:nvSpPr>
          <p:cNvPr id="3502" name="Google Shape;3502;p24"/>
          <p:cNvSpPr txBox="1"/>
          <p:nvPr/>
        </p:nvSpPr>
        <p:spPr>
          <a:xfrm>
            <a:off x="4892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503" name="Google Shape;3503;p24"/>
          <p:cNvSpPr txBox="1"/>
          <p:nvPr/>
        </p:nvSpPr>
        <p:spPr>
          <a:xfrm>
            <a:off x="5577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$34K</a:t>
            </a:r>
            <a:endParaRPr/>
          </a:p>
        </p:txBody>
      </p:sp>
      <p:sp>
        <p:nvSpPr>
          <p:cNvPr id="3504" name="Google Shape;3504;p24"/>
          <p:cNvSpPr txBox="1"/>
          <p:nvPr/>
        </p:nvSpPr>
        <p:spPr>
          <a:xfrm>
            <a:off x="6263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$138K</a:t>
            </a:r>
            <a:endParaRPr/>
          </a:p>
        </p:txBody>
      </p:sp>
      <p:sp>
        <p:nvSpPr>
          <p:cNvPr id="3505" name="Google Shape;3505;p24"/>
          <p:cNvSpPr txBox="1"/>
          <p:nvPr/>
        </p:nvSpPr>
        <p:spPr>
          <a:xfrm>
            <a:off x="6949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$24K</a:t>
            </a:r>
            <a:endParaRPr/>
          </a:p>
        </p:txBody>
      </p:sp>
      <p:sp>
        <p:nvSpPr>
          <p:cNvPr id="3506" name="Google Shape;3506;p24"/>
          <p:cNvSpPr txBox="1"/>
          <p:nvPr/>
        </p:nvSpPr>
        <p:spPr>
          <a:xfrm>
            <a:off x="7635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$34K</a:t>
            </a:r>
            <a:endParaRPr/>
          </a:p>
        </p:txBody>
      </p:sp>
      <p:sp>
        <p:nvSpPr>
          <p:cNvPr id="3507" name="Google Shape;3507;p24"/>
          <p:cNvSpPr txBox="1"/>
          <p:nvPr/>
        </p:nvSpPr>
        <p:spPr>
          <a:xfrm>
            <a:off x="8321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$24K</a:t>
            </a:r>
            <a:endParaRPr/>
          </a:p>
        </p:txBody>
      </p:sp>
      <p:sp>
        <p:nvSpPr>
          <p:cNvPr id="3508" name="Google Shape;3508;p24"/>
          <p:cNvSpPr txBox="1"/>
          <p:nvPr/>
        </p:nvSpPr>
        <p:spPr>
          <a:xfrm>
            <a:off x="9006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509" name="Google Shape;3509;p24"/>
          <p:cNvSpPr txBox="1"/>
          <p:nvPr/>
        </p:nvSpPr>
        <p:spPr>
          <a:xfrm>
            <a:off x="969264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$346K</a:t>
            </a:r>
            <a:endParaRPr/>
          </a:p>
        </p:txBody>
      </p:sp>
      <p:sp>
        <p:nvSpPr>
          <p:cNvPr id="3510" name="Google Shape;3510;p24"/>
          <p:cNvSpPr txBox="1"/>
          <p:nvPr/>
        </p:nvSpPr>
        <p:spPr>
          <a:xfrm>
            <a:off x="1088136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$234K</a:t>
            </a:r>
            <a:endParaRPr/>
          </a:p>
        </p:txBody>
      </p:sp>
      <p:sp>
        <p:nvSpPr>
          <p:cNvPr id="3511" name="Google Shape;3511;p24"/>
          <p:cNvSpPr/>
          <p:nvPr/>
        </p:nvSpPr>
        <p:spPr>
          <a:xfrm>
            <a:off x="365760" y="5678423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2" name="Google Shape;3512;p24"/>
          <p:cNvSpPr txBox="1"/>
          <p:nvPr/>
        </p:nvSpPr>
        <p:spPr>
          <a:xfrm>
            <a:off x="4572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65F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STRENGTHS - What's Working</a:t>
            </a:r>
            <a:endParaRPr/>
          </a:p>
        </p:txBody>
      </p:sp>
      <p:sp>
        <p:nvSpPr>
          <p:cNvPr id="3513" name="Google Shape;3513;p24"/>
          <p:cNvSpPr txBox="1"/>
          <p:nvPr/>
        </p:nvSpPr>
        <p:spPr>
          <a:xfrm>
            <a:off x="4572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3514" name="Google Shape;3514;p24"/>
          <p:cNvSpPr txBox="1"/>
          <p:nvPr/>
        </p:nvSpPr>
        <p:spPr>
          <a:xfrm>
            <a:off x="685800" y="5952743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$233,845 YTD gross written premium</a:t>
            </a:r>
            <a:endParaRPr/>
          </a:p>
        </p:txBody>
      </p:sp>
      <p:sp>
        <p:nvSpPr>
          <p:cNvPr id="3515" name="Google Shape;3515;p24"/>
          <p:cNvSpPr txBox="1"/>
          <p:nvPr/>
        </p:nvSpPr>
        <p:spPr>
          <a:xfrm>
            <a:off x="457200" y="6153911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3516" name="Google Shape;3516;p24"/>
          <p:cNvSpPr txBox="1"/>
          <p:nvPr/>
        </p:nvSpPr>
        <p:spPr>
          <a:xfrm>
            <a:off x="685800" y="6153911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$145,982 in new business production</a:t>
            </a:r>
            <a:endParaRPr/>
          </a:p>
        </p:txBody>
      </p:sp>
      <p:sp>
        <p:nvSpPr>
          <p:cNvPr id="3517" name="Google Shape;3517;p24"/>
          <p:cNvSpPr/>
          <p:nvPr/>
        </p:nvSpPr>
        <p:spPr>
          <a:xfrm>
            <a:off x="6309360" y="5678423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8" name="Google Shape;3518;p24"/>
          <p:cNvSpPr txBox="1"/>
          <p:nvPr/>
        </p:nvSpPr>
        <p:spPr>
          <a:xfrm>
            <a:off x="64008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NEEDS ATTENTION</a:t>
            </a:r>
            <a:endParaRPr/>
          </a:p>
        </p:txBody>
      </p:sp>
      <p:sp>
        <p:nvSpPr>
          <p:cNvPr id="3519" name="Google Shape;3519;p24"/>
          <p:cNvSpPr txBox="1"/>
          <p:nvPr/>
        </p:nvSpPr>
        <p:spPr>
          <a:xfrm>
            <a:off x="64008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3520" name="Google Shape;3520;p24"/>
          <p:cNvSpPr txBox="1"/>
          <p:nvPr/>
        </p:nvSpPr>
        <p:spPr>
          <a:xfrm>
            <a:off x="6629400" y="5952743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Written premium dropped 75% month-over-month</a:t>
            </a:r>
            <a:endParaRPr/>
          </a:p>
        </p:txBody>
      </p:sp>
      <p:sp>
        <p:nvSpPr>
          <p:cNvPr id="3521" name="Google Shape;3521;p24"/>
          <p:cNvSpPr/>
          <p:nvPr/>
        </p:nvSpPr>
        <p:spPr>
          <a:xfrm>
            <a:off x="365760" y="6455663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2" name="Google Shape;3522;p24"/>
          <p:cNvSpPr txBox="1"/>
          <p:nvPr/>
        </p:nvSpPr>
        <p:spPr>
          <a:xfrm>
            <a:off x="457200" y="6464807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STRATEGIC SALES TIPS - Conversation Starters</a:t>
            </a:r>
            <a:endParaRPr/>
          </a:p>
        </p:txBody>
      </p:sp>
      <p:sp>
        <p:nvSpPr>
          <p:cNvPr id="3523" name="Google Shape;3523;p24"/>
          <p:cNvSpPr txBox="1"/>
          <p:nvPr/>
        </p:nvSpPr>
        <p:spPr>
          <a:xfrm>
            <a:off x="457200" y="6711695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endParaRPr/>
          </a:p>
        </p:txBody>
      </p:sp>
      <p:sp>
        <p:nvSpPr>
          <p:cNvPr id="3524" name="Google Shape;3524;p24"/>
          <p:cNvSpPr txBox="1"/>
          <p:nvPr/>
        </p:nvSpPr>
        <p:spPr>
          <a:xfrm>
            <a:off x="777240" y="6711695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Acknowledge their $145,982 in new business. Ask: "What types of accounts are you seeing the most success with?" Use this to identify more of their book that fits our appetite.</a:t>
            </a:r>
            <a:endParaRPr/>
          </a:p>
        </p:txBody>
      </p:sp>
      <p:sp>
        <p:nvSpPr>
          <p:cNvPr id="3525" name="Google Shape;3525;p24"/>
          <p:cNvSpPr txBox="1"/>
          <p:nvPr/>
        </p:nvSpPr>
        <p:spPr>
          <a:xfrm>
            <a:off x="457200" y="6949439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endParaRPr/>
          </a:p>
        </p:txBody>
      </p:sp>
      <p:sp>
        <p:nvSpPr>
          <p:cNvPr id="3526" name="Google Shape;3526;p24"/>
          <p:cNvSpPr txBox="1"/>
          <p:nvPr/>
        </p:nvSpPr>
        <p:spPr>
          <a:xfrm>
            <a:off x="777240" y="6949439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Strong $61,108 renewal book. Use this as proof of value: "Your retention shows we're delivering - let's find more accounts like these in your pipeline."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30" name="Shape 3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1" name="Google Shape;3531;p2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2" name="Google Shape;3532;p25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Charles Cain Group</a:t>
            </a:r>
            <a:endParaRPr/>
          </a:p>
        </p:txBody>
      </p:sp>
      <p:sp>
        <p:nvSpPr>
          <p:cNvPr id="3533" name="Google Shape;3533;p25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4B5F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Tier: Tier 2  |  Region: Southeast  |  State: GA  |  City: Marietta</a:t>
            </a:r>
            <a:endParaRPr/>
          </a:p>
        </p:txBody>
      </p:sp>
      <p:sp>
        <p:nvSpPr>
          <p:cNvPr id="3534" name="Google Shape;3534;p25"/>
          <p:cNvSpPr/>
          <p:nvPr/>
        </p:nvSpPr>
        <p:spPr>
          <a:xfrm>
            <a:off x="22860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$220,836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YTD GWP</a:t>
            </a:r>
            <a:endParaRPr/>
          </a:p>
        </p:txBody>
      </p:sp>
      <p:sp>
        <p:nvSpPr>
          <p:cNvPr id="3535" name="Google Shape;3535;p25"/>
          <p:cNvSpPr/>
          <p:nvPr/>
        </p:nvSpPr>
        <p:spPr>
          <a:xfrm>
            <a:off x="256032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$220,836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3536" name="Google Shape;3536;p25"/>
          <p:cNvSpPr/>
          <p:nvPr/>
        </p:nvSpPr>
        <p:spPr>
          <a:xfrm>
            <a:off x="489204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3537" name="Google Shape;3537;p25"/>
          <p:cNvSpPr/>
          <p:nvPr/>
        </p:nvSpPr>
        <p:spPr>
          <a:xfrm>
            <a:off x="7223759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3538" name="Google Shape;3538;p25"/>
          <p:cNvSpPr/>
          <p:nvPr/>
        </p:nvSpPr>
        <p:spPr>
          <a:xfrm>
            <a:off x="955548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$-220,836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3539" name="Google Shape;3539;p25"/>
          <p:cNvSpPr/>
          <p:nvPr/>
        </p:nvSpPr>
        <p:spPr>
          <a:xfrm>
            <a:off x="137160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2025 Full Year GWP</a:t>
            </a:r>
            <a:endParaRPr/>
          </a:p>
        </p:txBody>
      </p:sp>
      <p:sp>
        <p:nvSpPr>
          <p:cNvPr id="3540" name="Google Shape;3540;p25"/>
          <p:cNvSpPr/>
          <p:nvPr/>
        </p:nvSpPr>
        <p:spPr>
          <a:xfrm>
            <a:off x="1627631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$220,836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Rolling 12M GWP</a:t>
            </a:r>
            <a:endParaRPr/>
          </a:p>
        </p:txBody>
      </p:sp>
      <p:sp>
        <p:nvSpPr>
          <p:cNvPr id="3541" name="Google Shape;3541;p25"/>
          <p:cNvSpPr/>
          <p:nvPr/>
        </p:nvSpPr>
        <p:spPr>
          <a:xfrm>
            <a:off x="3118103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% to Goal</a:t>
            </a:r>
            <a:endParaRPr/>
          </a:p>
        </p:txBody>
      </p:sp>
      <p:sp>
        <p:nvSpPr>
          <p:cNvPr id="3542" name="Google Shape;3542;p25"/>
          <p:cNvSpPr/>
          <p:nvPr/>
        </p:nvSpPr>
        <p:spPr>
          <a:xfrm>
            <a:off x="4608576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3543" name="Google Shape;3543;p25"/>
          <p:cNvSpPr/>
          <p:nvPr/>
        </p:nvSpPr>
        <p:spPr>
          <a:xfrm>
            <a:off x="6099048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3544" name="Google Shape;3544;p25"/>
          <p:cNvSpPr/>
          <p:nvPr/>
        </p:nvSpPr>
        <p:spPr>
          <a:xfrm>
            <a:off x="7589519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9.1%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3545" name="Google Shape;3545;p25"/>
          <p:cNvSpPr/>
          <p:nvPr/>
        </p:nvSpPr>
        <p:spPr>
          <a:xfrm>
            <a:off x="9079992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$220,836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 Bound Prem</a:t>
            </a:r>
            <a:endParaRPr/>
          </a:p>
        </p:txBody>
      </p:sp>
      <p:sp>
        <p:nvSpPr>
          <p:cNvPr id="3546" name="Google Shape;3546;p25"/>
          <p:cNvSpPr/>
          <p:nvPr/>
        </p:nvSpPr>
        <p:spPr>
          <a:xfrm>
            <a:off x="10570464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NF Bound Prem</a:t>
            </a:r>
            <a:endParaRPr/>
          </a:p>
        </p:txBody>
      </p:sp>
      <p:sp>
        <p:nvSpPr>
          <p:cNvPr id="3547" name="Google Shape;3547;p25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8" name="Google Shape;3548;p25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PRODUCTION BY MONTH</a:t>
            </a:r>
            <a:endParaRPr/>
          </a:p>
        </p:txBody>
      </p:sp>
      <p:sp>
        <p:nvSpPr>
          <p:cNvPr id="3549" name="Google Shape;3549;p25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3550" name="Google Shape;3550;p25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Written Premium</a:t>
            </a:r>
            <a:endParaRPr/>
          </a:p>
        </p:txBody>
      </p:sp>
      <p:sp>
        <p:nvSpPr>
          <p:cNvPr id="3551" name="Google Shape;3551;p25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3552" name="Google Shape;3552;p25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3553" name="Google Shape;3553;p25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3554" name="Google Shape;3554;p25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3555" name="Google Shape;3555;p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6" name="Google Shape;3556;p25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3557" name="Google Shape;3557;p25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$220,836</a:t>
            </a:r>
            <a:endParaRPr/>
          </a:p>
        </p:txBody>
      </p:sp>
      <p:sp>
        <p:nvSpPr>
          <p:cNvPr id="3558" name="Google Shape;3558;p25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$220,836</a:t>
            </a:r>
            <a:endParaRPr/>
          </a:p>
        </p:txBody>
      </p:sp>
      <p:sp>
        <p:nvSpPr>
          <p:cNvPr id="3559" name="Google Shape;3559;p25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560" name="Google Shape;3560;p25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561" name="Google Shape;3561;p25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$-220,836</a:t>
            </a:r>
            <a:endParaRPr/>
          </a:p>
        </p:txBody>
      </p:sp>
      <p:sp>
        <p:nvSpPr>
          <p:cNvPr id="3562" name="Google Shape;3562;p25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3" name="Google Shape;3563;p25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3564" name="Google Shape;3564;p25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565" name="Google Shape;3565;p2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566" name="Google Shape;3566;p25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567" name="Google Shape;3567;p25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568" name="Google Shape;3568;p25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569" name="Google Shape;3569;p25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0" name="Google Shape;3570;p25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3571" name="Google Shape;3571;p25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572" name="Google Shape;3572;p25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573" name="Google Shape;3573;p25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574" name="Google Shape;3574;p25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575" name="Google Shape;3575;p2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576" name="Google Shape;3576;p25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7" name="Google Shape;3577;p25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3578" name="Google Shape;3578;p25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579" name="Google Shape;3579;p25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580" name="Google Shape;3580;p25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581" name="Google Shape;3581;p25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582" name="Google Shape;3582;p25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583" name="Google Shape;3583;p25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4" name="Google Shape;3584;p25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3585" name="Google Shape;3585;p2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586" name="Google Shape;3586;p25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587" name="Google Shape;3587;p25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588" name="Google Shape;3588;p25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589" name="Google Shape;3589;p25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590" name="Google Shape;3590;p25"/>
          <p:cNvSpPr/>
          <p:nvPr/>
        </p:nvSpPr>
        <p:spPr>
          <a:xfrm>
            <a:off x="365760" y="4123944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1" name="Google Shape;3591;p25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3592" name="Google Shape;3592;p25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593" name="Google Shape;3593;p25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594" name="Google Shape;3594;p25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595" name="Google Shape;3595;p2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596" name="Google Shape;3596;p25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597" name="Google Shape;3597;p25"/>
          <p:cNvSpPr/>
          <p:nvPr/>
        </p:nvSpPr>
        <p:spPr>
          <a:xfrm>
            <a:off x="365760" y="4425696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8" name="Google Shape;3598;p25"/>
          <p:cNvSpPr txBox="1"/>
          <p:nvPr/>
        </p:nvSpPr>
        <p:spPr>
          <a:xfrm>
            <a:off x="3657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3599" name="Google Shape;3599;p25"/>
          <p:cNvSpPr txBox="1"/>
          <p:nvPr/>
        </p:nvSpPr>
        <p:spPr>
          <a:xfrm>
            <a:off x="1280160" y="446227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$220,836</a:t>
            </a:r>
            <a:endParaRPr/>
          </a:p>
        </p:txBody>
      </p:sp>
      <p:sp>
        <p:nvSpPr>
          <p:cNvPr id="3600" name="Google Shape;3600;p25"/>
          <p:cNvSpPr txBox="1"/>
          <p:nvPr/>
        </p:nvSpPr>
        <p:spPr>
          <a:xfrm>
            <a:off x="2377439" y="446227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$220,836</a:t>
            </a:r>
            <a:endParaRPr/>
          </a:p>
        </p:txBody>
      </p:sp>
      <p:sp>
        <p:nvSpPr>
          <p:cNvPr id="3601" name="Google Shape;3601;p25"/>
          <p:cNvSpPr txBox="1"/>
          <p:nvPr/>
        </p:nvSpPr>
        <p:spPr>
          <a:xfrm>
            <a:off x="33832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602" name="Google Shape;3602;p25"/>
          <p:cNvSpPr txBox="1"/>
          <p:nvPr/>
        </p:nvSpPr>
        <p:spPr>
          <a:xfrm>
            <a:off x="42976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603" name="Google Shape;3603;p25"/>
          <p:cNvSpPr txBox="1"/>
          <p:nvPr/>
        </p:nvSpPr>
        <p:spPr>
          <a:xfrm>
            <a:off x="52120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$-220,836</a:t>
            </a:r>
            <a:endParaRPr/>
          </a:p>
        </p:txBody>
      </p:sp>
      <p:sp>
        <p:nvSpPr>
          <p:cNvPr id="3604" name="Google Shape;3604;p25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5" name="Google Shape;3605;p25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 &amp; PIPELINE</a:t>
            </a:r>
            <a:endParaRPr/>
          </a:p>
        </p:txBody>
      </p:sp>
      <p:sp>
        <p:nvSpPr>
          <p:cNvPr id="3606" name="Google Shape;3606;p25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3607" name="Google Shape;3607;p25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Subs</a:t>
            </a:r>
            <a:endParaRPr/>
          </a:p>
        </p:txBody>
      </p:sp>
      <p:sp>
        <p:nvSpPr>
          <p:cNvPr id="3608" name="Google Shape;3608;p25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</a:t>
            </a:r>
            <a:endParaRPr/>
          </a:p>
        </p:txBody>
      </p:sp>
      <p:sp>
        <p:nvSpPr>
          <p:cNvPr id="3609" name="Google Shape;3609;p25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Non-Fleet</a:t>
            </a:r>
            <a:endParaRPr/>
          </a:p>
        </p:txBody>
      </p:sp>
      <p:sp>
        <p:nvSpPr>
          <p:cNvPr id="3610" name="Google Shape;3610;p25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3611" name="Google Shape;3611;p25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3612" name="Google Shape;3612;p2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3" name="Google Shape;3613;p25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3614" name="Google Shape;3614;p25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/>
          </a:p>
        </p:txBody>
      </p:sp>
      <p:sp>
        <p:nvSpPr>
          <p:cNvPr id="3615" name="Google Shape;3615;p25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3616" name="Google Shape;3616;p25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3617" name="Google Shape;3617;p25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3618" name="Google Shape;3618;p25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16.7%</a:t>
            </a:r>
            <a:endParaRPr/>
          </a:p>
        </p:txBody>
      </p:sp>
      <p:sp>
        <p:nvSpPr>
          <p:cNvPr id="3619" name="Google Shape;3619;p25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0" name="Google Shape;3620;p25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3621" name="Google Shape;3621;p25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3622" name="Google Shape;3622;p2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3623" name="Google Shape;3623;p25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3624" name="Google Shape;3624;p25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3625" name="Google Shape;3625;p25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3626" name="Google Shape;3626;p25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7" name="Google Shape;3627;p25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3628" name="Google Shape;3628;p25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3629" name="Google Shape;3629;p25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3630" name="Google Shape;3630;p25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3631" name="Google Shape;3631;p25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3632" name="Google Shape;3632;p2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3633" name="Google Shape;3633;p25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4" name="Google Shape;3634;p25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3635" name="Google Shape;3635;p25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3636" name="Google Shape;3636;p25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3637" name="Google Shape;3637;p25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3638" name="Google Shape;3638;p25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3639" name="Google Shape;3639;p25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3640" name="Google Shape;3640;p25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1" name="Google Shape;3641;p25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3642" name="Google Shape;3642;p2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3643" name="Google Shape;3643;p25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3644" name="Google Shape;3644;p25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3645" name="Google Shape;3645;p25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3646" name="Google Shape;3646;p25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3647" name="Google Shape;3647;p25"/>
          <p:cNvSpPr/>
          <p:nvPr/>
        </p:nvSpPr>
        <p:spPr>
          <a:xfrm>
            <a:off x="6309360" y="4123944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8" name="Google Shape;3648;p25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3649" name="Google Shape;3649;p25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3650" name="Google Shape;3650;p25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3651" name="Google Shape;3651;p25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3652" name="Google Shape;3652;p2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3653" name="Google Shape;3653;p25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3654" name="Google Shape;3654;p25"/>
          <p:cNvSpPr/>
          <p:nvPr/>
        </p:nvSpPr>
        <p:spPr>
          <a:xfrm>
            <a:off x="6309360" y="4425696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5" name="Google Shape;3655;p25"/>
          <p:cNvSpPr txBox="1"/>
          <p:nvPr/>
        </p:nvSpPr>
        <p:spPr>
          <a:xfrm>
            <a:off x="63093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3656" name="Google Shape;3656;p25"/>
          <p:cNvSpPr txBox="1"/>
          <p:nvPr/>
        </p:nvSpPr>
        <p:spPr>
          <a:xfrm>
            <a:off x="722376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</a:t>
            </a:r>
            <a:endParaRPr/>
          </a:p>
        </p:txBody>
      </p:sp>
      <p:sp>
        <p:nvSpPr>
          <p:cNvPr id="3657" name="Google Shape;3657;p25"/>
          <p:cNvSpPr txBox="1"/>
          <p:nvPr/>
        </p:nvSpPr>
        <p:spPr>
          <a:xfrm>
            <a:off x="804672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/>
          </a:p>
        </p:txBody>
      </p:sp>
      <p:sp>
        <p:nvSpPr>
          <p:cNvPr id="3658" name="Google Shape;3658;p25"/>
          <p:cNvSpPr txBox="1"/>
          <p:nvPr/>
        </p:nvSpPr>
        <p:spPr>
          <a:xfrm>
            <a:off x="886968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3659" name="Google Shape;3659;p25"/>
          <p:cNvSpPr txBox="1"/>
          <p:nvPr/>
        </p:nvSpPr>
        <p:spPr>
          <a:xfrm>
            <a:off x="978408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3660" name="Google Shape;3660;p25"/>
          <p:cNvSpPr txBox="1"/>
          <p:nvPr/>
        </p:nvSpPr>
        <p:spPr>
          <a:xfrm>
            <a:off x="1060704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9.1%</a:t>
            </a:r>
            <a:endParaRPr/>
          </a:p>
        </p:txBody>
      </p:sp>
      <p:sp>
        <p:nvSpPr>
          <p:cNvPr id="3661" name="Google Shape;3661;p25"/>
          <p:cNvSpPr/>
          <p:nvPr/>
        </p:nvSpPr>
        <p:spPr>
          <a:xfrm>
            <a:off x="365760" y="4782312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2" name="Google Shape;3662;p25"/>
          <p:cNvSpPr txBox="1"/>
          <p:nvPr/>
        </p:nvSpPr>
        <p:spPr>
          <a:xfrm>
            <a:off x="457200" y="4800599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YOY COMPARISON — Jan–Jun 2025 vs Jan–Jun 2026</a:t>
            </a:r>
            <a:endParaRPr/>
          </a:p>
        </p:txBody>
      </p:sp>
      <p:sp>
        <p:nvSpPr>
          <p:cNvPr id="3663" name="Google Shape;3663;p25"/>
          <p:cNvSpPr txBox="1"/>
          <p:nvPr/>
        </p:nvSpPr>
        <p:spPr>
          <a:xfrm>
            <a:off x="365760" y="5056631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00" u="none" cap="none" strike="noStrike">
              <a:solidFill>
                <a:srgbClr val="6B728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664" name="Google Shape;3664;p25"/>
          <p:cNvSpPr txBox="1"/>
          <p:nvPr/>
        </p:nvSpPr>
        <p:spPr>
          <a:xfrm>
            <a:off x="1463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'25</a:t>
            </a:r>
            <a:endParaRPr/>
          </a:p>
        </p:txBody>
      </p:sp>
      <p:sp>
        <p:nvSpPr>
          <p:cNvPr id="3665" name="Google Shape;3665;p25"/>
          <p:cNvSpPr txBox="1"/>
          <p:nvPr/>
        </p:nvSpPr>
        <p:spPr>
          <a:xfrm>
            <a:off x="2148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'26</a:t>
            </a:r>
            <a:endParaRPr/>
          </a:p>
        </p:txBody>
      </p:sp>
      <p:sp>
        <p:nvSpPr>
          <p:cNvPr id="3666" name="Google Shape;3666;p25"/>
          <p:cNvSpPr txBox="1"/>
          <p:nvPr/>
        </p:nvSpPr>
        <p:spPr>
          <a:xfrm>
            <a:off x="2834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'25</a:t>
            </a:r>
            <a:endParaRPr/>
          </a:p>
        </p:txBody>
      </p:sp>
      <p:sp>
        <p:nvSpPr>
          <p:cNvPr id="3667" name="Google Shape;3667;p25"/>
          <p:cNvSpPr txBox="1"/>
          <p:nvPr/>
        </p:nvSpPr>
        <p:spPr>
          <a:xfrm>
            <a:off x="3520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'26</a:t>
            </a:r>
            <a:endParaRPr/>
          </a:p>
        </p:txBody>
      </p:sp>
      <p:sp>
        <p:nvSpPr>
          <p:cNvPr id="3668" name="Google Shape;3668;p25"/>
          <p:cNvSpPr txBox="1"/>
          <p:nvPr/>
        </p:nvSpPr>
        <p:spPr>
          <a:xfrm>
            <a:off x="4206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'25</a:t>
            </a:r>
            <a:endParaRPr/>
          </a:p>
        </p:txBody>
      </p:sp>
      <p:sp>
        <p:nvSpPr>
          <p:cNvPr id="3669" name="Google Shape;3669;p25"/>
          <p:cNvSpPr txBox="1"/>
          <p:nvPr/>
        </p:nvSpPr>
        <p:spPr>
          <a:xfrm>
            <a:off x="4892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'26</a:t>
            </a:r>
            <a:endParaRPr/>
          </a:p>
        </p:txBody>
      </p:sp>
      <p:sp>
        <p:nvSpPr>
          <p:cNvPr id="3670" name="Google Shape;3670;p25"/>
          <p:cNvSpPr txBox="1"/>
          <p:nvPr/>
        </p:nvSpPr>
        <p:spPr>
          <a:xfrm>
            <a:off x="5577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'25</a:t>
            </a:r>
            <a:endParaRPr/>
          </a:p>
        </p:txBody>
      </p:sp>
      <p:sp>
        <p:nvSpPr>
          <p:cNvPr id="3671" name="Google Shape;3671;p25"/>
          <p:cNvSpPr txBox="1"/>
          <p:nvPr/>
        </p:nvSpPr>
        <p:spPr>
          <a:xfrm>
            <a:off x="6263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'26</a:t>
            </a:r>
            <a:endParaRPr/>
          </a:p>
        </p:txBody>
      </p:sp>
      <p:sp>
        <p:nvSpPr>
          <p:cNvPr id="3672" name="Google Shape;3672;p25"/>
          <p:cNvSpPr txBox="1"/>
          <p:nvPr/>
        </p:nvSpPr>
        <p:spPr>
          <a:xfrm>
            <a:off x="6949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'25</a:t>
            </a:r>
            <a:endParaRPr/>
          </a:p>
        </p:txBody>
      </p:sp>
      <p:sp>
        <p:nvSpPr>
          <p:cNvPr id="3673" name="Google Shape;3673;p25"/>
          <p:cNvSpPr txBox="1"/>
          <p:nvPr/>
        </p:nvSpPr>
        <p:spPr>
          <a:xfrm>
            <a:off x="7635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'26</a:t>
            </a:r>
            <a:endParaRPr/>
          </a:p>
        </p:txBody>
      </p:sp>
      <p:sp>
        <p:nvSpPr>
          <p:cNvPr id="3674" name="Google Shape;3674;p25"/>
          <p:cNvSpPr txBox="1"/>
          <p:nvPr/>
        </p:nvSpPr>
        <p:spPr>
          <a:xfrm>
            <a:off x="8321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'25</a:t>
            </a:r>
            <a:endParaRPr/>
          </a:p>
        </p:txBody>
      </p:sp>
      <p:sp>
        <p:nvSpPr>
          <p:cNvPr id="3675" name="Google Shape;3675;p25"/>
          <p:cNvSpPr txBox="1"/>
          <p:nvPr/>
        </p:nvSpPr>
        <p:spPr>
          <a:xfrm>
            <a:off x="9006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'26</a:t>
            </a:r>
            <a:endParaRPr/>
          </a:p>
        </p:txBody>
      </p:sp>
      <p:sp>
        <p:nvSpPr>
          <p:cNvPr id="3676" name="Google Shape;3676;p25"/>
          <p:cNvSpPr txBox="1"/>
          <p:nvPr/>
        </p:nvSpPr>
        <p:spPr>
          <a:xfrm>
            <a:off x="969264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'25 Tot</a:t>
            </a:r>
            <a:endParaRPr/>
          </a:p>
        </p:txBody>
      </p:sp>
      <p:sp>
        <p:nvSpPr>
          <p:cNvPr id="3677" name="Google Shape;3677;p25"/>
          <p:cNvSpPr txBox="1"/>
          <p:nvPr/>
        </p:nvSpPr>
        <p:spPr>
          <a:xfrm>
            <a:off x="1088136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'26 Tot</a:t>
            </a:r>
            <a:endParaRPr/>
          </a:p>
        </p:txBody>
      </p:sp>
      <p:sp>
        <p:nvSpPr>
          <p:cNvPr id="3678" name="Google Shape;3678;p25"/>
          <p:cNvSpPr txBox="1"/>
          <p:nvPr/>
        </p:nvSpPr>
        <p:spPr>
          <a:xfrm>
            <a:off x="365760" y="523951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3679" name="Google Shape;3679;p25"/>
          <p:cNvSpPr txBox="1"/>
          <p:nvPr/>
        </p:nvSpPr>
        <p:spPr>
          <a:xfrm>
            <a:off x="1463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3680" name="Google Shape;3680;p25"/>
          <p:cNvSpPr txBox="1"/>
          <p:nvPr/>
        </p:nvSpPr>
        <p:spPr>
          <a:xfrm>
            <a:off x="2148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/>
          </a:p>
        </p:txBody>
      </p:sp>
      <p:sp>
        <p:nvSpPr>
          <p:cNvPr id="3681" name="Google Shape;3681;p25"/>
          <p:cNvSpPr txBox="1"/>
          <p:nvPr/>
        </p:nvSpPr>
        <p:spPr>
          <a:xfrm>
            <a:off x="2834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3682" name="Google Shape;3682;p25"/>
          <p:cNvSpPr txBox="1"/>
          <p:nvPr/>
        </p:nvSpPr>
        <p:spPr>
          <a:xfrm>
            <a:off x="3520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3683" name="Google Shape;3683;p25"/>
          <p:cNvSpPr txBox="1"/>
          <p:nvPr/>
        </p:nvSpPr>
        <p:spPr>
          <a:xfrm>
            <a:off x="4206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3684" name="Google Shape;3684;p25"/>
          <p:cNvSpPr txBox="1"/>
          <p:nvPr/>
        </p:nvSpPr>
        <p:spPr>
          <a:xfrm>
            <a:off x="4892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3685" name="Google Shape;3685;p25"/>
          <p:cNvSpPr txBox="1"/>
          <p:nvPr/>
        </p:nvSpPr>
        <p:spPr>
          <a:xfrm>
            <a:off x="5577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3686" name="Google Shape;3686;p25"/>
          <p:cNvSpPr txBox="1"/>
          <p:nvPr/>
        </p:nvSpPr>
        <p:spPr>
          <a:xfrm>
            <a:off x="6263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3687" name="Google Shape;3687;p25"/>
          <p:cNvSpPr txBox="1"/>
          <p:nvPr/>
        </p:nvSpPr>
        <p:spPr>
          <a:xfrm>
            <a:off x="6949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3688" name="Google Shape;3688;p25"/>
          <p:cNvSpPr txBox="1"/>
          <p:nvPr/>
        </p:nvSpPr>
        <p:spPr>
          <a:xfrm>
            <a:off x="7635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3689" name="Google Shape;3689;p25"/>
          <p:cNvSpPr txBox="1"/>
          <p:nvPr/>
        </p:nvSpPr>
        <p:spPr>
          <a:xfrm>
            <a:off x="8321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3690" name="Google Shape;3690;p25"/>
          <p:cNvSpPr txBox="1"/>
          <p:nvPr/>
        </p:nvSpPr>
        <p:spPr>
          <a:xfrm>
            <a:off x="9006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3691" name="Google Shape;3691;p25"/>
          <p:cNvSpPr txBox="1"/>
          <p:nvPr/>
        </p:nvSpPr>
        <p:spPr>
          <a:xfrm>
            <a:off x="969264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3692" name="Google Shape;3692;p25"/>
          <p:cNvSpPr txBox="1"/>
          <p:nvPr/>
        </p:nvSpPr>
        <p:spPr>
          <a:xfrm>
            <a:off x="1088136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</a:t>
            </a:r>
            <a:endParaRPr/>
          </a:p>
        </p:txBody>
      </p:sp>
      <p:sp>
        <p:nvSpPr>
          <p:cNvPr id="3693" name="Google Shape;3693;p25"/>
          <p:cNvSpPr txBox="1"/>
          <p:nvPr/>
        </p:nvSpPr>
        <p:spPr>
          <a:xfrm>
            <a:off x="365760" y="542239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Bound Premium</a:t>
            </a:r>
            <a:endParaRPr/>
          </a:p>
        </p:txBody>
      </p:sp>
      <p:sp>
        <p:nvSpPr>
          <p:cNvPr id="3694" name="Google Shape;3694;p25"/>
          <p:cNvSpPr txBox="1"/>
          <p:nvPr/>
        </p:nvSpPr>
        <p:spPr>
          <a:xfrm>
            <a:off x="1463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695" name="Google Shape;3695;p25"/>
          <p:cNvSpPr txBox="1"/>
          <p:nvPr/>
        </p:nvSpPr>
        <p:spPr>
          <a:xfrm>
            <a:off x="2148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$221K</a:t>
            </a:r>
            <a:endParaRPr/>
          </a:p>
        </p:txBody>
      </p:sp>
      <p:sp>
        <p:nvSpPr>
          <p:cNvPr id="3696" name="Google Shape;3696;p25"/>
          <p:cNvSpPr txBox="1"/>
          <p:nvPr/>
        </p:nvSpPr>
        <p:spPr>
          <a:xfrm>
            <a:off x="2834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697" name="Google Shape;3697;p25"/>
          <p:cNvSpPr txBox="1"/>
          <p:nvPr/>
        </p:nvSpPr>
        <p:spPr>
          <a:xfrm>
            <a:off x="3520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698" name="Google Shape;3698;p25"/>
          <p:cNvSpPr txBox="1"/>
          <p:nvPr/>
        </p:nvSpPr>
        <p:spPr>
          <a:xfrm>
            <a:off x="4206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699" name="Google Shape;3699;p25"/>
          <p:cNvSpPr txBox="1"/>
          <p:nvPr/>
        </p:nvSpPr>
        <p:spPr>
          <a:xfrm>
            <a:off x="4892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700" name="Google Shape;3700;p25"/>
          <p:cNvSpPr txBox="1"/>
          <p:nvPr/>
        </p:nvSpPr>
        <p:spPr>
          <a:xfrm>
            <a:off x="5577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701" name="Google Shape;3701;p25"/>
          <p:cNvSpPr txBox="1"/>
          <p:nvPr/>
        </p:nvSpPr>
        <p:spPr>
          <a:xfrm>
            <a:off x="6263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702" name="Google Shape;3702;p25"/>
          <p:cNvSpPr txBox="1"/>
          <p:nvPr/>
        </p:nvSpPr>
        <p:spPr>
          <a:xfrm>
            <a:off x="6949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703" name="Google Shape;3703;p25"/>
          <p:cNvSpPr txBox="1"/>
          <p:nvPr/>
        </p:nvSpPr>
        <p:spPr>
          <a:xfrm>
            <a:off x="7635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704" name="Google Shape;3704;p25"/>
          <p:cNvSpPr txBox="1"/>
          <p:nvPr/>
        </p:nvSpPr>
        <p:spPr>
          <a:xfrm>
            <a:off x="8321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705" name="Google Shape;3705;p25"/>
          <p:cNvSpPr txBox="1"/>
          <p:nvPr/>
        </p:nvSpPr>
        <p:spPr>
          <a:xfrm>
            <a:off x="9006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706" name="Google Shape;3706;p25"/>
          <p:cNvSpPr txBox="1"/>
          <p:nvPr/>
        </p:nvSpPr>
        <p:spPr>
          <a:xfrm>
            <a:off x="969264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707" name="Google Shape;3707;p25"/>
          <p:cNvSpPr txBox="1"/>
          <p:nvPr/>
        </p:nvSpPr>
        <p:spPr>
          <a:xfrm>
            <a:off x="1088136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$221K</a:t>
            </a:r>
            <a:endParaRPr/>
          </a:p>
        </p:txBody>
      </p:sp>
      <p:sp>
        <p:nvSpPr>
          <p:cNvPr id="3708" name="Google Shape;3708;p25"/>
          <p:cNvSpPr/>
          <p:nvPr/>
        </p:nvSpPr>
        <p:spPr>
          <a:xfrm>
            <a:off x="365760" y="5678423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9" name="Google Shape;3709;p25"/>
          <p:cNvSpPr txBox="1"/>
          <p:nvPr/>
        </p:nvSpPr>
        <p:spPr>
          <a:xfrm>
            <a:off x="4572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65F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STRENGTHS - What's Working</a:t>
            </a:r>
            <a:endParaRPr/>
          </a:p>
        </p:txBody>
      </p:sp>
      <p:sp>
        <p:nvSpPr>
          <p:cNvPr id="3710" name="Google Shape;3710;p25"/>
          <p:cNvSpPr txBox="1"/>
          <p:nvPr/>
        </p:nvSpPr>
        <p:spPr>
          <a:xfrm>
            <a:off x="4572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3711" name="Google Shape;3711;p25"/>
          <p:cNvSpPr txBox="1"/>
          <p:nvPr/>
        </p:nvSpPr>
        <p:spPr>
          <a:xfrm>
            <a:off x="685800" y="5952743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$220,836 YTD gross written premium</a:t>
            </a:r>
            <a:endParaRPr/>
          </a:p>
        </p:txBody>
      </p:sp>
      <p:sp>
        <p:nvSpPr>
          <p:cNvPr id="3712" name="Google Shape;3712;p25"/>
          <p:cNvSpPr txBox="1"/>
          <p:nvPr/>
        </p:nvSpPr>
        <p:spPr>
          <a:xfrm>
            <a:off x="457200" y="6153911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3713" name="Google Shape;3713;p25"/>
          <p:cNvSpPr txBox="1"/>
          <p:nvPr/>
        </p:nvSpPr>
        <p:spPr>
          <a:xfrm>
            <a:off x="685800" y="6153911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$220,836 in new business production</a:t>
            </a:r>
            <a:endParaRPr/>
          </a:p>
        </p:txBody>
      </p:sp>
      <p:sp>
        <p:nvSpPr>
          <p:cNvPr id="3714" name="Google Shape;3714;p25"/>
          <p:cNvSpPr/>
          <p:nvPr/>
        </p:nvSpPr>
        <p:spPr>
          <a:xfrm>
            <a:off x="6309360" y="5678423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5" name="Google Shape;3715;p25"/>
          <p:cNvSpPr txBox="1"/>
          <p:nvPr/>
        </p:nvSpPr>
        <p:spPr>
          <a:xfrm>
            <a:off x="64008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NEEDS ATTENTION</a:t>
            </a:r>
            <a:endParaRPr/>
          </a:p>
        </p:txBody>
      </p:sp>
      <p:sp>
        <p:nvSpPr>
          <p:cNvPr id="3716" name="Google Shape;3716;p25"/>
          <p:cNvSpPr txBox="1"/>
          <p:nvPr/>
        </p:nvSpPr>
        <p:spPr>
          <a:xfrm>
            <a:off x="64008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3717" name="Google Shape;3717;p25"/>
          <p:cNvSpPr txBox="1"/>
          <p:nvPr/>
        </p:nvSpPr>
        <p:spPr>
          <a:xfrm>
            <a:off x="6629400" y="5952743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 at 100% of new business ($220,836)</a:t>
            </a:r>
            <a:endParaRPr/>
          </a:p>
        </p:txBody>
      </p:sp>
      <p:sp>
        <p:nvSpPr>
          <p:cNvPr id="3718" name="Google Shape;3718;p25"/>
          <p:cNvSpPr/>
          <p:nvPr/>
        </p:nvSpPr>
        <p:spPr>
          <a:xfrm>
            <a:off x="365760" y="6455663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9" name="Google Shape;3719;p25"/>
          <p:cNvSpPr txBox="1"/>
          <p:nvPr/>
        </p:nvSpPr>
        <p:spPr>
          <a:xfrm>
            <a:off x="457200" y="6464807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STRATEGIC SALES TIPS - Conversation Starters</a:t>
            </a:r>
            <a:endParaRPr/>
          </a:p>
        </p:txBody>
      </p:sp>
      <p:sp>
        <p:nvSpPr>
          <p:cNvPr id="3720" name="Google Shape;3720;p25"/>
          <p:cNvSpPr txBox="1"/>
          <p:nvPr/>
        </p:nvSpPr>
        <p:spPr>
          <a:xfrm>
            <a:off x="457200" y="6711695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endParaRPr/>
          </a:p>
        </p:txBody>
      </p:sp>
      <p:sp>
        <p:nvSpPr>
          <p:cNvPr id="3721" name="Google Shape;3721;p25"/>
          <p:cNvSpPr txBox="1"/>
          <p:nvPr/>
        </p:nvSpPr>
        <p:spPr>
          <a:xfrm>
            <a:off x="777240" y="6711695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Acknowledge their $220,836 in new business. Ask: "What types of accounts are you seeing the most success with?" Use this to identify more of their book that fits our appetite.</a:t>
            </a:r>
            <a:endParaRPr/>
          </a:p>
        </p:txBody>
      </p:sp>
      <p:sp>
        <p:nvSpPr>
          <p:cNvPr id="3722" name="Google Shape;3722;p25"/>
          <p:cNvSpPr txBox="1"/>
          <p:nvPr/>
        </p:nvSpPr>
        <p:spPr>
          <a:xfrm>
            <a:off x="457200" y="6949439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endParaRPr/>
          </a:p>
        </p:txBody>
      </p:sp>
      <p:sp>
        <p:nvSpPr>
          <p:cNvPr id="3723" name="Google Shape;3723;p25"/>
          <p:cNvSpPr txBox="1"/>
          <p:nvPr/>
        </p:nvSpPr>
        <p:spPr>
          <a:xfrm>
            <a:off x="777240" y="6949439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Address the $220,836 in cancellations. Ask: "Are we losing these to price, service, or coverage?" Proactive retention discussions can protect the book and strengthen the relationship.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27" name="Shape 3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8" name="Google Shape;3728;p26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9" name="Google Shape;3729;p26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Eagle Insurance Agency</a:t>
            </a:r>
            <a:endParaRPr/>
          </a:p>
        </p:txBody>
      </p:sp>
      <p:sp>
        <p:nvSpPr>
          <p:cNvPr id="3730" name="Google Shape;3730;p26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4B5F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Tier: Tier 2  |  Region: Southeast  |  State: GA  |  City: Lawrenceville</a:t>
            </a:r>
            <a:endParaRPr/>
          </a:p>
        </p:txBody>
      </p:sp>
      <p:sp>
        <p:nvSpPr>
          <p:cNvPr id="3731" name="Google Shape;3731;p26"/>
          <p:cNvSpPr/>
          <p:nvPr/>
        </p:nvSpPr>
        <p:spPr>
          <a:xfrm>
            <a:off x="22860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$194,054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YTD GWP</a:t>
            </a:r>
            <a:endParaRPr/>
          </a:p>
        </p:txBody>
      </p:sp>
      <p:sp>
        <p:nvSpPr>
          <p:cNvPr id="3732" name="Google Shape;3732;p26"/>
          <p:cNvSpPr/>
          <p:nvPr/>
        </p:nvSpPr>
        <p:spPr>
          <a:xfrm>
            <a:off x="256032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$130,379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3733" name="Google Shape;3733;p26"/>
          <p:cNvSpPr/>
          <p:nvPr/>
        </p:nvSpPr>
        <p:spPr>
          <a:xfrm>
            <a:off x="489204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$14,835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3734" name="Google Shape;3734;p26"/>
          <p:cNvSpPr/>
          <p:nvPr/>
        </p:nvSpPr>
        <p:spPr>
          <a:xfrm>
            <a:off x="7223759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$48,840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3735" name="Google Shape;3735;p26"/>
          <p:cNvSpPr/>
          <p:nvPr/>
        </p:nvSpPr>
        <p:spPr>
          <a:xfrm>
            <a:off x="955548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$-73,735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3736" name="Google Shape;3736;p26"/>
          <p:cNvSpPr/>
          <p:nvPr/>
        </p:nvSpPr>
        <p:spPr>
          <a:xfrm>
            <a:off x="137160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$579,876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2025 Full Year GWP</a:t>
            </a:r>
            <a:endParaRPr/>
          </a:p>
        </p:txBody>
      </p:sp>
      <p:sp>
        <p:nvSpPr>
          <p:cNvPr id="3737" name="Google Shape;3737;p26"/>
          <p:cNvSpPr/>
          <p:nvPr/>
        </p:nvSpPr>
        <p:spPr>
          <a:xfrm>
            <a:off x="1627631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$404,945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Rolling 12M GWP</a:t>
            </a:r>
            <a:endParaRPr/>
          </a:p>
        </p:txBody>
      </p:sp>
      <p:sp>
        <p:nvSpPr>
          <p:cNvPr id="3738" name="Google Shape;3738;p26"/>
          <p:cNvSpPr/>
          <p:nvPr/>
        </p:nvSpPr>
        <p:spPr>
          <a:xfrm>
            <a:off x="3118103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28%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% to Goal</a:t>
            </a:r>
            <a:endParaRPr/>
          </a:p>
        </p:txBody>
      </p:sp>
      <p:sp>
        <p:nvSpPr>
          <p:cNvPr id="3739" name="Google Shape;3739;p26"/>
          <p:cNvSpPr/>
          <p:nvPr/>
        </p:nvSpPr>
        <p:spPr>
          <a:xfrm>
            <a:off x="4608576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63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3740" name="Google Shape;3740;p26"/>
          <p:cNvSpPr/>
          <p:nvPr/>
        </p:nvSpPr>
        <p:spPr>
          <a:xfrm>
            <a:off x="6099048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3741" name="Google Shape;3741;p26"/>
          <p:cNvSpPr/>
          <p:nvPr/>
        </p:nvSpPr>
        <p:spPr>
          <a:xfrm>
            <a:off x="7589519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19.0%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3742" name="Google Shape;3742;p26"/>
          <p:cNvSpPr/>
          <p:nvPr/>
        </p:nvSpPr>
        <p:spPr>
          <a:xfrm>
            <a:off x="9079992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 Bound Prem</a:t>
            </a:r>
            <a:endParaRPr/>
          </a:p>
        </p:txBody>
      </p:sp>
      <p:sp>
        <p:nvSpPr>
          <p:cNvPr id="3743" name="Google Shape;3743;p26"/>
          <p:cNvSpPr/>
          <p:nvPr/>
        </p:nvSpPr>
        <p:spPr>
          <a:xfrm>
            <a:off x="10570464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$227,355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NF Bound Prem</a:t>
            </a:r>
            <a:endParaRPr/>
          </a:p>
        </p:txBody>
      </p:sp>
      <p:sp>
        <p:nvSpPr>
          <p:cNvPr id="3744" name="Google Shape;3744;p26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5" name="Google Shape;3745;p26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PRODUCTION BY MONTH</a:t>
            </a:r>
            <a:endParaRPr/>
          </a:p>
        </p:txBody>
      </p:sp>
      <p:sp>
        <p:nvSpPr>
          <p:cNvPr id="3746" name="Google Shape;3746;p26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3747" name="Google Shape;3747;p26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Written Premium</a:t>
            </a:r>
            <a:endParaRPr/>
          </a:p>
        </p:txBody>
      </p:sp>
      <p:sp>
        <p:nvSpPr>
          <p:cNvPr id="3748" name="Google Shape;3748;p26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3749" name="Google Shape;3749;p26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3750" name="Google Shape;3750;p26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3751" name="Google Shape;3751;p26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3752" name="Google Shape;3752;p26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3" name="Google Shape;3753;p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3754" name="Google Shape;3754;p26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$36,009</a:t>
            </a:r>
            <a:endParaRPr/>
          </a:p>
        </p:txBody>
      </p:sp>
      <p:sp>
        <p:nvSpPr>
          <p:cNvPr id="3755" name="Google Shape;3755;p26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756" name="Google Shape;3756;p26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757" name="Google Shape;3757;p26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$36,009</a:t>
            </a:r>
            <a:endParaRPr/>
          </a:p>
        </p:txBody>
      </p:sp>
      <p:sp>
        <p:nvSpPr>
          <p:cNvPr id="3758" name="Google Shape;3758;p26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$-35,149</a:t>
            </a:r>
            <a:endParaRPr/>
          </a:p>
        </p:txBody>
      </p:sp>
      <p:sp>
        <p:nvSpPr>
          <p:cNvPr id="3759" name="Google Shape;3759;p26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0" name="Google Shape;3760;p26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3761" name="Google Shape;3761;p26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$29,693</a:t>
            </a:r>
            <a:endParaRPr/>
          </a:p>
        </p:txBody>
      </p:sp>
      <p:sp>
        <p:nvSpPr>
          <p:cNvPr id="3762" name="Google Shape;3762;p26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$29,233</a:t>
            </a:r>
            <a:endParaRPr/>
          </a:p>
        </p:txBody>
      </p:sp>
      <p:sp>
        <p:nvSpPr>
          <p:cNvPr id="3763" name="Google Shape;3763;p2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764" name="Google Shape;3764;p26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$460</a:t>
            </a:r>
            <a:endParaRPr/>
          </a:p>
        </p:txBody>
      </p:sp>
      <p:sp>
        <p:nvSpPr>
          <p:cNvPr id="3765" name="Google Shape;3765;p26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$-6,254</a:t>
            </a:r>
            <a:endParaRPr/>
          </a:p>
        </p:txBody>
      </p:sp>
      <p:sp>
        <p:nvSpPr>
          <p:cNvPr id="3766" name="Google Shape;3766;p26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7" name="Google Shape;3767;p26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3768" name="Google Shape;3768;p26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$78,999</a:t>
            </a:r>
            <a:endParaRPr/>
          </a:p>
        </p:txBody>
      </p:sp>
      <p:sp>
        <p:nvSpPr>
          <p:cNvPr id="3769" name="Google Shape;3769;p26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$59,192</a:t>
            </a:r>
            <a:endParaRPr/>
          </a:p>
        </p:txBody>
      </p:sp>
      <p:sp>
        <p:nvSpPr>
          <p:cNvPr id="3770" name="Google Shape;3770;p26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$14,835</a:t>
            </a:r>
            <a:endParaRPr/>
          </a:p>
        </p:txBody>
      </p:sp>
      <p:sp>
        <p:nvSpPr>
          <p:cNvPr id="3771" name="Google Shape;3771;p26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$4,972</a:t>
            </a:r>
            <a:endParaRPr/>
          </a:p>
        </p:txBody>
      </p:sp>
      <p:sp>
        <p:nvSpPr>
          <p:cNvPr id="3772" name="Google Shape;3772;p26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$-29,218</a:t>
            </a:r>
            <a:endParaRPr/>
          </a:p>
        </p:txBody>
      </p:sp>
      <p:sp>
        <p:nvSpPr>
          <p:cNvPr id="3773" name="Google Shape;3773;p2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4" name="Google Shape;3774;p26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3775" name="Google Shape;3775;p26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$8,124</a:t>
            </a:r>
            <a:endParaRPr/>
          </a:p>
        </p:txBody>
      </p:sp>
      <p:sp>
        <p:nvSpPr>
          <p:cNvPr id="3776" name="Google Shape;3776;p26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$4,224</a:t>
            </a:r>
            <a:endParaRPr/>
          </a:p>
        </p:txBody>
      </p:sp>
      <p:sp>
        <p:nvSpPr>
          <p:cNvPr id="3777" name="Google Shape;3777;p26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778" name="Google Shape;3778;p26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$3,900</a:t>
            </a:r>
            <a:endParaRPr/>
          </a:p>
        </p:txBody>
      </p:sp>
      <p:sp>
        <p:nvSpPr>
          <p:cNvPr id="3779" name="Google Shape;3779;p26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$-3,114</a:t>
            </a:r>
            <a:endParaRPr/>
          </a:p>
        </p:txBody>
      </p:sp>
      <p:sp>
        <p:nvSpPr>
          <p:cNvPr id="3780" name="Google Shape;3780;p26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1" name="Google Shape;3781;p26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3782" name="Google Shape;3782;p26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$41,228</a:t>
            </a:r>
            <a:endParaRPr/>
          </a:p>
        </p:txBody>
      </p:sp>
      <p:sp>
        <p:nvSpPr>
          <p:cNvPr id="3783" name="Google Shape;3783;p2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$37,730</a:t>
            </a:r>
            <a:endParaRPr/>
          </a:p>
        </p:txBody>
      </p:sp>
      <p:sp>
        <p:nvSpPr>
          <p:cNvPr id="3784" name="Google Shape;3784;p26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785" name="Google Shape;3785;p26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$3,499</a:t>
            </a:r>
            <a:endParaRPr/>
          </a:p>
        </p:txBody>
      </p:sp>
      <p:sp>
        <p:nvSpPr>
          <p:cNvPr id="3786" name="Google Shape;3786;p26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787" name="Google Shape;3787;p26"/>
          <p:cNvSpPr/>
          <p:nvPr/>
        </p:nvSpPr>
        <p:spPr>
          <a:xfrm>
            <a:off x="365760" y="4123944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8" name="Google Shape;3788;p26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3789" name="Google Shape;3789;p26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790" name="Google Shape;3790;p26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791" name="Google Shape;3791;p26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792" name="Google Shape;3792;p26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793" name="Google Shape;3793;p2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794" name="Google Shape;3794;p26"/>
          <p:cNvSpPr/>
          <p:nvPr/>
        </p:nvSpPr>
        <p:spPr>
          <a:xfrm>
            <a:off x="365760" y="4425696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5" name="Google Shape;3795;p26"/>
          <p:cNvSpPr txBox="1"/>
          <p:nvPr/>
        </p:nvSpPr>
        <p:spPr>
          <a:xfrm>
            <a:off x="3657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3796" name="Google Shape;3796;p26"/>
          <p:cNvSpPr txBox="1"/>
          <p:nvPr/>
        </p:nvSpPr>
        <p:spPr>
          <a:xfrm>
            <a:off x="1280160" y="446227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$194,054</a:t>
            </a:r>
            <a:endParaRPr/>
          </a:p>
        </p:txBody>
      </p:sp>
      <p:sp>
        <p:nvSpPr>
          <p:cNvPr id="3797" name="Google Shape;3797;p26"/>
          <p:cNvSpPr txBox="1"/>
          <p:nvPr/>
        </p:nvSpPr>
        <p:spPr>
          <a:xfrm>
            <a:off x="2377439" y="446227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$130,379</a:t>
            </a:r>
            <a:endParaRPr/>
          </a:p>
        </p:txBody>
      </p:sp>
      <p:sp>
        <p:nvSpPr>
          <p:cNvPr id="3798" name="Google Shape;3798;p26"/>
          <p:cNvSpPr txBox="1"/>
          <p:nvPr/>
        </p:nvSpPr>
        <p:spPr>
          <a:xfrm>
            <a:off x="33832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$14,835</a:t>
            </a:r>
            <a:endParaRPr/>
          </a:p>
        </p:txBody>
      </p:sp>
      <p:sp>
        <p:nvSpPr>
          <p:cNvPr id="3799" name="Google Shape;3799;p26"/>
          <p:cNvSpPr txBox="1"/>
          <p:nvPr/>
        </p:nvSpPr>
        <p:spPr>
          <a:xfrm>
            <a:off x="42976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$48,840</a:t>
            </a:r>
            <a:endParaRPr/>
          </a:p>
        </p:txBody>
      </p:sp>
      <p:sp>
        <p:nvSpPr>
          <p:cNvPr id="3800" name="Google Shape;3800;p26"/>
          <p:cNvSpPr txBox="1"/>
          <p:nvPr/>
        </p:nvSpPr>
        <p:spPr>
          <a:xfrm>
            <a:off x="52120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$-73,735</a:t>
            </a:r>
            <a:endParaRPr/>
          </a:p>
        </p:txBody>
      </p:sp>
      <p:sp>
        <p:nvSpPr>
          <p:cNvPr id="3801" name="Google Shape;3801;p26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2" name="Google Shape;3802;p26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 &amp; PIPELINE</a:t>
            </a:r>
            <a:endParaRPr/>
          </a:p>
        </p:txBody>
      </p:sp>
      <p:sp>
        <p:nvSpPr>
          <p:cNvPr id="3803" name="Google Shape;3803;p26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3804" name="Google Shape;3804;p26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Subs</a:t>
            </a:r>
            <a:endParaRPr/>
          </a:p>
        </p:txBody>
      </p:sp>
      <p:sp>
        <p:nvSpPr>
          <p:cNvPr id="3805" name="Google Shape;3805;p26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</a:t>
            </a:r>
            <a:endParaRPr/>
          </a:p>
        </p:txBody>
      </p:sp>
      <p:sp>
        <p:nvSpPr>
          <p:cNvPr id="3806" name="Google Shape;3806;p26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Non-Fleet</a:t>
            </a:r>
            <a:endParaRPr/>
          </a:p>
        </p:txBody>
      </p:sp>
      <p:sp>
        <p:nvSpPr>
          <p:cNvPr id="3807" name="Google Shape;3807;p26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3808" name="Google Shape;3808;p26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3809" name="Google Shape;3809;p26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0" name="Google Shape;3810;p2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3811" name="Google Shape;3811;p26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</a:t>
            </a:r>
            <a:endParaRPr/>
          </a:p>
        </p:txBody>
      </p:sp>
      <p:sp>
        <p:nvSpPr>
          <p:cNvPr id="3812" name="Google Shape;3812;p26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3813" name="Google Shape;3813;p26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</a:t>
            </a:r>
            <a:endParaRPr/>
          </a:p>
        </p:txBody>
      </p:sp>
      <p:sp>
        <p:nvSpPr>
          <p:cNvPr id="3814" name="Google Shape;3814;p26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3815" name="Google Shape;3815;p26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15.8%</a:t>
            </a:r>
            <a:endParaRPr/>
          </a:p>
        </p:txBody>
      </p:sp>
      <p:sp>
        <p:nvSpPr>
          <p:cNvPr id="3816" name="Google Shape;3816;p26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7" name="Google Shape;3817;p26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3818" name="Google Shape;3818;p26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17</a:t>
            </a:r>
            <a:endParaRPr/>
          </a:p>
        </p:txBody>
      </p:sp>
      <p:sp>
        <p:nvSpPr>
          <p:cNvPr id="3819" name="Google Shape;3819;p26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3820" name="Google Shape;3820;p2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17</a:t>
            </a:r>
            <a:endParaRPr/>
          </a:p>
        </p:txBody>
      </p:sp>
      <p:sp>
        <p:nvSpPr>
          <p:cNvPr id="3821" name="Google Shape;3821;p26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3822" name="Google Shape;3822;p26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11.8%</a:t>
            </a:r>
            <a:endParaRPr/>
          </a:p>
        </p:txBody>
      </p:sp>
      <p:sp>
        <p:nvSpPr>
          <p:cNvPr id="3823" name="Google Shape;3823;p26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4" name="Google Shape;3824;p26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3825" name="Google Shape;3825;p26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</a:t>
            </a:r>
            <a:endParaRPr/>
          </a:p>
        </p:txBody>
      </p:sp>
      <p:sp>
        <p:nvSpPr>
          <p:cNvPr id="3826" name="Google Shape;3826;p26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3827" name="Google Shape;3827;p26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</a:t>
            </a:r>
            <a:endParaRPr/>
          </a:p>
        </p:txBody>
      </p:sp>
      <p:sp>
        <p:nvSpPr>
          <p:cNvPr id="3828" name="Google Shape;3828;p26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3829" name="Google Shape;3829;p26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35.7%</a:t>
            </a:r>
            <a:endParaRPr/>
          </a:p>
        </p:txBody>
      </p:sp>
      <p:sp>
        <p:nvSpPr>
          <p:cNvPr id="3830" name="Google Shape;3830;p2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1" name="Google Shape;3831;p26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3832" name="Google Shape;3832;p26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</a:t>
            </a:r>
            <a:endParaRPr/>
          </a:p>
        </p:txBody>
      </p:sp>
      <p:sp>
        <p:nvSpPr>
          <p:cNvPr id="3833" name="Google Shape;3833;p26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3834" name="Google Shape;3834;p26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</a:t>
            </a:r>
            <a:endParaRPr/>
          </a:p>
        </p:txBody>
      </p:sp>
      <p:sp>
        <p:nvSpPr>
          <p:cNvPr id="3835" name="Google Shape;3835;p26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3836" name="Google Shape;3836;p26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22.2%</a:t>
            </a:r>
            <a:endParaRPr/>
          </a:p>
        </p:txBody>
      </p:sp>
      <p:sp>
        <p:nvSpPr>
          <p:cNvPr id="3837" name="Google Shape;3837;p26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8" name="Google Shape;3838;p26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3839" name="Google Shape;3839;p26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</a:t>
            </a:r>
            <a:endParaRPr/>
          </a:p>
        </p:txBody>
      </p:sp>
      <p:sp>
        <p:nvSpPr>
          <p:cNvPr id="3840" name="Google Shape;3840;p2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3841" name="Google Shape;3841;p26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</a:t>
            </a:r>
            <a:endParaRPr/>
          </a:p>
        </p:txBody>
      </p:sp>
      <p:sp>
        <p:nvSpPr>
          <p:cNvPr id="3842" name="Google Shape;3842;p26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3843" name="Google Shape;3843;p26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28.6%</a:t>
            </a:r>
            <a:endParaRPr/>
          </a:p>
        </p:txBody>
      </p:sp>
      <p:sp>
        <p:nvSpPr>
          <p:cNvPr id="3844" name="Google Shape;3844;p26"/>
          <p:cNvSpPr/>
          <p:nvPr/>
        </p:nvSpPr>
        <p:spPr>
          <a:xfrm>
            <a:off x="6309360" y="4123944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5" name="Google Shape;3845;p26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3846" name="Google Shape;3846;p26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3847" name="Google Shape;3847;p26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3848" name="Google Shape;3848;p26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3849" name="Google Shape;3849;p26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3850" name="Google Shape;3850;p2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3851" name="Google Shape;3851;p26"/>
          <p:cNvSpPr/>
          <p:nvPr/>
        </p:nvSpPr>
        <p:spPr>
          <a:xfrm>
            <a:off x="6309360" y="4425696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2" name="Google Shape;3852;p26"/>
          <p:cNvSpPr txBox="1"/>
          <p:nvPr/>
        </p:nvSpPr>
        <p:spPr>
          <a:xfrm>
            <a:off x="63093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3853" name="Google Shape;3853;p26"/>
          <p:cNvSpPr txBox="1"/>
          <p:nvPr/>
        </p:nvSpPr>
        <p:spPr>
          <a:xfrm>
            <a:off x="722376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63</a:t>
            </a:r>
            <a:endParaRPr/>
          </a:p>
        </p:txBody>
      </p:sp>
      <p:sp>
        <p:nvSpPr>
          <p:cNvPr id="3854" name="Google Shape;3854;p26"/>
          <p:cNvSpPr txBox="1"/>
          <p:nvPr/>
        </p:nvSpPr>
        <p:spPr>
          <a:xfrm>
            <a:off x="804672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3855" name="Google Shape;3855;p26"/>
          <p:cNvSpPr txBox="1"/>
          <p:nvPr/>
        </p:nvSpPr>
        <p:spPr>
          <a:xfrm>
            <a:off x="886968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62</a:t>
            </a:r>
            <a:endParaRPr/>
          </a:p>
        </p:txBody>
      </p:sp>
      <p:sp>
        <p:nvSpPr>
          <p:cNvPr id="3856" name="Google Shape;3856;p26"/>
          <p:cNvSpPr txBox="1"/>
          <p:nvPr/>
        </p:nvSpPr>
        <p:spPr>
          <a:xfrm>
            <a:off x="978408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</a:t>
            </a:r>
            <a:endParaRPr/>
          </a:p>
        </p:txBody>
      </p:sp>
      <p:sp>
        <p:nvSpPr>
          <p:cNvPr id="3857" name="Google Shape;3857;p26"/>
          <p:cNvSpPr txBox="1"/>
          <p:nvPr/>
        </p:nvSpPr>
        <p:spPr>
          <a:xfrm>
            <a:off x="1060704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19.0%</a:t>
            </a:r>
            <a:endParaRPr/>
          </a:p>
        </p:txBody>
      </p:sp>
      <p:sp>
        <p:nvSpPr>
          <p:cNvPr id="3858" name="Google Shape;3858;p26"/>
          <p:cNvSpPr/>
          <p:nvPr/>
        </p:nvSpPr>
        <p:spPr>
          <a:xfrm>
            <a:off x="365760" y="4782312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9" name="Google Shape;3859;p26"/>
          <p:cNvSpPr txBox="1"/>
          <p:nvPr/>
        </p:nvSpPr>
        <p:spPr>
          <a:xfrm>
            <a:off x="457200" y="4800599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YOY COMPARISON — Jan–Jun 2025 vs Jan–Jun 2026</a:t>
            </a:r>
            <a:endParaRPr/>
          </a:p>
        </p:txBody>
      </p:sp>
      <p:sp>
        <p:nvSpPr>
          <p:cNvPr id="3860" name="Google Shape;3860;p26"/>
          <p:cNvSpPr txBox="1"/>
          <p:nvPr/>
        </p:nvSpPr>
        <p:spPr>
          <a:xfrm>
            <a:off x="365760" y="5056631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00" u="none" cap="none" strike="noStrike">
              <a:solidFill>
                <a:srgbClr val="6B728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861" name="Google Shape;3861;p26"/>
          <p:cNvSpPr txBox="1"/>
          <p:nvPr/>
        </p:nvSpPr>
        <p:spPr>
          <a:xfrm>
            <a:off x="1463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'25</a:t>
            </a:r>
            <a:endParaRPr/>
          </a:p>
        </p:txBody>
      </p:sp>
      <p:sp>
        <p:nvSpPr>
          <p:cNvPr id="3862" name="Google Shape;3862;p26"/>
          <p:cNvSpPr txBox="1"/>
          <p:nvPr/>
        </p:nvSpPr>
        <p:spPr>
          <a:xfrm>
            <a:off x="2148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'26</a:t>
            </a:r>
            <a:endParaRPr/>
          </a:p>
        </p:txBody>
      </p:sp>
      <p:sp>
        <p:nvSpPr>
          <p:cNvPr id="3863" name="Google Shape;3863;p26"/>
          <p:cNvSpPr txBox="1"/>
          <p:nvPr/>
        </p:nvSpPr>
        <p:spPr>
          <a:xfrm>
            <a:off x="2834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'25</a:t>
            </a:r>
            <a:endParaRPr/>
          </a:p>
        </p:txBody>
      </p:sp>
      <p:sp>
        <p:nvSpPr>
          <p:cNvPr id="3864" name="Google Shape;3864;p26"/>
          <p:cNvSpPr txBox="1"/>
          <p:nvPr/>
        </p:nvSpPr>
        <p:spPr>
          <a:xfrm>
            <a:off x="3520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'26</a:t>
            </a:r>
            <a:endParaRPr/>
          </a:p>
        </p:txBody>
      </p:sp>
      <p:sp>
        <p:nvSpPr>
          <p:cNvPr id="3865" name="Google Shape;3865;p26"/>
          <p:cNvSpPr txBox="1"/>
          <p:nvPr/>
        </p:nvSpPr>
        <p:spPr>
          <a:xfrm>
            <a:off x="4206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'25</a:t>
            </a:r>
            <a:endParaRPr/>
          </a:p>
        </p:txBody>
      </p:sp>
      <p:sp>
        <p:nvSpPr>
          <p:cNvPr id="3866" name="Google Shape;3866;p26"/>
          <p:cNvSpPr txBox="1"/>
          <p:nvPr/>
        </p:nvSpPr>
        <p:spPr>
          <a:xfrm>
            <a:off x="4892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'26</a:t>
            </a:r>
            <a:endParaRPr/>
          </a:p>
        </p:txBody>
      </p:sp>
      <p:sp>
        <p:nvSpPr>
          <p:cNvPr id="3867" name="Google Shape;3867;p26"/>
          <p:cNvSpPr txBox="1"/>
          <p:nvPr/>
        </p:nvSpPr>
        <p:spPr>
          <a:xfrm>
            <a:off x="5577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'25</a:t>
            </a:r>
            <a:endParaRPr/>
          </a:p>
        </p:txBody>
      </p:sp>
      <p:sp>
        <p:nvSpPr>
          <p:cNvPr id="3868" name="Google Shape;3868;p26"/>
          <p:cNvSpPr txBox="1"/>
          <p:nvPr/>
        </p:nvSpPr>
        <p:spPr>
          <a:xfrm>
            <a:off x="6263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'26</a:t>
            </a:r>
            <a:endParaRPr/>
          </a:p>
        </p:txBody>
      </p:sp>
      <p:sp>
        <p:nvSpPr>
          <p:cNvPr id="3869" name="Google Shape;3869;p26"/>
          <p:cNvSpPr txBox="1"/>
          <p:nvPr/>
        </p:nvSpPr>
        <p:spPr>
          <a:xfrm>
            <a:off x="6949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'25</a:t>
            </a:r>
            <a:endParaRPr/>
          </a:p>
        </p:txBody>
      </p:sp>
      <p:sp>
        <p:nvSpPr>
          <p:cNvPr id="3870" name="Google Shape;3870;p26"/>
          <p:cNvSpPr txBox="1"/>
          <p:nvPr/>
        </p:nvSpPr>
        <p:spPr>
          <a:xfrm>
            <a:off x="7635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'26</a:t>
            </a:r>
            <a:endParaRPr/>
          </a:p>
        </p:txBody>
      </p:sp>
      <p:sp>
        <p:nvSpPr>
          <p:cNvPr id="3871" name="Google Shape;3871;p26"/>
          <p:cNvSpPr txBox="1"/>
          <p:nvPr/>
        </p:nvSpPr>
        <p:spPr>
          <a:xfrm>
            <a:off x="8321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'25</a:t>
            </a:r>
            <a:endParaRPr/>
          </a:p>
        </p:txBody>
      </p:sp>
      <p:sp>
        <p:nvSpPr>
          <p:cNvPr id="3872" name="Google Shape;3872;p26"/>
          <p:cNvSpPr txBox="1"/>
          <p:nvPr/>
        </p:nvSpPr>
        <p:spPr>
          <a:xfrm>
            <a:off x="9006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'26</a:t>
            </a:r>
            <a:endParaRPr/>
          </a:p>
        </p:txBody>
      </p:sp>
      <p:sp>
        <p:nvSpPr>
          <p:cNvPr id="3873" name="Google Shape;3873;p26"/>
          <p:cNvSpPr txBox="1"/>
          <p:nvPr/>
        </p:nvSpPr>
        <p:spPr>
          <a:xfrm>
            <a:off x="969264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'25 Tot</a:t>
            </a:r>
            <a:endParaRPr/>
          </a:p>
        </p:txBody>
      </p:sp>
      <p:sp>
        <p:nvSpPr>
          <p:cNvPr id="3874" name="Google Shape;3874;p26"/>
          <p:cNvSpPr txBox="1"/>
          <p:nvPr/>
        </p:nvSpPr>
        <p:spPr>
          <a:xfrm>
            <a:off x="1088136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'26 Tot</a:t>
            </a:r>
            <a:endParaRPr/>
          </a:p>
        </p:txBody>
      </p:sp>
      <p:sp>
        <p:nvSpPr>
          <p:cNvPr id="3875" name="Google Shape;3875;p26"/>
          <p:cNvSpPr txBox="1"/>
          <p:nvPr/>
        </p:nvSpPr>
        <p:spPr>
          <a:xfrm>
            <a:off x="365760" y="523951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3876" name="Google Shape;3876;p26"/>
          <p:cNvSpPr txBox="1"/>
          <p:nvPr/>
        </p:nvSpPr>
        <p:spPr>
          <a:xfrm>
            <a:off x="1463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</a:t>
            </a:r>
            <a:endParaRPr/>
          </a:p>
        </p:txBody>
      </p:sp>
      <p:sp>
        <p:nvSpPr>
          <p:cNvPr id="3877" name="Google Shape;3877;p26"/>
          <p:cNvSpPr txBox="1"/>
          <p:nvPr/>
        </p:nvSpPr>
        <p:spPr>
          <a:xfrm>
            <a:off x="2148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</a:t>
            </a:r>
            <a:endParaRPr/>
          </a:p>
        </p:txBody>
      </p:sp>
      <p:sp>
        <p:nvSpPr>
          <p:cNvPr id="3878" name="Google Shape;3878;p26"/>
          <p:cNvSpPr txBox="1"/>
          <p:nvPr/>
        </p:nvSpPr>
        <p:spPr>
          <a:xfrm>
            <a:off x="2834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</a:t>
            </a:r>
            <a:endParaRPr/>
          </a:p>
        </p:txBody>
      </p:sp>
      <p:sp>
        <p:nvSpPr>
          <p:cNvPr id="3879" name="Google Shape;3879;p26"/>
          <p:cNvSpPr txBox="1"/>
          <p:nvPr/>
        </p:nvSpPr>
        <p:spPr>
          <a:xfrm>
            <a:off x="3520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17</a:t>
            </a:r>
            <a:endParaRPr/>
          </a:p>
        </p:txBody>
      </p:sp>
      <p:sp>
        <p:nvSpPr>
          <p:cNvPr id="3880" name="Google Shape;3880;p26"/>
          <p:cNvSpPr txBox="1"/>
          <p:nvPr/>
        </p:nvSpPr>
        <p:spPr>
          <a:xfrm>
            <a:off x="4206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</a:t>
            </a:r>
            <a:endParaRPr/>
          </a:p>
        </p:txBody>
      </p:sp>
      <p:sp>
        <p:nvSpPr>
          <p:cNvPr id="3881" name="Google Shape;3881;p26"/>
          <p:cNvSpPr txBox="1"/>
          <p:nvPr/>
        </p:nvSpPr>
        <p:spPr>
          <a:xfrm>
            <a:off x="4892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</a:t>
            </a:r>
            <a:endParaRPr/>
          </a:p>
        </p:txBody>
      </p:sp>
      <p:sp>
        <p:nvSpPr>
          <p:cNvPr id="3882" name="Google Shape;3882;p26"/>
          <p:cNvSpPr txBox="1"/>
          <p:nvPr/>
        </p:nvSpPr>
        <p:spPr>
          <a:xfrm>
            <a:off x="5577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</a:t>
            </a:r>
            <a:endParaRPr/>
          </a:p>
        </p:txBody>
      </p:sp>
      <p:sp>
        <p:nvSpPr>
          <p:cNvPr id="3883" name="Google Shape;3883;p26"/>
          <p:cNvSpPr txBox="1"/>
          <p:nvPr/>
        </p:nvSpPr>
        <p:spPr>
          <a:xfrm>
            <a:off x="6263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</a:t>
            </a:r>
            <a:endParaRPr/>
          </a:p>
        </p:txBody>
      </p:sp>
      <p:sp>
        <p:nvSpPr>
          <p:cNvPr id="3884" name="Google Shape;3884;p26"/>
          <p:cNvSpPr txBox="1"/>
          <p:nvPr/>
        </p:nvSpPr>
        <p:spPr>
          <a:xfrm>
            <a:off x="6949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</a:t>
            </a:r>
            <a:endParaRPr/>
          </a:p>
        </p:txBody>
      </p:sp>
      <p:sp>
        <p:nvSpPr>
          <p:cNvPr id="3885" name="Google Shape;3885;p26"/>
          <p:cNvSpPr txBox="1"/>
          <p:nvPr/>
        </p:nvSpPr>
        <p:spPr>
          <a:xfrm>
            <a:off x="7635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</a:t>
            </a:r>
            <a:endParaRPr/>
          </a:p>
        </p:txBody>
      </p:sp>
      <p:sp>
        <p:nvSpPr>
          <p:cNvPr id="3886" name="Google Shape;3886;p26"/>
          <p:cNvSpPr txBox="1"/>
          <p:nvPr/>
        </p:nvSpPr>
        <p:spPr>
          <a:xfrm>
            <a:off x="8321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</a:t>
            </a:r>
            <a:endParaRPr/>
          </a:p>
        </p:txBody>
      </p:sp>
      <p:sp>
        <p:nvSpPr>
          <p:cNvPr id="3887" name="Google Shape;3887;p26"/>
          <p:cNvSpPr txBox="1"/>
          <p:nvPr/>
        </p:nvSpPr>
        <p:spPr>
          <a:xfrm>
            <a:off x="9006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3888" name="Google Shape;3888;p26"/>
          <p:cNvSpPr txBox="1"/>
          <p:nvPr/>
        </p:nvSpPr>
        <p:spPr>
          <a:xfrm>
            <a:off x="969264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87</a:t>
            </a:r>
            <a:endParaRPr/>
          </a:p>
        </p:txBody>
      </p:sp>
      <p:sp>
        <p:nvSpPr>
          <p:cNvPr id="3889" name="Google Shape;3889;p26"/>
          <p:cNvSpPr txBox="1"/>
          <p:nvPr/>
        </p:nvSpPr>
        <p:spPr>
          <a:xfrm>
            <a:off x="1088136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73</a:t>
            </a:r>
            <a:endParaRPr/>
          </a:p>
        </p:txBody>
      </p:sp>
      <p:sp>
        <p:nvSpPr>
          <p:cNvPr id="3890" name="Google Shape;3890;p26"/>
          <p:cNvSpPr txBox="1"/>
          <p:nvPr/>
        </p:nvSpPr>
        <p:spPr>
          <a:xfrm>
            <a:off x="365760" y="542239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Bound Premium</a:t>
            </a:r>
            <a:endParaRPr/>
          </a:p>
        </p:txBody>
      </p:sp>
      <p:sp>
        <p:nvSpPr>
          <p:cNvPr id="3891" name="Google Shape;3891;p26"/>
          <p:cNvSpPr txBox="1"/>
          <p:nvPr/>
        </p:nvSpPr>
        <p:spPr>
          <a:xfrm>
            <a:off x="1463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$170K</a:t>
            </a:r>
            <a:endParaRPr/>
          </a:p>
        </p:txBody>
      </p:sp>
      <p:sp>
        <p:nvSpPr>
          <p:cNvPr id="3892" name="Google Shape;3892;p26"/>
          <p:cNvSpPr txBox="1"/>
          <p:nvPr/>
        </p:nvSpPr>
        <p:spPr>
          <a:xfrm>
            <a:off x="2148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$36K</a:t>
            </a:r>
            <a:endParaRPr/>
          </a:p>
        </p:txBody>
      </p:sp>
      <p:sp>
        <p:nvSpPr>
          <p:cNvPr id="3893" name="Google Shape;3893;p26"/>
          <p:cNvSpPr txBox="1"/>
          <p:nvPr/>
        </p:nvSpPr>
        <p:spPr>
          <a:xfrm>
            <a:off x="2834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$36K</a:t>
            </a:r>
            <a:endParaRPr/>
          </a:p>
        </p:txBody>
      </p:sp>
      <p:sp>
        <p:nvSpPr>
          <p:cNvPr id="3894" name="Google Shape;3894;p26"/>
          <p:cNvSpPr txBox="1"/>
          <p:nvPr/>
        </p:nvSpPr>
        <p:spPr>
          <a:xfrm>
            <a:off x="3520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$30K</a:t>
            </a:r>
            <a:endParaRPr/>
          </a:p>
        </p:txBody>
      </p:sp>
      <p:sp>
        <p:nvSpPr>
          <p:cNvPr id="3895" name="Google Shape;3895;p26"/>
          <p:cNvSpPr txBox="1"/>
          <p:nvPr/>
        </p:nvSpPr>
        <p:spPr>
          <a:xfrm>
            <a:off x="4206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$24K</a:t>
            </a:r>
            <a:endParaRPr/>
          </a:p>
        </p:txBody>
      </p:sp>
      <p:sp>
        <p:nvSpPr>
          <p:cNvPr id="3896" name="Google Shape;3896;p26"/>
          <p:cNvSpPr txBox="1"/>
          <p:nvPr/>
        </p:nvSpPr>
        <p:spPr>
          <a:xfrm>
            <a:off x="4892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$79K</a:t>
            </a:r>
            <a:endParaRPr/>
          </a:p>
        </p:txBody>
      </p:sp>
      <p:sp>
        <p:nvSpPr>
          <p:cNvPr id="3897" name="Google Shape;3897;p26"/>
          <p:cNvSpPr txBox="1"/>
          <p:nvPr/>
        </p:nvSpPr>
        <p:spPr>
          <a:xfrm>
            <a:off x="5577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$77K</a:t>
            </a:r>
            <a:endParaRPr/>
          </a:p>
        </p:txBody>
      </p:sp>
      <p:sp>
        <p:nvSpPr>
          <p:cNvPr id="3898" name="Google Shape;3898;p26"/>
          <p:cNvSpPr txBox="1"/>
          <p:nvPr/>
        </p:nvSpPr>
        <p:spPr>
          <a:xfrm>
            <a:off x="6263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$8K</a:t>
            </a:r>
            <a:endParaRPr/>
          </a:p>
        </p:txBody>
      </p:sp>
      <p:sp>
        <p:nvSpPr>
          <p:cNvPr id="3899" name="Google Shape;3899;p26"/>
          <p:cNvSpPr txBox="1"/>
          <p:nvPr/>
        </p:nvSpPr>
        <p:spPr>
          <a:xfrm>
            <a:off x="6949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$27K</a:t>
            </a:r>
            <a:endParaRPr/>
          </a:p>
        </p:txBody>
      </p:sp>
      <p:sp>
        <p:nvSpPr>
          <p:cNvPr id="3900" name="Google Shape;3900;p26"/>
          <p:cNvSpPr txBox="1"/>
          <p:nvPr/>
        </p:nvSpPr>
        <p:spPr>
          <a:xfrm>
            <a:off x="7635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$41K</a:t>
            </a:r>
            <a:endParaRPr/>
          </a:p>
        </p:txBody>
      </p:sp>
      <p:sp>
        <p:nvSpPr>
          <p:cNvPr id="3901" name="Google Shape;3901;p26"/>
          <p:cNvSpPr txBox="1"/>
          <p:nvPr/>
        </p:nvSpPr>
        <p:spPr>
          <a:xfrm>
            <a:off x="8321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$35K</a:t>
            </a:r>
            <a:endParaRPr/>
          </a:p>
        </p:txBody>
      </p:sp>
      <p:sp>
        <p:nvSpPr>
          <p:cNvPr id="3902" name="Google Shape;3902;p26"/>
          <p:cNvSpPr txBox="1"/>
          <p:nvPr/>
        </p:nvSpPr>
        <p:spPr>
          <a:xfrm>
            <a:off x="9006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903" name="Google Shape;3903;p26"/>
          <p:cNvSpPr txBox="1"/>
          <p:nvPr/>
        </p:nvSpPr>
        <p:spPr>
          <a:xfrm>
            <a:off x="969264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$369K</a:t>
            </a:r>
            <a:endParaRPr/>
          </a:p>
        </p:txBody>
      </p:sp>
      <p:sp>
        <p:nvSpPr>
          <p:cNvPr id="3904" name="Google Shape;3904;p26"/>
          <p:cNvSpPr txBox="1"/>
          <p:nvPr/>
        </p:nvSpPr>
        <p:spPr>
          <a:xfrm>
            <a:off x="1088136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$194K</a:t>
            </a:r>
            <a:endParaRPr/>
          </a:p>
        </p:txBody>
      </p:sp>
      <p:sp>
        <p:nvSpPr>
          <p:cNvPr id="3905" name="Google Shape;3905;p26"/>
          <p:cNvSpPr/>
          <p:nvPr/>
        </p:nvSpPr>
        <p:spPr>
          <a:xfrm>
            <a:off x="365760" y="5678423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6" name="Google Shape;3906;p26"/>
          <p:cNvSpPr txBox="1"/>
          <p:nvPr/>
        </p:nvSpPr>
        <p:spPr>
          <a:xfrm>
            <a:off x="4572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65F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STRENGTHS - What's Working</a:t>
            </a:r>
            <a:endParaRPr/>
          </a:p>
        </p:txBody>
      </p:sp>
      <p:sp>
        <p:nvSpPr>
          <p:cNvPr id="3907" name="Google Shape;3907;p26"/>
          <p:cNvSpPr txBox="1"/>
          <p:nvPr/>
        </p:nvSpPr>
        <p:spPr>
          <a:xfrm>
            <a:off x="4572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3908" name="Google Shape;3908;p26"/>
          <p:cNvSpPr txBox="1"/>
          <p:nvPr/>
        </p:nvSpPr>
        <p:spPr>
          <a:xfrm>
            <a:off x="685800" y="5952743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$194,054 YTD gross written premium</a:t>
            </a:r>
            <a:endParaRPr/>
          </a:p>
        </p:txBody>
      </p:sp>
      <p:sp>
        <p:nvSpPr>
          <p:cNvPr id="3909" name="Google Shape;3909;p26"/>
          <p:cNvSpPr txBox="1"/>
          <p:nvPr/>
        </p:nvSpPr>
        <p:spPr>
          <a:xfrm>
            <a:off x="457200" y="6153911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3910" name="Google Shape;3910;p26"/>
          <p:cNvSpPr txBox="1"/>
          <p:nvPr/>
        </p:nvSpPr>
        <p:spPr>
          <a:xfrm>
            <a:off x="685800" y="6153911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$130,379 in new business production</a:t>
            </a:r>
            <a:endParaRPr/>
          </a:p>
        </p:txBody>
      </p:sp>
      <p:sp>
        <p:nvSpPr>
          <p:cNvPr id="3911" name="Google Shape;3911;p26"/>
          <p:cNvSpPr/>
          <p:nvPr/>
        </p:nvSpPr>
        <p:spPr>
          <a:xfrm>
            <a:off x="6309360" y="5678423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2" name="Google Shape;3912;p26"/>
          <p:cNvSpPr txBox="1"/>
          <p:nvPr/>
        </p:nvSpPr>
        <p:spPr>
          <a:xfrm>
            <a:off x="64008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NEEDS ATTENTION</a:t>
            </a:r>
            <a:endParaRPr/>
          </a:p>
        </p:txBody>
      </p:sp>
      <p:sp>
        <p:nvSpPr>
          <p:cNvPr id="3913" name="Google Shape;3913;p26"/>
          <p:cNvSpPr txBox="1"/>
          <p:nvPr/>
        </p:nvSpPr>
        <p:spPr>
          <a:xfrm>
            <a:off x="64008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3914" name="Google Shape;3914;p26"/>
          <p:cNvSpPr txBox="1"/>
          <p:nvPr/>
        </p:nvSpPr>
        <p:spPr>
          <a:xfrm>
            <a:off x="6629400" y="5952743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 at 57% of new business ($73,735)</a:t>
            </a:r>
            <a:endParaRPr/>
          </a:p>
        </p:txBody>
      </p:sp>
      <p:sp>
        <p:nvSpPr>
          <p:cNvPr id="3915" name="Google Shape;3915;p26"/>
          <p:cNvSpPr/>
          <p:nvPr/>
        </p:nvSpPr>
        <p:spPr>
          <a:xfrm>
            <a:off x="365760" y="6455663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6" name="Google Shape;3916;p26"/>
          <p:cNvSpPr txBox="1"/>
          <p:nvPr/>
        </p:nvSpPr>
        <p:spPr>
          <a:xfrm>
            <a:off x="457200" y="6464807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STRATEGIC SALES TIPS - Conversation Starters</a:t>
            </a:r>
            <a:endParaRPr/>
          </a:p>
        </p:txBody>
      </p:sp>
      <p:sp>
        <p:nvSpPr>
          <p:cNvPr id="3917" name="Google Shape;3917;p26"/>
          <p:cNvSpPr txBox="1"/>
          <p:nvPr/>
        </p:nvSpPr>
        <p:spPr>
          <a:xfrm>
            <a:off x="457200" y="6711695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endParaRPr/>
          </a:p>
        </p:txBody>
      </p:sp>
      <p:sp>
        <p:nvSpPr>
          <p:cNvPr id="3918" name="Google Shape;3918;p26"/>
          <p:cNvSpPr txBox="1"/>
          <p:nvPr/>
        </p:nvSpPr>
        <p:spPr>
          <a:xfrm>
            <a:off x="777240" y="6711695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Acknowledge their $130,379 in new business. Ask: "What types of accounts are you seeing the most success with?" Use this to identify more of their book that fits our appetite.</a:t>
            </a:r>
            <a:endParaRPr/>
          </a:p>
        </p:txBody>
      </p:sp>
      <p:sp>
        <p:nvSpPr>
          <p:cNvPr id="3919" name="Google Shape;3919;p26"/>
          <p:cNvSpPr txBox="1"/>
          <p:nvPr/>
        </p:nvSpPr>
        <p:spPr>
          <a:xfrm>
            <a:off x="457200" y="6949439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endParaRPr/>
          </a:p>
        </p:txBody>
      </p:sp>
      <p:sp>
        <p:nvSpPr>
          <p:cNvPr id="3920" name="Google Shape;3920;p26"/>
          <p:cNvSpPr txBox="1"/>
          <p:nvPr/>
        </p:nvSpPr>
        <p:spPr>
          <a:xfrm>
            <a:off x="777240" y="6949439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Address the $73,735 in cancellations. Ask: "Are we losing these to price, service, or coverage?" Proactive retention discussions can protect the book and strengthen the relationship.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24" name="Shape 3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5" name="Google Shape;3925;p27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6" name="Google Shape;3926;p27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Talis Insurance Group, Inc</a:t>
            </a:r>
            <a:endParaRPr/>
          </a:p>
        </p:txBody>
      </p:sp>
      <p:sp>
        <p:nvSpPr>
          <p:cNvPr id="3927" name="Google Shape;3927;p27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4B5F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Tier: Tier 2  |  Region: Southeast  |  State: GA  |  City: Scottdale</a:t>
            </a:r>
            <a:endParaRPr/>
          </a:p>
        </p:txBody>
      </p:sp>
      <p:sp>
        <p:nvSpPr>
          <p:cNvPr id="3928" name="Google Shape;3928;p27"/>
          <p:cNvSpPr/>
          <p:nvPr/>
        </p:nvSpPr>
        <p:spPr>
          <a:xfrm>
            <a:off x="22860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$188,663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YTD GWP</a:t>
            </a:r>
            <a:endParaRPr/>
          </a:p>
        </p:txBody>
      </p:sp>
      <p:sp>
        <p:nvSpPr>
          <p:cNvPr id="3929" name="Google Shape;3929;p27"/>
          <p:cNvSpPr/>
          <p:nvPr/>
        </p:nvSpPr>
        <p:spPr>
          <a:xfrm>
            <a:off x="256032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$25,047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3930" name="Google Shape;3930;p27"/>
          <p:cNvSpPr/>
          <p:nvPr/>
        </p:nvSpPr>
        <p:spPr>
          <a:xfrm>
            <a:off x="489204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$162,876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3931" name="Google Shape;3931;p27"/>
          <p:cNvSpPr/>
          <p:nvPr/>
        </p:nvSpPr>
        <p:spPr>
          <a:xfrm>
            <a:off x="7223759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$740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3932" name="Google Shape;3932;p27"/>
          <p:cNvSpPr/>
          <p:nvPr/>
        </p:nvSpPr>
        <p:spPr>
          <a:xfrm>
            <a:off x="955548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$-500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3933" name="Google Shape;3933;p27"/>
          <p:cNvSpPr/>
          <p:nvPr/>
        </p:nvSpPr>
        <p:spPr>
          <a:xfrm>
            <a:off x="137160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$633,686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2025 Full Year GWP</a:t>
            </a:r>
            <a:endParaRPr/>
          </a:p>
        </p:txBody>
      </p:sp>
      <p:sp>
        <p:nvSpPr>
          <p:cNvPr id="3934" name="Google Shape;3934;p27"/>
          <p:cNvSpPr/>
          <p:nvPr/>
        </p:nvSpPr>
        <p:spPr>
          <a:xfrm>
            <a:off x="1627631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$563,331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Rolling 12M GWP</a:t>
            </a:r>
            <a:endParaRPr/>
          </a:p>
        </p:txBody>
      </p:sp>
      <p:sp>
        <p:nvSpPr>
          <p:cNvPr id="3935" name="Google Shape;3935;p27"/>
          <p:cNvSpPr/>
          <p:nvPr/>
        </p:nvSpPr>
        <p:spPr>
          <a:xfrm>
            <a:off x="3118103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% to Goal</a:t>
            </a:r>
            <a:endParaRPr/>
          </a:p>
        </p:txBody>
      </p:sp>
      <p:sp>
        <p:nvSpPr>
          <p:cNvPr id="3936" name="Google Shape;3936;p27"/>
          <p:cNvSpPr/>
          <p:nvPr/>
        </p:nvSpPr>
        <p:spPr>
          <a:xfrm>
            <a:off x="4608576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3937" name="Google Shape;3937;p27"/>
          <p:cNvSpPr/>
          <p:nvPr/>
        </p:nvSpPr>
        <p:spPr>
          <a:xfrm>
            <a:off x="6099048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3938" name="Google Shape;3938;p27"/>
          <p:cNvSpPr/>
          <p:nvPr/>
        </p:nvSpPr>
        <p:spPr>
          <a:xfrm>
            <a:off x="7589519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8.2%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3939" name="Google Shape;3939;p27"/>
          <p:cNvSpPr/>
          <p:nvPr/>
        </p:nvSpPr>
        <p:spPr>
          <a:xfrm>
            <a:off x="9079992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$303,895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 Bound Prem</a:t>
            </a:r>
            <a:endParaRPr/>
          </a:p>
        </p:txBody>
      </p:sp>
      <p:sp>
        <p:nvSpPr>
          <p:cNvPr id="3940" name="Google Shape;3940;p27"/>
          <p:cNvSpPr/>
          <p:nvPr/>
        </p:nvSpPr>
        <p:spPr>
          <a:xfrm>
            <a:off x="10570464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$86,059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NF Bound Prem</a:t>
            </a:r>
            <a:endParaRPr/>
          </a:p>
        </p:txBody>
      </p:sp>
      <p:sp>
        <p:nvSpPr>
          <p:cNvPr id="3941" name="Google Shape;3941;p2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2" name="Google Shape;3942;p27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PRODUCTION BY MONTH</a:t>
            </a:r>
            <a:endParaRPr/>
          </a:p>
        </p:txBody>
      </p:sp>
      <p:sp>
        <p:nvSpPr>
          <p:cNvPr id="3943" name="Google Shape;3943;p27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3944" name="Google Shape;3944;p27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Written Premium</a:t>
            </a:r>
            <a:endParaRPr/>
          </a:p>
        </p:txBody>
      </p:sp>
      <p:sp>
        <p:nvSpPr>
          <p:cNvPr id="3945" name="Google Shape;3945;p27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3946" name="Google Shape;3946;p27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3947" name="Google Shape;3947;p27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3948" name="Google Shape;3948;p27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3949" name="Google Shape;3949;p27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0" name="Google Shape;3950;p27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3951" name="Google Shape;3951;p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$325</a:t>
            </a:r>
            <a:endParaRPr/>
          </a:p>
        </p:txBody>
      </p:sp>
      <p:sp>
        <p:nvSpPr>
          <p:cNvPr id="3952" name="Google Shape;3952;p27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953" name="Google Shape;3953;p27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954" name="Google Shape;3954;p27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$325</a:t>
            </a:r>
            <a:endParaRPr/>
          </a:p>
        </p:txBody>
      </p:sp>
      <p:sp>
        <p:nvSpPr>
          <p:cNvPr id="3955" name="Google Shape;3955;p27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956" name="Google Shape;3956;p27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7" name="Google Shape;3957;p27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3958" name="Google Shape;3958;p27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959" name="Google Shape;3959;p27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960" name="Google Shape;3960;p27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961" name="Google Shape;3961;p2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962" name="Google Shape;3962;p27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$-500</a:t>
            </a:r>
            <a:endParaRPr/>
          </a:p>
        </p:txBody>
      </p:sp>
      <p:sp>
        <p:nvSpPr>
          <p:cNvPr id="3963" name="Google Shape;3963;p27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4" name="Google Shape;3964;p27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3965" name="Google Shape;3965;p27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$12,969</a:t>
            </a:r>
            <a:endParaRPr/>
          </a:p>
        </p:txBody>
      </p:sp>
      <p:sp>
        <p:nvSpPr>
          <p:cNvPr id="3966" name="Google Shape;3966;p27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$12,969</a:t>
            </a:r>
            <a:endParaRPr/>
          </a:p>
        </p:txBody>
      </p:sp>
      <p:sp>
        <p:nvSpPr>
          <p:cNvPr id="3967" name="Google Shape;3967;p27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968" name="Google Shape;3968;p27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969" name="Google Shape;3969;p27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970" name="Google Shape;3970;p27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1" name="Google Shape;3971;p2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3972" name="Google Shape;3972;p27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$167,457</a:t>
            </a:r>
            <a:endParaRPr/>
          </a:p>
        </p:txBody>
      </p:sp>
      <p:sp>
        <p:nvSpPr>
          <p:cNvPr id="3973" name="Google Shape;3973;p27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$4,166</a:t>
            </a:r>
            <a:endParaRPr/>
          </a:p>
        </p:txBody>
      </p:sp>
      <p:sp>
        <p:nvSpPr>
          <p:cNvPr id="3974" name="Google Shape;3974;p27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$162,876</a:t>
            </a:r>
            <a:endParaRPr/>
          </a:p>
        </p:txBody>
      </p:sp>
      <p:sp>
        <p:nvSpPr>
          <p:cNvPr id="3975" name="Google Shape;3975;p27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$414</a:t>
            </a:r>
            <a:endParaRPr/>
          </a:p>
        </p:txBody>
      </p:sp>
      <p:sp>
        <p:nvSpPr>
          <p:cNvPr id="3976" name="Google Shape;3976;p27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977" name="Google Shape;3977;p27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8" name="Google Shape;3978;p27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3979" name="Google Shape;3979;p27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$7,912</a:t>
            </a:r>
            <a:endParaRPr/>
          </a:p>
        </p:txBody>
      </p:sp>
      <p:sp>
        <p:nvSpPr>
          <p:cNvPr id="3980" name="Google Shape;3980;p27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$7,912</a:t>
            </a:r>
            <a:endParaRPr/>
          </a:p>
        </p:txBody>
      </p:sp>
      <p:sp>
        <p:nvSpPr>
          <p:cNvPr id="3981" name="Google Shape;3981;p2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982" name="Google Shape;3982;p27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983" name="Google Shape;3983;p27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984" name="Google Shape;3984;p27"/>
          <p:cNvSpPr/>
          <p:nvPr/>
        </p:nvSpPr>
        <p:spPr>
          <a:xfrm>
            <a:off x="365760" y="4123944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5" name="Google Shape;3985;p27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3986" name="Google Shape;3986;p27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987" name="Google Shape;3987;p27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988" name="Google Shape;3988;p27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989" name="Google Shape;3989;p27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990" name="Google Shape;3990;p27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3991" name="Google Shape;3991;p27"/>
          <p:cNvSpPr/>
          <p:nvPr/>
        </p:nvSpPr>
        <p:spPr>
          <a:xfrm>
            <a:off x="365760" y="4425696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2" name="Google Shape;3992;p27"/>
          <p:cNvSpPr txBox="1"/>
          <p:nvPr/>
        </p:nvSpPr>
        <p:spPr>
          <a:xfrm>
            <a:off x="3657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3993" name="Google Shape;3993;p27"/>
          <p:cNvSpPr txBox="1"/>
          <p:nvPr/>
        </p:nvSpPr>
        <p:spPr>
          <a:xfrm>
            <a:off x="1280160" y="446227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$188,663</a:t>
            </a:r>
            <a:endParaRPr/>
          </a:p>
        </p:txBody>
      </p:sp>
      <p:sp>
        <p:nvSpPr>
          <p:cNvPr id="3994" name="Google Shape;3994;p27"/>
          <p:cNvSpPr txBox="1"/>
          <p:nvPr/>
        </p:nvSpPr>
        <p:spPr>
          <a:xfrm>
            <a:off x="2377439" y="446227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$25,047</a:t>
            </a:r>
            <a:endParaRPr/>
          </a:p>
        </p:txBody>
      </p:sp>
      <p:sp>
        <p:nvSpPr>
          <p:cNvPr id="3995" name="Google Shape;3995;p27"/>
          <p:cNvSpPr txBox="1"/>
          <p:nvPr/>
        </p:nvSpPr>
        <p:spPr>
          <a:xfrm>
            <a:off x="33832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$162,876</a:t>
            </a:r>
            <a:endParaRPr/>
          </a:p>
        </p:txBody>
      </p:sp>
      <p:sp>
        <p:nvSpPr>
          <p:cNvPr id="3996" name="Google Shape;3996;p27"/>
          <p:cNvSpPr txBox="1"/>
          <p:nvPr/>
        </p:nvSpPr>
        <p:spPr>
          <a:xfrm>
            <a:off x="42976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$740</a:t>
            </a:r>
            <a:endParaRPr/>
          </a:p>
        </p:txBody>
      </p:sp>
      <p:sp>
        <p:nvSpPr>
          <p:cNvPr id="3997" name="Google Shape;3997;p27"/>
          <p:cNvSpPr txBox="1"/>
          <p:nvPr/>
        </p:nvSpPr>
        <p:spPr>
          <a:xfrm>
            <a:off x="52120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$-500</a:t>
            </a:r>
            <a:endParaRPr/>
          </a:p>
        </p:txBody>
      </p:sp>
      <p:sp>
        <p:nvSpPr>
          <p:cNvPr id="3998" name="Google Shape;3998;p2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9" name="Google Shape;3999;p27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 &amp; PIPELINE</a:t>
            </a:r>
            <a:endParaRPr/>
          </a:p>
        </p:txBody>
      </p:sp>
      <p:sp>
        <p:nvSpPr>
          <p:cNvPr id="4000" name="Google Shape;4000;p27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4001" name="Google Shape;4001;p27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Subs</a:t>
            </a:r>
            <a:endParaRPr/>
          </a:p>
        </p:txBody>
      </p:sp>
      <p:sp>
        <p:nvSpPr>
          <p:cNvPr id="4002" name="Google Shape;4002;p27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</a:t>
            </a:r>
            <a:endParaRPr/>
          </a:p>
        </p:txBody>
      </p:sp>
      <p:sp>
        <p:nvSpPr>
          <p:cNvPr id="4003" name="Google Shape;4003;p27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Non-Fleet</a:t>
            </a:r>
            <a:endParaRPr/>
          </a:p>
        </p:txBody>
      </p:sp>
      <p:sp>
        <p:nvSpPr>
          <p:cNvPr id="4004" name="Google Shape;4004;p27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4005" name="Google Shape;4005;p27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4006" name="Google Shape;4006;p27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7" name="Google Shape;4007;p27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4008" name="Google Shape;4008;p2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29</a:t>
            </a:r>
            <a:endParaRPr/>
          </a:p>
        </p:txBody>
      </p:sp>
      <p:sp>
        <p:nvSpPr>
          <p:cNvPr id="4009" name="Google Shape;4009;p27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/>
          </a:p>
        </p:txBody>
      </p:sp>
      <p:sp>
        <p:nvSpPr>
          <p:cNvPr id="4010" name="Google Shape;4010;p27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23</a:t>
            </a:r>
            <a:endParaRPr/>
          </a:p>
        </p:txBody>
      </p:sp>
      <p:sp>
        <p:nvSpPr>
          <p:cNvPr id="4011" name="Google Shape;4011;p27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/>
          </a:p>
        </p:txBody>
      </p:sp>
      <p:sp>
        <p:nvSpPr>
          <p:cNvPr id="4012" name="Google Shape;4012;p27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24.1%</a:t>
            </a:r>
            <a:endParaRPr/>
          </a:p>
        </p:txBody>
      </p:sp>
      <p:sp>
        <p:nvSpPr>
          <p:cNvPr id="4013" name="Google Shape;4013;p27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4" name="Google Shape;4014;p27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4015" name="Google Shape;4015;p27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29</a:t>
            </a:r>
            <a:endParaRPr/>
          </a:p>
        </p:txBody>
      </p:sp>
      <p:sp>
        <p:nvSpPr>
          <p:cNvPr id="4016" name="Google Shape;4016;p27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4017" name="Google Shape;4017;p27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28</a:t>
            </a:r>
            <a:endParaRPr/>
          </a:p>
        </p:txBody>
      </p:sp>
      <p:sp>
        <p:nvSpPr>
          <p:cNvPr id="4018" name="Google Shape;4018;p2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4019" name="Google Shape;4019;p27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6.9%</a:t>
            </a:r>
            <a:endParaRPr/>
          </a:p>
        </p:txBody>
      </p:sp>
      <p:sp>
        <p:nvSpPr>
          <p:cNvPr id="4020" name="Google Shape;4020;p27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1" name="Google Shape;4021;p27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4022" name="Google Shape;4022;p27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29</a:t>
            </a:r>
            <a:endParaRPr/>
          </a:p>
        </p:txBody>
      </p:sp>
      <p:sp>
        <p:nvSpPr>
          <p:cNvPr id="4023" name="Google Shape;4023;p27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4024" name="Google Shape;4024;p27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24</a:t>
            </a:r>
            <a:endParaRPr/>
          </a:p>
        </p:txBody>
      </p:sp>
      <p:sp>
        <p:nvSpPr>
          <p:cNvPr id="4025" name="Google Shape;4025;p27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4026" name="Google Shape;4026;p27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6.9%</a:t>
            </a:r>
            <a:endParaRPr/>
          </a:p>
        </p:txBody>
      </p:sp>
      <p:sp>
        <p:nvSpPr>
          <p:cNvPr id="4027" name="Google Shape;4027;p27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8" name="Google Shape;4028;p2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4029" name="Google Shape;4029;p27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33</a:t>
            </a:r>
            <a:endParaRPr/>
          </a:p>
        </p:txBody>
      </p:sp>
      <p:sp>
        <p:nvSpPr>
          <p:cNvPr id="4030" name="Google Shape;4030;p27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4031" name="Google Shape;4031;p27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31</a:t>
            </a:r>
            <a:endParaRPr/>
          </a:p>
        </p:txBody>
      </p:sp>
      <p:sp>
        <p:nvSpPr>
          <p:cNvPr id="4032" name="Google Shape;4032;p27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4033" name="Google Shape;4033;p27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6.1%</a:t>
            </a:r>
            <a:endParaRPr/>
          </a:p>
        </p:txBody>
      </p:sp>
      <p:sp>
        <p:nvSpPr>
          <p:cNvPr id="4034" name="Google Shape;4034;p27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5" name="Google Shape;4035;p27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4036" name="Google Shape;4036;p27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</a:t>
            </a:r>
            <a:endParaRPr/>
          </a:p>
        </p:txBody>
      </p:sp>
      <p:sp>
        <p:nvSpPr>
          <p:cNvPr id="4037" name="Google Shape;4037;p27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4038" name="Google Shape;4038;p2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18</a:t>
            </a:r>
            <a:endParaRPr/>
          </a:p>
        </p:txBody>
      </p:sp>
      <p:sp>
        <p:nvSpPr>
          <p:cNvPr id="4039" name="Google Shape;4039;p27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4040" name="Google Shape;4040;p27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9.5%</a:t>
            </a:r>
            <a:endParaRPr/>
          </a:p>
        </p:txBody>
      </p:sp>
      <p:sp>
        <p:nvSpPr>
          <p:cNvPr id="4041" name="Google Shape;4041;p27"/>
          <p:cNvSpPr/>
          <p:nvPr/>
        </p:nvSpPr>
        <p:spPr>
          <a:xfrm>
            <a:off x="6309360" y="4123944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2" name="Google Shape;4042;p27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4043" name="Google Shape;4043;p27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4044" name="Google Shape;4044;p27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4045" name="Google Shape;4045;p27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4046" name="Google Shape;4046;p27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4047" name="Google Shape;4047;p27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4048" name="Google Shape;4048;p27"/>
          <p:cNvSpPr/>
          <p:nvPr/>
        </p:nvSpPr>
        <p:spPr>
          <a:xfrm>
            <a:off x="6309360" y="4425696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9" name="Google Shape;4049;p27"/>
          <p:cNvSpPr txBox="1"/>
          <p:nvPr/>
        </p:nvSpPr>
        <p:spPr>
          <a:xfrm>
            <a:off x="63093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4050" name="Google Shape;4050;p27"/>
          <p:cNvSpPr txBox="1"/>
          <p:nvPr/>
        </p:nvSpPr>
        <p:spPr>
          <a:xfrm>
            <a:off x="722376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134</a:t>
            </a:r>
            <a:endParaRPr/>
          </a:p>
        </p:txBody>
      </p:sp>
      <p:sp>
        <p:nvSpPr>
          <p:cNvPr id="4051" name="Google Shape;4051;p27"/>
          <p:cNvSpPr txBox="1"/>
          <p:nvPr/>
        </p:nvSpPr>
        <p:spPr>
          <a:xfrm>
            <a:off x="804672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</a:t>
            </a:r>
            <a:endParaRPr/>
          </a:p>
        </p:txBody>
      </p:sp>
      <p:sp>
        <p:nvSpPr>
          <p:cNvPr id="4052" name="Google Shape;4052;p27"/>
          <p:cNvSpPr txBox="1"/>
          <p:nvPr/>
        </p:nvSpPr>
        <p:spPr>
          <a:xfrm>
            <a:off x="886968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121</a:t>
            </a:r>
            <a:endParaRPr/>
          </a:p>
        </p:txBody>
      </p:sp>
      <p:sp>
        <p:nvSpPr>
          <p:cNvPr id="4053" name="Google Shape;4053;p27"/>
          <p:cNvSpPr txBox="1"/>
          <p:nvPr/>
        </p:nvSpPr>
        <p:spPr>
          <a:xfrm>
            <a:off x="978408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</a:t>
            </a:r>
            <a:endParaRPr/>
          </a:p>
        </p:txBody>
      </p:sp>
      <p:sp>
        <p:nvSpPr>
          <p:cNvPr id="4054" name="Google Shape;4054;p27"/>
          <p:cNvSpPr txBox="1"/>
          <p:nvPr/>
        </p:nvSpPr>
        <p:spPr>
          <a:xfrm>
            <a:off x="1060704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8.2%</a:t>
            </a:r>
            <a:endParaRPr/>
          </a:p>
        </p:txBody>
      </p:sp>
      <p:sp>
        <p:nvSpPr>
          <p:cNvPr id="4055" name="Google Shape;4055;p27"/>
          <p:cNvSpPr/>
          <p:nvPr/>
        </p:nvSpPr>
        <p:spPr>
          <a:xfrm>
            <a:off x="365760" y="4782312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6" name="Google Shape;4056;p27"/>
          <p:cNvSpPr txBox="1"/>
          <p:nvPr/>
        </p:nvSpPr>
        <p:spPr>
          <a:xfrm>
            <a:off x="457200" y="4800599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YOY COMPARISON — Jan–Jun 2025 vs Jan–Jun 2026</a:t>
            </a:r>
            <a:endParaRPr/>
          </a:p>
        </p:txBody>
      </p:sp>
      <p:sp>
        <p:nvSpPr>
          <p:cNvPr id="4057" name="Google Shape;4057;p27"/>
          <p:cNvSpPr txBox="1"/>
          <p:nvPr/>
        </p:nvSpPr>
        <p:spPr>
          <a:xfrm>
            <a:off x="365760" y="5056631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00" u="none" cap="none" strike="noStrike">
              <a:solidFill>
                <a:srgbClr val="6B728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058" name="Google Shape;4058;p27"/>
          <p:cNvSpPr txBox="1"/>
          <p:nvPr/>
        </p:nvSpPr>
        <p:spPr>
          <a:xfrm>
            <a:off x="1463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'25</a:t>
            </a:r>
            <a:endParaRPr/>
          </a:p>
        </p:txBody>
      </p:sp>
      <p:sp>
        <p:nvSpPr>
          <p:cNvPr id="4059" name="Google Shape;4059;p27"/>
          <p:cNvSpPr txBox="1"/>
          <p:nvPr/>
        </p:nvSpPr>
        <p:spPr>
          <a:xfrm>
            <a:off x="2148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'26</a:t>
            </a:r>
            <a:endParaRPr/>
          </a:p>
        </p:txBody>
      </p:sp>
      <p:sp>
        <p:nvSpPr>
          <p:cNvPr id="4060" name="Google Shape;4060;p27"/>
          <p:cNvSpPr txBox="1"/>
          <p:nvPr/>
        </p:nvSpPr>
        <p:spPr>
          <a:xfrm>
            <a:off x="2834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'25</a:t>
            </a:r>
            <a:endParaRPr/>
          </a:p>
        </p:txBody>
      </p:sp>
      <p:sp>
        <p:nvSpPr>
          <p:cNvPr id="4061" name="Google Shape;4061;p27"/>
          <p:cNvSpPr txBox="1"/>
          <p:nvPr/>
        </p:nvSpPr>
        <p:spPr>
          <a:xfrm>
            <a:off x="3520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'26</a:t>
            </a:r>
            <a:endParaRPr/>
          </a:p>
        </p:txBody>
      </p:sp>
      <p:sp>
        <p:nvSpPr>
          <p:cNvPr id="4062" name="Google Shape;4062;p27"/>
          <p:cNvSpPr txBox="1"/>
          <p:nvPr/>
        </p:nvSpPr>
        <p:spPr>
          <a:xfrm>
            <a:off x="4206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'25</a:t>
            </a:r>
            <a:endParaRPr/>
          </a:p>
        </p:txBody>
      </p:sp>
      <p:sp>
        <p:nvSpPr>
          <p:cNvPr id="4063" name="Google Shape;4063;p27"/>
          <p:cNvSpPr txBox="1"/>
          <p:nvPr/>
        </p:nvSpPr>
        <p:spPr>
          <a:xfrm>
            <a:off x="4892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'26</a:t>
            </a:r>
            <a:endParaRPr/>
          </a:p>
        </p:txBody>
      </p:sp>
      <p:sp>
        <p:nvSpPr>
          <p:cNvPr id="4064" name="Google Shape;4064;p27"/>
          <p:cNvSpPr txBox="1"/>
          <p:nvPr/>
        </p:nvSpPr>
        <p:spPr>
          <a:xfrm>
            <a:off x="5577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'25</a:t>
            </a:r>
            <a:endParaRPr/>
          </a:p>
        </p:txBody>
      </p:sp>
      <p:sp>
        <p:nvSpPr>
          <p:cNvPr id="4065" name="Google Shape;4065;p27"/>
          <p:cNvSpPr txBox="1"/>
          <p:nvPr/>
        </p:nvSpPr>
        <p:spPr>
          <a:xfrm>
            <a:off x="6263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'26</a:t>
            </a:r>
            <a:endParaRPr/>
          </a:p>
        </p:txBody>
      </p:sp>
      <p:sp>
        <p:nvSpPr>
          <p:cNvPr id="4066" name="Google Shape;4066;p27"/>
          <p:cNvSpPr txBox="1"/>
          <p:nvPr/>
        </p:nvSpPr>
        <p:spPr>
          <a:xfrm>
            <a:off x="6949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'25</a:t>
            </a:r>
            <a:endParaRPr/>
          </a:p>
        </p:txBody>
      </p:sp>
      <p:sp>
        <p:nvSpPr>
          <p:cNvPr id="4067" name="Google Shape;4067;p27"/>
          <p:cNvSpPr txBox="1"/>
          <p:nvPr/>
        </p:nvSpPr>
        <p:spPr>
          <a:xfrm>
            <a:off x="7635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'26</a:t>
            </a:r>
            <a:endParaRPr/>
          </a:p>
        </p:txBody>
      </p:sp>
      <p:sp>
        <p:nvSpPr>
          <p:cNvPr id="4068" name="Google Shape;4068;p27"/>
          <p:cNvSpPr txBox="1"/>
          <p:nvPr/>
        </p:nvSpPr>
        <p:spPr>
          <a:xfrm>
            <a:off x="8321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'25</a:t>
            </a:r>
            <a:endParaRPr/>
          </a:p>
        </p:txBody>
      </p:sp>
      <p:sp>
        <p:nvSpPr>
          <p:cNvPr id="4069" name="Google Shape;4069;p27"/>
          <p:cNvSpPr txBox="1"/>
          <p:nvPr/>
        </p:nvSpPr>
        <p:spPr>
          <a:xfrm>
            <a:off x="9006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'26</a:t>
            </a:r>
            <a:endParaRPr/>
          </a:p>
        </p:txBody>
      </p:sp>
      <p:sp>
        <p:nvSpPr>
          <p:cNvPr id="4070" name="Google Shape;4070;p27"/>
          <p:cNvSpPr txBox="1"/>
          <p:nvPr/>
        </p:nvSpPr>
        <p:spPr>
          <a:xfrm>
            <a:off x="969264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'25 Tot</a:t>
            </a:r>
            <a:endParaRPr/>
          </a:p>
        </p:txBody>
      </p:sp>
      <p:sp>
        <p:nvSpPr>
          <p:cNvPr id="4071" name="Google Shape;4071;p27"/>
          <p:cNvSpPr txBox="1"/>
          <p:nvPr/>
        </p:nvSpPr>
        <p:spPr>
          <a:xfrm>
            <a:off x="1088136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'26 Tot</a:t>
            </a:r>
            <a:endParaRPr/>
          </a:p>
        </p:txBody>
      </p:sp>
      <p:sp>
        <p:nvSpPr>
          <p:cNvPr id="4072" name="Google Shape;4072;p27"/>
          <p:cNvSpPr txBox="1"/>
          <p:nvPr/>
        </p:nvSpPr>
        <p:spPr>
          <a:xfrm>
            <a:off x="365760" y="523951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4073" name="Google Shape;4073;p27"/>
          <p:cNvSpPr txBox="1"/>
          <p:nvPr/>
        </p:nvSpPr>
        <p:spPr>
          <a:xfrm>
            <a:off x="1463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32</a:t>
            </a:r>
            <a:endParaRPr/>
          </a:p>
        </p:txBody>
      </p:sp>
      <p:sp>
        <p:nvSpPr>
          <p:cNvPr id="4074" name="Google Shape;4074;p27"/>
          <p:cNvSpPr txBox="1"/>
          <p:nvPr/>
        </p:nvSpPr>
        <p:spPr>
          <a:xfrm>
            <a:off x="2148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29</a:t>
            </a:r>
            <a:endParaRPr/>
          </a:p>
        </p:txBody>
      </p:sp>
      <p:sp>
        <p:nvSpPr>
          <p:cNvPr id="4075" name="Google Shape;4075;p27"/>
          <p:cNvSpPr txBox="1"/>
          <p:nvPr/>
        </p:nvSpPr>
        <p:spPr>
          <a:xfrm>
            <a:off x="2834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</a:t>
            </a:r>
            <a:endParaRPr/>
          </a:p>
        </p:txBody>
      </p:sp>
      <p:sp>
        <p:nvSpPr>
          <p:cNvPr id="4076" name="Google Shape;4076;p27"/>
          <p:cNvSpPr txBox="1"/>
          <p:nvPr/>
        </p:nvSpPr>
        <p:spPr>
          <a:xfrm>
            <a:off x="3520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29</a:t>
            </a:r>
            <a:endParaRPr/>
          </a:p>
        </p:txBody>
      </p:sp>
      <p:sp>
        <p:nvSpPr>
          <p:cNvPr id="4077" name="Google Shape;4077;p27"/>
          <p:cNvSpPr txBox="1"/>
          <p:nvPr/>
        </p:nvSpPr>
        <p:spPr>
          <a:xfrm>
            <a:off x="4206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</a:t>
            </a:r>
            <a:endParaRPr/>
          </a:p>
        </p:txBody>
      </p:sp>
      <p:sp>
        <p:nvSpPr>
          <p:cNvPr id="4078" name="Google Shape;4078;p27"/>
          <p:cNvSpPr txBox="1"/>
          <p:nvPr/>
        </p:nvSpPr>
        <p:spPr>
          <a:xfrm>
            <a:off x="4892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29</a:t>
            </a:r>
            <a:endParaRPr/>
          </a:p>
        </p:txBody>
      </p:sp>
      <p:sp>
        <p:nvSpPr>
          <p:cNvPr id="4079" name="Google Shape;4079;p27"/>
          <p:cNvSpPr txBox="1"/>
          <p:nvPr/>
        </p:nvSpPr>
        <p:spPr>
          <a:xfrm>
            <a:off x="5577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</a:t>
            </a:r>
            <a:endParaRPr/>
          </a:p>
        </p:txBody>
      </p:sp>
      <p:sp>
        <p:nvSpPr>
          <p:cNvPr id="4080" name="Google Shape;4080;p27"/>
          <p:cNvSpPr txBox="1"/>
          <p:nvPr/>
        </p:nvSpPr>
        <p:spPr>
          <a:xfrm>
            <a:off x="6263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33</a:t>
            </a:r>
            <a:endParaRPr/>
          </a:p>
        </p:txBody>
      </p:sp>
      <p:sp>
        <p:nvSpPr>
          <p:cNvPr id="4081" name="Google Shape;4081;p27"/>
          <p:cNvSpPr txBox="1"/>
          <p:nvPr/>
        </p:nvSpPr>
        <p:spPr>
          <a:xfrm>
            <a:off x="6949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29</a:t>
            </a:r>
            <a:endParaRPr/>
          </a:p>
        </p:txBody>
      </p:sp>
      <p:sp>
        <p:nvSpPr>
          <p:cNvPr id="4082" name="Google Shape;4082;p27"/>
          <p:cNvSpPr txBox="1"/>
          <p:nvPr/>
        </p:nvSpPr>
        <p:spPr>
          <a:xfrm>
            <a:off x="7635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</a:t>
            </a:r>
            <a:endParaRPr/>
          </a:p>
        </p:txBody>
      </p:sp>
      <p:sp>
        <p:nvSpPr>
          <p:cNvPr id="4083" name="Google Shape;4083;p27"/>
          <p:cNvSpPr txBox="1"/>
          <p:nvPr/>
        </p:nvSpPr>
        <p:spPr>
          <a:xfrm>
            <a:off x="8321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18</a:t>
            </a:r>
            <a:endParaRPr/>
          </a:p>
        </p:txBody>
      </p:sp>
      <p:sp>
        <p:nvSpPr>
          <p:cNvPr id="4084" name="Google Shape;4084;p27"/>
          <p:cNvSpPr txBox="1"/>
          <p:nvPr/>
        </p:nvSpPr>
        <p:spPr>
          <a:xfrm>
            <a:off x="9006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4085" name="Google Shape;4085;p27"/>
          <p:cNvSpPr txBox="1"/>
          <p:nvPr/>
        </p:nvSpPr>
        <p:spPr>
          <a:xfrm>
            <a:off x="969264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142</a:t>
            </a:r>
            <a:endParaRPr/>
          </a:p>
        </p:txBody>
      </p:sp>
      <p:sp>
        <p:nvSpPr>
          <p:cNvPr id="4086" name="Google Shape;4086;p27"/>
          <p:cNvSpPr txBox="1"/>
          <p:nvPr/>
        </p:nvSpPr>
        <p:spPr>
          <a:xfrm>
            <a:off x="1088136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141</a:t>
            </a:r>
            <a:endParaRPr/>
          </a:p>
        </p:txBody>
      </p:sp>
      <p:sp>
        <p:nvSpPr>
          <p:cNvPr id="4087" name="Google Shape;4087;p27"/>
          <p:cNvSpPr txBox="1"/>
          <p:nvPr/>
        </p:nvSpPr>
        <p:spPr>
          <a:xfrm>
            <a:off x="365760" y="542239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Bound Premium</a:t>
            </a:r>
            <a:endParaRPr/>
          </a:p>
        </p:txBody>
      </p:sp>
      <p:sp>
        <p:nvSpPr>
          <p:cNvPr id="4088" name="Google Shape;4088;p27"/>
          <p:cNvSpPr txBox="1"/>
          <p:nvPr/>
        </p:nvSpPr>
        <p:spPr>
          <a:xfrm>
            <a:off x="1463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$24K</a:t>
            </a:r>
            <a:endParaRPr/>
          </a:p>
        </p:txBody>
      </p:sp>
      <p:sp>
        <p:nvSpPr>
          <p:cNvPr id="4089" name="Google Shape;4089;p27"/>
          <p:cNvSpPr txBox="1"/>
          <p:nvPr/>
        </p:nvSpPr>
        <p:spPr>
          <a:xfrm>
            <a:off x="2148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$325</a:t>
            </a:r>
            <a:endParaRPr/>
          </a:p>
        </p:txBody>
      </p:sp>
      <p:sp>
        <p:nvSpPr>
          <p:cNvPr id="4090" name="Google Shape;4090;p27"/>
          <p:cNvSpPr txBox="1"/>
          <p:nvPr/>
        </p:nvSpPr>
        <p:spPr>
          <a:xfrm>
            <a:off x="2834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$-25,219</a:t>
            </a:r>
            <a:endParaRPr/>
          </a:p>
        </p:txBody>
      </p:sp>
      <p:sp>
        <p:nvSpPr>
          <p:cNvPr id="4091" name="Google Shape;4091;p27"/>
          <p:cNvSpPr txBox="1"/>
          <p:nvPr/>
        </p:nvSpPr>
        <p:spPr>
          <a:xfrm>
            <a:off x="3520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092" name="Google Shape;4092;p27"/>
          <p:cNvSpPr txBox="1"/>
          <p:nvPr/>
        </p:nvSpPr>
        <p:spPr>
          <a:xfrm>
            <a:off x="4206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$27K</a:t>
            </a:r>
            <a:endParaRPr/>
          </a:p>
        </p:txBody>
      </p:sp>
      <p:sp>
        <p:nvSpPr>
          <p:cNvPr id="4093" name="Google Shape;4093;p27"/>
          <p:cNvSpPr txBox="1"/>
          <p:nvPr/>
        </p:nvSpPr>
        <p:spPr>
          <a:xfrm>
            <a:off x="4892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$13K</a:t>
            </a:r>
            <a:endParaRPr/>
          </a:p>
        </p:txBody>
      </p:sp>
      <p:sp>
        <p:nvSpPr>
          <p:cNvPr id="4094" name="Google Shape;4094;p27"/>
          <p:cNvSpPr txBox="1"/>
          <p:nvPr/>
        </p:nvSpPr>
        <p:spPr>
          <a:xfrm>
            <a:off x="5577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$141K</a:t>
            </a:r>
            <a:endParaRPr/>
          </a:p>
        </p:txBody>
      </p:sp>
      <p:sp>
        <p:nvSpPr>
          <p:cNvPr id="4095" name="Google Shape;4095;p27"/>
          <p:cNvSpPr txBox="1"/>
          <p:nvPr/>
        </p:nvSpPr>
        <p:spPr>
          <a:xfrm>
            <a:off x="6263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$167K</a:t>
            </a:r>
            <a:endParaRPr/>
          </a:p>
        </p:txBody>
      </p:sp>
      <p:sp>
        <p:nvSpPr>
          <p:cNvPr id="4096" name="Google Shape;4096;p27"/>
          <p:cNvSpPr txBox="1"/>
          <p:nvPr/>
        </p:nvSpPr>
        <p:spPr>
          <a:xfrm>
            <a:off x="6949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$84K</a:t>
            </a:r>
            <a:endParaRPr/>
          </a:p>
        </p:txBody>
      </p:sp>
      <p:sp>
        <p:nvSpPr>
          <p:cNvPr id="4097" name="Google Shape;4097;p27"/>
          <p:cNvSpPr txBox="1"/>
          <p:nvPr/>
        </p:nvSpPr>
        <p:spPr>
          <a:xfrm>
            <a:off x="7635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$8K</a:t>
            </a:r>
            <a:endParaRPr/>
          </a:p>
        </p:txBody>
      </p:sp>
      <p:sp>
        <p:nvSpPr>
          <p:cNvPr id="4098" name="Google Shape;4098;p27"/>
          <p:cNvSpPr txBox="1"/>
          <p:nvPr/>
        </p:nvSpPr>
        <p:spPr>
          <a:xfrm>
            <a:off x="8321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$8K</a:t>
            </a:r>
            <a:endParaRPr/>
          </a:p>
        </p:txBody>
      </p:sp>
      <p:sp>
        <p:nvSpPr>
          <p:cNvPr id="4099" name="Google Shape;4099;p27"/>
          <p:cNvSpPr txBox="1"/>
          <p:nvPr/>
        </p:nvSpPr>
        <p:spPr>
          <a:xfrm>
            <a:off x="9006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100" name="Google Shape;4100;p27"/>
          <p:cNvSpPr txBox="1"/>
          <p:nvPr/>
        </p:nvSpPr>
        <p:spPr>
          <a:xfrm>
            <a:off x="969264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$259K</a:t>
            </a:r>
            <a:endParaRPr/>
          </a:p>
        </p:txBody>
      </p:sp>
      <p:sp>
        <p:nvSpPr>
          <p:cNvPr id="4101" name="Google Shape;4101;p27"/>
          <p:cNvSpPr txBox="1"/>
          <p:nvPr/>
        </p:nvSpPr>
        <p:spPr>
          <a:xfrm>
            <a:off x="1088136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$189K</a:t>
            </a:r>
            <a:endParaRPr/>
          </a:p>
        </p:txBody>
      </p:sp>
      <p:sp>
        <p:nvSpPr>
          <p:cNvPr id="4102" name="Google Shape;4102;p27"/>
          <p:cNvSpPr/>
          <p:nvPr/>
        </p:nvSpPr>
        <p:spPr>
          <a:xfrm>
            <a:off x="365760" y="5678423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3" name="Google Shape;4103;p27"/>
          <p:cNvSpPr txBox="1"/>
          <p:nvPr/>
        </p:nvSpPr>
        <p:spPr>
          <a:xfrm>
            <a:off x="4572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65F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STRENGTHS - What's Working</a:t>
            </a:r>
            <a:endParaRPr/>
          </a:p>
        </p:txBody>
      </p:sp>
      <p:sp>
        <p:nvSpPr>
          <p:cNvPr id="4104" name="Google Shape;4104;p27"/>
          <p:cNvSpPr txBox="1"/>
          <p:nvPr/>
        </p:nvSpPr>
        <p:spPr>
          <a:xfrm>
            <a:off x="4572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4105" name="Google Shape;4105;p27"/>
          <p:cNvSpPr txBox="1"/>
          <p:nvPr/>
        </p:nvSpPr>
        <p:spPr>
          <a:xfrm>
            <a:off x="685800" y="5952743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$188,663 YTD gross written premium</a:t>
            </a:r>
            <a:endParaRPr/>
          </a:p>
        </p:txBody>
      </p:sp>
      <p:sp>
        <p:nvSpPr>
          <p:cNvPr id="4106" name="Google Shape;4106;p27"/>
          <p:cNvSpPr txBox="1"/>
          <p:nvPr/>
        </p:nvSpPr>
        <p:spPr>
          <a:xfrm>
            <a:off x="457200" y="6153911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4107" name="Google Shape;4107;p27"/>
          <p:cNvSpPr txBox="1"/>
          <p:nvPr/>
        </p:nvSpPr>
        <p:spPr>
          <a:xfrm>
            <a:off x="685800" y="6153911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$25,047 in new business production</a:t>
            </a:r>
            <a:endParaRPr/>
          </a:p>
        </p:txBody>
      </p:sp>
      <p:sp>
        <p:nvSpPr>
          <p:cNvPr id="4108" name="Google Shape;4108;p27"/>
          <p:cNvSpPr/>
          <p:nvPr/>
        </p:nvSpPr>
        <p:spPr>
          <a:xfrm>
            <a:off x="6309360" y="5678423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9" name="Google Shape;4109;p27"/>
          <p:cNvSpPr txBox="1"/>
          <p:nvPr/>
        </p:nvSpPr>
        <p:spPr>
          <a:xfrm>
            <a:off x="64008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NEEDS ATTENTION</a:t>
            </a:r>
            <a:endParaRPr/>
          </a:p>
        </p:txBody>
      </p:sp>
      <p:sp>
        <p:nvSpPr>
          <p:cNvPr id="4110" name="Google Shape;4110;p27"/>
          <p:cNvSpPr txBox="1"/>
          <p:nvPr/>
        </p:nvSpPr>
        <p:spPr>
          <a:xfrm>
            <a:off x="64008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4111" name="Google Shape;4111;p27"/>
          <p:cNvSpPr txBox="1"/>
          <p:nvPr/>
        </p:nvSpPr>
        <p:spPr>
          <a:xfrm>
            <a:off x="6629400" y="5952743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Written premium dropped 95% month-over-month</a:t>
            </a:r>
            <a:endParaRPr/>
          </a:p>
        </p:txBody>
      </p:sp>
      <p:sp>
        <p:nvSpPr>
          <p:cNvPr id="4112" name="Google Shape;4112;p27"/>
          <p:cNvSpPr/>
          <p:nvPr/>
        </p:nvSpPr>
        <p:spPr>
          <a:xfrm>
            <a:off x="365760" y="6455663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3" name="Google Shape;4113;p27"/>
          <p:cNvSpPr txBox="1"/>
          <p:nvPr/>
        </p:nvSpPr>
        <p:spPr>
          <a:xfrm>
            <a:off x="457200" y="6464807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STRATEGIC SALES TIPS - Conversation Starters</a:t>
            </a:r>
            <a:endParaRPr/>
          </a:p>
        </p:txBody>
      </p:sp>
      <p:sp>
        <p:nvSpPr>
          <p:cNvPr id="4114" name="Google Shape;4114;p27"/>
          <p:cNvSpPr txBox="1"/>
          <p:nvPr/>
        </p:nvSpPr>
        <p:spPr>
          <a:xfrm>
            <a:off x="457200" y="6711695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endParaRPr/>
          </a:p>
        </p:txBody>
      </p:sp>
      <p:sp>
        <p:nvSpPr>
          <p:cNvPr id="4115" name="Google Shape;4115;p27"/>
          <p:cNvSpPr txBox="1"/>
          <p:nvPr/>
        </p:nvSpPr>
        <p:spPr>
          <a:xfrm>
            <a:off x="777240" y="6711695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Celebrate the $25,047 in new business. Ask what made those deals work and how you can help replicate that success with similar accounts in their pipeline.</a:t>
            </a:r>
            <a:endParaRPr/>
          </a:p>
        </p:txBody>
      </p:sp>
      <p:sp>
        <p:nvSpPr>
          <p:cNvPr id="4116" name="Google Shape;4116;p27"/>
          <p:cNvSpPr txBox="1"/>
          <p:nvPr/>
        </p:nvSpPr>
        <p:spPr>
          <a:xfrm>
            <a:off x="457200" y="6949439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endParaRPr/>
          </a:p>
        </p:txBody>
      </p:sp>
      <p:sp>
        <p:nvSpPr>
          <p:cNvPr id="4117" name="Google Shape;4117;p27"/>
          <p:cNvSpPr txBox="1"/>
          <p:nvPr/>
        </p:nvSpPr>
        <p:spPr>
          <a:xfrm>
            <a:off x="777240" y="6949439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Strong $162,876 renewal book. Use this as proof of value: "Your retention shows we're delivering - let's find more accounts like these in your pipeline."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21" name="Shape 4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2" name="Google Shape;4122;p28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3" name="Google Shape;4123;p28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 &amp; R Agency LLC</a:t>
            </a:r>
            <a:endParaRPr/>
          </a:p>
        </p:txBody>
      </p:sp>
      <p:sp>
        <p:nvSpPr>
          <p:cNvPr id="4124" name="Google Shape;4124;p28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4B5F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Tier: Tier 2  |  Region: Southeast  |  State: MS  |  City: New Albany</a:t>
            </a:r>
            <a:endParaRPr/>
          </a:p>
        </p:txBody>
      </p:sp>
      <p:sp>
        <p:nvSpPr>
          <p:cNvPr id="4125" name="Google Shape;4125;p28"/>
          <p:cNvSpPr/>
          <p:nvPr/>
        </p:nvSpPr>
        <p:spPr>
          <a:xfrm>
            <a:off x="22860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$168,923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YTD GWP</a:t>
            </a:r>
            <a:endParaRPr/>
          </a:p>
        </p:txBody>
      </p:sp>
      <p:sp>
        <p:nvSpPr>
          <p:cNvPr id="4126" name="Google Shape;4126;p28"/>
          <p:cNvSpPr/>
          <p:nvPr/>
        </p:nvSpPr>
        <p:spPr>
          <a:xfrm>
            <a:off x="256032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$145,252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4127" name="Google Shape;4127;p28"/>
          <p:cNvSpPr/>
          <p:nvPr/>
        </p:nvSpPr>
        <p:spPr>
          <a:xfrm>
            <a:off x="489204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4128" name="Google Shape;4128;p28"/>
          <p:cNvSpPr/>
          <p:nvPr/>
        </p:nvSpPr>
        <p:spPr>
          <a:xfrm>
            <a:off x="7223759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$23,670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4129" name="Google Shape;4129;p28"/>
          <p:cNvSpPr/>
          <p:nvPr/>
        </p:nvSpPr>
        <p:spPr>
          <a:xfrm>
            <a:off x="955548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$-57,409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4130" name="Google Shape;4130;p28"/>
          <p:cNvSpPr/>
          <p:nvPr/>
        </p:nvSpPr>
        <p:spPr>
          <a:xfrm>
            <a:off x="137160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$685,354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2025 Full Year GWP</a:t>
            </a:r>
            <a:endParaRPr/>
          </a:p>
        </p:txBody>
      </p:sp>
      <p:sp>
        <p:nvSpPr>
          <p:cNvPr id="4131" name="Google Shape;4131;p28"/>
          <p:cNvSpPr/>
          <p:nvPr/>
        </p:nvSpPr>
        <p:spPr>
          <a:xfrm>
            <a:off x="1627631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$498,182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Rolling 12M GWP</a:t>
            </a:r>
            <a:endParaRPr/>
          </a:p>
        </p:txBody>
      </p:sp>
      <p:sp>
        <p:nvSpPr>
          <p:cNvPr id="4132" name="Google Shape;4132;p28"/>
          <p:cNvSpPr/>
          <p:nvPr/>
        </p:nvSpPr>
        <p:spPr>
          <a:xfrm>
            <a:off x="3118103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% to Goal</a:t>
            </a:r>
            <a:endParaRPr/>
          </a:p>
        </p:txBody>
      </p:sp>
      <p:sp>
        <p:nvSpPr>
          <p:cNvPr id="4133" name="Google Shape;4133;p28"/>
          <p:cNvSpPr/>
          <p:nvPr/>
        </p:nvSpPr>
        <p:spPr>
          <a:xfrm>
            <a:off x="4608576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272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4134" name="Google Shape;4134;p28"/>
          <p:cNvSpPr/>
          <p:nvPr/>
        </p:nvSpPr>
        <p:spPr>
          <a:xfrm>
            <a:off x="6099048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4135" name="Google Shape;4135;p28"/>
          <p:cNvSpPr/>
          <p:nvPr/>
        </p:nvSpPr>
        <p:spPr>
          <a:xfrm>
            <a:off x="7589519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1.8%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4136" name="Google Shape;4136;p28"/>
          <p:cNvSpPr/>
          <p:nvPr/>
        </p:nvSpPr>
        <p:spPr>
          <a:xfrm>
            <a:off x="9079992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$98,726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 Bound Prem</a:t>
            </a:r>
            <a:endParaRPr/>
          </a:p>
        </p:txBody>
      </p:sp>
      <p:sp>
        <p:nvSpPr>
          <p:cNvPr id="4137" name="Google Shape;4137;p28"/>
          <p:cNvSpPr/>
          <p:nvPr/>
        </p:nvSpPr>
        <p:spPr>
          <a:xfrm>
            <a:off x="10570464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$106,096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NF Bound Prem</a:t>
            </a:r>
            <a:endParaRPr/>
          </a:p>
        </p:txBody>
      </p:sp>
      <p:sp>
        <p:nvSpPr>
          <p:cNvPr id="4138" name="Google Shape;4138;p28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9" name="Google Shape;4139;p2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PRODUCTION BY MONTH</a:t>
            </a:r>
            <a:endParaRPr/>
          </a:p>
        </p:txBody>
      </p:sp>
      <p:sp>
        <p:nvSpPr>
          <p:cNvPr id="4140" name="Google Shape;4140;p28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4141" name="Google Shape;4141;p28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Written Premium</a:t>
            </a:r>
            <a:endParaRPr/>
          </a:p>
        </p:txBody>
      </p:sp>
      <p:sp>
        <p:nvSpPr>
          <p:cNvPr id="4142" name="Google Shape;4142;p28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4143" name="Google Shape;4143;p28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4144" name="Google Shape;4144;p28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4145" name="Google Shape;4145;p28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4146" name="Google Shape;4146;p28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7" name="Google Shape;4147;p28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4148" name="Google Shape;4148;p28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$-227</a:t>
            </a:r>
            <a:endParaRPr/>
          </a:p>
        </p:txBody>
      </p:sp>
      <p:sp>
        <p:nvSpPr>
          <p:cNvPr id="4149" name="Google Shape;4149;p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150" name="Google Shape;4150;p28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151" name="Google Shape;4151;p28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$-227</a:t>
            </a:r>
            <a:endParaRPr/>
          </a:p>
        </p:txBody>
      </p:sp>
      <p:sp>
        <p:nvSpPr>
          <p:cNvPr id="4152" name="Google Shape;4152;p28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$-4,099</a:t>
            </a:r>
            <a:endParaRPr/>
          </a:p>
        </p:txBody>
      </p:sp>
      <p:sp>
        <p:nvSpPr>
          <p:cNvPr id="4153" name="Google Shape;4153;p28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4" name="Google Shape;4154;p28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4155" name="Google Shape;4155;p28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$48,328</a:t>
            </a:r>
            <a:endParaRPr/>
          </a:p>
        </p:txBody>
      </p:sp>
      <p:sp>
        <p:nvSpPr>
          <p:cNvPr id="4156" name="Google Shape;4156;p28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$53,783</a:t>
            </a:r>
            <a:endParaRPr/>
          </a:p>
        </p:txBody>
      </p:sp>
      <p:sp>
        <p:nvSpPr>
          <p:cNvPr id="4157" name="Google Shape;4157;p28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158" name="Google Shape;4158;p28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$-5,455</a:t>
            </a:r>
            <a:endParaRPr/>
          </a:p>
        </p:txBody>
      </p:sp>
      <p:sp>
        <p:nvSpPr>
          <p:cNvPr id="4159" name="Google Shape;4159;p2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$-1,443</a:t>
            </a:r>
            <a:endParaRPr/>
          </a:p>
        </p:txBody>
      </p:sp>
      <p:sp>
        <p:nvSpPr>
          <p:cNvPr id="4160" name="Google Shape;4160;p28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1" name="Google Shape;4161;p28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4162" name="Google Shape;4162;p28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$16,014</a:t>
            </a:r>
            <a:endParaRPr/>
          </a:p>
        </p:txBody>
      </p:sp>
      <p:sp>
        <p:nvSpPr>
          <p:cNvPr id="4163" name="Google Shape;4163;p28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164" name="Google Shape;4164;p28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165" name="Google Shape;4165;p28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$16,014</a:t>
            </a:r>
            <a:endParaRPr/>
          </a:p>
        </p:txBody>
      </p:sp>
      <p:sp>
        <p:nvSpPr>
          <p:cNvPr id="4166" name="Google Shape;4166;p28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$-22,801</a:t>
            </a:r>
            <a:endParaRPr/>
          </a:p>
        </p:txBody>
      </p:sp>
      <p:sp>
        <p:nvSpPr>
          <p:cNvPr id="4167" name="Google Shape;4167;p28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8" name="Google Shape;4168;p28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4169" name="Google Shape;4169;p2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$86,784</a:t>
            </a:r>
            <a:endParaRPr/>
          </a:p>
        </p:txBody>
      </p:sp>
      <p:sp>
        <p:nvSpPr>
          <p:cNvPr id="4170" name="Google Shape;4170;p28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$91,469</a:t>
            </a:r>
            <a:endParaRPr/>
          </a:p>
        </p:txBody>
      </p:sp>
      <p:sp>
        <p:nvSpPr>
          <p:cNvPr id="4171" name="Google Shape;4171;p28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172" name="Google Shape;4172;p28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$-4,685</a:t>
            </a:r>
            <a:endParaRPr/>
          </a:p>
        </p:txBody>
      </p:sp>
      <p:sp>
        <p:nvSpPr>
          <p:cNvPr id="4173" name="Google Shape;4173;p28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$-2,678</a:t>
            </a:r>
            <a:endParaRPr/>
          </a:p>
        </p:txBody>
      </p:sp>
      <p:sp>
        <p:nvSpPr>
          <p:cNvPr id="4174" name="Google Shape;4174;p28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5" name="Google Shape;4175;p28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4176" name="Google Shape;4176;p28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$18,024</a:t>
            </a:r>
            <a:endParaRPr/>
          </a:p>
        </p:txBody>
      </p:sp>
      <p:sp>
        <p:nvSpPr>
          <p:cNvPr id="4177" name="Google Shape;4177;p28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178" name="Google Shape;4178;p28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179" name="Google Shape;4179;p2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$18,024</a:t>
            </a:r>
            <a:endParaRPr/>
          </a:p>
        </p:txBody>
      </p:sp>
      <p:sp>
        <p:nvSpPr>
          <p:cNvPr id="4180" name="Google Shape;4180;p28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$-26,388</a:t>
            </a:r>
            <a:endParaRPr/>
          </a:p>
        </p:txBody>
      </p:sp>
      <p:sp>
        <p:nvSpPr>
          <p:cNvPr id="4181" name="Google Shape;4181;p28"/>
          <p:cNvSpPr/>
          <p:nvPr/>
        </p:nvSpPr>
        <p:spPr>
          <a:xfrm>
            <a:off x="365760" y="4123944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2" name="Google Shape;4182;p28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4183" name="Google Shape;4183;p28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184" name="Google Shape;4184;p28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185" name="Google Shape;4185;p28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186" name="Google Shape;4186;p28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187" name="Google Shape;4187;p28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188" name="Google Shape;4188;p28"/>
          <p:cNvSpPr/>
          <p:nvPr/>
        </p:nvSpPr>
        <p:spPr>
          <a:xfrm>
            <a:off x="365760" y="4425696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9" name="Google Shape;4189;p28"/>
          <p:cNvSpPr txBox="1"/>
          <p:nvPr/>
        </p:nvSpPr>
        <p:spPr>
          <a:xfrm>
            <a:off x="3657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4190" name="Google Shape;4190;p28"/>
          <p:cNvSpPr txBox="1"/>
          <p:nvPr/>
        </p:nvSpPr>
        <p:spPr>
          <a:xfrm>
            <a:off x="1280160" y="446227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$168,923</a:t>
            </a:r>
            <a:endParaRPr/>
          </a:p>
        </p:txBody>
      </p:sp>
      <p:sp>
        <p:nvSpPr>
          <p:cNvPr id="4191" name="Google Shape;4191;p28"/>
          <p:cNvSpPr txBox="1"/>
          <p:nvPr/>
        </p:nvSpPr>
        <p:spPr>
          <a:xfrm>
            <a:off x="2377439" y="446227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$145,252</a:t>
            </a:r>
            <a:endParaRPr/>
          </a:p>
        </p:txBody>
      </p:sp>
      <p:sp>
        <p:nvSpPr>
          <p:cNvPr id="4192" name="Google Shape;4192;p28"/>
          <p:cNvSpPr txBox="1"/>
          <p:nvPr/>
        </p:nvSpPr>
        <p:spPr>
          <a:xfrm>
            <a:off x="33832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193" name="Google Shape;4193;p28"/>
          <p:cNvSpPr txBox="1"/>
          <p:nvPr/>
        </p:nvSpPr>
        <p:spPr>
          <a:xfrm>
            <a:off x="42976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$23,670</a:t>
            </a:r>
            <a:endParaRPr/>
          </a:p>
        </p:txBody>
      </p:sp>
      <p:sp>
        <p:nvSpPr>
          <p:cNvPr id="4194" name="Google Shape;4194;p28"/>
          <p:cNvSpPr txBox="1"/>
          <p:nvPr/>
        </p:nvSpPr>
        <p:spPr>
          <a:xfrm>
            <a:off x="52120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$-57,409</a:t>
            </a:r>
            <a:endParaRPr/>
          </a:p>
        </p:txBody>
      </p:sp>
      <p:sp>
        <p:nvSpPr>
          <p:cNvPr id="4195" name="Google Shape;4195;p28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6" name="Google Shape;4196;p2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 &amp; PIPELINE</a:t>
            </a:r>
            <a:endParaRPr/>
          </a:p>
        </p:txBody>
      </p:sp>
      <p:sp>
        <p:nvSpPr>
          <p:cNvPr id="4197" name="Google Shape;4197;p28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4198" name="Google Shape;4198;p28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Subs</a:t>
            </a:r>
            <a:endParaRPr/>
          </a:p>
        </p:txBody>
      </p:sp>
      <p:sp>
        <p:nvSpPr>
          <p:cNvPr id="4199" name="Google Shape;4199;p28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</a:t>
            </a:r>
            <a:endParaRPr/>
          </a:p>
        </p:txBody>
      </p:sp>
      <p:sp>
        <p:nvSpPr>
          <p:cNvPr id="4200" name="Google Shape;4200;p28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Non-Fleet</a:t>
            </a:r>
            <a:endParaRPr/>
          </a:p>
        </p:txBody>
      </p:sp>
      <p:sp>
        <p:nvSpPr>
          <p:cNvPr id="4201" name="Google Shape;4201;p28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4202" name="Google Shape;4202;p28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4203" name="Google Shape;4203;p28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4" name="Google Shape;4204;p28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4205" name="Google Shape;4205;p28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73</a:t>
            </a:r>
            <a:endParaRPr/>
          </a:p>
        </p:txBody>
      </p:sp>
      <p:sp>
        <p:nvSpPr>
          <p:cNvPr id="4206" name="Google Shape;4206;p2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4207" name="Google Shape;4207;p28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69</a:t>
            </a:r>
            <a:endParaRPr/>
          </a:p>
        </p:txBody>
      </p:sp>
      <p:sp>
        <p:nvSpPr>
          <p:cNvPr id="4208" name="Google Shape;4208;p28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4209" name="Google Shape;4209;p28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4.1%</a:t>
            </a:r>
            <a:endParaRPr/>
          </a:p>
        </p:txBody>
      </p:sp>
      <p:sp>
        <p:nvSpPr>
          <p:cNvPr id="4210" name="Google Shape;4210;p28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1" name="Google Shape;4211;p28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4212" name="Google Shape;4212;p28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53</a:t>
            </a:r>
            <a:endParaRPr/>
          </a:p>
        </p:txBody>
      </p:sp>
      <p:sp>
        <p:nvSpPr>
          <p:cNvPr id="4213" name="Google Shape;4213;p28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4214" name="Google Shape;4214;p28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51</a:t>
            </a:r>
            <a:endParaRPr/>
          </a:p>
        </p:txBody>
      </p:sp>
      <p:sp>
        <p:nvSpPr>
          <p:cNvPr id="4215" name="Google Shape;4215;p28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4216" name="Google Shape;4216;p2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7.5%</a:t>
            </a:r>
            <a:endParaRPr/>
          </a:p>
        </p:txBody>
      </p:sp>
      <p:sp>
        <p:nvSpPr>
          <p:cNvPr id="4217" name="Google Shape;4217;p28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8" name="Google Shape;4218;p28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4219" name="Google Shape;4219;p28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48</a:t>
            </a:r>
            <a:endParaRPr/>
          </a:p>
        </p:txBody>
      </p:sp>
      <p:sp>
        <p:nvSpPr>
          <p:cNvPr id="4220" name="Google Shape;4220;p28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4221" name="Google Shape;4221;p28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46</a:t>
            </a:r>
            <a:endParaRPr/>
          </a:p>
        </p:txBody>
      </p:sp>
      <p:sp>
        <p:nvSpPr>
          <p:cNvPr id="4222" name="Google Shape;4222;p28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4223" name="Google Shape;4223;p28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10.4%</a:t>
            </a:r>
            <a:endParaRPr/>
          </a:p>
        </p:txBody>
      </p:sp>
      <p:sp>
        <p:nvSpPr>
          <p:cNvPr id="4224" name="Google Shape;4224;p28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5" name="Google Shape;4225;p28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4226" name="Google Shape;4226;p2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62</a:t>
            </a:r>
            <a:endParaRPr/>
          </a:p>
        </p:txBody>
      </p:sp>
      <p:sp>
        <p:nvSpPr>
          <p:cNvPr id="4227" name="Google Shape;4227;p28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4228" name="Google Shape;4228;p28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61</a:t>
            </a:r>
            <a:endParaRPr/>
          </a:p>
        </p:txBody>
      </p:sp>
      <p:sp>
        <p:nvSpPr>
          <p:cNvPr id="4229" name="Google Shape;4229;p28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4230" name="Google Shape;4230;p28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3.2%</a:t>
            </a:r>
            <a:endParaRPr/>
          </a:p>
        </p:txBody>
      </p:sp>
      <p:sp>
        <p:nvSpPr>
          <p:cNvPr id="4231" name="Google Shape;4231;p28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2" name="Google Shape;4232;p28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4233" name="Google Shape;4233;p28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54</a:t>
            </a:r>
            <a:endParaRPr/>
          </a:p>
        </p:txBody>
      </p:sp>
      <p:sp>
        <p:nvSpPr>
          <p:cNvPr id="4234" name="Google Shape;4234;p28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4235" name="Google Shape;4235;p28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51</a:t>
            </a:r>
            <a:endParaRPr/>
          </a:p>
        </p:txBody>
      </p:sp>
      <p:sp>
        <p:nvSpPr>
          <p:cNvPr id="4236" name="Google Shape;4236;p2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4237" name="Google Shape;4237;p28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3.7%</a:t>
            </a:r>
            <a:endParaRPr/>
          </a:p>
        </p:txBody>
      </p:sp>
      <p:sp>
        <p:nvSpPr>
          <p:cNvPr id="4238" name="Google Shape;4238;p28"/>
          <p:cNvSpPr/>
          <p:nvPr/>
        </p:nvSpPr>
        <p:spPr>
          <a:xfrm>
            <a:off x="6309360" y="4123944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9" name="Google Shape;4239;p28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4240" name="Google Shape;4240;p28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4241" name="Google Shape;4241;p28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4242" name="Google Shape;4242;p28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4243" name="Google Shape;4243;p28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4244" name="Google Shape;4244;p28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4245" name="Google Shape;4245;p28"/>
          <p:cNvSpPr/>
          <p:nvPr/>
        </p:nvSpPr>
        <p:spPr>
          <a:xfrm>
            <a:off x="6309360" y="4425696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6" name="Google Shape;4246;p28"/>
          <p:cNvSpPr txBox="1"/>
          <p:nvPr/>
        </p:nvSpPr>
        <p:spPr>
          <a:xfrm>
            <a:off x="63093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4247" name="Google Shape;4247;p28"/>
          <p:cNvSpPr txBox="1"/>
          <p:nvPr/>
        </p:nvSpPr>
        <p:spPr>
          <a:xfrm>
            <a:off x="722376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272</a:t>
            </a:r>
            <a:endParaRPr/>
          </a:p>
        </p:txBody>
      </p:sp>
      <p:sp>
        <p:nvSpPr>
          <p:cNvPr id="4248" name="Google Shape;4248;p28"/>
          <p:cNvSpPr txBox="1"/>
          <p:nvPr/>
        </p:nvSpPr>
        <p:spPr>
          <a:xfrm>
            <a:off x="804672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</a:t>
            </a:r>
            <a:endParaRPr/>
          </a:p>
        </p:txBody>
      </p:sp>
      <p:sp>
        <p:nvSpPr>
          <p:cNvPr id="4249" name="Google Shape;4249;p28"/>
          <p:cNvSpPr txBox="1"/>
          <p:nvPr/>
        </p:nvSpPr>
        <p:spPr>
          <a:xfrm>
            <a:off x="886968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264</a:t>
            </a:r>
            <a:endParaRPr/>
          </a:p>
        </p:txBody>
      </p:sp>
      <p:sp>
        <p:nvSpPr>
          <p:cNvPr id="4250" name="Google Shape;4250;p28"/>
          <p:cNvSpPr txBox="1"/>
          <p:nvPr/>
        </p:nvSpPr>
        <p:spPr>
          <a:xfrm>
            <a:off x="978408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4251" name="Google Shape;4251;p28"/>
          <p:cNvSpPr txBox="1"/>
          <p:nvPr/>
        </p:nvSpPr>
        <p:spPr>
          <a:xfrm>
            <a:off x="1060704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1.8%</a:t>
            </a:r>
            <a:endParaRPr/>
          </a:p>
        </p:txBody>
      </p:sp>
      <p:sp>
        <p:nvSpPr>
          <p:cNvPr id="4252" name="Google Shape;4252;p28"/>
          <p:cNvSpPr/>
          <p:nvPr/>
        </p:nvSpPr>
        <p:spPr>
          <a:xfrm>
            <a:off x="365760" y="4782312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3" name="Google Shape;4253;p28"/>
          <p:cNvSpPr txBox="1"/>
          <p:nvPr/>
        </p:nvSpPr>
        <p:spPr>
          <a:xfrm>
            <a:off x="457200" y="4800599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YOY COMPARISON — Jan–Jun 2025 vs Jan–Jun 2026</a:t>
            </a:r>
            <a:endParaRPr/>
          </a:p>
        </p:txBody>
      </p:sp>
      <p:sp>
        <p:nvSpPr>
          <p:cNvPr id="4254" name="Google Shape;4254;p28"/>
          <p:cNvSpPr txBox="1"/>
          <p:nvPr/>
        </p:nvSpPr>
        <p:spPr>
          <a:xfrm>
            <a:off x="365760" y="5056631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00" u="none" cap="none" strike="noStrike">
              <a:solidFill>
                <a:srgbClr val="6B728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255" name="Google Shape;4255;p28"/>
          <p:cNvSpPr txBox="1"/>
          <p:nvPr/>
        </p:nvSpPr>
        <p:spPr>
          <a:xfrm>
            <a:off x="1463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'25</a:t>
            </a:r>
            <a:endParaRPr/>
          </a:p>
        </p:txBody>
      </p:sp>
      <p:sp>
        <p:nvSpPr>
          <p:cNvPr id="4256" name="Google Shape;4256;p28"/>
          <p:cNvSpPr txBox="1"/>
          <p:nvPr/>
        </p:nvSpPr>
        <p:spPr>
          <a:xfrm>
            <a:off x="2148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'26</a:t>
            </a:r>
            <a:endParaRPr/>
          </a:p>
        </p:txBody>
      </p:sp>
      <p:sp>
        <p:nvSpPr>
          <p:cNvPr id="4257" name="Google Shape;4257;p28"/>
          <p:cNvSpPr txBox="1"/>
          <p:nvPr/>
        </p:nvSpPr>
        <p:spPr>
          <a:xfrm>
            <a:off x="2834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'25</a:t>
            </a:r>
            <a:endParaRPr/>
          </a:p>
        </p:txBody>
      </p:sp>
      <p:sp>
        <p:nvSpPr>
          <p:cNvPr id="4258" name="Google Shape;4258;p28"/>
          <p:cNvSpPr txBox="1"/>
          <p:nvPr/>
        </p:nvSpPr>
        <p:spPr>
          <a:xfrm>
            <a:off x="3520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'26</a:t>
            </a:r>
            <a:endParaRPr/>
          </a:p>
        </p:txBody>
      </p:sp>
      <p:sp>
        <p:nvSpPr>
          <p:cNvPr id="4259" name="Google Shape;4259;p28"/>
          <p:cNvSpPr txBox="1"/>
          <p:nvPr/>
        </p:nvSpPr>
        <p:spPr>
          <a:xfrm>
            <a:off x="4206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'25</a:t>
            </a:r>
            <a:endParaRPr/>
          </a:p>
        </p:txBody>
      </p:sp>
      <p:sp>
        <p:nvSpPr>
          <p:cNvPr id="4260" name="Google Shape;4260;p28"/>
          <p:cNvSpPr txBox="1"/>
          <p:nvPr/>
        </p:nvSpPr>
        <p:spPr>
          <a:xfrm>
            <a:off x="4892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'26</a:t>
            </a:r>
            <a:endParaRPr/>
          </a:p>
        </p:txBody>
      </p:sp>
      <p:sp>
        <p:nvSpPr>
          <p:cNvPr id="4261" name="Google Shape;4261;p28"/>
          <p:cNvSpPr txBox="1"/>
          <p:nvPr/>
        </p:nvSpPr>
        <p:spPr>
          <a:xfrm>
            <a:off x="5577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'25</a:t>
            </a:r>
            <a:endParaRPr/>
          </a:p>
        </p:txBody>
      </p:sp>
      <p:sp>
        <p:nvSpPr>
          <p:cNvPr id="4262" name="Google Shape;4262;p28"/>
          <p:cNvSpPr txBox="1"/>
          <p:nvPr/>
        </p:nvSpPr>
        <p:spPr>
          <a:xfrm>
            <a:off x="6263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'26</a:t>
            </a:r>
            <a:endParaRPr/>
          </a:p>
        </p:txBody>
      </p:sp>
      <p:sp>
        <p:nvSpPr>
          <p:cNvPr id="4263" name="Google Shape;4263;p28"/>
          <p:cNvSpPr txBox="1"/>
          <p:nvPr/>
        </p:nvSpPr>
        <p:spPr>
          <a:xfrm>
            <a:off x="6949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'25</a:t>
            </a:r>
            <a:endParaRPr/>
          </a:p>
        </p:txBody>
      </p:sp>
      <p:sp>
        <p:nvSpPr>
          <p:cNvPr id="4264" name="Google Shape;4264;p28"/>
          <p:cNvSpPr txBox="1"/>
          <p:nvPr/>
        </p:nvSpPr>
        <p:spPr>
          <a:xfrm>
            <a:off x="7635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'26</a:t>
            </a:r>
            <a:endParaRPr/>
          </a:p>
        </p:txBody>
      </p:sp>
      <p:sp>
        <p:nvSpPr>
          <p:cNvPr id="4265" name="Google Shape;4265;p28"/>
          <p:cNvSpPr txBox="1"/>
          <p:nvPr/>
        </p:nvSpPr>
        <p:spPr>
          <a:xfrm>
            <a:off x="8321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'25</a:t>
            </a:r>
            <a:endParaRPr/>
          </a:p>
        </p:txBody>
      </p:sp>
      <p:sp>
        <p:nvSpPr>
          <p:cNvPr id="4266" name="Google Shape;4266;p28"/>
          <p:cNvSpPr txBox="1"/>
          <p:nvPr/>
        </p:nvSpPr>
        <p:spPr>
          <a:xfrm>
            <a:off x="9006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'26</a:t>
            </a:r>
            <a:endParaRPr/>
          </a:p>
        </p:txBody>
      </p:sp>
      <p:sp>
        <p:nvSpPr>
          <p:cNvPr id="4267" name="Google Shape;4267;p28"/>
          <p:cNvSpPr txBox="1"/>
          <p:nvPr/>
        </p:nvSpPr>
        <p:spPr>
          <a:xfrm>
            <a:off x="969264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'25 Tot</a:t>
            </a:r>
            <a:endParaRPr/>
          </a:p>
        </p:txBody>
      </p:sp>
      <p:sp>
        <p:nvSpPr>
          <p:cNvPr id="4268" name="Google Shape;4268;p28"/>
          <p:cNvSpPr txBox="1"/>
          <p:nvPr/>
        </p:nvSpPr>
        <p:spPr>
          <a:xfrm>
            <a:off x="1088136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'26 Tot</a:t>
            </a:r>
            <a:endParaRPr/>
          </a:p>
        </p:txBody>
      </p:sp>
      <p:sp>
        <p:nvSpPr>
          <p:cNvPr id="4269" name="Google Shape;4269;p28"/>
          <p:cNvSpPr txBox="1"/>
          <p:nvPr/>
        </p:nvSpPr>
        <p:spPr>
          <a:xfrm>
            <a:off x="365760" y="523951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4270" name="Google Shape;4270;p28"/>
          <p:cNvSpPr txBox="1"/>
          <p:nvPr/>
        </p:nvSpPr>
        <p:spPr>
          <a:xfrm>
            <a:off x="1463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</a:t>
            </a:r>
            <a:endParaRPr/>
          </a:p>
        </p:txBody>
      </p:sp>
      <p:sp>
        <p:nvSpPr>
          <p:cNvPr id="4271" name="Google Shape;4271;p28"/>
          <p:cNvSpPr txBox="1"/>
          <p:nvPr/>
        </p:nvSpPr>
        <p:spPr>
          <a:xfrm>
            <a:off x="2148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73</a:t>
            </a:r>
            <a:endParaRPr/>
          </a:p>
        </p:txBody>
      </p:sp>
      <p:sp>
        <p:nvSpPr>
          <p:cNvPr id="4272" name="Google Shape;4272;p28"/>
          <p:cNvSpPr txBox="1"/>
          <p:nvPr/>
        </p:nvSpPr>
        <p:spPr>
          <a:xfrm>
            <a:off x="2834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38</a:t>
            </a:r>
            <a:endParaRPr/>
          </a:p>
        </p:txBody>
      </p:sp>
      <p:sp>
        <p:nvSpPr>
          <p:cNvPr id="4273" name="Google Shape;4273;p28"/>
          <p:cNvSpPr txBox="1"/>
          <p:nvPr/>
        </p:nvSpPr>
        <p:spPr>
          <a:xfrm>
            <a:off x="3520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53</a:t>
            </a:r>
            <a:endParaRPr/>
          </a:p>
        </p:txBody>
      </p:sp>
      <p:sp>
        <p:nvSpPr>
          <p:cNvPr id="4274" name="Google Shape;4274;p28"/>
          <p:cNvSpPr txBox="1"/>
          <p:nvPr/>
        </p:nvSpPr>
        <p:spPr>
          <a:xfrm>
            <a:off x="4206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53</a:t>
            </a:r>
            <a:endParaRPr/>
          </a:p>
        </p:txBody>
      </p:sp>
      <p:sp>
        <p:nvSpPr>
          <p:cNvPr id="4275" name="Google Shape;4275;p28"/>
          <p:cNvSpPr txBox="1"/>
          <p:nvPr/>
        </p:nvSpPr>
        <p:spPr>
          <a:xfrm>
            <a:off x="4892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48</a:t>
            </a:r>
            <a:endParaRPr/>
          </a:p>
        </p:txBody>
      </p:sp>
      <p:sp>
        <p:nvSpPr>
          <p:cNvPr id="4276" name="Google Shape;4276;p28"/>
          <p:cNvSpPr txBox="1"/>
          <p:nvPr/>
        </p:nvSpPr>
        <p:spPr>
          <a:xfrm>
            <a:off x="5577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</a:t>
            </a:r>
            <a:endParaRPr/>
          </a:p>
        </p:txBody>
      </p:sp>
      <p:sp>
        <p:nvSpPr>
          <p:cNvPr id="4277" name="Google Shape;4277;p28"/>
          <p:cNvSpPr txBox="1"/>
          <p:nvPr/>
        </p:nvSpPr>
        <p:spPr>
          <a:xfrm>
            <a:off x="6263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62</a:t>
            </a:r>
            <a:endParaRPr/>
          </a:p>
        </p:txBody>
      </p:sp>
      <p:sp>
        <p:nvSpPr>
          <p:cNvPr id="4278" name="Google Shape;4278;p28"/>
          <p:cNvSpPr txBox="1"/>
          <p:nvPr/>
        </p:nvSpPr>
        <p:spPr>
          <a:xfrm>
            <a:off x="6949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</a:t>
            </a:r>
            <a:endParaRPr/>
          </a:p>
        </p:txBody>
      </p:sp>
      <p:sp>
        <p:nvSpPr>
          <p:cNvPr id="4279" name="Google Shape;4279;p28"/>
          <p:cNvSpPr txBox="1"/>
          <p:nvPr/>
        </p:nvSpPr>
        <p:spPr>
          <a:xfrm>
            <a:off x="7635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54</a:t>
            </a:r>
            <a:endParaRPr/>
          </a:p>
        </p:txBody>
      </p:sp>
      <p:sp>
        <p:nvSpPr>
          <p:cNvPr id="4280" name="Google Shape;4280;p28"/>
          <p:cNvSpPr txBox="1"/>
          <p:nvPr/>
        </p:nvSpPr>
        <p:spPr>
          <a:xfrm>
            <a:off x="8321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30</a:t>
            </a:r>
            <a:endParaRPr/>
          </a:p>
        </p:txBody>
      </p:sp>
      <p:sp>
        <p:nvSpPr>
          <p:cNvPr id="4281" name="Google Shape;4281;p28"/>
          <p:cNvSpPr txBox="1"/>
          <p:nvPr/>
        </p:nvSpPr>
        <p:spPr>
          <a:xfrm>
            <a:off x="9006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4282" name="Google Shape;4282;p28"/>
          <p:cNvSpPr txBox="1"/>
          <p:nvPr/>
        </p:nvSpPr>
        <p:spPr>
          <a:xfrm>
            <a:off x="969264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196</a:t>
            </a:r>
            <a:endParaRPr/>
          </a:p>
        </p:txBody>
      </p:sp>
      <p:sp>
        <p:nvSpPr>
          <p:cNvPr id="4283" name="Google Shape;4283;p28"/>
          <p:cNvSpPr txBox="1"/>
          <p:nvPr/>
        </p:nvSpPr>
        <p:spPr>
          <a:xfrm>
            <a:off x="1088136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290</a:t>
            </a:r>
            <a:endParaRPr/>
          </a:p>
        </p:txBody>
      </p:sp>
      <p:sp>
        <p:nvSpPr>
          <p:cNvPr id="4284" name="Google Shape;4284;p28"/>
          <p:cNvSpPr txBox="1"/>
          <p:nvPr/>
        </p:nvSpPr>
        <p:spPr>
          <a:xfrm>
            <a:off x="365760" y="542239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Bound Premium</a:t>
            </a:r>
            <a:endParaRPr/>
          </a:p>
        </p:txBody>
      </p:sp>
      <p:sp>
        <p:nvSpPr>
          <p:cNvPr id="4285" name="Google Shape;4285;p28"/>
          <p:cNvSpPr txBox="1"/>
          <p:nvPr/>
        </p:nvSpPr>
        <p:spPr>
          <a:xfrm>
            <a:off x="1463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$-2,310</a:t>
            </a:r>
            <a:endParaRPr/>
          </a:p>
        </p:txBody>
      </p:sp>
      <p:sp>
        <p:nvSpPr>
          <p:cNvPr id="4286" name="Google Shape;4286;p28"/>
          <p:cNvSpPr txBox="1"/>
          <p:nvPr/>
        </p:nvSpPr>
        <p:spPr>
          <a:xfrm>
            <a:off x="2148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$-227</a:t>
            </a:r>
            <a:endParaRPr/>
          </a:p>
        </p:txBody>
      </p:sp>
      <p:sp>
        <p:nvSpPr>
          <p:cNvPr id="4287" name="Google Shape;4287;p28"/>
          <p:cNvSpPr txBox="1"/>
          <p:nvPr/>
        </p:nvSpPr>
        <p:spPr>
          <a:xfrm>
            <a:off x="2834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$24K</a:t>
            </a:r>
            <a:endParaRPr/>
          </a:p>
        </p:txBody>
      </p:sp>
      <p:sp>
        <p:nvSpPr>
          <p:cNvPr id="4288" name="Google Shape;4288;p28"/>
          <p:cNvSpPr txBox="1"/>
          <p:nvPr/>
        </p:nvSpPr>
        <p:spPr>
          <a:xfrm>
            <a:off x="3520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$48K</a:t>
            </a:r>
            <a:endParaRPr/>
          </a:p>
        </p:txBody>
      </p:sp>
      <p:sp>
        <p:nvSpPr>
          <p:cNvPr id="4289" name="Google Shape;4289;p28"/>
          <p:cNvSpPr txBox="1"/>
          <p:nvPr/>
        </p:nvSpPr>
        <p:spPr>
          <a:xfrm>
            <a:off x="4206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$62K</a:t>
            </a:r>
            <a:endParaRPr/>
          </a:p>
        </p:txBody>
      </p:sp>
      <p:sp>
        <p:nvSpPr>
          <p:cNvPr id="4290" name="Google Shape;4290;p28"/>
          <p:cNvSpPr txBox="1"/>
          <p:nvPr/>
        </p:nvSpPr>
        <p:spPr>
          <a:xfrm>
            <a:off x="4892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$16K</a:t>
            </a:r>
            <a:endParaRPr/>
          </a:p>
        </p:txBody>
      </p:sp>
      <p:sp>
        <p:nvSpPr>
          <p:cNvPr id="4291" name="Google Shape;4291;p28"/>
          <p:cNvSpPr txBox="1"/>
          <p:nvPr/>
        </p:nvSpPr>
        <p:spPr>
          <a:xfrm>
            <a:off x="5577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$55K</a:t>
            </a:r>
            <a:endParaRPr/>
          </a:p>
        </p:txBody>
      </p:sp>
      <p:sp>
        <p:nvSpPr>
          <p:cNvPr id="4292" name="Google Shape;4292;p28"/>
          <p:cNvSpPr txBox="1"/>
          <p:nvPr/>
        </p:nvSpPr>
        <p:spPr>
          <a:xfrm>
            <a:off x="6263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$87K</a:t>
            </a:r>
            <a:endParaRPr/>
          </a:p>
        </p:txBody>
      </p:sp>
      <p:sp>
        <p:nvSpPr>
          <p:cNvPr id="4293" name="Google Shape;4293;p28"/>
          <p:cNvSpPr txBox="1"/>
          <p:nvPr/>
        </p:nvSpPr>
        <p:spPr>
          <a:xfrm>
            <a:off x="6949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$48K</a:t>
            </a:r>
            <a:endParaRPr/>
          </a:p>
        </p:txBody>
      </p:sp>
      <p:sp>
        <p:nvSpPr>
          <p:cNvPr id="4294" name="Google Shape;4294;p28"/>
          <p:cNvSpPr txBox="1"/>
          <p:nvPr/>
        </p:nvSpPr>
        <p:spPr>
          <a:xfrm>
            <a:off x="7635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$18K</a:t>
            </a:r>
            <a:endParaRPr/>
          </a:p>
        </p:txBody>
      </p:sp>
      <p:sp>
        <p:nvSpPr>
          <p:cNvPr id="4295" name="Google Shape;4295;p28"/>
          <p:cNvSpPr txBox="1"/>
          <p:nvPr/>
        </p:nvSpPr>
        <p:spPr>
          <a:xfrm>
            <a:off x="8321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$169K</a:t>
            </a:r>
            <a:endParaRPr/>
          </a:p>
        </p:txBody>
      </p:sp>
      <p:sp>
        <p:nvSpPr>
          <p:cNvPr id="4296" name="Google Shape;4296;p28"/>
          <p:cNvSpPr txBox="1"/>
          <p:nvPr/>
        </p:nvSpPr>
        <p:spPr>
          <a:xfrm>
            <a:off x="9006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297" name="Google Shape;4297;p28"/>
          <p:cNvSpPr txBox="1"/>
          <p:nvPr/>
        </p:nvSpPr>
        <p:spPr>
          <a:xfrm>
            <a:off x="969264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$356K</a:t>
            </a:r>
            <a:endParaRPr/>
          </a:p>
        </p:txBody>
      </p:sp>
      <p:sp>
        <p:nvSpPr>
          <p:cNvPr id="4298" name="Google Shape;4298;p28"/>
          <p:cNvSpPr txBox="1"/>
          <p:nvPr/>
        </p:nvSpPr>
        <p:spPr>
          <a:xfrm>
            <a:off x="1088136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$169K</a:t>
            </a:r>
            <a:endParaRPr/>
          </a:p>
        </p:txBody>
      </p:sp>
      <p:sp>
        <p:nvSpPr>
          <p:cNvPr id="4299" name="Google Shape;4299;p28"/>
          <p:cNvSpPr/>
          <p:nvPr/>
        </p:nvSpPr>
        <p:spPr>
          <a:xfrm>
            <a:off x="365760" y="5678423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0" name="Google Shape;4300;p28"/>
          <p:cNvSpPr txBox="1"/>
          <p:nvPr/>
        </p:nvSpPr>
        <p:spPr>
          <a:xfrm>
            <a:off x="4572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65F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STRENGTHS - What's Working</a:t>
            </a:r>
            <a:endParaRPr/>
          </a:p>
        </p:txBody>
      </p:sp>
      <p:sp>
        <p:nvSpPr>
          <p:cNvPr id="4301" name="Google Shape;4301;p28"/>
          <p:cNvSpPr txBox="1"/>
          <p:nvPr/>
        </p:nvSpPr>
        <p:spPr>
          <a:xfrm>
            <a:off x="4572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4302" name="Google Shape;4302;p28"/>
          <p:cNvSpPr txBox="1"/>
          <p:nvPr/>
        </p:nvSpPr>
        <p:spPr>
          <a:xfrm>
            <a:off x="685800" y="5952743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$168,923 YTD gross written premium</a:t>
            </a:r>
            <a:endParaRPr/>
          </a:p>
        </p:txBody>
      </p:sp>
      <p:sp>
        <p:nvSpPr>
          <p:cNvPr id="4303" name="Google Shape;4303;p28"/>
          <p:cNvSpPr txBox="1"/>
          <p:nvPr/>
        </p:nvSpPr>
        <p:spPr>
          <a:xfrm>
            <a:off x="457200" y="6153911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4304" name="Google Shape;4304;p28"/>
          <p:cNvSpPr txBox="1"/>
          <p:nvPr/>
        </p:nvSpPr>
        <p:spPr>
          <a:xfrm>
            <a:off x="685800" y="6153911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$145,252 in new business production</a:t>
            </a:r>
            <a:endParaRPr/>
          </a:p>
        </p:txBody>
      </p:sp>
      <p:sp>
        <p:nvSpPr>
          <p:cNvPr id="4305" name="Google Shape;4305;p28"/>
          <p:cNvSpPr/>
          <p:nvPr/>
        </p:nvSpPr>
        <p:spPr>
          <a:xfrm>
            <a:off x="6309360" y="5678423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6" name="Google Shape;4306;p28"/>
          <p:cNvSpPr txBox="1"/>
          <p:nvPr/>
        </p:nvSpPr>
        <p:spPr>
          <a:xfrm>
            <a:off x="64008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NEEDS ATTENTION</a:t>
            </a:r>
            <a:endParaRPr/>
          </a:p>
        </p:txBody>
      </p:sp>
      <p:sp>
        <p:nvSpPr>
          <p:cNvPr id="4307" name="Google Shape;4307;p28"/>
          <p:cNvSpPr txBox="1"/>
          <p:nvPr/>
        </p:nvSpPr>
        <p:spPr>
          <a:xfrm>
            <a:off x="64008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4308" name="Google Shape;4308;p28"/>
          <p:cNvSpPr txBox="1"/>
          <p:nvPr/>
        </p:nvSpPr>
        <p:spPr>
          <a:xfrm>
            <a:off x="6629400" y="5952743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Low 1.8% hit ratio on 272 subs - needs coaching</a:t>
            </a:r>
            <a:endParaRPr/>
          </a:p>
        </p:txBody>
      </p:sp>
      <p:sp>
        <p:nvSpPr>
          <p:cNvPr id="4309" name="Google Shape;4309;p28"/>
          <p:cNvSpPr txBox="1"/>
          <p:nvPr/>
        </p:nvSpPr>
        <p:spPr>
          <a:xfrm>
            <a:off x="6400800" y="6153911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4310" name="Google Shape;4310;p28"/>
          <p:cNvSpPr txBox="1"/>
          <p:nvPr/>
        </p:nvSpPr>
        <p:spPr>
          <a:xfrm>
            <a:off x="6629400" y="6153911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Written premium dropped 79% month-over-month</a:t>
            </a:r>
            <a:endParaRPr/>
          </a:p>
        </p:txBody>
      </p:sp>
      <p:sp>
        <p:nvSpPr>
          <p:cNvPr id="4311" name="Google Shape;4311;p28"/>
          <p:cNvSpPr/>
          <p:nvPr/>
        </p:nvSpPr>
        <p:spPr>
          <a:xfrm>
            <a:off x="365760" y="6455663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2" name="Google Shape;4312;p28"/>
          <p:cNvSpPr txBox="1"/>
          <p:nvPr/>
        </p:nvSpPr>
        <p:spPr>
          <a:xfrm>
            <a:off x="457200" y="6464807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STRATEGIC SALES TIPS - Conversation Starters</a:t>
            </a:r>
            <a:endParaRPr/>
          </a:p>
        </p:txBody>
      </p:sp>
      <p:sp>
        <p:nvSpPr>
          <p:cNvPr id="4313" name="Google Shape;4313;p28"/>
          <p:cNvSpPr txBox="1"/>
          <p:nvPr/>
        </p:nvSpPr>
        <p:spPr>
          <a:xfrm>
            <a:off x="457200" y="6711695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endParaRPr/>
          </a:p>
        </p:txBody>
      </p:sp>
      <p:sp>
        <p:nvSpPr>
          <p:cNvPr id="4314" name="Google Shape;4314;p28"/>
          <p:cNvSpPr txBox="1"/>
          <p:nvPr/>
        </p:nvSpPr>
        <p:spPr>
          <a:xfrm>
            <a:off x="777240" y="6711695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Walk through recent lost quotes (272 subs, only 5 binds). Ask: "What are the top 2 reasons your clients go elsewhere?" Use answers to tailor appetite and pricing discussions.</a:t>
            </a:r>
            <a:endParaRPr/>
          </a:p>
        </p:txBody>
      </p:sp>
      <p:sp>
        <p:nvSpPr>
          <p:cNvPr id="4315" name="Google Shape;4315;p28"/>
          <p:cNvSpPr txBox="1"/>
          <p:nvPr/>
        </p:nvSpPr>
        <p:spPr>
          <a:xfrm>
            <a:off x="457200" y="6949439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endParaRPr/>
          </a:p>
        </p:txBody>
      </p:sp>
      <p:sp>
        <p:nvSpPr>
          <p:cNvPr id="4316" name="Google Shape;4316;p28"/>
          <p:cNvSpPr txBox="1"/>
          <p:nvPr/>
        </p:nvSpPr>
        <p:spPr>
          <a:xfrm>
            <a:off x="777240" y="6949439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Acknowledge their $145,252 in new business. Ask: "What types of accounts are you seeing the most success with?" Use this to identify more of their book that fits our appetite.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20" name="Shape 4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" name="Google Shape;4321;p29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2" name="Google Shape;4322;p29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Ameritrans Risk Solutions, Inc DBA American Transportation &amp; Energy Brokers' Inc</a:t>
            </a:r>
            <a:endParaRPr/>
          </a:p>
        </p:txBody>
      </p:sp>
      <p:sp>
        <p:nvSpPr>
          <p:cNvPr id="4323" name="Google Shape;4323;p29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4B5F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Tier: Tier 2  |  Region: Southeast  |  State: GA  |  City: Atlanta</a:t>
            </a:r>
            <a:endParaRPr/>
          </a:p>
        </p:txBody>
      </p:sp>
      <p:sp>
        <p:nvSpPr>
          <p:cNvPr id="4324" name="Google Shape;4324;p29"/>
          <p:cNvSpPr/>
          <p:nvPr/>
        </p:nvSpPr>
        <p:spPr>
          <a:xfrm>
            <a:off x="22860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$159,290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YTD GWP</a:t>
            </a:r>
            <a:endParaRPr/>
          </a:p>
        </p:txBody>
      </p:sp>
      <p:sp>
        <p:nvSpPr>
          <p:cNvPr id="4325" name="Google Shape;4325;p29"/>
          <p:cNvSpPr/>
          <p:nvPr/>
        </p:nvSpPr>
        <p:spPr>
          <a:xfrm>
            <a:off x="256032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4326" name="Google Shape;4326;p29"/>
          <p:cNvSpPr/>
          <p:nvPr/>
        </p:nvSpPr>
        <p:spPr>
          <a:xfrm>
            <a:off x="489204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4327" name="Google Shape;4327;p29"/>
          <p:cNvSpPr/>
          <p:nvPr/>
        </p:nvSpPr>
        <p:spPr>
          <a:xfrm>
            <a:off x="7223759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$159,290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4328" name="Google Shape;4328;p29"/>
          <p:cNvSpPr/>
          <p:nvPr/>
        </p:nvSpPr>
        <p:spPr>
          <a:xfrm>
            <a:off x="955548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$-141,139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4329" name="Google Shape;4329;p29"/>
          <p:cNvSpPr/>
          <p:nvPr/>
        </p:nvSpPr>
        <p:spPr>
          <a:xfrm>
            <a:off x="137160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$447,484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2025 Full Year GWP</a:t>
            </a:r>
            <a:endParaRPr/>
          </a:p>
        </p:txBody>
      </p:sp>
      <p:sp>
        <p:nvSpPr>
          <p:cNvPr id="4330" name="Google Shape;4330;p29"/>
          <p:cNvSpPr/>
          <p:nvPr/>
        </p:nvSpPr>
        <p:spPr>
          <a:xfrm>
            <a:off x="1627631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$508,085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Rolling 12M GWP</a:t>
            </a:r>
            <a:endParaRPr/>
          </a:p>
        </p:txBody>
      </p:sp>
      <p:sp>
        <p:nvSpPr>
          <p:cNvPr id="4331" name="Google Shape;4331;p29"/>
          <p:cNvSpPr/>
          <p:nvPr/>
        </p:nvSpPr>
        <p:spPr>
          <a:xfrm>
            <a:off x="3118103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30%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% to Goal</a:t>
            </a:r>
            <a:endParaRPr/>
          </a:p>
        </p:txBody>
      </p:sp>
      <p:sp>
        <p:nvSpPr>
          <p:cNvPr id="4332" name="Google Shape;4332;p29"/>
          <p:cNvSpPr/>
          <p:nvPr/>
        </p:nvSpPr>
        <p:spPr>
          <a:xfrm>
            <a:off x="4608576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4333" name="Google Shape;4333;p29"/>
          <p:cNvSpPr/>
          <p:nvPr/>
        </p:nvSpPr>
        <p:spPr>
          <a:xfrm>
            <a:off x="6099048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4334" name="Google Shape;4334;p29"/>
          <p:cNvSpPr/>
          <p:nvPr/>
        </p:nvSpPr>
        <p:spPr>
          <a:xfrm>
            <a:off x="7589519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20.0%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4335" name="Google Shape;4335;p29"/>
          <p:cNvSpPr/>
          <p:nvPr/>
        </p:nvSpPr>
        <p:spPr>
          <a:xfrm>
            <a:off x="9079992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$403,742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 Bound Prem</a:t>
            </a:r>
            <a:endParaRPr/>
          </a:p>
        </p:txBody>
      </p:sp>
      <p:sp>
        <p:nvSpPr>
          <p:cNvPr id="4336" name="Google Shape;4336;p29"/>
          <p:cNvSpPr/>
          <p:nvPr/>
        </p:nvSpPr>
        <p:spPr>
          <a:xfrm>
            <a:off x="10570464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NF Bound Prem</a:t>
            </a:r>
            <a:endParaRPr/>
          </a:p>
        </p:txBody>
      </p:sp>
      <p:sp>
        <p:nvSpPr>
          <p:cNvPr id="4337" name="Google Shape;4337;p29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8" name="Google Shape;4338;p29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PRODUCTION BY MONTH</a:t>
            </a:r>
            <a:endParaRPr/>
          </a:p>
        </p:txBody>
      </p:sp>
      <p:sp>
        <p:nvSpPr>
          <p:cNvPr id="4339" name="Google Shape;4339;p2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4340" name="Google Shape;4340;p29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Written Premium</a:t>
            </a:r>
            <a:endParaRPr/>
          </a:p>
        </p:txBody>
      </p:sp>
      <p:sp>
        <p:nvSpPr>
          <p:cNvPr id="4341" name="Google Shape;4341;p29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4342" name="Google Shape;4342;p29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4343" name="Google Shape;4343;p29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4344" name="Google Shape;4344;p29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4345" name="Google Shape;4345;p29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6" name="Google Shape;4346;p29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4347" name="Google Shape;4347;p29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$17,786</a:t>
            </a:r>
            <a:endParaRPr/>
          </a:p>
        </p:txBody>
      </p:sp>
      <p:sp>
        <p:nvSpPr>
          <p:cNvPr id="4348" name="Google Shape;4348;p29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349" name="Google Shape;4349;p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350" name="Google Shape;4350;p29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$17,786</a:t>
            </a:r>
            <a:endParaRPr/>
          </a:p>
        </p:txBody>
      </p:sp>
      <p:sp>
        <p:nvSpPr>
          <p:cNvPr id="4351" name="Google Shape;4351;p29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352" name="Google Shape;4352;p29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3" name="Google Shape;4353;p29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4354" name="Google Shape;4354;p29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$365</a:t>
            </a:r>
            <a:endParaRPr/>
          </a:p>
        </p:txBody>
      </p:sp>
      <p:sp>
        <p:nvSpPr>
          <p:cNvPr id="4355" name="Google Shape;4355;p29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356" name="Google Shape;4356;p29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357" name="Google Shape;4357;p29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$365</a:t>
            </a:r>
            <a:endParaRPr/>
          </a:p>
        </p:txBody>
      </p:sp>
      <p:sp>
        <p:nvSpPr>
          <p:cNvPr id="4358" name="Google Shape;4358;p29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359" name="Google Shape;4359;p2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0" name="Google Shape;4360;p29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4361" name="Google Shape;4361;p29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362" name="Google Shape;4362;p29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363" name="Google Shape;4363;p29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364" name="Google Shape;4364;p29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365" name="Google Shape;4365;p29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366" name="Google Shape;4366;p29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7" name="Google Shape;4367;p29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4368" name="Google Shape;4368;p29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369" name="Google Shape;4369;p2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370" name="Google Shape;4370;p29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371" name="Google Shape;4371;p29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372" name="Google Shape;4372;p29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373" name="Google Shape;4373;p29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4" name="Google Shape;4374;p29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4375" name="Google Shape;4375;p29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$141,139</a:t>
            </a:r>
            <a:endParaRPr/>
          </a:p>
        </p:txBody>
      </p:sp>
      <p:sp>
        <p:nvSpPr>
          <p:cNvPr id="4376" name="Google Shape;4376;p29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377" name="Google Shape;4377;p29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378" name="Google Shape;4378;p29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$141,139</a:t>
            </a:r>
            <a:endParaRPr/>
          </a:p>
        </p:txBody>
      </p:sp>
      <p:sp>
        <p:nvSpPr>
          <p:cNvPr id="4379" name="Google Shape;4379;p2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$-141,139</a:t>
            </a:r>
            <a:endParaRPr/>
          </a:p>
        </p:txBody>
      </p:sp>
      <p:sp>
        <p:nvSpPr>
          <p:cNvPr id="4380" name="Google Shape;4380;p29"/>
          <p:cNvSpPr/>
          <p:nvPr/>
        </p:nvSpPr>
        <p:spPr>
          <a:xfrm>
            <a:off x="365760" y="4123944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1" name="Google Shape;4381;p29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4382" name="Google Shape;4382;p29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383" name="Google Shape;4383;p29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384" name="Google Shape;4384;p29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385" name="Google Shape;4385;p29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386" name="Google Shape;4386;p29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387" name="Google Shape;4387;p29"/>
          <p:cNvSpPr/>
          <p:nvPr/>
        </p:nvSpPr>
        <p:spPr>
          <a:xfrm>
            <a:off x="365760" y="4425696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8" name="Google Shape;4388;p29"/>
          <p:cNvSpPr txBox="1"/>
          <p:nvPr/>
        </p:nvSpPr>
        <p:spPr>
          <a:xfrm>
            <a:off x="3657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4389" name="Google Shape;4389;p29"/>
          <p:cNvSpPr txBox="1"/>
          <p:nvPr/>
        </p:nvSpPr>
        <p:spPr>
          <a:xfrm>
            <a:off x="1280160" y="446227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$159,290</a:t>
            </a:r>
            <a:endParaRPr/>
          </a:p>
        </p:txBody>
      </p:sp>
      <p:sp>
        <p:nvSpPr>
          <p:cNvPr id="4390" name="Google Shape;4390;p29"/>
          <p:cNvSpPr txBox="1"/>
          <p:nvPr/>
        </p:nvSpPr>
        <p:spPr>
          <a:xfrm>
            <a:off x="2377439" y="446227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391" name="Google Shape;4391;p29"/>
          <p:cNvSpPr txBox="1"/>
          <p:nvPr/>
        </p:nvSpPr>
        <p:spPr>
          <a:xfrm>
            <a:off x="33832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392" name="Google Shape;4392;p29"/>
          <p:cNvSpPr txBox="1"/>
          <p:nvPr/>
        </p:nvSpPr>
        <p:spPr>
          <a:xfrm>
            <a:off x="42976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$159,290</a:t>
            </a:r>
            <a:endParaRPr/>
          </a:p>
        </p:txBody>
      </p:sp>
      <p:sp>
        <p:nvSpPr>
          <p:cNvPr id="4393" name="Google Shape;4393;p29"/>
          <p:cNvSpPr txBox="1"/>
          <p:nvPr/>
        </p:nvSpPr>
        <p:spPr>
          <a:xfrm>
            <a:off x="52120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$-141,139</a:t>
            </a:r>
            <a:endParaRPr/>
          </a:p>
        </p:txBody>
      </p:sp>
      <p:sp>
        <p:nvSpPr>
          <p:cNvPr id="4394" name="Google Shape;4394;p29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5" name="Google Shape;4395;p29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 &amp; PIPELINE</a:t>
            </a:r>
            <a:endParaRPr/>
          </a:p>
        </p:txBody>
      </p:sp>
      <p:sp>
        <p:nvSpPr>
          <p:cNvPr id="4396" name="Google Shape;4396;p2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4397" name="Google Shape;4397;p29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Subs</a:t>
            </a:r>
            <a:endParaRPr/>
          </a:p>
        </p:txBody>
      </p:sp>
      <p:sp>
        <p:nvSpPr>
          <p:cNvPr id="4398" name="Google Shape;4398;p29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</a:t>
            </a:r>
            <a:endParaRPr/>
          </a:p>
        </p:txBody>
      </p:sp>
      <p:sp>
        <p:nvSpPr>
          <p:cNvPr id="4399" name="Google Shape;4399;p29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Non-Fleet</a:t>
            </a:r>
            <a:endParaRPr/>
          </a:p>
        </p:txBody>
      </p:sp>
      <p:sp>
        <p:nvSpPr>
          <p:cNvPr id="4400" name="Google Shape;4400;p29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4401" name="Google Shape;4401;p29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4402" name="Google Shape;4402;p29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3" name="Google Shape;4403;p29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4404" name="Google Shape;4404;p29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4405" name="Google Shape;4405;p29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4406" name="Google Shape;4406;p2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4407" name="Google Shape;4407;p29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4408" name="Google Shape;4408;p29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66.7%</a:t>
            </a:r>
            <a:endParaRPr/>
          </a:p>
        </p:txBody>
      </p:sp>
      <p:sp>
        <p:nvSpPr>
          <p:cNvPr id="4409" name="Google Shape;4409;p29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0" name="Google Shape;4410;p29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4411" name="Google Shape;4411;p29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4412" name="Google Shape;4412;p29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4413" name="Google Shape;4413;p29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4414" name="Google Shape;4414;p29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4415" name="Google Shape;4415;p29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50.0%</a:t>
            </a:r>
            <a:endParaRPr/>
          </a:p>
        </p:txBody>
      </p:sp>
      <p:sp>
        <p:nvSpPr>
          <p:cNvPr id="4416" name="Google Shape;4416;p2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7" name="Google Shape;4417;p29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4418" name="Google Shape;4418;p29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4419" name="Google Shape;4419;p29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4420" name="Google Shape;4420;p29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4421" name="Google Shape;4421;p29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4422" name="Google Shape;4422;p29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4423" name="Google Shape;4423;p29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4" name="Google Shape;4424;p29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4425" name="Google Shape;4425;p29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4426" name="Google Shape;4426;p2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4427" name="Google Shape;4427;p29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4428" name="Google Shape;4428;p29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4429" name="Google Shape;4429;p29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4430" name="Google Shape;4430;p29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1" name="Google Shape;4431;p29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4432" name="Google Shape;4432;p29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4433" name="Google Shape;4433;p29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4434" name="Google Shape;4434;p29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4435" name="Google Shape;4435;p29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4436" name="Google Shape;4436;p2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33.3%</a:t>
            </a:r>
            <a:endParaRPr/>
          </a:p>
        </p:txBody>
      </p:sp>
      <p:sp>
        <p:nvSpPr>
          <p:cNvPr id="4437" name="Google Shape;4437;p29"/>
          <p:cNvSpPr/>
          <p:nvPr/>
        </p:nvSpPr>
        <p:spPr>
          <a:xfrm>
            <a:off x="6309360" y="4123944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8" name="Google Shape;4438;p29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4439" name="Google Shape;4439;p29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4440" name="Google Shape;4440;p29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4441" name="Google Shape;4441;p29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4442" name="Google Shape;4442;p29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4443" name="Google Shape;4443;p29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4444" name="Google Shape;4444;p29"/>
          <p:cNvSpPr/>
          <p:nvPr/>
        </p:nvSpPr>
        <p:spPr>
          <a:xfrm>
            <a:off x="6309360" y="4425696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5" name="Google Shape;4445;p29"/>
          <p:cNvSpPr txBox="1"/>
          <p:nvPr/>
        </p:nvSpPr>
        <p:spPr>
          <a:xfrm>
            <a:off x="63093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4446" name="Google Shape;4446;p29"/>
          <p:cNvSpPr txBox="1"/>
          <p:nvPr/>
        </p:nvSpPr>
        <p:spPr>
          <a:xfrm>
            <a:off x="722376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/>
          </a:p>
        </p:txBody>
      </p:sp>
      <p:sp>
        <p:nvSpPr>
          <p:cNvPr id="4447" name="Google Shape;4447;p29"/>
          <p:cNvSpPr txBox="1"/>
          <p:nvPr/>
        </p:nvSpPr>
        <p:spPr>
          <a:xfrm>
            <a:off x="804672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4448" name="Google Shape;4448;p29"/>
          <p:cNvSpPr txBox="1"/>
          <p:nvPr/>
        </p:nvSpPr>
        <p:spPr>
          <a:xfrm>
            <a:off x="886968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4449" name="Google Shape;4449;p29"/>
          <p:cNvSpPr txBox="1"/>
          <p:nvPr/>
        </p:nvSpPr>
        <p:spPr>
          <a:xfrm>
            <a:off x="978408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4450" name="Google Shape;4450;p29"/>
          <p:cNvSpPr txBox="1"/>
          <p:nvPr/>
        </p:nvSpPr>
        <p:spPr>
          <a:xfrm>
            <a:off x="1060704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20.0%</a:t>
            </a:r>
            <a:endParaRPr/>
          </a:p>
        </p:txBody>
      </p:sp>
      <p:sp>
        <p:nvSpPr>
          <p:cNvPr id="4451" name="Google Shape;4451;p29"/>
          <p:cNvSpPr/>
          <p:nvPr/>
        </p:nvSpPr>
        <p:spPr>
          <a:xfrm>
            <a:off x="365760" y="4782312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2" name="Google Shape;4452;p29"/>
          <p:cNvSpPr txBox="1"/>
          <p:nvPr/>
        </p:nvSpPr>
        <p:spPr>
          <a:xfrm>
            <a:off x="457200" y="4800599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YOY COMPARISON — Jan–Jun 2025 vs Jan–Jun 2026</a:t>
            </a:r>
            <a:endParaRPr/>
          </a:p>
        </p:txBody>
      </p:sp>
      <p:sp>
        <p:nvSpPr>
          <p:cNvPr id="4453" name="Google Shape;4453;p29"/>
          <p:cNvSpPr txBox="1"/>
          <p:nvPr/>
        </p:nvSpPr>
        <p:spPr>
          <a:xfrm>
            <a:off x="365760" y="5056631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00" u="none" cap="none" strike="noStrike">
              <a:solidFill>
                <a:srgbClr val="6B728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454" name="Google Shape;4454;p29"/>
          <p:cNvSpPr txBox="1"/>
          <p:nvPr/>
        </p:nvSpPr>
        <p:spPr>
          <a:xfrm>
            <a:off x="1463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'25</a:t>
            </a:r>
            <a:endParaRPr/>
          </a:p>
        </p:txBody>
      </p:sp>
      <p:sp>
        <p:nvSpPr>
          <p:cNvPr id="4455" name="Google Shape;4455;p29"/>
          <p:cNvSpPr txBox="1"/>
          <p:nvPr/>
        </p:nvSpPr>
        <p:spPr>
          <a:xfrm>
            <a:off x="2148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'26</a:t>
            </a:r>
            <a:endParaRPr/>
          </a:p>
        </p:txBody>
      </p:sp>
      <p:sp>
        <p:nvSpPr>
          <p:cNvPr id="4456" name="Google Shape;4456;p29"/>
          <p:cNvSpPr txBox="1"/>
          <p:nvPr/>
        </p:nvSpPr>
        <p:spPr>
          <a:xfrm>
            <a:off x="2834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'25</a:t>
            </a:r>
            <a:endParaRPr/>
          </a:p>
        </p:txBody>
      </p:sp>
      <p:sp>
        <p:nvSpPr>
          <p:cNvPr id="4457" name="Google Shape;4457;p29"/>
          <p:cNvSpPr txBox="1"/>
          <p:nvPr/>
        </p:nvSpPr>
        <p:spPr>
          <a:xfrm>
            <a:off x="3520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'26</a:t>
            </a:r>
            <a:endParaRPr/>
          </a:p>
        </p:txBody>
      </p:sp>
      <p:sp>
        <p:nvSpPr>
          <p:cNvPr id="4458" name="Google Shape;4458;p29"/>
          <p:cNvSpPr txBox="1"/>
          <p:nvPr/>
        </p:nvSpPr>
        <p:spPr>
          <a:xfrm>
            <a:off x="4206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'25</a:t>
            </a:r>
            <a:endParaRPr/>
          </a:p>
        </p:txBody>
      </p:sp>
      <p:sp>
        <p:nvSpPr>
          <p:cNvPr id="4459" name="Google Shape;4459;p29"/>
          <p:cNvSpPr txBox="1"/>
          <p:nvPr/>
        </p:nvSpPr>
        <p:spPr>
          <a:xfrm>
            <a:off x="4892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'26</a:t>
            </a:r>
            <a:endParaRPr/>
          </a:p>
        </p:txBody>
      </p:sp>
      <p:sp>
        <p:nvSpPr>
          <p:cNvPr id="4460" name="Google Shape;4460;p29"/>
          <p:cNvSpPr txBox="1"/>
          <p:nvPr/>
        </p:nvSpPr>
        <p:spPr>
          <a:xfrm>
            <a:off x="5577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'25</a:t>
            </a:r>
            <a:endParaRPr/>
          </a:p>
        </p:txBody>
      </p:sp>
      <p:sp>
        <p:nvSpPr>
          <p:cNvPr id="4461" name="Google Shape;4461;p29"/>
          <p:cNvSpPr txBox="1"/>
          <p:nvPr/>
        </p:nvSpPr>
        <p:spPr>
          <a:xfrm>
            <a:off x="6263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'26</a:t>
            </a:r>
            <a:endParaRPr/>
          </a:p>
        </p:txBody>
      </p:sp>
      <p:sp>
        <p:nvSpPr>
          <p:cNvPr id="4462" name="Google Shape;4462;p29"/>
          <p:cNvSpPr txBox="1"/>
          <p:nvPr/>
        </p:nvSpPr>
        <p:spPr>
          <a:xfrm>
            <a:off x="6949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'25</a:t>
            </a:r>
            <a:endParaRPr/>
          </a:p>
        </p:txBody>
      </p:sp>
      <p:sp>
        <p:nvSpPr>
          <p:cNvPr id="4463" name="Google Shape;4463;p29"/>
          <p:cNvSpPr txBox="1"/>
          <p:nvPr/>
        </p:nvSpPr>
        <p:spPr>
          <a:xfrm>
            <a:off x="7635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'26</a:t>
            </a:r>
            <a:endParaRPr/>
          </a:p>
        </p:txBody>
      </p:sp>
      <p:sp>
        <p:nvSpPr>
          <p:cNvPr id="4464" name="Google Shape;4464;p29"/>
          <p:cNvSpPr txBox="1"/>
          <p:nvPr/>
        </p:nvSpPr>
        <p:spPr>
          <a:xfrm>
            <a:off x="8321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'25</a:t>
            </a:r>
            <a:endParaRPr/>
          </a:p>
        </p:txBody>
      </p:sp>
      <p:sp>
        <p:nvSpPr>
          <p:cNvPr id="4465" name="Google Shape;4465;p29"/>
          <p:cNvSpPr txBox="1"/>
          <p:nvPr/>
        </p:nvSpPr>
        <p:spPr>
          <a:xfrm>
            <a:off x="9006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'26</a:t>
            </a:r>
            <a:endParaRPr/>
          </a:p>
        </p:txBody>
      </p:sp>
      <p:sp>
        <p:nvSpPr>
          <p:cNvPr id="4466" name="Google Shape;4466;p29"/>
          <p:cNvSpPr txBox="1"/>
          <p:nvPr/>
        </p:nvSpPr>
        <p:spPr>
          <a:xfrm>
            <a:off x="969264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'25 Tot</a:t>
            </a:r>
            <a:endParaRPr/>
          </a:p>
        </p:txBody>
      </p:sp>
      <p:sp>
        <p:nvSpPr>
          <p:cNvPr id="4467" name="Google Shape;4467;p29"/>
          <p:cNvSpPr txBox="1"/>
          <p:nvPr/>
        </p:nvSpPr>
        <p:spPr>
          <a:xfrm>
            <a:off x="1088136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'26 Tot</a:t>
            </a:r>
            <a:endParaRPr/>
          </a:p>
        </p:txBody>
      </p:sp>
      <p:sp>
        <p:nvSpPr>
          <p:cNvPr id="4468" name="Google Shape;4468;p29"/>
          <p:cNvSpPr txBox="1"/>
          <p:nvPr/>
        </p:nvSpPr>
        <p:spPr>
          <a:xfrm>
            <a:off x="365760" y="523951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4469" name="Google Shape;4469;p29"/>
          <p:cNvSpPr txBox="1"/>
          <p:nvPr/>
        </p:nvSpPr>
        <p:spPr>
          <a:xfrm>
            <a:off x="1463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4470" name="Google Shape;4470;p29"/>
          <p:cNvSpPr txBox="1"/>
          <p:nvPr/>
        </p:nvSpPr>
        <p:spPr>
          <a:xfrm>
            <a:off x="2148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4471" name="Google Shape;4471;p29"/>
          <p:cNvSpPr txBox="1"/>
          <p:nvPr/>
        </p:nvSpPr>
        <p:spPr>
          <a:xfrm>
            <a:off x="2834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4472" name="Google Shape;4472;p29"/>
          <p:cNvSpPr txBox="1"/>
          <p:nvPr/>
        </p:nvSpPr>
        <p:spPr>
          <a:xfrm>
            <a:off x="3520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4473" name="Google Shape;4473;p29"/>
          <p:cNvSpPr txBox="1"/>
          <p:nvPr/>
        </p:nvSpPr>
        <p:spPr>
          <a:xfrm>
            <a:off x="4206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4474" name="Google Shape;4474;p29"/>
          <p:cNvSpPr txBox="1"/>
          <p:nvPr/>
        </p:nvSpPr>
        <p:spPr>
          <a:xfrm>
            <a:off x="4892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4475" name="Google Shape;4475;p29"/>
          <p:cNvSpPr txBox="1"/>
          <p:nvPr/>
        </p:nvSpPr>
        <p:spPr>
          <a:xfrm>
            <a:off x="5577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/>
          </a:p>
        </p:txBody>
      </p:sp>
      <p:sp>
        <p:nvSpPr>
          <p:cNvPr id="4476" name="Google Shape;4476;p29"/>
          <p:cNvSpPr txBox="1"/>
          <p:nvPr/>
        </p:nvSpPr>
        <p:spPr>
          <a:xfrm>
            <a:off x="6263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4477" name="Google Shape;4477;p29"/>
          <p:cNvSpPr txBox="1"/>
          <p:nvPr/>
        </p:nvSpPr>
        <p:spPr>
          <a:xfrm>
            <a:off x="6949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4478" name="Google Shape;4478;p29"/>
          <p:cNvSpPr txBox="1"/>
          <p:nvPr/>
        </p:nvSpPr>
        <p:spPr>
          <a:xfrm>
            <a:off x="7635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4479" name="Google Shape;4479;p29"/>
          <p:cNvSpPr txBox="1"/>
          <p:nvPr/>
        </p:nvSpPr>
        <p:spPr>
          <a:xfrm>
            <a:off x="8321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/>
          </a:p>
        </p:txBody>
      </p:sp>
      <p:sp>
        <p:nvSpPr>
          <p:cNvPr id="4480" name="Google Shape;4480;p29"/>
          <p:cNvSpPr txBox="1"/>
          <p:nvPr/>
        </p:nvSpPr>
        <p:spPr>
          <a:xfrm>
            <a:off x="9006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4481" name="Google Shape;4481;p29"/>
          <p:cNvSpPr txBox="1"/>
          <p:nvPr/>
        </p:nvSpPr>
        <p:spPr>
          <a:xfrm>
            <a:off x="969264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28</a:t>
            </a:r>
            <a:endParaRPr/>
          </a:p>
        </p:txBody>
      </p:sp>
      <p:sp>
        <p:nvSpPr>
          <p:cNvPr id="4482" name="Google Shape;4482;p29"/>
          <p:cNvSpPr txBox="1"/>
          <p:nvPr/>
        </p:nvSpPr>
        <p:spPr>
          <a:xfrm>
            <a:off x="1088136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</a:t>
            </a:r>
            <a:endParaRPr/>
          </a:p>
        </p:txBody>
      </p:sp>
      <p:sp>
        <p:nvSpPr>
          <p:cNvPr id="4483" name="Google Shape;4483;p29"/>
          <p:cNvSpPr txBox="1"/>
          <p:nvPr/>
        </p:nvSpPr>
        <p:spPr>
          <a:xfrm>
            <a:off x="365760" y="542239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Bound Premium</a:t>
            </a:r>
            <a:endParaRPr/>
          </a:p>
        </p:txBody>
      </p:sp>
      <p:sp>
        <p:nvSpPr>
          <p:cNvPr id="4484" name="Google Shape;4484;p29"/>
          <p:cNvSpPr txBox="1"/>
          <p:nvPr/>
        </p:nvSpPr>
        <p:spPr>
          <a:xfrm>
            <a:off x="1463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$28K</a:t>
            </a:r>
            <a:endParaRPr/>
          </a:p>
        </p:txBody>
      </p:sp>
      <p:sp>
        <p:nvSpPr>
          <p:cNvPr id="4485" name="Google Shape;4485;p29"/>
          <p:cNvSpPr txBox="1"/>
          <p:nvPr/>
        </p:nvSpPr>
        <p:spPr>
          <a:xfrm>
            <a:off x="2148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$18K</a:t>
            </a:r>
            <a:endParaRPr/>
          </a:p>
        </p:txBody>
      </p:sp>
      <p:sp>
        <p:nvSpPr>
          <p:cNvPr id="4486" name="Google Shape;4486;p29"/>
          <p:cNvSpPr txBox="1"/>
          <p:nvPr/>
        </p:nvSpPr>
        <p:spPr>
          <a:xfrm>
            <a:off x="2834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$5K</a:t>
            </a:r>
            <a:endParaRPr/>
          </a:p>
        </p:txBody>
      </p:sp>
      <p:sp>
        <p:nvSpPr>
          <p:cNvPr id="4487" name="Google Shape;4487;p29"/>
          <p:cNvSpPr txBox="1"/>
          <p:nvPr/>
        </p:nvSpPr>
        <p:spPr>
          <a:xfrm>
            <a:off x="3520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$365</a:t>
            </a:r>
            <a:endParaRPr/>
          </a:p>
        </p:txBody>
      </p:sp>
      <p:sp>
        <p:nvSpPr>
          <p:cNvPr id="4488" name="Google Shape;4488;p29"/>
          <p:cNvSpPr txBox="1"/>
          <p:nvPr/>
        </p:nvSpPr>
        <p:spPr>
          <a:xfrm>
            <a:off x="4206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$42K</a:t>
            </a:r>
            <a:endParaRPr/>
          </a:p>
        </p:txBody>
      </p:sp>
      <p:sp>
        <p:nvSpPr>
          <p:cNvPr id="4489" name="Google Shape;4489;p29"/>
          <p:cNvSpPr txBox="1"/>
          <p:nvPr/>
        </p:nvSpPr>
        <p:spPr>
          <a:xfrm>
            <a:off x="4892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490" name="Google Shape;4490;p29"/>
          <p:cNvSpPr txBox="1"/>
          <p:nvPr/>
        </p:nvSpPr>
        <p:spPr>
          <a:xfrm>
            <a:off x="5577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$6K</a:t>
            </a:r>
            <a:endParaRPr/>
          </a:p>
        </p:txBody>
      </p:sp>
      <p:sp>
        <p:nvSpPr>
          <p:cNvPr id="4491" name="Google Shape;4491;p29"/>
          <p:cNvSpPr txBox="1"/>
          <p:nvPr/>
        </p:nvSpPr>
        <p:spPr>
          <a:xfrm>
            <a:off x="6263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492" name="Google Shape;4492;p29"/>
          <p:cNvSpPr txBox="1"/>
          <p:nvPr/>
        </p:nvSpPr>
        <p:spPr>
          <a:xfrm>
            <a:off x="6949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$4K</a:t>
            </a:r>
            <a:endParaRPr/>
          </a:p>
        </p:txBody>
      </p:sp>
      <p:sp>
        <p:nvSpPr>
          <p:cNvPr id="4493" name="Google Shape;4493;p29"/>
          <p:cNvSpPr txBox="1"/>
          <p:nvPr/>
        </p:nvSpPr>
        <p:spPr>
          <a:xfrm>
            <a:off x="7635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$141K</a:t>
            </a:r>
            <a:endParaRPr/>
          </a:p>
        </p:txBody>
      </p:sp>
      <p:sp>
        <p:nvSpPr>
          <p:cNvPr id="4494" name="Google Shape;4494;p29"/>
          <p:cNvSpPr txBox="1"/>
          <p:nvPr/>
        </p:nvSpPr>
        <p:spPr>
          <a:xfrm>
            <a:off x="8321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$14K</a:t>
            </a:r>
            <a:endParaRPr/>
          </a:p>
        </p:txBody>
      </p:sp>
      <p:sp>
        <p:nvSpPr>
          <p:cNvPr id="4495" name="Google Shape;4495;p29"/>
          <p:cNvSpPr txBox="1"/>
          <p:nvPr/>
        </p:nvSpPr>
        <p:spPr>
          <a:xfrm>
            <a:off x="9006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496" name="Google Shape;4496;p29"/>
          <p:cNvSpPr txBox="1"/>
          <p:nvPr/>
        </p:nvSpPr>
        <p:spPr>
          <a:xfrm>
            <a:off x="969264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$99K</a:t>
            </a:r>
            <a:endParaRPr/>
          </a:p>
        </p:txBody>
      </p:sp>
      <p:sp>
        <p:nvSpPr>
          <p:cNvPr id="4497" name="Google Shape;4497;p29"/>
          <p:cNvSpPr txBox="1"/>
          <p:nvPr/>
        </p:nvSpPr>
        <p:spPr>
          <a:xfrm>
            <a:off x="1088136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$159K</a:t>
            </a:r>
            <a:endParaRPr/>
          </a:p>
        </p:txBody>
      </p:sp>
      <p:sp>
        <p:nvSpPr>
          <p:cNvPr id="4498" name="Google Shape;4498;p29"/>
          <p:cNvSpPr/>
          <p:nvPr/>
        </p:nvSpPr>
        <p:spPr>
          <a:xfrm>
            <a:off x="365760" y="5678423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9" name="Google Shape;4499;p29"/>
          <p:cNvSpPr txBox="1"/>
          <p:nvPr/>
        </p:nvSpPr>
        <p:spPr>
          <a:xfrm>
            <a:off x="4572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65F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STRENGTHS - What's Working</a:t>
            </a:r>
            <a:endParaRPr/>
          </a:p>
        </p:txBody>
      </p:sp>
      <p:sp>
        <p:nvSpPr>
          <p:cNvPr id="4500" name="Google Shape;4500;p29"/>
          <p:cNvSpPr txBox="1"/>
          <p:nvPr/>
        </p:nvSpPr>
        <p:spPr>
          <a:xfrm>
            <a:off x="4572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4501" name="Google Shape;4501;p29"/>
          <p:cNvSpPr txBox="1"/>
          <p:nvPr/>
        </p:nvSpPr>
        <p:spPr>
          <a:xfrm>
            <a:off x="685800" y="5952743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$159,290 YTD gross written premium</a:t>
            </a:r>
            <a:endParaRPr/>
          </a:p>
        </p:txBody>
      </p:sp>
      <p:sp>
        <p:nvSpPr>
          <p:cNvPr id="4502" name="Google Shape;4502;p29"/>
          <p:cNvSpPr txBox="1"/>
          <p:nvPr/>
        </p:nvSpPr>
        <p:spPr>
          <a:xfrm>
            <a:off x="457200" y="6153911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4503" name="Google Shape;4503;p29"/>
          <p:cNvSpPr txBox="1"/>
          <p:nvPr/>
        </p:nvSpPr>
        <p:spPr>
          <a:xfrm>
            <a:off x="685800" y="6153911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20.0% hit ratio - above average conversion</a:t>
            </a:r>
            <a:endParaRPr/>
          </a:p>
        </p:txBody>
      </p:sp>
      <p:sp>
        <p:nvSpPr>
          <p:cNvPr id="4504" name="Google Shape;4504;p29"/>
          <p:cNvSpPr/>
          <p:nvPr/>
        </p:nvSpPr>
        <p:spPr>
          <a:xfrm>
            <a:off x="6309360" y="5678423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5" name="Google Shape;4505;p29"/>
          <p:cNvSpPr txBox="1"/>
          <p:nvPr/>
        </p:nvSpPr>
        <p:spPr>
          <a:xfrm>
            <a:off x="64008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NEEDS ATTENTION</a:t>
            </a:r>
            <a:endParaRPr/>
          </a:p>
        </p:txBody>
      </p:sp>
      <p:sp>
        <p:nvSpPr>
          <p:cNvPr id="4506" name="Google Shape;4506;p29"/>
          <p:cNvSpPr txBox="1"/>
          <p:nvPr/>
        </p:nvSpPr>
        <p:spPr>
          <a:xfrm>
            <a:off x="64008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4507" name="Google Shape;4507;p29"/>
          <p:cNvSpPr txBox="1"/>
          <p:nvPr/>
        </p:nvSpPr>
        <p:spPr>
          <a:xfrm>
            <a:off x="6629400" y="5952743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new business - all premium from renewals/endorsements only</a:t>
            </a:r>
            <a:endParaRPr/>
          </a:p>
        </p:txBody>
      </p:sp>
      <p:sp>
        <p:nvSpPr>
          <p:cNvPr id="4508" name="Google Shape;4508;p29"/>
          <p:cNvSpPr/>
          <p:nvPr/>
        </p:nvSpPr>
        <p:spPr>
          <a:xfrm>
            <a:off x="365760" y="6455663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9" name="Google Shape;4509;p29"/>
          <p:cNvSpPr txBox="1"/>
          <p:nvPr/>
        </p:nvSpPr>
        <p:spPr>
          <a:xfrm>
            <a:off x="457200" y="6464807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STRATEGIC SALES TIPS - Conversation Starters</a:t>
            </a:r>
            <a:endParaRPr/>
          </a:p>
        </p:txBody>
      </p:sp>
      <p:sp>
        <p:nvSpPr>
          <p:cNvPr id="4510" name="Google Shape;4510;p29"/>
          <p:cNvSpPr txBox="1"/>
          <p:nvPr/>
        </p:nvSpPr>
        <p:spPr>
          <a:xfrm>
            <a:off x="457200" y="6711695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endParaRPr/>
          </a:p>
        </p:txBody>
      </p:sp>
      <p:sp>
        <p:nvSpPr>
          <p:cNvPr id="4511" name="Google Shape;4511;p29"/>
          <p:cNvSpPr txBox="1"/>
          <p:nvPr/>
        </p:nvSpPr>
        <p:spPr>
          <a:xfrm>
            <a:off x="777240" y="6711695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Momentum is building - premium grew MoM. Keep the energy going: "Things are moving in the right direction. What do you need from me to keep this pace up?"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15" name="Shape 4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6" name="Google Shape;4516;p3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7" name="Google Shape;4517;p30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925 Partners, Llc</a:t>
            </a:r>
            <a:endParaRPr/>
          </a:p>
        </p:txBody>
      </p:sp>
      <p:sp>
        <p:nvSpPr>
          <p:cNvPr id="4518" name="Google Shape;4518;p30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4B5F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Tier: Tier 2  |  Region: Southeast  |  State: FL  |  City: Jacksonville</a:t>
            </a:r>
            <a:endParaRPr/>
          </a:p>
        </p:txBody>
      </p:sp>
      <p:sp>
        <p:nvSpPr>
          <p:cNvPr id="4519" name="Google Shape;4519;p30"/>
          <p:cNvSpPr/>
          <p:nvPr/>
        </p:nvSpPr>
        <p:spPr>
          <a:xfrm>
            <a:off x="22860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$150,021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YTD GWP</a:t>
            </a:r>
            <a:endParaRPr/>
          </a:p>
        </p:txBody>
      </p:sp>
      <p:sp>
        <p:nvSpPr>
          <p:cNvPr id="4520" name="Google Shape;4520;p30"/>
          <p:cNvSpPr/>
          <p:nvPr/>
        </p:nvSpPr>
        <p:spPr>
          <a:xfrm>
            <a:off x="256032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$36,080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4521" name="Google Shape;4521;p30"/>
          <p:cNvSpPr/>
          <p:nvPr/>
        </p:nvSpPr>
        <p:spPr>
          <a:xfrm>
            <a:off x="489204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$106,601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4522" name="Google Shape;4522;p30"/>
          <p:cNvSpPr/>
          <p:nvPr/>
        </p:nvSpPr>
        <p:spPr>
          <a:xfrm>
            <a:off x="7223759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$7,340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4523" name="Google Shape;4523;p30"/>
          <p:cNvSpPr/>
          <p:nvPr/>
        </p:nvSpPr>
        <p:spPr>
          <a:xfrm>
            <a:off x="955548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$-35,945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4524" name="Google Shape;4524;p30"/>
          <p:cNvSpPr/>
          <p:nvPr/>
        </p:nvSpPr>
        <p:spPr>
          <a:xfrm>
            <a:off x="137160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$567,502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2025 Full Year GWP</a:t>
            </a:r>
            <a:endParaRPr/>
          </a:p>
        </p:txBody>
      </p:sp>
      <p:sp>
        <p:nvSpPr>
          <p:cNvPr id="4525" name="Google Shape;4525;p30"/>
          <p:cNvSpPr/>
          <p:nvPr/>
        </p:nvSpPr>
        <p:spPr>
          <a:xfrm>
            <a:off x="1627631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$455,579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Rolling 12M GWP</a:t>
            </a:r>
            <a:endParaRPr/>
          </a:p>
        </p:txBody>
      </p:sp>
      <p:sp>
        <p:nvSpPr>
          <p:cNvPr id="4526" name="Google Shape;4526;p30"/>
          <p:cNvSpPr/>
          <p:nvPr/>
        </p:nvSpPr>
        <p:spPr>
          <a:xfrm>
            <a:off x="3118103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22%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% to Goal</a:t>
            </a:r>
            <a:endParaRPr/>
          </a:p>
        </p:txBody>
      </p:sp>
      <p:sp>
        <p:nvSpPr>
          <p:cNvPr id="4527" name="Google Shape;4527;p30"/>
          <p:cNvSpPr/>
          <p:nvPr/>
        </p:nvSpPr>
        <p:spPr>
          <a:xfrm>
            <a:off x="4608576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226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4528" name="Google Shape;4528;p30"/>
          <p:cNvSpPr/>
          <p:nvPr/>
        </p:nvSpPr>
        <p:spPr>
          <a:xfrm>
            <a:off x="6099048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4529" name="Google Shape;4529;p30"/>
          <p:cNvSpPr/>
          <p:nvPr/>
        </p:nvSpPr>
        <p:spPr>
          <a:xfrm>
            <a:off x="7589519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3.1%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4530" name="Google Shape;4530;p30"/>
          <p:cNvSpPr/>
          <p:nvPr/>
        </p:nvSpPr>
        <p:spPr>
          <a:xfrm>
            <a:off x="9079992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$146,449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 Bound Prem</a:t>
            </a:r>
            <a:endParaRPr/>
          </a:p>
        </p:txBody>
      </p:sp>
      <p:sp>
        <p:nvSpPr>
          <p:cNvPr id="4531" name="Google Shape;4531;p30"/>
          <p:cNvSpPr/>
          <p:nvPr/>
        </p:nvSpPr>
        <p:spPr>
          <a:xfrm>
            <a:off x="10570464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$96,939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NF Bound Prem</a:t>
            </a:r>
            <a:endParaRPr/>
          </a:p>
        </p:txBody>
      </p:sp>
      <p:sp>
        <p:nvSpPr>
          <p:cNvPr id="4532" name="Google Shape;4532;p30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3" name="Google Shape;4533;p30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PRODUCTION BY MONTH</a:t>
            </a:r>
            <a:endParaRPr/>
          </a:p>
        </p:txBody>
      </p:sp>
      <p:sp>
        <p:nvSpPr>
          <p:cNvPr id="4534" name="Google Shape;4534;p30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4535" name="Google Shape;4535;p3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Written Premium</a:t>
            </a:r>
            <a:endParaRPr/>
          </a:p>
        </p:txBody>
      </p:sp>
      <p:sp>
        <p:nvSpPr>
          <p:cNvPr id="4536" name="Google Shape;4536;p30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4537" name="Google Shape;4537;p30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4538" name="Google Shape;4538;p30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4539" name="Google Shape;4539;p30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4540" name="Google Shape;4540;p30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1" name="Google Shape;4541;p30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4542" name="Google Shape;4542;p30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$-2,281</a:t>
            </a:r>
            <a:endParaRPr/>
          </a:p>
        </p:txBody>
      </p:sp>
      <p:sp>
        <p:nvSpPr>
          <p:cNvPr id="4543" name="Google Shape;4543;p30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544" name="Google Shape;4544;p30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545" name="Google Shape;4545;p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$-2,281</a:t>
            </a:r>
            <a:endParaRPr/>
          </a:p>
        </p:txBody>
      </p:sp>
      <p:sp>
        <p:nvSpPr>
          <p:cNvPr id="4546" name="Google Shape;4546;p30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547" name="Google Shape;4547;p30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8" name="Google Shape;4548;p30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4549" name="Google Shape;4549;p30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$-225</a:t>
            </a:r>
            <a:endParaRPr/>
          </a:p>
        </p:txBody>
      </p:sp>
      <p:sp>
        <p:nvSpPr>
          <p:cNvPr id="4550" name="Google Shape;4550;p30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551" name="Google Shape;4551;p30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552" name="Google Shape;4552;p30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$-225</a:t>
            </a:r>
            <a:endParaRPr/>
          </a:p>
        </p:txBody>
      </p:sp>
      <p:sp>
        <p:nvSpPr>
          <p:cNvPr id="4553" name="Google Shape;4553;p30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$-2,308</a:t>
            </a:r>
            <a:endParaRPr/>
          </a:p>
        </p:txBody>
      </p:sp>
      <p:sp>
        <p:nvSpPr>
          <p:cNvPr id="4554" name="Google Shape;4554;p30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5" name="Google Shape;4555;p3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4556" name="Google Shape;4556;p30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$768</a:t>
            </a:r>
            <a:endParaRPr/>
          </a:p>
        </p:txBody>
      </p:sp>
      <p:sp>
        <p:nvSpPr>
          <p:cNvPr id="4557" name="Google Shape;4557;p30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558" name="Google Shape;4558;p30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559" name="Google Shape;4559;p30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$768</a:t>
            </a:r>
            <a:endParaRPr/>
          </a:p>
        </p:txBody>
      </p:sp>
      <p:sp>
        <p:nvSpPr>
          <p:cNvPr id="4560" name="Google Shape;4560;p30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561" name="Google Shape;4561;p30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2" name="Google Shape;4562;p30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4563" name="Google Shape;4563;p30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$113,531</a:t>
            </a:r>
            <a:endParaRPr/>
          </a:p>
        </p:txBody>
      </p:sp>
      <p:sp>
        <p:nvSpPr>
          <p:cNvPr id="4564" name="Google Shape;4564;p30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$36,080</a:t>
            </a:r>
            <a:endParaRPr/>
          </a:p>
        </p:txBody>
      </p:sp>
      <p:sp>
        <p:nvSpPr>
          <p:cNvPr id="4565" name="Google Shape;4565;p3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$81,822</a:t>
            </a:r>
            <a:endParaRPr/>
          </a:p>
        </p:txBody>
      </p:sp>
      <p:sp>
        <p:nvSpPr>
          <p:cNvPr id="4566" name="Google Shape;4566;p30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$-4,371</a:t>
            </a:r>
            <a:endParaRPr/>
          </a:p>
        </p:txBody>
      </p:sp>
      <p:sp>
        <p:nvSpPr>
          <p:cNvPr id="4567" name="Google Shape;4567;p30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$-33,637</a:t>
            </a:r>
            <a:endParaRPr/>
          </a:p>
        </p:txBody>
      </p:sp>
      <p:sp>
        <p:nvSpPr>
          <p:cNvPr id="4568" name="Google Shape;4568;p30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9" name="Google Shape;4569;p30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4570" name="Google Shape;4570;p30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$38,228</a:t>
            </a:r>
            <a:endParaRPr/>
          </a:p>
        </p:txBody>
      </p:sp>
      <p:sp>
        <p:nvSpPr>
          <p:cNvPr id="4571" name="Google Shape;4571;p30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572" name="Google Shape;4572;p30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$24,779</a:t>
            </a:r>
            <a:endParaRPr/>
          </a:p>
        </p:txBody>
      </p:sp>
      <p:sp>
        <p:nvSpPr>
          <p:cNvPr id="4573" name="Google Shape;4573;p30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$13,449</a:t>
            </a:r>
            <a:endParaRPr/>
          </a:p>
        </p:txBody>
      </p:sp>
      <p:sp>
        <p:nvSpPr>
          <p:cNvPr id="4574" name="Google Shape;4574;p30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575" name="Google Shape;4575;p30"/>
          <p:cNvSpPr/>
          <p:nvPr/>
        </p:nvSpPr>
        <p:spPr>
          <a:xfrm>
            <a:off x="365760" y="4123944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6" name="Google Shape;4576;p30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4577" name="Google Shape;4577;p30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578" name="Google Shape;4578;p30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579" name="Google Shape;4579;p30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580" name="Google Shape;4580;p30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581" name="Google Shape;4581;p30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582" name="Google Shape;4582;p30"/>
          <p:cNvSpPr/>
          <p:nvPr/>
        </p:nvSpPr>
        <p:spPr>
          <a:xfrm>
            <a:off x="365760" y="4425696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3" name="Google Shape;4583;p30"/>
          <p:cNvSpPr txBox="1"/>
          <p:nvPr/>
        </p:nvSpPr>
        <p:spPr>
          <a:xfrm>
            <a:off x="3657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4584" name="Google Shape;4584;p30"/>
          <p:cNvSpPr txBox="1"/>
          <p:nvPr/>
        </p:nvSpPr>
        <p:spPr>
          <a:xfrm>
            <a:off x="1280160" y="446227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$150,021</a:t>
            </a:r>
            <a:endParaRPr/>
          </a:p>
        </p:txBody>
      </p:sp>
      <p:sp>
        <p:nvSpPr>
          <p:cNvPr id="4585" name="Google Shape;4585;p30"/>
          <p:cNvSpPr txBox="1"/>
          <p:nvPr/>
        </p:nvSpPr>
        <p:spPr>
          <a:xfrm>
            <a:off x="2377439" y="446227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$36,080</a:t>
            </a:r>
            <a:endParaRPr/>
          </a:p>
        </p:txBody>
      </p:sp>
      <p:sp>
        <p:nvSpPr>
          <p:cNvPr id="4586" name="Google Shape;4586;p30"/>
          <p:cNvSpPr txBox="1"/>
          <p:nvPr/>
        </p:nvSpPr>
        <p:spPr>
          <a:xfrm>
            <a:off x="33832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$106,601</a:t>
            </a:r>
            <a:endParaRPr/>
          </a:p>
        </p:txBody>
      </p:sp>
      <p:sp>
        <p:nvSpPr>
          <p:cNvPr id="4587" name="Google Shape;4587;p30"/>
          <p:cNvSpPr txBox="1"/>
          <p:nvPr/>
        </p:nvSpPr>
        <p:spPr>
          <a:xfrm>
            <a:off x="42976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$7,340</a:t>
            </a:r>
            <a:endParaRPr/>
          </a:p>
        </p:txBody>
      </p:sp>
      <p:sp>
        <p:nvSpPr>
          <p:cNvPr id="4588" name="Google Shape;4588;p30"/>
          <p:cNvSpPr txBox="1"/>
          <p:nvPr/>
        </p:nvSpPr>
        <p:spPr>
          <a:xfrm>
            <a:off x="52120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$-35,945</a:t>
            </a:r>
            <a:endParaRPr/>
          </a:p>
        </p:txBody>
      </p:sp>
      <p:sp>
        <p:nvSpPr>
          <p:cNvPr id="4589" name="Google Shape;4589;p30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0" name="Google Shape;4590;p30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 &amp; PIPELINE</a:t>
            </a:r>
            <a:endParaRPr/>
          </a:p>
        </p:txBody>
      </p:sp>
      <p:sp>
        <p:nvSpPr>
          <p:cNvPr id="4591" name="Google Shape;4591;p30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4592" name="Google Shape;4592;p3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Subs</a:t>
            </a:r>
            <a:endParaRPr/>
          </a:p>
        </p:txBody>
      </p:sp>
      <p:sp>
        <p:nvSpPr>
          <p:cNvPr id="4593" name="Google Shape;4593;p30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</a:t>
            </a:r>
            <a:endParaRPr/>
          </a:p>
        </p:txBody>
      </p:sp>
      <p:sp>
        <p:nvSpPr>
          <p:cNvPr id="4594" name="Google Shape;4594;p30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Non-Fleet</a:t>
            </a:r>
            <a:endParaRPr/>
          </a:p>
        </p:txBody>
      </p:sp>
      <p:sp>
        <p:nvSpPr>
          <p:cNvPr id="4595" name="Google Shape;4595;p30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4596" name="Google Shape;4596;p30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4597" name="Google Shape;4597;p30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8" name="Google Shape;4598;p30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4599" name="Google Shape;4599;p30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58</a:t>
            </a:r>
            <a:endParaRPr/>
          </a:p>
        </p:txBody>
      </p:sp>
      <p:sp>
        <p:nvSpPr>
          <p:cNvPr id="4600" name="Google Shape;4600;p30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4601" name="Google Shape;4601;p30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53</a:t>
            </a:r>
            <a:endParaRPr/>
          </a:p>
        </p:txBody>
      </p:sp>
      <p:sp>
        <p:nvSpPr>
          <p:cNvPr id="4602" name="Google Shape;4602;p3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4603" name="Google Shape;4603;p30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6.9%</a:t>
            </a:r>
            <a:endParaRPr/>
          </a:p>
        </p:txBody>
      </p:sp>
      <p:sp>
        <p:nvSpPr>
          <p:cNvPr id="4604" name="Google Shape;4604;p30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5" name="Google Shape;4605;p30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4606" name="Google Shape;4606;p30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50</a:t>
            </a:r>
            <a:endParaRPr/>
          </a:p>
        </p:txBody>
      </p:sp>
      <p:sp>
        <p:nvSpPr>
          <p:cNvPr id="4607" name="Google Shape;4607;p30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4608" name="Google Shape;4608;p30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45</a:t>
            </a:r>
            <a:endParaRPr/>
          </a:p>
        </p:txBody>
      </p:sp>
      <p:sp>
        <p:nvSpPr>
          <p:cNvPr id="4609" name="Google Shape;4609;p30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4610" name="Google Shape;4610;p30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6.0%</a:t>
            </a:r>
            <a:endParaRPr/>
          </a:p>
        </p:txBody>
      </p:sp>
      <p:sp>
        <p:nvSpPr>
          <p:cNvPr id="4611" name="Google Shape;4611;p30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2" name="Google Shape;4612;p3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4613" name="Google Shape;4613;p30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49</a:t>
            </a:r>
            <a:endParaRPr/>
          </a:p>
        </p:txBody>
      </p:sp>
      <p:sp>
        <p:nvSpPr>
          <p:cNvPr id="4614" name="Google Shape;4614;p30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</a:t>
            </a:r>
            <a:endParaRPr/>
          </a:p>
        </p:txBody>
      </p:sp>
      <p:sp>
        <p:nvSpPr>
          <p:cNvPr id="4615" name="Google Shape;4615;p30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41</a:t>
            </a:r>
            <a:endParaRPr/>
          </a:p>
        </p:txBody>
      </p:sp>
      <p:sp>
        <p:nvSpPr>
          <p:cNvPr id="4616" name="Google Shape;4616;p30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/>
          </a:p>
        </p:txBody>
      </p:sp>
      <p:sp>
        <p:nvSpPr>
          <p:cNvPr id="4617" name="Google Shape;4617;p30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12.2%</a:t>
            </a:r>
            <a:endParaRPr/>
          </a:p>
        </p:txBody>
      </p:sp>
      <p:sp>
        <p:nvSpPr>
          <p:cNvPr id="4618" name="Google Shape;4618;p30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9" name="Google Shape;4619;p30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4620" name="Google Shape;4620;p30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49</a:t>
            </a:r>
            <a:endParaRPr/>
          </a:p>
        </p:txBody>
      </p:sp>
      <p:sp>
        <p:nvSpPr>
          <p:cNvPr id="4621" name="Google Shape;4621;p30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/>
          </a:p>
        </p:txBody>
      </p:sp>
      <p:sp>
        <p:nvSpPr>
          <p:cNvPr id="4622" name="Google Shape;4622;p3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39</a:t>
            </a:r>
            <a:endParaRPr/>
          </a:p>
        </p:txBody>
      </p:sp>
      <p:sp>
        <p:nvSpPr>
          <p:cNvPr id="4623" name="Google Shape;4623;p30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4624" name="Google Shape;4624;p30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10.2%</a:t>
            </a:r>
            <a:endParaRPr/>
          </a:p>
        </p:txBody>
      </p:sp>
      <p:sp>
        <p:nvSpPr>
          <p:cNvPr id="4625" name="Google Shape;4625;p30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6" name="Google Shape;4626;p30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4627" name="Google Shape;4627;p30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39</a:t>
            </a:r>
            <a:endParaRPr/>
          </a:p>
        </p:txBody>
      </p:sp>
      <p:sp>
        <p:nvSpPr>
          <p:cNvPr id="4628" name="Google Shape;4628;p30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4629" name="Google Shape;4629;p30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35</a:t>
            </a:r>
            <a:endParaRPr/>
          </a:p>
        </p:txBody>
      </p:sp>
      <p:sp>
        <p:nvSpPr>
          <p:cNvPr id="4630" name="Google Shape;4630;p30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4631" name="Google Shape;4631;p30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5.1%</a:t>
            </a:r>
            <a:endParaRPr/>
          </a:p>
        </p:txBody>
      </p:sp>
      <p:sp>
        <p:nvSpPr>
          <p:cNvPr id="4632" name="Google Shape;4632;p30"/>
          <p:cNvSpPr/>
          <p:nvPr/>
        </p:nvSpPr>
        <p:spPr>
          <a:xfrm>
            <a:off x="6309360" y="4123944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3" name="Google Shape;4633;p30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4634" name="Google Shape;4634;p30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4635" name="Google Shape;4635;p30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4636" name="Google Shape;4636;p30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4637" name="Google Shape;4637;p30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4638" name="Google Shape;4638;p30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4639" name="Google Shape;4639;p30"/>
          <p:cNvSpPr/>
          <p:nvPr/>
        </p:nvSpPr>
        <p:spPr>
          <a:xfrm>
            <a:off x="6309360" y="4425696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0" name="Google Shape;4640;p30"/>
          <p:cNvSpPr txBox="1"/>
          <p:nvPr/>
        </p:nvSpPr>
        <p:spPr>
          <a:xfrm>
            <a:off x="63093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4641" name="Google Shape;4641;p30"/>
          <p:cNvSpPr txBox="1"/>
          <p:nvPr/>
        </p:nvSpPr>
        <p:spPr>
          <a:xfrm>
            <a:off x="722376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226</a:t>
            </a:r>
            <a:endParaRPr/>
          </a:p>
        </p:txBody>
      </p:sp>
      <p:sp>
        <p:nvSpPr>
          <p:cNvPr id="4642" name="Google Shape;4642;p30"/>
          <p:cNvSpPr txBox="1"/>
          <p:nvPr/>
        </p:nvSpPr>
        <p:spPr>
          <a:xfrm>
            <a:off x="804672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</a:t>
            </a:r>
            <a:endParaRPr/>
          </a:p>
        </p:txBody>
      </p:sp>
      <p:sp>
        <p:nvSpPr>
          <p:cNvPr id="4643" name="Google Shape;4643;p30"/>
          <p:cNvSpPr txBox="1"/>
          <p:nvPr/>
        </p:nvSpPr>
        <p:spPr>
          <a:xfrm>
            <a:off x="886968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201</a:t>
            </a:r>
            <a:endParaRPr/>
          </a:p>
        </p:txBody>
      </p:sp>
      <p:sp>
        <p:nvSpPr>
          <p:cNvPr id="4644" name="Google Shape;4644;p30"/>
          <p:cNvSpPr txBox="1"/>
          <p:nvPr/>
        </p:nvSpPr>
        <p:spPr>
          <a:xfrm>
            <a:off x="978408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/>
          </a:p>
        </p:txBody>
      </p:sp>
      <p:sp>
        <p:nvSpPr>
          <p:cNvPr id="4645" name="Google Shape;4645;p30"/>
          <p:cNvSpPr txBox="1"/>
          <p:nvPr/>
        </p:nvSpPr>
        <p:spPr>
          <a:xfrm>
            <a:off x="1060704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3.1%</a:t>
            </a:r>
            <a:endParaRPr/>
          </a:p>
        </p:txBody>
      </p:sp>
      <p:sp>
        <p:nvSpPr>
          <p:cNvPr id="4646" name="Google Shape;4646;p30"/>
          <p:cNvSpPr/>
          <p:nvPr/>
        </p:nvSpPr>
        <p:spPr>
          <a:xfrm>
            <a:off x="365760" y="4782312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7" name="Google Shape;4647;p30"/>
          <p:cNvSpPr txBox="1"/>
          <p:nvPr/>
        </p:nvSpPr>
        <p:spPr>
          <a:xfrm>
            <a:off x="457200" y="4800599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YOY COMPARISON — Jan–Jun 2025 vs Jan–Jun 2026</a:t>
            </a:r>
            <a:endParaRPr/>
          </a:p>
        </p:txBody>
      </p:sp>
      <p:sp>
        <p:nvSpPr>
          <p:cNvPr id="4648" name="Google Shape;4648;p30"/>
          <p:cNvSpPr txBox="1"/>
          <p:nvPr/>
        </p:nvSpPr>
        <p:spPr>
          <a:xfrm>
            <a:off x="365760" y="5056631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00" u="none" cap="none" strike="noStrike">
              <a:solidFill>
                <a:srgbClr val="6B728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649" name="Google Shape;4649;p30"/>
          <p:cNvSpPr txBox="1"/>
          <p:nvPr/>
        </p:nvSpPr>
        <p:spPr>
          <a:xfrm>
            <a:off x="1463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'25</a:t>
            </a:r>
            <a:endParaRPr/>
          </a:p>
        </p:txBody>
      </p:sp>
      <p:sp>
        <p:nvSpPr>
          <p:cNvPr id="4650" name="Google Shape;4650;p30"/>
          <p:cNvSpPr txBox="1"/>
          <p:nvPr/>
        </p:nvSpPr>
        <p:spPr>
          <a:xfrm>
            <a:off x="2148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'26</a:t>
            </a:r>
            <a:endParaRPr/>
          </a:p>
        </p:txBody>
      </p:sp>
      <p:sp>
        <p:nvSpPr>
          <p:cNvPr id="4651" name="Google Shape;4651;p30"/>
          <p:cNvSpPr txBox="1"/>
          <p:nvPr/>
        </p:nvSpPr>
        <p:spPr>
          <a:xfrm>
            <a:off x="2834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'25</a:t>
            </a:r>
            <a:endParaRPr/>
          </a:p>
        </p:txBody>
      </p:sp>
      <p:sp>
        <p:nvSpPr>
          <p:cNvPr id="4652" name="Google Shape;4652;p30"/>
          <p:cNvSpPr txBox="1"/>
          <p:nvPr/>
        </p:nvSpPr>
        <p:spPr>
          <a:xfrm>
            <a:off x="3520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'26</a:t>
            </a:r>
            <a:endParaRPr/>
          </a:p>
        </p:txBody>
      </p:sp>
      <p:sp>
        <p:nvSpPr>
          <p:cNvPr id="4653" name="Google Shape;4653;p30"/>
          <p:cNvSpPr txBox="1"/>
          <p:nvPr/>
        </p:nvSpPr>
        <p:spPr>
          <a:xfrm>
            <a:off x="4206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'25</a:t>
            </a:r>
            <a:endParaRPr/>
          </a:p>
        </p:txBody>
      </p:sp>
      <p:sp>
        <p:nvSpPr>
          <p:cNvPr id="4654" name="Google Shape;4654;p30"/>
          <p:cNvSpPr txBox="1"/>
          <p:nvPr/>
        </p:nvSpPr>
        <p:spPr>
          <a:xfrm>
            <a:off x="4892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'26</a:t>
            </a:r>
            <a:endParaRPr/>
          </a:p>
        </p:txBody>
      </p:sp>
      <p:sp>
        <p:nvSpPr>
          <p:cNvPr id="4655" name="Google Shape;4655;p30"/>
          <p:cNvSpPr txBox="1"/>
          <p:nvPr/>
        </p:nvSpPr>
        <p:spPr>
          <a:xfrm>
            <a:off x="5577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'25</a:t>
            </a:r>
            <a:endParaRPr/>
          </a:p>
        </p:txBody>
      </p:sp>
      <p:sp>
        <p:nvSpPr>
          <p:cNvPr id="4656" name="Google Shape;4656;p30"/>
          <p:cNvSpPr txBox="1"/>
          <p:nvPr/>
        </p:nvSpPr>
        <p:spPr>
          <a:xfrm>
            <a:off x="6263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'26</a:t>
            </a:r>
            <a:endParaRPr/>
          </a:p>
        </p:txBody>
      </p:sp>
      <p:sp>
        <p:nvSpPr>
          <p:cNvPr id="4657" name="Google Shape;4657;p30"/>
          <p:cNvSpPr txBox="1"/>
          <p:nvPr/>
        </p:nvSpPr>
        <p:spPr>
          <a:xfrm>
            <a:off x="6949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'25</a:t>
            </a:r>
            <a:endParaRPr/>
          </a:p>
        </p:txBody>
      </p:sp>
      <p:sp>
        <p:nvSpPr>
          <p:cNvPr id="4658" name="Google Shape;4658;p30"/>
          <p:cNvSpPr txBox="1"/>
          <p:nvPr/>
        </p:nvSpPr>
        <p:spPr>
          <a:xfrm>
            <a:off x="7635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'26</a:t>
            </a:r>
            <a:endParaRPr/>
          </a:p>
        </p:txBody>
      </p:sp>
      <p:sp>
        <p:nvSpPr>
          <p:cNvPr id="4659" name="Google Shape;4659;p30"/>
          <p:cNvSpPr txBox="1"/>
          <p:nvPr/>
        </p:nvSpPr>
        <p:spPr>
          <a:xfrm>
            <a:off x="8321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'25</a:t>
            </a:r>
            <a:endParaRPr/>
          </a:p>
        </p:txBody>
      </p:sp>
      <p:sp>
        <p:nvSpPr>
          <p:cNvPr id="4660" name="Google Shape;4660;p30"/>
          <p:cNvSpPr txBox="1"/>
          <p:nvPr/>
        </p:nvSpPr>
        <p:spPr>
          <a:xfrm>
            <a:off x="9006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'26</a:t>
            </a:r>
            <a:endParaRPr/>
          </a:p>
        </p:txBody>
      </p:sp>
      <p:sp>
        <p:nvSpPr>
          <p:cNvPr id="4661" name="Google Shape;4661;p30"/>
          <p:cNvSpPr txBox="1"/>
          <p:nvPr/>
        </p:nvSpPr>
        <p:spPr>
          <a:xfrm>
            <a:off x="969264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'25 Tot</a:t>
            </a:r>
            <a:endParaRPr/>
          </a:p>
        </p:txBody>
      </p:sp>
      <p:sp>
        <p:nvSpPr>
          <p:cNvPr id="4662" name="Google Shape;4662;p30"/>
          <p:cNvSpPr txBox="1"/>
          <p:nvPr/>
        </p:nvSpPr>
        <p:spPr>
          <a:xfrm>
            <a:off x="1088136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'26 Tot</a:t>
            </a:r>
            <a:endParaRPr/>
          </a:p>
        </p:txBody>
      </p:sp>
      <p:sp>
        <p:nvSpPr>
          <p:cNvPr id="4663" name="Google Shape;4663;p30"/>
          <p:cNvSpPr txBox="1"/>
          <p:nvPr/>
        </p:nvSpPr>
        <p:spPr>
          <a:xfrm>
            <a:off x="365760" y="523951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4664" name="Google Shape;4664;p30"/>
          <p:cNvSpPr txBox="1"/>
          <p:nvPr/>
        </p:nvSpPr>
        <p:spPr>
          <a:xfrm>
            <a:off x="1463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39</a:t>
            </a:r>
            <a:endParaRPr/>
          </a:p>
        </p:txBody>
      </p:sp>
      <p:sp>
        <p:nvSpPr>
          <p:cNvPr id="4665" name="Google Shape;4665;p30"/>
          <p:cNvSpPr txBox="1"/>
          <p:nvPr/>
        </p:nvSpPr>
        <p:spPr>
          <a:xfrm>
            <a:off x="2148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58</a:t>
            </a:r>
            <a:endParaRPr/>
          </a:p>
        </p:txBody>
      </p:sp>
      <p:sp>
        <p:nvSpPr>
          <p:cNvPr id="4666" name="Google Shape;4666;p30"/>
          <p:cNvSpPr txBox="1"/>
          <p:nvPr/>
        </p:nvSpPr>
        <p:spPr>
          <a:xfrm>
            <a:off x="2834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29</a:t>
            </a:r>
            <a:endParaRPr/>
          </a:p>
        </p:txBody>
      </p:sp>
      <p:sp>
        <p:nvSpPr>
          <p:cNvPr id="4667" name="Google Shape;4667;p30"/>
          <p:cNvSpPr txBox="1"/>
          <p:nvPr/>
        </p:nvSpPr>
        <p:spPr>
          <a:xfrm>
            <a:off x="3520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50</a:t>
            </a:r>
            <a:endParaRPr/>
          </a:p>
        </p:txBody>
      </p:sp>
      <p:sp>
        <p:nvSpPr>
          <p:cNvPr id="4668" name="Google Shape;4668;p30"/>
          <p:cNvSpPr txBox="1"/>
          <p:nvPr/>
        </p:nvSpPr>
        <p:spPr>
          <a:xfrm>
            <a:off x="4206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38</a:t>
            </a:r>
            <a:endParaRPr/>
          </a:p>
        </p:txBody>
      </p:sp>
      <p:sp>
        <p:nvSpPr>
          <p:cNvPr id="4669" name="Google Shape;4669;p30"/>
          <p:cNvSpPr txBox="1"/>
          <p:nvPr/>
        </p:nvSpPr>
        <p:spPr>
          <a:xfrm>
            <a:off x="4892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49</a:t>
            </a:r>
            <a:endParaRPr/>
          </a:p>
        </p:txBody>
      </p:sp>
      <p:sp>
        <p:nvSpPr>
          <p:cNvPr id="4670" name="Google Shape;4670;p30"/>
          <p:cNvSpPr txBox="1"/>
          <p:nvPr/>
        </p:nvSpPr>
        <p:spPr>
          <a:xfrm>
            <a:off x="5577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41</a:t>
            </a:r>
            <a:endParaRPr/>
          </a:p>
        </p:txBody>
      </p:sp>
      <p:sp>
        <p:nvSpPr>
          <p:cNvPr id="4671" name="Google Shape;4671;p30"/>
          <p:cNvSpPr txBox="1"/>
          <p:nvPr/>
        </p:nvSpPr>
        <p:spPr>
          <a:xfrm>
            <a:off x="6263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49</a:t>
            </a:r>
            <a:endParaRPr/>
          </a:p>
        </p:txBody>
      </p:sp>
      <p:sp>
        <p:nvSpPr>
          <p:cNvPr id="4672" name="Google Shape;4672;p30"/>
          <p:cNvSpPr txBox="1"/>
          <p:nvPr/>
        </p:nvSpPr>
        <p:spPr>
          <a:xfrm>
            <a:off x="6949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35</a:t>
            </a:r>
            <a:endParaRPr/>
          </a:p>
        </p:txBody>
      </p:sp>
      <p:sp>
        <p:nvSpPr>
          <p:cNvPr id="4673" name="Google Shape;4673;p30"/>
          <p:cNvSpPr txBox="1"/>
          <p:nvPr/>
        </p:nvSpPr>
        <p:spPr>
          <a:xfrm>
            <a:off x="7635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39</a:t>
            </a:r>
            <a:endParaRPr/>
          </a:p>
        </p:txBody>
      </p:sp>
      <p:sp>
        <p:nvSpPr>
          <p:cNvPr id="4674" name="Google Shape;4674;p30"/>
          <p:cNvSpPr txBox="1"/>
          <p:nvPr/>
        </p:nvSpPr>
        <p:spPr>
          <a:xfrm>
            <a:off x="8321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40</a:t>
            </a:r>
            <a:endParaRPr/>
          </a:p>
        </p:txBody>
      </p:sp>
      <p:sp>
        <p:nvSpPr>
          <p:cNvPr id="4675" name="Google Shape;4675;p30"/>
          <p:cNvSpPr txBox="1"/>
          <p:nvPr/>
        </p:nvSpPr>
        <p:spPr>
          <a:xfrm>
            <a:off x="9006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4676" name="Google Shape;4676;p30"/>
          <p:cNvSpPr txBox="1"/>
          <p:nvPr/>
        </p:nvSpPr>
        <p:spPr>
          <a:xfrm>
            <a:off x="969264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222</a:t>
            </a:r>
            <a:endParaRPr/>
          </a:p>
        </p:txBody>
      </p:sp>
      <p:sp>
        <p:nvSpPr>
          <p:cNvPr id="4677" name="Google Shape;4677;p30"/>
          <p:cNvSpPr txBox="1"/>
          <p:nvPr/>
        </p:nvSpPr>
        <p:spPr>
          <a:xfrm>
            <a:off x="1088136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245</a:t>
            </a:r>
            <a:endParaRPr/>
          </a:p>
        </p:txBody>
      </p:sp>
      <p:sp>
        <p:nvSpPr>
          <p:cNvPr id="4678" name="Google Shape;4678;p30"/>
          <p:cNvSpPr txBox="1"/>
          <p:nvPr/>
        </p:nvSpPr>
        <p:spPr>
          <a:xfrm>
            <a:off x="365760" y="542239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Bound Premium</a:t>
            </a:r>
            <a:endParaRPr/>
          </a:p>
        </p:txBody>
      </p:sp>
      <p:sp>
        <p:nvSpPr>
          <p:cNvPr id="4679" name="Google Shape;4679;p30"/>
          <p:cNvSpPr txBox="1"/>
          <p:nvPr/>
        </p:nvSpPr>
        <p:spPr>
          <a:xfrm>
            <a:off x="1463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$71K</a:t>
            </a:r>
            <a:endParaRPr/>
          </a:p>
        </p:txBody>
      </p:sp>
      <p:sp>
        <p:nvSpPr>
          <p:cNvPr id="4680" name="Google Shape;4680;p30"/>
          <p:cNvSpPr txBox="1"/>
          <p:nvPr/>
        </p:nvSpPr>
        <p:spPr>
          <a:xfrm>
            <a:off x="2148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$-2,281</a:t>
            </a:r>
            <a:endParaRPr/>
          </a:p>
        </p:txBody>
      </p:sp>
      <p:sp>
        <p:nvSpPr>
          <p:cNvPr id="4681" name="Google Shape;4681;p30"/>
          <p:cNvSpPr txBox="1"/>
          <p:nvPr/>
        </p:nvSpPr>
        <p:spPr>
          <a:xfrm>
            <a:off x="2834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$14K</a:t>
            </a:r>
            <a:endParaRPr/>
          </a:p>
        </p:txBody>
      </p:sp>
      <p:sp>
        <p:nvSpPr>
          <p:cNvPr id="4682" name="Google Shape;4682;p30"/>
          <p:cNvSpPr txBox="1"/>
          <p:nvPr/>
        </p:nvSpPr>
        <p:spPr>
          <a:xfrm>
            <a:off x="3520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$-225</a:t>
            </a:r>
            <a:endParaRPr/>
          </a:p>
        </p:txBody>
      </p:sp>
      <p:sp>
        <p:nvSpPr>
          <p:cNvPr id="4683" name="Google Shape;4683;p30"/>
          <p:cNvSpPr txBox="1"/>
          <p:nvPr/>
        </p:nvSpPr>
        <p:spPr>
          <a:xfrm>
            <a:off x="4206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$67K</a:t>
            </a:r>
            <a:endParaRPr/>
          </a:p>
        </p:txBody>
      </p:sp>
      <p:sp>
        <p:nvSpPr>
          <p:cNvPr id="4684" name="Google Shape;4684;p30"/>
          <p:cNvSpPr txBox="1"/>
          <p:nvPr/>
        </p:nvSpPr>
        <p:spPr>
          <a:xfrm>
            <a:off x="4892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$768</a:t>
            </a:r>
            <a:endParaRPr/>
          </a:p>
        </p:txBody>
      </p:sp>
      <p:sp>
        <p:nvSpPr>
          <p:cNvPr id="4685" name="Google Shape;4685;p30"/>
          <p:cNvSpPr txBox="1"/>
          <p:nvPr/>
        </p:nvSpPr>
        <p:spPr>
          <a:xfrm>
            <a:off x="5577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$90K</a:t>
            </a:r>
            <a:endParaRPr/>
          </a:p>
        </p:txBody>
      </p:sp>
      <p:sp>
        <p:nvSpPr>
          <p:cNvPr id="4686" name="Google Shape;4686;p30"/>
          <p:cNvSpPr txBox="1"/>
          <p:nvPr/>
        </p:nvSpPr>
        <p:spPr>
          <a:xfrm>
            <a:off x="6263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$114K</a:t>
            </a:r>
            <a:endParaRPr/>
          </a:p>
        </p:txBody>
      </p:sp>
      <p:sp>
        <p:nvSpPr>
          <p:cNvPr id="4687" name="Google Shape;4687;p30"/>
          <p:cNvSpPr txBox="1"/>
          <p:nvPr/>
        </p:nvSpPr>
        <p:spPr>
          <a:xfrm>
            <a:off x="6949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$21K</a:t>
            </a:r>
            <a:endParaRPr/>
          </a:p>
        </p:txBody>
      </p:sp>
      <p:sp>
        <p:nvSpPr>
          <p:cNvPr id="4688" name="Google Shape;4688;p30"/>
          <p:cNvSpPr txBox="1"/>
          <p:nvPr/>
        </p:nvSpPr>
        <p:spPr>
          <a:xfrm>
            <a:off x="7635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$38K</a:t>
            </a:r>
            <a:endParaRPr/>
          </a:p>
        </p:txBody>
      </p:sp>
      <p:sp>
        <p:nvSpPr>
          <p:cNvPr id="4689" name="Google Shape;4689;p30"/>
          <p:cNvSpPr txBox="1"/>
          <p:nvPr/>
        </p:nvSpPr>
        <p:spPr>
          <a:xfrm>
            <a:off x="8321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$-644</a:t>
            </a:r>
            <a:endParaRPr/>
          </a:p>
        </p:txBody>
      </p:sp>
      <p:sp>
        <p:nvSpPr>
          <p:cNvPr id="4690" name="Google Shape;4690;p30"/>
          <p:cNvSpPr txBox="1"/>
          <p:nvPr/>
        </p:nvSpPr>
        <p:spPr>
          <a:xfrm>
            <a:off x="9006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691" name="Google Shape;4691;p30"/>
          <p:cNvSpPr txBox="1"/>
          <p:nvPr/>
        </p:nvSpPr>
        <p:spPr>
          <a:xfrm>
            <a:off x="969264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$262K</a:t>
            </a:r>
            <a:endParaRPr/>
          </a:p>
        </p:txBody>
      </p:sp>
      <p:sp>
        <p:nvSpPr>
          <p:cNvPr id="4692" name="Google Shape;4692;p30"/>
          <p:cNvSpPr txBox="1"/>
          <p:nvPr/>
        </p:nvSpPr>
        <p:spPr>
          <a:xfrm>
            <a:off x="1088136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$150K</a:t>
            </a:r>
            <a:endParaRPr/>
          </a:p>
        </p:txBody>
      </p:sp>
      <p:sp>
        <p:nvSpPr>
          <p:cNvPr id="4693" name="Google Shape;4693;p30"/>
          <p:cNvSpPr/>
          <p:nvPr/>
        </p:nvSpPr>
        <p:spPr>
          <a:xfrm>
            <a:off x="365760" y="5678423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4" name="Google Shape;4694;p30"/>
          <p:cNvSpPr txBox="1"/>
          <p:nvPr/>
        </p:nvSpPr>
        <p:spPr>
          <a:xfrm>
            <a:off x="4572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65F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STRENGTHS - What's Working</a:t>
            </a:r>
            <a:endParaRPr/>
          </a:p>
        </p:txBody>
      </p:sp>
      <p:sp>
        <p:nvSpPr>
          <p:cNvPr id="4695" name="Google Shape;4695;p30"/>
          <p:cNvSpPr txBox="1"/>
          <p:nvPr/>
        </p:nvSpPr>
        <p:spPr>
          <a:xfrm>
            <a:off x="4572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4696" name="Google Shape;4696;p30"/>
          <p:cNvSpPr txBox="1"/>
          <p:nvPr/>
        </p:nvSpPr>
        <p:spPr>
          <a:xfrm>
            <a:off x="685800" y="5952743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$150,021 YTD gross written premium</a:t>
            </a:r>
            <a:endParaRPr/>
          </a:p>
        </p:txBody>
      </p:sp>
      <p:sp>
        <p:nvSpPr>
          <p:cNvPr id="4697" name="Google Shape;4697;p30"/>
          <p:cNvSpPr txBox="1"/>
          <p:nvPr/>
        </p:nvSpPr>
        <p:spPr>
          <a:xfrm>
            <a:off x="457200" y="6153911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4698" name="Google Shape;4698;p30"/>
          <p:cNvSpPr txBox="1"/>
          <p:nvPr/>
        </p:nvSpPr>
        <p:spPr>
          <a:xfrm>
            <a:off x="685800" y="6153911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$36,080 in new business production</a:t>
            </a:r>
            <a:endParaRPr/>
          </a:p>
        </p:txBody>
      </p:sp>
      <p:sp>
        <p:nvSpPr>
          <p:cNvPr id="4699" name="Google Shape;4699;p30"/>
          <p:cNvSpPr/>
          <p:nvPr/>
        </p:nvSpPr>
        <p:spPr>
          <a:xfrm>
            <a:off x="6309360" y="5678423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0" name="Google Shape;4700;p30"/>
          <p:cNvSpPr txBox="1"/>
          <p:nvPr/>
        </p:nvSpPr>
        <p:spPr>
          <a:xfrm>
            <a:off x="64008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NEEDS ATTENTION</a:t>
            </a:r>
            <a:endParaRPr/>
          </a:p>
        </p:txBody>
      </p:sp>
      <p:sp>
        <p:nvSpPr>
          <p:cNvPr id="4701" name="Google Shape;4701;p30"/>
          <p:cNvSpPr txBox="1"/>
          <p:nvPr/>
        </p:nvSpPr>
        <p:spPr>
          <a:xfrm>
            <a:off x="64008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4702" name="Google Shape;4702;p30"/>
          <p:cNvSpPr txBox="1"/>
          <p:nvPr/>
        </p:nvSpPr>
        <p:spPr>
          <a:xfrm>
            <a:off x="6629400" y="5952743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 at 100% of new business ($35,945)</a:t>
            </a:r>
            <a:endParaRPr/>
          </a:p>
        </p:txBody>
      </p:sp>
      <p:sp>
        <p:nvSpPr>
          <p:cNvPr id="4703" name="Google Shape;4703;p30"/>
          <p:cNvSpPr txBox="1"/>
          <p:nvPr/>
        </p:nvSpPr>
        <p:spPr>
          <a:xfrm>
            <a:off x="6400800" y="6153911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4704" name="Google Shape;4704;p30"/>
          <p:cNvSpPr txBox="1"/>
          <p:nvPr/>
        </p:nvSpPr>
        <p:spPr>
          <a:xfrm>
            <a:off x="6629400" y="6153911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Written premium dropped 66% month-over-month</a:t>
            </a:r>
            <a:endParaRPr/>
          </a:p>
        </p:txBody>
      </p:sp>
      <p:sp>
        <p:nvSpPr>
          <p:cNvPr id="4705" name="Google Shape;4705;p30"/>
          <p:cNvSpPr/>
          <p:nvPr/>
        </p:nvSpPr>
        <p:spPr>
          <a:xfrm>
            <a:off x="365760" y="6455663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6" name="Google Shape;4706;p30"/>
          <p:cNvSpPr txBox="1"/>
          <p:nvPr/>
        </p:nvSpPr>
        <p:spPr>
          <a:xfrm>
            <a:off x="457200" y="6464807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STRATEGIC SALES TIPS - Conversation Starters</a:t>
            </a:r>
            <a:endParaRPr/>
          </a:p>
        </p:txBody>
      </p:sp>
      <p:sp>
        <p:nvSpPr>
          <p:cNvPr id="4707" name="Google Shape;4707;p30"/>
          <p:cNvSpPr txBox="1"/>
          <p:nvPr/>
        </p:nvSpPr>
        <p:spPr>
          <a:xfrm>
            <a:off x="457200" y="6711695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endParaRPr/>
          </a:p>
        </p:txBody>
      </p:sp>
      <p:sp>
        <p:nvSpPr>
          <p:cNvPr id="4708" name="Google Shape;4708;p30"/>
          <p:cNvSpPr txBox="1"/>
          <p:nvPr/>
        </p:nvSpPr>
        <p:spPr>
          <a:xfrm>
            <a:off x="777240" y="6711695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Celebrate the $36,080 in new business. Ask what made those deals work and how you can help replicate that success with similar accounts in their pipeline.</a:t>
            </a:r>
            <a:endParaRPr/>
          </a:p>
        </p:txBody>
      </p:sp>
      <p:sp>
        <p:nvSpPr>
          <p:cNvPr id="4709" name="Google Shape;4709;p30"/>
          <p:cNvSpPr txBox="1"/>
          <p:nvPr/>
        </p:nvSpPr>
        <p:spPr>
          <a:xfrm>
            <a:off x="457200" y="6949439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endParaRPr/>
          </a:p>
        </p:txBody>
      </p:sp>
      <p:sp>
        <p:nvSpPr>
          <p:cNvPr id="4710" name="Google Shape;4710;p30"/>
          <p:cNvSpPr txBox="1"/>
          <p:nvPr/>
        </p:nvSpPr>
        <p:spPr>
          <a:xfrm>
            <a:off x="777240" y="6949439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Address the $35,945 in cancellations. Ask: "Are we losing these to price, service, or coverage?" Proactive retention discussions can protect the book and strengthen the relationship.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14" name="Shape 4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5" name="Google Shape;4715;p3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6" name="Google Shape;4716;p31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Waypoint Agency LLC</a:t>
            </a:r>
            <a:endParaRPr/>
          </a:p>
        </p:txBody>
      </p:sp>
      <p:sp>
        <p:nvSpPr>
          <p:cNvPr id="4717" name="Google Shape;4717;p31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4B5F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Tier: Tier 2  |  Region: Southeast  |  State: MS  |  City: Cedar Park</a:t>
            </a:r>
            <a:endParaRPr/>
          </a:p>
        </p:txBody>
      </p:sp>
      <p:sp>
        <p:nvSpPr>
          <p:cNvPr id="4718" name="Google Shape;4718;p31"/>
          <p:cNvSpPr/>
          <p:nvPr/>
        </p:nvSpPr>
        <p:spPr>
          <a:xfrm>
            <a:off x="22860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$144,828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YTD GWP</a:t>
            </a:r>
            <a:endParaRPr/>
          </a:p>
        </p:txBody>
      </p:sp>
      <p:sp>
        <p:nvSpPr>
          <p:cNvPr id="4719" name="Google Shape;4719;p31"/>
          <p:cNvSpPr/>
          <p:nvPr/>
        </p:nvSpPr>
        <p:spPr>
          <a:xfrm>
            <a:off x="256032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$74,487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4720" name="Google Shape;4720;p31"/>
          <p:cNvSpPr/>
          <p:nvPr/>
        </p:nvSpPr>
        <p:spPr>
          <a:xfrm>
            <a:off x="489204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4721" name="Google Shape;4721;p31"/>
          <p:cNvSpPr/>
          <p:nvPr/>
        </p:nvSpPr>
        <p:spPr>
          <a:xfrm>
            <a:off x="7223759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$70,341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4722" name="Google Shape;4722;p31"/>
          <p:cNvSpPr/>
          <p:nvPr/>
        </p:nvSpPr>
        <p:spPr>
          <a:xfrm>
            <a:off x="955548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$-133,324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4723" name="Google Shape;4723;p31"/>
          <p:cNvSpPr/>
          <p:nvPr/>
        </p:nvSpPr>
        <p:spPr>
          <a:xfrm>
            <a:off x="137160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$628,734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2025 Full Year GWP</a:t>
            </a:r>
            <a:endParaRPr/>
          </a:p>
        </p:txBody>
      </p:sp>
      <p:sp>
        <p:nvSpPr>
          <p:cNvPr id="4724" name="Google Shape;4724;p31"/>
          <p:cNvSpPr/>
          <p:nvPr/>
        </p:nvSpPr>
        <p:spPr>
          <a:xfrm>
            <a:off x="1627631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$562,225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Rolling 12M GWP</a:t>
            </a:r>
            <a:endParaRPr/>
          </a:p>
        </p:txBody>
      </p:sp>
      <p:sp>
        <p:nvSpPr>
          <p:cNvPr id="4725" name="Google Shape;4725;p31"/>
          <p:cNvSpPr/>
          <p:nvPr/>
        </p:nvSpPr>
        <p:spPr>
          <a:xfrm>
            <a:off x="3118103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% to Goal</a:t>
            </a:r>
            <a:endParaRPr/>
          </a:p>
        </p:txBody>
      </p:sp>
      <p:sp>
        <p:nvSpPr>
          <p:cNvPr id="4726" name="Google Shape;4726;p31"/>
          <p:cNvSpPr/>
          <p:nvPr/>
        </p:nvSpPr>
        <p:spPr>
          <a:xfrm>
            <a:off x="4608576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4727" name="Google Shape;4727;p31"/>
          <p:cNvSpPr/>
          <p:nvPr/>
        </p:nvSpPr>
        <p:spPr>
          <a:xfrm>
            <a:off x="6099048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4728" name="Google Shape;4728;p31"/>
          <p:cNvSpPr/>
          <p:nvPr/>
        </p:nvSpPr>
        <p:spPr>
          <a:xfrm>
            <a:off x="7589519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6.2%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4729" name="Google Shape;4729;p31"/>
          <p:cNvSpPr/>
          <p:nvPr/>
        </p:nvSpPr>
        <p:spPr>
          <a:xfrm>
            <a:off x="9079992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$147,614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 Bound Prem</a:t>
            </a:r>
            <a:endParaRPr/>
          </a:p>
        </p:txBody>
      </p:sp>
      <p:sp>
        <p:nvSpPr>
          <p:cNvPr id="4730" name="Google Shape;4730;p31"/>
          <p:cNvSpPr/>
          <p:nvPr/>
        </p:nvSpPr>
        <p:spPr>
          <a:xfrm>
            <a:off x="10570464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$69,201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NF Bound Prem</a:t>
            </a:r>
            <a:endParaRPr/>
          </a:p>
        </p:txBody>
      </p:sp>
      <p:sp>
        <p:nvSpPr>
          <p:cNvPr id="4731" name="Google Shape;4731;p31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2" name="Google Shape;4732;p31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PRODUCTION BY MONTH</a:t>
            </a:r>
            <a:endParaRPr/>
          </a:p>
        </p:txBody>
      </p:sp>
      <p:sp>
        <p:nvSpPr>
          <p:cNvPr id="4733" name="Google Shape;4733;p31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4734" name="Google Shape;4734;p31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Written Premium</a:t>
            </a:r>
            <a:endParaRPr/>
          </a:p>
        </p:txBody>
      </p:sp>
      <p:sp>
        <p:nvSpPr>
          <p:cNvPr id="4735" name="Google Shape;4735;p3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4736" name="Google Shape;4736;p31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4737" name="Google Shape;4737;p31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4738" name="Google Shape;4738;p31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4739" name="Google Shape;4739;p31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0" name="Google Shape;4740;p31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4741" name="Google Shape;4741;p31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$35,667</a:t>
            </a:r>
            <a:endParaRPr/>
          </a:p>
        </p:txBody>
      </p:sp>
      <p:sp>
        <p:nvSpPr>
          <p:cNvPr id="4742" name="Google Shape;4742;p31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$20,841</a:t>
            </a:r>
            <a:endParaRPr/>
          </a:p>
        </p:txBody>
      </p:sp>
      <p:sp>
        <p:nvSpPr>
          <p:cNvPr id="4743" name="Google Shape;4743;p31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744" name="Google Shape;4744;p31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$14,826</a:t>
            </a:r>
            <a:endParaRPr/>
          </a:p>
        </p:txBody>
      </p:sp>
      <p:sp>
        <p:nvSpPr>
          <p:cNvPr id="4745" name="Google Shape;4745;p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$-16,306</a:t>
            </a:r>
            <a:endParaRPr/>
          </a:p>
        </p:txBody>
      </p:sp>
      <p:sp>
        <p:nvSpPr>
          <p:cNvPr id="4746" name="Google Shape;4746;p31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7" name="Google Shape;4747;p31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4748" name="Google Shape;4748;p31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$53,824</a:t>
            </a:r>
            <a:endParaRPr/>
          </a:p>
        </p:txBody>
      </p:sp>
      <p:sp>
        <p:nvSpPr>
          <p:cNvPr id="4749" name="Google Shape;4749;p31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$26,262</a:t>
            </a:r>
            <a:endParaRPr/>
          </a:p>
        </p:txBody>
      </p:sp>
      <p:sp>
        <p:nvSpPr>
          <p:cNvPr id="4750" name="Google Shape;4750;p31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751" name="Google Shape;4751;p31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$27,562</a:t>
            </a:r>
            <a:endParaRPr/>
          </a:p>
        </p:txBody>
      </p:sp>
      <p:sp>
        <p:nvSpPr>
          <p:cNvPr id="4752" name="Google Shape;4752;p31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$-28,277</a:t>
            </a:r>
            <a:endParaRPr/>
          </a:p>
        </p:txBody>
      </p:sp>
      <p:sp>
        <p:nvSpPr>
          <p:cNvPr id="4753" name="Google Shape;4753;p31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4" name="Google Shape;4754;p31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4755" name="Google Shape;4755;p3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$37,700</a:t>
            </a:r>
            <a:endParaRPr/>
          </a:p>
        </p:txBody>
      </p:sp>
      <p:sp>
        <p:nvSpPr>
          <p:cNvPr id="4756" name="Google Shape;4756;p31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$5,975</a:t>
            </a:r>
            <a:endParaRPr/>
          </a:p>
        </p:txBody>
      </p:sp>
      <p:sp>
        <p:nvSpPr>
          <p:cNvPr id="4757" name="Google Shape;4757;p31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758" name="Google Shape;4758;p31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$31,725</a:t>
            </a:r>
            <a:endParaRPr/>
          </a:p>
        </p:txBody>
      </p:sp>
      <p:sp>
        <p:nvSpPr>
          <p:cNvPr id="4759" name="Google Shape;4759;p31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$-70,957</a:t>
            </a:r>
            <a:endParaRPr/>
          </a:p>
        </p:txBody>
      </p:sp>
      <p:sp>
        <p:nvSpPr>
          <p:cNvPr id="4760" name="Google Shape;4760;p31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1" name="Google Shape;4761;p31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4762" name="Google Shape;4762;p31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$-3,804</a:t>
            </a:r>
            <a:endParaRPr/>
          </a:p>
        </p:txBody>
      </p:sp>
      <p:sp>
        <p:nvSpPr>
          <p:cNvPr id="4763" name="Google Shape;4763;p31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$550</a:t>
            </a:r>
            <a:endParaRPr/>
          </a:p>
        </p:txBody>
      </p:sp>
      <p:sp>
        <p:nvSpPr>
          <p:cNvPr id="4764" name="Google Shape;4764;p31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765" name="Google Shape;4765;p3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$-4,354</a:t>
            </a:r>
            <a:endParaRPr/>
          </a:p>
        </p:txBody>
      </p:sp>
      <p:sp>
        <p:nvSpPr>
          <p:cNvPr id="4766" name="Google Shape;4766;p31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$-16,328</a:t>
            </a:r>
            <a:endParaRPr/>
          </a:p>
        </p:txBody>
      </p:sp>
      <p:sp>
        <p:nvSpPr>
          <p:cNvPr id="4767" name="Google Shape;4767;p31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8" name="Google Shape;4768;p31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4769" name="Google Shape;4769;p31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$21,441</a:t>
            </a:r>
            <a:endParaRPr/>
          </a:p>
        </p:txBody>
      </p:sp>
      <p:sp>
        <p:nvSpPr>
          <p:cNvPr id="4770" name="Google Shape;4770;p31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$20,858</a:t>
            </a:r>
            <a:endParaRPr/>
          </a:p>
        </p:txBody>
      </p:sp>
      <p:sp>
        <p:nvSpPr>
          <p:cNvPr id="4771" name="Google Shape;4771;p31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772" name="Google Shape;4772;p31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$582</a:t>
            </a:r>
            <a:endParaRPr/>
          </a:p>
        </p:txBody>
      </p:sp>
      <p:sp>
        <p:nvSpPr>
          <p:cNvPr id="4773" name="Google Shape;4773;p31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$-1,456</a:t>
            </a:r>
            <a:endParaRPr/>
          </a:p>
        </p:txBody>
      </p:sp>
      <p:sp>
        <p:nvSpPr>
          <p:cNvPr id="4774" name="Google Shape;4774;p31"/>
          <p:cNvSpPr/>
          <p:nvPr/>
        </p:nvSpPr>
        <p:spPr>
          <a:xfrm>
            <a:off x="365760" y="4123944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5" name="Google Shape;4775;p3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4776" name="Google Shape;4776;p31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777" name="Google Shape;4777;p31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778" name="Google Shape;4778;p31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779" name="Google Shape;4779;p31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780" name="Google Shape;4780;p31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781" name="Google Shape;4781;p31"/>
          <p:cNvSpPr/>
          <p:nvPr/>
        </p:nvSpPr>
        <p:spPr>
          <a:xfrm>
            <a:off x="365760" y="4425696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2" name="Google Shape;4782;p31"/>
          <p:cNvSpPr txBox="1"/>
          <p:nvPr/>
        </p:nvSpPr>
        <p:spPr>
          <a:xfrm>
            <a:off x="3657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4783" name="Google Shape;4783;p31"/>
          <p:cNvSpPr txBox="1"/>
          <p:nvPr/>
        </p:nvSpPr>
        <p:spPr>
          <a:xfrm>
            <a:off x="1280160" y="446227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$144,828</a:t>
            </a:r>
            <a:endParaRPr/>
          </a:p>
        </p:txBody>
      </p:sp>
      <p:sp>
        <p:nvSpPr>
          <p:cNvPr id="4784" name="Google Shape;4784;p31"/>
          <p:cNvSpPr txBox="1"/>
          <p:nvPr/>
        </p:nvSpPr>
        <p:spPr>
          <a:xfrm>
            <a:off x="2377439" y="446227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$74,487</a:t>
            </a:r>
            <a:endParaRPr/>
          </a:p>
        </p:txBody>
      </p:sp>
      <p:sp>
        <p:nvSpPr>
          <p:cNvPr id="4785" name="Google Shape;4785;p31"/>
          <p:cNvSpPr txBox="1"/>
          <p:nvPr/>
        </p:nvSpPr>
        <p:spPr>
          <a:xfrm>
            <a:off x="33832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786" name="Google Shape;4786;p31"/>
          <p:cNvSpPr txBox="1"/>
          <p:nvPr/>
        </p:nvSpPr>
        <p:spPr>
          <a:xfrm>
            <a:off x="42976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$70,341</a:t>
            </a:r>
            <a:endParaRPr/>
          </a:p>
        </p:txBody>
      </p:sp>
      <p:sp>
        <p:nvSpPr>
          <p:cNvPr id="4787" name="Google Shape;4787;p31"/>
          <p:cNvSpPr txBox="1"/>
          <p:nvPr/>
        </p:nvSpPr>
        <p:spPr>
          <a:xfrm>
            <a:off x="52120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$-133,324</a:t>
            </a:r>
            <a:endParaRPr/>
          </a:p>
        </p:txBody>
      </p:sp>
      <p:sp>
        <p:nvSpPr>
          <p:cNvPr id="4788" name="Google Shape;4788;p31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9" name="Google Shape;4789;p31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 &amp; PIPELINE</a:t>
            </a:r>
            <a:endParaRPr/>
          </a:p>
        </p:txBody>
      </p:sp>
      <p:sp>
        <p:nvSpPr>
          <p:cNvPr id="4790" name="Google Shape;4790;p31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4791" name="Google Shape;4791;p31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Subs</a:t>
            </a:r>
            <a:endParaRPr/>
          </a:p>
        </p:txBody>
      </p:sp>
      <p:sp>
        <p:nvSpPr>
          <p:cNvPr id="4792" name="Google Shape;4792;p3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</a:t>
            </a:r>
            <a:endParaRPr/>
          </a:p>
        </p:txBody>
      </p:sp>
      <p:sp>
        <p:nvSpPr>
          <p:cNvPr id="4793" name="Google Shape;4793;p31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Non-Fleet</a:t>
            </a:r>
            <a:endParaRPr/>
          </a:p>
        </p:txBody>
      </p:sp>
      <p:sp>
        <p:nvSpPr>
          <p:cNvPr id="4794" name="Google Shape;4794;p31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4795" name="Google Shape;4795;p31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4796" name="Google Shape;4796;p31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7" name="Google Shape;4797;p31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4798" name="Google Shape;4798;p31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47</a:t>
            </a:r>
            <a:endParaRPr/>
          </a:p>
        </p:txBody>
      </p:sp>
      <p:sp>
        <p:nvSpPr>
          <p:cNvPr id="4799" name="Google Shape;4799;p31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/>
          </a:p>
        </p:txBody>
      </p:sp>
      <p:sp>
        <p:nvSpPr>
          <p:cNvPr id="4800" name="Google Shape;4800;p31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41</a:t>
            </a:r>
            <a:endParaRPr/>
          </a:p>
        </p:txBody>
      </p:sp>
      <p:sp>
        <p:nvSpPr>
          <p:cNvPr id="4801" name="Google Shape;4801;p31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4802" name="Google Shape;4802;p3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4.3%</a:t>
            </a:r>
            <a:endParaRPr/>
          </a:p>
        </p:txBody>
      </p:sp>
      <p:sp>
        <p:nvSpPr>
          <p:cNvPr id="4803" name="Google Shape;4803;p31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4" name="Google Shape;4804;p31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4805" name="Google Shape;4805;p31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31</a:t>
            </a:r>
            <a:endParaRPr/>
          </a:p>
        </p:txBody>
      </p:sp>
      <p:sp>
        <p:nvSpPr>
          <p:cNvPr id="4806" name="Google Shape;4806;p31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4807" name="Google Shape;4807;p31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30</a:t>
            </a:r>
            <a:endParaRPr/>
          </a:p>
        </p:txBody>
      </p:sp>
      <p:sp>
        <p:nvSpPr>
          <p:cNvPr id="4808" name="Google Shape;4808;p31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/>
          </a:p>
        </p:txBody>
      </p:sp>
      <p:sp>
        <p:nvSpPr>
          <p:cNvPr id="4809" name="Google Shape;4809;p31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22.6%</a:t>
            </a:r>
            <a:endParaRPr/>
          </a:p>
        </p:txBody>
      </p:sp>
      <p:sp>
        <p:nvSpPr>
          <p:cNvPr id="4810" name="Google Shape;4810;p31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1" name="Google Shape;4811;p31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4812" name="Google Shape;4812;p3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49</a:t>
            </a:r>
            <a:endParaRPr/>
          </a:p>
        </p:txBody>
      </p:sp>
      <p:sp>
        <p:nvSpPr>
          <p:cNvPr id="4813" name="Google Shape;4813;p31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4814" name="Google Shape;4814;p31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48</a:t>
            </a:r>
            <a:endParaRPr/>
          </a:p>
        </p:txBody>
      </p:sp>
      <p:sp>
        <p:nvSpPr>
          <p:cNvPr id="4815" name="Google Shape;4815;p31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/>
          </a:p>
        </p:txBody>
      </p:sp>
      <p:sp>
        <p:nvSpPr>
          <p:cNvPr id="4816" name="Google Shape;4816;p31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14.3%</a:t>
            </a:r>
            <a:endParaRPr/>
          </a:p>
        </p:txBody>
      </p:sp>
      <p:sp>
        <p:nvSpPr>
          <p:cNvPr id="4817" name="Google Shape;4817;p31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8" name="Google Shape;4818;p31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4819" name="Google Shape;4819;p31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32</a:t>
            </a:r>
            <a:endParaRPr/>
          </a:p>
        </p:txBody>
      </p:sp>
      <p:sp>
        <p:nvSpPr>
          <p:cNvPr id="4820" name="Google Shape;4820;p31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4821" name="Google Shape;4821;p31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31</a:t>
            </a:r>
            <a:endParaRPr/>
          </a:p>
        </p:txBody>
      </p:sp>
      <p:sp>
        <p:nvSpPr>
          <p:cNvPr id="4822" name="Google Shape;4822;p3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4823" name="Google Shape;4823;p31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9.4%</a:t>
            </a:r>
            <a:endParaRPr/>
          </a:p>
        </p:txBody>
      </p:sp>
      <p:sp>
        <p:nvSpPr>
          <p:cNvPr id="4824" name="Google Shape;4824;p31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5" name="Google Shape;4825;p31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4826" name="Google Shape;4826;p31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</a:t>
            </a:r>
            <a:endParaRPr/>
          </a:p>
        </p:txBody>
      </p:sp>
      <p:sp>
        <p:nvSpPr>
          <p:cNvPr id="4827" name="Google Shape;4827;p31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4828" name="Google Shape;4828;p31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18</a:t>
            </a:r>
            <a:endParaRPr/>
          </a:p>
        </p:txBody>
      </p:sp>
      <p:sp>
        <p:nvSpPr>
          <p:cNvPr id="4829" name="Google Shape;4829;p31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4830" name="Google Shape;4830;p31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23.8%</a:t>
            </a:r>
            <a:endParaRPr/>
          </a:p>
        </p:txBody>
      </p:sp>
      <p:sp>
        <p:nvSpPr>
          <p:cNvPr id="4831" name="Google Shape;4831;p31"/>
          <p:cNvSpPr/>
          <p:nvPr/>
        </p:nvSpPr>
        <p:spPr>
          <a:xfrm>
            <a:off x="6309360" y="4123944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2" name="Google Shape;4832;p3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4833" name="Google Shape;4833;p31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4834" name="Google Shape;4834;p31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4835" name="Google Shape;4835;p31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4836" name="Google Shape;4836;p31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4837" name="Google Shape;4837;p31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4838" name="Google Shape;4838;p31"/>
          <p:cNvSpPr/>
          <p:nvPr/>
        </p:nvSpPr>
        <p:spPr>
          <a:xfrm>
            <a:off x="6309360" y="4425696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9" name="Google Shape;4839;p31"/>
          <p:cNvSpPr txBox="1"/>
          <p:nvPr/>
        </p:nvSpPr>
        <p:spPr>
          <a:xfrm>
            <a:off x="63093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4840" name="Google Shape;4840;p31"/>
          <p:cNvSpPr txBox="1"/>
          <p:nvPr/>
        </p:nvSpPr>
        <p:spPr>
          <a:xfrm>
            <a:off x="722376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160</a:t>
            </a:r>
            <a:endParaRPr/>
          </a:p>
        </p:txBody>
      </p:sp>
      <p:sp>
        <p:nvSpPr>
          <p:cNvPr id="4841" name="Google Shape;4841;p31"/>
          <p:cNvSpPr txBox="1"/>
          <p:nvPr/>
        </p:nvSpPr>
        <p:spPr>
          <a:xfrm>
            <a:off x="804672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</a:t>
            </a:r>
            <a:endParaRPr/>
          </a:p>
        </p:txBody>
      </p:sp>
      <p:sp>
        <p:nvSpPr>
          <p:cNvPr id="4842" name="Google Shape;4842;p31"/>
          <p:cNvSpPr txBox="1"/>
          <p:nvPr/>
        </p:nvSpPr>
        <p:spPr>
          <a:xfrm>
            <a:off x="886968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152</a:t>
            </a:r>
            <a:endParaRPr/>
          </a:p>
        </p:txBody>
      </p:sp>
      <p:sp>
        <p:nvSpPr>
          <p:cNvPr id="4843" name="Google Shape;4843;p31"/>
          <p:cNvSpPr txBox="1"/>
          <p:nvPr/>
        </p:nvSpPr>
        <p:spPr>
          <a:xfrm>
            <a:off x="978408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/>
          </a:p>
        </p:txBody>
      </p:sp>
      <p:sp>
        <p:nvSpPr>
          <p:cNvPr id="4844" name="Google Shape;4844;p31"/>
          <p:cNvSpPr txBox="1"/>
          <p:nvPr/>
        </p:nvSpPr>
        <p:spPr>
          <a:xfrm>
            <a:off x="1060704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6.2%</a:t>
            </a:r>
            <a:endParaRPr/>
          </a:p>
        </p:txBody>
      </p:sp>
      <p:sp>
        <p:nvSpPr>
          <p:cNvPr id="4845" name="Google Shape;4845;p31"/>
          <p:cNvSpPr/>
          <p:nvPr/>
        </p:nvSpPr>
        <p:spPr>
          <a:xfrm>
            <a:off x="365760" y="4782312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6" name="Google Shape;4846;p31"/>
          <p:cNvSpPr txBox="1"/>
          <p:nvPr/>
        </p:nvSpPr>
        <p:spPr>
          <a:xfrm>
            <a:off x="457200" y="4800599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YOY COMPARISON — Jan–Jun 2025 vs Jan–Jun 2026</a:t>
            </a:r>
            <a:endParaRPr/>
          </a:p>
        </p:txBody>
      </p:sp>
      <p:sp>
        <p:nvSpPr>
          <p:cNvPr id="4847" name="Google Shape;4847;p31"/>
          <p:cNvSpPr txBox="1"/>
          <p:nvPr/>
        </p:nvSpPr>
        <p:spPr>
          <a:xfrm>
            <a:off x="365760" y="5056631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00" u="none" cap="none" strike="noStrike">
              <a:solidFill>
                <a:srgbClr val="6B728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848" name="Google Shape;4848;p31"/>
          <p:cNvSpPr txBox="1"/>
          <p:nvPr/>
        </p:nvSpPr>
        <p:spPr>
          <a:xfrm>
            <a:off x="1463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'25</a:t>
            </a:r>
            <a:endParaRPr/>
          </a:p>
        </p:txBody>
      </p:sp>
      <p:sp>
        <p:nvSpPr>
          <p:cNvPr id="4849" name="Google Shape;4849;p31"/>
          <p:cNvSpPr txBox="1"/>
          <p:nvPr/>
        </p:nvSpPr>
        <p:spPr>
          <a:xfrm>
            <a:off x="2148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'26</a:t>
            </a:r>
            <a:endParaRPr/>
          </a:p>
        </p:txBody>
      </p:sp>
      <p:sp>
        <p:nvSpPr>
          <p:cNvPr id="4850" name="Google Shape;4850;p31"/>
          <p:cNvSpPr txBox="1"/>
          <p:nvPr/>
        </p:nvSpPr>
        <p:spPr>
          <a:xfrm>
            <a:off x="2834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'25</a:t>
            </a:r>
            <a:endParaRPr/>
          </a:p>
        </p:txBody>
      </p:sp>
      <p:sp>
        <p:nvSpPr>
          <p:cNvPr id="4851" name="Google Shape;4851;p31"/>
          <p:cNvSpPr txBox="1"/>
          <p:nvPr/>
        </p:nvSpPr>
        <p:spPr>
          <a:xfrm>
            <a:off x="3520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'26</a:t>
            </a:r>
            <a:endParaRPr/>
          </a:p>
        </p:txBody>
      </p:sp>
      <p:sp>
        <p:nvSpPr>
          <p:cNvPr id="4852" name="Google Shape;4852;p31"/>
          <p:cNvSpPr txBox="1"/>
          <p:nvPr/>
        </p:nvSpPr>
        <p:spPr>
          <a:xfrm>
            <a:off x="4206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'25</a:t>
            </a:r>
            <a:endParaRPr/>
          </a:p>
        </p:txBody>
      </p:sp>
      <p:sp>
        <p:nvSpPr>
          <p:cNvPr id="4853" name="Google Shape;4853;p31"/>
          <p:cNvSpPr txBox="1"/>
          <p:nvPr/>
        </p:nvSpPr>
        <p:spPr>
          <a:xfrm>
            <a:off x="4892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'26</a:t>
            </a:r>
            <a:endParaRPr/>
          </a:p>
        </p:txBody>
      </p:sp>
      <p:sp>
        <p:nvSpPr>
          <p:cNvPr id="4854" name="Google Shape;4854;p31"/>
          <p:cNvSpPr txBox="1"/>
          <p:nvPr/>
        </p:nvSpPr>
        <p:spPr>
          <a:xfrm>
            <a:off x="5577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'25</a:t>
            </a:r>
            <a:endParaRPr/>
          </a:p>
        </p:txBody>
      </p:sp>
      <p:sp>
        <p:nvSpPr>
          <p:cNvPr id="4855" name="Google Shape;4855;p31"/>
          <p:cNvSpPr txBox="1"/>
          <p:nvPr/>
        </p:nvSpPr>
        <p:spPr>
          <a:xfrm>
            <a:off x="6263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'26</a:t>
            </a:r>
            <a:endParaRPr/>
          </a:p>
        </p:txBody>
      </p:sp>
      <p:sp>
        <p:nvSpPr>
          <p:cNvPr id="4856" name="Google Shape;4856;p31"/>
          <p:cNvSpPr txBox="1"/>
          <p:nvPr/>
        </p:nvSpPr>
        <p:spPr>
          <a:xfrm>
            <a:off x="6949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'25</a:t>
            </a:r>
            <a:endParaRPr/>
          </a:p>
        </p:txBody>
      </p:sp>
      <p:sp>
        <p:nvSpPr>
          <p:cNvPr id="4857" name="Google Shape;4857;p31"/>
          <p:cNvSpPr txBox="1"/>
          <p:nvPr/>
        </p:nvSpPr>
        <p:spPr>
          <a:xfrm>
            <a:off x="7635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'26</a:t>
            </a:r>
            <a:endParaRPr/>
          </a:p>
        </p:txBody>
      </p:sp>
      <p:sp>
        <p:nvSpPr>
          <p:cNvPr id="4858" name="Google Shape;4858;p31"/>
          <p:cNvSpPr txBox="1"/>
          <p:nvPr/>
        </p:nvSpPr>
        <p:spPr>
          <a:xfrm>
            <a:off x="8321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'25</a:t>
            </a:r>
            <a:endParaRPr/>
          </a:p>
        </p:txBody>
      </p:sp>
      <p:sp>
        <p:nvSpPr>
          <p:cNvPr id="4859" name="Google Shape;4859;p31"/>
          <p:cNvSpPr txBox="1"/>
          <p:nvPr/>
        </p:nvSpPr>
        <p:spPr>
          <a:xfrm>
            <a:off x="9006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'26</a:t>
            </a:r>
            <a:endParaRPr/>
          </a:p>
        </p:txBody>
      </p:sp>
      <p:sp>
        <p:nvSpPr>
          <p:cNvPr id="4860" name="Google Shape;4860;p31"/>
          <p:cNvSpPr txBox="1"/>
          <p:nvPr/>
        </p:nvSpPr>
        <p:spPr>
          <a:xfrm>
            <a:off x="969264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'25 Tot</a:t>
            </a:r>
            <a:endParaRPr/>
          </a:p>
        </p:txBody>
      </p:sp>
      <p:sp>
        <p:nvSpPr>
          <p:cNvPr id="4861" name="Google Shape;4861;p31"/>
          <p:cNvSpPr txBox="1"/>
          <p:nvPr/>
        </p:nvSpPr>
        <p:spPr>
          <a:xfrm>
            <a:off x="1088136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'26 Tot</a:t>
            </a:r>
            <a:endParaRPr/>
          </a:p>
        </p:txBody>
      </p:sp>
      <p:sp>
        <p:nvSpPr>
          <p:cNvPr id="4862" name="Google Shape;4862;p31"/>
          <p:cNvSpPr txBox="1"/>
          <p:nvPr/>
        </p:nvSpPr>
        <p:spPr>
          <a:xfrm>
            <a:off x="365760" y="523951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4863" name="Google Shape;4863;p31"/>
          <p:cNvSpPr txBox="1"/>
          <p:nvPr/>
        </p:nvSpPr>
        <p:spPr>
          <a:xfrm>
            <a:off x="1463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</a:t>
            </a:r>
            <a:endParaRPr/>
          </a:p>
        </p:txBody>
      </p:sp>
      <p:sp>
        <p:nvSpPr>
          <p:cNvPr id="4864" name="Google Shape;4864;p31"/>
          <p:cNvSpPr txBox="1"/>
          <p:nvPr/>
        </p:nvSpPr>
        <p:spPr>
          <a:xfrm>
            <a:off x="2148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47</a:t>
            </a:r>
            <a:endParaRPr/>
          </a:p>
        </p:txBody>
      </p:sp>
      <p:sp>
        <p:nvSpPr>
          <p:cNvPr id="4865" name="Google Shape;4865;p31"/>
          <p:cNvSpPr txBox="1"/>
          <p:nvPr/>
        </p:nvSpPr>
        <p:spPr>
          <a:xfrm>
            <a:off x="2834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</a:t>
            </a:r>
            <a:endParaRPr/>
          </a:p>
        </p:txBody>
      </p:sp>
      <p:sp>
        <p:nvSpPr>
          <p:cNvPr id="4866" name="Google Shape;4866;p31"/>
          <p:cNvSpPr txBox="1"/>
          <p:nvPr/>
        </p:nvSpPr>
        <p:spPr>
          <a:xfrm>
            <a:off x="3520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31</a:t>
            </a:r>
            <a:endParaRPr/>
          </a:p>
        </p:txBody>
      </p:sp>
      <p:sp>
        <p:nvSpPr>
          <p:cNvPr id="4867" name="Google Shape;4867;p31"/>
          <p:cNvSpPr txBox="1"/>
          <p:nvPr/>
        </p:nvSpPr>
        <p:spPr>
          <a:xfrm>
            <a:off x="4206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17</a:t>
            </a:r>
            <a:endParaRPr/>
          </a:p>
        </p:txBody>
      </p:sp>
      <p:sp>
        <p:nvSpPr>
          <p:cNvPr id="4868" name="Google Shape;4868;p31"/>
          <p:cNvSpPr txBox="1"/>
          <p:nvPr/>
        </p:nvSpPr>
        <p:spPr>
          <a:xfrm>
            <a:off x="4892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49</a:t>
            </a:r>
            <a:endParaRPr/>
          </a:p>
        </p:txBody>
      </p:sp>
      <p:sp>
        <p:nvSpPr>
          <p:cNvPr id="4869" name="Google Shape;4869;p31"/>
          <p:cNvSpPr txBox="1"/>
          <p:nvPr/>
        </p:nvSpPr>
        <p:spPr>
          <a:xfrm>
            <a:off x="5577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</a:t>
            </a:r>
            <a:endParaRPr/>
          </a:p>
        </p:txBody>
      </p:sp>
      <p:sp>
        <p:nvSpPr>
          <p:cNvPr id="4870" name="Google Shape;4870;p31"/>
          <p:cNvSpPr txBox="1"/>
          <p:nvPr/>
        </p:nvSpPr>
        <p:spPr>
          <a:xfrm>
            <a:off x="6263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32</a:t>
            </a:r>
            <a:endParaRPr/>
          </a:p>
        </p:txBody>
      </p:sp>
      <p:sp>
        <p:nvSpPr>
          <p:cNvPr id="4871" name="Google Shape;4871;p31"/>
          <p:cNvSpPr txBox="1"/>
          <p:nvPr/>
        </p:nvSpPr>
        <p:spPr>
          <a:xfrm>
            <a:off x="6949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44</a:t>
            </a:r>
            <a:endParaRPr/>
          </a:p>
        </p:txBody>
      </p:sp>
      <p:sp>
        <p:nvSpPr>
          <p:cNvPr id="4872" name="Google Shape;4872;p31"/>
          <p:cNvSpPr txBox="1"/>
          <p:nvPr/>
        </p:nvSpPr>
        <p:spPr>
          <a:xfrm>
            <a:off x="7635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</a:t>
            </a:r>
            <a:endParaRPr/>
          </a:p>
        </p:txBody>
      </p:sp>
      <p:sp>
        <p:nvSpPr>
          <p:cNvPr id="4873" name="Google Shape;4873;p31"/>
          <p:cNvSpPr txBox="1"/>
          <p:nvPr/>
        </p:nvSpPr>
        <p:spPr>
          <a:xfrm>
            <a:off x="8321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48</a:t>
            </a:r>
            <a:endParaRPr/>
          </a:p>
        </p:txBody>
      </p:sp>
      <p:sp>
        <p:nvSpPr>
          <p:cNvPr id="4874" name="Google Shape;4874;p31"/>
          <p:cNvSpPr txBox="1"/>
          <p:nvPr/>
        </p:nvSpPr>
        <p:spPr>
          <a:xfrm>
            <a:off x="9006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4875" name="Google Shape;4875;p31"/>
          <p:cNvSpPr txBox="1"/>
          <p:nvPr/>
        </p:nvSpPr>
        <p:spPr>
          <a:xfrm>
            <a:off x="969264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147</a:t>
            </a:r>
            <a:endParaRPr/>
          </a:p>
        </p:txBody>
      </p:sp>
      <p:sp>
        <p:nvSpPr>
          <p:cNvPr id="4876" name="Google Shape;4876;p31"/>
          <p:cNvSpPr txBox="1"/>
          <p:nvPr/>
        </p:nvSpPr>
        <p:spPr>
          <a:xfrm>
            <a:off x="1088136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180</a:t>
            </a:r>
            <a:endParaRPr/>
          </a:p>
        </p:txBody>
      </p:sp>
      <p:sp>
        <p:nvSpPr>
          <p:cNvPr id="4877" name="Google Shape;4877;p31"/>
          <p:cNvSpPr txBox="1"/>
          <p:nvPr/>
        </p:nvSpPr>
        <p:spPr>
          <a:xfrm>
            <a:off x="365760" y="542239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Bound Premium</a:t>
            </a:r>
            <a:endParaRPr/>
          </a:p>
        </p:txBody>
      </p:sp>
      <p:sp>
        <p:nvSpPr>
          <p:cNvPr id="4878" name="Google Shape;4878;p31"/>
          <p:cNvSpPr txBox="1"/>
          <p:nvPr/>
        </p:nvSpPr>
        <p:spPr>
          <a:xfrm>
            <a:off x="1463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$74K</a:t>
            </a:r>
            <a:endParaRPr/>
          </a:p>
        </p:txBody>
      </p:sp>
      <p:sp>
        <p:nvSpPr>
          <p:cNvPr id="4879" name="Google Shape;4879;p31"/>
          <p:cNvSpPr txBox="1"/>
          <p:nvPr/>
        </p:nvSpPr>
        <p:spPr>
          <a:xfrm>
            <a:off x="2148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$36K</a:t>
            </a:r>
            <a:endParaRPr/>
          </a:p>
        </p:txBody>
      </p:sp>
      <p:sp>
        <p:nvSpPr>
          <p:cNvPr id="4880" name="Google Shape;4880;p31"/>
          <p:cNvSpPr txBox="1"/>
          <p:nvPr/>
        </p:nvSpPr>
        <p:spPr>
          <a:xfrm>
            <a:off x="2834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$18K</a:t>
            </a:r>
            <a:endParaRPr/>
          </a:p>
        </p:txBody>
      </p:sp>
      <p:sp>
        <p:nvSpPr>
          <p:cNvPr id="4881" name="Google Shape;4881;p31"/>
          <p:cNvSpPr txBox="1"/>
          <p:nvPr/>
        </p:nvSpPr>
        <p:spPr>
          <a:xfrm>
            <a:off x="3520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$54K</a:t>
            </a:r>
            <a:endParaRPr/>
          </a:p>
        </p:txBody>
      </p:sp>
      <p:sp>
        <p:nvSpPr>
          <p:cNvPr id="4882" name="Google Shape;4882;p31"/>
          <p:cNvSpPr txBox="1"/>
          <p:nvPr/>
        </p:nvSpPr>
        <p:spPr>
          <a:xfrm>
            <a:off x="4206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$-1,438</a:t>
            </a:r>
            <a:endParaRPr/>
          </a:p>
        </p:txBody>
      </p:sp>
      <p:sp>
        <p:nvSpPr>
          <p:cNvPr id="4883" name="Google Shape;4883;p31"/>
          <p:cNvSpPr txBox="1"/>
          <p:nvPr/>
        </p:nvSpPr>
        <p:spPr>
          <a:xfrm>
            <a:off x="4892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$38K</a:t>
            </a:r>
            <a:endParaRPr/>
          </a:p>
        </p:txBody>
      </p:sp>
      <p:sp>
        <p:nvSpPr>
          <p:cNvPr id="4884" name="Google Shape;4884;p31"/>
          <p:cNvSpPr txBox="1"/>
          <p:nvPr/>
        </p:nvSpPr>
        <p:spPr>
          <a:xfrm>
            <a:off x="5577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$-789</a:t>
            </a:r>
            <a:endParaRPr/>
          </a:p>
        </p:txBody>
      </p:sp>
      <p:sp>
        <p:nvSpPr>
          <p:cNvPr id="4885" name="Google Shape;4885;p31"/>
          <p:cNvSpPr txBox="1"/>
          <p:nvPr/>
        </p:nvSpPr>
        <p:spPr>
          <a:xfrm>
            <a:off x="6263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$-3,804</a:t>
            </a:r>
            <a:endParaRPr/>
          </a:p>
        </p:txBody>
      </p:sp>
      <p:sp>
        <p:nvSpPr>
          <p:cNvPr id="4886" name="Google Shape;4886;p31"/>
          <p:cNvSpPr txBox="1"/>
          <p:nvPr/>
        </p:nvSpPr>
        <p:spPr>
          <a:xfrm>
            <a:off x="6949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$78K</a:t>
            </a:r>
            <a:endParaRPr/>
          </a:p>
        </p:txBody>
      </p:sp>
      <p:sp>
        <p:nvSpPr>
          <p:cNvPr id="4887" name="Google Shape;4887;p31"/>
          <p:cNvSpPr txBox="1"/>
          <p:nvPr/>
        </p:nvSpPr>
        <p:spPr>
          <a:xfrm>
            <a:off x="7635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$21K</a:t>
            </a:r>
            <a:endParaRPr/>
          </a:p>
        </p:txBody>
      </p:sp>
      <p:sp>
        <p:nvSpPr>
          <p:cNvPr id="4888" name="Google Shape;4888;p31"/>
          <p:cNvSpPr txBox="1"/>
          <p:nvPr/>
        </p:nvSpPr>
        <p:spPr>
          <a:xfrm>
            <a:off x="8321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$44K</a:t>
            </a:r>
            <a:endParaRPr/>
          </a:p>
        </p:txBody>
      </p:sp>
      <p:sp>
        <p:nvSpPr>
          <p:cNvPr id="4889" name="Google Shape;4889;p31"/>
          <p:cNvSpPr txBox="1"/>
          <p:nvPr/>
        </p:nvSpPr>
        <p:spPr>
          <a:xfrm>
            <a:off x="9006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890" name="Google Shape;4890;p31"/>
          <p:cNvSpPr txBox="1"/>
          <p:nvPr/>
        </p:nvSpPr>
        <p:spPr>
          <a:xfrm>
            <a:off x="969264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$211K</a:t>
            </a:r>
            <a:endParaRPr/>
          </a:p>
        </p:txBody>
      </p:sp>
      <p:sp>
        <p:nvSpPr>
          <p:cNvPr id="4891" name="Google Shape;4891;p31"/>
          <p:cNvSpPr txBox="1"/>
          <p:nvPr/>
        </p:nvSpPr>
        <p:spPr>
          <a:xfrm>
            <a:off x="1088136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$145K</a:t>
            </a:r>
            <a:endParaRPr/>
          </a:p>
        </p:txBody>
      </p:sp>
      <p:sp>
        <p:nvSpPr>
          <p:cNvPr id="4892" name="Google Shape;4892;p31"/>
          <p:cNvSpPr/>
          <p:nvPr/>
        </p:nvSpPr>
        <p:spPr>
          <a:xfrm>
            <a:off x="365760" y="5678423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3" name="Google Shape;4893;p31"/>
          <p:cNvSpPr txBox="1"/>
          <p:nvPr/>
        </p:nvSpPr>
        <p:spPr>
          <a:xfrm>
            <a:off x="4572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65F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STRENGTHS - What's Working</a:t>
            </a:r>
            <a:endParaRPr/>
          </a:p>
        </p:txBody>
      </p:sp>
      <p:sp>
        <p:nvSpPr>
          <p:cNvPr id="4894" name="Google Shape;4894;p31"/>
          <p:cNvSpPr txBox="1"/>
          <p:nvPr/>
        </p:nvSpPr>
        <p:spPr>
          <a:xfrm>
            <a:off x="4572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4895" name="Google Shape;4895;p31"/>
          <p:cNvSpPr txBox="1"/>
          <p:nvPr/>
        </p:nvSpPr>
        <p:spPr>
          <a:xfrm>
            <a:off x="685800" y="5952743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$144,828 YTD gross written premium</a:t>
            </a:r>
            <a:endParaRPr/>
          </a:p>
        </p:txBody>
      </p:sp>
      <p:sp>
        <p:nvSpPr>
          <p:cNvPr id="4896" name="Google Shape;4896;p31"/>
          <p:cNvSpPr txBox="1"/>
          <p:nvPr/>
        </p:nvSpPr>
        <p:spPr>
          <a:xfrm>
            <a:off x="457200" y="6153911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4897" name="Google Shape;4897;p31"/>
          <p:cNvSpPr txBox="1"/>
          <p:nvPr/>
        </p:nvSpPr>
        <p:spPr>
          <a:xfrm>
            <a:off x="685800" y="6153911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$74,487 in new business production</a:t>
            </a:r>
            <a:endParaRPr/>
          </a:p>
        </p:txBody>
      </p:sp>
      <p:sp>
        <p:nvSpPr>
          <p:cNvPr id="4898" name="Google Shape;4898;p31"/>
          <p:cNvSpPr/>
          <p:nvPr/>
        </p:nvSpPr>
        <p:spPr>
          <a:xfrm>
            <a:off x="6309360" y="5678423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9" name="Google Shape;4899;p31"/>
          <p:cNvSpPr txBox="1"/>
          <p:nvPr/>
        </p:nvSpPr>
        <p:spPr>
          <a:xfrm>
            <a:off x="64008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NEEDS ATTENTION</a:t>
            </a:r>
            <a:endParaRPr/>
          </a:p>
        </p:txBody>
      </p:sp>
      <p:sp>
        <p:nvSpPr>
          <p:cNvPr id="4900" name="Google Shape;4900;p31"/>
          <p:cNvSpPr txBox="1"/>
          <p:nvPr/>
        </p:nvSpPr>
        <p:spPr>
          <a:xfrm>
            <a:off x="64008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4901" name="Google Shape;4901;p31"/>
          <p:cNvSpPr txBox="1"/>
          <p:nvPr/>
        </p:nvSpPr>
        <p:spPr>
          <a:xfrm>
            <a:off x="6629400" y="5952743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 at 179% of new business ($133,324)</a:t>
            </a:r>
            <a:endParaRPr/>
          </a:p>
        </p:txBody>
      </p:sp>
      <p:sp>
        <p:nvSpPr>
          <p:cNvPr id="4902" name="Google Shape;4902;p31"/>
          <p:cNvSpPr/>
          <p:nvPr/>
        </p:nvSpPr>
        <p:spPr>
          <a:xfrm>
            <a:off x="365760" y="6455663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3" name="Google Shape;4903;p31"/>
          <p:cNvSpPr txBox="1"/>
          <p:nvPr/>
        </p:nvSpPr>
        <p:spPr>
          <a:xfrm>
            <a:off x="457200" y="6464807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STRATEGIC SALES TIPS - Conversation Starters</a:t>
            </a:r>
            <a:endParaRPr/>
          </a:p>
        </p:txBody>
      </p:sp>
      <p:sp>
        <p:nvSpPr>
          <p:cNvPr id="4904" name="Google Shape;4904;p31"/>
          <p:cNvSpPr txBox="1"/>
          <p:nvPr/>
        </p:nvSpPr>
        <p:spPr>
          <a:xfrm>
            <a:off x="457200" y="6711695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endParaRPr/>
          </a:p>
        </p:txBody>
      </p:sp>
      <p:sp>
        <p:nvSpPr>
          <p:cNvPr id="4905" name="Google Shape;4905;p31"/>
          <p:cNvSpPr txBox="1"/>
          <p:nvPr/>
        </p:nvSpPr>
        <p:spPr>
          <a:xfrm>
            <a:off x="777240" y="6711695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Acknowledge their $74,487 in new business. Ask: "What types of accounts are you seeing the most success with?" Use this to identify more of their book that fits our appetite.</a:t>
            </a:r>
            <a:endParaRPr/>
          </a:p>
        </p:txBody>
      </p:sp>
      <p:sp>
        <p:nvSpPr>
          <p:cNvPr id="4906" name="Google Shape;4906;p31"/>
          <p:cNvSpPr txBox="1"/>
          <p:nvPr/>
        </p:nvSpPr>
        <p:spPr>
          <a:xfrm>
            <a:off x="457200" y="6949439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endParaRPr/>
          </a:p>
        </p:txBody>
      </p:sp>
      <p:sp>
        <p:nvSpPr>
          <p:cNvPr id="4907" name="Google Shape;4907;p31"/>
          <p:cNvSpPr txBox="1"/>
          <p:nvPr/>
        </p:nvSpPr>
        <p:spPr>
          <a:xfrm>
            <a:off x="777240" y="6949439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Address the $133,324 in cancellations. Ask: "Are we losing these to price, service, or coverage?" Proactive retention discussions can protect the book and strengthen the relationship.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11" name="Shape 4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2" name="Google Shape;4912;p3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3" name="Google Shape;4913;p3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Sebanda Franchise #42 - M&amp;o Insurance Agency Llc</a:t>
            </a:r>
            <a:endParaRPr/>
          </a:p>
        </p:txBody>
      </p:sp>
      <p:sp>
        <p:nvSpPr>
          <p:cNvPr id="4914" name="Google Shape;4914;p32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4B5F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Tier: Tier 2  |  Region: Southeast  |  State: FL  |  City: Miami</a:t>
            </a:r>
            <a:endParaRPr/>
          </a:p>
        </p:txBody>
      </p:sp>
      <p:sp>
        <p:nvSpPr>
          <p:cNvPr id="4915" name="Google Shape;4915;p32"/>
          <p:cNvSpPr/>
          <p:nvPr/>
        </p:nvSpPr>
        <p:spPr>
          <a:xfrm>
            <a:off x="22860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$120,520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YTD GWP</a:t>
            </a:r>
            <a:endParaRPr/>
          </a:p>
        </p:txBody>
      </p:sp>
      <p:sp>
        <p:nvSpPr>
          <p:cNvPr id="4916" name="Google Shape;4916;p32"/>
          <p:cNvSpPr/>
          <p:nvPr/>
        </p:nvSpPr>
        <p:spPr>
          <a:xfrm>
            <a:off x="256032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$89,406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4917" name="Google Shape;4917;p32"/>
          <p:cNvSpPr/>
          <p:nvPr/>
        </p:nvSpPr>
        <p:spPr>
          <a:xfrm>
            <a:off x="489204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$550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4918" name="Google Shape;4918;p32"/>
          <p:cNvSpPr/>
          <p:nvPr/>
        </p:nvSpPr>
        <p:spPr>
          <a:xfrm>
            <a:off x="7223759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$30,564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4919" name="Google Shape;4919;p32"/>
          <p:cNvSpPr/>
          <p:nvPr/>
        </p:nvSpPr>
        <p:spPr>
          <a:xfrm>
            <a:off x="955548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$-72,461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4920" name="Google Shape;4920;p32"/>
          <p:cNvSpPr/>
          <p:nvPr/>
        </p:nvSpPr>
        <p:spPr>
          <a:xfrm>
            <a:off x="137160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$375,421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2025 Full Year GWP</a:t>
            </a:r>
            <a:endParaRPr/>
          </a:p>
        </p:txBody>
      </p:sp>
      <p:sp>
        <p:nvSpPr>
          <p:cNvPr id="4921" name="Google Shape;4921;p32"/>
          <p:cNvSpPr/>
          <p:nvPr/>
        </p:nvSpPr>
        <p:spPr>
          <a:xfrm>
            <a:off x="1627631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$315,312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Rolling 12M GWP</a:t>
            </a:r>
            <a:endParaRPr/>
          </a:p>
        </p:txBody>
      </p:sp>
      <p:sp>
        <p:nvSpPr>
          <p:cNvPr id="4922" name="Google Shape;4922;p32"/>
          <p:cNvSpPr/>
          <p:nvPr/>
        </p:nvSpPr>
        <p:spPr>
          <a:xfrm>
            <a:off x="3118103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27%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% to Goal</a:t>
            </a:r>
            <a:endParaRPr/>
          </a:p>
        </p:txBody>
      </p:sp>
      <p:sp>
        <p:nvSpPr>
          <p:cNvPr id="4923" name="Google Shape;4923;p32"/>
          <p:cNvSpPr/>
          <p:nvPr/>
        </p:nvSpPr>
        <p:spPr>
          <a:xfrm>
            <a:off x="4608576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229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4924" name="Google Shape;4924;p32"/>
          <p:cNvSpPr/>
          <p:nvPr/>
        </p:nvSpPr>
        <p:spPr>
          <a:xfrm>
            <a:off x="6099048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4925" name="Google Shape;4925;p32"/>
          <p:cNvSpPr/>
          <p:nvPr/>
        </p:nvSpPr>
        <p:spPr>
          <a:xfrm>
            <a:off x="7589519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3.9%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4926" name="Google Shape;4926;p32"/>
          <p:cNvSpPr/>
          <p:nvPr/>
        </p:nvSpPr>
        <p:spPr>
          <a:xfrm>
            <a:off x="9079992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 Bound Prem</a:t>
            </a:r>
            <a:endParaRPr/>
          </a:p>
        </p:txBody>
      </p:sp>
      <p:sp>
        <p:nvSpPr>
          <p:cNvPr id="4927" name="Google Shape;4927;p32"/>
          <p:cNvSpPr/>
          <p:nvPr/>
        </p:nvSpPr>
        <p:spPr>
          <a:xfrm>
            <a:off x="10570464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$67,242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NF Bound Prem</a:t>
            </a:r>
            <a:endParaRPr/>
          </a:p>
        </p:txBody>
      </p:sp>
      <p:sp>
        <p:nvSpPr>
          <p:cNvPr id="4928" name="Google Shape;4928;p32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9" name="Google Shape;4929;p32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PRODUCTION BY MONTH</a:t>
            </a:r>
            <a:endParaRPr/>
          </a:p>
        </p:txBody>
      </p:sp>
      <p:sp>
        <p:nvSpPr>
          <p:cNvPr id="4930" name="Google Shape;4930;p32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4931" name="Google Shape;4931;p32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Written Premium</a:t>
            </a:r>
            <a:endParaRPr/>
          </a:p>
        </p:txBody>
      </p:sp>
      <p:sp>
        <p:nvSpPr>
          <p:cNvPr id="4932" name="Google Shape;4932;p32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4933" name="Google Shape;4933;p3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4934" name="Google Shape;4934;p32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4935" name="Google Shape;4935;p32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4936" name="Google Shape;4936;p32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7" name="Google Shape;4937;p32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4938" name="Google Shape;4938;p32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$2,767</a:t>
            </a:r>
            <a:endParaRPr/>
          </a:p>
        </p:txBody>
      </p:sp>
      <p:sp>
        <p:nvSpPr>
          <p:cNvPr id="4939" name="Google Shape;4939;p32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$2,767</a:t>
            </a:r>
            <a:endParaRPr/>
          </a:p>
        </p:txBody>
      </p:sp>
      <p:sp>
        <p:nvSpPr>
          <p:cNvPr id="4940" name="Google Shape;4940;p32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941" name="Google Shape;4941;p32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942" name="Google Shape;4942;p32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$-2,245</a:t>
            </a:r>
            <a:endParaRPr/>
          </a:p>
        </p:txBody>
      </p:sp>
      <p:sp>
        <p:nvSpPr>
          <p:cNvPr id="4943" name="Google Shape;4943;p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4" name="Google Shape;4944;p32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4945" name="Google Shape;4945;p32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$949</a:t>
            </a:r>
            <a:endParaRPr/>
          </a:p>
        </p:txBody>
      </p:sp>
      <p:sp>
        <p:nvSpPr>
          <p:cNvPr id="4946" name="Google Shape;4946;p32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$949</a:t>
            </a:r>
            <a:endParaRPr/>
          </a:p>
        </p:txBody>
      </p:sp>
      <p:sp>
        <p:nvSpPr>
          <p:cNvPr id="4947" name="Google Shape;4947;p32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948" name="Google Shape;4948;p32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949" name="Google Shape;4949;p32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$-4,741</a:t>
            </a:r>
            <a:endParaRPr/>
          </a:p>
        </p:txBody>
      </p:sp>
      <p:sp>
        <p:nvSpPr>
          <p:cNvPr id="4950" name="Google Shape;4950;p32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1" name="Google Shape;4951;p32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4952" name="Google Shape;4952;p32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$23,309</a:t>
            </a:r>
            <a:endParaRPr/>
          </a:p>
        </p:txBody>
      </p:sp>
      <p:sp>
        <p:nvSpPr>
          <p:cNvPr id="4953" name="Google Shape;4953;p3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$16,802</a:t>
            </a:r>
            <a:endParaRPr/>
          </a:p>
        </p:txBody>
      </p:sp>
      <p:sp>
        <p:nvSpPr>
          <p:cNvPr id="4954" name="Google Shape;4954;p32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955" name="Google Shape;4955;p32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$6,507</a:t>
            </a:r>
            <a:endParaRPr/>
          </a:p>
        </p:txBody>
      </p:sp>
      <p:sp>
        <p:nvSpPr>
          <p:cNvPr id="4956" name="Google Shape;4956;p32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$-24,725</a:t>
            </a:r>
            <a:endParaRPr/>
          </a:p>
        </p:txBody>
      </p:sp>
      <p:sp>
        <p:nvSpPr>
          <p:cNvPr id="4957" name="Google Shape;4957;p32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8" name="Google Shape;4958;p32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4959" name="Google Shape;4959;p32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$93,495</a:t>
            </a:r>
            <a:endParaRPr/>
          </a:p>
        </p:txBody>
      </p:sp>
      <p:sp>
        <p:nvSpPr>
          <p:cNvPr id="4960" name="Google Shape;4960;p32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$68,888</a:t>
            </a:r>
            <a:endParaRPr/>
          </a:p>
        </p:txBody>
      </p:sp>
      <p:sp>
        <p:nvSpPr>
          <p:cNvPr id="4961" name="Google Shape;4961;p32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$550</a:t>
            </a:r>
            <a:endParaRPr/>
          </a:p>
        </p:txBody>
      </p:sp>
      <p:sp>
        <p:nvSpPr>
          <p:cNvPr id="4962" name="Google Shape;4962;p32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$24,057</a:t>
            </a:r>
            <a:endParaRPr/>
          </a:p>
        </p:txBody>
      </p:sp>
      <p:sp>
        <p:nvSpPr>
          <p:cNvPr id="4963" name="Google Shape;4963;p3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$-40,750</a:t>
            </a:r>
            <a:endParaRPr/>
          </a:p>
        </p:txBody>
      </p:sp>
      <p:sp>
        <p:nvSpPr>
          <p:cNvPr id="4964" name="Google Shape;4964;p32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5" name="Google Shape;4965;p32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4966" name="Google Shape;4966;p32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967" name="Google Shape;4967;p32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968" name="Google Shape;4968;p32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969" name="Google Shape;4969;p32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970" name="Google Shape;4970;p32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971" name="Google Shape;4971;p32"/>
          <p:cNvSpPr/>
          <p:nvPr/>
        </p:nvSpPr>
        <p:spPr>
          <a:xfrm>
            <a:off x="365760" y="4123944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2" name="Google Shape;4972;p32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4973" name="Google Shape;4973;p3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974" name="Google Shape;4974;p32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975" name="Google Shape;4975;p32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976" name="Google Shape;4976;p32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977" name="Google Shape;4977;p32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4978" name="Google Shape;4978;p32"/>
          <p:cNvSpPr/>
          <p:nvPr/>
        </p:nvSpPr>
        <p:spPr>
          <a:xfrm>
            <a:off x="365760" y="4425696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9" name="Google Shape;4979;p32"/>
          <p:cNvSpPr txBox="1"/>
          <p:nvPr/>
        </p:nvSpPr>
        <p:spPr>
          <a:xfrm>
            <a:off x="3657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4980" name="Google Shape;4980;p32"/>
          <p:cNvSpPr txBox="1"/>
          <p:nvPr/>
        </p:nvSpPr>
        <p:spPr>
          <a:xfrm>
            <a:off x="1280160" y="446227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$120,520</a:t>
            </a:r>
            <a:endParaRPr/>
          </a:p>
        </p:txBody>
      </p:sp>
      <p:sp>
        <p:nvSpPr>
          <p:cNvPr id="4981" name="Google Shape;4981;p32"/>
          <p:cNvSpPr txBox="1"/>
          <p:nvPr/>
        </p:nvSpPr>
        <p:spPr>
          <a:xfrm>
            <a:off x="2377439" y="446227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$89,406</a:t>
            </a:r>
            <a:endParaRPr/>
          </a:p>
        </p:txBody>
      </p:sp>
      <p:sp>
        <p:nvSpPr>
          <p:cNvPr id="4982" name="Google Shape;4982;p32"/>
          <p:cNvSpPr txBox="1"/>
          <p:nvPr/>
        </p:nvSpPr>
        <p:spPr>
          <a:xfrm>
            <a:off x="33832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$550</a:t>
            </a:r>
            <a:endParaRPr/>
          </a:p>
        </p:txBody>
      </p:sp>
      <p:sp>
        <p:nvSpPr>
          <p:cNvPr id="4983" name="Google Shape;4983;p32"/>
          <p:cNvSpPr txBox="1"/>
          <p:nvPr/>
        </p:nvSpPr>
        <p:spPr>
          <a:xfrm>
            <a:off x="42976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$30,564</a:t>
            </a:r>
            <a:endParaRPr/>
          </a:p>
        </p:txBody>
      </p:sp>
      <p:sp>
        <p:nvSpPr>
          <p:cNvPr id="4984" name="Google Shape;4984;p32"/>
          <p:cNvSpPr txBox="1"/>
          <p:nvPr/>
        </p:nvSpPr>
        <p:spPr>
          <a:xfrm>
            <a:off x="52120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$-72,461</a:t>
            </a:r>
            <a:endParaRPr/>
          </a:p>
        </p:txBody>
      </p:sp>
      <p:sp>
        <p:nvSpPr>
          <p:cNvPr id="4985" name="Google Shape;4985;p32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6" name="Google Shape;4986;p32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 &amp; PIPELINE</a:t>
            </a:r>
            <a:endParaRPr/>
          </a:p>
        </p:txBody>
      </p:sp>
      <p:sp>
        <p:nvSpPr>
          <p:cNvPr id="4987" name="Google Shape;4987;p32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4988" name="Google Shape;4988;p32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Subs</a:t>
            </a:r>
            <a:endParaRPr/>
          </a:p>
        </p:txBody>
      </p:sp>
      <p:sp>
        <p:nvSpPr>
          <p:cNvPr id="4989" name="Google Shape;4989;p32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</a:t>
            </a:r>
            <a:endParaRPr/>
          </a:p>
        </p:txBody>
      </p:sp>
      <p:sp>
        <p:nvSpPr>
          <p:cNvPr id="4990" name="Google Shape;4990;p3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Non-Fleet</a:t>
            </a:r>
            <a:endParaRPr/>
          </a:p>
        </p:txBody>
      </p:sp>
      <p:sp>
        <p:nvSpPr>
          <p:cNvPr id="4991" name="Google Shape;4991;p32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4992" name="Google Shape;4992;p32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4993" name="Google Shape;4993;p32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4" name="Google Shape;4994;p32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4995" name="Google Shape;4995;p32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47</a:t>
            </a:r>
            <a:endParaRPr/>
          </a:p>
        </p:txBody>
      </p:sp>
      <p:sp>
        <p:nvSpPr>
          <p:cNvPr id="4996" name="Google Shape;4996;p32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4997" name="Google Shape;4997;p32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45</a:t>
            </a:r>
            <a:endParaRPr/>
          </a:p>
        </p:txBody>
      </p:sp>
      <p:sp>
        <p:nvSpPr>
          <p:cNvPr id="4998" name="Google Shape;4998;p32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4999" name="Google Shape;4999;p32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6.4%</a:t>
            </a:r>
            <a:endParaRPr/>
          </a:p>
        </p:txBody>
      </p:sp>
      <p:sp>
        <p:nvSpPr>
          <p:cNvPr id="5000" name="Google Shape;5000;p3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1" name="Google Shape;5001;p32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5002" name="Google Shape;5002;p32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60</a:t>
            </a:r>
            <a:endParaRPr/>
          </a:p>
        </p:txBody>
      </p:sp>
      <p:sp>
        <p:nvSpPr>
          <p:cNvPr id="5003" name="Google Shape;5003;p32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/>
          </a:p>
        </p:txBody>
      </p:sp>
      <p:sp>
        <p:nvSpPr>
          <p:cNvPr id="5004" name="Google Shape;5004;p32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54</a:t>
            </a:r>
            <a:endParaRPr/>
          </a:p>
        </p:txBody>
      </p:sp>
      <p:sp>
        <p:nvSpPr>
          <p:cNvPr id="5005" name="Google Shape;5005;p32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5006" name="Google Shape;5006;p32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1.7%</a:t>
            </a:r>
            <a:endParaRPr/>
          </a:p>
        </p:txBody>
      </p:sp>
      <p:sp>
        <p:nvSpPr>
          <p:cNvPr id="5007" name="Google Shape;5007;p32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8" name="Google Shape;5008;p32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5009" name="Google Shape;5009;p32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36</a:t>
            </a:r>
            <a:endParaRPr/>
          </a:p>
        </p:txBody>
      </p:sp>
      <p:sp>
        <p:nvSpPr>
          <p:cNvPr id="5010" name="Google Shape;5010;p3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5011" name="Google Shape;5011;p32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35</a:t>
            </a:r>
            <a:endParaRPr/>
          </a:p>
        </p:txBody>
      </p:sp>
      <p:sp>
        <p:nvSpPr>
          <p:cNvPr id="5012" name="Google Shape;5012;p32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5013" name="Google Shape;5013;p32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13.9%</a:t>
            </a:r>
            <a:endParaRPr/>
          </a:p>
        </p:txBody>
      </p:sp>
      <p:sp>
        <p:nvSpPr>
          <p:cNvPr id="5014" name="Google Shape;5014;p32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5" name="Google Shape;5015;p32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5016" name="Google Shape;5016;p32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38</a:t>
            </a:r>
            <a:endParaRPr/>
          </a:p>
        </p:txBody>
      </p:sp>
      <p:sp>
        <p:nvSpPr>
          <p:cNvPr id="5017" name="Google Shape;5017;p32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5018" name="Google Shape;5018;p32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38</a:t>
            </a:r>
            <a:endParaRPr/>
          </a:p>
        </p:txBody>
      </p:sp>
      <p:sp>
        <p:nvSpPr>
          <p:cNvPr id="5019" name="Google Shape;5019;p32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5020" name="Google Shape;5020;p3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7.9%</a:t>
            </a:r>
            <a:endParaRPr/>
          </a:p>
        </p:txBody>
      </p:sp>
      <p:sp>
        <p:nvSpPr>
          <p:cNvPr id="5021" name="Google Shape;5021;p32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2" name="Google Shape;5022;p32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5023" name="Google Shape;5023;p32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60</a:t>
            </a:r>
            <a:endParaRPr/>
          </a:p>
        </p:txBody>
      </p:sp>
      <p:sp>
        <p:nvSpPr>
          <p:cNvPr id="5024" name="Google Shape;5024;p32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5025" name="Google Shape;5025;p32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57</a:t>
            </a:r>
            <a:endParaRPr/>
          </a:p>
        </p:txBody>
      </p:sp>
      <p:sp>
        <p:nvSpPr>
          <p:cNvPr id="5026" name="Google Shape;5026;p32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5027" name="Google Shape;5027;p32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1.7%</a:t>
            </a:r>
            <a:endParaRPr/>
          </a:p>
        </p:txBody>
      </p:sp>
      <p:sp>
        <p:nvSpPr>
          <p:cNvPr id="5028" name="Google Shape;5028;p32"/>
          <p:cNvSpPr/>
          <p:nvPr/>
        </p:nvSpPr>
        <p:spPr>
          <a:xfrm>
            <a:off x="6309360" y="4123944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9" name="Google Shape;5029;p32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5030" name="Google Shape;5030;p3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5031" name="Google Shape;5031;p32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5032" name="Google Shape;5032;p32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5033" name="Google Shape;5033;p32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5034" name="Google Shape;5034;p32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5035" name="Google Shape;5035;p32"/>
          <p:cNvSpPr/>
          <p:nvPr/>
        </p:nvSpPr>
        <p:spPr>
          <a:xfrm>
            <a:off x="6309360" y="4425696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6" name="Google Shape;5036;p32"/>
          <p:cNvSpPr txBox="1"/>
          <p:nvPr/>
        </p:nvSpPr>
        <p:spPr>
          <a:xfrm>
            <a:off x="63093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5037" name="Google Shape;5037;p32"/>
          <p:cNvSpPr txBox="1"/>
          <p:nvPr/>
        </p:nvSpPr>
        <p:spPr>
          <a:xfrm>
            <a:off x="722376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229</a:t>
            </a:r>
            <a:endParaRPr/>
          </a:p>
        </p:txBody>
      </p:sp>
      <p:sp>
        <p:nvSpPr>
          <p:cNvPr id="5038" name="Google Shape;5038;p32"/>
          <p:cNvSpPr txBox="1"/>
          <p:nvPr/>
        </p:nvSpPr>
        <p:spPr>
          <a:xfrm>
            <a:off x="804672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</a:t>
            </a:r>
            <a:endParaRPr/>
          </a:p>
        </p:txBody>
      </p:sp>
      <p:sp>
        <p:nvSpPr>
          <p:cNvPr id="5039" name="Google Shape;5039;p32"/>
          <p:cNvSpPr txBox="1"/>
          <p:nvPr/>
        </p:nvSpPr>
        <p:spPr>
          <a:xfrm>
            <a:off x="886968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218</a:t>
            </a:r>
            <a:endParaRPr/>
          </a:p>
        </p:txBody>
      </p:sp>
      <p:sp>
        <p:nvSpPr>
          <p:cNvPr id="5040" name="Google Shape;5040;p32"/>
          <p:cNvSpPr txBox="1"/>
          <p:nvPr/>
        </p:nvSpPr>
        <p:spPr>
          <a:xfrm>
            <a:off x="978408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</a:t>
            </a:r>
            <a:endParaRPr/>
          </a:p>
        </p:txBody>
      </p:sp>
      <p:sp>
        <p:nvSpPr>
          <p:cNvPr id="5041" name="Google Shape;5041;p32"/>
          <p:cNvSpPr txBox="1"/>
          <p:nvPr/>
        </p:nvSpPr>
        <p:spPr>
          <a:xfrm>
            <a:off x="1060704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3.9%</a:t>
            </a:r>
            <a:endParaRPr/>
          </a:p>
        </p:txBody>
      </p:sp>
      <p:sp>
        <p:nvSpPr>
          <p:cNvPr id="5042" name="Google Shape;5042;p32"/>
          <p:cNvSpPr/>
          <p:nvPr/>
        </p:nvSpPr>
        <p:spPr>
          <a:xfrm>
            <a:off x="365760" y="4782312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3" name="Google Shape;5043;p32"/>
          <p:cNvSpPr txBox="1"/>
          <p:nvPr/>
        </p:nvSpPr>
        <p:spPr>
          <a:xfrm>
            <a:off x="457200" y="4800599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YOY COMPARISON — Jan–Jun 2025 vs Jan–Jun 2026</a:t>
            </a:r>
            <a:endParaRPr/>
          </a:p>
        </p:txBody>
      </p:sp>
      <p:sp>
        <p:nvSpPr>
          <p:cNvPr id="5044" name="Google Shape;5044;p32"/>
          <p:cNvSpPr txBox="1"/>
          <p:nvPr/>
        </p:nvSpPr>
        <p:spPr>
          <a:xfrm>
            <a:off x="365760" y="5056631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00" u="none" cap="none" strike="noStrike">
              <a:solidFill>
                <a:srgbClr val="6B728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045" name="Google Shape;5045;p32"/>
          <p:cNvSpPr txBox="1"/>
          <p:nvPr/>
        </p:nvSpPr>
        <p:spPr>
          <a:xfrm>
            <a:off x="1463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'25</a:t>
            </a:r>
            <a:endParaRPr/>
          </a:p>
        </p:txBody>
      </p:sp>
      <p:sp>
        <p:nvSpPr>
          <p:cNvPr id="5046" name="Google Shape;5046;p32"/>
          <p:cNvSpPr txBox="1"/>
          <p:nvPr/>
        </p:nvSpPr>
        <p:spPr>
          <a:xfrm>
            <a:off x="2148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'26</a:t>
            </a:r>
            <a:endParaRPr/>
          </a:p>
        </p:txBody>
      </p:sp>
      <p:sp>
        <p:nvSpPr>
          <p:cNvPr id="5047" name="Google Shape;5047;p32"/>
          <p:cNvSpPr txBox="1"/>
          <p:nvPr/>
        </p:nvSpPr>
        <p:spPr>
          <a:xfrm>
            <a:off x="2834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'25</a:t>
            </a:r>
            <a:endParaRPr/>
          </a:p>
        </p:txBody>
      </p:sp>
      <p:sp>
        <p:nvSpPr>
          <p:cNvPr id="5048" name="Google Shape;5048;p32"/>
          <p:cNvSpPr txBox="1"/>
          <p:nvPr/>
        </p:nvSpPr>
        <p:spPr>
          <a:xfrm>
            <a:off x="3520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'26</a:t>
            </a:r>
            <a:endParaRPr/>
          </a:p>
        </p:txBody>
      </p:sp>
      <p:sp>
        <p:nvSpPr>
          <p:cNvPr id="5049" name="Google Shape;5049;p32"/>
          <p:cNvSpPr txBox="1"/>
          <p:nvPr/>
        </p:nvSpPr>
        <p:spPr>
          <a:xfrm>
            <a:off x="4206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'25</a:t>
            </a:r>
            <a:endParaRPr/>
          </a:p>
        </p:txBody>
      </p:sp>
      <p:sp>
        <p:nvSpPr>
          <p:cNvPr id="5050" name="Google Shape;5050;p32"/>
          <p:cNvSpPr txBox="1"/>
          <p:nvPr/>
        </p:nvSpPr>
        <p:spPr>
          <a:xfrm>
            <a:off x="4892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'26</a:t>
            </a:r>
            <a:endParaRPr/>
          </a:p>
        </p:txBody>
      </p:sp>
      <p:sp>
        <p:nvSpPr>
          <p:cNvPr id="5051" name="Google Shape;5051;p32"/>
          <p:cNvSpPr txBox="1"/>
          <p:nvPr/>
        </p:nvSpPr>
        <p:spPr>
          <a:xfrm>
            <a:off x="5577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'25</a:t>
            </a:r>
            <a:endParaRPr/>
          </a:p>
        </p:txBody>
      </p:sp>
      <p:sp>
        <p:nvSpPr>
          <p:cNvPr id="5052" name="Google Shape;5052;p32"/>
          <p:cNvSpPr txBox="1"/>
          <p:nvPr/>
        </p:nvSpPr>
        <p:spPr>
          <a:xfrm>
            <a:off x="6263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'26</a:t>
            </a:r>
            <a:endParaRPr/>
          </a:p>
        </p:txBody>
      </p:sp>
      <p:sp>
        <p:nvSpPr>
          <p:cNvPr id="5053" name="Google Shape;5053;p32"/>
          <p:cNvSpPr txBox="1"/>
          <p:nvPr/>
        </p:nvSpPr>
        <p:spPr>
          <a:xfrm>
            <a:off x="6949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'25</a:t>
            </a:r>
            <a:endParaRPr/>
          </a:p>
        </p:txBody>
      </p:sp>
      <p:sp>
        <p:nvSpPr>
          <p:cNvPr id="5054" name="Google Shape;5054;p32"/>
          <p:cNvSpPr txBox="1"/>
          <p:nvPr/>
        </p:nvSpPr>
        <p:spPr>
          <a:xfrm>
            <a:off x="7635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'26</a:t>
            </a:r>
            <a:endParaRPr/>
          </a:p>
        </p:txBody>
      </p:sp>
      <p:sp>
        <p:nvSpPr>
          <p:cNvPr id="5055" name="Google Shape;5055;p32"/>
          <p:cNvSpPr txBox="1"/>
          <p:nvPr/>
        </p:nvSpPr>
        <p:spPr>
          <a:xfrm>
            <a:off x="8321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'25</a:t>
            </a:r>
            <a:endParaRPr/>
          </a:p>
        </p:txBody>
      </p:sp>
      <p:sp>
        <p:nvSpPr>
          <p:cNvPr id="5056" name="Google Shape;5056;p32"/>
          <p:cNvSpPr txBox="1"/>
          <p:nvPr/>
        </p:nvSpPr>
        <p:spPr>
          <a:xfrm>
            <a:off x="9006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'26</a:t>
            </a:r>
            <a:endParaRPr/>
          </a:p>
        </p:txBody>
      </p:sp>
      <p:sp>
        <p:nvSpPr>
          <p:cNvPr id="5057" name="Google Shape;5057;p32"/>
          <p:cNvSpPr txBox="1"/>
          <p:nvPr/>
        </p:nvSpPr>
        <p:spPr>
          <a:xfrm>
            <a:off x="969264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'25 Tot</a:t>
            </a:r>
            <a:endParaRPr/>
          </a:p>
        </p:txBody>
      </p:sp>
      <p:sp>
        <p:nvSpPr>
          <p:cNvPr id="5058" name="Google Shape;5058;p32"/>
          <p:cNvSpPr txBox="1"/>
          <p:nvPr/>
        </p:nvSpPr>
        <p:spPr>
          <a:xfrm>
            <a:off x="1088136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'26 Tot</a:t>
            </a:r>
            <a:endParaRPr/>
          </a:p>
        </p:txBody>
      </p:sp>
      <p:sp>
        <p:nvSpPr>
          <p:cNvPr id="5059" name="Google Shape;5059;p32"/>
          <p:cNvSpPr txBox="1"/>
          <p:nvPr/>
        </p:nvSpPr>
        <p:spPr>
          <a:xfrm>
            <a:off x="365760" y="523951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5060" name="Google Shape;5060;p32"/>
          <p:cNvSpPr txBox="1"/>
          <p:nvPr/>
        </p:nvSpPr>
        <p:spPr>
          <a:xfrm>
            <a:off x="1463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57</a:t>
            </a:r>
            <a:endParaRPr/>
          </a:p>
        </p:txBody>
      </p:sp>
      <p:sp>
        <p:nvSpPr>
          <p:cNvPr id="5061" name="Google Shape;5061;p32"/>
          <p:cNvSpPr txBox="1"/>
          <p:nvPr/>
        </p:nvSpPr>
        <p:spPr>
          <a:xfrm>
            <a:off x="2148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47</a:t>
            </a:r>
            <a:endParaRPr/>
          </a:p>
        </p:txBody>
      </p:sp>
      <p:sp>
        <p:nvSpPr>
          <p:cNvPr id="5062" name="Google Shape;5062;p32"/>
          <p:cNvSpPr txBox="1"/>
          <p:nvPr/>
        </p:nvSpPr>
        <p:spPr>
          <a:xfrm>
            <a:off x="2834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43</a:t>
            </a:r>
            <a:endParaRPr/>
          </a:p>
        </p:txBody>
      </p:sp>
      <p:sp>
        <p:nvSpPr>
          <p:cNvPr id="5063" name="Google Shape;5063;p32"/>
          <p:cNvSpPr txBox="1"/>
          <p:nvPr/>
        </p:nvSpPr>
        <p:spPr>
          <a:xfrm>
            <a:off x="3520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60</a:t>
            </a:r>
            <a:endParaRPr/>
          </a:p>
        </p:txBody>
      </p:sp>
      <p:sp>
        <p:nvSpPr>
          <p:cNvPr id="5064" name="Google Shape;5064;p32"/>
          <p:cNvSpPr txBox="1"/>
          <p:nvPr/>
        </p:nvSpPr>
        <p:spPr>
          <a:xfrm>
            <a:off x="4206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54</a:t>
            </a:r>
            <a:endParaRPr/>
          </a:p>
        </p:txBody>
      </p:sp>
      <p:sp>
        <p:nvSpPr>
          <p:cNvPr id="5065" name="Google Shape;5065;p32"/>
          <p:cNvSpPr txBox="1"/>
          <p:nvPr/>
        </p:nvSpPr>
        <p:spPr>
          <a:xfrm>
            <a:off x="4892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36</a:t>
            </a:r>
            <a:endParaRPr/>
          </a:p>
        </p:txBody>
      </p:sp>
      <p:sp>
        <p:nvSpPr>
          <p:cNvPr id="5066" name="Google Shape;5066;p32"/>
          <p:cNvSpPr txBox="1"/>
          <p:nvPr/>
        </p:nvSpPr>
        <p:spPr>
          <a:xfrm>
            <a:off x="5577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42</a:t>
            </a:r>
            <a:endParaRPr/>
          </a:p>
        </p:txBody>
      </p:sp>
      <p:sp>
        <p:nvSpPr>
          <p:cNvPr id="5067" name="Google Shape;5067;p32"/>
          <p:cNvSpPr txBox="1"/>
          <p:nvPr/>
        </p:nvSpPr>
        <p:spPr>
          <a:xfrm>
            <a:off x="6263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38</a:t>
            </a:r>
            <a:endParaRPr/>
          </a:p>
        </p:txBody>
      </p:sp>
      <p:sp>
        <p:nvSpPr>
          <p:cNvPr id="5068" name="Google Shape;5068;p32"/>
          <p:cNvSpPr txBox="1"/>
          <p:nvPr/>
        </p:nvSpPr>
        <p:spPr>
          <a:xfrm>
            <a:off x="6949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74</a:t>
            </a:r>
            <a:endParaRPr/>
          </a:p>
        </p:txBody>
      </p:sp>
      <p:sp>
        <p:nvSpPr>
          <p:cNvPr id="5069" name="Google Shape;5069;p32"/>
          <p:cNvSpPr txBox="1"/>
          <p:nvPr/>
        </p:nvSpPr>
        <p:spPr>
          <a:xfrm>
            <a:off x="7635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60</a:t>
            </a:r>
            <a:endParaRPr/>
          </a:p>
        </p:txBody>
      </p:sp>
      <p:sp>
        <p:nvSpPr>
          <p:cNvPr id="5070" name="Google Shape;5070;p32"/>
          <p:cNvSpPr txBox="1"/>
          <p:nvPr/>
        </p:nvSpPr>
        <p:spPr>
          <a:xfrm>
            <a:off x="8321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82</a:t>
            </a:r>
            <a:endParaRPr/>
          </a:p>
        </p:txBody>
      </p:sp>
      <p:sp>
        <p:nvSpPr>
          <p:cNvPr id="5071" name="Google Shape;5071;p32"/>
          <p:cNvSpPr txBox="1"/>
          <p:nvPr/>
        </p:nvSpPr>
        <p:spPr>
          <a:xfrm>
            <a:off x="9006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5072" name="Google Shape;5072;p32"/>
          <p:cNvSpPr txBox="1"/>
          <p:nvPr/>
        </p:nvSpPr>
        <p:spPr>
          <a:xfrm>
            <a:off x="969264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352</a:t>
            </a:r>
            <a:endParaRPr/>
          </a:p>
        </p:txBody>
      </p:sp>
      <p:sp>
        <p:nvSpPr>
          <p:cNvPr id="5073" name="Google Shape;5073;p32"/>
          <p:cNvSpPr txBox="1"/>
          <p:nvPr/>
        </p:nvSpPr>
        <p:spPr>
          <a:xfrm>
            <a:off x="1088136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241</a:t>
            </a:r>
            <a:endParaRPr/>
          </a:p>
        </p:txBody>
      </p:sp>
      <p:sp>
        <p:nvSpPr>
          <p:cNvPr id="5074" name="Google Shape;5074;p32"/>
          <p:cNvSpPr txBox="1"/>
          <p:nvPr/>
        </p:nvSpPr>
        <p:spPr>
          <a:xfrm>
            <a:off x="365760" y="542239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Bound Premium</a:t>
            </a:r>
            <a:endParaRPr/>
          </a:p>
        </p:txBody>
      </p:sp>
      <p:sp>
        <p:nvSpPr>
          <p:cNvPr id="5075" name="Google Shape;5075;p32"/>
          <p:cNvSpPr txBox="1"/>
          <p:nvPr/>
        </p:nvSpPr>
        <p:spPr>
          <a:xfrm>
            <a:off x="1463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$5K</a:t>
            </a:r>
            <a:endParaRPr/>
          </a:p>
        </p:txBody>
      </p:sp>
      <p:sp>
        <p:nvSpPr>
          <p:cNvPr id="5076" name="Google Shape;5076;p32"/>
          <p:cNvSpPr txBox="1"/>
          <p:nvPr/>
        </p:nvSpPr>
        <p:spPr>
          <a:xfrm>
            <a:off x="2148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$3K</a:t>
            </a:r>
            <a:endParaRPr/>
          </a:p>
        </p:txBody>
      </p:sp>
      <p:sp>
        <p:nvSpPr>
          <p:cNvPr id="5077" name="Google Shape;5077;p32"/>
          <p:cNvSpPr txBox="1"/>
          <p:nvPr/>
        </p:nvSpPr>
        <p:spPr>
          <a:xfrm>
            <a:off x="2834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$36K</a:t>
            </a:r>
            <a:endParaRPr/>
          </a:p>
        </p:txBody>
      </p:sp>
      <p:sp>
        <p:nvSpPr>
          <p:cNvPr id="5078" name="Google Shape;5078;p32"/>
          <p:cNvSpPr txBox="1"/>
          <p:nvPr/>
        </p:nvSpPr>
        <p:spPr>
          <a:xfrm>
            <a:off x="3520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$949</a:t>
            </a:r>
            <a:endParaRPr/>
          </a:p>
        </p:txBody>
      </p:sp>
      <p:sp>
        <p:nvSpPr>
          <p:cNvPr id="5079" name="Google Shape;5079;p32"/>
          <p:cNvSpPr txBox="1"/>
          <p:nvPr/>
        </p:nvSpPr>
        <p:spPr>
          <a:xfrm>
            <a:off x="4206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$35K</a:t>
            </a:r>
            <a:endParaRPr/>
          </a:p>
        </p:txBody>
      </p:sp>
      <p:sp>
        <p:nvSpPr>
          <p:cNvPr id="5080" name="Google Shape;5080;p32"/>
          <p:cNvSpPr txBox="1"/>
          <p:nvPr/>
        </p:nvSpPr>
        <p:spPr>
          <a:xfrm>
            <a:off x="4892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$23K</a:t>
            </a:r>
            <a:endParaRPr/>
          </a:p>
        </p:txBody>
      </p:sp>
      <p:sp>
        <p:nvSpPr>
          <p:cNvPr id="5081" name="Google Shape;5081;p32"/>
          <p:cNvSpPr txBox="1"/>
          <p:nvPr/>
        </p:nvSpPr>
        <p:spPr>
          <a:xfrm>
            <a:off x="5577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$38K</a:t>
            </a:r>
            <a:endParaRPr/>
          </a:p>
        </p:txBody>
      </p:sp>
      <p:sp>
        <p:nvSpPr>
          <p:cNvPr id="5082" name="Google Shape;5082;p32"/>
          <p:cNvSpPr txBox="1"/>
          <p:nvPr/>
        </p:nvSpPr>
        <p:spPr>
          <a:xfrm>
            <a:off x="6263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$93K</a:t>
            </a:r>
            <a:endParaRPr/>
          </a:p>
        </p:txBody>
      </p:sp>
      <p:sp>
        <p:nvSpPr>
          <p:cNvPr id="5083" name="Google Shape;5083;p32"/>
          <p:cNvSpPr txBox="1"/>
          <p:nvPr/>
        </p:nvSpPr>
        <p:spPr>
          <a:xfrm>
            <a:off x="6949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$47K</a:t>
            </a:r>
            <a:endParaRPr/>
          </a:p>
        </p:txBody>
      </p:sp>
      <p:sp>
        <p:nvSpPr>
          <p:cNvPr id="5084" name="Google Shape;5084;p32"/>
          <p:cNvSpPr txBox="1"/>
          <p:nvPr/>
        </p:nvSpPr>
        <p:spPr>
          <a:xfrm>
            <a:off x="7635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085" name="Google Shape;5085;p32"/>
          <p:cNvSpPr txBox="1"/>
          <p:nvPr/>
        </p:nvSpPr>
        <p:spPr>
          <a:xfrm>
            <a:off x="8321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$19K</a:t>
            </a:r>
            <a:endParaRPr/>
          </a:p>
        </p:txBody>
      </p:sp>
      <p:sp>
        <p:nvSpPr>
          <p:cNvPr id="5086" name="Google Shape;5086;p32"/>
          <p:cNvSpPr txBox="1"/>
          <p:nvPr/>
        </p:nvSpPr>
        <p:spPr>
          <a:xfrm>
            <a:off x="9006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087" name="Google Shape;5087;p32"/>
          <p:cNvSpPr txBox="1"/>
          <p:nvPr/>
        </p:nvSpPr>
        <p:spPr>
          <a:xfrm>
            <a:off x="969264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$181K</a:t>
            </a:r>
            <a:endParaRPr/>
          </a:p>
        </p:txBody>
      </p:sp>
      <p:sp>
        <p:nvSpPr>
          <p:cNvPr id="5088" name="Google Shape;5088;p32"/>
          <p:cNvSpPr txBox="1"/>
          <p:nvPr/>
        </p:nvSpPr>
        <p:spPr>
          <a:xfrm>
            <a:off x="1088136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$121K</a:t>
            </a:r>
            <a:endParaRPr/>
          </a:p>
        </p:txBody>
      </p:sp>
      <p:sp>
        <p:nvSpPr>
          <p:cNvPr id="5089" name="Google Shape;5089;p32"/>
          <p:cNvSpPr/>
          <p:nvPr/>
        </p:nvSpPr>
        <p:spPr>
          <a:xfrm>
            <a:off x="365760" y="5678423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0" name="Google Shape;5090;p32"/>
          <p:cNvSpPr txBox="1"/>
          <p:nvPr/>
        </p:nvSpPr>
        <p:spPr>
          <a:xfrm>
            <a:off x="4572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65F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STRENGTHS - What's Working</a:t>
            </a:r>
            <a:endParaRPr/>
          </a:p>
        </p:txBody>
      </p:sp>
      <p:sp>
        <p:nvSpPr>
          <p:cNvPr id="5091" name="Google Shape;5091;p32"/>
          <p:cNvSpPr txBox="1"/>
          <p:nvPr/>
        </p:nvSpPr>
        <p:spPr>
          <a:xfrm>
            <a:off x="4572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5092" name="Google Shape;5092;p32"/>
          <p:cNvSpPr txBox="1"/>
          <p:nvPr/>
        </p:nvSpPr>
        <p:spPr>
          <a:xfrm>
            <a:off x="685800" y="5952743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$120,520 YTD gross written premium</a:t>
            </a:r>
            <a:endParaRPr/>
          </a:p>
        </p:txBody>
      </p:sp>
      <p:sp>
        <p:nvSpPr>
          <p:cNvPr id="5093" name="Google Shape;5093;p32"/>
          <p:cNvSpPr txBox="1"/>
          <p:nvPr/>
        </p:nvSpPr>
        <p:spPr>
          <a:xfrm>
            <a:off x="457200" y="6153911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5094" name="Google Shape;5094;p32"/>
          <p:cNvSpPr txBox="1"/>
          <p:nvPr/>
        </p:nvSpPr>
        <p:spPr>
          <a:xfrm>
            <a:off x="685800" y="6153911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$89,406 in new business production</a:t>
            </a:r>
            <a:endParaRPr/>
          </a:p>
        </p:txBody>
      </p:sp>
      <p:sp>
        <p:nvSpPr>
          <p:cNvPr id="5095" name="Google Shape;5095;p32"/>
          <p:cNvSpPr/>
          <p:nvPr/>
        </p:nvSpPr>
        <p:spPr>
          <a:xfrm>
            <a:off x="6309360" y="5678423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6" name="Google Shape;5096;p32"/>
          <p:cNvSpPr txBox="1"/>
          <p:nvPr/>
        </p:nvSpPr>
        <p:spPr>
          <a:xfrm>
            <a:off x="64008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NEEDS ATTENTION</a:t>
            </a:r>
            <a:endParaRPr/>
          </a:p>
        </p:txBody>
      </p:sp>
      <p:sp>
        <p:nvSpPr>
          <p:cNvPr id="5097" name="Google Shape;5097;p32"/>
          <p:cNvSpPr txBox="1"/>
          <p:nvPr/>
        </p:nvSpPr>
        <p:spPr>
          <a:xfrm>
            <a:off x="64008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5098" name="Google Shape;5098;p32"/>
          <p:cNvSpPr txBox="1"/>
          <p:nvPr/>
        </p:nvSpPr>
        <p:spPr>
          <a:xfrm>
            <a:off x="6629400" y="5952743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 at 81% of new business ($72,461)</a:t>
            </a:r>
            <a:endParaRPr/>
          </a:p>
        </p:txBody>
      </p:sp>
      <p:sp>
        <p:nvSpPr>
          <p:cNvPr id="5099" name="Google Shape;5099;p32"/>
          <p:cNvSpPr/>
          <p:nvPr/>
        </p:nvSpPr>
        <p:spPr>
          <a:xfrm>
            <a:off x="365760" y="6455663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0" name="Google Shape;5100;p32"/>
          <p:cNvSpPr txBox="1"/>
          <p:nvPr/>
        </p:nvSpPr>
        <p:spPr>
          <a:xfrm>
            <a:off x="457200" y="6464807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STRATEGIC SALES TIPS - Conversation Starters</a:t>
            </a:r>
            <a:endParaRPr/>
          </a:p>
        </p:txBody>
      </p:sp>
      <p:sp>
        <p:nvSpPr>
          <p:cNvPr id="5101" name="Google Shape;5101;p32"/>
          <p:cNvSpPr txBox="1"/>
          <p:nvPr/>
        </p:nvSpPr>
        <p:spPr>
          <a:xfrm>
            <a:off x="457200" y="6711695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endParaRPr/>
          </a:p>
        </p:txBody>
      </p:sp>
      <p:sp>
        <p:nvSpPr>
          <p:cNvPr id="5102" name="Google Shape;5102;p32"/>
          <p:cNvSpPr txBox="1"/>
          <p:nvPr/>
        </p:nvSpPr>
        <p:spPr>
          <a:xfrm>
            <a:off x="777240" y="6711695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Acknowledge their $89,406 in new business. Ask: "What types of accounts are you seeing the most success with?" Use this to identify more of their book that fits our appetite.</a:t>
            </a:r>
            <a:endParaRPr/>
          </a:p>
        </p:txBody>
      </p:sp>
      <p:sp>
        <p:nvSpPr>
          <p:cNvPr id="5103" name="Google Shape;5103;p32"/>
          <p:cNvSpPr txBox="1"/>
          <p:nvPr/>
        </p:nvSpPr>
        <p:spPr>
          <a:xfrm>
            <a:off x="457200" y="6949439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endParaRPr/>
          </a:p>
        </p:txBody>
      </p:sp>
      <p:sp>
        <p:nvSpPr>
          <p:cNvPr id="5104" name="Google Shape;5104;p32"/>
          <p:cNvSpPr txBox="1"/>
          <p:nvPr/>
        </p:nvSpPr>
        <p:spPr>
          <a:xfrm>
            <a:off x="777240" y="6949439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Address the $72,461 in cancellations. Ask: "Are we losing these to price, service, or coverage?" Proactive retention discussions can protect the book and strengthen the relationship.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08" name="Shape 5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9" name="Google Shape;5109;p33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0" name="Google Shape;5110;p33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Marble City Insurance</a:t>
            </a:r>
            <a:endParaRPr/>
          </a:p>
        </p:txBody>
      </p:sp>
      <p:sp>
        <p:nvSpPr>
          <p:cNvPr id="5111" name="Google Shape;5111;p3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4B5F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Tier: Tier 2  |  Region: Southeast  |  State: TN  |  City: Knoxville</a:t>
            </a:r>
            <a:endParaRPr/>
          </a:p>
        </p:txBody>
      </p:sp>
      <p:sp>
        <p:nvSpPr>
          <p:cNvPr id="5112" name="Google Shape;5112;p33"/>
          <p:cNvSpPr/>
          <p:nvPr/>
        </p:nvSpPr>
        <p:spPr>
          <a:xfrm>
            <a:off x="22860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$92,651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YTD GWP</a:t>
            </a:r>
            <a:endParaRPr/>
          </a:p>
        </p:txBody>
      </p:sp>
      <p:sp>
        <p:nvSpPr>
          <p:cNvPr id="5113" name="Google Shape;5113;p33"/>
          <p:cNvSpPr/>
          <p:nvPr/>
        </p:nvSpPr>
        <p:spPr>
          <a:xfrm>
            <a:off x="256032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$91,341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5114" name="Google Shape;5114;p33"/>
          <p:cNvSpPr/>
          <p:nvPr/>
        </p:nvSpPr>
        <p:spPr>
          <a:xfrm>
            <a:off x="489204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5115" name="Google Shape;5115;p33"/>
          <p:cNvSpPr/>
          <p:nvPr/>
        </p:nvSpPr>
        <p:spPr>
          <a:xfrm>
            <a:off x="7223759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$1,310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5116" name="Google Shape;5116;p33"/>
          <p:cNvSpPr/>
          <p:nvPr/>
        </p:nvSpPr>
        <p:spPr>
          <a:xfrm>
            <a:off x="955548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$-65,836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5117" name="Google Shape;5117;p33"/>
          <p:cNvSpPr/>
          <p:nvPr/>
        </p:nvSpPr>
        <p:spPr>
          <a:xfrm>
            <a:off x="137160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$216,288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2025 Full Year GWP</a:t>
            </a:r>
            <a:endParaRPr/>
          </a:p>
        </p:txBody>
      </p:sp>
      <p:sp>
        <p:nvSpPr>
          <p:cNvPr id="5118" name="Google Shape;5118;p33"/>
          <p:cNvSpPr/>
          <p:nvPr/>
        </p:nvSpPr>
        <p:spPr>
          <a:xfrm>
            <a:off x="1627631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$230,387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Rolling 12M GWP</a:t>
            </a:r>
            <a:endParaRPr/>
          </a:p>
        </p:txBody>
      </p:sp>
      <p:sp>
        <p:nvSpPr>
          <p:cNvPr id="5119" name="Google Shape;5119;p33"/>
          <p:cNvSpPr/>
          <p:nvPr/>
        </p:nvSpPr>
        <p:spPr>
          <a:xfrm>
            <a:off x="3118103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36%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% to Goal</a:t>
            </a:r>
            <a:endParaRPr/>
          </a:p>
        </p:txBody>
      </p:sp>
      <p:sp>
        <p:nvSpPr>
          <p:cNvPr id="5120" name="Google Shape;5120;p33"/>
          <p:cNvSpPr/>
          <p:nvPr/>
        </p:nvSpPr>
        <p:spPr>
          <a:xfrm>
            <a:off x="4608576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5121" name="Google Shape;5121;p33"/>
          <p:cNvSpPr/>
          <p:nvPr/>
        </p:nvSpPr>
        <p:spPr>
          <a:xfrm>
            <a:off x="6099048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5122" name="Google Shape;5122;p33"/>
          <p:cNvSpPr/>
          <p:nvPr/>
        </p:nvSpPr>
        <p:spPr>
          <a:xfrm>
            <a:off x="7589519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6.0%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5123" name="Google Shape;5123;p33"/>
          <p:cNvSpPr/>
          <p:nvPr/>
        </p:nvSpPr>
        <p:spPr>
          <a:xfrm>
            <a:off x="9079992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 Bound Prem</a:t>
            </a:r>
            <a:endParaRPr/>
          </a:p>
        </p:txBody>
      </p:sp>
      <p:sp>
        <p:nvSpPr>
          <p:cNvPr id="5124" name="Google Shape;5124;p33"/>
          <p:cNvSpPr/>
          <p:nvPr/>
        </p:nvSpPr>
        <p:spPr>
          <a:xfrm>
            <a:off x="10570464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$82,800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NF Bound Prem</a:t>
            </a:r>
            <a:endParaRPr/>
          </a:p>
        </p:txBody>
      </p:sp>
      <p:sp>
        <p:nvSpPr>
          <p:cNvPr id="5125" name="Google Shape;5125;p33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6" name="Google Shape;5126;p33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PRODUCTION BY MONTH</a:t>
            </a:r>
            <a:endParaRPr/>
          </a:p>
        </p:txBody>
      </p:sp>
      <p:sp>
        <p:nvSpPr>
          <p:cNvPr id="5127" name="Google Shape;5127;p33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5128" name="Google Shape;5128;p33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Written Premium</a:t>
            </a:r>
            <a:endParaRPr/>
          </a:p>
        </p:txBody>
      </p:sp>
      <p:sp>
        <p:nvSpPr>
          <p:cNvPr id="5129" name="Google Shape;5129;p33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5130" name="Google Shape;5130;p33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5131" name="Google Shape;5131;p3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5132" name="Google Shape;5132;p33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5133" name="Google Shape;5133;p33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4" name="Google Shape;5134;p33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5135" name="Google Shape;5135;p33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$1,100</a:t>
            </a:r>
            <a:endParaRPr/>
          </a:p>
        </p:txBody>
      </p:sp>
      <p:sp>
        <p:nvSpPr>
          <p:cNvPr id="5136" name="Google Shape;5136;p33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$1,100</a:t>
            </a:r>
            <a:endParaRPr/>
          </a:p>
        </p:txBody>
      </p:sp>
      <p:sp>
        <p:nvSpPr>
          <p:cNvPr id="5137" name="Google Shape;5137;p33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138" name="Google Shape;5138;p33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139" name="Google Shape;5139;p33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$-6,767</a:t>
            </a:r>
            <a:endParaRPr/>
          </a:p>
        </p:txBody>
      </p:sp>
      <p:sp>
        <p:nvSpPr>
          <p:cNvPr id="5140" name="Google Shape;5140;p33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1" name="Google Shape;5141;p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5142" name="Google Shape;5142;p33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$6,381</a:t>
            </a:r>
            <a:endParaRPr/>
          </a:p>
        </p:txBody>
      </p:sp>
      <p:sp>
        <p:nvSpPr>
          <p:cNvPr id="5143" name="Google Shape;5143;p33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$5,864</a:t>
            </a:r>
            <a:endParaRPr/>
          </a:p>
        </p:txBody>
      </p:sp>
      <p:sp>
        <p:nvSpPr>
          <p:cNvPr id="5144" name="Google Shape;5144;p33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145" name="Google Shape;5145;p33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$517</a:t>
            </a:r>
            <a:endParaRPr/>
          </a:p>
        </p:txBody>
      </p:sp>
      <p:sp>
        <p:nvSpPr>
          <p:cNvPr id="5146" name="Google Shape;5146;p33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147" name="Google Shape;5147;p33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8" name="Google Shape;5148;p33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5149" name="Google Shape;5149;p33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$15,719</a:t>
            </a:r>
            <a:endParaRPr/>
          </a:p>
        </p:txBody>
      </p:sp>
      <p:sp>
        <p:nvSpPr>
          <p:cNvPr id="5150" name="Google Shape;5150;p33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$12,872</a:t>
            </a:r>
            <a:endParaRPr/>
          </a:p>
        </p:txBody>
      </p:sp>
      <p:sp>
        <p:nvSpPr>
          <p:cNvPr id="5151" name="Google Shape;5151;p3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152" name="Google Shape;5152;p33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$2,848</a:t>
            </a:r>
            <a:endParaRPr/>
          </a:p>
        </p:txBody>
      </p:sp>
      <p:sp>
        <p:nvSpPr>
          <p:cNvPr id="5153" name="Google Shape;5153;p33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$-2,615</a:t>
            </a:r>
            <a:endParaRPr/>
          </a:p>
        </p:txBody>
      </p:sp>
      <p:sp>
        <p:nvSpPr>
          <p:cNvPr id="5154" name="Google Shape;5154;p33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5" name="Google Shape;5155;p33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5156" name="Google Shape;5156;p33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$54,353</a:t>
            </a:r>
            <a:endParaRPr/>
          </a:p>
        </p:txBody>
      </p:sp>
      <p:sp>
        <p:nvSpPr>
          <p:cNvPr id="5157" name="Google Shape;5157;p33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$56,408</a:t>
            </a:r>
            <a:endParaRPr/>
          </a:p>
        </p:txBody>
      </p:sp>
      <p:sp>
        <p:nvSpPr>
          <p:cNvPr id="5158" name="Google Shape;5158;p33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159" name="Google Shape;5159;p33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$-2,055</a:t>
            </a:r>
            <a:endParaRPr/>
          </a:p>
        </p:txBody>
      </p:sp>
      <p:sp>
        <p:nvSpPr>
          <p:cNvPr id="5160" name="Google Shape;5160;p33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$-53,267</a:t>
            </a:r>
            <a:endParaRPr/>
          </a:p>
        </p:txBody>
      </p:sp>
      <p:sp>
        <p:nvSpPr>
          <p:cNvPr id="5161" name="Google Shape;5161;p3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2" name="Google Shape;5162;p33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5163" name="Google Shape;5163;p33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$15,098</a:t>
            </a:r>
            <a:endParaRPr/>
          </a:p>
        </p:txBody>
      </p:sp>
      <p:sp>
        <p:nvSpPr>
          <p:cNvPr id="5164" name="Google Shape;5164;p33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$15,098</a:t>
            </a:r>
            <a:endParaRPr/>
          </a:p>
        </p:txBody>
      </p:sp>
      <p:sp>
        <p:nvSpPr>
          <p:cNvPr id="5165" name="Google Shape;5165;p33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166" name="Google Shape;5166;p33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167" name="Google Shape;5167;p33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$-3,187</a:t>
            </a:r>
            <a:endParaRPr/>
          </a:p>
        </p:txBody>
      </p:sp>
      <p:sp>
        <p:nvSpPr>
          <p:cNvPr id="5168" name="Google Shape;5168;p33"/>
          <p:cNvSpPr/>
          <p:nvPr/>
        </p:nvSpPr>
        <p:spPr>
          <a:xfrm>
            <a:off x="365760" y="4123944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9" name="Google Shape;5169;p33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5170" name="Google Shape;5170;p33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171" name="Google Shape;5171;p3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172" name="Google Shape;5172;p33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173" name="Google Shape;5173;p33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174" name="Google Shape;5174;p33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175" name="Google Shape;5175;p33"/>
          <p:cNvSpPr/>
          <p:nvPr/>
        </p:nvSpPr>
        <p:spPr>
          <a:xfrm>
            <a:off x="365760" y="4425696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6" name="Google Shape;5176;p33"/>
          <p:cNvSpPr txBox="1"/>
          <p:nvPr/>
        </p:nvSpPr>
        <p:spPr>
          <a:xfrm>
            <a:off x="3657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5177" name="Google Shape;5177;p33"/>
          <p:cNvSpPr txBox="1"/>
          <p:nvPr/>
        </p:nvSpPr>
        <p:spPr>
          <a:xfrm>
            <a:off x="1280160" y="446227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$92,651</a:t>
            </a:r>
            <a:endParaRPr/>
          </a:p>
        </p:txBody>
      </p:sp>
      <p:sp>
        <p:nvSpPr>
          <p:cNvPr id="5178" name="Google Shape;5178;p33"/>
          <p:cNvSpPr txBox="1"/>
          <p:nvPr/>
        </p:nvSpPr>
        <p:spPr>
          <a:xfrm>
            <a:off x="2377439" y="446227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$91,341</a:t>
            </a:r>
            <a:endParaRPr/>
          </a:p>
        </p:txBody>
      </p:sp>
      <p:sp>
        <p:nvSpPr>
          <p:cNvPr id="5179" name="Google Shape;5179;p33"/>
          <p:cNvSpPr txBox="1"/>
          <p:nvPr/>
        </p:nvSpPr>
        <p:spPr>
          <a:xfrm>
            <a:off x="33832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180" name="Google Shape;5180;p33"/>
          <p:cNvSpPr txBox="1"/>
          <p:nvPr/>
        </p:nvSpPr>
        <p:spPr>
          <a:xfrm>
            <a:off x="42976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$1,310</a:t>
            </a:r>
            <a:endParaRPr/>
          </a:p>
        </p:txBody>
      </p:sp>
      <p:sp>
        <p:nvSpPr>
          <p:cNvPr id="5181" name="Google Shape;5181;p33"/>
          <p:cNvSpPr txBox="1"/>
          <p:nvPr/>
        </p:nvSpPr>
        <p:spPr>
          <a:xfrm>
            <a:off x="52120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$-65,836</a:t>
            </a:r>
            <a:endParaRPr/>
          </a:p>
        </p:txBody>
      </p:sp>
      <p:sp>
        <p:nvSpPr>
          <p:cNvPr id="5182" name="Google Shape;5182;p33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3" name="Google Shape;5183;p33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 &amp; PIPELINE</a:t>
            </a:r>
            <a:endParaRPr/>
          </a:p>
        </p:txBody>
      </p:sp>
      <p:sp>
        <p:nvSpPr>
          <p:cNvPr id="5184" name="Google Shape;5184;p33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5185" name="Google Shape;5185;p33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Subs</a:t>
            </a:r>
            <a:endParaRPr/>
          </a:p>
        </p:txBody>
      </p:sp>
      <p:sp>
        <p:nvSpPr>
          <p:cNvPr id="5186" name="Google Shape;5186;p33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</a:t>
            </a:r>
            <a:endParaRPr/>
          </a:p>
        </p:txBody>
      </p:sp>
      <p:sp>
        <p:nvSpPr>
          <p:cNvPr id="5187" name="Google Shape;5187;p33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Non-Fleet</a:t>
            </a:r>
            <a:endParaRPr/>
          </a:p>
        </p:txBody>
      </p:sp>
      <p:sp>
        <p:nvSpPr>
          <p:cNvPr id="5188" name="Google Shape;5188;p3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5189" name="Google Shape;5189;p33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5190" name="Google Shape;5190;p33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1" name="Google Shape;5191;p33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5192" name="Google Shape;5192;p33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56</a:t>
            </a:r>
            <a:endParaRPr/>
          </a:p>
        </p:txBody>
      </p:sp>
      <p:sp>
        <p:nvSpPr>
          <p:cNvPr id="5193" name="Google Shape;5193;p33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5194" name="Google Shape;5194;p33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56</a:t>
            </a:r>
            <a:endParaRPr/>
          </a:p>
        </p:txBody>
      </p:sp>
      <p:sp>
        <p:nvSpPr>
          <p:cNvPr id="5195" name="Google Shape;5195;p33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5196" name="Google Shape;5196;p33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3.6%</a:t>
            </a:r>
            <a:endParaRPr/>
          </a:p>
        </p:txBody>
      </p:sp>
      <p:sp>
        <p:nvSpPr>
          <p:cNvPr id="5197" name="Google Shape;5197;p33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8" name="Google Shape;5198;p3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5199" name="Google Shape;5199;p33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45</a:t>
            </a:r>
            <a:endParaRPr/>
          </a:p>
        </p:txBody>
      </p:sp>
      <p:sp>
        <p:nvSpPr>
          <p:cNvPr id="5200" name="Google Shape;5200;p33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5201" name="Google Shape;5201;p33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43</a:t>
            </a:r>
            <a:endParaRPr/>
          </a:p>
        </p:txBody>
      </p:sp>
      <p:sp>
        <p:nvSpPr>
          <p:cNvPr id="5202" name="Google Shape;5202;p33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/>
          </a:p>
        </p:txBody>
      </p:sp>
      <p:sp>
        <p:nvSpPr>
          <p:cNvPr id="5203" name="Google Shape;5203;p33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13.3%</a:t>
            </a:r>
            <a:endParaRPr/>
          </a:p>
        </p:txBody>
      </p:sp>
      <p:sp>
        <p:nvSpPr>
          <p:cNvPr id="5204" name="Google Shape;5204;p33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5" name="Google Shape;5205;p33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5206" name="Google Shape;5206;p33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62</a:t>
            </a:r>
            <a:endParaRPr/>
          </a:p>
        </p:txBody>
      </p:sp>
      <p:sp>
        <p:nvSpPr>
          <p:cNvPr id="5207" name="Google Shape;5207;p33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5208" name="Google Shape;5208;p3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60</a:t>
            </a:r>
            <a:endParaRPr/>
          </a:p>
        </p:txBody>
      </p:sp>
      <p:sp>
        <p:nvSpPr>
          <p:cNvPr id="5209" name="Google Shape;5209;p33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5210" name="Google Shape;5210;p33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6.5%</a:t>
            </a:r>
            <a:endParaRPr/>
          </a:p>
        </p:txBody>
      </p:sp>
      <p:sp>
        <p:nvSpPr>
          <p:cNvPr id="5211" name="Google Shape;5211;p33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2" name="Google Shape;5212;p33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5213" name="Google Shape;5213;p33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59</a:t>
            </a:r>
            <a:endParaRPr/>
          </a:p>
        </p:txBody>
      </p:sp>
      <p:sp>
        <p:nvSpPr>
          <p:cNvPr id="5214" name="Google Shape;5214;p33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5215" name="Google Shape;5215;p33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58</a:t>
            </a:r>
            <a:endParaRPr/>
          </a:p>
        </p:txBody>
      </p:sp>
      <p:sp>
        <p:nvSpPr>
          <p:cNvPr id="5216" name="Google Shape;5216;p33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/>
          </a:p>
        </p:txBody>
      </p:sp>
      <p:sp>
        <p:nvSpPr>
          <p:cNvPr id="5217" name="Google Shape;5217;p33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10.2%</a:t>
            </a:r>
            <a:endParaRPr/>
          </a:p>
        </p:txBody>
      </p:sp>
      <p:sp>
        <p:nvSpPr>
          <p:cNvPr id="5218" name="Google Shape;5218;p3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9" name="Google Shape;5219;p33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5220" name="Google Shape;5220;p33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43</a:t>
            </a:r>
            <a:endParaRPr/>
          </a:p>
        </p:txBody>
      </p:sp>
      <p:sp>
        <p:nvSpPr>
          <p:cNvPr id="5221" name="Google Shape;5221;p33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5222" name="Google Shape;5222;p33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42</a:t>
            </a:r>
            <a:endParaRPr/>
          </a:p>
        </p:txBody>
      </p:sp>
      <p:sp>
        <p:nvSpPr>
          <p:cNvPr id="5223" name="Google Shape;5223;p33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5224" name="Google Shape;5224;p33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7.0%</a:t>
            </a:r>
            <a:endParaRPr/>
          </a:p>
        </p:txBody>
      </p:sp>
      <p:sp>
        <p:nvSpPr>
          <p:cNvPr id="5225" name="Google Shape;5225;p33"/>
          <p:cNvSpPr/>
          <p:nvPr/>
        </p:nvSpPr>
        <p:spPr>
          <a:xfrm>
            <a:off x="6309360" y="4123944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6" name="Google Shape;5226;p33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5227" name="Google Shape;5227;p33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5228" name="Google Shape;5228;p3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5229" name="Google Shape;5229;p33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5230" name="Google Shape;5230;p33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5231" name="Google Shape;5231;p33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5232" name="Google Shape;5232;p33"/>
          <p:cNvSpPr/>
          <p:nvPr/>
        </p:nvSpPr>
        <p:spPr>
          <a:xfrm>
            <a:off x="6309360" y="4425696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3" name="Google Shape;5233;p33"/>
          <p:cNvSpPr txBox="1"/>
          <p:nvPr/>
        </p:nvSpPr>
        <p:spPr>
          <a:xfrm>
            <a:off x="63093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5234" name="Google Shape;5234;p33"/>
          <p:cNvSpPr txBox="1"/>
          <p:nvPr/>
        </p:nvSpPr>
        <p:spPr>
          <a:xfrm>
            <a:off x="722376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250</a:t>
            </a:r>
            <a:endParaRPr/>
          </a:p>
        </p:txBody>
      </p:sp>
      <p:sp>
        <p:nvSpPr>
          <p:cNvPr id="5235" name="Google Shape;5235;p33"/>
          <p:cNvSpPr txBox="1"/>
          <p:nvPr/>
        </p:nvSpPr>
        <p:spPr>
          <a:xfrm>
            <a:off x="804672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5236" name="Google Shape;5236;p33"/>
          <p:cNvSpPr txBox="1"/>
          <p:nvPr/>
        </p:nvSpPr>
        <p:spPr>
          <a:xfrm>
            <a:off x="886968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246</a:t>
            </a:r>
            <a:endParaRPr/>
          </a:p>
        </p:txBody>
      </p:sp>
      <p:sp>
        <p:nvSpPr>
          <p:cNvPr id="5237" name="Google Shape;5237;p33"/>
          <p:cNvSpPr txBox="1"/>
          <p:nvPr/>
        </p:nvSpPr>
        <p:spPr>
          <a:xfrm>
            <a:off x="978408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</a:t>
            </a:r>
            <a:endParaRPr/>
          </a:p>
        </p:txBody>
      </p:sp>
      <p:sp>
        <p:nvSpPr>
          <p:cNvPr id="5238" name="Google Shape;5238;p33"/>
          <p:cNvSpPr txBox="1"/>
          <p:nvPr/>
        </p:nvSpPr>
        <p:spPr>
          <a:xfrm>
            <a:off x="1060704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6.0%</a:t>
            </a:r>
            <a:endParaRPr/>
          </a:p>
        </p:txBody>
      </p:sp>
      <p:sp>
        <p:nvSpPr>
          <p:cNvPr id="5239" name="Google Shape;5239;p33"/>
          <p:cNvSpPr/>
          <p:nvPr/>
        </p:nvSpPr>
        <p:spPr>
          <a:xfrm>
            <a:off x="365760" y="4782312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0" name="Google Shape;5240;p33"/>
          <p:cNvSpPr txBox="1"/>
          <p:nvPr/>
        </p:nvSpPr>
        <p:spPr>
          <a:xfrm>
            <a:off x="457200" y="4800599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YOY COMPARISON — Jan–Jun 2025 vs Jan–Jun 2026</a:t>
            </a:r>
            <a:endParaRPr/>
          </a:p>
        </p:txBody>
      </p:sp>
      <p:sp>
        <p:nvSpPr>
          <p:cNvPr id="5241" name="Google Shape;5241;p33"/>
          <p:cNvSpPr txBox="1"/>
          <p:nvPr/>
        </p:nvSpPr>
        <p:spPr>
          <a:xfrm>
            <a:off x="365760" y="5056631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00" u="none" cap="none" strike="noStrike">
              <a:solidFill>
                <a:srgbClr val="6B728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242" name="Google Shape;5242;p33"/>
          <p:cNvSpPr txBox="1"/>
          <p:nvPr/>
        </p:nvSpPr>
        <p:spPr>
          <a:xfrm>
            <a:off x="1463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'25</a:t>
            </a:r>
            <a:endParaRPr/>
          </a:p>
        </p:txBody>
      </p:sp>
      <p:sp>
        <p:nvSpPr>
          <p:cNvPr id="5243" name="Google Shape;5243;p33"/>
          <p:cNvSpPr txBox="1"/>
          <p:nvPr/>
        </p:nvSpPr>
        <p:spPr>
          <a:xfrm>
            <a:off x="2148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'26</a:t>
            </a:r>
            <a:endParaRPr/>
          </a:p>
        </p:txBody>
      </p:sp>
      <p:sp>
        <p:nvSpPr>
          <p:cNvPr id="5244" name="Google Shape;5244;p33"/>
          <p:cNvSpPr txBox="1"/>
          <p:nvPr/>
        </p:nvSpPr>
        <p:spPr>
          <a:xfrm>
            <a:off x="2834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'25</a:t>
            </a:r>
            <a:endParaRPr/>
          </a:p>
        </p:txBody>
      </p:sp>
      <p:sp>
        <p:nvSpPr>
          <p:cNvPr id="5245" name="Google Shape;5245;p33"/>
          <p:cNvSpPr txBox="1"/>
          <p:nvPr/>
        </p:nvSpPr>
        <p:spPr>
          <a:xfrm>
            <a:off x="3520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'26</a:t>
            </a:r>
            <a:endParaRPr/>
          </a:p>
        </p:txBody>
      </p:sp>
      <p:sp>
        <p:nvSpPr>
          <p:cNvPr id="5246" name="Google Shape;5246;p33"/>
          <p:cNvSpPr txBox="1"/>
          <p:nvPr/>
        </p:nvSpPr>
        <p:spPr>
          <a:xfrm>
            <a:off x="4206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'25</a:t>
            </a:r>
            <a:endParaRPr/>
          </a:p>
        </p:txBody>
      </p:sp>
      <p:sp>
        <p:nvSpPr>
          <p:cNvPr id="5247" name="Google Shape;5247;p33"/>
          <p:cNvSpPr txBox="1"/>
          <p:nvPr/>
        </p:nvSpPr>
        <p:spPr>
          <a:xfrm>
            <a:off x="4892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'26</a:t>
            </a:r>
            <a:endParaRPr/>
          </a:p>
        </p:txBody>
      </p:sp>
      <p:sp>
        <p:nvSpPr>
          <p:cNvPr id="5248" name="Google Shape;5248;p33"/>
          <p:cNvSpPr txBox="1"/>
          <p:nvPr/>
        </p:nvSpPr>
        <p:spPr>
          <a:xfrm>
            <a:off x="5577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'25</a:t>
            </a:r>
            <a:endParaRPr/>
          </a:p>
        </p:txBody>
      </p:sp>
      <p:sp>
        <p:nvSpPr>
          <p:cNvPr id="5249" name="Google Shape;5249;p33"/>
          <p:cNvSpPr txBox="1"/>
          <p:nvPr/>
        </p:nvSpPr>
        <p:spPr>
          <a:xfrm>
            <a:off x="6263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'26</a:t>
            </a:r>
            <a:endParaRPr/>
          </a:p>
        </p:txBody>
      </p:sp>
      <p:sp>
        <p:nvSpPr>
          <p:cNvPr id="5250" name="Google Shape;5250;p33"/>
          <p:cNvSpPr txBox="1"/>
          <p:nvPr/>
        </p:nvSpPr>
        <p:spPr>
          <a:xfrm>
            <a:off x="6949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'25</a:t>
            </a:r>
            <a:endParaRPr/>
          </a:p>
        </p:txBody>
      </p:sp>
      <p:sp>
        <p:nvSpPr>
          <p:cNvPr id="5251" name="Google Shape;5251;p33"/>
          <p:cNvSpPr txBox="1"/>
          <p:nvPr/>
        </p:nvSpPr>
        <p:spPr>
          <a:xfrm>
            <a:off x="7635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'26</a:t>
            </a:r>
            <a:endParaRPr/>
          </a:p>
        </p:txBody>
      </p:sp>
      <p:sp>
        <p:nvSpPr>
          <p:cNvPr id="5252" name="Google Shape;5252;p33"/>
          <p:cNvSpPr txBox="1"/>
          <p:nvPr/>
        </p:nvSpPr>
        <p:spPr>
          <a:xfrm>
            <a:off x="8321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'25</a:t>
            </a:r>
            <a:endParaRPr/>
          </a:p>
        </p:txBody>
      </p:sp>
      <p:sp>
        <p:nvSpPr>
          <p:cNvPr id="5253" name="Google Shape;5253;p33"/>
          <p:cNvSpPr txBox="1"/>
          <p:nvPr/>
        </p:nvSpPr>
        <p:spPr>
          <a:xfrm>
            <a:off x="9006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'26</a:t>
            </a:r>
            <a:endParaRPr/>
          </a:p>
        </p:txBody>
      </p:sp>
      <p:sp>
        <p:nvSpPr>
          <p:cNvPr id="5254" name="Google Shape;5254;p33"/>
          <p:cNvSpPr txBox="1"/>
          <p:nvPr/>
        </p:nvSpPr>
        <p:spPr>
          <a:xfrm>
            <a:off x="969264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'25 Tot</a:t>
            </a:r>
            <a:endParaRPr/>
          </a:p>
        </p:txBody>
      </p:sp>
      <p:sp>
        <p:nvSpPr>
          <p:cNvPr id="5255" name="Google Shape;5255;p33"/>
          <p:cNvSpPr txBox="1"/>
          <p:nvPr/>
        </p:nvSpPr>
        <p:spPr>
          <a:xfrm>
            <a:off x="1088136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'26 Tot</a:t>
            </a:r>
            <a:endParaRPr/>
          </a:p>
        </p:txBody>
      </p:sp>
      <p:sp>
        <p:nvSpPr>
          <p:cNvPr id="5256" name="Google Shape;5256;p33"/>
          <p:cNvSpPr txBox="1"/>
          <p:nvPr/>
        </p:nvSpPr>
        <p:spPr>
          <a:xfrm>
            <a:off x="365760" y="523951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5257" name="Google Shape;5257;p33"/>
          <p:cNvSpPr txBox="1"/>
          <p:nvPr/>
        </p:nvSpPr>
        <p:spPr>
          <a:xfrm>
            <a:off x="1463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</a:t>
            </a:r>
            <a:endParaRPr/>
          </a:p>
        </p:txBody>
      </p:sp>
      <p:sp>
        <p:nvSpPr>
          <p:cNvPr id="5258" name="Google Shape;5258;p33"/>
          <p:cNvSpPr txBox="1"/>
          <p:nvPr/>
        </p:nvSpPr>
        <p:spPr>
          <a:xfrm>
            <a:off x="2148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56</a:t>
            </a:r>
            <a:endParaRPr/>
          </a:p>
        </p:txBody>
      </p:sp>
      <p:sp>
        <p:nvSpPr>
          <p:cNvPr id="5259" name="Google Shape;5259;p33"/>
          <p:cNvSpPr txBox="1"/>
          <p:nvPr/>
        </p:nvSpPr>
        <p:spPr>
          <a:xfrm>
            <a:off x="2834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23</a:t>
            </a:r>
            <a:endParaRPr/>
          </a:p>
        </p:txBody>
      </p:sp>
      <p:sp>
        <p:nvSpPr>
          <p:cNvPr id="5260" name="Google Shape;5260;p33"/>
          <p:cNvSpPr txBox="1"/>
          <p:nvPr/>
        </p:nvSpPr>
        <p:spPr>
          <a:xfrm>
            <a:off x="3520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45</a:t>
            </a:r>
            <a:endParaRPr/>
          </a:p>
        </p:txBody>
      </p:sp>
      <p:sp>
        <p:nvSpPr>
          <p:cNvPr id="5261" name="Google Shape;5261;p33"/>
          <p:cNvSpPr txBox="1"/>
          <p:nvPr/>
        </p:nvSpPr>
        <p:spPr>
          <a:xfrm>
            <a:off x="4206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35</a:t>
            </a:r>
            <a:endParaRPr/>
          </a:p>
        </p:txBody>
      </p:sp>
      <p:sp>
        <p:nvSpPr>
          <p:cNvPr id="5262" name="Google Shape;5262;p33"/>
          <p:cNvSpPr txBox="1"/>
          <p:nvPr/>
        </p:nvSpPr>
        <p:spPr>
          <a:xfrm>
            <a:off x="4892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62</a:t>
            </a:r>
            <a:endParaRPr/>
          </a:p>
        </p:txBody>
      </p:sp>
      <p:sp>
        <p:nvSpPr>
          <p:cNvPr id="5263" name="Google Shape;5263;p33"/>
          <p:cNvSpPr txBox="1"/>
          <p:nvPr/>
        </p:nvSpPr>
        <p:spPr>
          <a:xfrm>
            <a:off x="5577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</a:t>
            </a:r>
            <a:endParaRPr/>
          </a:p>
        </p:txBody>
      </p:sp>
      <p:sp>
        <p:nvSpPr>
          <p:cNvPr id="5264" name="Google Shape;5264;p33"/>
          <p:cNvSpPr txBox="1"/>
          <p:nvPr/>
        </p:nvSpPr>
        <p:spPr>
          <a:xfrm>
            <a:off x="6263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59</a:t>
            </a:r>
            <a:endParaRPr/>
          </a:p>
        </p:txBody>
      </p:sp>
      <p:sp>
        <p:nvSpPr>
          <p:cNvPr id="5265" name="Google Shape;5265;p33"/>
          <p:cNvSpPr txBox="1"/>
          <p:nvPr/>
        </p:nvSpPr>
        <p:spPr>
          <a:xfrm>
            <a:off x="6949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18</a:t>
            </a:r>
            <a:endParaRPr/>
          </a:p>
        </p:txBody>
      </p:sp>
      <p:sp>
        <p:nvSpPr>
          <p:cNvPr id="5266" name="Google Shape;5266;p33"/>
          <p:cNvSpPr txBox="1"/>
          <p:nvPr/>
        </p:nvSpPr>
        <p:spPr>
          <a:xfrm>
            <a:off x="7635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43</a:t>
            </a:r>
            <a:endParaRPr/>
          </a:p>
        </p:txBody>
      </p:sp>
      <p:sp>
        <p:nvSpPr>
          <p:cNvPr id="5267" name="Google Shape;5267;p33"/>
          <p:cNvSpPr txBox="1"/>
          <p:nvPr/>
        </p:nvSpPr>
        <p:spPr>
          <a:xfrm>
            <a:off x="8321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27</a:t>
            </a:r>
            <a:endParaRPr/>
          </a:p>
        </p:txBody>
      </p:sp>
      <p:sp>
        <p:nvSpPr>
          <p:cNvPr id="5268" name="Google Shape;5268;p33"/>
          <p:cNvSpPr txBox="1"/>
          <p:nvPr/>
        </p:nvSpPr>
        <p:spPr>
          <a:xfrm>
            <a:off x="9006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5269" name="Google Shape;5269;p33"/>
          <p:cNvSpPr txBox="1"/>
          <p:nvPr/>
        </p:nvSpPr>
        <p:spPr>
          <a:xfrm>
            <a:off x="969264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150</a:t>
            </a:r>
            <a:endParaRPr/>
          </a:p>
        </p:txBody>
      </p:sp>
      <p:sp>
        <p:nvSpPr>
          <p:cNvPr id="5270" name="Google Shape;5270;p33"/>
          <p:cNvSpPr txBox="1"/>
          <p:nvPr/>
        </p:nvSpPr>
        <p:spPr>
          <a:xfrm>
            <a:off x="1088136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265</a:t>
            </a:r>
            <a:endParaRPr/>
          </a:p>
        </p:txBody>
      </p:sp>
      <p:sp>
        <p:nvSpPr>
          <p:cNvPr id="5271" name="Google Shape;5271;p33"/>
          <p:cNvSpPr txBox="1"/>
          <p:nvPr/>
        </p:nvSpPr>
        <p:spPr>
          <a:xfrm>
            <a:off x="365760" y="542239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Bound Premium</a:t>
            </a:r>
            <a:endParaRPr/>
          </a:p>
        </p:txBody>
      </p:sp>
      <p:sp>
        <p:nvSpPr>
          <p:cNvPr id="5272" name="Google Shape;5272;p33"/>
          <p:cNvSpPr txBox="1"/>
          <p:nvPr/>
        </p:nvSpPr>
        <p:spPr>
          <a:xfrm>
            <a:off x="1463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273" name="Google Shape;5273;p33"/>
          <p:cNvSpPr txBox="1"/>
          <p:nvPr/>
        </p:nvSpPr>
        <p:spPr>
          <a:xfrm>
            <a:off x="2148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$1K</a:t>
            </a:r>
            <a:endParaRPr/>
          </a:p>
        </p:txBody>
      </p:sp>
      <p:sp>
        <p:nvSpPr>
          <p:cNvPr id="5274" name="Google Shape;5274;p33"/>
          <p:cNvSpPr txBox="1"/>
          <p:nvPr/>
        </p:nvSpPr>
        <p:spPr>
          <a:xfrm>
            <a:off x="2834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$46K</a:t>
            </a:r>
            <a:endParaRPr/>
          </a:p>
        </p:txBody>
      </p:sp>
      <p:sp>
        <p:nvSpPr>
          <p:cNvPr id="5275" name="Google Shape;5275;p33"/>
          <p:cNvSpPr txBox="1"/>
          <p:nvPr/>
        </p:nvSpPr>
        <p:spPr>
          <a:xfrm>
            <a:off x="3520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$6K</a:t>
            </a:r>
            <a:endParaRPr/>
          </a:p>
        </p:txBody>
      </p:sp>
      <p:sp>
        <p:nvSpPr>
          <p:cNvPr id="5276" name="Google Shape;5276;p33"/>
          <p:cNvSpPr txBox="1"/>
          <p:nvPr/>
        </p:nvSpPr>
        <p:spPr>
          <a:xfrm>
            <a:off x="4206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$24K</a:t>
            </a:r>
            <a:endParaRPr/>
          </a:p>
        </p:txBody>
      </p:sp>
      <p:sp>
        <p:nvSpPr>
          <p:cNvPr id="5277" name="Google Shape;5277;p33"/>
          <p:cNvSpPr txBox="1"/>
          <p:nvPr/>
        </p:nvSpPr>
        <p:spPr>
          <a:xfrm>
            <a:off x="4892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$16K</a:t>
            </a:r>
            <a:endParaRPr/>
          </a:p>
        </p:txBody>
      </p:sp>
      <p:sp>
        <p:nvSpPr>
          <p:cNvPr id="5278" name="Google Shape;5278;p33"/>
          <p:cNvSpPr txBox="1"/>
          <p:nvPr/>
        </p:nvSpPr>
        <p:spPr>
          <a:xfrm>
            <a:off x="5577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$13K</a:t>
            </a:r>
            <a:endParaRPr/>
          </a:p>
        </p:txBody>
      </p:sp>
      <p:sp>
        <p:nvSpPr>
          <p:cNvPr id="5279" name="Google Shape;5279;p33"/>
          <p:cNvSpPr txBox="1"/>
          <p:nvPr/>
        </p:nvSpPr>
        <p:spPr>
          <a:xfrm>
            <a:off x="6263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$54K</a:t>
            </a:r>
            <a:endParaRPr/>
          </a:p>
        </p:txBody>
      </p:sp>
      <p:sp>
        <p:nvSpPr>
          <p:cNvPr id="5280" name="Google Shape;5280;p33"/>
          <p:cNvSpPr txBox="1"/>
          <p:nvPr/>
        </p:nvSpPr>
        <p:spPr>
          <a:xfrm>
            <a:off x="6949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$-3,701</a:t>
            </a:r>
            <a:endParaRPr/>
          </a:p>
        </p:txBody>
      </p:sp>
      <p:sp>
        <p:nvSpPr>
          <p:cNvPr id="5281" name="Google Shape;5281;p33"/>
          <p:cNvSpPr txBox="1"/>
          <p:nvPr/>
        </p:nvSpPr>
        <p:spPr>
          <a:xfrm>
            <a:off x="7635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$15K</a:t>
            </a:r>
            <a:endParaRPr/>
          </a:p>
        </p:txBody>
      </p:sp>
      <p:sp>
        <p:nvSpPr>
          <p:cNvPr id="5282" name="Google Shape;5282;p33"/>
          <p:cNvSpPr txBox="1"/>
          <p:nvPr/>
        </p:nvSpPr>
        <p:spPr>
          <a:xfrm>
            <a:off x="8321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283" name="Google Shape;5283;p33"/>
          <p:cNvSpPr txBox="1"/>
          <p:nvPr/>
        </p:nvSpPr>
        <p:spPr>
          <a:xfrm>
            <a:off x="9006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284" name="Google Shape;5284;p33"/>
          <p:cNvSpPr txBox="1"/>
          <p:nvPr/>
        </p:nvSpPr>
        <p:spPr>
          <a:xfrm>
            <a:off x="969264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$79K</a:t>
            </a:r>
            <a:endParaRPr/>
          </a:p>
        </p:txBody>
      </p:sp>
      <p:sp>
        <p:nvSpPr>
          <p:cNvPr id="5285" name="Google Shape;5285;p33"/>
          <p:cNvSpPr txBox="1"/>
          <p:nvPr/>
        </p:nvSpPr>
        <p:spPr>
          <a:xfrm>
            <a:off x="1088136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$93K</a:t>
            </a:r>
            <a:endParaRPr/>
          </a:p>
        </p:txBody>
      </p:sp>
      <p:sp>
        <p:nvSpPr>
          <p:cNvPr id="5286" name="Google Shape;5286;p33"/>
          <p:cNvSpPr/>
          <p:nvPr/>
        </p:nvSpPr>
        <p:spPr>
          <a:xfrm>
            <a:off x="365760" y="5678423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7" name="Google Shape;5287;p33"/>
          <p:cNvSpPr txBox="1"/>
          <p:nvPr/>
        </p:nvSpPr>
        <p:spPr>
          <a:xfrm>
            <a:off x="4572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65F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STRENGTHS - What's Working</a:t>
            </a:r>
            <a:endParaRPr/>
          </a:p>
        </p:txBody>
      </p:sp>
      <p:sp>
        <p:nvSpPr>
          <p:cNvPr id="5288" name="Google Shape;5288;p33"/>
          <p:cNvSpPr txBox="1"/>
          <p:nvPr/>
        </p:nvSpPr>
        <p:spPr>
          <a:xfrm>
            <a:off x="4572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5289" name="Google Shape;5289;p33"/>
          <p:cNvSpPr txBox="1"/>
          <p:nvPr/>
        </p:nvSpPr>
        <p:spPr>
          <a:xfrm>
            <a:off x="685800" y="5952743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$92,651 YTD gross written premium</a:t>
            </a:r>
            <a:endParaRPr/>
          </a:p>
        </p:txBody>
      </p:sp>
      <p:sp>
        <p:nvSpPr>
          <p:cNvPr id="5290" name="Google Shape;5290;p33"/>
          <p:cNvSpPr txBox="1"/>
          <p:nvPr/>
        </p:nvSpPr>
        <p:spPr>
          <a:xfrm>
            <a:off x="457200" y="6153911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5291" name="Google Shape;5291;p33"/>
          <p:cNvSpPr txBox="1"/>
          <p:nvPr/>
        </p:nvSpPr>
        <p:spPr>
          <a:xfrm>
            <a:off x="685800" y="6153911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$91,341 in new business production</a:t>
            </a:r>
            <a:endParaRPr/>
          </a:p>
        </p:txBody>
      </p:sp>
      <p:sp>
        <p:nvSpPr>
          <p:cNvPr id="5292" name="Google Shape;5292;p33"/>
          <p:cNvSpPr/>
          <p:nvPr/>
        </p:nvSpPr>
        <p:spPr>
          <a:xfrm>
            <a:off x="6309360" y="5678423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3" name="Google Shape;5293;p33"/>
          <p:cNvSpPr txBox="1"/>
          <p:nvPr/>
        </p:nvSpPr>
        <p:spPr>
          <a:xfrm>
            <a:off x="64008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NEEDS ATTENTION</a:t>
            </a:r>
            <a:endParaRPr/>
          </a:p>
        </p:txBody>
      </p:sp>
      <p:sp>
        <p:nvSpPr>
          <p:cNvPr id="5294" name="Google Shape;5294;p33"/>
          <p:cNvSpPr txBox="1"/>
          <p:nvPr/>
        </p:nvSpPr>
        <p:spPr>
          <a:xfrm>
            <a:off x="64008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5295" name="Google Shape;5295;p33"/>
          <p:cNvSpPr txBox="1"/>
          <p:nvPr/>
        </p:nvSpPr>
        <p:spPr>
          <a:xfrm>
            <a:off x="6629400" y="5952743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 at 72% of new business ($65,836)</a:t>
            </a:r>
            <a:endParaRPr/>
          </a:p>
        </p:txBody>
      </p:sp>
      <p:sp>
        <p:nvSpPr>
          <p:cNvPr id="5296" name="Google Shape;5296;p33"/>
          <p:cNvSpPr txBox="1"/>
          <p:nvPr/>
        </p:nvSpPr>
        <p:spPr>
          <a:xfrm>
            <a:off x="6400800" y="6153911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5297" name="Google Shape;5297;p33"/>
          <p:cNvSpPr txBox="1"/>
          <p:nvPr/>
        </p:nvSpPr>
        <p:spPr>
          <a:xfrm>
            <a:off x="6629400" y="6153911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Written premium dropped 72% month-over-month</a:t>
            </a:r>
            <a:endParaRPr/>
          </a:p>
        </p:txBody>
      </p:sp>
      <p:sp>
        <p:nvSpPr>
          <p:cNvPr id="5298" name="Google Shape;5298;p33"/>
          <p:cNvSpPr/>
          <p:nvPr/>
        </p:nvSpPr>
        <p:spPr>
          <a:xfrm>
            <a:off x="365760" y="6455663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9" name="Google Shape;5299;p33"/>
          <p:cNvSpPr txBox="1"/>
          <p:nvPr/>
        </p:nvSpPr>
        <p:spPr>
          <a:xfrm>
            <a:off x="457200" y="6464807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STRATEGIC SALES TIPS - Conversation Starters</a:t>
            </a:r>
            <a:endParaRPr/>
          </a:p>
        </p:txBody>
      </p:sp>
      <p:sp>
        <p:nvSpPr>
          <p:cNvPr id="5300" name="Google Shape;5300;p33"/>
          <p:cNvSpPr txBox="1"/>
          <p:nvPr/>
        </p:nvSpPr>
        <p:spPr>
          <a:xfrm>
            <a:off x="457200" y="6711695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endParaRPr/>
          </a:p>
        </p:txBody>
      </p:sp>
      <p:sp>
        <p:nvSpPr>
          <p:cNvPr id="5301" name="Google Shape;5301;p33"/>
          <p:cNvSpPr txBox="1"/>
          <p:nvPr/>
        </p:nvSpPr>
        <p:spPr>
          <a:xfrm>
            <a:off x="777240" y="6711695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Acknowledge their $91,341 in new business. Ask: "What types of accounts are you seeing the most success with?" Use this to identify more of their book that fits our appetite.</a:t>
            </a:r>
            <a:endParaRPr/>
          </a:p>
        </p:txBody>
      </p:sp>
      <p:sp>
        <p:nvSpPr>
          <p:cNvPr id="5302" name="Google Shape;5302;p33"/>
          <p:cNvSpPr txBox="1"/>
          <p:nvPr/>
        </p:nvSpPr>
        <p:spPr>
          <a:xfrm>
            <a:off x="457200" y="6949439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endParaRPr/>
          </a:p>
        </p:txBody>
      </p:sp>
      <p:sp>
        <p:nvSpPr>
          <p:cNvPr id="5303" name="Google Shape;5303;p33"/>
          <p:cNvSpPr txBox="1"/>
          <p:nvPr/>
        </p:nvSpPr>
        <p:spPr>
          <a:xfrm>
            <a:off x="777240" y="6949439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Address the $65,836 in cancellations. Ask: "Are we losing these to price, service, or coverage?" Proactive retention discussions can protect the book and strengthen the relationship.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07" name="Shape 5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8" name="Google Shape;5308;p34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9" name="Google Shape;5309;p34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Woodard Agency Llc</a:t>
            </a:r>
            <a:endParaRPr/>
          </a:p>
        </p:txBody>
      </p:sp>
      <p:sp>
        <p:nvSpPr>
          <p:cNvPr id="5310" name="Google Shape;5310;p34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4B5F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Tier: Tier 2  |  Region: Southeast  |  State: GA  |  City: Watkinsville</a:t>
            </a:r>
            <a:endParaRPr/>
          </a:p>
        </p:txBody>
      </p:sp>
      <p:sp>
        <p:nvSpPr>
          <p:cNvPr id="5311" name="Google Shape;5311;p34"/>
          <p:cNvSpPr/>
          <p:nvPr/>
        </p:nvSpPr>
        <p:spPr>
          <a:xfrm>
            <a:off x="22860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$79,172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YTD GWP</a:t>
            </a:r>
            <a:endParaRPr/>
          </a:p>
        </p:txBody>
      </p:sp>
      <p:sp>
        <p:nvSpPr>
          <p:cNvPr id="5312" name="Google Shape;5312;p34"/>
          <p:cNvSpPr/>
          <p:nvPr/>
        </p:nvSpPr>
        <p:spPr>
          <a:xfrm>
            <a:off x="256032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$58,824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5313" name="Google Shape;5313;p34"/>
          <p:cNvSpPr/>
          <p:nvPr/>
        </p:nvSpPr>
        <p:spPr>
          <a:xfrm>
            <a:off x="489204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$19,547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5314" name="Google Shape;5314;p34"/>
          <p:cNvSpPr/>
          <p:nvPr/>
        </p:nvSpPr>
        <p:spPr>
          <a:xfrm>
            <a:off x="7223759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$800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5315" name="Google Shape;5315;p34"/>
          <p:cNvSpPr/>
          <p:nvPr/>
        </p:nvSpPr>
        <p:spPr>
          <a:xfrm>
            <a:off x="955548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$-124,710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5316" name="Google Shape;5316;p34"/>
          <p:cNvSpPr/>
          <p:nvPr/>
        </p:nvSpPr>
        <p:spPr>
          <a:xfrm>
            <a:off x="137160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$368,051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2025 Full Year GWP</a:t>
            </a:r>
            <a:endParaRPr/>
          </a:p>
        </p:txBody>
      </p:sp>
      <p:sp>
        <p:nvSpPr>
          <p:cNvPr id="5317" name="Google Shape;5317;p34"/>
          <p:cNvSpPr/>
          <p:nvPr/>
        </p:nvSpPr>
        <p:spPr>
          <a:xfrm>
            <a:off x="1627631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$291,941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Rolling 12M GWP</a:t>
            </a:r>
            <a:endParaRPr/>
          </a:p>
        </p:txBody>
      </p:sp>
      <p:sp>
        <p:nvSpPr>
          <p:cNvPr id="5318" name="Google Shape;5318;p34"/>
          <p:cNvSpPr/>
          <p:nvPr/>
        </p:nvSpPr>
        <p:spPr>
          <a:xfrm>
            <a:off x="3118103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18%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% to Goal</a:t>
            </a:r>
            <a:endParaRPr/>
          </a:p>
        </p:txBody>
      </p:sp>
      <p:sp>
        <p:nvSpPr>
          <p:cNvPr id="5319" name="Google Shape;5319;p34"/>
          <p:cNvSpPr/>
          <p:nvPr/>
        </p:nvSpPr>
        <p:spPr>
          <a:xfrm>
            <a:off x="4608576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5320" name="Google Shape;5320;p34"/>
          <p:cNvSpPr/>
          <p:nvPr/>
        </p:nvSpPr>
        <p:spPr>
          <a:xfrm>
            <a:off x="6099048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5321" name="Google Shape;5321;p34"/>
          <p:cNvSpPr/>
          <p:nvPr/>
        </p:nvSpPr>
        <p:spPr>
          <a:xfrm>
            <a:off x="7589519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3.0%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5322" name="Google Shape;5322;p34"/>
          <p:cNvSpPr/>
          <p:nvPr/>
        </p:nvSpPr>
        <p:spPr>
          <a:xfrm>
            <a:off x="9079992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 Bound Prem</a:t>
            </a:r>
            <a:endParaRPr/>
          </a:p>
        </p:txBody>
      </p:sp>
      <p:sp>
        <p:nvSpPr>
          <p:cNvPr id="5323" name="Google Shape;5323;p34"/>
          <p:cNvSpPr/>
          <p:nvPr/>
        </p:nvSpPr>
        <p:spPr>
          <a:xfrm>
            <a:off x="10570464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$58,599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NF Bound Prem</a:t>
            </a:r>
            <a:endParaRPr/>
          </a:p>
        </p:txBody>
      </p:sp>
      <p:sp>
        <p:nvSpPr>
          <p:cNvPr id="5324" name="Google Shape;5324;p34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5" name="Google Shape;5325;p34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PRODUCTION BY MONTH</a:t>
            </a:r>
            <a:endParaRPr/>
          </a:p>
        </p:txBody>
      </p:sp>
      <p:sp>
        <p:nvSpPr>
          <p:cNvPr id="5326" name="Google Shape;5326;p34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5327" name="Google Shape;5327;p34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Written Premium</a:t>
            </a:r>
            <a:endParaRPr/>
          </a:p>
        </p:txBody>
      </p:sp>
      <p:sp>
        <p:nvSpPr>
          <p:cNvPr id="5328" name="Google Shape;5328;p34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5329" name="Google Shape;5329;p34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5330" name="Google Shape;5330;p34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5331" name="Google Shape;5331;p3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5332" name="Google Shape;5332;p34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3" name="Google Shape;5333;p34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5334" name="Google Shape;5334;p34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$800</a:t>
            </a:r>
            <a:endParaRPr/>
          </a:p>
        </p:txBody>
      </p:sp>
      <p:sp>
        <p:nvSpPr>
          <p:cNvPr id="5335" name="Google Shape;5335;p34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336" name="Google Shape;5336;p34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337" name="Google Shape;5337;p34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$800</a:t>
            </a:r>
            <a:endParaRPr/>
          </a:p>
        </p:txBody>
      </p:sp>
      <p:sp>
        <p:nvSpPr>
          <p:cNvPr id="5338" name="Google Shape;5338;p34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$-47,279</a:t>
            </a:r>
            <a:endParaRPr/>
          </a:p>
        </p:txBody>
      </p:sp>
      <p:sp>
        <p:nvSpPr>
          <p:cNvPr id="5339" name="Google Shape;5339;p34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0" name="Google Shape;5340;p34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5341" name="Google Shape;5341;p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342" name="Google Shape;5342;p34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343" name="Google Shape;5343;p34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344" name="Google Shape;5344;p34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345" name="Google Shape;5345;p34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346" name="Google Shape;5346;p34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7" name="Google Shape;5347;p34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5348" name="Google Shape;5348;p34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$19,547</a:t>
            </a:r>
            <a:endParaRPr/>
          </a:p>
        </p:txBody>
      </p:sp>
      <p:sp>
        <p:nvSpPr>
          <p:cNvPr id="5349" name="Google Shape;5349;p34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350" name="Google Shape;5350;p34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$19,547</a:t>
            </a:r>
            <a:endParaRPr/>
          </a:p>
        </p:txBody>
      </p:sp>
      <p:sp>
        <p:nvSpPr>
          <p:cNvPr id="5351" name="Google Shape;5351;p3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352" name="Google Shape;5352;p34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$-24,183</a:t>
            </a:r>
            <a:endParaRPr/>
          </a:p>
        </p:txBody>
      </p:sp>
      <p:sp>
        <p:nvSpPr>
          <p:cNvPr id="5353" name="Google Shape;5353;p34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4" name="Google Shape;5354;p34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5355" name="Google Shape;5355;p34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$33,438</a:t>
            </a:r>
            <a:endParaRPr/>
          </a:p>
        </p:txBody>
      </p:sp>
      <p:sp>
        <p:nvSpPr>
          <p:cNvPr id="5356" name="Google Shape;5356;p34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$33,438</a:t>
            </a:r>
            <a:endParaRPr/>
          </a:p>
        </p:txBody>
      </p:sp>
      <p:sp>
        <p:nvSpPr>
          <p:cNvPr id="5357" name="Google Shape;5357;p34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358" name="Google Shape;5358;p34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359" name="Google Shape;5359;p34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$-12,224</a:t>
            </a:r>
            <a:endParaRPr/>
          </a:p>
        </p:txBody>
      </p:sp>
      <p:sp>
        <p:nvSpPr>
          <p:cNvPr id="5360" name="Google Shape;5360;p34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1" name="Google Shape;5361;p3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5362" name="Google Shape;5362;p34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$25,386</a:t>
            </a:r>
            <a:endParaRPr/>
          </a:p>
        </p:txBody>
      </p:sp>
      <p:sp>
        <p:nvSpPr>
          <p:cNvPr id="5363" name="Google Shape;5363;p34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$25,386</a:t>
            </a:r>
            <a:endParaRPr/>
          </a:p>
        </p:txBody>
      </p:sp>
      <p:sp>
        <p:nvSpPr>
          <p:cNvPr id="5364" name="Google Shape;5364;p34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365" name="Google Shape;5365;p34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366" name="Google Shape;5366;p34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$-41,024</a:t>
            </a:r>
            <a:endParaRPr/>
          </a:p>
        </p:txBody>
      </p:sp>
      <p:sp>
        <p:nvSpPr>
          <p:cNvPr id="5367" name="Google Shape;5367;p34"/>
          <p:cNvSpPr/>
          <p:nvPr/>
        </p:nvSpPr>
        <p:spPr>
          <a:xfrm>
            <a:off x="365760" y="4123944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8" name="Google Shape;5368;p34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5369" name="Google Shape;5369;p34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370" name="Google Shape;5370;p34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371" name="Google Shape;5371;p3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372" name="Google Shape;5372;p34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373" name="Google Shape;5373;p34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374" name="Google Shape;5374;p34"/>
          <p:cNvSpPr/>
          <p:nvPr/>
        </p:nvSpPr>
        <p:spPr>
          <a:xfrm>
            <a:off x="365760" y="4425696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5" name="Google Shape;5375;p34"/>
          <p:cNvSpPr txBox="1"/>
          <p:nvPr/>
        </p:nvSpPr>
        <p:spPr>
          <a:xfrm>
            <a:off x="3657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5376" name="Google Shape;5376;p34"/>
          <p:cNvSpPr txBox="1"/>
          <p:nvPr/>
        </p:nvSpPr>
        <p:spPr>
          <a:xfrm>
            <a:off x="1280160" y="446227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$79,172</a:t>
            </a:r>
            <a:endParaRPr/>
          </a:p>
        </p:txBody>
      </p:sp>
      <p:sp>
        <p:nvSpPr>
          <p:cNvPr id="5377" name="Google Shape;5377;p34"/>
          <p:cNvSpPr txBox="1"/>
          <p:nvPr/>
        </p:nvSpPr>
        <p:spPr>
          <a:xfrm>
            <a:off x="2377439" y="446227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$58,824</a:t>
            </a:r>
            <a:endParaRPr/>
          </a:p>
        </p:txBody>
      </p:sp>
      <p:sp>
        <p:nvSpPr>
          <p:cNvPr id="5378" name="Google Shape;5378;p34"/>
          <p:cNvSpPr txBox="1"/>
          <p:nvPr/>
        </p:nvSpPr>
        <p:spPr>
          <a:xfrm>
            <a:off x="33832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$19,547</a:t>
            </a:r>
            <a:endParaRPr/>
          </a:p>
        </p:txBody>
      </p:sp>
      <p:sp>
        <p:nvSpPr>
          <p:cNvPr id="5379" name="Google Shape;5379;p34"/>
          <p:cNvSpPr txBox="1"/>
          <p:nvPr/>
        </p:nvSpPr>
        <p:spPr>
          <a:xfrm>
            <a:off x="42976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$800</a:t>
            </a:r>
            <a:endParaRPr/>
          </a:p>
        </p:txBody>
      </p:sp>
      <p:sp>
        <p:nvSpPr>
          <p:cNvPr id="5380" name="Google Shape;5380;p34"/>
          <p:cNvSpPr txBox="1"/>
          <p:nvPr/>
        </p:nvSpPr>
        <p:spPr>
          <a:xfrm>
            <a:off x="52120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$-124,710</a:t>
            </a:r>
            <a:endParaRPr/>
          </a:p>
        </p:txBody>
      </p:sp>
      <p:sp>
        <p:nvSpPr>
          <p:cNvPr id="5381" name="Google Shape;5381;p34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2" name="Google Shape;5382;p34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 &amp; PIPELINE</a:t>
            </a:r>
            <a:endParaRPr/>
          </a:p>
        </p:txBody>
      </p:sp>
      <p:sp>
        <p:nvSpPr>
          <p:cNvPr id="5383" name="Google Shape;5383;p34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5384" name="Google Shape;5384;p34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Subs</a:t>
            </a:r>
            <a:endParaRPr/>
          </a:p>
        </p:txBody>
      </p:sp>
      <p:sp>
        <p:nvSpPr>
          <p:cNvPr id="5385" name="Google Shape;5385;p34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</a:t>
            </a:r>
            <a:endParaRPr/>
          </a:p>
        </p:txBody>
      </p:sp>
      <p:sp>
        <p:nvSpPr>
          <p:cNvPr id="5386" name="Google Shape;5386;p34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Non-Fleet</a:t>
            </a:r>
            <a:endParaRPr/>
          </a:p>
        </p:txBody>
      </p:sp>
      <p:sp>
        <p:nvSpPr>
          <p:cNvPr id="5387" name="Google Shape;5387;p34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5388" name="Google Shape;5388;p3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5389" name="Google Shape;5389;p34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0" name="Google Shape;5390;p34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5391" name="Google Shape;5391;p34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30</a:t>
            </a:r>
            <a:endParaRPr/>
          </a:p>
        </p:txBody>
      </p:sp>
      <p:sp>
        <p:nvSpPr>
          <p:cNvPr id="5392" name="Google Shape;5392;p34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5393" name="Google Shape;5393;p34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30</a:t>
            </a:r>
            <a:endParaRPr/>
          </a:p>
        </p:txBody>
      </p:sp>
      <p:sp>
        <p:nvSpPr>
          <p:cNvPr id="5394" name="Google Shape;5394;p34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5395" name="Google Shape;5395;p34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6.7%</a:t>
            </a:r>
            <a:endParaRPr/>
          </a:p>
        </p:txBody>
      </p:sp>
      <p:sp>
        <p:nvSpPr>
          <p:cNvPr id="5396" name="Google Shape;5396;p34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7" name="Google Shape;5397;p34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5398" name="Google Shape;5398;p3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24</a:t>
            </a:r>
            <a:endParaRPr/>
          </a:p>
        </p:txBody>
      </p:sp>
      <p:sp>
        <p:nvSpPr>
          <p:cNvPr id="5399" name="Google Shape;5399;p34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5400" name="Google Shape;5400;p34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24</a:t>
            </a:r>
            <a:endParaRPr/>
          </a:p>
        </p:txBody>
      </p:sp>
      <p:sp>
        <p:nvSpPr>
          <p:cNvPr id="5401" name="Google Shape;5401;p34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5402" name="Google Shape;5402;p34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5403" name="Google Shape;5403;p34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4" name="Google Shape;5404;p34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5405" name="Google Shape;5405;p34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</a:t>
            </a:r>
            <a:endParaRPr/>
          </a:p>
        </p:txBody>
      </p:sp>
      <p:sp>
        <p:nvSpPr>
          <p:cNvPr id="5406" name="Google Shape;5406;p34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5407" name="Google Shape;5407;p34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</a:t>
            </a:r>
            <a:endParaRPr/>
          </a:p>
        </p:txBody>
      </p:sp>
      <p:sp>
        <p:nvSpPr>
          <p:cNvPr id="5408" name="Google Shape;5408;p3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5409" name="Google Shape;5409;p34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6.7%</a:t>
            </a:r>
            <a:endParaRPr/>
          </a:p>
        </p:txBody>
      </p:sp>
      <p:sp>
        <p:nvSpPr>
          <p:cNvPr id="5410" name="Google Shape;5410;p34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1" name="Google Shape;5411;p34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5412" name="Google Shape;5412;p34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</a:t>
            </a:r>
            <a:endParaRPr/>
          </a:p>
        </p:txBody>
      </p:sp>
      <p:sp>
        <p:nvSpPr>
          <p:cNvPr id="5413" name="Google Shape;5413;p34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5414" name="Google Shape;5414;p34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</a:t>
            </a:r>
            <a:endParaRPr/>
          </a:p>
        </p:txBody>
      </p:sp>
      <p:sp>
        <p:nvSpPr>
          <p:cNvPr id="5415" name="Google Shape;5415;p34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5416" name="Google Shape;5416;p34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12.5%</a:t>
            </a:r>
            <a:endParaRPr/>
          </a:p>
        </p:txBody>
      </p:sp>
      <p:sp>
        <p:nvSpPr>
          <p:cNvPr id="5417" name="Google Shape;5417;p34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8" name="Google Shape;5418;p3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5419" name="Google Shape;5419;p34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</a:t>
            </a:r>
            <a:endParaRPr/>
          </a:p>
        </p:txBody>
      </p:sp>
      <p:sp>
        <p:nvSpPr>
          <p:cNvPr id="5420" name="Google Shape;5420;p34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5421" name="Google Shape;5421;p34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</a:t>
            </a:r>
            <a:endParaRPr/>
          </a:p>
        </p:txBody>
      </p:sp>
      <p:sp>
        <p:nvSpPr>
          <p:cNvPr id="5422" name="Google Shape;5422;p34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5423" name="Google Shape;5423;p34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5424" name="Google Shape;5424;p34"/>
          <p:cNvSpPr/>
          <p:nvPr/>
        </p:nvSpPr>
        <p:spPr>
          <a:xfrm>
            <a:off x="6309360" y="4123944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5" name="Google Shape;5425;p34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5426" name="Google Shape;5426;p34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5427" name="Google Shape;5427;p34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5428" name="Google Shape;5428;p3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5429" name="Google Shape;5429;p34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5430" name="Google Shape;5430;p34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5431" name="Google Shape;5431;p34"/>
          <p:cNvSpPr/>
          <p:nvPr/>
        </p:nvSpPr>
        <p:spPr>
          <a:xfrm>
            <a:off x="6309360" y="4425696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2" name="Google Shape;5432;p34"/>
          <p:cNvSpPr txBox="1"/>
          <p:nvPr/>
        </p:nvSpPr>
        <p:spPr>
          <a:xfrm>
            <a:off x="63093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5433" name="Google Shape;5433;p34"/>
          <p:cNvSpPr txBox="1"/>
          <p:nvPr/>
        </p:nvSpPr>
        <p:spPr>
          <a:xfrm>
            <a:off x="722376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99</a:t>
            </a:r>
            <a:endParaRPr/>
          </a:p>
        </p:txBody>
      </p:sp>
      <p:sp>
        <p:nvSpPr>
          <p:cNvPr id="5434" name="Google Shape;5434;p34"/>
          <p:cNvSpPr txBox="1"/>
          <p:nvPr/>
        </p:nvSpPr>
        <p:spPr>
          <a:xfrm>
            <a:off x="804672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5435" name="Google Shape;5435;p34"/>
          <p:cNvSpPr txBox="1"/>
          <p:nvPr/>
        </p:nvSpPr>
        <p:spPr>
          <a:xfrm>
            <a:off x="886968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99</a:t>
            </a:r>
            <a:endParaRPr/>
          </a:p>
        </p:txBody>
      </p:sp>
      <p:sp>
        <p:nvSpPr>
          <p:cNvPr id="5436" name="Google Shape;5436;p34"/>
          <p:cNvSpPr txBox="1"/>
          <p:nvPr/>
        </p:nvSpPr>
        <p:spPr>
          <a:xfrm>
            <a:off x="978408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5437" name="Google Shape;5437;p34"/>
          <p:cNvSpPr txBox="1"/>
          <p:nvPr/>
        </p:nvSpPr>
        <p:spPr>
          <a:xfrm>
            <a:off x="1060704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3.0%</a:t>
            </a:r>
            <a:endParaRPr/>
          </a:p>
        </p:txBody>
      </p:sp>
      <p:sp>
        <p:nvSpPr>
          <p:cNvPr id="5438" name="Google Shape;5438;p34"/>
          <p:cNvSpPr/>
          <p:nvPr/>
        </p:nvSpPr>
        <p:spPr>
          <a:xfrm>
            <a:off x="365760" y="4782312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9" name="Google Shape;5439;p34"/>
          <p:cNvSpPr txBox="1"/>
          <p:nvPr/>
        </p:nvSpPr>
        <p:spPr>
          <a:xfrm>
            <a:off x="457200" y="4800599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YOY COMPARISON — Jan–Jun 2025 vs Jan–Jun 2026</a:t>
            </a:r>
            <a:endParaRPr/>
          </a:p>
        </p:txBody>
      </p:sp>
      <p:sp>
        <p:nvSpPr>
          <p:cNvPr id="5440" name="Google Shape;5440;p34"/>
          <p:cNvSpPr txBox="1"/>
          <p:nvPr/>
        </p:nvSpPr>
        <p:spPr>
          <a:xfrm>
            <a:off x="365760" y="5056631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00" u="none" cap="none" strike="noStrike">
              <a:solidFill>
                <a:srgbClr val="6B728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441" name="Google Shape;5441;p34"/>
          <p:cNvSpPr txBox="1"/>
          <p:nvPr/>
        </p:nvSpPr>
        <p:spPr>
          <a:xfrm>
            <a:off x="1463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'25</a:t>
            </a:r>
            <a:endParaRPr/>
          </a:p>
        </p:txBody>
      </p:sp>
      <p:sp>
        <p:nvSpPr>
          <p:cNvPr id="5442" name="Google Shape;5442;p34"/>
          <p:cNvSpPr txBox="1"/>
          <p:nvPr/>
        </p:nvSpPr>
        <p:spPr>
          <a:xfrm>
            <a:off x="2148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'26</a:t>
            </a:r>
            <a:endParaRPr/>
          </a:p>
        </p:txBody>
      </p:sp>
      <p:sp>
        <p:nvSpPr>
          <p:cNvPr id="5443" name="Google Shape;5443;p34"/>
          <p:cNvSpPr txBox="1"/>
          <p:nvPr/>
        </p:nvSpPr>
        <p:spPr>
          <a:xfrm>
            <a:off x="2834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'25</a:t>
            </a:r>
            <a:endParaRPr/>
          </a:p>
        </p:txBody>
      </p:sp>
      <p:sp>
        <p:nvSpPr>
          <p:cNvPr id="5444" name="Google Shape;5444;p34"/>
          <p:cNvSpPr txBox="1"/>
          <p:nvPr/>
        </p:nvSpPr>
        <p:spPr>
          <a:xfrm>
            <a:off x="3520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'26</a:t>
            </a:r>
            <a:endParaRPr/>
          </a:p>
        </p:txBody>
      </p:sp>
      <p:sp>
        <p:nvSpPr>
          <p:cNvPr id="5445" name="Google Shape;5445;p34"/>
          <p:cNvSpPr txBox="1"/>
          <p:nvPr/>
        </p:nvSpPr>
        <p:spPr>
          <a:xfrm>
            <a:off x="4206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'25</a:t>
            </a:r>
            <a:endParaRPr/>
          </a:p>
        </p:txBody>
      </p:sp>
      <p:sp>
        <p:nvSpPr>
          <p:cNvPr id="5446" name="Google Shape;5446;p34"/>
          <p:cNvSpPr txBox="1"/>
          <p:nvPr/>
        </p:nvSpPr>
        <p:spPr>
          <a:xfrm>
            <a:off x="4892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'26</a:t>
            </a:r>
            <a:endParaRPr/>
          </a:p>
        </p:txBody>
      </p:sp>
      <p:sp>
        <p:nvSpPr>
          <p:cNvPr id="5447" name="Google Shape;5447;p34"/>
          <p:cNvSpPr txBox="1"/>
          <p:nvPr/>
        </p:nvSpPr>
        <p:spPr>
          <a:xfrm>
            <a:off x="5577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'25</a:t>
            </a:r>
            <a:endParaRPr/>
          </a:p>
        </p:txBody>
      </p:sp>
      <p:sp>
        <p:nvSpPr>
          <p:cNvPr id="5448" name="Google Shape;5448;p34"/>
          <p:cNvSpPr txBox="1"/>
          <p:nvPr/>
        </p:nvSpPr>
        <p:spPr>
          <a:xfrm>
            <a:off x="6263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'26</a:t>
            </a:r>
            <a:endParaRPr/>
          </a:p>
        </p:txBody>
      </p:sp>
      <p:sp>
        <p:nvSpPr>
          <p:cNvPr id="5449" name="Google Shape;5449;p34"/>
          <p:cNvSpPr txBox="1"/>
          <p:nvPr/>
        </p:nvSpPr>
        <p:spPr>
          <a:xfrm>
            <a:off x="6949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'25</a:t>
            </a:r>
            <a:endParaRPr/>
          </a:p>
        </p:txBody>
      </p:sp>
      <p:sp>
        <p:nvSpPr>
          <p:cNvPr id="5450" name="Google Shape;5450;p34"/>
          <p:cNvSpPr txBox="1"/>
          <p:nvPr/>
        </p:nvSpPr>
        <p:spPr>
          <a:xfrm>
            <a:off x="7635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'26</a:t>
            </a:r>
            <a:endParaRPr/>
          </a:p>
        </p:txBody>
      </p:sp>
      <p:sp>
        <p:nvSpPr>
          <p:cNvPr id="5451" name="Google Shape;5451;p34"/>
          <p:cNvSpPr txBox="1"/>
          <p:nvPr/>
        </p:nvSpPr>
        <p:spPr>
          <a:xfrm>
            <a:off x="8321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'25</a:t>
            </a:r>
            <a:endParaRPr/>
          </a:p>
        </p:txBody>
      </p:sp>
      <p:sp>
        <p:nvSpPr>
          <p:cNvPr id="5452" name="Google Shape;5452;p34"/>
          <p:cNvSpPr txBox="1"/>
          <p:nvPr/>
        </p:nvSpPr>
        <p:spPr>
          <a:xfrm>
            <a:off x="9006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'26</a:t>
            </a:r>
            <a:endParaRPr/>
          </a:p>
        </p:txBody>
      </p:sp>
      <p:sp>
        <p:nvSpPr>
          <p:cNvPr id="5453" name="Google Shape;5453;p34"/>
          <p:cNvSpPr txBox="1"/>
          <p:nvPr/>
        </p:nvSpPr>
        <p:spPr>
          <a:xfrm>
            <a:off x="969264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'25 Tot</a:t>
            </a:r>
            <a:endParaRPr/>
          </a:p>
        </p:txBody>
      </p:sp>
      <p:sp>
        <p:nvSpPr>
          <p:cNvPr id="5454" name="Google Shape;5454;p34"/>
          <p:cNvSpPr txBox="1"/>
          <p:nvPr/>
        </p:nvSpPr>
        <p:spPr>
          <a:xfrm>
            <a:off x="1088136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'26 Tot</a:t>
            </a:r>
            <a:endParaRPr/>
          </a:p>
        </p:txBody>
      </p:sp>
      <p:sp>
        <p:nvSpPr>
          <p:cNvPr id="5455" name="Google Shape;5455;p34"/>
          <p:cNvSpPr txBox="1"/>
          <p:nvPr/>
        </p:nvSpPr>
        <p:spPr>
          <a:xfrm>
            <a:off x="365760" y="523951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5456" name="Google Shape;5456;p34"/>
          <p:cNvSpPr txBox="1"/>
          <p:nvPr/>
        </p:nvSpPr>
        <p:spPr>
          <a:xfrm>
            <a:off x="1463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28</a:t>
            </a:r>
            <a:endParaRPr/>
          </a:p>
        </p:txBody>
      </p:sp>
      <p:sp>
        <p:nvSpPr>
          <p:cNvPr id="5457" name="Google Shape;5457;p34"/>
          <p:cNvSpPr txBox="1"/>
          <p:nvPr/>
        </p:nvSpPr>
        <p:spPr>
          <a:xfrm>
            <a:off x="2148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30</a:t>
            </a:r>
            <a:endParaRPr/>
          </a:p>
        </p:txBody>
      </p:sp>
      <p:sp>
        <p:nvSpPr>
          <p:cNvPr id="5458" name="Google Shape;5458;p34"/>
          <p:cNvSpPr txBox="1"/>
          <p:nvPr/>
        </p:nvSpPr>
        <p:spPr>
          <a:xfrm>
            <a:off x="2834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</a:t>
            </a:r>
            <a:endParaRPr/>
          </a:p>
        </p:txBody>
      </p:sp>
      <p:sp>
        <p:nvSpPr>
          <p:cNvPr id="5459" name="Google Shape;5459;p34"/>
          <p:cNvSpPr txBox="1"/>
          <p:nvPr/>
        </p:nvSpPr>
        <p:spPr>
          <a:xfrm>
            <a:off x="3520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24</a:t>
            </a:r>
            <a:endParaRPr/>
          </a:p>
        </p:txBody>
      </p:sp>
      <p:sp>
        <p:nvSpPr>
          <p:cNvPr id="5460" name="Google Shape;5460;p34"/>
          <p:cNvSpPr txBox="1"/>
          <p:nvPr/>
        </p:nvSpPr>
        <p:spPr>
          <a:xfrm>
            <a:off x="4206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</a:t>
            </a:r>
            <a:endParaRPr/>
          </a:p>
        </p:txBody>
      </p:sp>
      <p:sp>
        <p:nvSpPr>
          <p:cNvPr id="5461" name="Google Shape;5461;p34"/>
          <p:cNvSpPr txBox="1"/>
          <p:nvPr/>
        </p:nvSpPr>
        <p:spPr>
          <a:xfrm>
            <a:off x="4892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</a:t>
            </a:r>
            <a:endParaRPr/>
          </a:p>
        </p:txBody>
      </p:sp>
      <p:sp>
        <p:nvSpPr>
          <p:cNvPr id="5462" name="Google Shape;5462;p34"/>
          <p:cNvSpPr txBox="1"/>
          <p:nvPr/>
        </p:nvSpPr>
        <p:spPr>
          <a:xfrm>
            <a:off x="5577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24</a:t>
            </a:r>
            <a:endParaRPr/>
          </a:p>
        </p:txBody>
      </p:sp>
      <p:sp>
        <p:nvSpPr>
          <p:cNvPr id="5463" name="Google Shape;5463;p34"/>
          <p:cNvSpPr txBox="1"/>
          <p:nvPr/>
        </p:nvSpPr>
        <p:spPr>
          <a:xfrm>
            <a:off x="6263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</a:t>
            </a:r>
            <a:endParaRPr/>
          </a:p>
        </p:txBody>
      </p:sp>
      <p:sp>
        <p:nvSpPr>
          <p:cNvPr id="5464" name="Google Shape;5464;p34"/>
          <p:cNvSpPr txBox="1"/>
          <p:nvPr/>
        </p:nvSpPr>
        <p:spPr>
          <a:xfrm>
            <a:off x="6949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33</a:t>
            </a:r>
            <a:endParaRPr/>
          </a:p>
        </p:txBody>
      </p:sp>
      <p:sp>
        <p:nvSpPr>
          <p:cNvPr id="5465" name="Google Shape;5465;p34"/>
          <p:cNvSpPr txBox="1"/>
          <p:nvPr/>
        </p:nvSpPr>
        <p:spPr>
          <a:xfrm>
            <a:off x="7635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</a:t>
            </a:r>
            <a:endParaRPr/>
          </a:p>
        </p:txBody>
      </p:sp>
      <p:sp>
        <p:nvSpPr>
          <p:cNvPr id="5466" name="Google Shape;5466;p34"/>
          <p:cNvSpPr txBox="1"/>
          <p:nvPr/>
        </p:nvSpPr>
        <p:spPr>
          <a:xfrm>
            <a:off x="8321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</a:t>
            </a:r>
            <a:endParaRPr/>
          </a:p>
        </p:txBody>
      </p:sp>
      <p:sp>
        <p:nvSpPr>
          <p:cNvPr id="5467" name="Google Shape;5467;p34"/>
          <p:cNvSpPr txBox="1"/>
          <p:nvPr/>
        </p:nvSpPr>
        <p:spPr>
          <a:xfrm>
            <a:off x="9006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5468" name="Google Shape;5468;p34"/>
          <p:cNvSpPr txBox="1"/>
          <p:nvPr/>
        </p:nvSpPr>
        <p:spPr>
          <a:xfrm>
            <a:off x="969264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122</a:t>
            </a:r>
            <a:endParaRPr/>
          </a:p>
        </p:txBody>
      </p:sp>
      <p:sp>
        <p:nvSpPr>
          <p:cNvPr id="5469" name="Google Shape;5469;p34"/>
          <p:cNvSpPr txBox="1"/>
          <p:nvPr/>
        </p:nvSpPr>
        <p:spPr>
          <a:xfrm>
            <a:off x="1088136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105</a:t>
            </a:r>
            <a:endParaRPr/>
          </a:p>
        </p:txBody>
      </p:sp>
      <p:sp>
        <p:nvSpPr>
          <p:cNvPr id="5470" name="Google Shape;5470;p34"/>
          <p:cNvSpPr txBox="1"/>
          <p:nvPr/>
        </p:nvSpPr>
        <p:spPr>
          <a:xfrm>
            <a:off x="365760" y="542239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Bound Premium</a:t>
            </a:r>
            <a:endParaRPr/>
          </a:p>
        </p:txBody>
      </p:sp>
      <p:sp>
        <p:nvSpPr>
          <p:cNvPr id="5471" name="Google Shape;5471;p34"/>
          <p:cNvSpPr txBox="1"/>
          <p:nvPr/>
        </p:nvSpPr>
        <p:spPr>
          <a:xfrm>
            <a:off x="1463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$-90</a:t>
            </a:r>
            <a:endParaRPr/>
          </a:p>
        </p:txBody>
      </p:sp>
      <p:sp>
        <p:nvSpPr>
          <p:cNvPr id="5472" name="Google Shape;5472;p34"/>
          <p:cNvSpPr txBox="1"/>
          <p:nvPr/>
        </p:nvSpPr>
        <p:spPr>
          <a:xfrm>
            <a:off x="2148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$800</a:t>
            </a:r>
            <a:endParaRPr/>
          </a:p>
        </p:txBody>
      </p:sp>
      <p:sp>
        <p:nvSpPr>
          <p:cNvPr id="5473" name="Google Shape;5473;p34"/>
          <p:cNvSpPr txBox="1"/>
          <p:nvPr/>
        </p:nvSpPr>
        <p:spPr>
          <a:xfrm>
            <a:off x="2834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474" name="Google Shape;5474;p34"/>
          <p:cNvSpPr txBox="1"/>
          <p:nvPr/>
        </p:nvSpPr>
        <p:spPr>
          <a:xfrm>
            <a:off x="3520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475" name="Google Shape;5475;p34"/>
          <p:cNvSpPr txBox="1"/>
          <p:nvPr/>
        </p:nvSpPr>
        <p:spPr>
          <a:xfrm>
            <a:off x="4206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$38K</a:t>
            </a:r>
            <a:endParaRPr/>
          </a:p>
        </p:txBody>
      </p:sp>
      <p:sp>
        <p:nvSpPr>
          <p:cNvPr id="5476" name="Google Shape;5476;p34"/>
          <p:cNvSpPr txBox="1"/>
          <p:nvPr/>
        </p:nvSpPr>
        <p:spPr>
          <a:xfrm>
            <a:off x="4892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$20K</a:t>
            </a:r>
            <a:endParaRPr/>
          </a:p>
        </p:txBody>
      </p:sp>
      <p:sp>
        <p:nvSpPr>
          <p:cNvPr id="5477" name="Google Shape;5477;p34"/>
          <p:cNvSpPr txBox="1"/>
          <p:nvPr/>
        </p:nvSpPr>
        <p:spPr>
          <a:xfrm>
            <a:off x="5577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$34K</a:t>
            </a:r>
            <a:endParaRPr/>
          </a:p>
        </p:txBody>
      </p:sp>
      <p:sp>
        <p:nvSpPr>
          <p:cNvPr id="5478" name="Google Shape;5478;p34"/>
          <p:cNvSpPr txBox="1"/>
          <p:nvPr/>
        </p:nvSpPr>
        <p:spPr>
          <a:xfrm>
            <a:off x="6263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$33K</a:t>
            </a:r>
            <a:endParaRPr/>
          </a:p>
        </p:txBody>
      </p:sp>
      <p:sp>
        <p:nvSpPr>
          <p:cNvPr id="5479" name="Google Shape;5479;p34"/>
          <p:cNvSpPr txBox="1"/>
          <p:nvPr/>
        </p:nvSpPr>
        <p:spPr>
          <a:xfrm>
            <a:off x="6949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$46K</a:t>
            </a:r>
            <a:endParaRPr/>
          </a:p>
        </p:txBody>
      </p:sp>
      <p:sp>
        <p:nvSpPr>
          <p:cNvPr id="5480" name="Google Shape;5480;p34"/>
          <p:cNvSpPr txBox="1"/>
          <p:nvPr/>
        </p:nvSpPr>
        <p:spPr>
          <a:xfrm>
            <a:off x="7635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$25K</a:t>
            </a:r>
            <a:endParaRPr/>
          </a:p>
        </p:txBody>
      </p:sp>
      <p:sp>
        <p:nvSpPr>
          <p:cNvPr id="5481" name="Google Shape;5481;p34"/>
          <p:cNvSpPr txBox="1"/>
          <p:nvPr/>
        </p:nvSpPr>
        <p:spPr>
          <a:xfrm>
            <a:off x="8321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$37K</a:t>
            </a:r>
            <a:endParaRPr/>
          </a:p>
        </p:txBody>
      </p:sp>
      <p:sp>
        <p:nvSpPr>
          <p:cNvPr id="5482" name="Google Shape;5482;p34"/>
          <p:cNvSpPr txBox="1"/>
          <p:nvPr/>
        </p:nvSpPr>
        <p:spPr>
          <a:xfrm>
            <a:off x="9006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483" name="Google Shape;5483;p34"/>
          <p:cNvSpPr txBox="1"/>
          <p:nvPr/>
        </p:nvSpPr>
        <p:spPr>
          <a:xfrm>
            <a:off x="969264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$155K</a:t>
            </a:r>
            <a:endParaRPr/>
          </a:p>
        </p:txBody>
      </p:sp>
      <p:sp>
        <p:nvSpPr>
          <p:cNvPr id="5484" name="Google Shape;5484;p34"/>
          <p:cNvSpPr txBox="1"/>
          <p:nvPr/>
        </p:nvSpPr>
        <p:spPr>
          <a:xfrm>
            <a:off x="1088136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$79K</a:t>
            </a:r>
            <a:endParaRPr/>
          </a:p>
        </p:txBody>
      </p:sp>
      <p:sp>
        <p:nvSpPr>
          <p:cNvPr id="5485" name="Google Shape;5485;p34"/>
          <p:cNvSpPr/>
          <p:nvPr/>
        </p:nvSpPr>
        <p:spPr>
          <a:xfrm>
            <a:off x="365760" y="5678423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6" name="Google Shape;5486;p34"/>
          <p:cNvSpPr txBox="1"/>
          <p:nvPr/>
        </p:nvSpPr>
        <p:spPr>
          <a:xfrm>
            <a:off x="4572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65F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STRENGTHS - What's Working</a:t>
            </a:r>
            <a:endParaRPr/>
          </a:p>
        </p:txBody>
      </p:sp>
      <p:sp>
        <p:nvSpPr>
          <p:cNvPr id="5487" name="Google Shape;5487;p34"/>
          <p:cNvSpPr txBox="1"/>
          <p:nvPr/>
        </p:nvSpPr>
        <p:spPr>
          <a:xfrm>
            <a:off x="4572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5488" name="Google Shape;5488;p34"/>
          <p:cNvSpPr txBox="1"/>
          <p:nvPr/>
        </p:nvSpPr>
        <p:spPr>
          <a:xfrm>
            <a:off x="685800" y="5952743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$79,172 YTD gross written premium</a:t>
            </a:r>
            <a:endParaRPr/>
          </a:p>
        </p:txBody>
      </p:sp>
      <p:sp>
        <p:nvSpPr>
          <p:cNvPr id="5489" name="Google Shape;5489;p34"/>
          <p:cNvSpPr txBox="1"/>
          <p:nvPr/>
        </p:nvSpPr>
        <p:spPr>
          <a:xfrm>
            <a:off x="457200" y="6153911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5490" name="Google Shape;5490;p34"/>
          <p:cNvSpPr txBox="1"/>
          <p:nvPr/>
        </p:nvSpPr>
        <p:spPr>
          <a:xfrm>
            <a:off x="685800" y="6153911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$58,824 in new business production</a:t>
            </a:r>
            <a:endParaRPr/>
          </a:p>
        </p:txBody>
      </p:sp>
      <p:sp>
        <p:nvSpPr>
          <p:cNvPr id="5491" name="Google Shape;5491;p34"/>
          <p:cNvSpPr/>
          <p:nvPr/>
        </p:nvSpPr>
        <p:spPr>
          <a:xfrm>
            <a:off x="6309360" y="5678423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2" name="Google Shape;5492;p34"/>
          <p:cNvSpPr txBox="1"/>
          <p:nvPr/>
        </p:nvSpPr>
        <p:spPr>
          <a:xfrm>
            <a:off x="64008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NEEDS ATTENTION</a:t>
            </a:r>
            <a:endParaRPr/>
          </a:p>
        </p:txBody>
      </p:sp>
      <p:sp>
        <p:nvSpPr>
          <p:cNvPr id="5493" name="Google Shape;5493;p34"/>
          <p:cNvSpPr txBox="1"/>
          <p:nvPr/>
        </p:nvSpPr>
        <p:spPr>
          <a:xfrm>
            <a:off x="64008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5494" name="Google Shape;5494;p34"/>
          <p:cNvSpPr txBox="1"/>
          <p:nvPr/>
        </p:nvSpPr>
        <p:spPr>
          <a:xfrm>
            <a:off x="6629400" y="5952743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 at 212% of new business ($124,710)</a:t>
            </a:r>
            <a:endParaRPr/>
          </a:p>
        </p:txBody>
      </p:sp>
      <p:sp>
        <p:nvSpPr>
          <p:cNvPr id="5495" name="Google Shape;5495;p34"/>
          <p:cNvSpPr/>
          <p:nvPr/>
        </p:nvSpPr>
        <p:spPr>
          <a:xfrm>
            <a:off x="365760" y="6455663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6" name="Google Shape;5496;p34"/>
          <p:cNvSpPr txBox="1"/>
          <p:nvPr/>
        </p:nvSpPr>
        <p:spPr>
          <a:xfrm>
            <a:off x="457200" y="6464807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STRATEGIC SALES TIPS - Conversation Starters</a:t>
            </a:r>
            <a:endParaRPr/>
          </a:p>
        </p:txBody>
      </p:sp>
      <p:sp>
        <p:nvSpPr>
          <p:cNvPr id="5497" name="Google Shape;5497;p34"/>
          <p:cNvSpPr txBox="1"/>
          <p:nvPr/>
        </p:nvSpPr>
        <p:spPr>
          <a:xfrm>
            <a:off x="457200" y="6711695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endParaRPr/>
          </a:p>
        </p:txBody>
      </p:sp>
      <p:sp>
        <p:nvSpPr>
          <p:cNvPr id="5498" name="Google Shape;5498;p34"/>
          <p:cNvSpPr txBox="1"/>
          <p:nvPr/>
        </p:nvSpPr>
        <p:spPr>
          <a:xfrm>
            <a:off x="777240" y="6711695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Acknowledge their $58,824 in new business. Ask: "What types of accounts are you seeing the most success with?" Use this to identify more of their book that fits our appetite.</a:t>
            </a:r>
            <a:endParaRPr/>
          </a:p>
        </p:txBody>
      </p:sp>
      <p:sp>
        <p:nvSpPr>
          <p:cNvPr id="5499" name="Google Shape;5499;p34"/>
          <p:cNvSpPr txBox="1"/>
          <p:nvPr/>
        </p:nvSpPr>
        <p:spPr>
          <a:xfrm>
            <a:off x="457200" y="6949439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endParaRPr/>
          </a:p>
        </p:txBody>
      </p:sp>
      <p:sp>
        <p:nvSpPr>
          <p:cNvPr id="5500" name="Google Shape;5500;p34"/>
          <p:cNvSpPr txBox="1"/>
          <p:nvPr/>
        </p:nvSpPr>
        <p:spPr>
          <a:xfrm>
            <a:off x="777240" y="6949439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Address the $124,710 in cancellations. Ask: "Are we losing these to price, service, or coverage?" Proactive retention discussions can protect the book and strengthen the relationship.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04" name="Shape 5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5" name="Google Shape;5505;p3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6" name="Google Shape;5506;p35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Florida Property And Casualty Insurance Services</a:t>
            </a:r>
            <a:endParaRPr/>
          </a:p>
        </p:txBody>
      </p:sp>
      <p:sp>
        <p:nvSpPr>
          <p:cNvPr id="5507" name="Google Shape;5507;p35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4B5F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Tier: Tier 2  |  Region: Southeast  |  State: FL  |  City: Hialeah</a:t>
            </a:r>
            <a:endParaRPr/>
          </a:p>
        </p:txBody>
      </p:sp>
      <p:sp>
        <p:nvSpPr>
          <p:cNvPr id="5508" name="Google Shape;5508;p35"/>
          <p:cNvSpPr/>
          <p:nvPr/>
        </p:nvSpPr>
        <p:spPr>
          <a:xfrm>
            <a:off x="22860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$67,147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YTD GWP</a:t>
            </a:r>
            <a:endParaRPr/>
          </a:p>
        </p:txBody>
      </p:sp>
      <p:sp>
        <p:nvSpPr>
          <p:cNvPr id="5509" name="Google Shape;5509;p35"/>
          <p:cNvSpPr/>
          <p:nvPr/>
        </p:nvSpPr>
        <p:spPr>
          <a:xfrm>
            <a:off x="256032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$48,805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5510" name="Google Shape;5510;p35"/>
          <p:cNvSpPr/>
          <p:nvPr/>
        </p:nvSpPr>
        <p:spPr>
          <a:xfrm>
            <a:off x="489204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$14,646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5511" name="Google Shape;5511;p35"/>
          <p:cNvSpPr/>
          <p:nvPr/>
        </p:nvSpPr>
        <p:spPr>
          <a:xfrm>
            <a:off x="7223759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$3,697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5512" name="Google Shape;5512;p35"/>
          <p:cNvSpPr/>
          <p:nvPr/>
        </p:nvSpPr>
        <p:spPr>
          <a:xfrm>
            <a:off x="955548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$-25,531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5513" name="Google Shape;5513;p35"/>
          <p:cNvSpPr/>
          <p:nvPr/>
        </p:nvSpPr>
        <p:spPr>
          <a:xfrm>
            <a:off x="137160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$146,475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2025 Full Year GWP</a:t>
            </a:r>
            <a:endParaRPr/>
          </a:p>
        </p:txBody>
      </p:sp>
      <p:sp>
        <p:nvSpPr>
          <p:cNvPr id="5514" name="Google Shape;5514;p35"/>
          <p:cNvSpPr/>
          <p:nvPr/>
        </p:nvSpPr>
        <p:spPr>
          <a:xfrm>
            <a:off x="1627631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$161,104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Rolling 12M GWP</a:t>
            </a:r>
            <a:endParaRPr/>
          </a:p>
        </p:txBody>
      </p:sp>
      <p:sp>
        <p:nvSpPr>
          <p:cNvPr id="5515" name="Google Shape;5515;p35"/>
          <p:cNvSpPr/>
          <p:nvPr/>
        </p:nvSpPr>
        <p:spPr>
          <a:xfrm>
            <a:off x="3118103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38%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% to Goal</a:t>
            </a:r>
            <a:endParaRPr/>
          </a:p>
        </p:txBody>
      </p:sp>
      <p:sp>
        <p:nvSpPr>
          <p:cNvPr id="5516" name="Google Shape;5516;p35"/>
          <p:cNvSpPr/>
          <p:nvPr/>
        </p:nvSpPr>
        <p:spPr>
          <a:xfrm>
            <a:off x="4608576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5517" name="Google Shape;5517;p35"/>
          <p:cNvSpPr/>
          <p:nvPr/>
        </p:nvSpPr>
        <p:spPr>
          <a:xfrm>
            <a:off x="6099048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5518" name="Google Shape;5518;p35"/>
          <p:cNvSpPr/>
          <p:nvPr/>
        </p:nvSpPr>
        <p:spPr>
          <a:xfrm>
            <a:off x="7589519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18.8%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5519" name="Google Shape;5519;p35"/>
          <p:cNvSpPr/>
          <p:nvPr/>
        </p:nvSpPr>
        <p:spPr>
          <a:xfrm>
            <a:off x="9079992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 Bound Prem</a:t>
            </a:r>
            <a:endParaRPr/>
          </a:p>
        </p:txBody>
      </p:sp>
      <p:sp>
        <p:nvSpPr>
          <p:cNvPr id="5520" name="Google Shape;5520;p35"/>
          <p:cNvSpPr/>
          <p:nvPr/>
        </p:nvSpPr>
        <p:spPr>
          <a:xfrm>
            <a:off x="10570464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$130,529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NF Bound Prem</a:t>
            </a:r>
            <a:endParaRPr/>
          </a:p>
        </p:txBody>
      </p:sp>
      <p:sp>
        <p:nvSpPr>
          <p:cNvPr id="5521" name="Google Shape;5521;p35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2" name="Google Shape;5522;p35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PRODUCTION BY MONTH</a:t>
            </a:r>
            <a:endParaRPr/>
          </a:p>
        </p:txBody>
      </p:sp>
      <p:sp>
        <p:nvSpPr>
          <p:cNvPr id="5523" name="Google Shape;5523;p35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5524" name="Google Shape;5524;p35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Written Premium</a:t>
            </a:r>
            <a:endParaRPr/>
          </a:p>
        </p:txBody>
      </p:sp>
      <p:sp>
        <p:nvSpPr>
          <p:cNvPr id="5525" name="Google Shape;5525;p35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5526" name="Google Shape;5526;p35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5527" name="Google Shape;5527;p35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5528" name="Google Shape;5528;p35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5529" name="Google Shape;5529;p3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0" name="Google Shape;5530;p35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5531" name="Google Shape;5531;p35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$2,808</a:t>
            </a:r>
            <a:endParaRPr/>
          </a:p>
        </p:txBody>
      </p:sp>
      <p:sp>
        <p:nvSpPr>
          <p:cNvPr id="5532" name="Google Shape;5532;p35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$2,544</a:t>
            </a:r>
            <a:endParaRPr/>
          </a:p>
        </p:txBody>
      </p:sp>
      <p:sp>
        <p:nvSpPr>
          <p:cNvPr id="5533" name="Google Shape;5533;p35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534" name="Google Shape;5534;p35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$264</a:t>
            </a:r>
            <a:endParaRPr/>
          </a:p>
        </p:txBody>
      </p:sp>
      <p:sp>
        <p:nvSpPr>
          <p:cNvPr id="5535" name="Google Shape;5535;p35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536" name="Google Shape;5536;p35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7" name="Google Shape;5537;p35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5538" name="Google Shape;5538;p35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539" name="Google Shape;5539;p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540" name="Google Shape;5540;p35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541" name="Google Shape;5541;p35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542" name="Google Shape;5542;p35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543" name="Google Shape;5543;p35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4" name="Google Shape;5544;p35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5545" name="Google Shape;5545;p35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$51,242</a:t>
            </a:r>
            <a:endParaRPr/>
          </a:p>
        </p:txBody>
      </p:sp>
      <p:sp>
        <p:nvSpPr>
          <p:cNvPr id="5546" name="Google Shape;5546;p35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$46,261</a:t>
            </a:r>
            <a:endParaRPr/>
          </a:p>
        </p:txBody>
      </p:sp>
      <p:sp>
        <p:nvSpPr>
          <p:cNvPr id="5547" name="Google Shape;5547;p35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548" name="Google Shape;5548;p35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$4,980</a:t>
            </a:r>
            <a:endParaRPr/>
          </a:p>
        </p:txBody>
      </p:sp>
      <p:sp>
        <p:nvSpPr>
          <p:cNvPr id="5549" name="Google Shape;5549;p3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550" name="Google Shape;5550;p35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1" name="Google Shape;5551;p35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5552" name="Google Shape;5552;p35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$14,453</a:t>
            </a:r>
            <a:endParaRPr/>
          </a:p>
        </p:txBody>
      </p:sp>
      <p:sp>
        <p:nvSpPr>
          <p:cNvPr id="5553" name="Google Shape;5553;p35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554" name="Google Shape;5554;p35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$14,646</a:t>
            </a:r>
            <a:endParaRPr/>
          </a:p>
        </p:txBody>
      </p:sp>
      <p:sp>
        <p:nvSpPr>
          <p:cNvPr id="5555" name="Google Shape;5555;p35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$-193</a:t>
            </a:r>
            <a:endParaRPr/>
          </a:p>
        </p:txBody>
      </p:sp>
      <p:sp>
        <p:nvSpPr>
          <p:cNvPr id="5556" name="Google Shape;5556;p35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$-25,531</a:t>
            </a:r>
            <a:endParaRPr/>
          </a:p>
        </p:txBody>
      </p:sp>
      <p:sp>
        <p:nvSpPr>
          <p:cNvPr id="5557" name="Google Shape;5557;p35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8" name="Google Shape;5558;p35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5559" name="Google Shape;5559;p3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$-1,356</a:t>
            </a:r>
            <a:endParaRPr/>
          </a:p>
        </p:txBody>
      </p:sp>
      <p:sp>
        <p:nvSpPr>
          <p:cNvPr id="5560" name="Google Shape;5560;p35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561" name="Google Shape;5561;p35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562" name="Google Shape;5562;p35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$-1,356</a:t>
            </a:r>
            <a:endParaRPr/>
          </a:p>
        </p:txBody>
      </p:sp>
      <p:sp>
        <p:nvSpPr>
          <p:cNvPr id="5563" name="Google Shape;5563;p35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564" name="Google Shape;5564;p35"/>
          <p:cNvSpPr/>
          <p:nvPr/>
        </p:nvSpPr>
        <p:spPr>
          <a:xfrm>
            <a:off x="365760" y="4123944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5" name="Google Shape;5565;p35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5566" name="Google Shape;5566;p35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567" name="Google Shape;5567;p35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568" name="Google Shape;5568;p35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569" name="Google Shape;5569;p3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570" name="Google Shape;5570;p35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571" name="Google Shape;5571;p35"/>
          <p:cNvSpPr/>
          <p:nvPr/>
        </p:nvSpPr>
        <p:spPr>
          <a:xfrm>
            <a:off x="365760" y="4425696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2" name="Google Shape;5572;p35"/>
          <p:cNvSpPr txBox="1"/>
          <p:nvPr/>
        </p:nvSpPr>
        <p:spPr>
          <a:xfrm>
            <a:off x="3657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5573" name="Google Shape;5573;p35"/>
          <p:cNvSpPr txBox="1"/>
          <p:nvPr/>
        </p:nvSpPr>
        <p:spPr>
          <a:xfrm>
            <a:off x="1280160" y="446227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$67,147</a:t>
            </a:r>
            <a:endParaRPr/>
          </a:p>
        </p:txBody>
      </p:sp>
      <p:sp>
        <p:nvSpPr>
          <p:cNvPr id="5574" name="Google Shape;5574;p35"/>
          <p:cNvSpPr txBox="1"/>
          <p:nvPr/>
        </p:nvSpPr>
        <p:spPr>
          <a:xfrm>
            <a:off x="2377439" y="446227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$48,805</a:t>
            </a:r>
            <a:endParaRPr/>
          </a:p>
        </p:txBody>
      </p:sp>
      <p:sp>
        <p:nvSpPr>
          <p:cNvPr id="5575" name="Google Shape;5575;p35"/>
          <p:cNvSpPr txBox="1"/>
          <p:nvPr/>
        </p:nvSpPr>
        <p:spPr>
          <a:xfrm>
            <a:off x="33832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$14,646</a:t>
            </a:r>
            <a:endParaRPr/>
          </a:p>
        </p:txBody>
      </p:sp>
      <p:sp>
        <p:nvSpPr>
          <p:cNvPr id="5576" name="Google Shape;5576;p35"/>
          <p:cNvSpPr txBox="1"/>
          <p:nvPr/>
        </p:nvSpPr>
        <p:spPr>
          <a:xfrm>
            <a:off x="42976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$3,697</a:t>
            </a:r>
            <a:endParaRPr/>
          </a:p>
        </p:txBody>
      </p:sp>
      <p:sp>
        <p:nvSpPr>
          <p:cNvPr id="5577" name="Google Shape;5577;p35"/>
          <p:cNvSpPr txBox="1"/>
          <p:nvPr/>
        </p:nvSpPr>
        <p:spPr>
          <a:xfrm>
            <a:off x="52120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$-25,531</a:t>
            </a:r>
            <a:endParaRPr/>
          </a:p>
        </p:txBody>
      </p:sp>
      <p:sp>
        <p:nvSpPr>
          <p:cNvPr id="5578" name="Google Shape;5578;p35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9" name="Google Shape;5579;p35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 &amp; PIPELINE</a:t>
            </a:r>
            <a:endParaRPr/>
          </a:p>
        </p:txBody>
      </p:sp>
      <p:sp>
        <p:nvSpPr>
          <p:cNvPr id="5580" name="Google Shape;5580;p35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5581" name="Google Shape;5581;p35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Subs</a:t>
            </a:r>
            <a:endParaRPr/>
          </a:p>
        </p:txBody>
      </p:sp>
      <p:sp>
        <p:nvSpPr>
          <p:cNvPr id="5582" name="Google Shape;5582;p35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</a:t>
            </a:r>
            <a:endParaRPr/>
          </a:p>
        </p:txBody>
      </p:sp>
      <p:sp>
        <p:nvSpPr>
          <p:cNvPr id="5583" name="Google Shape;5583;p35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Non-Fleet</a:t>
            </a:r>
            <a:endParaRPr/>
          </a:p>
        </p:txBody>
      </p:sp>
      <p:sp>
        <p:nvSpPr>
          <p:cNvPr id="5584" name="Google Shape;5584;p35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5585" name="Google Shape;5585;p35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5586" name="Google Shape;5586;p3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7" name="Google Shape;5587;p35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5588" name="Google Shape;5588;p35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/>
          </a:p>
        </p:txBody>
      </p:sp>
      <p:sp>
        <p:nvSpPr>
          <p:cNvPr id="5589" name="Google Shape;5589;p35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5590" name="Google Shape;5590;p35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/>
          </a:p>
        </p:txBody>
      </p:sp>
      <p:sp>
        <p:nvSpPr>
          <p:cNvPr id="5591" name="Google Shape;5591;p35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5592" name="Google Shape;5592;p35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50.0%</a:t>
            </a:r>
            <a:endParaRPr/>
          </a:p>
        </p:txBody>
      </p:sp>
      <p:sp>
        <p:nvSpPr>
          <p:cNvPr id="5593" name="Google Shape;5593;p35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4" name="Google Shape;5594;p35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5595" name="Google Shape;5595;p35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5596" name="Google Shape;5596;p3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5597" name="Google Shape;5597;p35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5598" name="Google Shape;5598;p35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5599" name="Google Shape;5599;p35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5600" name="Google Shape;5600;p35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1" name="Google Shape;5601;p35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5602" name="Google Shape;5602;p35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</a:t>
            </a:r>
            <a:endParaRPr/>
          </a:p>
        </p:txBody>
      </p:sp>
      <p:sp>
        <p:nvSpPr>
          <p:cNvPr id="5603" name="Google Shape;5603;p35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5604" name="Google Shape;5604;p35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</a:t>
            </a:r>
            <a:endParaRPr/>
          </a:p>
        </p:txBody>
      </p:sp>
      <p:sp>
        <p:nvSpPr>
          <p:cNvPr id="5605" name="Google Shape;5605;p35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5606" name="Google Shape;5606;p3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20.0%</a:t>
            </a:r>
            <a:endParaRPr/>
          </a:p>
        </p:txBody>
      </p:sp>
      <p:sp>
        <p:nvSpPr>
          <p:cNvPr id="5607" name="Google Shape;5607;p35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8" name="Google Shape;5608;p35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5609" name="Google Shape;5609;p35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/>
          </a:p>
        </p:txBody>
      </p:sp>
      <p:sp>
        <p:nvSpPr>
          <p:cNvPr id="5610" name="Google Shape;5610;p35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5611" name="Google Shape;5611;p35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/>
          </a:p>
        </p:txBody>
      </p:sp>
      <p:sp>
        <p:nvSpPr>
          <p:cNvPr id="5612" name="Google Shape;5612;p35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5613" name="Google Shape;5613;p35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33.3%</a:t>
            </a:r>
            <a:endParaRPr/>
          </a:p>
        </p:txBody>
      </p:sp>
      <p:sp>
        <p:nvSpPr>
          <p:cNvPr id="5614" name="Google Shape;5614;p35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5" name="Google Shape;5615;p35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5616" name="Google Shape;5616;p3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</a:t>
            </a:r>
            <a:endParaRPr/>
          </a:p>
        </p:txBody>
      </p:sp>
      <p:sp>
        <p:nvSpPr>
          <p:cNvPr id="5617" name="Google Shape;5617;p35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5618" name="Google Shape;5618;p35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</a:t>
            </a:r>
            <a:endParaRPr/>
          </a:p>
        </p:txBody>
      </p:sp>
      <p:sp>
        <p:nvSpPr>
          <p:cNvPr id="5619" name="Google Shape;5619;p35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5620" name="Google Shape;5620;p35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22.2%</a:t>
            </a:r>
            <a:endParaRPr/>
          </a:p>
        </p:txBody>
      </p:sp>
      <p:sp>
        <p:nvSpPr>
          <p:cNvPr id="5621" name="Google Shape;5621;p35"/>
          <p:cNvSpPr/>
          <p:nvPr/>
        </p:nvSpPr>
        <p:spPr>
          <a:xfrm>
            <a:off x="6309360" y="4123944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2" name="Google Shape;5622;p35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5623" name="Google Shape;5623;p35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5624" name="Google Shape;5624;p35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5625" name="Google Shape;5625;p35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5626" name="Google Shape;5626;p3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5627" name="Google Shape;5627;p35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5628" name="Google Shape;5628;p35"/>
          <p:cNvSpPr/>
          <p:nvPr/>
        </p:nvSpPr>
        <p:spPr>
          <a:xfrm>
            <a:off x="6309360" y="4425696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9" name="Google Shape;5629;p35"/>
          <p:cNvSpPr txBox="1"/>
          <p:nvPr/>
        </p:nvSpPr>
        <p:spPr>
          <a:xfrm>
            <a:off x="63093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5630" name="Google Shape;5630;p35"/>
          <p:cNvSpPr txBox="1"/>
          <p:nvPr/>
        </p:nvSpPr>
        <p:spPr>
          <a:xfrm>
            <a:off x="722376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32</a:t>
            </a:r>
            <a:endParaRPr/>
          </a:p>
        </p:txBody>
      </p:sp>
      <p:sp>
        <p:nvSpPr>
          <p:cNvPr id="5631" name="Google Shape;5631;p35"/>
          <p:cNvSpPr txBox="1"/>
          <p:nvPr/>
        </p:nvSpPr>
        <p:spPr>
          <a:xfrm>
            <a:off x="804672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5632" name="Google Shape;5632;p35"/>
          <p:cNvSpPr txBox="1"/>
          <p:nvPr/>
        </p:nvSpPr>
        <p:spPr>
          <a:xfrm>
            <a:off x="886968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32</a:t>
            </a:r>
            <a:endParaRPr/>
          </a:p>
        </p:txBody>
      </p:sp>
      <p:sp>
        <p:nvSpPr>
          <p:cNvPr id="5633" name="Google Shape;5633;p35"/>
          <p:cNvSpPr txBox="1"/>
          <p:nvPr/>
        </p:nvSpPr>
        <p:spPr>
          <a:xfrm>
            <a:off x="978408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/>
          </a:p>
        </p:txBody>
      </p:sp>
      <p:sp>
        <p:nvSpPr>
          <p:cNvPr id="5634" name="Google Shape;5634;p35"/>
          <p:cNvSpPr txBox="1"/>
          <p:nvPr/>
        </p:nvSpPr>
        <p:spPr>
          <a:xfrm>
            <a:off x="1060704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18.8%</a:t>
            </a:r>
            <a:endParaRPr/>
          </a:p>
        </p:txBody>
      </p:sp>
      <p:sp>
        <p:nvSpPr>
          <p:cNvPr id="5635" name="Google Shape;5635;p35"/>
          <p:cNvSpPr/>
          <p:nvPr/>
        </p:nvSpPr>
        <p:spPr>
          <a:xfrm>
            <a:off x="365760" y="4782312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6" name="Google Shape;5636;p35"/>
          <p:cNvSpPr txBox="1"/>
          <p:nvPr/>
        </p:nvSpPr>
        <p:spPr>
          <a:xfrm>
            <a:off x="457200" y="4800599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YOY COMPARISON — Jan–Jun 2025 vs Jan–Jun 2026</a:t>
            </a:r>
            <a:endParaRPr/>
          </a:p>
        </p:txBody>
      </p:sp>
      <p:sp>
        <p:nvSpPr>
          <p:cNvPr id="5637" name="Google Shape;5637;p35"/>
          <p:cNvSpPr txBox="1"/>
          <p:nvPr/>
        </p:nvSpPr>
        <p:spPr>
          <a:xfrm>
            <a:off x="365760" y="5056631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00" u="none" cap="none" strike="noStrike">
              <a:solidFill>
                <a:srgbClr val="6B728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638" name="Google Shape;5638;p35"/>
          <p:cNvSpPr txBox="1"/>
          <p:nvPr/>
        </p:nvSpPr>
        <p:spPr>
          <a:xfrm>
            <a:off x="1463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'25</a:t>
            </a:r>
            <a:endParaRPr/>
          </a:p>
        </p:txBody>
      </p:sp>
      <p:sp>
        <p:nvSpPr>
          <p:cNvPr id="5639" name="Google Shape;5639;p35"/>
          <p:cNvSpPr txBox="1"/>
          <p:nvPr/>
        </p:nvSpPr>
        <p:spPr>
          <a:xfrm>
            <a:off x="2148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'26</a:t>
            </a:r>
            <a:endParaRPr/>
          </a:p>
        </p:txBody>
      </p:sp>
      <p:sp>
        <p:nvSpPr>
          <p:cNvPr id="5640" name="Google Shape;5640;p35"/>
          <p:cNvSpPr txBox="1"/>
          <p:nvPr/>
        </p:nvSpPr>
        <p:spPr>
          <a:xfrm>
            <a:off x="2834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'25</a:t>
            </a:r>
            <a:endParaRPr/>
          </a:p>
        </p:txBody>
      </p:sp>
      <p:sp>
        <p:nvSpPr>
          <p:cNvPr id="5641" name="Google Shape;5641;p35"/>
          <p:cNvSpPr txBox="1"/>
          <p:nvPr/>
        </p:nvSpPr>
        <p:spPr>
          <a:xfrm>
            <a:off x="3520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'26</a:t>
            </a:r>
            <a:endParaRPr/>
          </a:p>
        </p:txBody>
      </p:sp>
      <p:sp>
        <p:nvSpPr>
          <p:cNvPr id="5642" name="Google Shape;5642;p35"/>
          <p:cNvSpPr txBox="1"/>
          <p:nvPr/>
        </p:nvSpPr>
        <p:spPr>
          <a:xfrm>
            <a:off x="4206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'25</a:t>
            </a:r>
            <a:endParaRPr/>
          </a:p>
        </p:txBody>
      </p:sp>
      <p:sp>
        <p:nvSpPr>
          <p:cNvPr id="5643" name="Google Shape;5643;p35"/>
          <p:cNvSpPr txBox="1"/>
          <p:nvPr/>
        </p:nvSpPr>
        <p:spPr>
          <a:xfrm>
            <a:off x="4892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'26</a:t>
            </a:r>
            <a:endParaRPr/>
          </a:p>
        </p:txBody>
      </p:sp>
      <p:sp>
        <p:nvSpPr>
          <p:cNvPr id="5644" name="Google Shape;5644;p35"/>
          <p:cNvSpPr txBox="1"/>
          <p:nvPr/>
        </p:nvSpPr>
        <p:spPr>
          <a:xfrm>
            <a:off x="5577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'25</a:t>
            </a:r>
            <a:endParaRPr/>
          </a:p>
        </p:txBody>
      </p:sp>
      <p:sp>
        <p:nvSpPr>
          <p:cNvPr id="5645" name="Google Shape;5645;p35"/>
          <p:cNvSpPr txBox="1"/>
          <p:nvPr/>
        </p:nvSpPr>
        <p:spPr>
          <a:xfrm>
            <a:off x="6263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'26</a:t>
            </a:r>
            <a:endParaRPr/>
          </a:p>
        </p:txBody>
      </p:sp>
      <p:sp>
        <p:nvSpPr>
          <p:cNvPr id="5646" name="Google Shape;5646;p35"/>
          <p:cNvSpPr txBox="1"/>
          <p:nvPr/>
        </p:nvSpPr>
        <p:spPr>
          <a:xfrm>
            <a:off x="6949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'25</a:t>
            </a:r>
            <a:endParaRPr/>
          </a:p>
        </p:txBody>
      </p:sp>
      <p:sp>
        <p:nvSpPr>
          <p:cNvPr id="5647" name="Google Shape;5647;p35"/>
          <p:cNvSpPr txBox="1"/>
          <p:nvPr/>
        </p:nvSpPr>
        <p:spPr>
          <a:xfrm>
            <a:off x="7635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'26</a:t>
            </a:r>
            <a:endParaRPr/>
          </a:p>
        </p:txBody>
      </p:sp>
      <p:sp>
        <p:nvSpPr>
          <p:cNvPr id="5648" name="Google Shape;5648;p35"/>
          <p:cNvSpPr txBox="1"/>
          <p:nvPr/>
        </p:nvSpPr>
        <p:spPr>
          <a:xfrm>
            <a:off x="8321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'25</a:t>
            </a:r>
            <a:endParaRPr/>
          </a:p>
        </p:txBody>
      </p:sp>
      <p:sp>
        <p:nvSpPr>
          <p:cNvPr id="5649" name="Google Shape;5649;p35"/>
          <p:cNvSpPr txBox="1"/>
          <p:nvPr/>
        </p:nvSpPr>
        <p:spPr>
          <a:xfrm>
            <a:off x="9006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'26</a:t>
            </a:r>
            <a:endParaRPr/>
          </a:p>
        </p:txBody>
      </p:sp>
      <p:sp>
        <p:nvSpPr>
          <p:cNvPr id="5650" name="Google Shape;5650;p35"/>
          <p:cNvSpPr txBox="1"/>
          <p:nvPr/>
        </p:nvSpPr>
        <p:spPr>
          <a:xfrm>
            <a:off x="969264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'25 Tot</a:t>
            </a:r>
            <a:endParaRPr/>
          </a:p>
        </p:txBody>
      </p:sp>
      <p:sp>
        <p:nvSpPr>
          <p:cNvPr id="5651" name="Google Shape;5651;p35"/>
          <p:cNvSpPr txBox="1"/>
          <p:nvPr/>
        </p:nvSpPr>
        <p:spPr>
          <a:xfrm>
            <a:off x="1088136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'26 Tot</a:t>
            </a:r>
            <a:endParaRPr/>
          </a:p>
        </p:txBody>
      </p:sp>
      <p:sp>
        <p:nvSpPr>
          <p:cNvPr id="5652" name="Google Shape;5652;p35"/>
          <p:cNvSpPr txBox="1"/>
          <p:nvPr/>
        </p:nvSpPr>
        <p:spPr>
          <a:xfrm>
            <a:off x="365760" y="523951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5653" name="Google Shape;5653;p35"/>
          <p:cNvSpPr txBox="1"/>
          <p:nvPr/>
        </p:nvSpPr>
        <p:spPr>
          <a:xfrm>
            <a:off x="1463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/>
          </a:p>
        </p:txBody>
      </p:sp>
      <p:sp>
        <p:nvSpPr>
          <p:cNvPr id="5654" name="Google Shape;5654;p35"/>
          <p:cNvSpPr txBox="1"/>
          <p:nvPr/>
        </p:nvSpPr>
        <p:spPr>
          <a:xfrm>
            <a:off x="2148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/>
          </a:p>
        </p:txBody>
      </p:sp>
      <p:sp>
        <p:nvSpPr>
          <p:cNvPr id="5655" name="Google Shape;5655;p35"/>
          <p:cNvSpPr txBox="1"/>
          <p:nvPr/>
        </p:nvSpPr>
        <p:spPr>
          <a:xfrm>
            <a:off x="2834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5656" name="Google Shape;5656;p35"/>
          <p:cNvSpPr txBox="1"/>
          <p:nvPr/>
        </p:nvSpPr>
        <p:spPr>
          <a:xfrm>
            <a:off x="3520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5657" name="Google Shape;5657;p35"/>
          <p:cNvSpPr txBox="1"/>
          <p:nvPr/>
        </p:nvSpPr>
        <p:spPr>
          <a:xfrm>
            <a:off x="4206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5658" name="Google Shape;5658;p35"/>
          <p:cNvSpPr txBox="1"/>
          <p:nvPr/>
        </p:nvSpPr>
        <p:spPr>
          <a:xfrm>
            <a:off x="4892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</a:t>
            </a:r>
            <a:endParaRPr/>
          </a:p>
        </p:txBody>
      </p:sp>
      <p:sp>
        <p:nvSpPr>
          <p:cNvPr id="5659" name="Google Shape;5659;p35"/>
          <p:cNvSpPr txBox="1"/>
          <p:nvPr/>
        </p:nvSpPr>
        <p:spPr>
          <a:xfrm>
            <a:off x="5577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</a:t>
            </a:r>
            <a:endParaRPr/>
          </a:p>
        </p:txBody>
      </p:sp>
      <p:sp>
        <p:nvSpPr>
          <p:cNvPr id="5660" name="Google Shape;5660;p35"/>
          <p:cNvSpPr txBox="1"/>
          <p:nvPr/>
        </p:nvSpPr>
        <p:spPr>
          <a:xfrm>
            <a:off x="6263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/>
          </a:p>
        </p:txBody>
      </p:sp>
      <p:sp>
        <p:nvSpPr>
          <p:cNvPr id="5661" name="Google Shape;5661;p35"/>
          <p:cNvSpPr txBox="1"/>
          <p:nvPr/>
        </p:nvSpPr>
        <p:spPr>
          <a:xfrm>
            <a:off x="6949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</a:t>
            </a:r>
            <a:endParaRPr/>
          </a:p>
        </p:txBody>
      </p:sp>
      <p:sp>
        <p:nvSpPr>
          <p:cNvPr id="5662" name="Google Shape;5662;p35"/>
          <p:cNvSpPr txBox="1"/>
          <p:nvPr/>
        </p:nvSpPr>
        <p:spPr>
          <a:xfrm>
            <a:off x="7635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</a:t>
            </a:r>
            <a:endParaRPr/>
          </a:p>
        </p:txBody>
      </p:sp>
      <p:sp>
        <p:nvSpPr>
          <p:cNvPr id="5663" name="Google Shape;5663;p35"/>
          <p:cNvSpPr txBox="1"/>
          <p:nvPr/>
        </p:nvSpPr>
        <p:spPr>
          <a:xfrm>
            <a:off x="8321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</a:t>
            </a:r>
            <a:endParaRPr/>
          </a:p>
        </p:txBody>
      </p:sp>
      <p:sp>
        <p:nvSpPr>
          <p:cNvPr id="5664" name="Google Shape;5664;p35"/>
          <p:cNvSpPr txBox="1"/>
          <p:nvPr/>
        </p:nvSpPr>
        <p:spPr>
          <a:xfrm>
            <a:off x="9006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5665" name="Google Shape;5665;p35"/>
          <p:cNvSpPr txBox="1"/>
          <p:nvPr/>
        </p:nvSpPr>
        <p:spPr>
          <a:xfrm>
            <a:off x="969264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53</a:t>
            </a:r>
            <a:endParaRPr/>
          </a:p>
        </p:txBody>
      </p:sp>
      <p:sp>
        <p:nvSpPr>
          <p:cNvPr id="5666" name="Google Shape;5666;p35"/>
          <p:cNvSpPr txBox="1"/>
          <p:nvPr/>
        </p:nvSpPr>
        <p:spPr>
          <a:xfrm>
            <a:off x="1088136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37</a:t>
            </a:r>
            <a:endParaRPr/>
          </a:p>
        </p:txBody>
      </p:sp>
      <p:sp>
        <p:nvSpPr>
          <p:cNvPr id="5667" name="Google Shape;5667;p35"/>
          <p:cNvSpPr txBox="1"/>
          <p:nvPr/>
        </p:nvSpPr>
        <p:spPr>
          <a:xfrm>
            <a:off x="365760" y="542239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Bound Premium</a:t>
            </a:r>
            <a:endParaRPr/>
          </a:p>
        </p:txBody>
      </p:sp>
      <p:sp>
        <p:nvSpPr>
          <p:cNvPr id="5668" name="Google Shape;5668;p35"/>
          <p:cNvSpPr txBox="1"/>
          <p:nvPr/>
        </p:nvSpPr>
        <p:spPr>
          <a:xfrm>
            <a:off x="1463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669" name="Google Shape;5669;p35"/>
          <p:cNvSpPr txBox="1"/>
          <p:nvPr/>
        </p:nvSpPr>
        <p:spPr>
          <a:xfrm>
            <a:off x="2148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$3K</a:t>
            </a:r>
            <a:endParaRPr/>
          </a:p>
        </p:txBody>
      </p:sp>
      <p:sp>
        <p:nvSpPr>
          <p:cNvPr id="5670" name="Google Shape;5670;p35"/>
          <p:cNvSpPr txBox="1"/>
          <p:nvPr/>
        </p:nvSpPr>
        <p:spPr>
          <a:xfrm>
            <a:off x="2834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671" name="Google Shape;5671;p35"/>
          <p:cNvSpPr txBox="1"/>
          <p:nvPr/>
        </p:nvSpPr>
        <p:spPr>
          <a:xfrm>
            <a:off x="3520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672" name="Google Shape;5672;p35"/>
          <p:cNvSpPr txBox="1"/>
          <p:nvPr/>
        </p:nvSpPr>
        <p:spPr>
          <a:xfrm>
            <a:off x="4206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673" name="Google Shape;5673;p35"/>
          <p:cNvSpPr txBox="1"/>
          <p:nvPr/>
        </p:nvSpPr>
        <p:spPr>
          <a:xfrm>
            <a:off x="4892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$51K</a:t>
            </a:r>
            <a:endParaRPr/>
          </a:p>
        </p:txBody>
      </p:sp>
      <p:sp>
        <p:nvSpPr>
          <p:cNvPr id="5674" name="Google Shape;5674;p35"/>
          <p:cNvSpPr txBox="1"/>
          <p:nvPr/>
        </p:nvSpPr>
        <p:spPr>
          <a:xfrm>
            <a:off x="5577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$15K</a:t>
            </a:r>
            <a:endParaRPr/>
          </a:p>
        </p:txBody>
      </p:sp>
      <p:sp>
        <p:nvSpPr>
          <p:cNvPr id="5675" name="Google Shape;5675;p35"/>
          <p:cNvSpPr txBox="1"/>
          <p:nvPr/>
        </p:nvSpPr>
        <p:spPr>
          <a:xfrm>
            <a:off x="6263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$14K</a:t>
            </a:r>
            <a:endParaRPr/>
          </a:p>
        </p:txBody>
      </p:sp>
      <p:sp>
        <p:nvSpPr>
          <p:cNvPr id="5676" name="Google Shape;5676;p35"/>
          <p:cNvSpPr txBox="1"/>
          <p:nvPr/>
        </p:nvSpPr>
        <p:spPr>
          <a:xfrm>
            <a:off x="6949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677" name="Google Shape;5677;p35"/>
          <p:cNvSpPr txBox="1"/>
          <p:nvPr/>
        </p:nvSpPr>
        <p:spPr>
          <a:xfrm>
            <a:off x="7635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$-1,356</a:t>
            </a:r>
            <a:endParaRPr/>
          </a:p>
        </p:txBody>
      </p:sp>
      <p:sp>
        <p:nvSpPr>
          <p:cNvPr id="5678" name="Google Shape;5678;p35"/>
          <p:cNvSpPr txBox="1"/>
          <p:nvPr/>
        </p:nvSpPr>
        <p:spPr>
          <a:xfrm>
            <a:off x="8321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$38K</a:t>
            </a:r>
            <a:endParaRPr/>
          </a:p>
        </p:txBody>
      </p:sp>
      <p:sp>
        <p:nvSpPr>
          <p:cNvPr id="5679" name="Google Shape;5679;p35"/>
          <p:cNvSpPr txBox="1"/>
          <p:nvPr/>
        </p:nvSpPr>
        <p:spPr>
          <a:xfrm>
            <a:off x="9006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680" name="Google Shape;5680;p35"/>
          <p:cNvSpPr txBox="1"/>
          <p:nvPr/>
        </p:nvSpPr>
        <p:spPr>
          <a:xfrm>
            <a:off x="969264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$53K</a:t>
            </a:r>
            <a:endParaRPr/>
          </a:p>
        </p:txBody>
      </p:sp>
      <p:sp>
        <p:nvSpPr>
          <p:cNvPr id="5681" name="Google Shape;5681;p35"/>
          <p:cNvSpPr txBox="1"/>
          <p:nvPr/>
        </p:nvSpPr>
        <p:spPr>
          <a:xfrm>
            <a:off x="1088136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$67K</a:t>
            </a:r>
            <a:endParaRPr/>
          </a:p>
        </p:txBody>
      </p:sp>
      <p:sp>
        <p:nvSpPr>
          <p:cNvPr id="5682" name="Google Shape;5682;p35"/>
          <p:cNvSpPr/>
          <p:nvPr/>
        </p:nvSpPr>
        <p:spPr>
          <a:xfrm>
            <a:off x="365760" y="5678423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3" name="Google Shape;5683;p35"/>
          <p:cNvSpPr txBox="1"/>
          <p:nvPr/>
        </p:nvSpPr>
        <p:spPr>
          <a:xfrm>
            <a:off x="4572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65F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STRENGTHS - What's Working</a:t>
            </a:r>
            <a:endParaRPr/>
          </a:p>
        </p:txBody>
      </p:sp>
      <p:sp>
        <p:nvSpPr>
          <p:cNvPr id="5684" name="Google Shape;5684;p35"/>
          <p:cNvSpPr txBox="1"/>
          <p:nvPr/>
        </p:nvSpPr>
        <p:spPr>
          <a:xfrm>
            <a:off x="4572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5685" name="Google Shape;5685;p35"/>
          <p:cNvSpPr txBox="1"/>
          <p:nvPr/>
        </p:nvSpPr>
        <p:spPr>
          <a:xfrm>
            <a:off x="685800" y="5952743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$67,147 YTD gross written premium</a:t>
            </a:r>
            <a:endParaRPr/>
          </a:p>
        </p:txBody>
      </p:sp>
      <p:sp>
        <p:nvSpPr>
          <p:cNvPr id="5686" name="Google Shape;5686;p35"/>
          <p:cNvSpPr txBox="1"/>
          <p:nvPr/>
        </p:nvSpPr>
        <p:spPr>
          <a:xfrm>
            <a:off x="457200" y="6153911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5687" name="Google Shape;5687;p35"/>
          <p:cNvSpPr txBox="1"/>
          <p:nvPr/>
        </p:nvSpPr>
        <p:spPr>
          <a:xfrm>
            <a:off x="685800" y="6153911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$48,805 in new business production</a:t>
            </a:r>
            <a:endParaRPr/>
          </a:p>
        </p:txBody>
      </p:sp>
      <p:sp>
        <p:nvSpPr>
          <p:cNvPr id="5688" name="Google Shape;5688;p35"/>
          <p:cNvSpPr/>
          <p:nvPr/>
        </p:nvSpPr>
        <p:spPr>
          <a:xfrm>
            <a:off x="6309360" y="5678423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9" name="Google Shape;5689;p35"/>
          <p:cNvSpPr txBox="1"/>
          <p:nvPr/>
        </p:nvSpPr>
        <p:spPr>
          <a:xfrm>
            <a:off x="64008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NEEDS ATTENTION</a:t>
            </a:r>
            <a:endParaRPr/>
          </a:p>
        </p:txBody>
      </p:sp>
      <p:sp>
        <p:nvSpPr>
          <p:cNvPr id="5690" name="Google Shape;5690;p35"/>
          <p:cNvSpPr txBox="1"/>
          <p:nvPr/>
        </p:nvSpPr>
        <p:spPr>
          <a:xfrm>
            <a:off x="64008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5691" name="Google Shape;5691;p35"/>
          <p:cNvSpPr txBox="1"/>
          <p:nvPr/>
        </p:nvSpPr>
        <p:spPr>
          <a:xfrm>
            <a:off x="6629400" y="5952743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 at 52% of new business ($25,531)</a:t>
            </a:r>
            <a:endParaRPr/>
          </a:p>
        </p:txBody>
      </p:sp>
      <p:sp>
        <p:nvSpPr>
          <p:cNvPr id="5692" name="Google Shape;5692;p35"/>
          <p:cNvSpPr txBox="1"/>
          <p:nvPr/>
        </p:nvSpPr>
        <p:spPr>
          <a:xfrm>
            <a:off x="6400800" y="6153911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5693" name="Google Shape;5693;p35"/>
          <p:cNvSpPr txBox="1"/>
          <p:nvPr/>
        </p:nvSpPr>
        <p:spPr>
          <a:xfrm>
            <a:off x="6629400" y="6153911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Written premium dropped 109% month-over-month</a:t>
            </a:r>
            <a:endParaRPr/>
          </a:p>
        </p:txBody>
      </p:sp>
      <p:sp>
        <p:nvSpPr>
          <p:cNvPr id="5694" name="Google Shape;5694;p35"/>
          <p:cNvSpPr/>
          <p:nvPr/>
        </p:nvSpPr>
        <p:spPr>
          <a:xfrm>
            <a:off x="365760" y="6455663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5" name="Google Shape;5695;p35"/>
          <p:cNvSpPr txBox="1"/>
          <p:nvPr/>
        </p:nvSpPr>
        <p:spPr>
          <a:xfrm>
            <a:off x="457200" y="6464807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STRATEGIC SALES TIPS - Conversation Starters</a:t>
            </a:r>
            <a:endParaRPr/>
          </a:p>
        </p:txBody>
      </p:sp>
      <p:sp>
        <p:nvSpPr>
          <p:cNvPr id="5696" name="Google Shape;5696;p35"/>
          <p:cNvSpPr txBox="1"/>
          <p:nvPr/>
        </p:nvSpPr>
        <p:spPr>
          <a:xfrm>
            <a:off x="457200" y="6711695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endParaRPr/>
          </a:p>
        </p:txBody>
      </p:sp>
      <p:sp>
        <p:nvSpPr>
          <p:cNvPr id="5697" name="Google Shape;5697;p35"/>
          <p:cNvSpPr txBox="1"/>
          <p:nvPr/>
        </p:nvSpPr>
        <p:spPr>
          <a:xfrm>
            <a:off x="777240" y="6711695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Celebrate the $48,805 in new business. Ask what made those deals work and how you can help replicate that success with similar accounts in their pipeline.</a:t>
            </a:r>
            <a:endParaRPr/>
          </a:p>
        </p:txBody>
      </p:sp>
      <p:sp>
        <p:nvSpPr>
          <p:cNvPr id="5698" name="Google Shape;5698;p35"/>
          <p:cNvSpPr txBox="1"/>
          <p:nvPr/>
        </p:nvSpPr>
        <p:spPr>
          <a:xfrm>
            <a:off x="457200" y="6949439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endParaRPr/>
          </a:p>
        </p:txBody>
      </p:sp>
      <p:sp>
        <p:nvSpPr>
          <p:cNvPr id="5699" name="Google Shape;5699;p35"/>
          <p:cNvSpPr txBox="1"/>
          <p:nvPr/>
        </p:nvSpPr>
        <p:spPr>
          <a:xfrm>
            <a:off x="777240" y="6949439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Address the $25,531 in cancellations. Ask: "Are we losing these to price, service, or coverage?" Proactive retention discussions can protect the book and strengthen the relationship.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03" name="Shape 5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4" name="Google Shape;5704;p36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5" name="Google Shape;5705;p36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Lynne Ernest Insurance Llc</a:t>
            </a:r>
            <a:endParaRPr/>
          </a:p>
        </p:txBody>
      </p:sp>
      <p:sp>
        <p:nvSpPr>
          <p:cNvPr id="5706" name="Google Shape;5706;p36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4B5F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Tier: Tier 2  |  Region: Southeast  |  State: AL  |  City: Hoover</a:t>
            </a:r>
            <a:endParaRPr/>
          </a:p>
        </p:txBody>
      </p:sp>
      <p:sp>
        <p:nvSpPr>
          <p:cNvPr id="5707" name="Google Shape;5707;p36"/>
          <p:cNvSpPr/>
          <p:nvPr/>
        </p:nvSpPr>
        <p:spPr>
          <a:xfrm>
            <a:off x="22860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$58,577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YTD GWP</a:t>
            </a:r>
            <a:endParaRPr/>
          </a:p>
        </p:txBody>
      </p:sp>
      <p:sp>
        <p:nvSpPr>
          <p:cNvPr id="5708" name="Google Shape;5708;p36"/>
          <p:cNvSpPr/>
          <p:nvPr/>
        </p:nvSpPr>
        <p:spPr>
          <a:xfrm>
            <a:off x="256032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$34,869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5709" name="Google Shape;5709;p36"/>
          <p:cNvSpPr/>
          <p:nvPr/>
        </p:nvSpPr>
        <p:spPr>
          <a:xfrm>
            <a:off x="489204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$19,127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5710" name="Google Shape;5710;p36"/>
          <p:cNvSpPr/>
          <p:nvPr/>
        </p:nvSpPr>
        <p:spPr>
          <a:xfrm>
            <a:off x="7223759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$4,581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5711" name="Google Shape;5711;p36"/>
          <p:cNvSpPr/>
          <p:nvPr/>
        </p:nvSpPr>
        <p:spPr>
          <a:xfrm>
            <a:off x="955548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$-42,184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5712" name="Google Shape;5712;p36"/>
          <p:cNvSpPr/>
          <p:nvPr/>
        </p:nvSpPr>
        <p:spPr>
          <a:xfrm>
            <a:off x="137160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$225,263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2025 Full Year GWP</a:t>
            </a:r>
            <a:endParaRPr/>
          </a:p>
        </p:txBody>
      </p:sp>
      <p:sp>
        <p:nvSpPr>
          <p:cNvPr id="5713" name="Google Shape;5713;p36"/>
          <p:cNvSpPr/>
          <p:nvPr/>
        </p:nvSpPr>
        <p:spPr>
          <a:xfrm>
            <a:off x="1627631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$213,237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Rolling 12M GWP</a:t>
            </a:r>
            <a:endParaRPr/>
          </a:p>
        </p:txBody>
      </p:sp>
      <p:sp>
        <p:nvSpPr>
          <p:cNvPr id="5714" name="Google Shape;5714;p36"/>
          <p:cNvSpPr/>
          <p:nvPr/>
        </p:nvSpPr>
        <p:spPr>
          <a:xfrm>
            <a:off x="3118103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22%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% to Goal</a:t>
            </a:r>
            <a:endParaRPr/>
          </a:p>
        </p:txBody>
      </p:sp>
      <p:sp>
        <p:nvSpPr>
          <p:cNvPr id="5715" name="Google Shape;5715;p36"/>
          <p:cNvSpPr/>
          <p:nvPr/>
        </p:nvSpPr>
        <p:spPr>
          <a:xfrm>
            <a:off x="4608576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5716" name="Google Shape;5716;p36"/>
          <p:cNvSpPr/>
          <p:nvPr/>
        </p:nvSpPr>
        <p:spPr>
          <a:xfrm>
            <a:off x="6099048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5717" name="Google Shape;5717;p36"/>
          <p:cNvSpPr/>
          <p:nvPr/>
        </p:nvSpPr>
        <p:spPr>
          <a:xfrm>
            <a:off x="7589519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20.8%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5718" name="Google Shape;5718;p36"/>
          <p:cNvSpPr/>
          <p:nvPr/>
        </p:nvSpPr>
        <p:spPr>
          <a:xfrm>
            <a:off x="9079992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 Bound Prem</a:t>
            </a:r>
            <a:endParaRPr/>
          </a:p>
        </p:txBody>
      </p:sp>
      <p:sp>
        <p:nvSpPr>
          <p:cNvPr id="5719" name="Google Shape;5719;p36"/>
          <p:cNvSpPr/>
          <p:nvPr/>
        </p:nvSpPr>
        <p:spPr>
          <a:xfrm>
            <a:off x="10570464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$137,951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NF Bound Prem</a:t>
            </a:r>
            <a:endParaRPr/>
          </a:p>
        </p:txBody>
      </p:sp>
      <p:sp>
        <p:nvSpPr>
          <p:cNvPr id="5720" name="Google Shape;5720;p36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1" name="Google Shape;5721;p36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PRODUCTION BY MONTH</a:t>
            </a:r>
            <a:endParaRPr/>
          </a:p>
        </p:txBody>
      </p:sp>
      <p:sp>
        <p:nvSpPr>
          <p:cNvPr id="5722" name="Google Shape;5722;p36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5723" name="Google Shape;5723;p36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Written Premium</a:t>
            </a:r>
            <a:endParaRPr/>
          </a:p>
        </p:txBody>
      </p:sp>
      <p:sp>
        <p:nvSpPr>
          <p:cNvPr id="5724" name="Google Shape;5724;p36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5725" name="Google Shape;5725;p36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5726" name="Google Shape;5726;p36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5727" name="Google Shape;5727;p36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5728" name="Google Shape;5728;p36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9" name="Google Shape;5729;p3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5730" name="Google Shape;5730;p36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$4,331</a:t>
            </a:r>
            <a:endParaRPr/>
          </a:p>
        </p:txBody>
      </p:sp>
      <p:sp>
        <p:nvSpPr>
          <p:cNvPr id="5731" name="Google Shape;5731;p36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732" name="Google Shape;5732;p36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733" name="Google Shape;5733;p36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$4,331</a:t>
            </a:r>
            <a:endParaRPr/>
          </a:p>
        </p:txBody>
      </p:sp>
      <p:sp>
        <p:nvSpPr>
          <p:cNvPr id="5734" name="Google Shape;5734;p36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$-4,331</a:t>
            </a:r>
            <a:endParaRPr/>
          </a:p>
        </p:txBody>
      </p:sp>
      <p:sp>
        <p:nvSpPr>
          <p:cNvPr id="5735" name="Google Shape;5735;p36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6" name="Google Shape;5736;p36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5737" name="Google Shape;5737;p36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738" name="Google Shape;5738;p36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739" name="Google Shape;5739;p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740" name="Google Shape;5740;p36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741" name="Google Shape;5741;p36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742" name="Google Shape;5742;p36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3" name="Google Shape;5743;p36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5744" name="Google Shape;5744;p36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$15,650</a:t>
            </a:r>
            <a:endParaRPr/>
          </a:p>
        </p:txBody>
      </p:sp>
      <p:sp>
        <p:nvSpPr>
          <p:cNvPr id="5745" name="Google Shape;5745;p36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$16,143</a:t>
            </a:r>
            <a:endParaRPr/>
          </a:p>
        </p:txBody>
      </p:sp>
      <p:sp>
        <p:nvSpPr>
          <p:cNvPr id="5746" name="Google Shape;5746;p36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747" name="Google Shape;5747;p36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$-494</a:t>
            </a:r>
            <a:endParaRPr/>
          </a:p>
        </p:txBody>
      </p:sp>
      <p:sp>
        <p:nvSpPr>
          <p:cNvPr id="5748" name="Google Shape;5748;p36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749" name="Google Shape;5749;p3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0" name="Google Shape;5750;p36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5751" name="Google Shape;5751;p36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$38,596</a:t>
            </a:r>
            <a:endParaRPr/>
          </a:p>
        </p:txBody>
      </p:sp>
      <p:sp>
        <p:nvSpPr>
          <p:cNvPr id="5752" name="Google Shape;5752;p36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$18,726</a:t>
            </a:r>
            <a:endParaRPr/>
          </a:p>
        </p:txBody>
      </p:sp>
      <p:sp>
        <p:nvSpPr>
          <p:cNvPr id="5753" name="Google Shape;5753;p36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$19,127</a:t>
            </a:r>
            <a:endParaRPr/>
          </a:p>
        </p:txBody>
      </p:sp>
      <p:sp>
        <p:nvSpPr>
          <p:cNvPr id="5754" name="Google Shape;5754;p36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$743</a:t>
            </a:r>
            <a:endParaRPr/>
          </a:p>
        </p:txBody>
      </p:sp>
      <p:sp>
        <p:nvSpPr>
          <p:cNvPr id="5755" name="Google Shape;5755;p36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$-37,853</a:t>
            </a:r>
            <a:endParaRPr/>
          </a:p>
        </p:txBody>
      </p:sp>
      <p:sp>
        <p:nvSpPr>
          <p:cNvPr id="5756" name="Google Shape;5756;p36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7" name="Google Shape;5757;p36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5758" name="Google Shape;5758;p36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759" name="Google Shape;5759;p3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760" name="Google Shape;5760;p36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761" name="Google Shape;5761;p36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762" name="Google Shape;5762;p36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763" name="Google Shape;5763;p36"/>
          <p:cNvSpPr/>
          <p:nvPr/>
        </p:nvSpPr>
        <p:spPr>
          <a:xfrm>
            <a:off x="365760" y="4123944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4" name="Google Shape;5764;p36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5765" name="Google Shape;5765;p36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766" name="Google Shape;5766;p36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767" name="Google Shape;5767;p36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768" name="Google Shape;5768;p36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769" name="Google Shape;5769;p3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770" name="Google Shape;5770;p36"/>
          <p:cNvSpPr/>
          <p:nvPr/>
        </p:nvSpPr>
        <p:spPr>
          <a:xfrm>
            <a:off x="365760" y="4425696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1" name="Google Shape;5771;p36"/>
          <p:cNvSpPr txBox="1"/>
          <p:nvPr/>
        </p:nvSpPr>
        <p:spPr>
          <a:xfrm>
            <a:off x="3657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5772" name="Google Shape;5772;p36"/>
          <p:cNvSpPr txBox="1"/>
          <p:nvPr/>
        </p:nvSpPr>
        <p:spPr>
          <a:xfrm>
            <a:off x="1280160" y="446227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$58,577</a:t>
            </a:r>
            <a:endParaRPr/>
          </a:p>
        </p:txBody>
      </p:sp>
      <p:sp>
        <p:nvSpPr>
          <p:cNvPr id="5773" name="Google Shape;5773;p36"/>
          <p:cNvSpPr txBox="1"/>
          <p:nvPr/>
        </p:nvSpPr>
        <p:spPr>
          <a:xfrm>
            <a:off x="2377439" y="446227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$34,869</a:t>
            </a:r>
            <a:endParaRPr/>
          </a:p>
        </p:txBody>
      </p:sp>
      <p:sp>
        <p:nvSpPr>
          <p:cNvPr id="5774" name="Google Shape;5774;p36"/>
          <p:cNvSpPr txBox="1"/>
          <p:nvPr/>
        </p:nvSpPr>
        <p:spPr>
          <a:xfrm>
            <a:off x="33832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$19,127</a:t>
            </a:r>
            <a:endParaRPr/>
          </a:p>
        </p:txBody>
      </p:sp>
      <p:sp>
        <p:nvSpPr>
          <p:cNvPr id="5775" name="Google Shape;5775;p36"/>
          <p:cNvSpPr txBox="1"/>
          <p:nvPr/>
        </p:nvSpPr>
        <p:spPr>
          <a:xfrm>
            <a:off x="42976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$4,581</a:t>
            </a:r>
            <a:endParaRPr/>
          </a:p>
        </p:txBody>
      </p:sp>
      <p:sp>
        <p:nvSpPr>
          <p:cNvPr id="5776" name="Google Shape;5776;p36"/>
          <p:cNvSpPr txBox="1"/>
          <p:nvPr/>
        </p:nvSpPr>
        <p:spPr>
          <a:xfrm>
            <a:off x="52120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$-42,184</a:t>
            </a:r>
            <a:endParaRPr/>
          </a:p>
        </p:txBody>
      </p:sp>
      <p:sp>
        <p:nvSpPr>
          <p:cNvPr id="5777" name="Google Shape;5777;p36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8" name="Google Shape;5778;p36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 &amp; PIPELINE</a:t>
            </a:r>
            <a:endParaRPr/>
          </a:p>
        </p:txBody>
      </p:sp>
      <p:sp>
        <p:nvSpPr>
          <p:cNvPr id="5779" name="Google Shape;5779;p36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5780" name="Google Shape;5780;p36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Subs</a:t>
            </a:r>
            <a:endParaRPr/>
          </a:p>
        </p:txBody>
      </p:sp>
      <p:sp>
        <p:nvSpPr>
          <p:cNvPr id="5781" name="Google Shape;5781;p36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</a:t>
            </a:r>
            <a:endParaRPr/>
          </a:p>
        </p:txBody>
      </p:sp>
      <p:sp>
        <p:nvSpPr>
          <p:cNvPr id="5782" name="Google Shape;5782;p36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Non-Fleet</a:t>
            </a:r>
            <a:endParaRPr/>
          </a:p>
        </p:txBody>
      </p:sp>
      <p:sp>
        <p:nvSpPr>
          <p:cNvPr id="5783" name="Google Shape;5783;p36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5784" name="Google Shape;5784;p36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5785" name="Google Shape;5785;p36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6" name="Google Shape;5786;p3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5787" name="Google Shape;5787;p36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5788" name="Google Shape;5788;p36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5789" name="Google Shape;5789;p36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5790" name="Google Shape;5790;p36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5791" name="Google Shape;5791;p36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40.0%</a:t>
            </a:r>
            <a:endParaRPr/>
          </a:p>
        </p:txBody>
      </p:sp>
      <p:sp>
        <p:nvSpPr>
          <p:cNvPr id="5792" name="Google Shape;5792;p36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3" name="Google Shape;5793;p36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5794" name="Google Shape;5794;p36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5795" name="Google Shape;5795;p36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5796" name="Google Shape;5796;p3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5797" name="Google Shape;5797;p36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5798" name="Google Shape;5798;p36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33.3%</a:t>
            </a:r>
            <a:endParaRPr/>
          </a:p>
        </p:txBody>
      </p:sp>
      <p:sp>
        <p:nvSpPr>
          <p:cNvPr id="5799" name="Google Shape;5799;p36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0" name="Google Shape;5800;p36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5801" name="Google Shape;5801;p36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/>
          </a:p>
        </p:txBody>
      </p:sp>
      <p:sp>
        <p:nvSpPr>
          <p:cNvPr id="5802" name="Google Shape;5802;p36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5803" name="Google Shape;5803;p36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/>
          </a:p>
        </p:txBody>
      </p:sp>
      <p:sp>
        <p:nvSpPr>
          <p:cNvPr id="5804" name="Google Shape;5804;p36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5805" name="Google Shape;5805;p36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14.3%</a:t>
            </a:r>
            <a:endParaRPr/>
          </a:p>
        </p:txBody>
      </p:sp>
      <p:sp>
        <p:nvSpPr>
          <p:cNvPr id="5806" name="Google Shape;5806;p3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7" name="Google Shape;5807;p36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5808" name="Google Shape;5808;p36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</a:t>
            </a:r>
            <a:endParaRPr/>
          </a:p>
        </p:txBody>
      </p:sp>
      <p:sp>
        <p:nvSpPr>
          <p:cNvPr id="5809" name="Google Shape;5809;p36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5810" name="Google Shape;5810;p36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</a:t>
            </a:r>
            <a:endParaRPr/>
          </a:p>
        </p:txBody>
      </p:sp>
      <p:sp>
        <p:nvSpPr>
          <p:cNvPr id="5811" name="Google Shape;5811;p36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5812" name="Google Shape;5812;p36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25.0%</a:t>
            </a:r>
            <a:endParaRPr/>
          </a:p>
        </p:txBody>
      </p:sp>
      <p:sp>
        <p:nvSpPr>
          <p:cNvPr id="5813" name="Google Shape;5813;p36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4" name="Google Shape;5814;p36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5815" name="Google Shape;5815;p36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/>
          </a:p>
        </p:txBody>
      </p:sp>
      <p:sp>
        <p:nvSpPr>
          <p:cNvPr id="5816" name="Google Shape;5816;p3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5817" name="Google Shape;5817;p36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/>
          </a:p>
        </p:txBody>
      </p:sp>
      <p:sp>
        <p:nvSpPr>
          <p:cNvPr id="5818" name="Google Shape;5818;p36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5819" name="Google Shape;5819;p36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5820" name="Google Shape;5820;p36"/>
          <p:cNvSpPr/>
          <p:nvPr/>
        </p:nvSpPr>
        <p:spPr>
          <a:xfrm>
            <a:off x="6309360" y="4123944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1" name="Google Shape;5821;p36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5822" name="Google Shape;5822;p36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5823" name="Google Shape;5823;p36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5824" name="Google Shape;5824;p36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5825" name="Google Shape;5825;p36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5826" name="Google Shape;5826;p3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5827" name="Google Shape;5827;p36"/>
          <p:cNvSpPr/>
          <p:nvPr/>
        </p:nvSpPr>
        <p:spPr>
          <a:xfrm>
            <a:off x="6309360" y="4425696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8" name="Google Shape;5828;p36"/>
          <p:cNvSpPr txBox="1"/>
          <p:nvPr/>
        </p:nvSpPr>
        <p:spPr>
          <a:xfrm>
            <a:off x="63093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5829" name="Google Shape;5829;p36"/>
          <p:cNvSpPr txBox="1"/>
          <p:nvPr/>
        </p:nvSpPr>
        <p:spPr>
          <a:xfrm>
            <a:off x="722376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24</a:t>
            </a:r>
            <a:endParaRPr/>
          </a:p>
        </p:txBody>
      </p:sp>
      <p:sp>
        <p:nvSpPr>
          <p:cNvPr id="5830" name="Google Shape;5830;p36"/>
          <p:cNvSpPr txBox="1"/>
          <p:nvPr/>
        </p:nvSpPr>
        <p:spPr>
          <a:xfrm>
            <a:off x="804672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5831" name="Google Shape;5831;p36"/>
          <p:cNvSpPr txBox="1"/>
          <p:nvPr/>
        </p:nvSpPr>
        <p:spPr>
          <a:xfrm>
            <a:off x="886968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24</a:t>
            </a:r>
            <a:endParaRPr/>
          </a:p>
        </p:txBody>
      </p:sp>
      <p:sp>
        <p:nvSpPr>
          <p:cNvPr id="5832" name="Google Shape;5832;p36"/>
          <p:cNvSpPr txBox="1"/>
          <p:nvPr/>
        </p:nvSpPr>
        <p:spPr>
          <a:xfrm>
            <a:off x="978408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5833" name="Google Shape;5833;p36"/>
          <p:cNvSpPr txBox="1"/>
          <p:nvPr/>
        </p:nvSpPr>
        <p:spPr>
          <a:xfrm>
            <a:off x="1060704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20.8%</a:t>
            </a:r>
            <a:endParaRPr/>
          </a:p>
        </p:txBody>
      </p:sp>
      <p:sp>
        <p:nvSpPr>
          <p:cNvPr id="5834" name="Google Shape;5834;p36"/>
          <p:cNvSpPr/>
          <p:nvPr/>
        </p:nvSpPr>
        <p:spPr>
          <a:xfrm>
            <a:off x="365760" y="4782312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5" name="Google Shape;5835;p36"/>
          <p:cNvSpPr txBox="1"/>
          <p:nvPr/>
        </p:nvSpPr>
        <p:spPr>
          <a:xfrm>
            <a:off x="457200" y="4800599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YOY COMPARISON — Jan–Jun 2025 vs Jan–Jun 2026</a:t>
            </a:r>
            <a:endParaRPr/>
          </a:p>
        </p:txBody>
      </p:sp>
      <p:sp>
        <p:nvSpPr>
          <p:cNvPr id="5836" name="Google Shape;5836;p36"/>
          <p:cNvSpPr txBox="1"/>
          <p:nvPr/>
        </p:nvSpPr>
        <p:spPr>
          <a:xfrm>
            <a:off x="365760" y="5056631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00" u="none" cap="none" strike="noStrike">
              <a:solidFill>
                <a:srgbClr val="6B728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837" name="Google Shape;5837;p36"/>
          <p:cNvSpPr txBox="1"/>
          <p:nvPr/>
        </p:nvSpPr>
        <p:spPr>
          <a:xfrm>
            <a:off x="1463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'25</a:t>
            </a:r>
            <a:endParaRPr/>
          </a:p>
        </p:txBody>
      </p:sp>
      <p:sp>
        <p:nvSpPr>
          <p:cNvPr id="5838" name="Google Shape;5838;p36"/>
          <p:cNvSpPr txBox="1"/>
          <p:nvPr/>
        </p:nvSpPr>
        <p:spPr>
          <a:xfrm>
            <a:off x="2148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'26</a:t>
            </a:r>
            <a:endParaRPr/>
          </a:p>
        </p:txBody>
      </p:sp>
      <p:sp>
        <p:nvSpPr>
          <p:cNvPr id="5839" name="Google Shape;5839;p36"/>
          <p:cNvSpPr txBox="1"/>
          <p:nvPr/>
        </p:nvSpPr>
        <p:spPr>
          <a:xfrm>
            <a:off x="2834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'25</a:t>
            </a:r>
            <a:endParaRPr/>
          </a:p>
        </p:txBody>
      </p:sp>
      <p:sp>
        <p:nvSpPr>
          <p:cNvPr id="5840" name="Google Shape;5840;p36"/>
          <p:cNvSpPr txBox="1"/>
          <p:nvPr/>
        </p:nvSpPr>
        <p:spPr>
          <a:xfrm>
            <a:off x="3520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'26</a:t>
            </a:r>
            <a:endParaRPr/>
          </a:p>
        </p:txBody>
      </p:sp>
      <p:sp>
        <p:nvSpPr>
          <p:cNvPr id="5841" name="Google Shape;5841;p36"/>
          <p:cNvSpPr txBox="1"/>
          <p:nvPr/>
        </p:nvSpPr>
        <p:spPr>
          <a:xfrm>
            <a:off x="4206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'25</a:t>
            </a:r>
            <a:endParaRPr/>
          </a:p>
        </p:txBody>
      </p:sp>
      <p:sp>
        <p:nvSpPr>
          <p:cNvPr id="5842" name="Google Shape;5842;p36"/>
          <p:cNvSpPr txBox="1"/>
          <p:nvPr/>
        </p:nvSpPr>
        <p:spPr>
          <a:xfrm>
            <a:off x="4892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'26</a:t>
            </a:r>
            <a:endParaRPr/>
          </a:p>
        </p:txBody>
      </p:sp>
      <p:sp>
        <p:nvSpPr>
          <p:cNvPr id="5843" name="Google Shape;5843;p36"/>
          <p:cNvSpPr txBox="1"/>
          <p:nvPr/>
        </p:nvSpPr>
        <p:spPr>
          <a:xfrm>
            <a:off x="5577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'25</a:t>
            </a:r>
            <a:endParaRPr/>
          </a:p>
        </p:txBody>
      </p:sp>
      <p:sp>
        <p:nvSpPr>
          <p:cNvPr id="5844" name="Google Shape;5844;p36"/>
          <p:cNvSpPr txBox="1"/>
          <p:nvPr/>
        </p:nvSpPr>
        <p:spPr>
          <a:xfrm>
            <a:off x="6263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'26</a:t>
            </a:r>
            <a:endParaRPr/>
          </a:p>
        </p:txBody>
      </p:sp>
      <p:sp>
        <p:nvSpPr>
          <p:cNvPr id="5845" name="Google Shape;5845;p36"/>
          <p:cNvSpPr txBox="1"/>
          <p:nvPr/>
        </p:nvSpPr>
        <p:spPr>
          <a:xfrm>
            <a:off x="6949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'25</a:t>
            </a:r>
            <a:endParaRPr/>
          </a:p>
        </p:txBody>
      </p:sp>
      <p:sp>
        <p:nvSpPr>
          <p:cNvPr id="5846" name="Google Shape;5846;p36"/>
          <p:cNvSpPr txBox="1"/>
          <p:nvPr/>
        </p:nvSpPr>
        <p:spPr>
          <a:xfrm>
            <a:off x="7635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'26</a:t>
            </a:r>
            <a:endParaRPr/>
          </a:p>
        </p:txBody>
      </p:sp>
      <p:sp>
        <p:nvSpPr>
          <p:cNvPr id="5847" name="Google Shape;5847;p36"/>
          <p:cNvSpPr txBox="1"/>
          <p:nvPr/>
        </p:nvSpPr>
        <p:spPr>
          <a:xfrm>
            <a:off x="8321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'25</a:t>
            </a:r>
            <a:endParaRPr/>
          </a:p>
        </p:txBody>
      </p:sp>
      <p:sp>
        <p:nvSpPr>
          <p:cNvPr id="5848" name="Google Shape;5848;p36"/>
          <p:cNvSpPr txBox="1"/>
          <p:nvPr/>
        </p:nvSpPr>
        <p:spPr>
          <a:xfrm>
            <a:off x="9006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'26</a:t>
            </a:r>
            <a:endParaRPr/>
          </a:p>
        </p:txBody>
      </p:sp>
      <p:sp>
        <p:nvSpPr>
          <p:cNvPr id="5849" name="Google Shape;5849;p36"/>
          <p:cNvSpPr txBox="1"/>
          <p:nvPr/>
        </p:nvSpPr>
        <p:spPr>
          <a:xfrm>
            <a:off x="969264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'25 Tot</a:t>
            </a:r>
            <a:endParaRPr/>
          </a:p>
        </p:txBody>
      </p:sp>
      <p:sp>
        <p:nvSpPr>
          <p:cNvPr id="5850" name="Google Shape;5850;p36"/>
          <p:cNvSpPr txBox="1"/>
          <p:nvPr/>
        </p:nvSpPr>
        <p:spPr>
          <a:xfrm>
            <a:off x="1088136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'26 Tot</a:t>
            </a:r>
            <a:endParaRPr/>
          </a:p>
        </p:txBody>
      </p:sp>
      <p:sp>
        <p:nvSpPr>
          <p:cNvPr id="5851" name="Google Shape;5851;p36"/>
          <p:cNvSpPr txBox="1"/>
          <p:nvPr/>
        </p:nvSpPr>
        <p:spPr>
          <a:xfrm>
            <a:off x="365760" y="523951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5852" name="Google Shape;5852;p36"/>
          <p:cNvSpPr txBox="1"/>
          <p:nvPr/>
        </p:nvSpPr>
        <p:spPr>
          <a:xfrm>
            <a:off x="1463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5853" name="Google Shape;5853;p36"/>
          <p:cNvSpPr txBox="1"/>
          <p:nvPr/>
        </p:nvSpPr>
        <p:spPr>
          <a:xfrm>
            <a:off x="2148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5854" name="Google Shape;5854;p36"/>
          <p:cNvSpPr txBox="1"/>
          <p:nvPr/>
        </p:nvSpPr>
        <p:spPr>
          <a:xfrm>
            <a:off x="2834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5855" name="Google Shape;5855;p36"/>
          <p:cNvSpPr txBox="1"/>
          <p:nvPr/>
        </p:nvSpPr>
        <p:spPr>
          <a:xfrm>
            <a:off x="3520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5856" name="Google Shape;5856;p36"/>
          <p:cNvSpPr txBox="1"/>
          <p:nvPr/>
        </p:nvSpPr>
        <p:spPr>
          <a:xfrm>
            <a:off x="4206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5857" name="Google Shape;5857;p36"/>
          <p:cNvSpPr txBox="1"/>
          <p:nvPr/>
        </p:nvSpPr>
        <p:spPr>
          <a:xfrm>
            <a:off x="4892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/>
          </a:p>
        </p:txBody>
      </p:sp>
      <p:sp>
        <p:nvSpPr>
          <p:cNvPr id="5858" name="Google Shape;5858;p36"/>
          <p:cNvSpPr txBox="1"/>
          <p:nvPr/>
        </p:nvSpPr>
        <p:spPr>
          <a:xfrm>
            <a:off x="5577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/>
          </a:p>
        </p:txBody>
      </p:sp>
      <p:sp>
        <p:nvSpPr>
          <p:cNvPr id="5859" name="Google Shape;5859;p36"/>
          <p:cNvSpPr txBox="1"/>
          <p:nvPr/>
        </p:nvSpPr>
        <p:spPr>
          <a:xfrm>
            <a:off x="6263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</a:t>
            </a:r>
            <a:endParaRPr/>
          </a:p>
        </p:txBody>
      </p:sp>
      <p:sp>
        <p:nvSpPr>
          <p:cNvPr id="5860" name="Google Shape;5860;p36"/>
          <p:cNvSpPr txBox="1"/>
          <p:nvPr/>
        </p:nvSpPr>
        <p:spPr>
          <a:xfrm>
            <a:off x="6949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5861" name="Google Shape;5861;p36"/>
          <p:cNvSpPr txBox="1"/>
          <p:nvPr/>
        </p:nvSpPr>
        <p:spPr>
          <a:xfrm>
            <a:off x="7635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/>
          </a:p>
        </p:txBody>
      </p:sp>
      <p:sp>
        <p:nvSpPr>
          <p:cNvPr id="5862" name="Google Shape;5862;p36"/>
          <p:cNvSpPr txBox="1"/>
          <p:nvPr/>
        </p:nvSpPr>
        <p:spPr>
          <a:xfrm>
            <a:off x="8321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5863" name="Google Shape;5863;p36"/>
          <p:cNvSpPr txBox="1"/>
          <p:nvPr/>
        </p:nvSpPr>
        <p:spPr>
          <a:xfrm>
            <a:off x="9006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5864" name="Google Shape;5864;p36"/>
          <p:cNvSpPr txBox="1"/>
          <p:nvPr/>
        </p:nvSpPr>
        <p:spPr>
          <a:xfrm>
            <a:off x="969264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28</a:t>
            </a:r>
            <a:endParaRPr/>
          </a:p>
        </p:txBody>
      </p:sp>
      <p:sp>
        <p:nvSpPr>
          <p:cNvPr id="5865" name="Google Shape;5865;p36"/>
          <p:cNvSpPr txBox="1"/>
          <p:nvPr/>
        </p:nvSpPr>
        <p:spPr>
          <a:xfrm>
            <a:off x="1088136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29</a:t>
            </a:r>
            <a:endParaRPr/>
          </a:p>
        </p:txBody>
      </p:sp>
      <p:sp>
        <p:nvSpPr>
          <p:cNvPr id="5866" name="Google Shape;5866;p36"/>
          <p:cNvSpPr txBox="1"/>
          <p:nvPr/>
        </p:nvSpPr>
        <p:spPr>
          <a:xfrm>
            <a:off x="365760" y="542239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Bound Premium</a:t>
            </a:r>
            <a:endParaRPr/>
          </a:p>
        </p:txBody>
      </p:sp>
      <p:sp>
        <p:nvSpPr>
          <p:cNvPr id="5867" name="Google Shape;5867;p36"/>
          <p:cNvSpPr txBox="1"/>
          <p:nvPr/>
        </p:nvSpPr>
        <p:spPr>
          <a:xfrm>
            <a:off x="1463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868" name="Google Shape;5868;p36"/>
          <p:cNvSpPr txBox="1"/>
          <p:nvPr/>
        </p:nvSpPr>
        <p:spPr>
          <a:xfrm>
            <a:off x="2148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$4K</a:t>
            </a:r>
            <a:endParaRPr/>
          </a:p>
        </p:txBody>
      </p:sp>
      <p:sp>
        <p:nvSpPr>
          <p:cNvPr id="5869" name="Google Shape;5869;p36"/>
          <p:cNvSpPr txBox="1"/>
          <p:nvPr/>
        </p:nvSpPr>
        <p:spPr>
          <a:xfrm>
            <a:off x="2834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870" name="Google Shape;5870;p36"/>
          <p:cNvSpPr txBox="1"/>
          <p:nvPr/>
        </p:nvSpPr>
        <p:spPr>
          <a:xfrm>
            <a:off x="3520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871" name="Google Shape;5871;p36"/>
          <p:cNvSpPr txBox="1"/>
          <p:nvPr/>
        </p:nvSpPr>
        <p:spPr>
          <a:xfrm>
            <a:off x="4206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$21K</a:t>
            </a:r>
            <a:endParaRPr/>
          </a:p>
        </p:txBody>
      </p:sp>
      <p:sp>
        <p:nvSpPr>
          <p:cNvPr id="5872" name="Google Shape;5872;p36"/>
          <p:cNvSpPr txBox="1"/>
          <p:nvPr/>
        </p:nvSpPr>
        <p:spPr>
          <a:xfrm>
            <a:off x="4892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$16K</a:t>
            </a:r>
            <a:endParaRPr/>
          </a:p>
        </p:txBody>
      </p:sp>
      <p:sp>
        <p:nvSpPr>
          <p:cNvPr id="5873" name="Google Shape;5873;p36"/>
          <p:cNvSpPr txBox="1"/>
          <p:nvPr/>
        </p:nvSpPr>
        <p:spPr>
          <a:xfrm>
            <a:off x="5577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$42K</a:t>
            </a:r>
            <a:endParaRPr/>
          </a:p>
        </p:txBody>
      </p:sp>
      <p:sp>
        <p:nvSpPr>
          <p:cNvPr id="5874" name="Google Shape;5874;p36"/>
          <p:cNvSpPr txBox="1"/>
          <p:nvPr/>
        </p:nvSpPr>
        <p:spPr>
          <a:xfrm>
            <a:off x="6263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$39K</a:t>
            </a:r>
            <a:endParaRPr/>
          </a:p>
        </p:txBody>
      </p:sp>
      <p:sp>
        <p:nvSpPr>
          <p:cNvPr id="5875" name="Google Shape;5875;p36"/>
          <p:cNvSpPr txBox="1"/>
          <p:nvPr/>
        </p:nvSpPr>
        <p:spPr>
          <a:xfrm>
            <a:off x="6949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$6K</a:t>
            </a:r>
            <a:endParaRPr/>
          </a:p>
        </p:txBody>
      </p:sp>
      <p:sp>
        <p:nvSpPr>
          <p:cNvPr id="5876" name="Google Shape;5876;p36"/>
          <p:cNvSpPr txBox="1"/>
          <p:nvPr/>
        </p:nvSpPr>
        <p:spPr>
          <a:xfrm>
            <a:off x="7635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877" name="Google Shape;5877;p36"/>
          <p:cNvSpPr txBox="1"/>
          <p:nvPr/>
        </p:nvSpPr>
        <p:spPr>
          <a:xfrm>
            <a:off x="8321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$923</a:t>
            </a:r>
            <a:endParaRPr/>
          </a:p>
        </p:txBody>
      </p:sp>
      <p:sp>
        <p:nvSpPr>
          <p:cNvPr id="5878" name="Google Shape;5878;p36"/>
          <p:cNvSpPr txBox="1"/>
          <p:nvPr/>
        </p:nvSpPr>
        <p:spPr>
          <a:xfrm>
            <a:off x="9006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879" name="Google Shape;5879;p36"/>
          <p:cNvSpPr txBox="1"/>
          <p:nvPr/>
        </p:nvSpPr>
        <p:spPr>
          <a:xfrm>
            <a:off x="969264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$71K</a:t>
            </a:r>
            <a:endParaRPr/>
          </a:p>
        </p:txBody>
      </p:sp>
      <p:sp>
        <p:nvSpPr>
          <p:cNvPr id="5880" name="Google Shape;5880;p36"/>
          <p:cNvSpPr txBox="1"/>
          <p:nvPr/>
        </p:nvSpPr>
        <p:spPr>
          <a:xfrm>
            <a:off x="1088136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$59K</a:t>
            </a:r>
            <a:endParaRPr/>
          </a:p>
        </p:txBody>
      </p:sp>
      <p:sp>
        <p:nvSpPr>
          <p:cNvPr id="5881" name="Google Shape;5881;p36"/>
          <p:cNvSpPr/>
          <p:nvPr/>
        </p:nvSpPr>
        <p:spPr>
          <a:xfrm>
            <a:off x="365760" y="5678423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2" name="Google Shape;5882;p36"/>
          <p:cNvSpPr txBox="1"/>
          <p:nvPr/>
        </p:nvSpPr>
        <p:spPr>
          <a:xfrm>
            <a:off x="4572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65F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STRENGTHS - What's Working</a:t>
            </a:r>
            <a:endParaRPr/>
          </a:p>
        </p:txBody>
      </p:sp>
      <p:sp>
        <p:nvSpPr>
          <p:cNvPr id="5883" name="Google Shape;5883;p36"/>
          <p:cNvSpPr txBox="1"/>
          <p:nvPr/>
        </p:nvSpPr>
        <p:spPr>
          <a:xfrm>
            <a:off x="4572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5884" name="Google Shape;5884;p36"/>
          <p:cNvSpPr txBox="1"/>
          <p:nvPr/>
        </p:nvSpPr>
        <p:spPr>
          <a:xfrm>
            <a:off x="685800" y="5952743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$58,577 YTD gross written premium</a:t>
            </a:r>
            <a:endParaRPr/>
          </a:p>
        </p:txBody>
      </p:sp>
      <p:sp>
        <p:nvSpPr>
          <p:cNvPr id="5885" name="Google Shape;5885;p36"/>
          <p:cNvSpPr txBox="1"/>
          <p:nvPr/>
        </p:nvSpPr>
        <p:spPr>
          <a:xfrm>
            <a:off x="457200" y="6153911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5886" name="Google Shape;5886;p36"/>
          <p:cNvSpPr txBox="1"/>
          <p:nvPr/>
        </p:nvSpPr>
        <p:spPr>
          <a:xfrm>
            <a:off x="685800" y="6153911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$34,869 in new business production</a:t>
            </a:r>
            <a:endParaRPr/>
          </a:p>
        </p:txBody>
      </p:sp>
      <p:sp>
        <p:nvSpPr>
          <p:cNvPr id="5887" name="Google Shape;5887;p36"/>
          <p:cNvSpPr/>
          <p:nvPr/>
        </p:nvSpPr>
        <p:spPr>
          <a:xfrm>
            <a:off x="6309360" y="5678423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8" name="Google Shape;5888;p36"/>
          <p:cNvSpPr txBox="1"/>
          <p:nvPr/>
        </p:nvSpPr>
        <p:spPr>
          <a:xfrm>
            <a:off x="64008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NEEDS ATTENTION</a:t>
            </a:r>
            <a:endParaRPr/>
          </a:p>
        </p:txBody>
      </p:sp>
      <p:sp>
        <p:nvSpPr>
          <p:cNvPr id="5889" name="Google Shape;5889;p36"/>
          <p:cNvSpPr txBox="1"/>
          <p:nvPr/>
        </p:nvSpPr>
        <p:spPr>
          <a:xfrm>
            <a:off x="64008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5890" name="Google Shape;5890;p36"/>
          <p:cNvSpPr txBox="1"/>
          <p:nvPr/>
        </p:nvSpPr>
        <p:spPr>
          <a:xfrm>
            <a:off x="6629400" y="5952743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 at 121% of new business ($42,184)</a:t>
            </a:r>
            <a:endParaRPr/>
          </a:p>
        </p:txBody>
      </p:sp>
      <p:sp>
        <p:nvSpPr>
          <p:cNvPr id="5891" name="Google Shape;5891;p36"/>
          <p:cNvSpPr/>
          <p:nvPr/>
        </p:nvSpPr>
        <p:spPr>
          <a:xfrm>
            <a:off x="365760" y="6455663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2" name="Google Shape;5892;p36"/>
          <p:cNvSpPr txBox="1"/>
          <p:nvPr/>
        </p:nvSpPr>
        <p:spPr>
          <a:xfrm>
            <a:off x="457200" y="6464807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STRATEGIC SALES TIPS - Conversation Starters</a:t>
            </a:r>
            <a:endParaRPr/>
          </a:p>
        </p:txBody>
      </p:sp>
      <p:sp>
        <p:nvSpPr>
          <p:cNvPr id="5893" name="Google Shape;5893;p36"/>
          <p:cNvSpPr txBox="1"/>
          <p:nvPr/>
        </p:nvSpPr>
        <p:spPr>
          <a:xfrm>
            <a:off x="457200" y="6711695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endParaRPr/>
          </a:p>
        </p:txBody>
      </p:sp>
      <p:sp>
        <p:nvSpPr>
          <p:cNvPr id="5894" name="Google Shape;5894;p36"/>
          <p:cNvSpPr txBox="1"/>
          <p:nvPr/>
        </p:nvSpPr>
        <p:spPr>
          <a:xfrm>
            <a:off x="777240" y="6711695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Celebrate the $34,869 in new business. Ask what made those deals work and how you can help replicate that success with similar accounts in their pipeline.</a:t>
            </a:r>
            <a:endParaRPr/>
          </a:p>
        </p:txBody>
      </p:sp>
      <p:sp>
        <p:nvSpPr>
          <p:cNvPr id="5895" name="Google Shape;5895;p36"/>
          <p:cNvSpPr txBox="1"/>
          <p:nvPr/>
        </p:nvSpPr>
        <p:spPr>
          <a:xfrm>
            <a:off x="457200" y="6949439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endParaRPr/>
          </a:p>
        </p:txBody>
      </p:sp>
      <p:sp>
        <p:nvSpPr>
          <p:cNvPr id="5896" name="Google Shape;5896;p36"/>
          <p:cNvSpPr txBox="1"/>
          <p:nvPr/>
        </p:nvSpPr>
        <p:spPr>
          <a:xfrm>
            <a:off x="777240" y="6949439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Address the $42,184 in cancellations. Ask: "Are we losing these to price, service, or coverage?" Proactive retention discussions can protect the book and strengthen the relationship.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00" name="Shape 5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1" name="Google Shape;5901;p37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2" name="Google Shape;5902;p37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Five Star Insurance Services Inc</a:t>
            </a:r>
            <a:endParaRPr/>
          </a:p>
        </p:txBody>
      </p:sp>
      <p:sp>
        <p:nvSpPr>
          <p:cNvPr id="5903" name="Google Shape;5903;p37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4B5F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Tier: Tier 2  |  Region: Southeast  |  State: FL  |  City: Palm Coast</a:t>
            </a:r>
            <a:endParaRPr/>
          </a:p>
        </p:txBody>
      </p:sp>
      <p:sp>
        <p:nvSpPr>
          <p:cNvPr id="5904" name="Google Shape;5904;p37"/>
          <p:cNvSpPr/>
          <p:nvPr/>
        </p:nvSpPr>
        <p:spPr>
          <a:xfrm>
            <a:off x="22860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$49,605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YTD GWP</a:t>
            </a:r>
            <a:endParaRPr/>
          </a:p>
        </p:txBody>
      </p:sp>
      <p:sp>
        <p:nvSpPr>
          <p:cNvPr id="5905" name="Google Shape;5905;p37"/>
          <p:cNvSpPr/>
          <p:nvPr/>
        </p:nvSpPr>
        <p:spPr>
          <a:xfrm>
            <a:off x="256032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5906" name="Google Shape;5906;p37"/>
          <p:cNvSpPr/>
          <p:nvPr/>
        </p:nvSpPr>
        <p:spPr>
          <a:xfrm>
            <a:off x="489204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$57,459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5907" name="Google Shape;5907;p37"/>
          <p:cNvSpPr/>
          <p:nvPr/>
        </p:nvSpPr>
        <p:spPr>
          <a:xfrm>
            <a:off x="7223759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$-7,854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5908" name="Google Shape;5908;p37"/>
          <p:cNvSpPr/>
          <p:nvPr/>
        </p:nvSpPr>
        <p:spPr>
          <a:xfrm>
            <a:off x="955548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$-52,885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5909" name="Google Shape;5909;p37"/>
          <p:cNvSpPr/>
          <p:nvPr/>
        </p:nvSpPr>
        <p:spPr>
          <a:xfrm>
            <a:off x="137160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$535,744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2025 Full Year GWP</a:t>
            </a:r>
            <a:endParaRPr/>
          </a:p>
        </p:txBody>
      </p:sp>
      <p:sp>
        <p:nvSpPr>
          <p:cNvPr id="5910" name="Google Shape;5910;p37"/>
          <p:cNvSpPr/>
          <p:nvPr/>
        </p:nvSpPr>
        <p:spPr>
          <a:xfrm>
            <a:off x="1627631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$253,498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Rolling 12M GWP</a:t>
            </a:r>
            <a:endParaRPr/>
          </a:p>
        </p:txBody>
      </p:sp>
      <p:sp>
        <p:nvSpPr>
          <p:cNvPr id="5911" name="Google Shape;5911;p37"/>
          <p:cNvSpPr/>
          <p:nvPr/>
        </p:nvSpPr>
        <p:spPr>
          <a:xfrm>
            <a:off x="3118103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% to Goal</a:t>
            </a:r>
            <a:endParaRPr/>
          </a:p>
        </p:txBody>
      </p:sp>
      <p:sp>
        <p:nvSpPr>
          <p:cNvPr id="5912" name="Google Shape;5912;p37"/>
          <p:cNvSpPr/>
          <p:nvPr/>
        </p:nvSpPr>
        <p:spPr>
          <a:xfrm>
            <a:off x="4608576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83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5913" name="Google Shape;5913;p37"/>
          <p:cNvSpPr/>
          <p:nvPr/>
        </p:nvSpPr>
        <p:spPr>
          <a:xfrm>
            <a:off x="6099048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5914" name="Google Shape;5914;p37"/>
          <p:cNvSpPr/>
          <p:nvPr/>
        </p:nvSpPr>
        <p:spPr>
          <a:xfrm>
            <a:off x="7589519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6.0%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5915" name="Google Shape;5915;p37"/>
          <p:cNvSpPr/>
          <p:nvPr/>
        </p:nvSpPr>
        <p:spPr>
          <a:xfrm>
            <a:off x="9079992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$61,002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 Bound Prem</a:t>
            </a:r>
            <a:endParaRPr/>
          </a:p>
        </p:txBody>
      </p:sp>
      <p:sp>
        <p:nvSpPr>
          <p:cNvPr id="5916" name="Google Shape;5916;p37"/>
          <p:cNvSpPr/>
          <p:nvPr/>
        </p:nvSpPr>
        <p:spPr>
          <a:xfrm>
            <a:off x="10570464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$136,890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NF Bound Prem</a:t>
            </a:r>
            <a:endParaRPr/>
          </a:p>
        </p:txBody>
      </p:sp>
      <p:sp>
        <p:nvSpPr>
          <p:cNvPr id="5917" name="Google Shape;5917;p3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8" name="Google Shape;5918;p37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PRODUCTION BY MONTH</a:t>
            </a:r>
            <a:endParaRPr/>
          </a:p>
        </p:txBody>
      </p:sp>
      <p:sp>
        <p:nvSpPr>
          <p:cNvPr id="5919" name="Google Shape;5919;p37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5920" name="Google Shape;5920;p37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Written Premium</a:t>
            </a:r>
            <a:endParaRPr/>
          </a:p>
        </p:txBody>
      </p:sp>
      <p:sp>
        <p:nvSpPr>
          <p:cNvPr id="5921" name="Google Shape;5921;p37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5922" name="Google Shape;5922;p37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5923" name="Google Shape;5923;p37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5924" name="Google Shape;5924;p37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5925" name="Google Shape;5925;p37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6" name="Google Shape;5926;p37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5927" name="Google Shape;5927;p3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$49,402</a:t>
            </a:r>
            <a:endParaRPr/>
          </a:p>
        </p:txBody>
      </p:sp>
      <p:sp>
        <p:nvSpPr>
          <p:cNvPr id="5928" name="Google Shape;5928;p37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929" name="Google Shape;5929;p37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$57,459</a:t>
            </a:r>
            <a:endParaRPr/>
          </a:p>
        </p:txBody>
      </p:sp>
      <p:sp>
        <p:nvSpPr>
          <p:cNvPr id="5930" name="Google Shape;5930;p37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$-8,057</a:t>
            </a:r>
            <a:endParaRPr/>
          </a:p>
        </p:txBody>
      </p:sp>
      <p:sp>
        <p:nvSpPr>
          <p:cNvPr id="5931" name="Google Shape;5931;p37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932" name="Google Shape;5932;p37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3" name="Google Shape;5933;p37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5934" name="Google Shape;5934;p37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$10,304</a:t>
            </a:r>
            <a:endParaRPr/>
          </a:p>
        </p:txBody>
      </p:sp>
      <p:sp>
        <p:nvSpPr>
          <p:cNvPr id="5935" name="Google Shape;5935;p37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936" name="Google Shape;5936;p37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937" name="Google Shape;5937;p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$10,304</a:t>
            </a:r>
            <a:endParaRPr/>
          </a:p>
        </p:txBody>
      </p:sp>
      <p:sp>
        <p:nvSpPr>
          <p:cNvPr id="5938" name="Google Shape;5938;p37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$-16,206</a:t>
            </a:r>
            <a:endParaRPr/>
          </a:p>
        </p:txBody>
      </p:sp>
      <p:sp>
        <p:nvSpPr>
          <p:cNvPr id="5939" name="Google Shape;5939;p37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0" name="Google Shape;5940;p37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5941" name="Google Shape;5941;p37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$-428</a:t>
            </a:r>
            <a:endParaRPr/>
          </a:p>
        </p:txBody>
      </p:sp>
      <p:sp>
        <p:nvSpPr>
          <p:cNvPr id="5942" name="Google Shape;5942;p37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943" name="Google Shape;5943;p37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944" name="Google Shape;5944;p37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$-428</a:t>
            </a:r>
            <a:endParaRPr/>
          </a:p>
        </p:txBody>
      </p:sp>
      <p:sp>
        <p:nvSpPr>
          <p:cNvPr id="5945" name="Google Shape;5945;p37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946" name="Google Shape;5946;p37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7" name="Google Shape;5947;p3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5948" name="Google Shape;5948;p37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$111</a:t>
            </a:r>
            <a:endParaRPr/>
          </a:p>
        </p:txBody>
      </p:sp>
      <p:sp>
        <p:nvSpPr>
          <p:cNvPr id="5949" name="Google Shape;5949;p37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950" name="Google Shape;5950;p37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951" name="Google Shape;5951;p37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$111</a:t>
            </a:r>
            <a:endParaRPr/>
          </a:p>
        </p:txBody>
      </p:sp>
      <p:sp>
        <p:nvSpPr>
          <p:cNvPr id="5952" name="Google Shape;5952;p37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953" name="Google Shape;5953;p37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4" name="Google Shape;5954;p37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5955" name="Google Shape;5955;p37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$-9,784</a:t>
            </a:r>
            <a:endParaRPr/>
          </a:p>
        </p:txBody>
      </p:sp>
      <p:sp>
        <p:nvSpPr>
          <p:cNvPr id="5956" name="Google Shape;5956;p37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957" name="Google Shape;5957;p3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958" name="Google Shape;5958;p37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$-9,784</a:t>
            </a:r>
            <a:endParaRPr/>
          </a:p>
        </p:txBody>
      </p:sp>
      <p:sp>
        <p:nvSpPr>
          <p:cNvPr id="5959" name="Google Shape;5959;p37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$-36,679</a:t>
            </a:r>
            <a:endParaRPr/>
          </a:p>
        </p:txBody>
      </p:sp>
      <p:sp>
        <p:nvSpPr>
          <p:cNvPr id="5960" name="Google Shape;5960;p37"/>
          <p:cNvSpPr/>
          <p:nvPr/>
        </p:nvSpPr>
        <p:spPr>
          <a:xfrm>
            <a:off x="365760" y="4123944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1" name="Google Shape;5961;p37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5962" name="Google Shape;5962;p37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963" name="Google Shape;5963;p37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964" name="Google Shape;5964;p37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965" name="Google Shape;5965;p37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966" name="Google Shape;5966;p37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967" name="Google Shape;5967;p37"/>
          <p:cNvSpPr/>
          <p:nvPr/>
        </p:nvSpPr>
        <p:spPr>
          <a:xfrm>
            <a:off x="365760" y="4425696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8" name="Google Shape;5968;p37"/>
          <p:cNvSpPr txBox="1"/>
          <p:nvPr/>
        </p:nvSpPr>
        <p:spPr>
          <a:xfrm>
            <a:off x="3657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5969" name="Google Shape;5969;p37"/>
          <p:cNvSpPr txBox="1"/>
          <p:nvPr/>
        </p:nvSpPr>
        <p:spPr>
          <a:xfrm>
            <a:off x="1280160" y="446227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$49,605</a:t>
            </a:r>
            <a:endParaRPr/>
          </a:p>
        </p:txBody>
      </p:sp>
      <p:sp>
        <p:nvSpPr>
          <p:cNvPr id="5970" name="Google Shape;5970;p37"/>
          <p:cNvSpPr txBox="1"/>
          <p:nvPr/>
        </p:nvSpPr>
        <p:spPr>
          <a:xfrm>
            <a:off x="2377439" y="446227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5971" name="Google Shape;5971;p37"/>
          <p:cNvSpPr txBox="1"/>
          <p:nvPr/>
        </p:nvSpPr>
        <p:spPr>
          <a:xfrm>
            <a:off x="33832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$57,459</a:t>
            </a:r>
            <a:endParaRPr/>
          </a:p>
        </p:txBody>
      </p:sp>
      <p:sp>
        <p:nvSpPr>
          <p:cNvPr id="5972" name="Google Shape;5972;p37"/>
          <p:cNvSpPr txBox="1"/>
          <p:nvPr/>
        </p:nvSpPr>
        <p:spPr>
          <a:xfrm>
            <a:off x="42976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$-7,854</a:t>
            </a:r>
            <a:endParaRPr/>
          </a:p>
        </p:txBody>
      </p:sp>
      <p:sp>
        <p:nvSpPr>
          <p:cNvPr id="5973" name="Google Shape;5973;p37"/>
          <p:cNvSpPr txBox="1"/>
          <p:nvPr/>
        </p:nvSpPr>
        <p:spPr>
          <a:xfrm>
            <a:off x="52120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$-52,885</a:t>
            </a:r>
            <a:endParaRPr/>
          </a:p>
        </p:txBody>
      </p:sp>
      <p:sp>
        <p:nvSpPr>
          <p:cNvPr id="5974" name="Google Shape;5974;p3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5" name="Google Shape;5975;p37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 &amp; PIPELINE</a:t>
            </a:r>
            <a:endParaRPr/>
          </a:p>
        </p:txBody>
      </p:sp>
      <p:sp>
        <p:nvSpPr>
          <p:cNvPr id="5976" name="Google Shape;5976;p37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5977" name="Google Shape;5977;p37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Subs</a:t>
            </a:r>
            <a:endParaRPr/>
          </a:p>
        </p:txBody>
      </p:sp>
      <p:sp>
        <p:nvSpPr>
          <p:cNvPr id="5978" name="Google Shape;5978;p37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</a:t>
            </a:r>
            <a:endParaRPr/>
          </a:p>
        </p:txBody>
      </p:sp>
      <p:sp>
        <p:nvSpPr>
          <p:cNvPr id="5979" name="Google Shape;5979;p37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Non-Fleet</a:t>
            </a:r>
            <a:endParaRPr/>
          </a:p>
        </p:txBody>
      </p:sp>
      <p:sp>
        <p:nvSpPr>
          <p:cNvPr id="5980" name="Google Shape;5980;p37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5981" name="Google Shape;5981;p37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5982" name="Google Shape;5982;p37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3" name="Google Shape;5983;p37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5984" name="Google Shape;5984;p3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32</a:t>
            </a:r>
            <a:endParaRPr/>
          </a:p>
        </p:txBody>
      </p:sp>
      <p:sp>
        <p:nvSpPr>
          <p:cNvPr id="5985" name="Google Shape;5985;p37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/>
          </a:p>
        </p:txBody>
      </p:sp>
      <p:sp>
        <p:nvSpPr>
          <p:cNvPr id="5986" name="Google Shape;5986;p37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</a:t>
            </a:r>
            <a:endParaRPr/>
          </a:p>
        </p:txBody>
      </p:sp>
      <p:sp>
        <p:nvSpPr>
          <p:cNvPr id="5987" name="Google Shape;5987;p37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/>
          </a:p>
        </p:txBody>
      </p:sp>
      <p:sp>
        <p:nvSpPr>
          <p:cNvPr id="5988" name="Google Shape;5988;p37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18.8%</a:t>
            </a:r>
            <a:endParaRPr/>
          </a:p>
        </p:txBody>
      </p:sp>
      <p:sp>
        <p:nvSpPr>
          <p:cNvPr id="5989" name="Google Shape;5989;p37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0" name="Google Shape;5990;p37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5991" name="Google Shape;5991;p37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</a:t>
            </a:r>
            <a:endParaRPr/>
          </a:p>
        </p:txBody>
      </p:sp>
      <p:sp>
        <p:nvSpPr>
          <p:cNvPr id="5992" name="Google Shape;5992;p37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5993" name="Google Shape;5993;p37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</a:t>
            </a:r>
            <a:endParaRPr/>
          </a:p>
        </p:txBody>
      </p:sp>
      <p:sp>
        <p:nvSpPr>
          <p:cNvPr id="5994" name="Google Shape;5994;p3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5995" name="Google Shape;5995;p37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13.3%</a:t>
            </a:r>
            <a:endParaRPr/>
          </a:p>
        </p:txBody>
      </p:sp>
      <p:sp>
        <p:nvSpPr>
          <p:cNvPr id="5996" name="Google Shape;5996;p37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7" name="Google Shape;5997;p37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5998" name="Google Shape;5998;p37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17</a:t>
            </a:r>
            <a:endParaRPr/>
          </a:p>
        </p:txBody>
      </p:sp>
      <p:sp>
        <p:nvSpPr>
          <p:cNvPr id="5999" name="Google Shape;5999;p37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6000" name="Google Shape;6000;p37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</a:t>
            </a:r>
            <a:endParaRPr/>
          </a:p>
        </p:txBody>
      </p:sp>
      <p:sp>
        <p:nvSpPr>
          <p:cNvPr id="6001" name="Google Shape;6001;p37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6002" name="Google Shape;6002;p37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17.6%</a:t>
            </a:r>
            <a:endParaRPr/>
          </a:p>
        </p:txBody>
      </p:sp>
      <p:sp>
        <p:nvSpPr>
          <p:cNvPr id="6003" name="Google Shape;6003;p37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4" name="Google Shape;6004;p3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6005" name="Google Shape;6005;p37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</a:t>
            </a:r>
            <a:endParaRPr/>
          </a:p>
        </p:txBody>
      </p:sp>
      <p:sp>
        <p:nvSpPr>
          <p:cNvPr id="6006" name="Google Shape;6006;p37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6007" name="Google Shape;6007;p37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</a:t>
            </a:r>
            <a:endParaRPr/>
          </a:p>
        </p:txBody>
      </p:sp>
      <p:sp>
        <p:nvSpPr>
          <p:cNvPr id="6008" name="Google Shape;6008;p37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6009" name="Google Shape;6009;p37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6.2%</a:t>
            </a:r>
            <a:endParaRPr/>
          </a:p>
        </p:txBody>
      </p:sp>
      <p:sp>
        <p:nvSpPr>
          <p:cNvPr id="6010" name="Google Shape;6010;p37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1" name="Google Shape;6011;p37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6012" name="Google Shape;6012;p37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</a:t>
            </a:r>
            <a:endParaRPr/>
          </a:p>
        </p:txBody>
      </p:sp>
      <p:sp>
        <p:nvSpPr>
          <p:cNvPr id="6013" name="Google Shape;6013;p37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6014" name="Google Shape;6014;p3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</a:t>
            </a:r>
            <a:endParaRPr/>
          </a:p>
        </p:txBody>
      </p:sp>
      <p:sp>
        <p:nvSpPr>
          <p:cNvPr id="6015" name="Google Shape;6015;p37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6016" name="Google Shape;6016;p37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12.5%</a:t>
            </a:r>
            <a:endParaRPr/>
          </a:p>
        </p:txBody>
      </p:sp>
      <p:sp>
        <p:nvSpPr>
          <p:cNvPr id="6017" name="Google Shape;6017;p37"/>
          <p:cNvSpPr/>
          <p:nvPr/>
        </p:nvSpPr>
        <p:spPr>
          <a:xfrm>
            <a:off x="6309360" y="4123944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8" name="Google Shape;6018;p37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6019" name="Google Shape;6019;p37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6020" name="Google Shape;6020;p37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6021" name="Google Shape;6021;p37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6022" name="Google Shape;6022;p37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6023" name="Google Shape;6023;p37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6024" name="Google Shape;6024;p37"/>
          <p:cNvSpPr/>
          <p:nvPr/>
        </p:nvSpPr>
        <p:spPr>
          <a:xfrm>
            <a:off x="6309360" y="4425696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5" name="Google Shape;6025;p37"/>
          <p:cNvSpPr txBox="1"/>
          <p:nvPr/>
        </p:nvSpPr>
        <p:spPr>
          <a:xfrm>
            <a:off x="63093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6026" name="Google Shape;6026;p37"/>
          <p:cNvSpPr txBox="1"/>
          <p:nvPr/>
        </p:nvSpPr>
        <p:spPr>
          <a:xfrm>
            <a:off x="722376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83</a:t>
            </a:r>
            <a:endParaRPr/>
          </a:p>
        </p:txBody>
      </p:sp>
      <p:sp>
        <p:nvSpPr>
          <p:cNvPr id="6027" name="Google Shape;6027;p37"/>
          <p:cNvSpPr txBox="1"/>
          <p:nvPr/>
        </p:nvSpPr>
        <p:spPr>
          <a:xfrm>
            <a:off x="804672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</a:t>
            </a:r>
            <a:endParaRPr/>
          </a:p>
        </p:txBody>
      </p:sp>
      <p:sp>
        <p:nvSpPr>
          <p:cNvPr id="6028" name="Google Shape;6028;p37"/>
          <p:cNvSpPr txBox="1"/>
          <p:nvPr/>
        </p:nvSpPr>
        <p:spPr>
          <a:xfrm>
            <a:off x="886968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68</a:t>
            </a:r>
            <a:endParaRPr/>
          </a:p>
        </p:txBody>
      </p:sp>
      <p:sp>
        <p:nvSpPr>
          <p:cNvPr id="6029" name="Google Shape;6029;p37"/>
          <p:cNvSpPr txBox="1"/>
          <p:nvPr/>
        </p:nvSpPr>
        <p:spPr>
          <a:xfrm>
            <a:off x="978408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6030" name="Google Shape;6030;p37"/>
          <p:cNvSpPr txBox="1"/>
          <p:nvPr/>
        </p:nvSpPr>
        <p:spPr>
          <a:xfrm>
            <a:off x="1060704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6.0%</a:t>
            </a:r>
            <a:endParaRPr/>
          </a:p>
        </p:txBody>
      </p:sp>
      <p:sp>
        <p:nvSpPr>
          <p:cNvPr id="6031" name="Google Shape;6031;p37"/>
          <p:cNvSpPr/>
          <p:nvPr/>
        </p:nvSpPr>
        <p:spPr>
          <a:xfrm>
            <a:off x="365760" y="4782312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2" name="Google Shape;6032;p37"/>
          <p:cNvSpPr txBox="1"/>
          <p:nvPr/>
        </p:nvSpPr>
        <p:spPr>
          <a:xfrm>
            <a:off x="457200" y="4800599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YOY COMPARISON — Jan–Jun 2025 vs Jan–Jun 2026</a:t>
            </a:r>
            <a:endParaRPr/>
          </a:p>
        </p:txBody>
      </p:sp>
      <p:sp>
        <p:nvSpPr>
          <p:cNvPr id="6033" name="Google Shape;6033;p37"/>
          <p:cNvSpPr txBox="1"/>
          <p:nvPr/>
        </p:nvSpPr>
        <p:spPr>
          <a:xfrm>
            <a:off x="365760" y="5056631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00" u="none" cap="none" strike="noStrike">
              <a:solidFill>
                <a:srgbClr val="6B728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034" name="Google Shape;6034;p37"/>
          <p:cNvSpPr txBox="1"/>
          <p:nvPr/>
        </p:nvSpPr>
        <p:spPr>
          <a:xfrm>
            <a:off x="1463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'25</a:t>
            </a:r>
            <a:endParaRPr/>
          </a:p>
        </p:txBody>
      </p:sp>
      <p:sp>
        <p:nvSpPr>
          <p:cNvPr id="6035" name="Google Shape;6035;p37"/>
          <p:cNvSpPr txBox="1"/>
          <p:nvPr/>
        </p:nvSpPr>
        <p:spPr>
          <a:xfrm>
            <a:off x="2148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'26</a:t>
            </a:r>
            <a:endParaRPr/>
          </a:p>
        </p:txBody>
      </p:sp>
      <p:sp>
        <p:nvSpPr>
          <p:cNvPr id="6036" name="Google Shape;6036;p37"/>
          <p:cNvSpPr txBox="1"/>
          <p:nvPr/>
        </p:nvSpPr>
        <p:spPr>
          <a:xfrm>
            <a:off x="2834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'25</a:t>
            </a:r>
            <a:endParaRPr/>
          </a:p>
        </p:txBody>
      </p:sp>
      <p:sp>
        <p:nvSpPr>
          <p:cNvPr id="6037" name="Google Shape;6037;p37"/>
          <p:cNvSpPr txBox="1"/>
          <p:nvPr/>
        </p:nvSpPr>
        <p:spPr>
          <a:xfrm>
            <a:off x="3520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'26</a:t>
            </a:r>
            <a:endParaRPr/>
          </a:p>
        </p:txBody>
      </p:sp>
      <p:sp>
        <p:nvSpPr>
          <p:cNvPr id="6038" name="Google Shape;6038;p37"/>
          <p:cNvSpPr txBox="1"/>
          <p:nvPr/>
        </p:nvSpPr>
        <p:spPr>
          <a:xfrm>
            <a:off x="4206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'25</a:t>
            </a:r>
            <a:endParaRPr/>
          </a:p>
        </p:txBody>
      </p:sp>
      <p:sp>
        <p:nvSpPr>
          <p:cNvPr id="6039" name="Google Shape;6039;p37"/>
          <p:cNvSpPr txBox="1"/>
          <p:nvPr/>
        </p:nvSpPr>
        <p:spPr>
          <a:xfrm>
            <a:off x="4892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'26</a:t>
            </a:r>
            <a:endParaRPr/>
          </a:p>
        </p:txBody>
      </p:sp>
      <p:sp>
        <p:nvSpPr>
          <p:cNvPr id="6040" name="Google Shape;6040;p37"/>
          <p:cNvSpPr txBox="1"/>
          <p:nvPr/>
        </p:nvSpPr>
        <p:spPr>
          <a:xfrm>
            <a:off x="5577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'25</a:t>
            </a:r>
            <a:endParaRPr/>
          </a:p>
        </p:txBody>
      </p:sp>
      <p:sp>
        <p:nvSpPr>
          <p:cNvPr id="6041" name="Google Shape;6041;p37"/>
          <p:cNvSpPr txBox="1"/>
          <p:nvPr/>
        </p:nvSpPr>
        <p:spPr>
          <a:xfrm>
            <a:off x="6263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'26</a:t>
            </a:r>
            <a:endParaRPr/>
          </a:p>
        </p:txBody>
      </p:sp>
      <p:sp>
        <p:nvSpPr>
          <p:cNvPr id="6042" name="Google Shape;6042;p37"/>
          <p:cNvSpPr txBox="1"/>
          <p:nvPr/>
        </p:nvSpPr>
        <p:spPr>
          <a:xfrm>
            <a:off x="6949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'25</a:t>
            </a:r>
            <a:endParaRPr/>
          </a:p>
        </p:txBody>
      </p:sp>
      <p:sp>
        <p:nvSpPr>
          <p:cNvPr id="6043" name="Google Shape;6043;p37"/>
          <p:cNvSpPr txBox="1"/>
          <p:nvPr/>
        </p:nvSpPr>
        <p:spPr>
          <a:xfrm>
            <a:off x="7635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'26</a:t>
            </a:r>
            <a:endParaRPr/>
          </a:p>
        </p:txBody>
      </p:sp>
      <p:sp>
        <p:nvSpPr>
          <p:cNvPr id="6044" name="Google Shape;6044;p37"/>
          <p:cNvSpPr txBox="1"/>
          <p:nvPr/>
        </p:nvSpPr>
        <p:spPr>
          <a:xfrm>
            <a:off x="8321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'25</a:t>
            </a:r>
            <a:endParaRPr/>
          </a:p>
        </p:txBody>
      </p:sp>
      <p:sp>
        <p:nvSpPr>
          <p:cNvPr id="6045" name="Google Shape;6045;p37"/>
          <p:cNvSpPr txBox="1"/>
          <p:nvPr/>
        </p:nvSpPr>
        <p:spPr>
          <a:xfrm>
            <a:off x="9006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'26</a:t>
            </a:r>
            <a:endParaRPr/>
          </a:p>
        </p:txBody>
      </p:sp>
      <p:sp>
        <p:nvSpPr>
          <p:cNvPr id="6046" name="Google Shape;6046;p37"/>
          <p:cNvSpPr txBox="1"/>
          <p:nvPr/>
        </p:nvSpPr>
        <p:spPr>
          <a:xfrm>
            <a:off x="969264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'25 Tot</a:t>
            </a:r>
            <a:endParaRPr/>
          </a:p>
        </p:txBody>
      </p:sp>
      <p:sp>
        <p:nvSpPr>
          <p:cNvPr id="6047" name="Google Shape;6047;p37"/>
          <p:cNvSpPr txBox="1"/>
          <p:nvPr/>
        </p:nvSpPr>
        <p:spPr>
          <a:xfrm>
            <a:off x="1088136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'26 Tot</a:t>
            </a:r>
            <a:endParaRPr/>
          </a:p>
        </p:txBody>
      </p:sp>
      <p:sp>
        <p:nvSpPr>
          <p:cNvPr id="6048" name="Google Shape;6048;p37"/>
          <p:cNvSpPr txBox="1"/>
          <p:nvPr/>
        </p:nvSpPr>
        <p:spPr>
          <a:xfrm>
            <a:off x="365760" y="523951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6049" name="Google Shape;6049;p37"/>
          <p:cNvSpPr txBox="1"/>
          <p:nvPr/>
        </p:nvSpPr>
        <p:spPr>
          <a:xfrm>
            <a:off x="1463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17</a:t>
            </a:r>
            <a:endParaRPr/>
          </a:p>
        </p:txBody>
      </p:sp>
      <p:sp>
        <p:nvSpPr>
          <p:cNvPr id="6050" name="Google Shape;6050;p37"/>
          <p:cNvSpPr txBox="1"/>
          <p:nvPr/>
        </p:nvSpPr>
        <p:spPr>
          <a:xfrm>
            <a:off x="2148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32</a:t>
            </a:r>
            <a:endParaRPr/>
          </a:p>
        </p:txBody>
      </p:sp>
      <p:sp>
        <p:nvSpPr>
          <p:cNvPr id="6051" name="Google Shape;6051;p37"/>
          <p:cNvSpPr txBox="1"/>
          <p:nvPr/>
        </p:nvSpPr>
        <p:spPr>
          <a:xfrm>
            <a:off x="2834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</a:t>
            </a:r>
            <a:endParaRPr/>
          </a:p>
        </p:txBody>
      </p:sp>
      <p:sp>
        <p:nvSpPr>
          <p:cNvPr id="6052" name="Google Shape;6052;p37"/>
          <p:cNvSpPr txBox="1"/>
          <p:nvPr/>
        </p:nvSpPr>
        <p:spPr>
          <a:xfrm>
            <a:off x="3520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</a:t>
            </a:r>
            <a:endParaRPr/>
          </a:p>
        </p:txBody>
      </p:sp>
      <p:sp>
        <p:nvSpPr>
          <p:cNvPr id="6053" name="Google Shape;6053;p37"/>
          <p:cNvSpPr txBox="1"/>
          <p:nvPr/>
        </p:nvSpPr>
        <p:spPr>
          <a:xfrm>
            <a:off x="4206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/>
          </a:p>
        </p:txBody>
      </p:sp>
      <p:sp>
        <p:nvSpPr>
          <p:cNvPr id="6054" name="Google Shape;6054;p37"/>
          <p:cNvSpPr txBox="1"/>
          <p:nvPr/>
        </p:nvSpPr>
        <p:spPr>
          <a:xfrm>
            <a:off x="4892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17</a:t>
            </a:r>
            <a:endParaRPr/>
          </a:p>
        </p:txBody>
      </p:sp>
      <p:sp>
        <p:nvSpPr>
          <p:cNvPr id="6055" name="Google Shape;6055;p37"/>
          <p:cNvSpPr txBox="1"/>
          <p:nvPr/>
        </p:nvSpPr>
        <p:spPr>
          <a:xfrm>
            <a:off x="5577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/>
          </a:p>
        </p:txBody>
      </p:sp>
      <p:sp>
        <p:nvSpPr>
          <p:cNvPr id="6056" name="Google Shape;6056;p37"/>
          <p:cNvSpPr txBox="1"/>
          <p:nvPr/>
        </p:nvSpPr>
        <p:spPr>
          <a:xfrm>
            <a:off x="6263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</a:t>
            </a:r>
            <a:endParaRPr/>
          </a:p>
        </p:txBody>
      </p:sp>
      <p:sp>
        <p:nvSpPr>
          <p:cNvPr id="6057" name="Google Shape;6057;p37"/>
          <p:cNvSpPr txBox="1"/>
          <p:nvPr/>
        </p:nvSpPr>
        <p:spPr>
          <a:xfrm>
            <a:off x="6949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</a:t>
            </a:r>
            <a:endParaRPr/>
          </a:p>
        </p:txBody>
      </p:sp>
      <p:sp>
        <p:nvSpPr>
          <p:cNvPr id="6058" name="Google Shape;6058;p37"/>
          <p:cNvSpPr txBox="1"/>
          <p:nvPr/>
        </p:nvSpPr>
        <p:spPr>
          <a:xfrm>
            <a:off x="7635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</a:t>
            </a:r>
            <a:endParaRPr/>
          </a:p>
        </p:txBody>
      </p:sp>
      <p:sp>
        <p:nvSpPr>
          <p:cNvPr id="6059" name="Google Shape;6059;p37"/>
          <p:cNvSpPr txBox="1"/>
          <p:nvPr/>
        </p:nvSpPr>
        <p:spPr>
          <a:xfrm>
            <a:off x="8321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</a:t>
            </a:r>
            <a:endParaRPr/>
          </a:p>
        </p:txBody>
      </p:sp>
      <p:sp>
        <p:nvSpPr>
          <p:cNvPr id="6060" name="Google Shape;6060;p37"/>
          <p:cNvSpPr txBox="1"/>
          <p:nvPr/>
        </p:nvSpPr>
        <p:spPr>
          <a:xfrm>
            <a:off x="9006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6061" name="Google Shape;6061;p37"/>
          <p:cNvSpPr txBox="1"/>
          <p:nvPr/>
        </p:nvSpPr>
        <p:spPr>
          <a:xfrm>
            <a:off x="969264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81</a:t>
            </a:r>
            <a:endParaRPr/>
          </a:p>
        </p:txBody>
      </p:sp>
      <p:sp>
        <p:nvSpPr>
          <p:cNvPr id="6062" name="Google Shape;6062;p37"/>
          <p:cNvSpPr txBox="1"/>
          <p:nvPr/>
        </p:nvSpPr>
        <p:spPr>
          <a:xfrm>
            <a:off x="1088136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96</a:t>
            </a:r>
            <a:endParaRPr/>
          </a:p>
        </p:txBody>
      </p:sp>
      <p:sp>
        <p:nvSpPr>
          <p:cNvPr id="6063" name="Google Shape;6063;p37"/>
          <p:cNvSpPr txBox="1"/>
          <p:nvPr/>
        </p:nvSpPr>
        <p:spPr>
          <a:xfrm>
            <a:off x="365760" y="542239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Bound Premium</a:t>
            </a:r>
            <a:endParaRPr/>
          </a:p>
        </p:txBody>
      </p:sp>
      <p:sp>
        <p:nvSpPr>
          <p:cNvPr id="6064" name="Google Shape;6064;p37"/>
          <p:cNvSpPr txBox="1"/>
          <p:nvPr/>
        </p:nvSpPr>
        <p:spPr>
          <a:xfrm>
            <a:off x="1463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$73K</a:t>
            </a:r>
            <a:endParaRPr/>
          </a:p>
        </p:txBody>
      </p:sp>
      <p:sp>
        <p:nvSpPr>
          <p:cNvPr id="6065" name="Google Shape;6065;p37"/>
          <p:cNvSpPr txBox="1"/>
          <p:nvPr/>
        </p:nvSpPr>
        <p:spPr>
          <a:xfrm>
            <a:off x="2148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$49K</a:t>
            </a:r>
            <a:endParaRPr/>
          </a:p>
        </p:txBody>
      </p:sp>
      <p:sp>
        <p:nvSpPr>
          <p:cNvPr id="6066" name="Google Shape;6066;p37"/>
          <p:cNvSpPr txBox="1"/>
          <p:nvPr/>
        </p:nvSpPr>
        <p:spPr>
          <a:xfrm>
            <a:off x="2834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$49K</a:t>
            </a:r>
            <a:endParaRPr/>
          </a:p>
        </p:txBody>
      </p:sp>
      <p:sp>
        <p:nvSpPr>
          <p:cNvPr id="6067" name="Google Shape;6067;p37"/>
          <p:cNvSpPr txBox="1"/>
          <p:nvPr/>
        </p:nvSpPr>
        <p:spPr>
          <a:xfrm>
            <a:off x="3520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$10K</a:t>
            </a:r>
            <a:endParaRPr/>
          </a:p>
        </p:txBody>
      </p:sp>
      <p:sp>
        <p:nvSpPr>
          <p:cNvPr id="6068" name="Google Shape;6068;p37"/>
          <p:cNvSpPr txBox="1"/>
          <p:nvPr/>
        </p:nvSpPr>
        <p:spPr>
          <a:xfrm>
            <a:off x="4206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$4K</a:t>
            </a:r>
            <a:endParaRPr/>
          </a:p>
        </p:txBody>
      </p:sp>
      <p:sp>
        <p:nvSpPr>
          <p:cNvPr id="6069" name="Google Shape;6069;p37"/>
          <p:cNvSpPr txBox="1"/>
          <p:nvPr/>
        </p:nvSpPr>
        <p:spPr>
          <a:xfrm>
            <a:off x="4892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$-428</a:t>
            </a:r>
            <a:endParaRPr/>
          </a:p>
        </p:txBody>
      </p:sp>
      <p:sp>
        <p:nvSpPr>
          <p:cNvPr id="6070" name="Google Shape;6070;p37"/>
          <p:cNvSpPr txBox="1"/>
          <p:nvPr/>
        </p:nvSpPr>
        <p:spPr>
          <a:xfrm>
            <a:off x="5577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$63K</a:t>
            </a:r>
            <a:endParaRPr/>
          </a:p>
        </p:txBody>
      </p:sp>
      <p:sp>
        <p:nvSpPr>
          <p:cNvPr id="6071" name="Google Shape;6071;p37"/>
          <p:cNvSpPr txBox="1"/>
          <p:nvPr/>
        </p:nvSpPr>
        <p:spPr>
          <a:xfrm>
            <a:off x="6263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$111</a:t>
            </a:r>
            <a:endParaRPr/>
          </a:p>
        </p:txBody>
      </p:sp>
      <p:sp>
        <p:nvSpPr>
          <p:cNvPr id="6072" name="Google Shape;6072;p37"/>
          <p:cNvSpPr txBox="1"/>
          <p:nvPr/>
        </p:nvSpPr>
        <p:spPr>
          <a:xfrm>
            <a:off x="6949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$91K</a:t>
            </a:r>
            <a:endParaRPr/>
          </a:p>
        </p:txBody>
      </p:sp>
      <p:sp>
        <p:nvSpPr>
          <p:cNvPr id="6073" name="Google Shape;6073;p37"/>
          <p:cNvSpPr txBox="1"/>
          <p:nvPr/>
        </p:nvSpPr>
        <p:spPr>
          <a:xfrm>
            <a:off x="7635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$-9,784</a:t>
            </a:r>
            <a:endParaRPr/>
          </a:p>
        </p:txBody>
      </p:sp>
      <p:sp>
        <p:nvSpPr>
          <p:cNvPr id="6074" name="Google Shape;6074;p37"/>
          <p:cNvSpPr txBox="1"/>
          <p:nvPr/>
        </p:nvSpPr>
        <p:spPr>
          <a:xfrm>
            <a:off x="8321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$51K</a:t>
            </a:r>
            <a:endParaRPr/>
          </a:p>
        </p:txBody>
      </p:sp>
      <p:sp>
        <p:nvSpPr>
          <p:cNvPr id="6075" name="Google Shape;6075;p37"/>
          <p:cNvSpPr txBox="1"/>
          <p:nvPr/>
        </p:nvSpPr>
        <p:spPr>
          <a:xfrm>
            <a:off x="9006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076" name="Google Shape;6076;p37"/>
          <p:cNvSpPr txBox="1"/>
          <p:nvPr/>
        </p:nvSpPr>
        <p:spPr>
          <a:xfrm>
            <a:off x="969264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$332K</a:t>
            </a:r>
            <a:endParaRPr/>
          </a:p>
        </p:txBody>
      </p:sp>
      <p:sp>
        <p:nvSpPr>
          <p:cNvPr id="6077" name="Google Shape;6077;p37"/>
          <p:cNvSpPr txBox="1"/>
          <p:nvPr/>
        </p:nvSpPr>
        <p:spPr>
          <a:xfrm>
            <a:off x="1088136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$50K</a:t>
            </a:r>
            <a:endParaRPr/>
          </a:p>
        </p:txBody>
      </p:sp>
      <p:sp>
        <p:nvSpPr>
          <p:cNvPr id="6078" name="Google Shape;6078;p37"/>
          <p:cNvSpPr/>
          <p:nvPr/>
        </p:nvSpPr>
        <p:spPr>
          <a:xfrm>
            <a:off x="365760" y="5678423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9" name="Google Shape;6079;p37"/>
          <p:cNvSpPr txBox="1"/>
          <p:nvPr/>
        </p:nvSpPr>
        <p:spPr>
          <a:xfrm>
            <a:off x="4572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65F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STRENGTHS - What's Working</a:t>
            </a:r>
            <a:endParaRPr/>
          </a:p>
        </p:txBody>
      </p:sp>
      <p:sp>
        <p:nvSpPr>
          <p:cNvPr id="6080" name="Google Shape;6080;p37"/>
          <p:cNvSpPr txBox="1"/>
          <p:nvPr/>
        </p:nvSpPr>
        <p:spPr>
          <a:xfrm>
            <a:off x="4572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6081" name="Google Shape;6081;p37"/>
          <p:cNvSpPr txBox="1"/>
          <p:nvPr/>
        </p:nvSpPr>
        <p:spPr>
          <a:xfrm>
            <a:off x="685800" y="5952743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$49,605 YTD gross written premium</a:t>
            </a:r>
            <a:endParaRPr/>
          </a:p>
        </p:txBody>
      </p:sp>
      <p:sp>
        <p:nvSpPr>
          <p:cNvPr id="6082" name="Google Shape;6082;p37"/>
          <p:cNvSpPr txBox="1"/>
          <p:nvPr/>
        </p:nvSpPr>
        <p:spPr>
          <a:xfrm>
            <a:off x="457200" y="6153911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6083" name="Google Shape;6083;p37"/>
          <p:cNvSpPr txBox="1"/>
          <p:nvPr/>
        </p:nvSpPr>
        <p:spPr>
          <a:xfrm>
            <a:off x="685800" y="6153911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$57,459 in renewals - strong retention</a:t>
            </a:r>
            <a:endParaRPr/>
          </a:p>
        </p:txBody>
      </p:sp>
      <p:sp>
        <p:nvSpPr>
          <p:cNvPr id="6084" name="Google Shape;6084;p37"/>
          <p:cNvSpPr/>
          <p:nvPr/>
        </p:nvSpPr>
        <p:spPr>
          <a:xfrm>
            <a:off x="6309360" y="5678423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5" name="Google Shape;6085;p37"/>
          <p:cNvSpPr txBox="1"/>
          <p:nvPr/>
        </p:nvSpPr>
        <p:spPr>
          <a:xfrm>
            <a:off x="64008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NEEDS ATTENTION</a:t>
            </a:r>
            <a:endParaRPr/>
          </a:p>
        </p:txBody>
      </p:sp>
      <p:sp>
        <p:nvSpPr>
          <p:cNvPr id="6086" name="Google Shape;6086;p37"/>
          <p:cNvSpPr txBox="1"/>
          <p:nvPr/>
        </p:nvSpPr>
        <p:spPr>
          <a:xfrm>
            <a:off x="64008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6087" name="Google Shape;6087;p37"/>
          <p:cNvSpPr txBox="1"/>
          <p:nvPr/>
        </p:nvSpPr>
        <p:spPr>
          <a:xfrm>
            <a:off x="6629400" y="5952743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Written premium dropped 8916% month-over-month</a:t>
            </a:r>
            <a:endParaRPr/>
          </a:p>
        </p:txBody>
      </p:sp>
      <p:sp>
        <p:nvSpPr>
          <p:cNvPr id="6088" name="Google Shape;6088;p37"/>
          <p:cNvSpPr txBox="1"/>
          <p:nvPr/>
        </p:nvSpPr>
        <p:spPr>
          <a:xfrm>
            <a:off x="6400800" y="6153911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6089" name="Google Shape;6089;p37"/>
          <p:cNvSpPr txBox="1"/>
          <p:nvPr/>
        </p:nvSpPr>
        <p:spPr>
          <a:xfrm>
            <a:off x="6629400" y="6153911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new business - all premium from renewals/endorsements only</a:t>
            </a:r>
            <a:endParaRPr/>
          </a:p>
        </p:txBody>
      </p:sp>
      <p:sp>
        <p:nvSpPr>
          <p:cNvPr id="6090" name="Google Shape;6090;p37"/>
          <p:cNvSpPr/>
          <p:nvPr/>
        </p:nvSpPr>
        <p:spPr>
          <a:xfrm>
            <a:off x="365760" y="6455663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1" name="Google Shape;6091;p37"/>
          <p:cNvSpPr txBox="1"/>
          <p:nvPr/>
        </p:nvSpPr>
        <p:spPr>
          <a:xfrm>
            <a:off x="457200" y="6464807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STRATEGIC SALES TIPS - Conversation Starters</a:t>
            </a:r>
            <a:endParaRPr/>
          </a:p>
        </p:txBody>
      </p:sp>
      <p:sp>
        <p:nvSpPr>
          <p:cNvPr id="6092" name="Google Shape;6092;p37"/>
          <p:cNvSpPr txBox="1"/>
          <p:nvPr/>
        </p:nvSpPr>
        <p:spPr>
          <a:xfrm>
            <a:off x="457200" y="6711695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endParaRPr/>
          </a:p>
        </p:txBody>
      </p:sp>
      <p:sp>
        <p:nvSpPr>
          <p:cNvPr id="6093" name="Google Shape;6093;p37"/>
          <p:cNvSpPr txBox="1"/>
          <p:nvPr/>
        </p:nvSpPr>
        <p:spPr>
          <a:xfrm>
            <a:off x="777240" y="6711695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Their $57,459 in renewals shows they trust our product. Ask: "What's holding back new submissions?" They may need updated appetite info or a refresher on our quoting process.</a:t>
            </a:r>
            <a:endParaRPr/>
          </a:p>
        </p:txBody>
      </p:sp>
      <p:sp>
        <p:nvSpPr>
          <p:cNvPr id="6094" name="Google Shape;6094;p37"/>
          <p:cNvSpPr txBox="1"/>
          <p:nvPr/>
        </p:nvSpPr>
        <p:spPr>
          <a:xfrm>
            <a:off x="457200" y="6949439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endParaRPr/>
          </a:p>
        </p:txBody>
      </p:sp>
      <p:sp>
        <p:nvSpPr>
          <p:cNvPr id="6095" name="Google Shape;6095;p37"/>
          <p:cNvSpPr txBox="1"/>
          <p:nvPr/>
        </p:nvSpPr>
        <p:spPr>
          <a:xfrm>
            <a:off x="777240" y="6949439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Volume dropped significantly last month. Lead with curiosity, not concern: "I noticed things slowed down - anything going on I can help with?" Identify if it's seasonal, competitive, or operational.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99" name="Shape 6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0" name="Google Shape;6100;p38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1" name="Google Shape;6101;p38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COASTAL TRUCKING INSURANCE LLC</a:t>
            </a:r>
            <a:endParaRPr/>
          </a:p>
        </p:txBody>
      </p:sp>
      <p:sp>
        <p:nvSpPr>
          <p:cNvPr id="6102" name="Google Shape;6102;p38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4B5F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Tier: Tier 2  |  Region: Southeast  |  State: FL  |  City: Delray Beach</a:t>
            </a:r>
            <a:endParaRPr/>
          </a:p>
        </p:txBody>
      </p:sp>
      <p:sp>
        <p:nvSpPr>
          <p:cNvPr id="6103" name="Google Shape;6103;p38"/>
          <p:cNvSpPr/>
          <p:nvPr/>
        </p:nvSpPr>
        <p:spPr>
          <a:xfrm>
            <a:off x="22860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$42,841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YTD GWP</a:t>
            </a:r>
            <a:endParaRPr/>
          </a:p>
        </p:txBody>
      </p:sp>
      <p:sp>
        <p:nvSpPr>
          <p:cNvPr id="6104" name="Google Shape;6104;p38"/>
          <p:cNvSpPr/>
          <p:nvPr/>
        </p:nvSpPr>
        <p:spPr>
          <a:xfrm>
            <a:off x="256032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$27,571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6105" name="Google Shape;6105;p38"/>
          <p:cNvSpPr/>
          <p:nvPr/>
        </p:nvSpPr>
        <p:spPr>
          <a:xfrm>
            <a:off x="489204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$15,462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6106" name="Google Shape;6106;p38"/>
          <p:cNvSpPr/>
          <p:nvPr/>
        </p:nvSpPr>
        <p:spPr>
          <a:xfrm>
            <a:off x="7223759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$-192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6107" name="Google Shape;6107;p38"/>
          <p:cNvSpPr/>
          <p:nvPr/>
        </p:nvSpPr>
        <p:spPr>
          <a:xfrm>
            <a:off x="955548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$-43,323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6108" name="Google Shape;6108;p38"/>
          <p:cNvSpPr/>
          <p:nvPr/>
        </p:nvSpPr>
        <p:spPr>
          <a:xfrm>
            <a:off x="137160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$341,555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2025 Full Year GWP</a:t>
            </a:r>
            <a:endParaRPr/>
          </a:p>
        </p:txBody>
      </p:sp>
      <p:sp>
        <p:nvSpPr>
          <p:cNvPr id="6109" name="Google Shape;6109;p38"/>
          <p:cNvSpPr/>
          <p:nvPr/>
        </p:nvSpPr>
        <p:spPr>
          <a:xfrm>
            <a:off x="1627631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$215,384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Rolling 12M GWP</a:t>
            </a:r>
            <a:endParaRPr/>
          </a:p>
        </p:txBody>
      </p:sp>
      <p:sp>
        <p:nvSpPr>
          <p:cNvPr id="6110" name="Google Shape;6110;p38"/>
          <p:cNvSpPr/>
          <p:nvPr/>
        </p:nvSpPr>
        <p:spPr>
          <a:xfrm>
            <a:off x="3118103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% to Goal</a:t>
            </a:r>
            <a:endParaRPr/>
          </a:p>
        </p:txBody>
      </p:sp>
      <p:sp>
        <p:nvSpPr>
          <p:cNvPr id="6111" name="Google Shape;6111;p38"/>
          <p:cNvSpPr/>
          <p:nvPr/>
        </p:nvSpPr>
        <p:spPr>
          <a:xfrm>
            <a:off x="4608576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292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6112" name="Google Shape;6112;p38"/>
          <p:cNvSpPr/>
          <p:nvPr/>
        </p:nvSpPr>
        <p:spPr>
          <a:xfrm>
            <a:off x="6099048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6113" name="Google Shape;6113;p38"/>
          <p:cNvSpPr/>
          <p:nvPr/>
        </p:nvSpPr>
        <p:spPr>
          <a:xfrm>
            <a:off x="7589519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1.7%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6114" name="Google Shape;6114;p38"/>
          <p:cNvSpPr/>
          <p:nvPr/>
        </p:nvSpPr>
        <p:spPr>
          <a:xfrm>
            <a:off x="9079992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 Bound Prem</a:t>
            </a:r>
            <a:endParaRPr/>
          </a:p>
        </p:txBody>
      </p:sp>
      <p:sp>
        <p:nvSpPr>
          <p:cNvPr id="6115" name="Google Shape;6115;p38"/>
          <p:cNvSpPr/>
          <p:nvPr/>
        </p:nvSpPr>
        <p:spPr>
          <a:xfrm>
            <a:off x="10570464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$138,280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NF Bound Prem</a:t>
            </a:r>
            <a:endParaRPr/>
          </a:p>
        </p:txBody>
      </p:sp>
      <p:sp>
        <p:nvSpPr>
          <p:cNvPr id="6116" name="Google Shape;6116;p38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7" name="Google Shape;6117;p3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PRODUCTION BY MONTH</a:t>
            </a:r>
            <a:endParaRPr/>
          </a:p>
        </p:txBody>
      </p:sp>
      <p:sp>
        <p:nvSpPr>
          <p:cNvPr id="6118" name="Google Shape;6118;p38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6119" name="Google Shape;6119;p38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Written Premium</a:t>
            </a:r>
            <a:endParaRPr/>
          </a:p>
        </p:txBody>
      </p:sp>
      <p:sp>
        <p:nvSpPr>
          <p:cNvPr id="6120" name="Google Shape;6120;p38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6121" name="Google Shape;6121;p38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6122" name="Google Shape;6122;p38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6123" name="Google Shape;6123;p38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6124" name="Google Shape;6124;p38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5" name="Google Shape;6125;p38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6126" name="Google Shape;6126;p38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127" name="Google Shape;6127;p3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128" name="Google Shape;6128;p38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129" name="Google Shape;6129;p38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130" name="Google Shape;6130;p38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131" name="Google Shape;6131;p38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2" name="Google Shape;6132;p38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6133" name="Google Shape;6133;p38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$280</a:t>
            </a:r>
            <a:endParaRPr/>
          </a:p>
        </p:txBody>
      </p:sp>
      <p:sp>
        <p:nvSpPr>
          <p:cNvPr id="6134" name="Google Shape;6134;p38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135" name="Google Shape;6135;p38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136" name="Google Shape;6136;p38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$280</a:t>
            </a:r>
            <a:endParaRPr/>
          </a:p>
        </p:txBody>
      </p:sp>
      <p:sp>
        <p:nvSpPr>
          <p:cNvPr id="6137" name="Google Shape;6137;p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$-14,485</a:t>
            </a:r>
            <a:endParaRPr/>
          </a:p>
        </p:txBody>
      </p:sp>
      <p:sp>
        <p:nvSpPr>
          <p:cNvPr id="6138" name="Google Shape;6138;p38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9" name="Google Shape;6139;p38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6140" name="Google Shape;6140;p38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$-115</a:t>
            </a:r>
            <a:endParaRPr/>
          </a:p>
        </p:txBody>
      </p:sp>
      <p:sp>
        <p:nvSpPr>
          <p:cNvPr id="6141" name="Google Shape;6141;p38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142" name="Google Shape;6142;p38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143" name="Google Shape;6143;p38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$-115</a:t>
            </a:r>
            <a:endParaRPr/>
          </a:p>
        </p:txBody>
      </p:sp>
      <p:sp>
        <p:nvSpPr>
          <p:cNvPr id="6144" name="Google Shape;6144;p38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145" name="Google Shape;6145;p38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6" name="Google Shape;6146;p38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6147" name="Google Shape;6147;p3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$42,953</a:t>
            </a:r>
            <a:endParaRPr/>
          </a:p>
        </p:txBody>
      </p:sp>
      <p:sp>
        <p:nvSpPr>
          <p:cNvPr id="6148" name="Google Shape;6148;p38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$27,571</a:t>
            </a:r>
            <a:endParaRPr/>
          </a:p>
        </p:txBody>
      </p:sp>
      <p:sp>
        <p:nvSpPr>
          <p:cNvPr id="6149" name="Google Shape;6149;p38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$15,462</a:t>
            </a:r>
            <a:endParaRPr/>
          </a:p>
        </p:txBody>
      </p:sp>
      <p:sp>
        <p:nvSpPr>
          <p:cNvPr id="6150" name="Google Shape;6150;p38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$-80</a:t>
            </a:r>
            <a:endParaRPr/>
          </a:p>
        </p:txBody>
      </p:sp>
      <p:sp>
        <p:nvSpPr>
          <p:cNvPr id="6151" name="Google Shape;6151;p38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$-28,839</a:t>
            </a:r>
            <a:endParaRPr/>
          </a:p>
        </p:txBody>
      </p:sp>
      <p:sp>
        <p:nvSpPr>
          <p:cNvPr id="6152" name="Google Shape;6152;p38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3" name="Google Shape;6153;p38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6154" name="Google Shape;6154;p38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$-277</a:t>
            </a:r>
            <a:endParaRPr/>
          </a:p>
        </p:txBody>
      </p:sp>
      <p:sp>
        <p:nvSpPr>
          <p:cNvPr id="6155" name="Google Shape;6155;p38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156" name="Google Shape;6156;p38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157" name="Google Shape;6157;p3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$-277</a:t>
            </a:r>
            <a:endParaRPr/>
          </a:p>
        </p:txBody>
      </p:sp>
      <p:sp>
        <p:nvSpPr>
          <p:cNvPr id="6158" name="Google Shape;6158;p38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159" name="Google Shape;6159;p38"/>
          <p:cNvSpPr/>
          <p:nvPr/>
        </p:nvSpPr>
        <p:spPr>
          <a:xfrm>
            <a:off x="365760" y="4123944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0" name="Google Shape;6160;p38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6161" name="Google Shape;6161;p38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162" name="Google Shape;6162;p38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163" name="Google Shape;6163;p38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164" name="Google Shape;6164;p38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165" name="Google Shape;6165;p38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166" name="Google Shape;6166;p38"/>
          <p:cNvSpPr/>
          <p:nvPr/>
        </p:nvSpPr>
        <p:spPr>
          <a:xfrm>
            <a:off x="365760" y="4425696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7" name="Google Shape;6167;p38"/>
          <p:cNvSpPr txBox="1"/>
          <p:nvPr/>
        </p:nvSpPr>
        <p:spPr>
          <a:xfrm>
            <a:off x="3657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6168" name="Google Shape;6168;p38"/>
          <p:cNvSpPr txBox="1"/>
          <p:nvPr/>
        </p:nvSpPr>
        <p:spPr>
          <a:xfrm>
            <a:off x="1280160" y="446227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$42,841</a:t>
            </a:r>
            <a:endParaRPr/>
          </a:p>
        </p:txBody>
      </p:sp>
      <p:sp>
        <p:nvSpPr>
          <p:cNvPr id="6169" name="Google Shape;6169;p38"/>
          <p:cNvSpPr txBox="1"/>
          <p:nvPr/>
        </p:nvSpPr>
        <p:spPr>
          <a:xfrm>
            <a:off x="2377439" y="446227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$27,571</a:t>
            </a:r>
            <a:endParaRPr/>
          </a:p>
        </p:txBody>
      </p:sp>
      <p:sp>
        <p:nvSpPr>
          <p:cNvPr id="6170" name="Google Shape;6170;p38"/>
          <p:cNvSpPr txBox="1"/>
          <p:nvPr/>
        </p:nvSpPr>
        <p:spPr>
          <a:xfrm>
            <a:off x="33832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$15,462</a:t>
            </a:r>
            <a:endParaRPr/>
          </a:p>
        </p:txBody>
      </p:sp>
      <p:sp>
        <p:nvSpPr>
          <p:cNvPr id="6171" name="Google Shape;6171;p38"/>
          <p:cNvSpPr txBox="1"/>
          <p:nvPr/>
        </p:nvSpPr>
        <p:spPr>
          <a:xfrm>
            <a:off x="42976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$-192</a:t>
            </a:r>
            <a:endParaRPr/>
          </a:p>
        </p:txBody>
      </p:sp>
      <p:sp>
        <p:nvSpPr>
          <p:cNvPr id="6172" name="Google Shape;6172;p38"/>
          <p:cNvSpPr txBox="1"/>
          <p:nvPr/>
        </p:nvSpPr>
        <p:spPr>
          <a:xfrm>
            <a:off x="52120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$-43,323</a:t>
            </a:r>
            <a:endParaRPr/>
          </a:p>
        </p:txBody>
      </p:sp>
      <p:sp>
        <p:nvSpPr>
          <p:cNvPr id="6173" name="Google Shape;6173;p38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4" name="Google Shape;6174;p3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 &amp; PIPELINE</a:t>
            </a:r>
            <a:endParaRPr/>
          </a:p>
        </p:txBody>
      </p:sp>
      <p:sp>
        <p:nvSpPr>
          <p:cNvPr id="6175" name="Google Shape;6175;p38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6176" name="Google Shape;6176;p38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Subs</a:t>
            </a:r>
            <a:endParaRPr/>
          </a:p>
        </p:txBody>
      </p:sp>
      <p:sp>
        <p:nvSpPr>
          <p:cNvPr id="6177" name="Google Shape;6177;p38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</a:t>
            </a:r>
            <a:endParaRPr/>
          </a:p>
        </p:txBody>
      </p:sp>
      <p:sp>
        <p:nvSpPr>
          <p:cNvPr id="6178" name="Google Shape;6178;p38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Non-Fleet</a:t>
            </a:r>
            <a:endParaRPr/>
          </a:p>
        </p:txBody>
      </p:sp>
      <p:sp>
        <p:nvSpPr>
          <p:cNvPr id="6179" name="Google Shape;6179;p38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6180" name="Google Shape;6180;p38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6181" name="Google Shape;6181;p38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2" name="Google Shape;6182;p38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6183" name="Google Shape;6183;p38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50</a:t>
            </a:r>
            <a:endParaRPr/>
          </a:p>
        </p:txBody>
      </p:sp>
      <p:sp>
        <p:nvSpPr>
          <p:cNvPr id="6184" name="Google Shape;6184;p3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6185" name="Google Shape;6185;p38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48</a:t>
            </a:r>
            <a:endParaRPr/>
          </a:p>
        </p:txBody>
      </p:sp>
      <p:sp>
        <p:nvSpPr>
          <p:cNvPr id="6186" name="Google Shape;6186;p38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6187" name="Google Shape;6187;p38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2.0%</a:t>
            </a:r>
            <a:endParaRPr/>
          </a:p>
        </p:txBody>
      </p:sp>
      <p:sp>
        <p:nvSpPr>
          <p:cNvPr id="6188" name="Google Shape;6188;p38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9" name="Google Shape;6189;p38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6190" name="Google Shape;6190;p38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59</a:t>
            </a:r>
            <a:endParaRPr/>
          </a:p>
        </p:txBody>
      </p:sp>
      <p:sp>
        <p:nvSpPr>
          <p:cNvPr id="6191" name="Google Shape;6191;p38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6192" name="Google Shape;6192;p38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56</a:t>
            </a:r>
            <a:endParaRPr/>
          </a:p>
        </p:txBody>
      </p:sp>
      <p:sp>
        <p:nvSpPr>
          <p:cNvPr id="6193" name="Google Shape;6193;p38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6194" name="Google Shape;6194;p3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3.4%</a:t>
            </a:r>
            <a:endParaRPr/>
          </a:p>
        </p:txBody>
      </p:sp>
      <p:sp>
        <p:nvSpPr>
          <p:cNvPr id="6195" name="Google Shape;6195;p38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6" name="Google Shape;6196;p38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6197" name="Google Shape;6197;p38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73</a:t>
            </a:r>
            <a:endParaRPr/>
          </a:p>
        </p:txBody>
      </p:sp>
      <p:sp>
        <p:nvSpPr>
          <p:cNvPr id="6198" name="Google Shape;6198;p38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6199" name="Google Shape;6199;p38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72</a:t>
            </a:r>
            <a:endParaRPr/>
          </a:p>
        </p:txBody>
      </p:sp>
      <p:sp>
        <p:nvSpPr>
          <p:cNvPr id="6200" name="Google Shape;6200;p38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6201" name="Google Shape;6201;p38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5.5%</a:t>
            </a:r>
            <a:endParaRPr/>
          </a:p>
        </p:txBody>
      </p:sp>
      <p:sp>
        <p:nvSpPr>
          <p:cNvPr id="6202" name="Google Shape;6202;p38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3" name="Google Shape;6203;p38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6204" name="Google Shape;6204;p3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68</a:t>
            </a:r>
            <a:endParaRPr/>
          </a:p>
        </p:txBody>
      </p:sp>
      <p:sp>
        <p:nvSpPr>
          <p:cNvPr id="6205" name="Google Shape;6205;p38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6206" name="Google Shape;6206;p38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68</a:t>
            </a:r>
            <a:endParaRPr/>
          </a:p>
        </p:txBody>
      </p:sp>
      <p:sp>
        <p:nvSpPr>
          <p:cNvPr id="6207" name="Google Shape;6207;p38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6208" name="Google Shape;6208;p38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1.5%</a:t>
            </a:r>
            <a:endParaRPr/>
          </a:p>
        </p:txBody>
      </p:sp>
      <p:sp>
        <p:nvSpPr>
          <p:cNvPr id="6209" name="Google Shape;6209;p38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0" name="Google Shape;6210;p38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6211" name="Google Shape;6211;p38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51</a:t>
            </a:r>
            <a:endParaRPr/>
          </a:p>
        </p:txBody>
      </p:sp>
      <p:sp>
        <p:nvSpPr>
          <p:cNvPr id="6212" name="Google Shape;6212;p38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6213" name="Google Shape;6213;p38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51</a:t>
            </a:r>
            <a:endParaRPr/>
          </a:p>
        </p:txBody>
      </p:sp>
      <p:sp>
        <p:nvSpPr>
          <p:cNvPr id="6214" name="Google Shape;6214;p3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6215" name="Google Shape;6215;p38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2.0%</a:t>
            </a:r>
            <a:endParaRPr/>
          </a:p>
        </p:txBody>
      </p:sp>
      <p:sp>
        <p:nvSpPr>
          <p:cNvPr id="6216" name="Google Shape;6216;p38"/>
          <p:cNvSpPr/>
          <p:nvPr/>
        </p:nvSpPr>
        <p:spPr>
          <a:xfrm>
            <a:off x="6309360" y="4123944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7" name="Google Shape;6217;p38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6218" name="Google Shape;6218;p38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6219" name="Google Shape;6219;p38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6220" name="Google Shape;6220;p38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6221" name="Google Shape;6221;p38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6222" name="Google Shape;6222;p38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6223" name="Google Shape;6223;p38"/>
          <p:cNvSpPr/>
          <p:nvPr/>
        </p:nvSpPr>
        <p:spPr>
          <a:xfrm>
            <a:off x="6309360" y="4425696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4" name="Google Shape;6224;p38"/>
          <p:cNvSpPr txBox="1"/>
          <p:nvPr/>
        </p:nvSpPr>
        <p:spPr>
          <a:xfrm>
            <a:off x="63093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6225" name="Google Shape;6225;p38"/>
          <p:cNvSpPr txBox="1"/>
          <p:nvPr/>
        </p:nvSpPr>
        <p:spPr>
          <a:xfrm>
            <a:off x="722376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292</a:t>
            </a:r>
            <a:endParaRPr/>
          </a:p>
        </p:txBody>
      </p:sp>
      <p:sp>
        <p:nvSpPr>
          <p:cNvPr id="6226" name="Google Shape;6226;p38"/>
          <p:cNvSpPr txBox="1"/>
          <p:nvPr/>
        </p:nvSpPr>
        <p:spPr>
          <a:xfrm>
            <a:off x="804672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/>
          </a:p>
        </p:txBody>
      </p:sp>
      <p:sp>
        <p:nvSpPr>
          <p:cNvPr id="6227" name="Google Shape;6227;p38"/>
          <p:cNvSpPr txBox="1"/>
          <p:nvPr/>
        </p:nvSpPr>
        <p:spPr>
          <a:xfrm>
            <a:off x="886968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286</a:t>
            </a:r>
            <a:endParaRPr/>
          </a:p>
        </p:txBody>
      </p:sp>
      <p:sp>
        <p:nvSpPr>
          <p:cNvPr id="6228" name="Google Shape;6228;p38"/>
          <p:cNvSpPr txBox="1"/>
          <p:nvPr/>
        </p:nvSpPr>
        <p:spPr>
          <a:xfrm>
            <a:off x="978408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6229" name="Google Shape;6229;p38"/>
          <p:cNvSpPr txBox="1"/>
          <p:nvPr/>
        </p:nvSpPr>
        <p:spPr>
          <a:xfrm>
            <a:off x="1060704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1.7%</a:t>
            </a:r>
            <a:endParaRPr/>
          </a:p>
        </p:txBody>
      </p:sp>
      <p:sp>
        <p:nvSpPr>
          <p:cNvPr id="6230" name="Google Shape;6230;p38"/>
          <p:cNvSpPr/>
          <p:nvPr/>
        </p:nvSpPr>
        <p:spPr>
          <a:xfrm>
            <a:off x="365760" y="4782312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1" name="Google Shape;6231;p38"/>
          <p:cNvSpPr txBox="1"/>
          <p:nvPr/>
        </p:nvSpPr>
        <p:spPr>
          <a:xfrm>
            <a:off x="457200" y="4800599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YOY COMPARISON — Jan–Jun 2025 vs Jan–Jun 2026</a:t>
            </a:r>
            <a:endParaRPr/>
          </a:p>
        </p:txBody>
      </p:sp>
      <p:sp>
        <p:nvSpPr>
          <p:cNvPr id="6232" name="Google Shape;6232;p38"/>
          <p:cNvSpPr txBox="1"/>
          <p:nvPr/>
        </p:nvSpPr>
        <p:spPr>
          <a:xfrm>
            <a:off x="365760" y="5056631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00" u="none" cap="none" strike="noStrike">
              <a:solidFill>
                <a:srgbClr val="6B728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233" name="Google Shape;6233;p38"/>
          <p:cNvSpPr txBox="1"/>
          <p:nvPr/>
        </p:nvSpPr>
        <p:spPr>
          <a:xfrm>
            <a:off x="1463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'25</a:t>
            </a:r>
            <a:endParaRPr/>
          </a:p>
        </p:txBody>
      </p:sp>
      <p:sp>
        <p:nvSpPr>
          <p:cNvPr id="6234" name="Google Shape;6234;p38"/>
          <p:cNvSpPr txBox="1"/>
          <p:nvPr/>
        </p:nvSpPr>
        <p:spPr>
          <a:xfrm>
            <a:off x="2148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'26</a:t>
            </a:r>
            <a:endParaRPr/>
          </a:p>
        </p:txBody>
      </p:sp>
      <p:sp>
        <p:nvSpPr>
          <p:cNvPr id="6235" name="Google Shape;6235;p38"/>
          <p:cNvSpPr txBox="1"/>
          <p:nvPr/>
        </p:nvSpPr>
        <p:spPr>
          <a:xfrm>
            <a:off x="2834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'25</a:t>
            </a:r>
            <a:endParaRPr/>
          </a:p>
        </p:txBody>
      </p:sp>
      <p:sp>
        <p:nvSpPr>
          <p:cNvPr id="6236" name="Google Shape;6236;p38"/>
          <p:cNvSpPr txBox="1"/>
          <p:nvPr/>
        </p:nvSpPr>
        <p:spPr>
          <a:xfrm>
            <a:off x="3520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'26</a:t>
            </a:r>
            <a:endParaRPr/>
          </a:p>
        </p:txBody>
      </p:sp>
      <p:sp>
        <p:nvSpPr>
          <p:cNvPr id="6237" name="Google Shape;6237;p38"/>
          <p:cNvSpPr txBox="1"/>
          <p:nvPr/>
        </p:nvSpPr>
        <p:spPr>
          <a:xfrm>
            <a:off x="4206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'25</a:t>
            </a:r>
            <a:endParaRPr/>
          </a:p>
        </p:txBody>
      </p:sp>
      <p:sp>
        <p:nvSpPr>
          <p:cNvPr id="6238" name="Google Shape;6238;p38"/>
          <p:cNvSpPr txBox="1"/>
          <p:nvPr/>
        </p:nvSpPr>
        <p:spPr>
          <a:xfrm>
            <a:off x="4892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'26</a:t>
            </a:r>
            <a:endParaRPr/>
          </a:p>
        </p:txBody>
      </p:sp>
      <p:sp>
        <p:nvSpPr>
          <p:cNvPr id="6239" name="Google Shape;6239;p38"/>
          <p:cNvSpPr txBox="1"/>
          <p:nvPr/>
        </p:nvSpPr>
        <p:spPr>
          <a:xfrm>
            <a:off x="5577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'25</a:t>
            </a:r>
            <a:endParaRPr/>
          </a:p>
        </p:txBody>
      </p:sp>
      <p:sp>
        <p:nvSpPr>
          <p:cNvPr id="6240" name="Google Shape;6240;p38"/>
          <p:cNvSpPr txBox="1"/>
          <p:nvPr/>
        </p:nvSpPr>
        <p:spPr>
          <a:xfrm>
            <a:off x="6263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'26</a:t>
            </a:r>
            <a:endParaRPr/>
          </a:p>
        </p:txBody>
      </p:sp>
      <p:sp>
        <p:nvSpPr>
          <p:cNvPr id="6241" name="Google Shape;6241;p38"/>
          <p:cNvSpPr txBox="1"/>
          <p:nvPr/>
        </p:nvSpPr>
        <p:spPr>
          <a:xfrm>
            <a:off x="6949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'25</a:t>
            </a:r>
            <a:endParaRPr/>
          </a:p>
        </p:txBody>
      </p:sp>
      <p:sp>
        <p:nvSpPr>
          <p:cNvPr id="6242" name="Google Shape;6242;p38"/>
          <p:cNvSpPr txBox="1"/>
          <p:nvPr/>
        </p:nvSpPr>
        <p:spPr>
          <a:xfrm>
            <a:off x="7635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'26</a:t>
            </a:r>
            <a:endParaRPr/>
          </a:p>
        </p:txBody>
      </p:sp>
      <p:sp>
        <p:nvSpPr>
          <p:cNvPr id="6243" name="Google Shape;6243;p38"/>
          <p:cNvSpPr txBox="1"/>
          <p:nvPr/>
        </p:nvSpPr>
        <p:spPr>
          <a:xfrm>
            <a:off x="8321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'25</a:t>
            </a:r>
            <a:endParaRPr/>
          </a:p>
        </p:txBody>
      </p:sp>
      <p:sp>
        <p:nvSpPr>
          <p:cNvPr id="6244" name="Google Shape;6244;p38"/>
          <p:cNvSpPr txBox="1"/>
          <p:nvPr/>
        </p:nvSpPr>
        <p:spPr>
          <a:xfrm>
            <a:off x="9006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'26</a:t>
            </a:r>
            <a:endParaRPr/>
          </a:p>
        </p:txBody>
      </p:sp>
      <p:sp>
        <p:nvSpPr>
          <p:cNvPr id="6245" name="Google Shape;6245;p38"/>
          <p:cNvSpPr txBox="1"/>
          <p:nvPr/>
        </p:nvSpPr>
        <p:spPr>
          <a:xfrm>
            <a:off x="969264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'25 Tot</a:t>
            </a:r>
            <a:endParaRPr/>
          </a:p>
        </p:txBody>
      </p:sp>
      <p:sp>
        <p:nvSpPr>
          <p:cNvPr id="6246" name="Google Shape;6246;p38"/>
          <p:cNvSpPr txBox="1"/>
          <p:nvPr/>
        </p:nvSpPr>
        <p:spPr>
          <a:xfrm>
            <a:off x="1088136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'26 Tot</a:t>
            </a:r>
            <a:endParaRPr/>
          </a:p>
        </p:txBody>
      </p:sp>
      <p:sp>
        <p:nvSpPr>
          <p:cNvPr id="6247" name="Google Shape;6247;p38"/>
          <p:cNvSpPr txBox="1"/>
          <p:nvPr/>
        </p:nvSpPr>
        <p:spPr>
          <a:xfrm>
            <a:off x="365760" y="523951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6248" name="Google Shape;6248;p38"/>
          <p:cNvSpPr txBox="1"/>
          <p:nvPr/>
        </p:nvSpPr>
        <p:spPr>
          <a:xfrm>
            <a:off x="1463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85</a:t>
            </a:r>
            <a:endParaRPr/>
          </a:p>
        </p:txBody>
      </p:sp>
      <p:sp>
        <p:nvSpPr>
          <p:cNvPr id="6249" name="Google Shape;6249;p38"/>
          <p:cNvSpPr txBox="1"/>
          <p:nvPr/>
        </p:nvSpPr>
        <p:spPr>
          <a:xfrm>
            <a:off x="2148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50</a:t>
            </a:r>
            <a:endParaRPr/>
          </a:p>
        </p:txBody>
      </p:sp>
      <p:sp>
        <p:nvSpPr>
          <p:cNvPr id="6250" name="Google Shape;6250;p38"/>
          <p:cNvSpPr txBox="1"/>
          <p:nvPr/>
        </p:nvSpPr>
        <p:spPr>
          <a:xfrm>
            <a:off x="2834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61</a:t>
            </a:r>
            <a:endParaRPr/>
          </a:p>
        </p:txBody>
      </p:sp>
      <p:sp>
        <p:nvSpPr>
          <p:cNvPr id="6251" name="Google Shape;6251;p38"/>
          <p:cNvSpPr txBox="1"/>
          <p:nvPr/>
        </p:nvSpPr>
        <p:spPr>
          <a:xfrm>
            <a:off x="3520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59</a:t>
            </a:r>
            <a:endParaRPr/>
          </a:p>
        </p:txBody>
      </p:sp>
      <p:sp>
        <p:nvSpPr>
          <p:cNvPr id="6252" name="Google Shape;6252;p38"/>
          <p:cNvSpPr txBox="1"/>
          <p:nvPr/>
        </p:nvSpPr>
        <p:spPr>
          <a:xfrm>
            <a:off x="4206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81</a:t>
            </a:r>
            <a:endParaRPr/>
          </a:p>
        </p:txBody>
      </p:sp>
      <p:sp>
        <p:nvSpPr>
          <p:cNvPr id="6253" name="Google Shape;6253;p38"/>
          <p:cNvSpPr txBox="1"/>
          <p:nvPr/>
        </p:nvSpPr>
        <p:spPr>
          <a:xfrm>
            <a:off x="4892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73</a:t>
            </a:r>
            <a:endParaRPr/>
          </a:p>
        </p:txBody>
      </p:sp>
      <p:sp>
        <p:nvSpPr>
          <p:cNvPr id="6254" name="Google Shape;6254;p38"/>
          <p:cNvSpPr txBox="1"/>
          <p:nvPr/>
        </p:nvSpPr>
        <p:spPr>
          <a:xfrm>
            <a:off x="5577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60</a:t>
            </a:r>
            <a:endParaRPr/>
          </a:p>
        </p:txBody>
      </p:sp>
      <p:sp>
        <p:nvSpPr>
          <p:cNvPr id="6255" name="Google Shape;6255;p38"/>
          <p:cNvSpPr txBox="1"/>
          <p:nvPr/>
        </p:nvSpPr>
        <p:spPr>
          <a:xfrm>
            <a:off x="6263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68</a:t>
            </a:r>
            <a:endParaRPr/>
          </a:p>
        </p:txBody>
      </p:sp>
      <p:sp>
        <p:nvSpPr>
          <p:cNvPr id="6256" name="Google Shape;6256;p38"/>
          <p:cNvSpPr txBox="1"/>
          <p:nvPr/>
        </p:nvSpPr>
        <p:spPr>
          <a:xfrm>
            <a:off x="6949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64</a:t>
            </a:r>
            <a:endParaRPr/>
          </a:p>
        </p:txBody>
      </p:sp>
      <p:sp>
        <p:nvSpPr>
          <p:cNvPr id="6257" name="Google Shape;6257;p38"/>
          <p:cNvSpPr txBox="1"/>
          <p:nvPr/>
        </p:nvSpPr>
        <p:spPr>
          <a:xfrm>
            <a:off x="7635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51</a:t>
            </a:r>
            <a:endParaRPr/>
          </a:p>
        </p:txBody>
      </p:sp>
      <p:sp>
        <p:nvSpPr>
          <p:cNvPr id="6258" name="Google Shape;6258;p38"/>
          <p:cNvSpPr txBox="1"/>
          <p:nvPr/>
        </p:nvSpPr>
        <p:spPr>
          <a:xfrm>
            <a:off x="8321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63</a:t>
            </a:r>
            <a:endParaRPr/>
          </a:p>
        </p:txBody>
      </p:sp>
      <p:sp>
        <p:nvSpPr>
          <p:cNvPr id="6259" name="Google Shape;6259;p38"/>
          <p:cNvSpPr txBox="1"/>
          <p:nvPr/>
        </p:nvSpPr>
        <p:spPr>
          <a:xfrm>
            <a:off x="9006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6260" name="Google Shape;6260;p38"/>
          <p:cNvSpPr txBox="1"/>
          <p:nvPr/>
        </p:nvSpPr>
        <p:spPr>
          <a:xfrm>
            <a:off x="969264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414</a:t>
            </a:r>
            <a:endParaRPr/>
          </a:p>
        </p:txBody>
      </p:sp>
      <p:sp>
        <p:nvSpPr>
          <p:cNvPr id="6261" name="Google Shape;6261;p38"/>
          <p:cNvSpPr txBox="1"/>
          <p:nvPr/>
        </p:nvSpPr>
        <p:spPr>
          <a:xfrm>
            <a:off x="1088136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301</a:t>
            </a:r>
            <a:endParaRPr/>
          </a:p>
        </p:txBody>
      </p:sp>
      <p:sp>
        <p:nvSpPr>
          <p:cNvPr id="6262" name="Google Shape;6262;p38"/>
          <p:cNvSpPr txBox="1"/>
          <p:nvPr/>
        </p:nvSpPr>
        <p:spPr>
          <a:xfrm>
            <a:off x="365760" y="542239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Bound Premium</a:t>
            </a:r>
            <a:endParaRPr/>
          </a:p>
        </p:txBody>
      </p:sp>
      <p:sp>
        <p:nvSpPr>
          <p:cNvPr id="6263" name="Google Shape;6263;p38"/>
          <p:cNvSpPr txBox="1"/>
          <p:nvPr/>
        </p:nvSpPr>
        <p:spPr>
          <a:xfrm>
            <a:off x="1463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$25K</a:t>
            </a:r>
            <a:endParaRPr/>
          </a:p>
        </p:txBody>
      </p:sp>
      <p:sp>
        <p:nvSpPr>
          <p:cNvPr id="6264" name="Google Shape;6264;p38"/>
          <p:cNvSpPr txBox="1"/>
          <p:nvPr/>
        </p:nvSpPr>
        <p:spPr>
          <a:xfrm>
            <a:off x="2148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265" name="Google Shape;6265;p38"/>
          <p:cNvSpPr txBox="1"/>
          <p:nvPr/>
        </p:nvSpPr>
        <p:spPr>
          <a:xfrm>
            <a:off x="2834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$11K</a:t>
            </a:r>
            <a:endParaRPr/>
          </a:p>
        </p:txBody>
      </p:sp>
      <p:sp>
        <p:nvSpPr>
          <p:cNvPr id="6266" name="Google Shape;6266;p38"/>
          <p:cNvSpPr txBox="1"/>
          <p:nvPr/>
        </p:nvSpPr>
        <p:spPr>
          <a:xfrm>
            <a:off x="3520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$280</a:t>
            </a:r>
            <a:endParaRPr/>
          </a:p>
        </p:txBody>
      </p:sp>
      <p:sp>
        <p:nvSpPr>
          <p:cNvPr id="6267" name="Google Shape;6267;p38"/>
          <p:cNvSpPr txBox="1"/>
          <p:nvPr/>
        </p:nvSpPr>
        <p:spPr>
          <a:xfrm>
            <a:off x="4206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$49K</a:t>
            </a:r>
            <a:endParaRPr/>
          </a:p>
        </p:txBody>
      </p:sp>
      <p:sp>
        <p:nvSpPr>
          <p:cNvPr id="6268" name="Google Shape;6268;p38"/>
          <p:cNvSpPr txBox="1"/>
          <p:nvPr/>
        </p:nvSpPr>
        <p:spPr>
          <a:xfrm>
            <a:off x="4892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$-115</a:t>
            </a:r>
            <a:endParaRPr/>
          </a:p>
        </p:txBody>
      </p:sp>
      <p:sp>
        <p:nvSpPr>
          <p:cNvPr id="6269" name="Google Shape;6269;p38"/>
          <p:cNvSpPr txBox="1"/>
          <p:nvPr/>
        </p:nvSpPr>
        <p:spPr>
          <a:xfrm>
            <a:off x="5577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$30K</a:t>
            </a:r>
            <a:endParaRPr/>
          </a:p>
        </p:txBody>
      </p:sp>
      <p:sp>
        <p:nvSpPr>
          <p:cNvPr id="6270" name="Google Shape;6270;p38"/>
          <p:cNvSpPr txBox="1"/>
          <p:nvPr/>
        </p:nvSpPr>
        <p:spPr>
          <a:xfrm>
            <a:off x="6263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$43K</a:t>
            </a:r>
            <a:endParaRPr/>
          </a:p>
        </p:txBody>
      </p:sp>
      <p:sp>
        <p:nvSpPr>
          <p:cNvPr id="6271" name="Google Shape;6271;p38"/>
          <p:cNvSpPr txBox="1"/>
          <p:nvPr/>
        </p:nvSpPr>
        <p:spPr>
          <a:xfrm>
            <a:off x="6949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$40K</a:t>
            </a:r>
            <a:endParaRPr/>
          </a:p>
        </p:txBody>
      </p:sp>
      <p:sp>
        <p:nvSpPr>
          <p:cNvPr id="6272" name="Google Shape;6272;p38"/>
          <p:cNvSpPr txBox="1"/>
          <p:nvPr/>
        </p:nvSpPr>
        <p:spPr>
          <a:xfrm>
            <a:off x="7635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$-277</a:t>
            </a:r>
            <a:endParaRPr/>
          </a:p>
        </p:txBody>
      </p:sp>
      <p:sp>
        <p:nvSpPr>
          <p:cNvPr id="6273" name="Google Shape;6273;p38"/>
          <p:cNvSpPr txBox="1"/>
          <p:nvPr/>
        </p:nvSpPr>
        <p:spPr>
          <a:xfrm>
            <a:off x="8321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$13K</a:t>
            </a:r>
            <a:endParaRPr/>
          </a:p>
        </p:txBody>
      </p:sp>
      <p:sp>
        <p:nvSpPr>
          <p:cNvPr id="6274" name="Google Shape;6274;p38"/>
          <p:cNvSpPr txBox="1"/>
          <p:nvPr/>
        </p:nvSpPr>
        <p:spPr>
          <a:xfrm>
            <a:off x="9006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275" name="Google Shape;6275;p38"/>
          <p:cNvSpPr txBox="1"/>
          <p:nvPr/>
        </p:nvSpPr>
        <p:spPr>
          <a:xfrm>
            <a:off x="969264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$169K</a:t>
            </a:r>
            <a:endParaRPr/>
          </a:p>
        </p:txBody>
      </p:sp>
      <p:sp>
        <p:nvSpPr>
          <p:cNvPr id="6276" name="Google Shape;6276;p38"/>
          <p:cNvSpPr txBox="1"/>
          <p:nvPr/>
        </p:nvSpPr>
        <p:spPr>
          <a:xfrm>
            <a:off x="1088136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$43K</a:t>
            </a:r>
            <a:endParaRPr/>
          </a:p>
        </p:txBody>
      </p:sp>
      <p:sp>
        <p:nvSpPr>
          <p:cNvPr id="6277" name="Google Shape;6277;p38"/>
          <p:cNvSpPr/>
          <p:nvPr/>
        </p:nvSpPr>
        <p:spPr>
          <a:xfrm>
            <a:off x="365760" y="5678423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8" name="Google Shape;6278;p38"/>
          <p:cNvSpPr txBox="1"/>
          <p:nvPr/>
        </p:nvSpPr>
        <p:spPr>
          <a:xfrm>
            <a:off x="4572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65F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STRENGTHS - What's Working</a:t>
            </a:r>
            <a:endParaRPr/>
          </a:p>
        </p:txBody>
      </p:sp>
      <p:sp>
        <p:nvSpPr>
          <p:cNvPr id="6279" name="Google Shape;6279;p38"/>
          <p:cNvSpPr txBox="1"/>
          <p:nvPr/>
        </p:nvSpPr>
        <p:spPr>
          <a:xfrm>
            <a:off x="4572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6280" name="Google Shape;6280;p38"/>
          <p:cNvSpPr txBox="1"/>
          <p:nvPr/>
        </p:nvSpPr>
        <p:spPr>
          <a:xfrm>
            <a:off x="685800" y="5952743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$42,841 YTD gross written premium</a:t>
            </a:r>
            <a:endParaRPr/>
          </a:p>
        </p:txBody>
      </p:sp>
      <p:sp>
        <p:nvSpPr>
          <p:cNvPr id="6281" name="Google Shape;6281;p38"/>
          <p:cNvSpPr txBox="1"/>
          <p:nvPr/>
        </p:nvSpPr>
        <p:spPr>
          <a:xfrm>
            <a:off x="457200" y="6153911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6282" name="Google Shape;6282;p38"/>
          <p:cNvSpPr txBox="1"/>
          <p:nvPr/>
        </p:nvSpPr>
        <p:spPr>
          <a:xfrm>
            <a:off x="685800" y="6153911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$27,571 in new business production</a:t>
            </a:r>
            <a:endParaRPr/>
          </a:p>
        </p:txBody>
      </p:sp>
      <p:sp>
        <p:nvSpPr>
          <p:cNvPr id="6283" name="Google Shape;6283;p38"/>
          <p:cNvSpPr/>
          <p:nvPr/>
        </p:nvSpPr>
        <p:spPr>
          <a:xfrm>
            <a:off x="6309360" y="5678423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4" name="Google Shape;6284;p38"/>
          <p:cNvSpPr txBox="1"/>
          <p:nvPr/>
        </p:nvSpPr>
        <p:spPr>
          <a:xfrm>
            <a:off x="64008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NEEDS ATTENTION</a:t>
            </a:r>
            <a:endParaRPr/>
          </a:p>
        </p:txBody>
      </p:sp>
      <p:sp>
        <p:nvSpPr>
          <p:cNvPr id="6285" name="Google Shape;6285;p38"/>
          <p:cNvSpPr txBox="1"/>
          <p:nvPr/>
        </p:nvSpPr>
        <p:spPr>
          <a:xfrm>
            <a:off x="64008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6286" name="Google Shape;6286;p38"/>
          <p:cNvSpPr txBox="1"/>
          <p:nvPr/>
        </p:nvSpPr>
        <p:spPr>
          <a:xfrm>
            <a:off x="6629400" y="5952743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Low 1.7% hit ratio on 292 subs - needs coaching</a:t>
            </a:r>
            <a:endParaRPr/>
          </a:p>
        </p:txBody>
      </p:sp>
      <p:sp>
        <p:nvSpPr>
          <p:cNvPr id="6287" name="Google Shape;6287;p38"/>
          <p:cNvSpPr txBox="1"/>
          <p:nvPr/>
        </p:nvSpPr>
        <p:spPr>
          <a:xfrm>
            <a:off x="6400800" y="6153911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6288" name="Google Shape;6288;p38"/>
          <p:cNvSpPr txBox="1"/>
          <p:nvPr/>
        </p:nvSpPr>
        <p:spPr>
          <a:xfrm>
            <a:off x="6629400" y="6153911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 at 157% of new business ($43,323)</a:t>
            </a:r>
            <a:endParaRPr/>
          </a:p>
        </p:txBody>
      </p:sp>
      <p:sp>
        <p:nvSpPr>
          <p:cNvPr id="6289" name="Google Shape;6289;p38"/>
          <p:cNvSpPr/>
          <p:nvPr/>
        </p:nvSpPr>
        <p:spPr>
          <a:xfrm>
            <a:off x="365760" y="6455663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0" name="Google Shape;6290;p38"/>
          <p:cNvSpPr txBox="1"/>
          <p:nvPr/>
        </p:nvSpPr>
        <p:spPr>
          <a:xfrm>
            <a:off x="457200" y="6464807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STRATEGIC SALES TIPS - Conversation Starters</a:t>
            </a:r>
            <a:endParaRPr/>
          </a:p>
        </p:txBody>
      </p:sp>
      <p:sp>
        <p:nvSpPr>
          <p:cNvPr id="6291" name="Google Shape;6291;p38"/>
          <p:cNvSpPr txBox="1"/>
          <p:nvPr/>
        </p:nvSpPr>
        <p:spPr>
          <a:xfrm>
            <a:off x="457200" y="6711695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endParaRPr/>
          </a:p>
        </p:txBody>
      </p:sp>
      <p:sp>
        <p:nvSpPr>
          <p:cNvPr id="6292" name="Google Shape;6292;p38"/>
          <p:cNvSpPr txBox="1"/>
          <p:nvPr/>
        </p:nvSpPr>
        <p:spPr>
          <a:xfrm>
            <a:off x="777240" y="6711695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Walk through recent lost quotes (292 subs, only 5 binds). Ask: "What are the top 2 reasons your clients go elsewhere?" Use answers to tailor appetite and pricing discussions.</a:t>
            </a:r>
            <a:endParaRPr/>
          </a:p>
        </p:txBody>
      </p:sp>
      <p:sp>
        <p:nvSpPr>
          <p:cNvPr id="6293" name="Google Shape;6293;p38"/>
          <p:cNvSpPr txBox="1"/>
          <p:nvPr/>
        </p:nvSpPr>
        <p:spPr>
          <a:xfrm>
            <a:off x="457200" y="6949439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endParaRPr/>
          </a:p>
        </p:txBody>
      </p:sp>
      <p:sp>
        <p:nvSpPr>
          <p:cNvPr id="6294" name="Google Shape;6294;p38"/>
          <p:cNvSpPr txBox="1"/>
          <p:nvPr/>
        </p:nvSpPr>
        <p:spPr>
          <a:xfrm>
            <a:off x="777240" y="6949439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Celebrate the $27,571 in new business. Ask what made those deals work and how you can help replicate that success with similar accounts in their pipeline.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98" name="Shape 6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9" name="Google Shape;6299;p39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0" name="Google Shape;6300;p39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Renegade Insurance (Formerly Covered By Sage)</a:t>
            </a:r>
            <a:endParaRPr/>
          </a:p>
        </p:txBody>
      </p:sp>
      <p:sp>
        <p:nvSpPr>
          <p:cNvPr id="6301" name="Google Shape;6301;p39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4B5F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Tier: Tier 2  |  Region: Southeast  |  State: FL  |  City: Atlanta</a:t>
            </a:r>
            <a:endParaRPr/>
          </a:p>
        </p:txBody>
      </p:sp>
      <p:sp>
        <p:nvSpPr>
          <p:cNvPr id="6302" name="Google Shape;6302;p39"/>
          <p:cNvSpPr/>
          <p:nvPr/>
        </p:nvSpPr>
        <p:spPr>
          <a:xfrm>
            <a:off x="22860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$33,341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YTD GWP</a:t>
            </a:r>
            <a:endParaRPr/>
          </a:p>
        </p:txBody>
      </p:sp>
      <p:sp>
        <p:nvSpPr>
          <p:cNvPr id="6303" name="Google Shape;6303;p39"/>
          <p:cNvSpPr/>
          <p:nvPr/>
        </p:nvSpPr>
        <p:spPr>
          <a:xfrm>
            <a:off x="256032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$16,551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6304" name="Google Shape;6304;p39"/>
          <p:cNvSpPr/>
          <p:nvPr/>
        </p:nvSpPr>
        <p:spPr>
          <a:xfrm>
            <a:off x="489204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$11,885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6305" name="Google Shape;6305;p39"/>
          <p:cNvSpPr/>
          <p:nvPr/>
        </p:nvSpPr>
        <p:spPr>
          <a:xfrm>
            <a:off x="7223759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$4,905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6306" name="Google Shape;6306;p39"/>
          <p:cNvSpPr/>
          <p:nvPr/>
        </p:nvSpPr>
        <p:spPr>
          <a:xfrm>
            <a:off x="955548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$-5,574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6307" name="Google Shape;6307;p39"/>
          <p:cNvSpPr/>
          <p:nvPr/>
        </p:nvSpPr>
        <p:spPr>
          <a:xfrm>
            <a:off x="137160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$273,280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2025 Full Year GWP</a:t>
            </a:r>
            <a:endParaRPr/>
          </a:p>
        </p:txBody>
      </p:sp>
      <p:sp>
        <p:nvSpPr>
          <p:cNvPr id="6308" name="Google Shape;6308;p39"/>
          <p:cNvSpPr/>
          <p:nvPr/>
        </p:nvSpPr>
        <p:spPr>
          <a:xfrm>
            <a:off x="1627631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$129,645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Rolling 12M GWP</a:t>
            </a:r>
            <a:endParaRPr/>
          </a:p>
        </p:txBody>
      </p:sp>
      <p:sp>
        <p:nvSpPr>
          <p:cNvPr id="6309" name="Google Shape;6309;p39"/>
          <p:cNvSpPr/>
          <p:nvPr/>
        </p:nvSpPr>
        <p:spPr>
          <a:xfrm>
            <a:off x="3118103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% to Goal</a:t>
            </a:r>
            <a:endParaRPr/>
          </a:p>
        </p:txBody>
      </p:sp>
      <p:sp>
        <p:nvSpPr>
          <p:cNvPr id="6310" name="Google Shape;6310;p39"/>
          <p:cNvSpPr/>
          <p:nvPr/>
        </p:nvSpPr>
        <p:spPr>
          <a:xfrm>
            <a:off x="4608576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6311" name="Google Shape;6311;p39"/>
          <p:cNvSpPr/>
          <p:nvPr/>
        </p:nvSpPr>
        <p:spPr>
          <a:xfrm>
            <a:off x="6099048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6312" name="Google Shape;6312;p39"/>
          <p:cNvSpPr/>
          <p:nvPr/>
        </p:nvSpPr>
        <p:spPr>
          <a:xfrm>
            <a:off x="7589519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4.2%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6313" name="Google Shape;6313;p39"/>
          <p:cNvSpPr/>
          <p:nvPr/>
        </p:nvSpPr>
        <p:spPr>
          <a:xfrm>
            <a:off x="9079992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 Bound Prem</a:t>
            </a:r>
            <a:endParaRPr/>
          </a:p>
        </p:txBody>
      </p:sp>
      <p:sp>
        <p:nvSpPr>
          <p:cNvPr id="6314" name="Google Shape;6314;p39"/>
          <p:cNvSpPr/>
          <p:nvPr/>
        </p:nvSpPr>
        <p:spPr>
          <a:xfrm>
            <a:off x="10570464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$34,630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NF Bound Prem</a:t>
            </a:r>
            <a:endParaRPr/>
          </a:p>
        </p:txBody>
      </p:sp>
      <p:sp>
        <p:nvSpPr>
          <p:cNvPr id="6315" name="Google Shape;6315;p39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6" name="Google Shape;6316;p39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PRODUCTION BY MONTH</a:t>
            </a:r>
            <a:endParaRPr/>
          </a:p>
        </p:txBody>
      </p:sp>
      <p:sp>
        <p:nvSpPr>
          <p:cNvPr id="6317" name="Google Shape;6317;p3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6318" name="Google Shape;6318;p39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Written Premium</a:t>
            </a:r>
            <a:endParaRPr/>
          </a:p>
        </p:txBody>
      </p:sp>
      <p:sp>
        <p:nvSpPr>
          <p:cNvPr id="6319" name="Google Shape;6319;p39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6320" name="Google Shape;6320;p39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6321" name="Google Shape;6321;p39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6322" name="Google Shape;6322;p39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6323" name="Google Shape;6323;p39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4" name="Google Shape;6324;p39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6325" name="Google Shape;6325;p39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$9,522</a:t>
            </a:r>
            <a:endParaRPr/>
          </a:p>
        </p:txBody>
      </p:sp>
      <p:sp>
        <p:nvSpPr>
          <p:cNvPr id="6326" name="Google Shape;6326;p39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327" name="Google Shape;6327;p3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$9,522</a:t>
            </a:r>
            <a:endParaRPr/>
          </a:p>
        </p:txBody>
      </p:sp>
      <p:sp>
        <p:nvSpPr>
          <p:cNvPr id="6328" name="Google Shape;6328;p39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329" name="Google Shape;6329;p39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$-2,705</a:t>
            </a:r>
            <a:endParaRPr/>
          </a:p>
        </p:txBody>
      </p:sp>
      <p:sp>
        <p:nvSpPr>
          <p:cNvPr id="6330" name="Google Shape;6330;p39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1" name="Google Shape;6331;p39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6332" name="Google Shape;6332;p39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333" name="Google Shape;6333;p39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334" name="Google Shape;6334;p39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335" name="Google Shape;6335;p39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336" name="Google Shape;6336;p39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337" name="Google Shape;6337;p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8" name="Google Shape;6338;p39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6339" name="Google Shape;6339;p39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$2,363</a:t>
            </a:r>
            <a:endParaRPr/>
          </a:p>
        </p:txBody>
      </p:sp>
      <p:sp>
        <p:nvSpPr>
          <p:cNvPr id="6340" name="Google Shape;6340;p39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341" name="Google Shape;6341;p39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$2,363</a:t>
            </a:r>
            <a:endParaRPr/>
          </a:p>
        </p:txBody>
      </p:sp>
      <p:sp>
        <p:nvSpPr>
          <p:cNvPr id="6342" name="Google Shape;6342;p39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343" name="Google Shape;6343;p39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$-823</a:t>
            </a:r>
            <a:endParaRPr/>
          </a:p>
        </p:txBody>
      </p:sp>
      <p:sp>
        <p:nvSpPr>
          <p:cNvPr id="6344" name="Google Shape;6344;p39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5" name="Google Shape;6345;p39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6346" name="Google Shape;6346;p39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$14,274</a:t>
            </a:r>
            <a:endParaRPr/>
          </a:p>
        </p:txBody>
      </p:sp>
      <p:sp>
        <p:nvSpPr>
          <p:cNvPr id="6347" name="Google Shape;6347;p3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$11,650</a:t>
            </a:r>
            <a:endParaRPr/>
          </a:p>
        </p:txBody>
      </p:sp>
      <p:sp>
        <p:nvSpPr>
          <p:cNvPr id="6348" name="Google Shape;6348;p39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349" name="Google Shape;6349;p39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$2,624</a:t>
            </a:r>
            <a:endParaRPr/>
          </a:p>
        </p:txBody>
      </p:sp>
      <p:sp>
        <p:nvSpPr>
          <p:cNvPr id="6350" name="Google Shape;6350;p39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351" name="Google Shape;6351;p39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2" name="Google Shape;6352;p39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6353" name="Google Shape;6353;p39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$7,182</a:t>
            </a:r>
            <a:endParaRPr/>
          </a:p>
        </p:txBody>
      </p:sp>
      <p:sp>
        <p:nvSpPr>
          <p:cNvPr id="6354" name="Google Shape;6354;p39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$4,901</a:t>
            </a:r>
            <a:endParaRPr/>
          </a:p>
        </p:txBody>
      </p:sp>
      <p:sp>
        <p:nvSpPr>
          <p:cNvPr id="6355" name="Google Shape;6355;p39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356" name="Google Shape;6356;p39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$2,281</a:t>
            </a:r>
            <a:endParaRPr/>
          </a:p>
        </p:txBody>
      </p:sp>
      <p:sp>
        <p:nvSpPr>
          <p:cNvPr id="6357" name="Google Shape;6357;p3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$-2,046</a:t>
            </a:r>
            <a:endParaRPr/>
          </a:p>
        </p:txBody>
      </p:sp>
      <p:sp>
        <p:nvSpPr>
          <p:cNvPr id="6358" name="Google Shape;6358;p39"/>
          <p:cNvSpPr/>
          <p:nvPr/>
        </p:nvSpPr>
        <p:spPr>
          <a:xfrm>
            <a:off x="365760" y="4123944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9" name="Google Shape;6359;p39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6360" name="Google Shape;6360;p39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361" name="Google Shape;6361;p39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362" name="Google Shape;6362;p39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363" name="Google Shape;6363;p39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364" name="Google Shape;6364;p39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365" name="Google Shape;6365;p39"/>
          <p:cNvSpPr/>
          <p:nvPr/>
        </p:nvSpPr>
        <p:spPr>
          <a:xfrm>
            <a:off x="365760" y="4425696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6" name="Google Shape;6366;p39"/>
          <p:cNvSpPr txBox="1"/>
          <p:nvPr/>
        </p:nvSpPr>
        <p:spPr>
          <a:xfrm>
            <a:off x="3657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6367" name="Google Shape;6367;p39"/>
          <p:cNvSpPr txBox="1"/>
          <p:nvPr/>
        </p:nvSpPr>
        <p:spPr>
          <a:xfrm>
            <a:off x="1280160" y="446227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$33,341</a:t>
            </a:r>
            <a:endParaRPr/>
          </a:p>
        </p:txBody>
      </p:sp>
      <p:sp>
        <p:nvSpPr>
          <p:cNvPr id="6368" name="Google Shape;6368;p39"/>
          <p:cNvSpPr txBox="1"/>
          <p:nvPr/>
        </p:nvSpPr>
        <p:spPr>
          <a:xfrm>
            <a:off x="2377439" y="446227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$16,551</a:t>
            </a:r>
            <a:endParaRPr/>
          </a:p>
        </p:txBody>
      </p:sp>
      <p:sp>
        <p:nvSpPr>
          <p:cNvPr id="6369" name="Google Shape;6369;p39"/>
          <p:cNvSpPr txBox="1"/>
          <p:nvPr/>
        </p:nvSpPr>
        <p:spPr>
          <a:xfrm>
            <a:off x="33832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$11,885</a:t>
            </a:r>
            <a:endParaRPr/>
          </a:p>
        </p:txBody>
      </p:sp>
      <p:sp>
        <p:nvSpPr>
          <p:cNvPr id="6370" name="Google Shape;6370;p39"/>
          <p:cNvSpPr txBox="1"/>
          <p:nvPr/>
        </p:nvSpPr>
        <p:spPr>
          <a:xfrm>
            <a:off x="42976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$4,905</a:t>
            </a:r>
            <a:endParaRPr/>
          </a:p>
        </p:txBody>
      </p:sp>
      <p:sp>
        <p:nvSpPr>
          <p:cNvPr id="6371" name="Google Shape;6371;p39"/>
          <p:cNvSpPr txBox="1"/>
          <p:nvPr/>
        </p:nvSpPr>
        <p:spPr>
          <a:xfrm>
            <a:off x="52120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$-5,574</a:t>
            </a:r>
            <a:endParaRPr/>
          </a:p>
        </p:txBody>
      </p:sp>
      <p:sp>
        <p:nvSpPr>
          <p:cNvPr id="6372" name="Google Shape;6372;p39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3" name="Google Shape;6373;p39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 &amp; PIPELINE</a:t>
            </a:r>
            <a:endParaRPr/>
          </a:p>
        </p:txBody>
      </p:sp>
      <p:sp>
        <p:nvSpPr>
          <p:cNvPr id="6374" name="Google Shape;6374;p3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6375" name="Google Shape;6375;p39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Subs</a:t>
            </a:r>
            <a:endParaRPr/>
          </a:p>
        </p:txBody>
      </p:sp>
      <p:sp>
        <p:nvSpPr>
          <p:cNvPr id="6376" name="Google Shape;6376;p39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</a:t>
            </a:r>
            <a:endParaRPr/>
          </a:p>
        </p:txBody>
      </p:sp>
      <p:sp>
        <p:nvSpPr>
          <p:cNvPr id="6377" name="Google Shape;6377;p39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Non-Fleet</a:t>
            </a:r>
            <a:endParaRPr/>
          </a:p>
        </p:txBody>
      </p:sp>
      <p:sp>
        <p:nvSpPr>
          <p:cNvPr id="6378" name="Google Shape;6378;p39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6379" name="Google Shape;6379;p39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6380" name="Google Shape;6380;p39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1" name="Google Shape;6381;p39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6382" name="Google Shape;6382;p39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</a:t>
            </a:r>
            <a:endParaRPr/>
          </a:p>
        </p:txBody>
      </p:sp>
      <p:sp>
        <p:nvSpPr>
          <p:cNvPr id="6383" name="Google Shape;6383;p39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6384" name="Google Shape;6384;p3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/>
          </a:p>
        </p:txBody>
      </p:sp>
      <p:sp>
        <p:nvSpPr>
          <p:cNvPr id="6385" name="Google Shape;6385;p39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6386" name="Google Shape;6386;p39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8.3%</a:t>
            </a:r>
            <a:endParaRPr/>
          </a:p>
        </p:txBody>
      </p:sp>
      <p:sp>
        <p:nvSpPr>
          <p:cNvPr id="6387" name="Google Shape;6387;p39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8" name="Google Shape;6388;p39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6389" name="Google Shape;6389;p39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17</a:t>
            </a:r>
            <a:endParaRPr/>
          </a:p>
        </p:txBody>
      </p:sp>
      <p:sp>
        <p:nvSpPr>
          <p:cNvPr id="6390" name="Google Shape;6390;p39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6391" name="Google Shape;6391;p39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</a:t>
            </a:r>
            <a:endParaRPr/>
          </a:p>
        </p:txBody>
      </p:sp>
      <p:sp>
        <p:nvSpPr>
          <p:cNvPr id="6392" name="Google Shape;6392;p39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6393" name="Google Shape;6393;p39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6394" name="Google Shape;6394;p3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5" name="Google Shape;6395;p39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6396" name="Google Shape;6396;p39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31</a:t>
            </a:r>
            <a:endParaRPr/>
          </a:p>
        </p:txBody>
      </p:sp>
      <p:sp>
        <p:nvSpPr>
          <p:cNvPr id="6397" name="Google Shape;6397;p39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6398" name="Google Shape;6398;p39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31</a:t>
            </a:r>
            <a:endParaRPr/>
          </a:p>
        </p:txBody>
      </p:sp>
      <p:sp>
        <p:nvSpPr>
          <p:cNvPr id="6399" name="Google Shape;6399;p39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6400" name="Google Shape;6400;p39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3.2%</a:t>
            </a:r>
            <a:endParaRPr/>
          </a:p>
        </p:txBody>
      </p:sp>
      <p:sp>
        <p:nvSpPr>
          <p:cNvPr id="6401" name="Google Shape;6401;p39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2" name="Google Shape;6402;p39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6403" name="Google Shape;6403;p39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</a:t>
            </a:r>
            <a:endParaRPr/>
          </a:p>
        </p:txBody>
      </p:sp>
      <p:sp>
        <p:nvSpPr>
          <p:cNvPr id="6404" name="Google Shape;6404;p3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6405" name="Google Shape;6405;p39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</a:t>
            </a:r>
            <a:endParaRPr/>
          </a:p>
        </p:txBody>
      </p:sp>
      <p:sp>
        <p:nvSpPr>
          <p:cNvPr id="6406" name="Google Shape;6406;p39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6407" name="Google Shape;6407;p39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9.5%</a:t>
            </a:r>
            <a:endParaRPr/>
          </a:p>
        </p:txBody>
      </p:sp>
      <p:sp>
        <p:nvSpPr>
          <p:cNvPr id="6408" name="Google Shape;6408;p39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9" name="Google Shape;6409;p39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6410" name="Google Shape;6410;p39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18</a:t>
            </a:r>
            <a:endParaRPr/>
          </a:p>
        </p:txBody>
      </p:sp>
      <p:sp>
        <p:nvSpPr>
          <p:cNvPr id="6411" name="Google Shape;6411;p39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6412" name="Google Shape;6412;p39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17</a:t>
            </a:r>
            <a:endParaRPr/>
          </a:p>
        </p:txBody>
      </p:sp>
      <p:sp>
        <p:nvSpPr>
          <p:cNvPr id="6413" name="Google Shape;6413;p39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6414" name="Google Shape;6414;p3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16.7%</a:t>
            </a:r>
            <a:endParaRPr/>
          </a:p>
        </p:txBody>
      </p:sp>
      <p:sp>
        <p:nvSpPr>
          <p:cNvPr id="6415" name="Google Shape;6415;p39"/>
          <p:cNvSpPr/>
          <p:nvPr/>
        </p:nvSpPr>
        <p:spPr>
          <a:xfrm>
            <a:off x="6309360" y="4123944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6" name="Google Shape;6416;p39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6417" name="Google Shape;6417;p39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6418" name="Google Shape;6418;p39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6419" name="Google Shape;6419;p39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6420" name="Google Shape;6420;p39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6421" name="Google Shape;6421;p39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6422" name="Google Shape;6422;p39"/>
          <p:cNvSpPr/>
          <p:nvPr/>
        </p:nvSpPr>
        <p:spPr>
          <a:xfrm>
            <a:off x="6309360" y="4425696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3" name="Google Shape;6423;p39"/>
          <p:cNvSpPr txBox="1"/>
          <p:nvPr/>
        </p:nvSpPr>
        <p:spPr>
          <a:xfrm>
            <a:off x="63093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6424" name="Google Shape;6424;p39"/>
          <p:cNvSpPr txBox="1"/>
          <p:nvPr/>
        </p:nvSpPr>
        <p:spPr>
          <a:xfrm>
            <a:off x="722376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95</a:t>
            </a:r>
            <a:endParaRPr/>
          </a:p>
        </p:txBody>
      </p:sp>
      <p:sp>
        <p:nvSpPr>
          <p:cNvPr id="6425" name="Google Shape;6425;p39"/>
          <p:cNvSpPr txBox="1"/>
          <p:nvPr/>
        </p:nvSpPr>
        <p:spPr>
          <a:xfrm>
            <a:off x="804672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/>
          </a:p>
        </p:txBody>
      </p:sp>
      <p:sp>
        <p:nvSpPr>
          <p:cNvPr id="6426" name="Google Shape;6426;p39"/>
          <p:cNvSpPr txBox="1"/>
          <p:nvPr/>
        </p:nvSpPr>
        <p:spPr>
          <a:xfrm>
            <a:off x="886968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89</a:t>
            </a:r>
            <a:endParaRPr/>
          </a:p>
        </p:txBody>
      </p:sp>
      <p:sp>
        <p:nvSpPr>
          <p:cNvPr id="6427" name="Google Shape;6427;p39"/>
          <p:cNvSpPr txBox="1"/>
          <p:nvPr/>
        </p:nvSpPr>
        <p:spPr>
          <a:xfrm>
            <a:off x="978408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6428" name="Google Shape;6428;p39"/>
          <p:cNvSpPr txBox="1"/>
          <p:nvPr/>
        </p:nvSpPr>
        <p:spPr>
          <a:xfrm>
            <a:off x="1060704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4.2%</a:t>
            </a:r>
            <a:endParaRPr/>
          </a:p>
        </p:txBody>
      </p:sp>
      <p:sp>
        <p:nvSpPr>
          <p:cNvPr id="6429" name="Google Shape;6429;p39"/>
          <p:cNvSpPr/>
          <p:nvPr/>
        </p:nvSpPr>
        <p:spPr>
          <a:xfrm>
            <a:off x="365760" y="4782312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0" name="Google Shape;6430;p39"/>
          <p:cNvSpPr txBox="1"/>
          <p:nvPr/>
        </p:nvSpPr>
        <p:spPr>
          <a:xfrm>
            <a:off x="457200" y="4800599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YOY COMPARISON — Jan–Jun 2025 vs Jan–Jun 2026</a:t>
            </a:r>
            <a:endParaRPr/>
          </a:p>
        </p:txBody>
      </p:sp>
      <p:sp>
        <p:nvSpPr>
          <p:cNvPr id="6431" name="Google Shape;6431;p39"/>
          <p:cNvSpPr txBox="1"/>
          <p:nvPr/>
        </p:nvSpPr>
        <p:spPr>
          <a:xfrm>
            <a:off x="365760" y="5056631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00" u="none" cap="none" strike="noStrike">
              <a:solidFill>
                <a:srgbClr val="6B728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432" name="Google Shape;6432;p39"/>
          <p:cNvSpPr txBox="1"/>
          <p:nvPr/>
        </p:nvSpPr>
        <p:spPr>
          <a:xfrm>
            <a:off x="1463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'25</a:t>
            </a:r>
            <a:endParaRPr/>
          </a:p>
        </p:txBody>
      </p:sp>
      <p:sp>
        <p:nvSpPr>
          <p:cNvPr id="6433" name="Google Shape;6433;p39"/>
          <p:cNvSpPr txBox="1"/>
          <p:nvPr/>
        </p:nvSpPr>
        <p:spPr>
          <a:xfrm>
            <a:off x="2148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'26</a:t>
            </a:r>
            <a:endParaRPr/>
          </a:p>
        </p:txBody>
      </p:sp>
      <p:sp>
        <p:nvSpPr>
          <p:cNvPr id="6434" name="Google Shape;6434;p39"/>
          <p:cNvSpPr txBox="1"/>
          <p:nvPr/>
        </p:nvSpPr>
        <p:spPr>
          <a:xfrm>
            <a:off x="2834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'25</a:t>
            </a:r>
            <a:endParaRPr/>
          </a:p>
        </p:txBody>
      </p:sp>
      <p:sp>
        <p:nvSpPr>
          <p:cNvPr id="6435" name="Google Shape;6435;p39"/>
          <p:cNvSpPr txBox="1"/>
          <p:nvPr/>
        </p:nvSpPr>
        <p:spPr>
          <a:xfrm>
            <a:off x="3520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'26</a:t>
            </a:r>
            <a:endParaRPr/>
          </a:p>
        </p:txBody>
      </p:sp>
      <p:sp>
        <p:nvSpPr>
          <p:cNvPr id="6436" name="Google Shape;6436;p39"/>
          <p:cNvSpPr txBox="1"/>
          <p:nvPr/>
        </p:nvSpPr>
        <p:spPr>
          <a:xfrm>
            <a:off x="4206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'25</a:t>
            </a:r>
            <a:endParaRPr/>
          </a:p>
        </p:txBody>
      </p:sp>
      <p:sp>
        <p:nvSpPr>
          <p:cNvPr id="6437" name="Google Shape;6437;p39"/>
          <p:cNvSpPr txBox="1"/>
          <p:nvPr/>
        </p:nvSpPr>
        <p:spPr>
          <a:xfrm>
            <a:off x="4892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'26</a:t>
            </a:r>
            <a:endParaRPr/>
          </a:p>
        </p:txBody>
      </p:sp>
      <p:sp>
        <p:nvSpPr>
          <p:cNvPr id="6438" name="Google Shape;6438;p39"/>
          <p:cNvSpPr txBox="1"/>
          <p:nvPr/>
        </p:nvSpPr>
        <p:spPr>
          <a:xfrm>
            <a:off x="5577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'25</a:t>
            </a:r>
            <a:endParaRPr/>
          </a:p>
        </p:txBody>
      </p:sp>
      <p:sp>
        <p:nvSpPr>
          <p:cNvPr id="6439" name="Google Shape;6439;p39"/>
          <p:cNvSpPr txBox="1"/>
          <p:nvPr/>
        </p:nvSpPr>
        <p:spPr>
          <a:xfrm>
            <a:off x="6263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'26</a:t>
            </a:r>
            <a:endParaRPr/>
          </a:p>
        </p:txBody>
      </p:sp>
      <p:sp>
        <p:nvSpPr>
          <p:cNvPr id="6440" name="Google Shape;6440;p39"/>
          <p:cNvSpPr txBox="1"/>
          <p:nvPr/>
        </p:nvSpPr>
        <p:spPr>
          <a:xfrm>
            <a:off x="6949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'25</a:t>
            </a:r>
            <a:endParaRPr/>
          </a:p>
        </p:txBody>
      </p:sp>
      <p:sp>
        <p:nvSpPr>
          <p:cNvPr id="6441" name="Google Shape;6441;p39"/>
          <p:cNvSpPr txBox="1"/>
          <p:nvPr/>
        </p:nvSpPr>
        <p:spPr>
          <a:xfrm>
            <a:off x="7635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'26</a:t>
            </a:r>
            <a:endParaRPr/>
          </a:p>
        </p:txBody>
      </p:sp>
      <p:sp>
        <p:nvSpPr>
          <p:cNvPr id="6442" name="Google Shape;6442;p39"/>
          <p:cNvSpPr txBox="1"/>
          <p:nvPr/>
        </p:nvSpPr>
        <p:spPr>
          <a:xfrm>
            <a:off x="8321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'25</a:t>
            </a:r>
            <a:endParaRPr/>
          </a:p>
        </p:txBody>
      </p:sp>
      <p:sp>
        <p:nvSpPr>
          <p:cNvPr id="6443" name="Google Shape;6443;p39"/>
          <p:cNvSpPr txBox="1"/>
          <p:nvPr/>
        </p:nvSpPr>
        <p:spPr>
          <a:xfrm>
            <a:off x="9006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'26</a:t>
            </a:r>
            <a:endParaRPr/>
          </a:p>
        </p:txBody>
      </p:sp>
      <p:sp>
        <p:nvSpPr>
          <p:cNvPr id="6444" name="Google Shape;6444;p39"/>
          <p:cNvSpPr txBox="1"/>
          <p:nvPr/>
        </p:nvSpPr>
        <p:spPr>
          <a:xfrm>
            <a:off x="969264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'25 Tot</a:t>
            </a:r>
            <a:endParaRPr/>
          </a:p>
        </p:txBody>
      </p:sp>
      <p:sp>
        <p:nvSpPr>
          <p:cNvPr id="6445" name="Google Shape;6445;p39"/>
          <p:cNvSpPr txBox="1"/>
          <p:nvPr/>
        </p:nvSpPr>
        <p:spPr>
          <a:xfrm>
            <a:off x="1088136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'26 Tot</a:t>
            </a:r>
            <a:endParaRPr/>
          </a:p>
        </p:txBody>
      </p:sp>
      <p:sp>
        <p:nvSpPr>
          <p:cNvPr id="6446" name="Google Shape;6446;p39"/>
          <p:cNvSpPr txBox="1"/>
          <p:nvPr/>
        </p:nvSpPr>
        <p:spPr>
          <a:xfrm>
            <a:off x="365760" y="523951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6447" name="Google Shape;6447;p39"/>
          <p:cNvSpPr txBox="1"/>
          <p:nvPr/>
        </p:nvSpPr>
        <p:spPr>
          <a:xfrm>
            <a:off x="1463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18</a:t>
            </a:r>
            <a:endParaRPr/>
          </a:p>
        </p:txBody>
      </p:sp>
      <p:sp>
        <p:nvSpPr>
          <p:cNvPr id="6448" name="Google Shape;6448;p39"/>
          <p:cNvSpPr txBox="1"/>
          <p:nvPr/>
        </p:nvSpPr>
        <p:spPr>
          <a:xfrm>
            <a:off x="2148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</a:t>
            </a:r>
            <a:endParaRPr/>
          </a:p>
        </p:txBody>
      </p:sp>
      <p:sp>
        <p:nvSpPr>
          <p:cNvPr id="6449" name="Google Shape;6449;p39"/>
          <p:cNvSpPr txBox="1"/>
          <p:nvPr/>
        </p:nvSpPr>
        <p:spPr>
          <a:xfrm>
            <a:off x="2834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</a:t>
            </a:r>
            <a:endParaRPr/>
          </a:p>
        </p:txBody>
      </p:sp>
      <p:sp>
        <p:nvSpPr>
          <p:cNvPr id="6450" name="Google Shape;6450;p39"/>
          <p:cNvSpPr txBox="1"/>
          <p:nvPr/>
        </p:nvSpPr>
        <p:spPr>
          <a:xfrm>
            <a:off x="3520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17</a:t>
            </a:r>
            <a:endParaRPr/>
          </a:p>
        </p:txBody>
      </p:sp>
      <p:sp>
        <p:nvSpPr>
          <p:cNvPr id="6451" name="Google Shape;6451;p39"/>
          <p:cNvSpPr txBox="1"/>
          <p:nvPr/>
        </p:nvSpPr>
        <p:spPr>
          <a:xfrm>
            <a:off x="4206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</a:t>
            </a:r>
            <a:endParaRPr/>
          </a:p>
        </p:txBody>
      </p:sp>
      <p:sp>
        <p:nvSpPr>
          <p:cNvPr id="6452" name="Google Shape;6452;p39"/>
          <p:cNvSpPr txBox="1"/>
          <p:nvPr/>
        </p:nvSpPr>
        <p:spPr>
          <a:xfrm>
            <a:off x="4892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31</a:t>
            </a:r>
            <a:endParaRPr/>
          </a:p>
        </p:txBody>
      </p:sp>
      <p:sp>
        <p:nvSpPr>
          <p:cNvPr id="6453" name="Google Shape;6453;p39"/>
          <p:cNvSpPr txBox="1"/>
          <p:nvPr/>
        </p:nvSpPr>
        <p:spPr>
          <a:xfrm>
            <a:off x="5577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30</a:t>
            </a:r>
            <a:endParaRPr/>
          </a:p>
        </p:txBody>
      </p:sp>
      <p:sp>
        <p:nvSpPr>
          <p:cNvPr id="6454" name="Google Shape;6454;p39"/>
          <p:cNvSpPr txBox="1"/>
          <p:nvPr/>
        </p:nvSpPr>
        <p:spPr>
          <a:xfrm>
            <a:off x="6263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</a:t>
            </a:r>
            <a:endParaRPr/>
          </a:p>
        </p:txBody>
      </p:sp>
      <p:sp>
        <p:nvSpPr>
          <p:cNvPr id="6455" name="Google Shape;6455;p39"/>
          <p:cNvSpPr txBox="1"/>
          <p:nvPr/>
        </p:nvSpPr>
        <p:spPr>
          <a:xfrm>
            <a:off x="6949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29</a:t>
            </a:r>
            <a:endParaRPr/>
          </a:p>
        </p:txBody>
      </p:sp>
      <p:sp>
        <p:nvSpPr>
          <p:cNvPr id="6456" name="Google Shape;6456;p39"/>
          <p:cNvSpPr txBox="1"/>
          <p:nvPr/>
        </p:nvSpPr>
        <p:spPr>
          <a:xfrm>
            <a:off x="7635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18</a:t>
            </a:r>
            <a:endParaRPr/>
          </a:p>
        </p:txBody>
      </p:sp>
      <p:sp>
        <p:nvSpPr>
          <p:cNvPr id="6457" name="Google Shape;6457;p39"/>
          <p:cNvSpPr txBox="1"/>
          <p:nvPr/>
        </p:nvSpPr>
        <p:spPr>
          <a:xfrm>
            <a:off x="8321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</a:t>
            </a:r>
            <a:endParaRPr/>
          </a:p>
        </p:txBody>
      </p:sp>
      <p:sp>
        <p:nvSpPr>
          <p:cNvPr id="6458" name="Google Shape;6458;p39"/>
          <p:cNvSpPr txBox="1"/>
          <p:nvPr/>
        </p:nvSpPr>
        <p:spPr>
          <a:xfrm>
            <a:off x="9006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6459" name="Google Shape;6459;p39"/>
          <p:cNvSpPr txBox="1"/>
          <p:nvPr/>
        </p:nvSpPr>
        <p:spPr>
          <a:xfrm>
            <a:off x="969264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126</a:t>
            </a:r>
            <a:endParaRPr/>
          </a:p>
        </p:txBody>
      </p:sp>
      <p:sp>
        <p:nvSpPr>
          <p:cNvPr id="6460" name="Google Shape;6460;p39"/>
          <p:cNvSpPr txBox="1"/>
          <p:nvPr/>
        </p:nvSpPr>
        <p:spPr>
          <a:xfrm>
            <a:off x="1088136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100</a:t>
            </a:r>
            <a:endParaRPr/>
          </a:p>
        </p:txBody>
      </p:sp>
      <p:sp>
        <p:nvSpPr>
          <p:cNvPr id="6461" name="Google Shape;6461;p39"/>
          <p:cNvSpPr txBox="1"/>
          <p:nvPr/>
        </p:nvSpPr>
        <p:spPr>
          <a:xfrm>
            <a:off x="365760" y="542239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Bound Premium</a:t>
            </a:r>
            <a:endParaRPr/>
          </a:p>
        </p:txBody>
      </p:sp>
      <p:sp>
        <p:nvSpPr>
          <p:cNvPr id="6462" name="Google Shape;6462;p39"/>
          <p:cNvSpPr txBox="1"/>
          <p:nvPr/>
        </p:nvSpPr>
        <p:spPr>
          <a:xfrm>
            <a:off x="1463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$11K</a:t>
            </a:r>
            <a:endParaRPr/>
          </a:p>
        </p:txBody>
      </p:sp>
      <p:sp>
        <p:nvSpPr>
          <p:cNvPr id="6463" name="Google Shape;6463;p39"/>
          <p:cNvSpPr txBox="1"/>
          <p:nvPr/>
        </p:nvSpPr>
        <p:spPr>
          <a:xfrm>
            <a:off x="2148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$10K</a:t>
            </a:r>
            <a:endParaRPr/>
          </a:p>
        </p:txBody>
      </p:sp>
      <p:sp>
        <p:nvSpPr>
          <p:cNvPr id="6464" name="Google Shape;6464;p39"/>
          <p:cNvSpPr txBox="1"/>
          <p:nvPr/>
        </p:nvSpPr>
        <p:spPr>
          <a:xfrm>
            <a:off x="2834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$62K</a:t>
            </a:r>
            <a:endParaRPr/>
          </a:p>
        </p:txBody>
      </p:sp>
      <p:sp>
        <p:nvSpPr>
          <p:cNvPr id="6465" name="Google Shape;6465;p39"/>
          <p:cNvSpPr txBox="1"/>
          <p:nvPr/>
        </p:nvSpPr>
        <p:spPr>
          <a:xfrm>
            <a:off x="3520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466" name="Google Shape;6466;p39"/>
          <p:cNvSpPr txBox="1"/>
          <p:nvPr/>
        </p:nvSpPr>
        <p:spPr>
          <a:xfrm>
            <a:off x="4206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$15K</a:t>
            </a:r>
            <a:endParaRPr/>
          </a:p>
        </p:txBody>
      </p:sp>
      <p:sp>
        <p:nvSpPr>
          <p:cNvPr id="6467" name="Google Shape;6467;p39"/>
          <p:cNvSpPr txBox="1"/>
          <p:nvPr/>
        </p:nvSpPr>
        <p:spPr>
          <a:xfrm>
            <a:off x="4892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$2K</a:t>
            </a:r>
            <a:endParaRPr/>
          </a:p>
        </p:txBody>
      </p:sp>
      <p:sp>
        <p:nvSpPr>
          <p:cNvPr id="6468" name="Google Shape;6468;p39"/>
          <p:cNvSpPr txBox="1"/>
          <p:nvPr/>
        </p:nvSpPr>
        <p:spPr>
          <a:xfrm>
            <a:off x="5577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$23K</a:t>
            </a:r>
            <a:endParaRPr/>
          </a:p>
        </p:txBody>
      </p:sp>
      <p:sp>
        <p:nvSpPr>
          <p:cNvPr id="6469" name="Google Shape;6469;p39"/>
          <p:cNvSpPr txBox="1"/>
          <p:nvPr/>
        </p:nvSpPr>
        <p:spPr>
          <a:xfrm>
            <a:off x="6263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$14K</a:t>
            </a:r>
            <a:endParaRPr/>
          </a:p>
        </p:txBody>
      </p:sp>
      <p:sp>
        <p:nvSpPr>
          <p:cNvPr id="6470" name="Google Shape;6470;p39"/>
          <p:cNvSpPr txBox="1"/>
          <p:nvPr/>
        </p:nvSpPr>
        <p:spPr>
          <a:xfrm>
            <a:off x="6949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$8K</a:t>
            </a:r>
            <a:endParaRPr/>
          </a:p>
        </p:txBody>
      </p:sp>
      <p:sp>
        <p:nvSpPr>
          <p:cNvPr id="6471" name="Google Shape;6471;p39"/>
          <p:cNvSpPr txBox="1"/>
          <p:nvPr/>
        </p:nvSpPr>
        <p:spPr>
          <a:xfrm>
            <a:off x="7635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$7K</a:t>
            </a:r>
            <a:endParaRPr/>
          </a:p>
        </p:txBody>
      </p:sp>
      <p:sp>
        <p:nvSpPr>
          <p:cNvPr id="6472" name="Google Shape;6472;p39"/>
          <p:cNvSpPr txBox="1"/>
          <p:nvPr/>
        </p:nvSpPr>
        <p:spPr>
          <a:xfrm>
            <a:off x="8321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$58K</a:t>
            </a:r>
            <a:endParaRPr/>
          </a:p>
        </p:txBody>
      </p:sp>
      <p:sp>
        <p:nvSpPr>
          <p:cNvPr id="6473" name="Google Shape;6473;p39"/>
          <p:cNvSpPr txBox="1"/>
          <p:nvPr/>
        </p:nvSpPr>
        <p:spPr>
          <a:xfrm>
            <a:off x="9006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474" name="Google Shape;6474;p39"/>
          <p:cNvSpPr txBox="1"/>
          <p:nvPr/>
        </p:nvSpPr>
        <p:spPr>
          <a:xfrm>
            <a:off x="969264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$177K</a:t>
            </a:r>
            <a:endParaRPr/>
          </a:p>
        </p:txBody>
      </p:sp>
      <p:sp>
        <p:nvSpPr>
          <p:cNvPr id="6475" name="Google Shape;6475;p39"/>
          <p:cNvSpPr txBox="1"/>
          <p:nvPr/>
        </p:nvSpPr>
        <p:spPr>
          <a:xfrm>
            <a:off x="1088136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$33K</a:t>
            </a:r>
            <a:endParaRPr/>
          </a:p>
        </p:txBody>
      </p:sp>
      <p:sp>
        <p:nvSpPr>
          <p:cNvPr id="6476" name="Google Shape;6476;p39"/>
          <p:cNvSpPr/>
          <p:nvPr/>
        </p:nvSpPr>
        <p:spPr>
          <a:xfrm>
            <a:off x="365760" y="5678423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7" name="Google Shape;6477;p39"/>
          <p:cNvSpPr txBox="1"/>
          <p:nvPr/>
        </p:nvSpPr>
        <p:spPr>
          <a:xfrm>
            <a:off x="4572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65F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STRENGTHS - What's Working</a:t>
            </a:r>
            <a:endParaRPr/>
          </a:p>
        </p:txBody>
      </p:sp>
      <p:sp>
        <p:nvSpPr>
          <p:cNvPr id="6478" name="Google Shape;6478;p39"/>
          <p:cNvSpPr txBox="1"/>
          <p:nvPr/>
        </p:nvSpPr>
        <p:spPr>
          <a:xfrm>
            <a:off x="4572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6479" name="Google Shape;6479;p39"/>
          <p:cNvSpPr txBox="1"/>
          <p:nvPr/>
        </p:nvSpPr>
        <p:spPr>
          <a:xfrm>
            <a:off x="685800" y="5952743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$33,341 YTD gross written premium</a:t>
            </a:r>
            <a:endParaRPr/>
          </a:p>
        </p:txBody>
      </p:sp>
      <p:sp>
        <p:nvSpPr>
          <p:cNvPr id="6480" name="Google Shape;6480;p39"/>
          <p:cNvSpPr txBox="1"/>
          <p:nvPr/>
        </p:nvSpPr>
        <p:spPr>
          <a:xfrm>
            <a:off x="457200" y="6153911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6481" name="Google Shape;6481;p39"/>
          <p:cNvSpPr txBox="1"/>
          <p:nvPr/>
        </p:nvSpPr>
        <p:spPr>
          <a:xfrm>
            <a:off x="685800" y="6153911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$16,551 in new business production</a:t>
            </a:r>
            <a:endParaRPr/>
          </a:p>
        </p:txBody>
      </p:sp>
      <p:sp>
        <p:nvSpPr>
          <p:cNvPr id="6482" name="Google Shape;6482;p39"/>
          <p:cNvSpPr/>
          <p:nvPr/>
        </p:nvSpPr>
        <p:spPr>
          <a:xfrm>
            <a:off x="6309360" y="5678423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3" name="Google Shape;6483;p39"/>
          <p:cNvSpPr txBox="1"/>
          <p:nvPr/>
        </p:nvSpPr>
        <p:spPr>
          <a:xfrm>
            <a:off x="64008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NEEDS ATTENTION</a:t>
            </a:r>
            <a:endParaRPr/>
          </a:p>
        </p:txBody>
      </p:sp>
      <p:sp>
        <p:nvSpPr>
          <p:cNvPr id="6484" name="Google Shape;6484;p39"/>
          <p:cNvSpPr txBox="1"/>
          <p:nvPr/>
        </p:nvSpPr>
        <p:spPr>
          <a:xfrm>
            <a:off x="64008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6485" name="Google Shape;6485;p39"/>
          <p:cNvSpPr txBox="1"/>
          <p:nvPr/>
        </p:nvSpPr>
        <p:spPr>
          <a:xfrm>
            <a:off x="6629400" y="5952743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 volume dropped from 18 to 1 MoM</a:t>
            </a:r>
            <a:endParaRPr/>
          </a:p>
        </p:txBody>
      </p:sp>
      <p:sp>
        <p:nvSpPr>
          <p:cNvPr id="6486" name="Google Shape;6486;p39"/>
          <p:cNvSpPr/>
          <p:nvPr/>
        </p:nvSpPr>
        <p:spPr>
          <a:xfrm>
            <a:off x="365760" y="6455663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7" name="Google Shape;6487;p39"/>
          <p:cNvSpPr txBox="1"/>
          <p:nvPr/>
        </p:nvSpPr>
        <p:spPr>
          <a:xfrm>
            <a:off x="457200" y="6464807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STRATEGIC SALES TIPS - Conversation Starters</a:t>
            </a:r>
            <a:endParaRPr/>
          </a:p>
        </p:txBody>
      </p:sp>
      <p:sp>
        <p:nvSpPr>
          <p:cNvPr id="6488" name="Google Shape;6488;p39"/>
          <p:cNvSpPr txBox="1"/>
          <p:nvPr/>
        </p:nvSpPr>
        <p:spPr>
          <a:xfrm>
            <a:off x="457200" y="6711695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endParaRPr/>
          </a:p>
        </p:txBody>
      </p:sp>
      <p:sp>
        <p:nvSpPr>
          <p:cNvPr id="6489" name="Google Shape;6489;p39"/>
          <p:cNvSpPr txBox="1"/>
          <p:nvPr/>
        </p:nvSpPr>
        <p:spPr>
          <a:xfrm>
            <a:off x="777240" y="6711695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Celebrate the $16,551 in new business. Ask what made those deals work and how you can help replicate that success with similar accounts in their pipeline.</a:t>
            </a:r>
            <a:endParaRPr/>
          </a:p>
        </p:txBody>
      </p:sp>
      <p:sp>
        <p:nvSpPr>
          <p:cNvPr id="6490" name="Google Shape;6490;p39"/>
          <p:cNvSpPr txBox="1"/>
          <p:nvPr/>
        </p:nvSpPr>
        <p:spPr>
          <a:xfrm>
            <a:off x="457200" y="6949439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endParaRPr/>
          </a:p>
        </p:txBody>
      </p:sp>
      <p:sp>
        <p:nvSpPr>
          <p:cNvPr id="6491" name="Google Shape;6491;p39"/>
          <p:cNvSpPr txBox="1"/>
          <p:nvPr/>
        </p:nvSpPr>
        <p:spPr>
          <a:xfrm>
            <a:off x="777240" y="6949439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Address the $5,574 in cancellations. Ask: "Are we losing these to price, service, or coverage?" Proactive retention discussions can protect the book and strengthen the relationship.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95" name="Shape 6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6" name="Google Shape;6496;p4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7" name="Google Shape;6497;p40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SINGH BROTHERS INSURANCE LLC</a:t>
            </a:r>
            <a:endParaRPr/>
          </a:p>
        </p:txBody>
      </p:sp>
      <p:sp>
        <p:nvSpPr>
          <p:cNvPr id="6498" name="Google Shape;6498;p40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4B5F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Tier: Tier 2  |  Region: Southeast  |  State: FL  |  City: Kissimmee</a:t>
            </a:r>
            <a:endParaRPr/>
          </a:p>
        </p:txBody>
      </p:sp>
      <p:sp>
        <p:nvSpPr>
          <p:cNvPr id="6499" name="Google Shape;6499;p40"/>
          <p:cNvSpPr/>
          <p:nvPr/>
        </p:nvSpPr>
        <p:spPr>
          <a:xfrm>
            <a:off x="22860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$32,839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YTD GWP</a:t>
            </a:r>
            <a:endParaRPr/>
          </a:p>
        </p:txBody>
      </p:sp>
      <p:sp>
        <p:nvSpPr>
          <p:cNvPr id="6500" name="Google Shape;6500;p40"/>
          <p:cNvSpPr/>
          <p:nvPr/>
        </p:nvSpPr>
        <p:spPr>
          <a:xfrm>
            <a:off x="256032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6501" name="Google Shape;6501;p40"/>
          <p:cNvSpPr/>
          <p:nvPr/>
        </p:nvSpPr>
        <p:spPr>
          <a:xfrm>
            <a:off x="489204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$13,219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6502" name="Google Shape;6502;p40"/>
          <p:cNvSpPr/>
          <p:nvPr/>
        </p:nvSpPr>
        <p:spPr>
          <a:xfrm>
            <a:off x="7223759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$19,619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6503" name="Google Shape;6503;p40"/>
          <p:cNvSpPr/>
          <p:nvPr/>
        </p:nvSpPr>
        <p:spPr>
          <a:xfrm>
            <a:off x="955548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$-6,582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6504" name="Google Shape;6504;p40"/>
          <p:cNvSpPr/>
          <p:nvPr/>
        </p:nvSpPr>
        <p:spPr>
          <a:xfrm>
            <a:off x="137160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$344,085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2025 Full Year GWP</a:t>
            </a:r>
            <a:endParaRPr/>
          </a:p>
        </p:txBody>
      </p:sp>
      <p:sp>
        <p:nvSpPr>
          <p:cNvPr id="6505" name="Google Shape;6505;p40"/>
          <p:cNvSpPr/>
          <p:nvPr/>
        </p:nvSpPr>
        <p:spPr>
          <a:xfrm>
            <a:off x="1627631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$99,130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Rolling 12M GWP</a:t>
            </a:r>
            <a:endParaRPr/>
          </a:p>
        </p:txBody>
      </p:sp>
      <p:sp>
        <p:nvSpPr>
          <p:cNvPr id="6506" name="Google Shape;6506;p40"/>
          <p:cNvSpPr/>
          <p:nvPr/>
        </p:nvSpPr>
        <p:spPr>
          <a:xfrm>
            <a:off x="3118103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% to Goal</a:t>
            </a:r>
            <a:endParaRPr/>
          </a:p>
        </p:txBody>
      </p:sp>
      <p:sp>
        <p:nvSpPr>
          <p:cNvPr id="6507" name="Google Shape;6507;p40"/>
          <p:cNvSpPr/>
          <p:nvPr/>
        </p:nvSpPr>
        <p:spPr>
          <a:xfrm>
            <a:off x="4608576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6508" name="Google Shape;6508;p40"/>
          <p:cNvSpPr/>
          <p:nvPr/>
        </p:nvSpPr>
        <p:spPr>
          <a:xfrm>
            <a:off x="6099048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6509" name="Google Shape;6509;p40"/>
          <p:cNvSpPr/>
          <p:nvPr/>
        </p:nvSpPr>
        <p:spPr>
          <a:xfrm>
            <a:off x="7589519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15.0%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6510" name="Google Shape;6510;p40"/>
          <p:cNvSpPr/>
          <p:nvPr/>
        </p:nvSpPr>
        <p:spPr>
          <a:xfrm>
            <a:off x="9079992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 Bound Prem</a:t>
            </a:r>
            <a:endParaRPr/>
          </a:p>
        </p:txBody>
      </p:sp>
      <p:sp>
        <p:nvSpPr>
          <p:cNvPr id="6511" name="Google Shape;6511;p40"/>
          <p:cNvSpPr/>
          <p:nvPr/>
        </p:nvSpPr>
        <p:spPr>
          <a:xfrm>
            <a:off x="10570464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$58,790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NF Bound Prem</a:t>
            </a:r>
            <a:endParaRPr/>
          </a:p>
        </p:txBody>
      </p:sp>
      <p:sp>
        <p:nvSpPr>
          <p:cNvPr id="6512" name="Google Shape;6512;p40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3" name="Google Shape;6513;p40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PRODUCTION BY MONTH</a:t>
            </a:r>
            <a:endParaRPr/>
          </a:p>
        </p:txBody>
      </p:sp>
      <p:sp>
        <p:nvSpPr>
          <p:cNvPr id="6514" name="Google Shape;6514;p40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6515" name="Google Shape;6515;p4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Written Premium</a:t>
            </a:r>
            <a:endParaRPr/>
          </a:p>
        </p:txBody>
      </p:sp>
      <p:sp>
        <p:nvSpPr>
          <p:cNvPr id="6516" name="Google Shape;6516;p40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6517" name="Google Shape;6517;p40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6518" name="Google Shape;6518;p40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6519" name="Google Shape;6519;p40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6520" name="Google Shape;6520;p40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1" name="Google Shape;6521;p40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6522" name="Google Shape;6522;p40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$-6,917</a:t>
            </a:r>
            <a:endParaRPr/>
          </a:p>
        </p:txBody>
      </p:sp>
      <p:sp>
        <p:nvSpPr>
          <p:cNvPr id="6523" name="Google Shape;6523;p40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524" name="Google Shape;6524;p40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525" name="Google Shape;6525;p4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$-6,917</a:t>
            </a:r>
            <a:endParaRPr/>
          </a:p>
        </p:txBody>
      </p:sp>
      <p:sp>
        <p:nvSpPr>
          <p:cNvPr id="6526" name="Google Shape;6526;p40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527" name="Google Shape;6527;p40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8" name="Google Shape;6528;p40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6529" name="Google Shape;6529;p40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$6,874</a:t>
            </a:r>
            <a:endParaRPr/>
          </a:p>
        </p:txBody>
      </p:sp>
      <p:sp>
        <p:nvSpPr>
          <p:cNvPr id="6530" name="Google Shape;6530;p40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531" name="Google Shape;6531;p40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532" name="Google Shape;6532;p40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$6,874</a:t>
            </a:r>
            <a:endParaRPr/>
          </a:p>
        </p:txBody>
      </p:sp>
      <p:sp>
        <p:nvSpPr>
          <p:cNvPr id="6533" name="Google Shape;6533;p40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534" name="Google Shape;6534;p40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5" name="Google Shape;6535;p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6536" name="Google Shape;6536;p40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$11,828</a:t>
            </a:r>
            <a:endParaRPr/>
          </a:p>
        </p:txBody>
      </p:sp>
      <p:sp>
        <p:nvSpPr>
          <p:cNvPr id="6537" name="Google Shape;6537;p40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538" name="Google Shape;6538;p40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539" name="Google Shape;6539;p40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$11,828</a:t>
            </a:r>
            <a:endParaRPr/>
          </a:p>
        </p:txBody>
      </p:sp>
      <p:sp>
        <p:nvSpPr>
          <p:cNvPr id="6540" name="Google Shape;6540;p40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541" name="Google Shape;6541;p40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2" name="Google Shape;6542;p40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6543" name="Google Shape;6543;p40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$20,989</a:t>
            </a:r>
            <a:endParaRPr/>
          </a:p>
        </p:txBody>
      </p:sp>
      <p:sp>
        <p:nvSpPr>
          <p:cNvPr id="6544" name="Google Shape;6544;p40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545" name="Google Shape;6545;p4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$13,219</a:t>
            </a:r>
            <a:endParaRPr/>
          </a:p>
        </p:txBody>
      </p:sp>
      <p:sp>
        <p:nvSpPr>
          <p:cNvPr id="6546" name="Google Shape;6546;p40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$7,770</a:t>
            </a:r>
            <a:endParaRPr/>
          </a:p>
        </p:txBody>
      </p:sp>
      <p:sp>
        <p:nvSpPr>
          <p:cNvPr id="6547" name="Google Shape;6547;p40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$-6,582</a:t>
            </a:r>
            <a:endParaRPr/>
          </a:p>
        </p:txBody>
      </p:sp>
      <p:sp>
        <p:nvSpPr>
          <p:cNvPr id="6548" name="Google Shape;6548;p40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9" name="Google Shape;6549;p40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6550" name="Google Shape;6550;p40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$64</a:t>
            </a:r>
            <a:endParaRPr/>
          </a:p>
        </p:txBody>
      </p:sp>
      <p:sp>
        <p:nvSpPr>
          <p:cNvPr id="6551" name="Google Shape;6551;p40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552" name="Google Shape;6552;p40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553" name="Google Shape;6553;p40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$64</a:t>
            </a:r>
            <a:endParaRPr/>
          </a:p>
        </p:txBody>
      </p:sp>
      <p:sp>
        <p:nvSpPr>
          <p:cNvPr id="6554" name="Google Shape;6554;p40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555" name="Google Shape;6555;p40"/>
          <p:cNvSpPr/>
          <p:nvPr/>
        </p:nvSpPr>
        <p:spPr>
          <a:xfrm>
            <a:off x="365760" y="4123944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6" name="Google Shape;6556;p40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6557" name="Google Shape;6557;p40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558" name="Google Shape;6558;p40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559" name="Google Shape;6559;p40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560" name="Google Shape;6560;p40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561" name="Google Shape;6561;p40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562" name="Google Shape;6562;p40"/>
          <p:cNvSpPr/>
          <p:nvPr/>
        </p:nvSpPr>
        <p:spPr>
          <a:xfrm>
            <a:off x="365760" y="4425696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3" name="Google Shape;6563;p40"/>
          <p:cNvSpPr txBox="1"/>
          <p:nvPr/>
        </p:nvSpPr>
        <p:spPr>
          <a:xfrm>
            <a:off x="3657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6564" name="Google Shape;6564;p40"/>
          <p:cNvSpPr txBox="1"/>
          <p:nvPr/>
        </p:nvSpPr>
        <p:spPr>
          <a:xfrm>
            <a:off x="1280160" y="446227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$32,839</a:t>
            </a:r>
            <a:endParaRPr/>
          </a:p>
        </p:txBody>
      </p:sp>
      <p:sp>
        <p:nvSpPr>
          <p:cNvPr id="6565" name="Google Shape;6565;p40"/>
          <p:cNvSpPr txBox="1"/>
          <p:nvPr/>
        </p:nvSpPr>
        <p:spPr>
          <a:xfrm>
            <a:off x="2377439" y="446227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566" name="Google Shape;6566;p40"/>
          <p:cNvSpPr txBox="1"/>
          <p:nvPr/>
        </p:nvSpPr>
        <p:spPr>
          <a:xfrm>
            <a:off x="33832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$13,219</a:t>
            </a:r>
            <a:endParaRPr/>
          </a:p>
        </p:txBody>
      </p:sp>
      <p:sp>
        <p:nvSpPr>
          <p:cNvPr id="6567" name="Google Shape;6567;p40"/>
          <p:cNvSpPr txBox="1"/>
          <p:nvPr/>
        </p:nvSpPr>
        <p:spPr>
          <a:xfrm>
            <a:off x="42976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$19,619</a:t>
            </a:r>
            <a:endParaRPr/>
          </a:p>
        </p:txBody>
      </p:sp>
      <p:sp>
        <p:nvSpPr>
          <p:cNvPr id="6568" name="Google Shape;6568;p40"/>
          <p:cNvSpPr txBox="1"/>
          <p:nvPr/>
        </p:nvSpPr>
        <p:spPr>
          <a:xfrm>
            <a:off x="52120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$-6,582</a:t>
            </a:r>
            <a:endParaRPr/>
          </a:p>
        </p:txBody>
      </p:sp>
      <p:sp>
        <p:nvSpPr>
          <p:cNvPr id="6569" name="Google Shape;6569;p40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0" name="Google Shape;6570;p40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 &amp; PIPELINE</a:t>
            </a:r>
            <a:endParaRPr/>
          </a:p>
        </p:txBody>
      </p:sp>
      <p:sp>
        <p:nvSpPr>
          <p:cNvPr id="6571" name="Google Shape;6571;p40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6572" name="Google Shape;6572;p4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Subs</a:t>
            </a:r>
            <a:endParaRPr/>
          </a:p>
        </p:txBody>
      </p:sp>
      <p:sp>
        <p:nvSpPr>
          <p:cNvPr id="6573" name="Google Shape;6573;p40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</a:t>
            </a:r>
            <a:endParaRPr/>
          </a:p>
        </p:txBody>
      </p:sp>
      <p:sp>
        <p:nvSpPr>
          <p:cNvPr id="6574" name="Google Shape;6574;p40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Non-Fleet</a:t>
            </a:r>
            <a:endParaRPr/>
          </a:p>
        </p:txBody>
      </p:sp>
      <p:sp>
        <p:nvSpPr>
          <p:cNvPr id="6575" name="Google Shape;6575;p40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6576" name="Google Shape;6576;p40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6577" name="Google Shape;6577;p40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8" name="Google Shape;6578;p40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6579" name="Google Shape;6579;p40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</a:t>
            </a:r>
            <a:endParaRPr/>
          </a:p>
        </p:txBody>
      </p:sp>
      <p:sp>
        <p:nvSpPr>
          <p:cNvPr id="6580" name="Google Shape;6580;p40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6581" name="Google Shape;6581;p40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</a:t>
            </a:r>
            <a:endParaRPr/>
          </a:p>
        </p:txBody>
      </p:sp>
      <p:sp>
        <p:nvSpPr>
          <p:cNvPr id="6582" name="Google Shape;6582;p4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6583" name="Google Shape;6583;p40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37.5%</a:t>
            </a:r>
            <a:endParaRPr/>
          </a:p>
        </p:txBody>
      </p:sp>
      <p:sp>
        <p:nvSpPr>
          <p:cNvPr id="6584" name="Google Shape;6584;p40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5" name="Google Shape;6585;p40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6586" name="Google Shape;6586;p40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6587" name="Google Shape;6587;p40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6588" name="Google Shape;6588;p40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6589" name="Google Shape;6589;p40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6590" name="Google Shape;6590;p40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20.0%</a:t>
            </a:r>
            <a:endParaRPr/>
          </a:p>
        </p:txBody>
      </p:sp>
      <p:sp>
        <p:nvSpPr>
          <p:cNvPr id="6591" name="Google Shape;6591;p40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2" name="Google Shape;6592;p4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6593" name="Google Shape;6593;p40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6594" name="Google Shape;6594;p40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6595" name="Google Shape;6595;p40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6596" name="Google Shape;6596;p40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6597" name="Google Shape;6597;p40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66.7%</a:t>
            </a:r>
            <a:endParaRPr/>
          </a:p>
        </p:txBody>
      </p:sp>
      <p:sp>
        <p:nvSpPr>
          <p:cNvPr id="6598" name="Google Shape;6598;p40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9" name="Google Shape;6599;p40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6600" name="Google Shape;6600;p40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6601" name="Google Shape;6601;p40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6602" name="Google Shape;6602;p4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6603" name="Google Shape;6603;p40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6604" name="Google Shape;6604;p40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6605" name="Google Shape;6605;p40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6" name="Google Shape;6606;p40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6607" name="Google Shape;6607;p40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/>
          </a:p>
        </p:txBody>
      </p:sp>
      <p:sp>
        <p:nvSpPr>
          <p:cNvPr id="6608" name="Google Shape;6608;p40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6609" name="Google Shape;6609;p40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6610" name="Google Shape;6610;p40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6611" name="Google Shape;6611;p40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33.3%</a:t>
            </a:r>
            <a:endParaRPr/>
          </a:p>
        </p:txBody>
      </p:sp>
      <p:sp>
        <p:nvSpPr>
          <p:cNvPr id="6612" name="Google Shape;6612;p40"/>
          <p:cNvSpPr/>
          <p:nvPr/>
        </p:nvSpPr>
        <p:spPr>
          <a:xfrm>
            <a:off x="6309360" y="4123944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3" name="Google Shape;6613;p40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6614" name="Google Shape;6614;p40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6615" name="Google Shape;6615;p40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6616" name="Google Shape;6616;p40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6617" name="Google Shape;6617;p40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6618" name="Google Shape;6618;p40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6619" name="Google Shape;6619;p40"/>
          <p:cNvSpPr/>
          <p:nvPr/>
        </p:nvSpPr>
        <p:spPr>
          <a:xfrm>
            <a:off x="6309360" y="4425696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0" name="Google Shape;6620;p40"/>
          <p:cNvSpPr txBox="1"/>
          <p:nvPr/>
        </p:nvSpPr>
        <p:spPr>
          <a:xfrm>
            <a:off x="63093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6621" name="Google Shape;6621;p40"/>
          <p:cNvSpPr txBox="1"/>
          <p:nvPr/>
        </p:nvSpPr>
        <p:spPr>
          <a:xfrm>
            <a:off x="722376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</a:t>
            </a:r>
            <a:endParaRPr/>
          </a:p>
        </p:txBody>
      </p:sp>
      <p:sp>
        <p:nvSpPr>
          <p:cNvPr id="6622" name="Google Shape;6622;p40"/>
          <p:cNvSpPr txBox="1"/>
          <p:nvPr/>
        </p:nvSpPr>
        <p:spPr>
          <a:xfrm>
            <a:off x="804672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6623" name="Google Shape;6623;p40"/>
          <p:cNvSpPr txBox="1"/>
          <p:nvPr/>
        </p:nvSpPr>
        <p:spPr>
          <a:xfrm>
            <a:off x="886968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18</a:t>
            </a:r>
            <a:endParaRPr/>
          </a:p>
        </p:txBody>
      </p:sp>
      <p:sp>
        <p:nvSpPr>
          <p:cNvPr id="6624" name="Google Shape;6624;p40"/>
          <p:cNvSpPr txBox="1"/>
          <p:nvPr/>
        </p:nvSpPr>
        <p:spPr>
          <a:xfrm>
            <a:off x="978408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6625" name="Google Shape;6625;p40"/>
          <p:cNvSpPr txBox="1"/>
          <p:nvPr/>
        </p:nvSpPr>
        <p:spPr>
          <a:xfrm>
            <a:off x="1060704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15.0%</a:t>
            </a:r>
            <a:endParaRPr/>
          </a:p>
        </p:txBody>
      </p:sp>
      <p:sp>
        <p:nvSpPr>
          <p:cNvPr id="6626" name="Google Shape;6626;p40"/>
          <p:cNvSpPr/>
          <p:nvPr/>
        </p:nvSpPr>
        <p:spPr>
          <a:xfrm>
            <a:off x="365760" y="4782312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7" name="Google Shape;6627;p40"/>
          <p:cNvSpPr txBox="1"/>
          <p:nvPr/>
        </p:nvSpPr>
        <p:spPr>
          <a:xfrm>
            <a:off x="457200" y="4800599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YOY COMPARISON — Jan–Jun 2025 vs Jan–Jun 2026</a:t>
            </a:r>
            <a:endParaRPr/>
          </a:p>
        </p:txBody>
      </p:sp>
      <p:sp>
        <p:nvSpPr>
          <p:cNvPr id="6628" name="Google Shape;6628;p40"/>
          <p:cNvSpPr txBox="1"/>
          <p:nvPr/>
        </p:nvSpPr>
        <p:spPr>
          <a:xfrm>
            <a:off x="365760" y="5056631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00" u="none" cap="none" strike="noStrike">
              <a:solidFill>
                <a:srgbClr val="6B728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629" name="Google Shape;6629;p40"/>
          <p:cNvSpPr txBox="1"/>
          <p:nvPr/>
        </p:nvSpPr>
        <p:spPr>
          <a:xfrm>
            <a:off x="1463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'25</a:t>
            </a:r>
            <a:endParaRPr/>
          </a:p>
        </p:txBody>
      </p:sp>
      <p:sp>
        <p:nvSpPr>
          <p:cNvPr id="6630" name="Google Shape;6630;p40"/>
          <p:cNvSpPr txBox="1"/>
          <p:nvPr/>
        </p:nvSpPr>
        <p:spPr>
          <a:xfrm>
            <a:off x="2148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'26</a:t>
            </a:r>
            <a:endParaRPr/>
          </a:p>
        </p:txBody>
      </p:sp>
      <p:sp>
        <p:nvSpPr>
          <p:cNvPr id="6631" name="Google Shape;6631;p40"/>
          <p:cNvSpPr txBox="1"/>
          <p:nvPr/>
        </p:nvSpPr>
        <p:spPr>
          <a:xfrm>
            <a:off x="2834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'25</a:t>
            </a:r>
            <a:endParaRPr/>
          </a:p>
        </p:txBody>
      </p:sp>
      <p:sp>
        <p:nvSpPr>
          <p:cNvPr id="6632" name="Google Shape;6632;p40"/>
          <p:cNvSpPr txBox="1"/>
          <p:nvPr/>
        </p:nvSpPr>
        <p:spPr>
          <a:xfrm>
            <a:off x="3520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'26</a:t>
            </a:r>
            <a:endParaRPr/>
          </a:p>
        </p:txBody>
      </p:sp>
      <p:sp>
        <p:nvSpPr>
          <p:cNvPr id="6633" name="Google Shape;6633;p40"/>
          <p:cNvSpPr txBox="1"/>
          <p:nvPr/>
        </p:nvSpPr>
        <p:spPr>
          <a:xfrm>
            <a:off x="4206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'25</a:t>
            </a:r>
            <a:endParaRPr/>
          </a:p>
        </p:txBody>
      </p:sp>
      <p:sp>
        <p:nvSpPr>
          <p:cNvPr id="6634" name="Google Shape;6634;p40"/>
          <p:cNvSpPr txBox="1"/>
          <p:nvPr/>
        </p:nvSpPr>
        <p:spPr>
          <a:xfrm>
            <a:off x="4892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'26</a:t>
            </a:r>
            <a:endParaRPr/>
          </a:p>
        </p:txBody>
      </p:sp>
      <p:sp>
        <p:nvSpPr>
          <p:cNvPr id="6635" name="Google Shape;6635;p40"/>
          <p:cNvSpPr txBox="1"/>
          <p:nvPr/>
        </p:nvSpPr>
        <p:spPr>
          <a:xfrm>
            <a:off x="5577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'25</a:t>
            </a:r>
            <a:endParaRPr/>
          </a:p>
        </p:txBody>
      </p:sp>
      <p:sp>
        <p:nvSpPr>
          <p:cNvPr id="6636" name="Google Shape;6636;p40"/>
          <p:cNvSpPr txBox="1"/>
          <p:nvPr/>
        </p:nvSpPr>
        <p:spPr>
          <a:xfrm>
            <a:off x="6263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'26</a:t>
            </a:r>
            <a:endParaRPr/>
          </a:p>
        </p:txBody>
      </p:sp>
      <p:sp>
        <p:nvSpPr>
          <p:cNvPr id="6637" name="Google Shape;6637;p40"/>
          <p:cNvSpPr txBox="1"/>
          <p:nvPr/>
        </p:nvSpPr>
        <p:spPr>
          <a:xfrm>
            <a:off x="6949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'25</a:t>
            </a:r>
            <a:endParaRPr/>
          </a:p>
        </p:txBody>
      </p:sp>
      <p:sp>
        <p:nvSpPr>
          <p:cNvPr id="6638" name="Google Shape;6638;p40"/>
          <p:cNvSpPr txBox="1"/>
          <p:nvPr/>
        </p:nvSpPr>
        <p:spPr>
          <a:xfrm>
            <a:off x="7635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'26</a:t>
            </a:r>
            <a:endParaRPr/>
          </a:p>
        </p:txBody>
      </p:sp>
      <p:sp>
        <p:nvSpPr>
          <p:cNvPr id="6639" name="Google Shape;6639;p40"/>
          <p:cNvSpPr txBox="1"/>
          <p:nvPr/>
        </p:nvSpPr>
        <p:spPr>
          <a:xfrm>
            <a:off x="8321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'25</a:t>
            </a:r>
            <a:endParaRPr/>
          </a:p>
        </p:txBody>
      </p:sp>
      <p:sp>
        <p:nvSpPr>
          <p:cNvPr id="6640" name="Google Shape;6640;p40"/>
          <p:cNvSpPr txBox="1"/>
          <p:nvPr/>
        </p:nvSpPr>
        <p:spPr>
          <a:xfrm>
            <a:off x="9006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'26</a:t>
            </a:r>
            <a:endParaRPr/>
          </a:p>
        </p:txBody>
      </p:sp>
      <p:sp>
        <p:nvSpPr>
          <p:cNvPr id="6641" name="Google Shape;6641;p40"/>
          <p:cNvSpPr txBox="1"/>
          <p:nvPr/>
        </p:nvSpPr>
        <p:spPr>
          <a:xfrm>
            <a:off x="969264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'25 Tot</a:t>
            </a:r>
            <a:endParaRPr/>
          </a:p>
        </p:txBody>
      </p:sp>
      <p:sp>
        <p:nvSpPr>
          <p:cNvPr id="6642" name="Google Shape;6642;p40"/>
          <p:cNvSpPr txBox="1"/>
          <p:nvPr/>
        </p:nvSpPr>
        <p:spPr>
          <a:xfrm>
            <a:off x="1088136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'26 Tot</a:t>
            </a:r>
            <a:endParaRPr/>
          </a:p>
        </p:txBody>
      </p:sp>
      <p:sp>
        <p:nvSpPr>
          <p:cNvPr id="6643" name="Google Shape;6643;p40"/>
          <p:cNvSpPr txBox="1"/>
          <p:nvPr/>
        </p:nvSpPr>
        <p:spPr>
          <a:xfrm>
            <a:off x="365760" y="523951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6644" name="Google Shape;6644;p40"/>
          <p:cNvSpPr txBox="1"/>
          <p:nvPr/>
        </p:nvSpPr>
        <p:spPr>
          <a:xfrm>
            <a:off x="1463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/>
          </a:p>
        </p:txBody>
      </p:sp>
      <p:sp>
        <p:nvSpPr>
          <p:cNvPr id="6645" name="Google Shape;6645;p40"/>
          <p:cNvSpPr txBox="1"/>
          <p:nvPr/>
        </p:nvSpPr>
        <p:spPr>
          <a:xfrm>
            <a:off x="2148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</a:t>
            </a:r>
            <a:endParaRPr/>
          </a:p>
        </p:txBody>
      </p:sp>
      <p:sp>
        <p:nvSpPr>
          <p:cNvPr id="6646" name="Google Shape;6646;p40"/>
          <p:cNvSpPr txBox="1"/>
          <p:nvPr/>
        </p:nvSpPr>
        <p:spPr>
          <a:xfrm>
            <a:off x="2834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6647" name="Google Shape;6647;p40"/>
          <p:cNvSpPr txBox="1"/>
          <p:nvPr/>
        </p:nvSpPr>
        <p:spPr>
          <a:xfrm>
            <a:off x="3520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6648" name="Google Shape;6648;p40"/>
          <p:cNvSpPr txBox="1"/>
          <p:nvPr/>
        </p:nvSpPr>
        <p:spPr>
          <a:xfrm>
            <a:off x="4206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/>
          </a:p>
        </p:txBody>
      </p:sp>
      <p:sp>
        <p:nvSpPr>
          <p:cNvPr id="6649" name="Google Shape;6649;p40"/>
          <p:cNvSpPr txBox="1"/>
          <p:nvPr/>
        </p:nvSpPr>
        <p:spPr>
          <a:xfrm>
            <a:off x="4892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6650" name="Google Shape;6650;p40"/>
          <p:cNvSpPr txBox="1"/>
          <p:nvPr/>
        </p:nvSpPr>
        <p:spPr>
          <a:xfrm>
            <a:off x="5577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</a:t>
            </a:r>
            <a:endParaRPr/>
          </a:p>
        </p:txBody>
      </p:sp>
      <p:sp>
        <p:nvSpPr>
          <p:cNvPr id="6651" name="Google Shape;6651;p40"/>
          <p:cNvSpPr txBox="1"/>
          <p:nvPr/>
        </p:nvSpPr>
        <p:spPr>
          <a:xfrm>
            <a:off x="6263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6652" name="Google Shape;6652;p40"/>
          <p:cNvSpPr txBox="1"/>
          <p:nvPr/>
        </p:nvSpPr>
        <p:spPr>
          <a:xfrm>
            <a:off x="6949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/>
          </a:p>
        </p:txBody>
      </p:sp>
      <p:sp>
        <p:nvSpPr>
          <p:cNvPr id="6653" name="Google Shape;6653;p40"/>
          <p:cNvSpPr txBox="1"/>
          <p:nvPr/>
        </p:nvSpPr>
        <p:spPr>
          <a:xfrm>
            <a:off x="7635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/>
          </a:p>
        </p:txBody>
      </p:sp>
      <p:sp>
        <p:nvSpPr>
          <p:cNvPr id="6654" name="Google Shape;6654;p40"/>
          <p:cNvSpPr txBox="1"/>
          <p:nvPr/>
        </p:nvSpPr>
        <p:spPr>
          <a:xfrm>
            <a:off x="8321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</a:t>
            </a:r>
            <a:endParaRPr/>
          </a:p>
        </p:txBody>
      </p:sp>
      <p:sp>
        <p:nvSpPr>
          <p:cNvPr id="6655" name="Google Shape;6655;p40"/>
          <p:cNvSpPr txBox="1"/>
          <p:nvPr/>
        </p:nvSpPr>
        <p:spPr>
          <a:xfrm>
            <a:off x="9006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6656" name="Google Shape;6656;p40"/>
          <p:cNvSpPr txBox="1"/>
          <p:nvPr/>
        </p:nvSpPr>
        <p:spPr>
          <a:xfrm>
            <a:off x="969264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48</a:t>
            </a:r>
            <a:endParaRPr/>
          </a:p>
        </p:txBody>
      </p:sp>
      <p:sp>
        <p:nvSpPr>
          <p:cNvPr id="6657" name="Google Shape;6657;p40"/>
          <p:cNvSpPr txBox="1"/>
          <p:nvPr/>
        </p:nvSpPr>
        <p:spPr>
          <a:xfrm>
            <a:off x="1088136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27</a:t>
            </a:r>
            <a:endParaRPr/>
          </a:p>
        </p:txBody>
      </p:sp>
      <p:sp>
        <p:nvSpPr>
          <p:cNvPr id="6658" name="Google Shape;6658;p40"/>
          <p:cNvSpPr txBox="1"/>
          <p:nvPr/>
        </p:nvSpPr>
        <p:spPr>
          <a:xfrm>
            <a:off x="365760" y="542239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Bound Premium</a:t>
            </a:r>
            <a:endParaRPr/>
          </a:p>
        </p:txBody>
      </p:sp>
      <p:sp>
        <p:nvSpPr>
          <p:cNvPr id="6659" name="Google Shape;6659;p40"/>
          <p:cNvSpPr txBox="1"/>
          <p:nvPr/>
        </p:nvSpPr>
        <p:spPr>
          <a:xfrm>
            <a:off x="1463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$21K</a:t>
            </a:r>
            <a:endParaRPr/>
          </a:p>
        </p:txBody>
      </p:sp>
      <p:sp>
        <p:nvSpPr>
          <p:cNvPr id="6660" name="Google Shape;6660;p40"/>
          <p:cNvSpPr txBox="1"/>
          <p:nvPr/>
        </p:nvSpPr>
        <p:spPr>
          <a:xfrm>
            <a:off x="2148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$-6,917</a:t>
            </a:r>
            <a:endParaRPr/>
          </a:p>
        </p:txBody>
      </p:sp>
      <p:sp>
        <p:nvSpPr>
          <p:cNvPr id="6661" name="Google Shape;6661;p40"/>
          <p:cNvSpPr txBox="1"/>
          <p:nvPr/>
        </p:nvSpPr>
        <p:spPr>
          <a:xfrm>
            <a:off x="2834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662" name="Google Shape;6662;p40"/>
          <p:cNvSpPr txBox="1"/>
          <p:nvPr/>
        </p:nvSpPr>
        <p:spPr>
          <a:xfrm>
            <a:off x="3520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$7K</a:t>
            </a:r>
            <a:endParaRPr/>
          </a:p>
        </p:txBody>
      </p:sp>
      <p:sp>
        <p:nvSpPr>
          <p:cNvPr id="6663" name="Google Shape;6663;p40"/>
          <p:cNvSpPr txBox="1"/>
          <p:nvPr/>
        </p:nvSpPr>
        <p:spPr>
          <a:xfrm>
            <a:off x="4206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$39K</a:t>
            </a:r>
            <a:endParaRPr/>
          </a:p>
        </p:txBody>
      </p:sp>
      <p:sp>
        <p:nvSpPr>
          <p:cNvPr id="6664" name="Google Shape;6664;p40"/>
          <p:cNvSpPr txBox="1"/>
          <p:nvPr/>
        </p:nvSpPr>
        <p:spPr>
          <a:xfrm>
            <a:off x="4892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$12K</a:t>
            </a:r>
            <a:endParaRPr/>
          </a:p>
        </p:txBody>
      </p:sp>
      <p:sp>
        <p:nvSpPr>
          <p:cNvPr id="6665" name="Google Shape;6665;p40"/>
          <p:cNvSpPr txBox="1"/>
          <p:nvPr/>
        </p:nvSpPr>
        <p:spPr>
          <a:xfrm>
            <a:off x="5577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$47K</a:t>
            </a:r>
            <a:endParaRPr/>
          </a:p>
        </p:txBody>
      </p:sp>
      <p:sp>
        <p:nvSpPr>
          <p:cNvPr id="6666" name="Google Shape;6666;p40"/>
          <p:cNvSpPr txBox="1"/>
          <p:nvPr/>
        </p:nvSpPr>
        <p:spPr>
          <a:xfrm>
            <a:off x="6263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$21K</a:t>
            </a:r>
            <a:endParaRPr/>
          </a:p>
        </p:txBody>
      </p:sp>
      <p:sp>
        <p:nvSpPr>
          <p:cNvPr id="6667" name="Google Shape;6667;p40"/>
          <p:cNvSpPr txBox="1"/>
          <p:nvPr/>
        </p:nvSpPr>
        <p:spPr>
          <a:xfrm>
            <a:off x="6949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$13K</a:t>
            </a:r>
            <a:endParaRPr/>
          </a:p>
        </p:txBody>
      </p:sp>
      <p:sp>
        <p:nvSpPr>
          <p:cNvPr id="6668" name="Google Shape;6668;p40"/>
          <p:cNvSpPr txBox="1"/>
          <p:nvPr/>
        </p:nvSpPr>
        <p:spPr>
          <a:xfrm>
            <a:off x="7635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$64</a:t>
            </a:r>
            <a:endParaRPr/>
          </a:p>
        </p:txBody>
      </p:sp>
      <p:sp>
        <p:nvSpPr>
          <p:cNvPr id="6669" name="Google Shape;6669;p40"/>
          <p:cNvSpPr txBox="1"/>
          <p:nvPr/>
        </p:nvSpPr>
        <p:spPr>
          <a:xfrm>
            <a:off x="8321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$157K</a:t>
            </a:r>
            <a:endParaRPr/>
          </a:p>
        </p:txBody>
      </p:sp>
      <p:sp>
        <p:nvSpPr>
          <p:cNvPr id="6670" name="Google Shape;6670;p40"/>
          <p:cNvSpPr txBox="1"/>
          <p:nvPr/>
        </p:nvSpPr>
        <p:spPr>
          <a:xfrm>
            <a:off x="9006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671" name="Google Shape;6671;p40"/>
          <p:cNvSpPr txBox="1"/>
          <p:nvPr/>
        </p:nvSpPr>
        <p:spPr>
          <a:xfrm>
            <a:off x="969264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$278K</a:t>
            </a:r>
            <a:endParaRPr/>
          </a:p>
        </p:txBody>
      </p:sp>
      <p:sp>
        <p:nvSpPr>
          <p:cNvPr id="6672" name="Google Shape;6672;p40"/>
          <p:cNvSpPr txBox="1"/>
          <p:nvPr/>
        </p:nvSpPr>
        <p:spPr>
          <a:xfrm>
            <a:off x="1088136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$33K</a:t>
            </a:r>
            <a:endParaRPr/>
          </a:p>
        </p:txBody>
      </p:sp>
      <p:sp>
        <p:nvSpPr>
          <p:cNvPr id="6673" name="Google Shape;6673;p40"/>
          <p:cNvSpPr/>
          <p:nvPr/>
        </p:nvSpPr>
        <p:spPr>
          <a:xfrm>
            <a:off x="365760" y="5678423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4" name="Google Shape;6674;p40"/>
          <p:cNvSpPr txBox="1"/>
          <p:nvPr/>
        </p:nvSpPr>
        <p:spPr>
          <a:xfrm>
            <a:off x="4572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65F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STRENGTHS - What's Working</a:t>
            </a:r>
            <a:endParaRPr/>
          </a:p>
        </p:txBody>
      </p:sp>
      <p:sp>
        <p:nvSpPr>
          <p:cNvPr id="6675" name="Google Shape;6675;p40"/>
          <p:cNvSpPr txBox="1"/>
          <p:nvPr/>
        </p:nvSpPr>
        <p:spPr>
          <a:xfrm>
            <a:off x="4572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6676" name="Google Shape;6676;p40"/>
          <p:cNvSpPr txBox="1"/>
          <p:nvPr/>
        </p:nvSpPr>
        <p:spPr>
          <a:xfrm>
            <a:off x="685800" y="5952743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$32,839 YTD gross written premium</a:t>
            </a:r>
            <a:endParaRPr/>
          </a:p>
        </p:txBody>
      </p:sp>
      <p:sp>
        <p:nvSpPr>
          <p:cNvPr id="6677" name="Google Shape;6677;p40"/>
          <p:cNvSpPr txBox="1"/>
          <p:nvPr/>
        </p:nvSpPr>
        <p:spPr>
          <a:xfrm>
            <a:off x="457200" y="6153911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6678" name="Google Shape;6678;p40"/>
          <p:cNvSpPr txBox="1"/>
          <p:nvPr/>
        </p:nvSpPr>
        <p:spPr>
          <a:xfrm>
            <a:off x="685800" y="6153911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$13,219 in renewals - strong retention</a:t>
            </a:r>
            <a:endParaRPr/>
          </a:p>
        </p:txBody>
      </p:sp>
      <p:sp>
        <p:nvSpPr>
          <p:cNvPr id="6679" name="Google Shape;6679;p40"/>
          <p:cNvSpPr/>
          <p:nvPr/>
        </p:nvSpPr>
        <p:spPr>
          <a:xfrm>
            <a:off x="6309360" y="5678423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0" name="Google Shape;6680;p40"/>
          <p:cNvSpPr txBox="1"/>
          <p:nvPr/>
        </p:nvSpPr>
        <p:spPr>
          <a:xfrm>
            <a:off x="64008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NEEDS ATTENTION</a:t>
            </a:r>
            <a:endParaRPr/>
          </a:p>
        </p:txBody>
      </p:sp>
      <p:sp>
        <p:nvSpPr>
          <p:cNvPr id="6681" name="Google Shape;6681;p40"/>
          <p:cNvSpPr txBox="1"/>
          <p:nvPr/>
        </p:nvSpPr>
        <p:spPr>
          <a:xfrm>
            <a:off x="64008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6682" name="Google Shape;6682;p40"/>
          <p:cNvSpPr txBox="1"/>
          <p:nvPr/>
        </p:nvSpPr>
        <p:spPr>
          <a:xfrm>
            <a:off x="6629400" y="5952743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Written premium dropped 100% month-over-month</a:t>
            </a:r>
            <a:endParaRPr/>
          </a:p>
        </p:txBody>
      </p:sp>
      <p:sp>
        <p:nvSpPr>
          <p:cNvPr id="6683" name="Google Shape;6683;p40"/>
          <p:cNvSpPr txBox="1"/>
          <p:nvPr/>
        </p:nvSpPr>
        <p:spPr>
          <a:xfrm>
            <a:off x="6400800" y="6153911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6684" name="Google Shape;6684;p40"/>
          <p:cNvSpPr txBox="1"/>
          <p:nvPr/>
        </p:nvSpPr>
        <p:spPr>
          <a:xfrm>
            <a:off x="6629400" y="6153911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new business - all premium from renewals/endorsements only</a:t>
            </a:r>
            <a:endParaRPr/>
          </a:p>
        </p:txBody>
      </p:sp>
      <p:sp>
        <p:nvSpPr>
          <p:cNvPr id="6685" name="Google Shape;6685;p40"/>
          <p:cNvSpPr/>
          <p:nvPr/>
        </p:nvSpPr>
        <p:spPr>
          <a:xfrm>
            <a:off x="365760" y="6455663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6" name="Google Shape;6686;p40"/>
          <p:cNvSpPr txBox="1"/>
          <p:nvPr/>
        </p:nvSpPr>
        <p:spPr>
          <a:xfrm>
            <a:off x="457200" y="6464807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STRATEGIC SALES TIPS - Conversation Starters</a:t>
            </a:r>
            <a:endParaRPr/>
          </a:p>
        </p:txBody>
      </p:sp>
      <p:sp>
        <p:nvSpPr>
          <p:cNvPr id="6687" name="Google Shape;6687;p40"/>
          <p:cNvSpPr txBox="1"/>
          <p:nvPr/>
        </p:nvSpPr>
        <p:spPr>
          <a:xfrm>
            <a:off x="457200" y="6711695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endParaRPr/>
          </a:p>
        </p:txBody>
      </p:sp>
      <p:sp>
        <p:nvSpPr>
          <p:cNvPr id="6688" name="Google Shape;6688;p40"/>
          <p:cNvSpPr txBox="1"/>
          <p:nvPr/>
        </p:nvSpPr>
        <p:spPr>
          <a:xfrm>
            <a:off x="777240" y="6711695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Volume dropped significantly last month. Lead with curiosity, not concern: "I noticed things slowed down - anything going on I can help with?" Identify if it's seasonal, competitive, or operational.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92" name="Shape 6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3" name="Google Shape;6693;p4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4" name="Google Shape;6694;p41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Independence Insurance Agency LLC</a:t>
            </a:r>
            <a:endParaRPr/>
          </a:p>
        </p:txBody>
      </p:sp>
      <p:sp>
        <p:nvSpPr>
          <p:cNvPr id="6695" name="Google Shape;6695;p41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4B5F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Tier: Tier 2  |  Region: Southeast  |  State: FL  |  City: Pembroke Pines</a:t>
            </a:r>
            <a:endParaRPr/>
          </a:p>
        </p:txBody>
      </p:sp>
      <p:sp>
        <p:nvSpPr>
          <p:cNvPr id="6696" name="Google Shape;6696;p41"/>
          <p:cNvSpPr/>
          <p:nvPr/>
        </p:nvSpPr>
        <p:spPr>
          <a:xfrm>
            <a:off x="22860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$27,051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YTD GWP</a:t>
            </a:r>
            <a:endParaRPr/>
          </a:p>
        </p:txBody>
      </p:sp>
      <p:sp>
        <p:nvSpPr>
          <p:cNvPr id="6697" name="Google Shape;6697;p41"/>
          <p:cNvSpPr/>
          <p:nvPr/>
        </p:nvSpPr>
        <p:spPr>
          <a:xfrm>
            <a:off x="256032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$18,668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6698" name="Google Shape;6698;p41"/>
          <p:cNvSpPr/>
          <p:nvPr/>
        </p:nvSpPr>
        <p:spPr>
          <a:xfrm>
            <a:off x="489204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6699" name="Google Shape;6699;p41"/>
          <p:cNvSpPr/>
          <p:nvPr/>
        </p:nvSpPr>
        <p:spPr>
          <a:xfrm>
            <a:off x="7223759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$8,383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6700" name="Google Shape;6700;p41"/>
          <p:cNvSpPr/>
          <p:nvPr/>
        </p:nvSpPr>
        <p:spPr>
          <a:xfrm>
            <a:off x="955548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$-10,915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6701" name="Google Shape;6701;p41"/>
          <p:cNvSpPr/>
          <p:nvPr/>
        </p:nvSpPr>
        <p:spPr>
          <a:xfrm>
            <a:off x="137160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$343,582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2025 Full Year GWP</a:t>
            </a:r>
            <a:endParaRPr/>
          </a:p>
        </p:txBody>
      </p:sp>
      <p:sp>
        <p:nvSpPr>
          <p:cNvPr id="6702" name="Google Shape;6702;p41"/>
          <p:cNvSpPr/>
          <p:nvPr/>
        </p:nvSpPr>
        <p:spPr>
          <a:xfrm>
            <a:off x="1627631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$145,835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Rolling 12M GWP</a:t>
            </a:r>
            <a:endParaRPr/>
          </a:p>
        </p:txBody>
      </p:sp>
      <p:sp>
        <p:nvSpPr>
          <p:cNvPr id="6703" name="Google Shape;6703;p41"/>
          <p:cNvSpPr/>
          <p:nvPr/>
        </p:nvSpPr>
        <p:spPr>
          <a:xfrm>
            <a:off x="3118103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% to Goal</a:t>
            </a:r>
            <a:endParaRPr/>
          </a:p>
        </p:txBody>
      </p:sp>
      <p:sp>
        <p:nvSpPr>
          <p:cNvPr id="6704" name="Google Shape;6704;p41"/>
          <p:cNvSpPr/>
          <p:nvPr/>
        </p:nvSpPr>
        <p:spPr>
          <a:xfrm>
            <a:off x="4608576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6705" name="Google Shape;6705;p41"/>
          <p:cNvSpPr/>
          <p:nvPr/>
        </p:nvSpPr>
        <p:spPr>
          <a:xfrm>
            <a:off x="6099048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6706" name="Google Shape;6706;p41"/>
          <p:cNvSpPr/>
          <p:nvPr/>
        </p:nvSpPr>
        <p:spPr>
          <a:xfrm>
            <a:off x="7589519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3.1%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6707" name="Google Shape;6707;p41"/>
          <p:cNvSpPr/>
          <p:nvPr/>
        </p:nvSpPr>
        <p:spPr>
          <a:xfrm>
            <a:off x="9079992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 Bound Prem</a:t>
            </a:r>
            <a:endParaRPr/>
          </a:p>
        </p:txBody>
      </p:sp>
      <p:sp>
        <p:nvSpPr>
          <p:cNvPr id="6708" name="Google Shape;6708;p41"/>
          <p:cNvSpPr/>
          <p:nvPr/>
        </p:nvSpPr>
        <p:spPr>
          <a:xfrm>
            <a:off x="10570464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$35,084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NF Bound Prem</a:t>
            </a:r>
            <a:endParaRPr/>
          </a:p>
        </p:txBody>
      </p:sp>
      <p:sp>
        <p:nvSpPr>
          <p:cNvPr id="6709" name="Google Shape;6709;p41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0" name="Google Shape;6710;p41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PRODUCTION BY MONTH</a:t>
            </a:r>
            <a:endParaRPr/>
          </a:p>
        </p:txBody>
      </p:sp>
      <p:sp>
        <p:nvSpPr>
          <p:cNvPr id="6711" name="Google Shape;6711;p41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6712" name="Google Shape;6712;p41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Written Premium</a:t>
            </a:r>
            <a:endParaRPr/>
          </a:p>
        </p:txBody>
      </p:sp>
      <p:sp>
        <p:nvSpPr>
          <p:cNvPr id="6713" name="Google Shape;6713;p4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6714" name="Google Shape;6714;p41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6715" name="Google Shape;6715;p41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6716" name="Google Shape;6716;p41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6717" name="Google Shape;6717;p41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8" name="Google Shape;6718;p41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6719" name="Google Shape;6719;p41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720" name="Google Shape;6720;p41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721" name="Google Shape;6721;p41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722" name="Google Shape;6722;p41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723" name="Google Shape;6723;p4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724" name="Google Shape;6724;p41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5" name="Google Shape;6725;p41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6726" name="Google Shape;6726;p41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$116</a:t>
            </a:r>
            <a:endParaRPr/>
          </a:p>
        </p:txBody>
      </p:sp>
      <p:sp>
        <p:nvSpPr>
          <p:cNvPr id="6727" name="Google Shape;6727;p41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728" name="Google Shape;6728;p41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729" name="Google Shape;6729;p41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$116</a:t>
            </a:r>
            <a:endParaRPr/>
          </a:p>
        </p:txBody>
      </p:sp>
      <p:sp>
        <p:nvSpPr>
          <p:cNvPr id="6730" name="Google Shape;6730;p41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$-173</a:t>
            </a:r>
            <a:endParaRPr/>
          </a:p>
        </p:txBody>
      </p:sp>
      <p:sp>
        <p:nvSpPr>
          <p:cNvPr id="6731" name="Google Shape;6731;p41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2" name="Google Shape;6732;p41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6733" name="Google Shape;6733;p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$27,199</a:t>
            </a:r>
            <a:endParaRPr/>
          </a:p>
        </p:txBody>
      </p:sp>
      <p:sp>
        <p:nvSpPr>
          <p:cNvPr id="6734" name="Google Shape;6734;p41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$18,668</a:t>
            </a:r>
            <a:endParaRPr/>
          </a:p>
        </p:txBody>
      </p:sp>
      <p:sp>
        <p:nvSpPr>
          <p:cNvPr id="6735" name="Google Shape;6735;p41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736" name="Google Shape;6736;p41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$8,531</a:t>
            </a:r>
            <a:endParaRPr/>
          </a:p>
        </p:txBody>
      </p:sp>
      <p:sp>
        <p:nvSpPr>
          <p:cNvPr id="6737" name="Google Shape;6737;p41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$-10,742</a:t>
            </a:r>
            <a:endParaRPr/>
          </a:p>
        </p:txBody>
      </p:sp>
      <p:sp>
        <p:nvSpPr>
          <p:cNvPr id="6738" name="Google Shape;6738;p41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9" name="Google Shape;6739;p41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6740" name="Google Shape;6740;p41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741" name="Google Shape;6741;p41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742" name="Google Shape;6742;p41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743" name="Google Shape;6743;p4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744" name="Google Shape;6744;p41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745" name="Google Shape;6745;p41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6" name="Google Shape;6746;p41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6747" name="Google Shape;6747;p41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$-264</a:t>
            </a:r>
            <a:endParaRPr/>
          </a:p>
        </p:txBody>
      </p:sp>
      <p:sp>
        <p:nvSpPr>
          <p:cNvPr id="6748" name="Google Shape;6748;p41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749" name="Google Shape;6749;p41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750" name="Google Shape;6750;p41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$-264</a:t>
            </a:r>
            <a:endParaRPr/>
          </a:p>
        </p:txBody>
      </p:sp>
      <p:sp>
        <p:nvSpPr>
          <p:cNvPr id="6751" name="Google Shape;6751;p41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752" name="Google Shape;6752;p41"/>
          <p:cNvSpPr/>
          <p:nvPr/>
        </p:nvSpPr>
        <p:spPr>
          <a:xfrm>
            <a:off x="365760" y="4123944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3" name="Google Shape;6753;p4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6754" name="Google Shape;6754;p41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755" name="Google Shape;6755;p41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756" name="Google Shape;6756;p41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757" name="Google Shape;6757;p41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758" name="Google Shape;6758;p41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759" name="Google Shape;6759;p41"/>
          <p:cNvSpPr/>
          <p:nvPr/>
        </p:nvSpPr>
        <p:spPr>
          <a:xfrm>
            <a:off x="365760" y="4425696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0" name="Google Shape;6760;p41"/>
          <p:cNvSpPr txBox="1"/>
          <p:nvPr/>
        </p:nvSpPr>
        <p:spPr>
          <a:xfrm>
            <a:off x="3657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6761" name="Google Shape;6761;p41"/>
          <p:cNvSpPr txBox="1"/>
          <p:nvPr/>
        </p:nvSpPr>
        <p:spPr>
          <a:xfrm>
            <a:off x="1280160" y="446227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$27,051</a:t>
            </a:r>
            <a:endParaRPr/>
          </a:p>
        </p:txBody>
      </p:sp>
      <p:sp>
        <p:nvSpPr>
          <p:cNvPr id="6762" name="Google Shape;6762;p41"/>
          <p:cNvSpPr txBox="1"/>
          <p:nvPr/>
        </p:nvSpPr>
        <p:spPr>
          <a:xfrm>
            <a:off x="2377439" y="446227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$18,668</a:t>
            </a:r>
            <a:endParaRPr/>
          </a:p>
        </p:txBody>
      </p:sp>
      <p:sp>
        <p:nvSpPr>
          <p:cNvPr id="6763" name="Google Shape;6763;p41"/>
          <p:cNvSpPr txBox="1"/>
          <p:nvPr/>
        </p:nvSpPr>
        <p:spPr>
          <a:xfrm>
            <a:off x="33832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764" name="Google Shape;6764;p41"/>
          <p:cNvSpPr txBox="1"/>
          <p:nvPr/>
        </p:nvSpPr>
        <p:spPr>
          <a:xfrm>
            <a:off x="42976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$8,383</a:t>
            </a:r>
            <a:endParaRPr/>
          </a:p>
        </p:txBody>
      </p:sp>
      <p:sp>
        <p:nvSpPr>
          <p:cNvPr id="6765" name="Google Shape;6765;p41"/>
          <p:cNvSpPr txBox="1"/>
          <p:nvPr/>
        </p:nvSpPr>
        <p:spPr>
          <a:xfrm>
            <a:off x="52120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$-10,915</a:t>
            </a:r>
            <a:endParaRPr/>
          </a:p>
        </p:txBody>
      </p:sp>
      <p:sp>
        <p:nvSpPr>
          <p:cNvPr id="6766" name="Google Shape;6766;p41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7" name="Google Shape;6767;p41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 &amp; PIPELINE</a:t>
            </a:r>
            <a:endParaRPr/>
          </a:p>
        </p:txBody>
      </p:sp>
      <p:sp>
        <p:nvSpPr>
          <p:cNvPr id="6768" name="Google Shape;6768;p41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6769" name="Google Shape;6769;p41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Subs</a:t>
            </a:r>
            <a:endParaRPr/>
          </a:p>
        </p:txBody>
      </p:sp>
      <p:sp>
        <p:nvSpPr>
          <p:cNvPr id="6770" name="Google Shape;6770;p4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</a:t>
            </a:r>
            <a:endParaRPr/>
          </a:p>
        </p:txBody>
      </p:sp>
      <p:sp>
        <p:nvSpPr>
          <p:cNvPr id="6771" name="Google Shape;6771;p41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Non-Fleet</a:t>
            </a:r>
            <a:endParaRPr/>
          </a:p>
        </p:txBody>
      </p:sp>
      <p:sp>
        <p:nvSpPr>
          <p:cNvPr id="6772" name="Google Shape;6772;p41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6773" name="Google Shape;6773;p41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6774" name="Google Shape;6774;p41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5" name="Google Shape;6775;p41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6776" name="Google Shape;6776;p41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</a:t>
            </a:r>
            <a:endParaRPr/>
          </a:p>
        </p:txBody>
      </p:sp>
      <p:sp>
        <p:nvSpPr>
          <p:cNvPr id="6777" name="Google Shape;6777;p41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6778" name="Google Shape;6778;p41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</a:t>
            </a:r>
            <a:endParaRPr/>
          </a:p>
        </p:txBody>
      </p:sp>
      <p:sp>
        <p:nvSpPr>
          <p:cNvPr id="6779" name="Google Shape;6779;p41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6780" name="Google Shape;6780;p4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6781" name="Google Shape;6781;p41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2" name="Google Shape;6782;p41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6783" name="Google Shape;6783;p41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</a:t>
            </a:r>
            <a:endParaRPr/>
          </a:p>
        </p:txBody>
      </p:sp>
      <p:sp>
        <p:nvSpPr>
          <p:cNvPr id="6784" name="Google Shape;6784;p41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6785" name="Google Shape;6785;p41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</a:t>
            </a:r>
            <a:endParaRPr/>
          </a:p>
        </p:txBody>
      </p:sp>
      <p:sp>
        <p:nvSpPr>
          <p:cNvPr id="6786" name="Google Shape;6786;p41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6787" name="Google Shape;6787;p41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7.7%</a:t>
            </a:r>
            <a:endParaRPr/>
          </a:p>
        </p:txBody>
      </p:sp>
      <p:sp>
        <p:nvSpPr>
          <p:cNvPr id="6788" name="Google Shape;6788;p41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9" name="Google Shape;6789;p41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6790" name="Google Shape;6790;p4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</a:t>
            </a:r>
            <a:endParaRPr/>
          </a:p>
        </p:txBody>
      </p:sp>
      <p:sp>
        <p:nvSpPr>
          <p:cNvPr id="6791" name="Google Shape;6791;p41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6792" name="Google Shape;6792;p41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18</a:t>
            </a:r>
            <a:endParaRPr/>
          </a:p>
        </p:txBody>
      </p:sp>
      <p:sp>
        <p:nvSpPr>
          <p:cNvPr id="6793" name="Google Shape;6793;p41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6794" name="Google Shape;6794;p41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10.5%</a:t>
            </a:r>
            <a:endParaRPr/>
          </a:p>
        </p:txBody>
      </p:sp>
      <p:sp>
        <p:nvSpPr>
          <p:cNvPr id="6795" name="Google Shape;6795;p41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6" name="Google Shape;6796;p41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6797" name="Google Shape;6797;p41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/>
          </a:p>
        </p:txBody>
      </p:sp>
      <p:sp>
        <p:nvSpPr>
          <p:cNvPr id="6798" name="Google Shape;6798;p41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6799" name="Google Shape;6799;p41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</a:t>
            </a:r>
            <a:endParaRPr/>
          </a:p>
        </p:txBody>
      </p:sp>
      <p:sp>
        <p:nvSpPr>
          <p:cNvPr id="6800" name="Google Shape;6800;p4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6801" name="Google Shape;6801;p41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6802" name="Google Shape;6802;p41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3" name="Google Shape;6803;p41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6804" name="Google Shape;6804;p41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</a:t>
            </a:r>
            <a:endParaRPr/>
          </a:p>
        </p:txBody>
      </p:sp>
      <p:sp>
        <p:nvSpPr>
          <p:cNvPr id="6805" name="Google Shape;6805;p41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6806" name="Google Shape;6806;p41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</a:t>
            </a:r>
            <a:endParaRPr/>
          </a:p>
        </p:txBody>
      </p:sp>
      <p:sp>
        <p:nvSpPr>
          <p:cNvPr id="6807" name="Google Shape;6807;p41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6808" name="Google Shape;6808;p41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6809" name="Google Shape;6809;p41"/>
          <p:cNvSpPr/>
          <p:nvPr/>
        </p:nvSpPr>
        <p:spPr>
          <a:xfrm>
            <a:off x="6309360" y="4123944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0" name="Google Shape;6810;p4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6811" name="Google Shape;6811;p41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6812" name="Google Shape;6812;p41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6813" name="Google Shape;6813;p41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6814" name="Google Shape;6814;p41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6815" name="Google Shape;6815;p41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6816" name="Google Shape;6816;p41"/>
          <p:cNvSpPr/>
          <p:nvPr/>
        </p:nvSpPr>
        <p:spPr>
          <a:xfrm>
            <a:off x="6309360" y="4425696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7" name="Google Shape;6817;p41"/>
          <p:cNvSpPr txBox="1"/>
          <p:nvPr/>
        </p:nvSpPr>
        <p:spPr>
          <a:xfrm>
            <a:off x="63093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6818" name="Google Shape;6818;p41"/>
          <p:cNvSpPr txBox="1"/>
          <p:nvPr/>
        </p:nvSpPr>
        <p:spPr>
          <a:xfrm>
            <a:off x="722376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65</a:t>
            </a:r>
            <a:endParaRPr/>
          </a:p>
        </p:txBody>
      </p:sp>
      <p:sp>
        <p:nvSpPr>
          <p:cNvPr id="6819" name="Google Shape;6819;p41"/>
          <p:cNvSpPr txBox="1"/>
          <p:nvPr/>
        </p:nvSpPr>
        <p:spPr>
          <a:xfrm>
            <a:off x="804672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6820" name="Google Shape;6820;p41"/>
          <p:cNvSpPr txBox="1"/>
          <p:nvPr/>
        </p:nvSpPr>
        <p:spPr>
          <a:xfrm>
            <a:off x="886968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60</a:t>
            </a:r>
            <a:endParaRPr/>
          </a:p>
        </p:txBody>
      </p:sp>
      <p:sp>
        <p:nvSpPr>
          <p:cNvPr id="6821" name="Google Shape;6821;p41"/>
          <p:cNvSpPr txBox="1"/>
          <p:nvPr/>
        </p:nvSpPr>
        <p:spPr>
          <a:xfrm>
            <a:off x="978408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6822" name="Google Shape;6822;p41"/>
          <p:cNvSpPr txBox="1"/>
          <p:nvPr/>
        </p:nvSpPr>
        <p:spPr>
          <a:xfrm>
            <a:off x="1060704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3.1%</a:t>
            </a:r>
            <a:endParaRPr/>
          </a:p>
        </p:txBody>
      </p:sp>
      <p:sp>
        <p:nvSpPr>
          <p:cNvPr id="6823" name="Google Shape;6823;p41"/>
          <p:cNvSpPr/>
          <p:nvPr/>
        </p:nvSpPr>
        <p:spPr>
          <a:xfrm>
            <a:off x="365760" y="4782312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4" name="Google Shape;6824;p41"/>
          <p:cNvSpPr txBox="1"/>
          <p:nvPr/>
        </p:nvSpPr>
        <p:spPr>
          <a:xfrm>
            <a:off x="457200" y="4800599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YOY COMPARISON — Jan–Jun 2025 vs Jan–Jun 2026</a:t>
            </a:r>
            <a:endParaRPr/>
          </a:p>
        </p:txBody>
      </p:sp>
      <p:sp>
        <p:nvSpPr>
          <p:cNvPr id="6825" name="Google Shape;6825;p41"/>
          <p:cNvSpPr txBox="1"/>
          <p:nvPr/>
        </p:nvSpPr>
        <p:spPr>
          <a:xfrm>
            <a:off x="365760" y="5056631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00" u="none" cap="none" strike="noStrike">
              <a:solidFill>
                <a:srgbClr val="6B728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826" name="Google Shape;6826;p41"/>
          <p:cNvSpPr txBox="1"/>
          <p:nvPr/>
        </p:nvSpPr>
        <p:spPr>
          <a:xfrm>
            <a:off x="1463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'25</a:t>
            </a:r>
            <a:endParaRPr/>
          </a:p>
        </p:txBody>
      </p:sp>
      <p:sp>
        <p:nvSpPr>
          <p:cNvPr id="6827" name="Google Shape;6827;p41"/>
          <p:cNvSpPr txBox="1"/>
          <p:nvPr/>
        </p:nvSpPr>
        <p:spPr>
          <a:xfrm>
            <a:off x="2148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'26</a:t>
            </a:r>
            <a:endParaRPr/>
          </a:p>
        </p:txBody>
      </p:sp>
      <p:sp>
        <p:nvSpPr>
          <p:cNvPr id="6828" name="Google Shape;6828;p41"/>
          <p:cNvSpPr txBox="1"/>
          <p:nvPr/>
        </p:nvSpPr>
        <p:spPr>
          <a:xfrm>
            <a:off x="2834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'25</a:t>
            </a:r>
            <a:endParaRPr/>
          </a:p>
        </p:txBody>
      </p:sp>
      <p:sp>
        <p:nvSpPr>
          <p:cNvPr id="6829" name="Google Shape;6829;p41"/>
          <p:cNvSpPr txBox="1"/>
          <p:nvPr/>
        </p:nvSpPr>
        <p:spPr>
          <a:xfrm>
            <a:off x="3520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'26</a:t>
            </a:r>
            <a:endParaRPr/>
          </a:p>
        </p:txBody>
      </p:sp>
      <p:sp>
        <p:nvSpPr>
          <p:cNvPr id="6830" name="Google Shape;6830;p41"/>
          <p:cNvSpPr txBox="1"/>
          <p:nvPr/>
        </p:nvSpPr>
        <p:spPr>
          <a:xfrm>
            <a:off x="4206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'25</a:t>
            </a:r>
            <a:endParaRPr/>
          </a:p>
        </p:txBody>
      </p:sp>
      <p:sp>
        <p:nvSpPr>
          <p:cNvPr id="6831" name="Google Shape;6831;p41"/>
          <p:cNvSpPr txBox="1"/>
          <p:nvPr/>
        </p:nvSpPr>
        <p:spPr>
          <a:xfrm>
            <a:off x="4892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'26</a:t>
            </a:r>
            <a:endParaRPr/>
          </a:p>
        </p:txBody>
      </p:sp>
      <p:sp>
        <p:nvSpPr>
          <p:cNvPr id="6832" name="Google Shape;6832;p41"/>
          <p:cNvSpPr txBox="1"/>
          <p:nvPr/>
        </p:nvSpPr>
        <p:spPr>
          <a:xfrm>
            <a:off x="5577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'25</a:t>
            </a:r>
            <a:endParaRPr/>
          </a:p>
        </p:txBody>
      </p:sp>
      <p:sp>
        <p:nvSpPr>
          <p:cNvPr id="6833" name="Google Shape;6833;p41"/>
          <p:cNvSpPr txBox="1"/>
          <p:nvPr/>
        </p:nvSpPr>
        <p:spPr>
          <a:xfrm>
            <a:off x="6263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'26</a:t>
            </a:r>
            <a:endParaRPr/>
          </a:p>
        </p:txBody>
      </p:sp>
      <p:sp>
        <p:nvSpPr>
          <p:cNvPr id="6834" name="Google Shape;6834;p41"/>
          <p:cNvSpPr txBox="1"/>
          <p:nvPr/>
        </p:nvSpPr>
        <p:spPr>
          <a:xfrm>
            <a:off x="6949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'25</a:t>
            </a:r>
            <a:endParaRPr/>
          </a:p>
        </p:txBody>
      </p:sp>
      <p:sp>
        <p:nvSpPr>
          <p:cNvPr id="6835" name="Google Shape;6835;p41"/>
          <p:cNvSpPr txBox="1"/>
          <p:nvPr/>
        </p:nvSpPr>
        <p:spPr>
          <a:xfrm>
            <a:off x="7635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'26</a:t>
            </a:r>
            <a:endParaRPr/>
          </a:p>
        </p:txBody>
      </p:sp>
      <p:sp>
        <p:nvSpPr>
          <p:cNvPr id="6836" name="Google Shape;6836;p41"/>
          <p:cNvSpPr txBox="1"/>
          <p:nvPr/>
        </p:nvSpPr>
        <p:spPr>
          <a:xfrm>
            <a:off x="8321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'25</a:t>
            </a:r>
            <a:endParaRPr/>
          </a:p>
        </p:txBody>
      </p:sp>
      <p:sp>
        <p:nvSpPr>
          <p:cNvPr id="6837" name="Google Shape;6837;p41"/>
          <p:cNvSpPr txBox="1"/>
          <p:nvPr/>
        </p:nvSpPr>
        <p:spPr>
          <a:xfrm>
            <a:off x="9006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'26</a:t>
            </a:r>
            <a:endParaRPr/>
          </a:p>
        </p:txBody>
      </p:sp>
      <p:sp>
        <p:nvSpPr>
          <p:cNvPr id="6838" name="Google Shape;6838;p41"/>
          <p:cNvSpPr txBox="1"/>
          <p:nvPr/>
        </p:nvSpPr>
        <p:spPr>
          <a:xfrm>
            <a:off x="969264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'25 Tot</a:t>
            </a:r>
            <a:endParaRPr/>
          </a:p>
        </p:txBody>
      </p:sp>
      <p:sp>
        <p:nvSpPr>
          <p:cNvPr id="6839" name="Google Shape;6839;p41"/>
          <p:cNvSpPr txBox="1"/>
          <p:nvPr/>
        </p:nvSpPr>
        <p:spPr>
          <a:xfrm>
            <a:off x="1088136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'26 Tot</a:t>
            </a:r>
            <a:endParaRPr/>
          </a:p>
        </p:txBody>
      </p:sp>
      <p:sp>
        <p:nvSpPr>
          <p:cNvPr id="6840" name="Google Shape;6840;p41"/>
          <p:cNvSpPr txBox="1"/>
          <p:nvPr/>
        </p:nvSpPr>
        <p:spPr>
          <a:xfrm>
            <a:off x="365760" y="523951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6841" name="Google Shape;6841;p41"/>
          <p:cNvSpPr txBox="1"/>
          <p:nvPr/>
        </p:nvSpPr>
        <p:spPr>
          <a:xfrm>
            <a:off x="1463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40</a:t>
            </a:r>
            <a:endParaRPr/>
          </a:p>
        </p:txBody>
      </p:sp>
      <p:sp>
        <p:nvSpPr>
          <p:cNvPr id="6842" name="Google Shape;6842;p41"/>
          <p:cNvSpPr txBox="1"/>
          <p:nvPr/>
        </p:nvSpPr>
        <p:spPr>
          <a:xfrm>
            <a:off x="2148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</a:t>
            </a:r>
            <a:endParaRPr/>
          </a:p>
        </p:txBody>
      </p:sp>
      <p:sp>
        <p:nvSpPr>
          <p:cNvPr id="6843" name="Google Shape;6843;p41"/>
          <p:cNvSpPr txBox="1"/>
          <p:nvPr/>
        </p:nvSpPr>
        <p:spPr>
          <a:xfrm>
            <a:off x="2834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46</a:t>
            </a:r>
            <a:endParaRPr/>
          </a:p>
        </p:txBody>
      </p:sp>
      <p:sp>
        <p:nvSpPr>
          <p:cNvPr id="6844" name="Google Shape;6844;p41"/>
          <p:cNvSpPr txBox="1"/>
          <p:nvPr/>
        </p:nvSpPr>
        <p:spPr>
          <a:xfrm>
            <a:off x="3520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</a:t>
            </a:r>
            <a:endParaRPr/>
          </a:p>
        </p:txBody>
      </p:sp>
      <p:sp>
        <p:nvSpPr>
          <p:cNvPr id="6845" name="Google Shape;6845;p41"/>
          <p:cNvSpPr txBox="1"/>
          <p:nvPr/>
        </p:nvSpPr>
        <p:spPr>
          <a:xfrm>
            <a:off x="4206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33</a:t>
            </a:r>
            <a:endParaRPr/>
          </a:p>
        </p:txBody>
      </p:sp>
      <p:sp>
        <p:nvSpPr>
          <p:cNvPr id="6846" name="Google Shape;6846;p41"/>
          <p:cNvSpPr txBox="1"/>
          <p:nvPr/>
        </p:nvSpPr>
        <p:spPr>
          <a:xfrm>
            <a:off x="4892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</a:t>
            </a:r>
            <a:endParaRPr/>
          </a:p>
        </p:txBody>
      </p:sp>
      <p:sp>
        <p:nvSpPr>
          <p:cNvPr id="6847" name="Google Shape;6847;p41"/>
          <p:cNvSpPr txBox="1"/>
          <p:nvPr/>
        </p:nvSpPr>
        <p:spPr>
          <a:xfrm>
            <a:off x="5577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38</a:t>
            </a:r>
            <a:endParaRPr/>
          </a:p>
        </p:txBody>
      </p:sp>
      <p:sp>
        <p:nvSpPr>
          <p:cNvPr id="6848" name="Google Shape;6848;p41"/>
          <p:cNvSpPr txBox="1"/>
          <p:nvPr/>
        </p:nvSpPr>
        <p:spPr>
          <a:xfrm>
            <a:off x="6263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/>
          </a:p>
        </p:txBody>
      </p:sp>
      <p:sp>
        <p:nvSpPr>
          <p:cNvPr id="6849" name="Google Shape;6849;p41"/>
          <p:cNvSpPr txBox="1"/>
          <p:nvPr/>
        </p:nvSpPr>
        <p:spPr>
          <a:xfrm>
            <a:off x="6949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27</a:t>
            </a:r>
            <a:endParaRPr/>
          </a:p>
        </p:txBody>
      </p:sp>
      <p:sp>
        <p:nvSpPr>
          <p:cNvPr id="6850" name="Google Shape;6850;p41"/>
          <p:cNvSpPr txBox="1"/>
          <p:nvPr/>
        </p:nvSpPr>
        <p:spPr>
          <a:xfrm>
            <a:off x="7635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</a:t>
            </a:r>
            <a:endParaRPr/>
          </a:p>
        </p:txBody>
      </p:sp>
      <p:sp>
        <p:nvSpPr>
          <p:cNvPr id="6851" name="Google Shape;6851;p41"/>
          <p:cNvSpPr txBox="1"/>
          <p:nvPr/>
        </p:nvSpPr>
        <p:spPr>
          <a:xfrm>
            <a:off x="8321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49</a:t>
            </a:r>
            <a:endParaRPr/>
          </a:p>
        </p:txBody>
      </p:sp>
      <p:sp>
        <p:nvSpPr>
          <p:cNvPr id="6852" name="Google Shape;6852;p41"/>
          <p:cNvSpPr txBox="1"/>
          <p:nvPr/>
        </p:nvSpPr>
        <p:spPr>
          <a:xfrm>
            <a:off x="9006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6853" name="Google Shape;6853;p41"/>
          <p:cNvSpPr txBox="1"/>
          <p:nvPr/>
        </p:nvSpPr>
        <p:spPr>
          <a:xfrm>
            <a:off x="969264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233</a:t>
            </a:r>
            <a:endParaRPr/>
          </a:p>
        </p:txBody>
      </p:sp>
      <p:sp>
        <p:nvSpPr>
          <p:cNvPr id="6854" name="Google Shape;6854;p41"/>
          <p:cNvSpPr txBox="1"/>
          <p:nvPr/>
        </p:nvSpPr>
        <p:spPr>
          <a:xfrm>
            <a:off x="1088136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71</a:t>
            </a:r>
            <a:endParaRPr/>
          </a:p>
        </p:txBody>
      </p:sp>
      <p:sp>
        <p:nvSpPr>
          <p:cNvPr id="6855" name="Google Shape;6855;p41"/>
          <p:cNvSpPr txBox="1"/>
          <p:nvPr/>
        </p:nvSpPr>
        <p:spPr>
          <a:xfrm>
            <a:off x="365760" y="542239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Bound Premium</a:t>
            </a:r>
            <a:endParaRPr/>
          </a:p>
        </p:txBody>
      </p:sp>
      <p:sp>
        <p:nvSpPr>
          <p:cNvPr id="6856" name="Google Shape;6856;p41"/>
          <p:cNvSpPr txBox="1"/>
          <p:nvPr/>
        </p:nvSpPr>
        <p:spPr>
          <a:xfrm>
            <a:off x="1463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$43K</a:t>
            </a:r>
            <a:endParaRPr/>
          </a:p>
        </p:txBody>
      </p:sp>
      <p:sp>
        <p:nvSpPr>
          <p:cNvPr id="6857" name="Google Shape;6857;p41"/>
          <p:cNvSpPr txBox="1"/>
          <p:nvPr/>
        </p:nvSpPr>
        <p:spPr>
          <a:xfrm>
            <a:off x="2148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858" name="Google Shape;6858;p41"/>
          <p:cNvSpPr txBox="1"/>
          <p:nvPr/>
        </p:nvSpPr>
        <p:spPr>
          <a:xfrm>
            <a:off x="2834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$32K</a:t>
            </a:r>
            <a:endParaRPr/>
          </a:p>
        </p:txBody>
      </p:sp>
      <p:sp>
        <p:nvSpPr>
          <p:cNvPr id="6859" name="Google Shape;6859;p41"/>
          <p:cNvSpPr txBox="1"/>
          <p:nvPr/>
        </p:nvSpPr>
        <p:spPr>
          <a:xfrm>
            <a:off x="3520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$116</a:t>
            </a:r>
            <a:endParaRPr/>
          </a:p>
        </p:txBody>
      </p:sp>
      <p:sp>
        <p:nvSpPr>
          <p:cNvPr id="6860" name="Google Shape;6860;p41"/>
          <p:cNvSpPr txBox="1"/>
          <p:nvPr/>
        </p:nvSpPr>
        <p:spPr>
          <a:xfrm>
            <a:off x="4206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$23K</a:t>
            </a:r>
            <a:endParaRPr/>
          </a:p>
        </p:txBody>
      </p:sp>
      <p:sp>
        <p:nvSpPr>
          <p:cNvPr id="6861" name="Google Shape;6861;p41"/>
          <p:cNvSpPr txBox="1"/>
          <p:nvPr/>
        </p:nvSpPr>
        <p:spPr>
          <a:xfrm>
            <a:off x="4892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$27K</a:t>
            </a:r>
            <a:endParaRPr/>
          </a:p>
        </p:txBody>
      </p:sp>
      <p:sp>
        <p:nvSpPr>
          <p:cNvPr id="6862" name="Google Shape;6862;p41"/>
          <p:cNvSpPr txBox="1"/>
          <p:nvPr/>
        </p:nvSpPr>
        <p:spPr>
          <a:xfrm>
            <a:off x="5577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$26K</a:t>
            </a:r>
            <a:endParaRPr/>
          </a:p>
        </p:txBody>
      </p:sp>
      <p:sp>
        <p:nvSpPr>
          <p:cNvPr id="6863" name="Google Shape;6863;p41"/>
          <p:cNvSpPr txBox="1"/>
          <p:nvPr/>
        </p:nvSpPr>
        <p:spPr>
          <a:xfrm>
            <a:off x="6263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864" name="Google Shape;6864;p41"/>
          <p:cNvSpPr txBox="1"/>
          <p:nvPr/>
        </p:nvSpPr>
        <p:spPr>
          <a:xfrm>
            <a:off x="6949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$29K</a:t>
            </a:r>
            <a:endParaRPr/>
          </a:p>
        </p:txBody>
      </p:sp>
      <p:sp>
        <p:nvSpPr>
          <p:cNvPr id="6865" name="Google Shape;6865;p41"/>
          <p:cNvSpPr txBox="1"/>
          <p:nvPr/>
        </p:nvSpPr>
        <p:spPr>
          <a:xfrm>
            <a:off x="7635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$-264</a:t>
            </a:r>
            <a:endParaRPr/>
          </a:p>
        </p:txBody>
      </p:sp>
      <p:sp>
        <p:nvSpPr>
          <p:cNvPr id="6866" name="Google Shape;6866;p41"/>
          <p:cNvSpPr txBox="1"/>
          <p:nvPr/>
        </p:nvSpPr>
        <p:spPr>
          <a:xfrm>
            <a:off x="8321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$72K</a:t>
            </a:r>
            <a:endParaRPr/>
          </a:p>
        </p:txBody>
      </p:sp>
      <p:sp>
        <p:nvSpPr>
          <p:cNvPr id="6867" name="Google Shape;6867;p41"/>
          <p:cNvSpPr txBox="1"/>
          <p:nvPr/>
        </p:nvSpPr>
        <p:spPr>
          <a:xfrm>
            <a:off x="9006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868" name="Google Shape;6868;p41"/>
          <p:cNvSpPr txBox="1"/>
          <p:nvPr/>
        </p:nvSpPr>
        <p:spPr>
          <a:xfrm>
            <a:off x="969264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$225K</a:t>
            </a:r>
            <a:endParaRPr/>
          </a:p>
        </p:txBody>
      </p:sp>
      <p:sp>
        <p:nvSpPr>
          <p:cNvPr id="6869" name="Google Shape;6869;p41"/>
          <p:cNvSpPr txBox="1"/>
          <p:nvPr/>
        </p:nvSpPr>
        <p:spPr>
          <a:xfrm>
            <a:off x="1088136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$27K</a:t>
            </a:r>
            <a:endParaRPr/>
          </a:p>
        </p:txBody>
      </p:sp>
      <p:sp>
        <p:nvSpPr>
          <p:cNvPr id="6870" name="Google Shape;6870;p41"/>
          <p:cNvSpPr/>
          <p:nvPr/>
        </p:nvSpPr>
        <p:spPr>
          <a:xfrm>
            <a:off x="365760" y="5678423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1" name="Google Shape;6871;p41"/>
          <p:cNvSpPr txBox="1"/>
          <p:nvPr/>
        </p:nvSpPr>
        <p:spPr>
          <a:xfrm>
            <a:off x="4572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65F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STRENGTHS - What's Working</a:t>
            </a:r>
            <a:endParaRPr/>
          </a:p>
        </p:txBody>
      </p:sp>
      <p:sp>
        <p:nvSpPr>
          <p:cNvPr id="6872" name="Google Shape;6872;p41"/>
          <p:cNvSpPr txBox="1"/>
          <p:nvPr/>
        </p:nvSpPr>
        <p:spPr>
          <a:xfrm>
            <a:off x="4572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6873" name="Google Shape;6873;p41"/>
          <p:cNvSpPr txBox="1"/>
          <p:nvPr/>
        </p:nvSpPr>
        <p:spPr>
          <a:xfrm>
            <a:off x="685800" y="5952743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$27,051 YTD gross written premium</a:t>
            </a:r>
            <a:endParaRPr/>
          </a:p>
        </p:txBody>
      </p:sp>
      <p:sp>
        <p:nvSpPr>
          <p:cNvPr id="6874" name="Google Shape;6874;p41"/>
          <p:cNvSpPr txBox="1"/>
          <p:nvPr/>
        </p:nvSpPr>
        <p:spPr>
          <a:xfrm>
            <a:off x="457200" y="6153911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6875" name="Google Shape;6875;p41"/>
          <p:cNvSpPr txBox="1"/>
          <p:nvPr/>
        </p:nvSpPr>
        <p:spPr>
          <a:xfrm>
            <a:off x="685800" y="6153911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$18,668 in new business production</a:t>
            </a:r>
            <a:endParaRPr/>
          </a:p>
        </p:txBody>
      </p:sp>
      <p:sp>
        <p:nvSpPr>
          <p:cNvPr id="6876" name="Google Shape;6876;p41"/>
          <p:cNvSpPr/>
          <p:nvPr/>
        </p:nvSpPr>
        <p:spPr>
          <a:xfrm>
            <a:off x="6309360" y="5678423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7" name="Google Shape;6877;p41"/>
          <p:cNvSpPr txBox="1"/>
          <p:nvPr/>
        </p:nvSpPr>
        <p:spPr>
          <a:xfrm>
            <a:off x="64008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NEEDS ATTENTION</a:t>
            </a:r>
            <a:endParaRPr/>
          </a:p>
        </p:txBody>
      </p:sp>
      <p:sp>
        <p:nvSpPr>
          <p:cNvPr id="6878" name="Google Shape;6878;p41"/>
          <p:cNvSpPr txBox="1"/>
          <p:nvPr/>
        </p:nvSpPr>
        <p:spPr>
          <a:xfrm>
            <a:off x="64008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6879" name="Google Shape;6879;p41"/>
          <p:cNvSpPr txBox="1"/>
          <p:nvPr/>
        </p:nvSpPr>
        <p:spPr>
          <a:xfrm>
            <a:off x="6629400" y="5952743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 at 58% of new business ($10,915)</a:t>
            </a:r>
            <a:endParaRPr/>
          </a:p>
        </p:txBody>
      </p:sp>
      <p:sp>
        <p:nvSpPr>
          <p:cNvPr id="6880" name="Google Shape;6880;p41"/>
          <p:cNvSpPr txBox="1"/>
          <p:nvPr/>
        </p:nvSpPr>
        <p:spPr>
          <a:xfrm>
            <a:off x="6400800" y="6153911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6881" name="Google Shape;6881;p41"/>
          <p:cNvSpPr txBox="1"/>
          <p:nvPr/>
        </p:nvSpPr>
        <p:spPr>
          <a:xfrm>
            <a:off x="6629400" y="6153911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Written premium dropped 101% month-over-month</a:t>
            </a:r>
            <a:endParaRPr/>
          </a:p>
        </p:txBody>
      </p:sp>
      <p:sp>
        <p:nvSpPr>
          <p:cNvPr id="6882" name="Google Shape;6882;p41"/>
          <p:cNvSpPr/>
          <p:nvPr/>
        </p:nvSpPr>
        <p:spPr>
          <a:xfrm>
            <a:off x="365760" y="6455663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3" name="Google Shape;6883;p41"/>
          <p:cNvSpPr txBox="1"/>
          <p:nvPr/>
        </p:nvSpPr>
        <p:spPr>
          <a:xfrm>
            <a:off x="457200" y="6464807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STRATEGIC SALES TIPS - Conversation Starters</a:t>
            </a:r>
            <a:endParaRPr/>
          </a:p>
        </p:txBody>
      </p:sp>
      <p:sp>
        <p:nvSpPr>
          <p:cNvPr id="6884" name="Google Shape;6884;p41"/>
          <p:cNvSpPr txBox="1"/>
          <p:nvPr/>
        </p:nvSpPr>
        <p:spPr>
          <a:xfrm>
            <a:off x="457200" y="6711695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endParaRPr/>
          </a:p>
        </p:txBody>
      </p:sp>
      <p:sp>
        <p:nvSpPr>
          <p:cNvPr id="6885" name="Google Shape;6885;p41"/>
          <p:cNvSpPr txBox="1"/>
          <p:nvPr/>
        </p:nvSpPr>
        <p:spPr>
          <a:xfrm>
            <a:off x="777240" y="6711695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Celebrate the $18,668 in new business. Ask what made those deals work and how you can help replicate that success with similar accounts in their pipeline.</a:t>
            </a:r>
            <a:endParaRPr/>
          </a:p>
        </p:txBody>
      </p:sp>
      <p:sp>
        <p:nvSpPr>
          <p:cNvPr id="6886" name="Google Shape;6886;p41"/>
          <p:cNvSpPr txBox="1"/>
          <p:nvPr/>
        </p:nvSpPr>
        <p:spPr>
          <a:xfrm>
            <a:off x="457200" y="6949439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endParaRPr/>
          </a:p>
        </p:txBody>
      </p:sp>
      <p:sp>
        <p:nvSpPr>
          <p:cNvPr id="6887" name="Google Shape;6887;p41"/>
          <p:cNvSpPr txBox="1"/>
          <p:nvPr/>
        </p:nvSpPr>
        <p:spPr>
          <a:xfrm>
            <a:off x="777240" y="6949439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Address the $10,915 in cancellations. Ask: "Are we losing these to price, service, or coverage?" Proactive retention discussions can protect the book and strengthen the relationship.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91" name="Shape 6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2" name="Google Shape;6892;p4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3" name="Google Shape;6893;p4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PMHLP LLC DBA Coverboxx</a:t>
            </a:r>
            <a:endParaRPr/>
          </a:p>
        </p:txBody>
      </p:sp>
      <p:sp>
        <p:nvSpPr>
          <p:cNvPr id="6894" name="Google Shape;6894;p42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4B5F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Tier: Tier 2  |  Region: Southeast  |  State: NC  |  City: Albemarle</a:t>
            </a:r>
            <a:endParaRPr/>
          </a:p>
        </p:txBody>
      </p:sp>
      <p:sp>
        <p:nvSpPr>
          <p:cNvPr id="6895" name="Google Shape;6895;p42"/>
          <p:cNvSpPr/>
          <p:nvPr/>
        </p:nvSpPr>
        <p:spPr>
          <a:xfrm>
            <a:off x="22860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$22,281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YTD GWP</a:t>
            </a:r>
            <a:endParaRPr/>
          </a:p>
        </p:txBody>
      </p:sp>
      <p:sp>
        <p:nvSpPr>
          <p:cNvPr id="6896" name="Google Shape;6896;p42"/>
          <p:cNvSpPr/>
          <p:nvPr/>
        </p:nvSpPr>
        <p:spPr>
          <a:xfrm>
            <a:off x="256032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$15,018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6897" name="Google Shape;6897;p42"/>
          <p:cNvSpPr/>
          <p:nvPr/>
        </p:nvSpPr>
        <p:spPr>
          <a:xfrm>
            <a:off x="489204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6898" name="Google Shape;6898;p42"/>
          <p:cNvSpPr/>
          <p:nvPr/>
        </p:nvSpPr>
        <p:spPr>
          <a:xfrm>
            <a:off x="7223759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$7,263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6899" name="Google Shape;6899;p42"/>
          <p:cNvSpPr/>
          <p:nvPr/>
        </p:nvSpPr>
        <p:spPr>
          <a:xfrm>
            <a:off x="955548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$-4,264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6900" name="Google Shape;6900;p42"/>
          <p:cNvSpPr/>
          <p:nvPr/>
        </p:nvSpPr>
        <p:spPr>
          <a:xfrm>
            <a:off x="137160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$237,347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2025 Full Year GWP</a:t>
            </a:r>
            <a:endParaRPr/>
          </a:p>
        </p:txBody>
      </p:sp>
      <p:sp>
        <p:nvSpPr>
          <p:cNvPr id="6901" name="Google Shape;6901;p42"/>
          <p:cNvSpPr/>
          <p:nvPr/>
        </p:nvSpPr>
        <p:spPr>
          <a:xfrm>
            <a:off x="1627631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$200,445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Rolling 12M GWP</a:t>
            </a:r>
            <a:endParaRPr/>
          </a:p>
        </p:txBody>
      </p:sp>
      <p:sp>
        <p:nvSpPr>
          <p:cNvPr id="6902" name="Google Shape;6902;p42"/>
          <p:cNvSpPr/>
          <p:nvPr/>
        </p:nvSpPr>
        <p:spPr>
          <a:xfrm>
            <a:off x="3118103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% to Goal</a:t>
            </a:r>
            <a:endParaRPr/>
          </a:p>
        </p:txBody>
      </p:sp>
      <p:sp>
        <p:nvSpPr>
          <p:cNvPr id="6903" name="Google Shape;6903;p42"/>
          <p:cNvSpPr/>
          <p:nvPr/>
        </p:nvSpPr>
        <p:spPr>
          <a:xfrm>
            <a:off x="4608576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6904" name="Google Shape;6904;p42"/>
          <p:cNvSpPr/>
          <p:nvPr/>
        </p:nvSpPr>
        <p:spPr>
          <a:xfrm>
            <a:off x="6099048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6905" name="Google Shape;6905;p42"/>
          <p:cNvSpPr/>
          <p:nvPr/>
        </p:nvSpPr>
        <p:spPr>
          <a:xfrm>
            <a:off x="7589519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2.4%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6906" name="Google Shape;6906;p42"/>
          <p:cNvSpPr/>
          <p:nvPr/>
        </p:nvSpPr>
        <p:spPr>
          <a:xfrm>
            <a:off x="9079992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$110,028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 Bound Prem</a:t>
            </a:r>
            <a:endParaRPr/>
          </a:p>
        </p:txBody>
      </p:sp>
      <p:sp>
        <p:nvSpPr>
          <p:cNvPr id="6907" name="Google Shape;6907;p42"/>
          <p:cNvSpPr/>
          <p:nvPr/>
        </p:nvSpPr>
        <p:spPr>
          <a:xfrm>
            <a:off x="10570464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$14,718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NF Bound Prem</a:t>
            </a:r>
            <a:endParaRPr/>
          </a:p>
        </p:txBody>
      </p:sp>
      <p:sp>
        <p:nvSpPr>
          <p:cNvPr id="6908" name="Google Shape;6908;p42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9" name="Google Shape;6909;p42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PRODUCTION BY MONTH</a:t>
            </a:r>
            <a:endParaRPr/>
          </a:p>
        </p:txBody>
      </p:sp>
      <p:sp>
        <p:nvSpPr>
          <p:cNvPr id="6910" name="Google Shape;6910;p42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6911" name="Google Shape;6911;p42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Written Premium</a:t>
            </a:r>
            <a:endParaRPr/>
          </a:p>
        </p:txBody>
      </p:sp>
      <p:sp>
        <p:nvSpPr>
          <p:cNvPr id="6912" name="Google Shape;6912;p42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6913" name="Google Shape;6913;p4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6914" name="Google Shape;6914;p42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6915" name="Google Shape;6915;p42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6916" name="Google Shape;6916;p42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7" name="Google Shape;6917;p42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6918" name="Google Shape;6918;p42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$-6,935</a:t>
            </a:r>
            <a:endParaRPr/>
          </a:p>
        </p:txBody>
      </p:sp>
      <p:sp>
        <p:nvSpPr>
          <p:cNvPr id="6919" name="Google Shape;6919;p42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920" name="Google Shape;6920;p42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921" name="Google Shape;6921;p42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$-6,935</a:t>
            </a:r>
            <a:endParaRPr/>
          </a:p>
        </p:txBody>
      </p:sp>
      <p:sp>
        <p:nvSpPr>
          <p:cNvPr id="6922" name="Google Shape;6922;p42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923" name="Google Shape;6923;p4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4" name="Google Shape;6924;p42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6925" name="Google Shape;6925;p42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926" name="Google Shape;6926;p42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927" name="Google Shape;6927;p42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928" name="Google Shape;6928;p42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929" name="Google Shape;6929;p42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930" name="Google Shape;6930;p42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1" name="Google Shape;6931;p42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6932" name="Google Shape;6932;p42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$4,402</a:t>
            </a:r>
            <a:endParaRPr/>
          </a:p>
        </p:txBody>
      </p:sp>
      <p:sp>
        <p:nvSpPr>
          <p:cNvPr id="6933" name="Google Shape;6933;p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934" name="Google Shape;6934;p42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935" name="Google Shape;6935;p42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$4,402</a:t>
            </a:r>
            <a:endParaRPr/>
          </a:p>
        </p:txBody>
      </p:sp>
      <p:sp>
        <p:nvSpPr>
          <p:cNvPr id="6936" name="Google Shape;6936;p42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937" name="Google Shape;6937;p42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8" name="Google Shape;6938;p42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6939" name="Google Shape;6939;p42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$21,904</a:t>
            </a:r>
            <a:endParaRPr/>
          </a:p>
        </p:txBody>
      </p:sp>
      <p:sp>
        <p:nvSpPr>
          <p:cNvPr id="6940" name="Google Shape;6940;p42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$15,018</a:t>
            </a:r>
            <a:endParaRPr/>
          </a:p>
        </p:txBody>
      </p:sp>
      <p:sp>
        <p:nvSpPr>
          <p:cNvPr id="6941" name="Google Shape;6941;p42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942" name="Google Shape;6942;p42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$6,886</a:t>
            </a:r>
            <a:endParaRPr/>
          </a:p>
        </p:txBody>
      </p:sp>
      <p:sp>
        <p:nvSpPr>
          <p:cNvPr id="6943" name="Google Shape;6943;p4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944" name="Google Shape;6944;p42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5" name="Google Shape;6945;p42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6946" name="Google Shape;6946;p42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$2,909</a:t>
            </a:r>
            <a:endParaRPr/>
          </a:p>
        </p:txBody>
      </p:sp>
      <p:sp>
        <p:nvSpPr>
          <p:cNvPr id="6947" name="Google Shape;6947;p42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948" name="Google Shape;6948;p42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949" name="Google Shape;6949;p42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$2,909</a:t>
            </a:r>
            <a:endParaRPr/>
          </a:p>
        </p:txBody>
      </p:sp>
      <p:sp>
        <p:nvSpPr>
          <p:cNvPr id="6950" name="Google Shape;6950;p42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$-4,264</a:t>
            </a:r>
            <a:endParaRPr/>
          </a:p>
        </p:txBody>
      </p:sp>
      <p:sp>
        <p:nvSpPr>
          <p:cNvPr id="6951" name="Google Shape;6951;p42"/>
          <p:cNvSpPr/>
          <p:nvPr/>
        </p:nvSpPr>
        <p:spPr>
          <a:xfrm>
            <a:off x="365760" y="4123944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2" name="Google Shape;6952;p42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6953" name="Google Shape;6953;p4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954" name="Google Shape;6954;p42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955" name="Google Shape;6955;p42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956" name="Google Shape;6956;p42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957" name="Google Shape;6957;p42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958" name="Google Shape;6958;p42"/>
          <p:cNvSpPr/>
          <p:nvPr/>
        </p:nvSpPr>
        <p:spPr>
          <a:xfrm>
            <a:off x="365760" y="4425696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9" name="Google Shape;6959;p42"/>
          <p:cNvSpPr txBox="1"/>
          <p:nvPr/>
        </p:nvSpPr>
        <p:spPr>
          <a:xfrm>
            <a:off x="3657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6960" name="Google Shape;6960;p42"/>
          <p:cNvSpPr txBox="1"/>
          <p:nvPr/>
        </p:nvSpPr>
        <p:spPr>
          <a:xfrm>
            <a:off x="1280160" y="446227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$22,281</a:t>
            </a:r>
            <a:endParaRPr/>
          </a:p>
        </p:txBody>
      </p:sp>
      <p:sp>
        <p:nvSpPr>
          <p:cNvPr id="6961" name="Google Shape;6961;p42"/>
          <p:cNvSpPr txBox="1"/>
          <p:nvPr/>
        </p:nvSpPr>
        <p:spPr>
          <a:xfrm>
            <a:off x="2377439" y="446227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$15,018</a:t>
            </a:r>
            <a:endParaRPr/>
          </a:p>
        </p:txBody>
      </p:sp>
      <p:sp>
        <p:nvSpPr>
          <p:cNvPr id="6962" name="Google Shape;6962;p42"/>
          <p:cNvSpPr txBox="1"/>
          <p:nvPr/>
        </p:nvSpPr>
        <p:spPr>
          <a:xfrm>
            <a:off x="33832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6963" name="Google Shape;6963;p42"/>
          <p:cNvSpPr txBox="1"/>
          <p:nvPr/>
        </p:nvSpPr>
        <p:spPr>
          <a:xfrm>
            <a:off x="42976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$7,263</a:t>
            </a:r>
            <a:endParaRPr/>
          </a:p>
        </p:txBody>
      </p:sp>
      <p:sp>
        <p:nvSpPr>
          <p:cNvPr id="6964" name="Google Shape;6964;p42"/>
          <p:cNvSpPr txBox="1"/>
          <p:nvPr/>
        </p:nvSpPr>
        <p:spPr>
          <a:xfrm>
            <a:off x="52120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$-4,264</a:t>
            </a:r>
            <a:endParaRPr/>
          </a:p>
        </p:txBody>
      </p:sp>
      <p:sp>
        <p:nvSpPr>
          <p:cNvPr id="6965" name="Google Shape;6965;p42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6" name="Google Shape;6966;p42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 &amp; PIPELINE</a:t>
            </a:r>
            <a:endParaRPr/>
          </a:p>
        </p:txBody>
      </p:sp>
      <p:sp>
        <p:nvSpPr>
          <p:cNvPr id="6967" name="Google Shape;6967;p42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6968" name="Google Shape;6968;p42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Subs</a:t>
            </a:r>
            <a:endParaRPr/>
          </a:p>
        </p:txBody>
      </p:sp>
      <p:sp>
        <p:nvSpPr>
          <p:cNvPr id="6969" name="Google Shape;6969;p42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</a:t>
            </a:r>
            <a:endParaRPr/>
          </a:p>
        </p:txBody>
      </p:sp>
      <p:sp>
        <p:nvSpPr>
          <p:cNvPr id="6970" name="Google Shape;6970;p4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Non-Fleet</a:t>
            </a:r>
            <a:endParaRPr/>
          </a:p>
        </p:txBody>
      </p:sp>
      <p:sp>
        <p:nvSpPr>
          <p:cNvPr id="6971" name="Google Shape;6971;p42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6972" name="Google Shape;6972;p42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6973" name="Google Shape;6973;p42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4" name="Google Shape;6974;p42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6975" name="Google Shape;6975;p42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/>
          </a:p>
        </p:txBody>
      </p:sp>
      <p:sp>
        <p:nvSpPr>
          <p:cNvPr id="6976" name="Google Shape;6976;p42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6977" name="Google Shape;6977;p42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</a:t>
            </a:r>
            <a:endParaRPr/>
          </a:p>
        </p:txBody>
      </p:sp>
      <p:sp>
        <p:nvSpPr>
          <p:cNvPr id="6978" name="Google Shape;6978;p42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6979" name="Google Shape;6979;p42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10.0%</a:t>
            </a:r>
            <a:endParaRPr/>
          </a:p>
        </p:txBody>
      </p:sp>
      <p:sp>
        <p:nvSpPr>
          <p:cNvPr id="6980" name="Google Shape;6980;p4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1" name="Google Shape;6981;p42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6982" name="Google Shape;6982;p42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17</a:t>
            </a:r>
            <a:endParaRPr/>
          </a:p>
        </p:txBody>
      </p:sp>
      <p:sp>
        <p:nvSpPr>
          <p:cNvPr id="6983" name="Google Shape;6983;p42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6984" name="Google Shape;6984;p42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17</a:t>
            </a:r>
            <a:endParaRPr/>
          </a:p>
        </p:txBody>
      </p:sp>
      <p:sp>
        <p:nvSpPr>
          <p:cNvPr id="6985" name="Google Shape;6985;p42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6986" name="Google Shape;6986;p42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6987" name="Google Shape;6987;p42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8" name="Google Shape;6988;p42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6989" name="Google Shape;6989;p42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</a:t>
            </a:r>
            <a:endParaRPr/>
          </a:p>
        </p:txBody>
      </p:sp>
      <p:sp>
        <p:nvSpPr>
          <p:cNvPr id="6990" name="Google Shape;6990;p4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6991" name="Google Shape;6991;p42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</a:t>
            </a:r>
            <a:endParaRPr/>
          </a:p>
        </p:txBody>
      </p:sp>
      <p:sp>
        <p:nvSpPr>
          <p:cNvPr id="6992" name="Google Shape;6992;p42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6993" name="Google Shape;6993;p42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10.0%</a:t>
            </a:r>
            <a:endParaRPr/>
          </a:p>
        </p:txBody>
      </p:sp>
      <p:sp>
        <p:nvSpPr>
          <p:cNvPr id="6994" name="Google Shape;6994;p42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5" name="Google Shape;6995;p42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6996" name="Google Shape;6996;p42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29</a:t>
            </a:r>
            <a:endParaRPr/>
          </a:p>
        </p:txBody>
      </p:sp>
      <p:sp>
        <p:nvSpPr>
          <p:cNvPr id="6997" name="Google Shape;6997;p42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6998" name="Google Shape;6998;p42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27</a:t>
            </a:r>
            <a:endParaRPr/>
          </a:p>
        </p:txBody>
      </p:sp>
      <p:sp>
        <p:nvSpPr>
          <p:cNvPr id="6999" name="Google Shape;6999;p42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7000" name="Google Shape;7000;p4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3.4%</a:t>
            </a:r>
            <a:endParaRPr/>
          </a:p>
        </p:txBody>
      </p:sp>
      <p:sp>
        <p:nvSpPr>
          <p:cNvPr id="7001" name="Google Shape;7001;p42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2" name="Google Shape;7002;p42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7003" name="Google Shape;7003;p42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</a:t>
            </a:r>
            <a:endParaRPr/>
          </a:p>
        </p:txBody>
      </p:sp>
      <p:sp>
        <p:nvSpPr>
          <p:cNvPr id="7004" name="Google Shape;7004;p42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7005" name="Google Shape;7005;p42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</a:t>
            </a:r>
            <a:endParaRPr/>
          </a:p>
        </p:txBody>
      </p:sp>
      <p:sp>
        <p:nvSpPr>
          <p:cNvPr id="7006" name="Google Shape;7006;p42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7007" name="Google Shape;7007;p42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8.3%</a:t>
            </a:r>
            <a:endParaRPr/>
          </a:p>
        </p:txBody>
      </p:sp>
      <p:sp>
        <p:nvSpPr>
          <p:cNvPr id="7008" name="Google Shape;7008;p42"/>
          <p:cNvSpPr/>
          <p:nvPr/>
        </p:nvSpPr>
        <p:spPr>
          <a:xfrm>
            <a:off x="6309360" y="4123944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9" name="Google Shape;7009;p42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7010" name="Google Shape;7010;p4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011" name="Google Shape;7011;p42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012" name="Google Shape;7012;p42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013" name="Google Shape;7013;p42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014" name="Google Shape;7014;p42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7015" name="Google Shape;7015;p42"/>
          <p:cNvSpPr/>
          <p:nvPr/>
        </p:nvSpPr>
        <p:spPr>
          <a:xfrm>
            <a:off x="6309360" y="4425696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6" name="Google Shape;7016;p42"/>
          <p:cNvSpPr txBox="1"/>
          <p:nvPr/>
        </p:nvSpPr>
        <p:spPr>
          <a:xfrm>
            <a:off x="63093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7017" name="Google Shape;7017;p42"/>
          <p:cNvSpPr txBox="1"/>
          <p:nvPr/>
        </p:nvSpPr>
        <p:spPr>
          <a:xfrm>
            <a:off x="722376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82</a:t>
            </a:r>
            <a:endParaRPr/>
          </a:p>
        </p:txBody>
      </p:sp>
      <p:sp>
        <p:nvSpPr>
          <p:cNvPr id="7018" name="Google Shape;7018;p42"/>
          <p:cNvSpPr txBox="1"/>
          <p:nvPr/>
        </p:nvSpPr>
        <p:spPr>
          <a:xfrm>
            <a:off x="804672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7019" name="Google Shape;7019;p42"/>
          <p:cNvSpPr txBox="1"/>
          <p:nvPr/>
        </p:nvSpPr>
        <p:spPr>
          <a:xfrm>
            <a:off x="886968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79</a:t>
            </a:r>
            <a:endParaRPr/>
          </a:p>
        </p:txBody>
      </p:sp>
      <p:sp>
        <p:nvSpPr>
          <p:cNvPr id="7020" name="Google Shape;7020;p42"/>
          <p:cNvSpPr txBox="1"/>
          <p:nvPr/>
        </p:nvSpPr>
        <p:spPr>
          <a:xfrm>
            <a:off x="978408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7021" name="Google Shape;7021;p42"/>
          <p:cNvSpPr txBox="1"/>
          <p:nvPr/>
        </p:nvSpPr>
        <p:spPr>
          <a:xfrm>
            <a:off x="1060704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2.4%</a:t>
            </a:r>
            <a:endParaRPr/>
          </a:p>
        </p:txBody>
      </p:sp>
      <p:sp>
        <p:nvSpPr>
          <p:cNvPr id="7022" name="Google Shape;7022;p42"/>
          <p:cNvSpPr/>
          <p:nvPr/>
        </p:nvSpPr>
        <p:spPr>
          <a:xfrm>
            <a:off x="365760" y="4782312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3" name="Google Shape;7023;p42"/>
          <p:cNvSpPr txBox="1"/>
          <p:nvPr/>
        </p:nvSpPr>
        <p:spPr>
          <a:xfrm>
            <a:off x="457200" y="4800599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YOY COMPARISON — Jan–Jun 2025 vs Jan–Jun 2026</a:t>
            </a:r>
            <a:endParaRPr/>
          </a:p>
        </p:txBody>
      </p:sp>
      <p:sp>
        <p:nvSpPr>
          <p:cNvPr id="7024" name="Google Shape;7024;p42"/>
          <p:cNvSpPr txBox="1"/>
          <p:nvPr/>
        </p:nvSpPr>
        <p:spPr>
          <a:xfrm>
            <a:off x="365760" y="5056631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00" u="none" cap="none" strike="noStrike">
              <a:solidFill>
                <a:srgbClr val="6B728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025" name="Google Shape;7025;p42"/>
          <p:cNvSpPr txBox="1"/>
          <p:nvPr/>
        </p:nvSpPr>
        <p:spPr>
          <a:xfrm>
            <a:off x="1463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'25</a:t>
            </a:r>
            <a:endParaRPr/>
          </a:p>
        </p:txBody>
      </p:sp>
      <p:sp>
        <p:nvSpPr>
          <p:cNvPr id="7026" name="Google Shape;7026;p42"/>
          <p:cNvSpPr txBox="1"/>
          <p:nvPr/>
        </p:nvSpPr>
        <p:spPr>
          <a:xfrm>
            <a:off x="2148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'26</a:t>
            </a:r>
            <a:endParaRPr/>
          </a:p>
        </p:txBody>
      </p:sp>
      <p:sp>
        <p:nvSpPr>
          <p:cNvPr id="7027" name="Google Shape;7027;p42"/>
          <p:cNvSpPr txBox="1"/>
          <p:nvPr/>
        </p:nvSpPr>
        <p:spPr>
          <a:xfrm>
            <a:off x="2834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'25</a:t>
            </a:r>
            <a:endParaRPr/>
          </a:p>
        </p:txBody>
      </p:sp>
      <p:sp>
        <p:nvSpPr>
          <p:cNvPr id="7028" name="Google Shape;7028;p42"/>
          <p:cNvSpPr txBox="1"/>
          <p:nvPr/>
        </p:nvSpPr>
        <p:spPr>
          <a:xfrm>
            <a:off x="3520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'26</a:t>
            </a:r>
            <a:endParaRPr/>
          </a:p>
        </p:txBody>
      </p:sp>
      <p:sp>
        <p:nvSpPr>
          <p:cNvPr id="7029" name="Google Shape;7029;p42"/>
          <p:cNvSpPr txBox="1"/>
          <p:nvPr/>
        </p:nvSpPr>
        <p:spPr>
          <a:xfrm>
            <a:off x="4206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'25</a:t>
            </a:r>
            <a:endParaRPr/>
          </a:p>
        </p:txBody>
      </p:sp>
      <p:sp>
        <p:nvSpPr>
          <p:cNvPr id="7030" name="Google Shape;7030;p42"/>
          <p:cNvSpPr txBox="1"/>
          <p:nvPr/>
        </p:nvSpPr>
        <p:spPr>
          <a:xfrm>
            <a:off x="4892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'26</a:t>
            </a:r>
            <a:endParaRPr/>
          </a:p>
        </p:txBody>
      </p:sp>
      <p:sp>
        <p:nvSpPr>
          <p:cNvPr id="7031" name="Google Shape;7031;p42"/>
          <p:cNvSpPr txBox="1"/>
          <p:nvPr/>
        </p:nvSpPr>
        <p:spPr>
          <a:xfrm>
            <a:off x="5577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'25</a:t>
            </a:r>
            <a:endParaRPr/>
          </a:p>
        </p:txBody>
      </p:sp>
      <p:sp>
        <p:nvSpPr>
          <p:cNvPr id="7032" name="Google Shape;7032;p42"/>
          <p:cNvSpPr txBox="1"/>
          <p:nvPr/>
        </p:nvSpPr>
        <p:spPr>
          <a:xfrm>
            <a:off x="6263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'26</a:t>
            </a:r>
            <a:endParaRPr/>
          </a:p>
        </p:txBody>
      </p:sp>
      <p:sp>
        <p:nvSpPr>
          <p:cNvPr id="7033" name="Google Shape;7033;p42"/>
          <p:cNvSpPr txBox="1"/>
          <p:nvPr/>
        </p:nvSpPr>
        <p:spPr>
          <a:xfrm>
            <a:off x="6949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'25</a:t>
            </a:r>
            <a:endParaRPr/>
          </a:p>
        </p:txBody>
      </p:sp>
      <p:sp>
        <p:nvSpPr>
          <p:cNvPr id="7034" name="Google Shape;7034;p42"/>
          <p:cNvSpPr txBox="1"/>
          <p:nvPr/>
        </p:nvSpPr>
        <p:spPr>
          <a:xfrm>
            <a:off x="7635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'26</a:t>
            </a:r>
            <a:endParaRPr/>
          </a:p>
        </p:txBody>
      </p:sp>
      <p:sp>
        <p:nvSpPr>
          <p:cNvPr id="7035" name="Google Shape;7035;p42"/>
          <p:cNvSpPr txBox="1"/>
          <p:nvPr/>
        </p:nvSpPr>
        <p:spPr>
          <a:xfrm>
            <a:off x="8321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'25</a:t>
            </a:r>
            <a:endParaRPr/>
          </a:p>
        </p:txBody>
      </p:sp>
      <p:sp>
        <p:nvSpPr>
          <p:cNvPr id="7036" name="Google Shape;7036;p42"/>
          <p:cNvSpPr txBox="1"/>
          <p:nvPr/>
        </p:nvSpPr>
        <p:spPr>
          <a:xfrm>
            <a:off x="9006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'26</a:t>
            </a:r>
            <a:endParaRPr/>
          </a:p>
        </p:txBody>
      </p:sp>
      <p:sp>
        <p:nvSpPr>
          <p:cNvPr id="7037" name="Google Shape;7037;p42"/>
          <p:cNvSpPr txBox="1"/>
          <p:nvPr/>
        </p:nvSpPr>
        <p:spPr>
          <a:xfrm>
            <a:off x="969264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'25 Tot</a:t>
            </a:r>
            <a:endParaRPr/>
          </a:p>
        </p:txBody>
      </p:sp>
      <p:sp>
        <p:nvSpPr>
          <p:cNvPr id="7038" name="Google Shape;7038;p42"/>
          <p:cNvSpPr txBox="1"/>
          <p:nvPr/>
        </p:nvSpPr>
        <p:spPr>
          <a:xfrm>
            <a:off x="1088136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'26 Tot</a:t>
            </a:r>
            <a:endParaRPr/>
          </a:p>
        </p:txBody>
      </p:sp>
      <p:sp>
        <p:nvSpPr>
          <p:cNvPr id="7039" name="Google Shape;7039;p42"/>
          <p:cNvSpPr txBox="1"/>
          <p:nvPr/>
        </p:nvSpPr>
        <p:spPr>
          <a:xfrm>
            <a:off x="365760" y="523951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7040" name="Google Shape;7040;p42"/>
          <p:cNvSpPr txBox="1"/>
          <p:nvPr/>
        </p:nvSpPr>
        <p:spPr>
          <a:xfrm>
            <a:off x="1463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</a:t>
            </a:r>
            <a:endParaRPr/>
          </a:p>
        </p:txBody>
      </p:sp>
      <p:sp>
        <p:nvSpPr>
          <p:cNvPr id="7041" name="Google Shape;7041;p42"/>
          <p:cNvSpPr txBox="1"/>
          <p:nvPr/>
        </p:nvSpPr>
        <p:spPr>
          <a:xfrm>
            <a:off x="2148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/>
          </a:p>
        </p:txBody>
      </p:sp>
      <p:sp>
        <p:nvSpPr>
          <p:cNvPr id="7042" name="Google Shape;7042;p42"/>
          <p:cNvSpPr txBox="1"/>
          <p:nvPr/>
        </p:nvSpPr>
        <p:spPr>
          <a:xfrm>
            <a:off x="2834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</a:t>
            </a:r>
            <a:endParaRPr/>
          </a:p>
        </p:txBody>
      </p:sp>
      <p:sp>
        <p:nvSpPr>
          <p:cNvPr id="7043" name="Google Shape;7043;p42"/>
          <p:cNvSpPr txBox="1"/>
          <p:nvPr/>
        </p:nvSpPr>
        <p:spPr>
          <a:xfrm>
            <a:off x="3520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17</a:t>
            </a:r>
            <a:endParaRPr/>
          </a:p>
        </p:txBody>
      </p:sp>
      <p:sp>
        <p:nvSpPr>
          <p:cNvPr id="7044" name="Google Shape;7044;p42"/>
          <p:cNvSpPr txBox="1"/>
          <p:nvPr/>
        </p:nvSpPr>
        <p:spPr>
          <a:xfrm>
            <a:off x="4206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18</a:t>
            </a:r>
            <a:endParaRPr/>
          </a:p>
        </p:txBody>
      </p:sp>
      <p:sp>
        <p:nvSpPr>
          <p:cNvPr id="7045" name="Google Shape;7045;p42"/>
          <p:cNvSpPr txBox="1"/>
          <p:nvPr/>
        </p:nvSpPr>
        <p:spPr>
          <a:xfrm>
            <a:off x="4892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</a:t>
            </a:r>
            <a:endParaRPr/>
          </a:p>
        </p:txBody>
      </p:sp>
      <p:sp>
        <p:nvSpPr>
          <p:cNvPr id="7046" name="Google Shape;7046;p42"/>
          <p:cNvSpPr txBox="1"/>
          <p:nvPr/>
        </p:nvSpPr>
        <p:spPr>
          <a:xfrm>
            <a:off x="5577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/>
          </a:p>
        </p:txBody>
      </p:sp>
      <p:sp>
        <p:nvSpPr>
          <p:cNvPr id="7047" name="Google Shape;7047;p42"/>
          <p:cNvSpPr txBox="1"/>
          <p:nvPr/>
        </p:nvSpPr>
        <p:spPr>
          <a:xfrm>
            <a:off x="6263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29</a:t>
            </a:r>
            <a:endParaRPr/>
          </a:p>
        </p:txBody>
      </p:sp>
      <p:sp>
        <p:nvSpPr>
          <p:cNvPr id="7048" name="Google Shape;7048;p42"/>
          <p:cNvSpPr txBox="1"/>
          <p:nvPr/>
        </p:nvSpPr>
        <p:spPr>
          <a:xfrm>
            <a:off x="6949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</a:t>
            </a:r>
            <a:endParaRPr/>
          </a:p>
        </p:txBody>
      </p:sp>
      <p:sp>
        <p:nvSpPr>
          <p:cNvPr id="7049" name="Google Shape;7049;p42"/>
          <p:cNvSpPr txBox="1"/>
          <p:nvPr/>
        </p:nvSpPr>
        <p:spPr>
          <a:xfrm>
            <a:off x="7635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</a:t>
            </a:r>
            <a:endParaRPr/>
          </a:p>
        </p:txBody>
      </p:sp>
      <p:sp>
        <p:nvSpPr>
          <p:cNvPr id="7050" name="Google Shape;7050;p42"/>
          <p:cNvSpPr txBox="1"/>
          <p:nvPr/>
        </p:nvSpPr>
        <p:spPr>
          <a:xfrm>
            <a:off x="8321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49</a:t>
            </a:r>
            <a:endParaRPr/>
          </a:p>
        </p:txBody>
      </p:sp>
      <p:sp>
        <p:nvSpPr>
          <p:cNvPr id="7051" name="Google Shape;7051;p42"/>
          <p:cNvSpPr txBox="1"/>
          <p:nvPr/>
        </p:nvSpPr>
        <p:spPr>
          <a:xfrm>
            <a:off x="9006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052" name="Google Shape;7052;p42"/>
          <p:cNvSpPr txBox="1"/>
          <p:nvPr/>
        </p:nvSpPr>
        <p:spPr>
          <a:xfrm>
            <a:off x="969264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120</a:t>
            </a:r>
            <a:endParaRPr/>
          </a:p>
        </p:txBody>
      </p:sp>
      <p:sp>
        <p:nvSpPr>
          <p:cNvPr id="7053" name="Google Shape;7053;p42"/>
          <p:cNvSpPr txBox="1"/>
          <p:nvPr/>
        </p:nvSpPr>
        <p:spPr>
          <a:xfrm>
            <a:off x="1088136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88</a:t>
            </a:r>
            <a:endParaRPr/>
          </a:p>
        </p:txBody>
      </p:sp>
      <p:sp>
        <p:nvSpPr>
          <p:cNvPr id="7054" name="Google Shape;7054;p42"/>
          <p:cNvSpPr txBox="1"/>
          <p:nvPr/>
        </p:nvSpPr>
        <p:spPr>
          <a:xfrm>
            <a:off x="365760" y="542239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Bound Premium</a:t>
            </a:r>
            <a:endParaRPr/>
          </a:p>
        </p:txBody>
      </p:sp>
      <p:sp>
        <p:nvSpPr>
          <p:cNvPr id="7055" name="Google Shape;7055;p42"/>
          <p:cNvSpPr txBox="1"/>
          <p:nvPr/>
        </p:nvSpPr>
        <p:spPr>
          <a:xfrm>
            <a:off x="1463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$-100</a:t>
            </a:r>
            <a:endParaRPr/>
          </a:p>
        </p:txBody>
      </p:sp>
      <p:sp>
        <p:nvSpPr>
          <p:cNvPr id="7056" name="Google Shape;7056;p42"/>
          <p:cNvSpPr txBox="1"/>
          <p:nvPr/>
        </p:nvSpPr>
        <p:spPr>
          <a:xfrm>
            <a:off x="2148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$-6,935</a:t>
            </a:r>
            <a:endParaRPr/>
          </a:p>
        </p:txBody>
      </p:sp>
      <p:sp>
        <p:nvSpPr>
          <p:cNvPr id="7057" name="Google Shape;7057;p42"/>
          <p:cNvSpPr txBox="1"/>
          <p:nvPr/>
        </p:nvSpPr>
        <p:spPr>
          <a:xfrm>
            <a:off x="2834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$1K</a:t>
            </a:r>
            <a:endParaRPr/>
          </a:p>
        </p:txBody>
      </p:sp>
      <p:sp>
        <p:nvSpPr>
          <p:cNvPr id="7058" name="Google Shape;7058;p42"/>
          <p:cNvSpPr txBox="1"/>
          <p:nvPr/>
        </p:nvSpPr>
        <p:spPr>
          <a:xfrm>
            <a:off x="3520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059" name="Google Shape;7059;p42"/>
          <p:cNvSpPr txBox="1"/>
          <p:nvPr/>
        </p:nvSpPr>
        <p:spPr>
          <a:xfrm>
            <a:off x="4206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$3K</a:t>
            </a:r>
            <a:endParaRPr/>
          </a:p>
        </p:txBody>
      </p:sp>
      <p:sp>
        <p:nvSpPr>
          <p:cNvPr id="7060" name="Google Shape;7060;p42"/>
          <p:cNvSpPr txBox="1"/>
          <p:nvPr/>
        </p:nvSpPr>
        <p:spPr>
          <a:xfrm>
            <a:off x="4892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$4K</a:t>
            </a:r>
            <a:endParaRPr/>
          </a:p>
        </p:txBody>
      </p:sp>
      <p:sp>
        <p:nvSpPr>
          <p:cNvPr id="7061" name="Google Shape;7061;p42"/>
          <p:cNvSpPr txBox="1"/>
          <p:nvPr/>
        </p:nvSpPr>
        <p:spPr>
          <a:xfrm>
            <a:off x="5577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$462</a:t>
            </a:r>
            <a:endParaRPr/>
          </a:p>
        </p:txBody>
      </p:sp>
      <p:sp>
        <p:nvSpPr>
          <p:cNvPr id="7062" name="Google Shape;7062;p42"/>
          <p:cNvSpPr txBox="1"/>
          <p:nvPr/>
        </p:nvSpPr>
        <p:spPr>
          <a:xfrm>
            <a:off x="6263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$22K</a:t>
            </a:r>
            <a:endParaRPr/>
          </a:p>
        </p:txBody>
      </p:sp>
      <p:sp>
        <p:nvSpPr>
          <p:cNvPr id="7063" name="Google Shape;7063;p42"/>
          <p:cNvSpPr txBox="1"/>
          <p:nvPr/>
        </p:nvSpPr>
        <p:spPr>
          <a:xfrm>
            <a:off x="6949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$22K</a:t>
            </a:r>
            <a:endParaRPr/>
          </a:p>
        </p:txBody>
      </p:sp>
      <p:sp>
        <p:nvSpPr>
          <p:cNvPr id="7064" name="Google Shape;7064;p42"/>
          <p:cNvSpPr txBox="1"/>
          <p:nvPr/>
        </p:nvSpPr>
        <p:spPr>
          <a:xfrm>
            <a:off x="7635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$3K</a:t>
            </a:r>
            <a:endParaRPr/>
          </a:p>
        </p:txBody>
      </p:sp>
      <p:sp>
        <p:nvSpPr>
          <p:cNvPr id="7065" name="Google Shape;7065;p42"/>
          <p:cNvSpPr txBox="1"/>
          <p:nvPr/>
        </p:nvSpPr>
        <p:spPr>
          <a:xfrm>
            <a:off x="8321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$32K</a:t>
            </a:r>
            <a:endParaRPr/>
          </a:p>
        </p:txBody>
      </p:sp>
      <p:sp>
        <p:nvSpPr>
          <p:cNvPr id="7066" name="Google Shape;7066;p42"/>
          <p:cNvSpPr txBox="1"/>
          <p:nvPr/>
        </p:nvSpPr>
        <p:spPr>
          <a:xfrm>
            <a:off x="9006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067" name="Google Shape;7067;p42"/>
          <p:cNvSpPr txBox="1"/>
          <p:nvPr/>
        </p:nvSpPr>
        <p:spPr>
          <a:xfrm>
            <a:off x="969264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$59K</a:t>
            </a:r>
            <a:endParaRPr/>
          </a:p>
        </p:txBody>
      </p:sp>
      <p:sp>
        <p:nvSpPr>
          <p:cNvPr id="7068" name="Google Shape;7068;p42"/>
          <p:cNvSpPr txBox="1"/>
          <p:nvPr/>
        </p:nvSpPr>
        <p:spPr>
          <a:xfrm>
            <a:off x="1088136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$22K</a:t>
            </a:r>
            <a:endParaRPr/>
          </a:p>
        </p:txBody>
      </p:sp>
      <p:sp>
        <p:nvSpPr>
          <p:cNvPr id="7069" name="Google Shape;7069;p42"/>
          <p:cNvSpPr/>
          <p:nvPr/>
        </p:nvSpPr>
        <p:spPr>
          <a:xfrm>
            <a:off x="365760" y="5678423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0" name="Google Shape;7070;p42"/>
          <p:cNvSpPr txBox="1"/>
          <p:nvPr/>
        </p:nvSpPr>
        <p:spPr>
          <a:xfrm>
            <a:off x="4572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65F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STRENGTHS - What's Working</a:t>
            </a:r>
            <a:endParaRPr/>
          </a:p>
        </p:txBody>
      </p:sp>
      <p:sp>
        <p:nvSpPr>
          <p:cNvPr id="7071" name="Google Shape;7071;p42"/>
          <p:cNvSpPr txBox="1"/>
          <p:nvPr/>
        </p:nvSpPr>
        <p:spPr>
          <a:xfrm>
            <a:off x="4572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7072" name="Google Shape;7072;p42"/>
          <p:cNvSpPr txBox="1"/>
          <p:nvPr/>
        </p:nvSpPr>
        <p:spPr>
          <a:xfrm>
            <a:off x="685800" y="5952743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$22,281 YTD gross written premium</a:t>
            </a:r>
            <a:endParaRPr/>
          </a:p>
        </p:txBody>
      </p:sp>
      <p:sp>
        <p:nvSpPr>
          <p:cNvPr id="7073" name="Google Shape;7073;p42"/>
          <p:cNvSpPr txBox="1"/>
          <p:nvPr/>
        </p:nvSpPr>
        <p:spPr>
          <a:xfrm>
            <a:off x="457200" y="6153911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7074" name="Google Shape;7074;p42"/>
          <p:cNvSpPr txBox="1"/>
          <p:nvPr/>
        </p:nvSpPr>
        <p:spPr>
          <a:xfrm>
            <a:off x="685800" y="6153911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$15,018 in new business production</a:t>
            </a:r>
            <a:endParaRPr/>
          </a:p>
        </p:txBody>
      </p:sp>
      <p:sp>
        <p:nvSpPr>
          <p:cNvPr id="7075" name="Google Shape;7075;p42"/>
          <p:cNvSpPr/>
          <p:nvPr/>
        </p:nvSpPr>
        <p:spPr>
          <a:xfrm>
            <a:off x="6309360" y="5678423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6" name="Google Shape;7076;p42"/>
          <p:cNvSpPr txBox="1"/>
          <p:nvPr/>
        </p:nvSpPr>
        <p:spPr>
          <a:xfrm>
            <a:off x="64008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NEEDS ATTENTION</a:t>
            </a:r>
            <a:endParaRPr/>
          </a:p>
        </p:txBody>
      </p:sp>
      <p:sp>
        <p:nvSpPr>
          <p:cNvPr id="7077" name="Google Shape;7077;p42"/>
          <p:cNvSpPr txBox="1"/>
          <p:nvPr/>
        </p:nvSpPr>
        <p:spPr>
          <a:xfrm>
            <a:off x="64008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7078" name="Google Shape;7078;p42"/>
          <p:cNvSpPr txBox="1"/>
          <p:nvPr/>
        </p:nvSpPr>
        <p:spPr>
          <a:xfrm>
            <a:off x="6629400" y="5952743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Low 2.4% hit ratio on 82 subs - needs coaching</a:t>
            </a:r>
            <a:endParaRPr/>
          </a:p>
        </p:txBody>
      </p:sp>
      <p:sp>
        <p:nvSpPr>
          <p:cNvPr id="7079" name="Google Shape;7079;p42"/>
          <p:cNvSpPr txBox="1"/>
          <p:nvPr/>
        </p:nvSpPr>
        <p:spPr>
          <a:xfrm>
            <a:off x="6400800" y="6153911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7080" name="Google Shape;7080;p42"/>
          <p:cNvSpPr txBox="1"/>
          <p:nvPr/>
        </p:nvSpPr>
        <p:spPr>
          <a:xfrm>
            <a:off x="6629400" y="6153911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Written premium dropped 87% month-over-month</a:t>
            </a:r>
            <a:endParaRPr/>
          </a:p>
        </p:txBody>
      </p:sp>
      <p:sp>
        <p:nvSpPr>
          <p:cNvPr id="7081" name="Google Shape;7081;p42"/>
          <p:cNvSpPr/>
          <p:nvPr/>
        </p:nvSpPr>
        <p:spPr>
          <a:xfrm>
            <a:off x="365760" y="6455663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2" name="Google Shape;7082;p42"/>
          <p:cNvSpPr txBox="1"/>
          <p:nvPr/>
        </p:nvSpPr>
        <p:spPr>
          <a:xfrm>
            <a:off x="457200" y="6464807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STRATEGIC SALES TIPS - Conversation Starters</a:t>
            </a:r>
            <a:endParaRPr/>
          </a:p>
        </p:txBody>
      </p:sp>
      <p:sp>
        <p:nvSpPr>
          <p:cNvPr id="7083" name="Google Shape;7083;p42"/>
          <p:cNvSpPr txBox="1"/>
          <p:nvPr/>
        </p:nvSpPr>
        <p:spPr>
          <a:xfrm>
            <a:off x="457200" y="6711695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endParaRPr/>
          </a:p>
        </p:txBody>
      </p:sp>
      <p:sp>
        <p:nvSpPr>
          <p:cNvPr id="7084" name="Google Shape;7084;p42"/>
          <p:cNvSpPr txBox="1"/>
          <p:nvPr/>
        </p:nvSpPr>
        <p:spPr>
          <a:xfrm>
            <a:off x="777240" y="6711695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Walk through recent lost quotes (82 subs, only 2 binds). Ask: "What are the top 2 reasons your clients go elsewhere?" Use answers to tailor appetite and pricing discussions.</a:t>
            </a:r>
            <a:endParaRPr/>
          </a:p>
        </p:txBody>
      </p:sp>
      <p:sp>
        <p:nvSpPr>
          <p:cNvPr id="7085" name="Google Shape;7085;p42"/>
          <p:cNvSpPr txBox="1"/>
          <p:nvPr/>
        </p:nvSpPr>
        <p:spPr>
          <a:xfrm>
            <a:off x="457200" y="6949439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endParaRPr/>
          </a:p>
        </p:txBody>
      </p:sp>
      <p:sp>
        <p:nvSpPr>
          <p:cNvPr id="7086" name="Google Shape;7086;p42"/>
          <p:cNvSpPr txBox="1"/>
          <p:nvPr/>
        </p:nvSpPr>
        <p:spPr>
          <a:xfrm>
            <a:off x="777240" y="6949439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Celebrate the $15,018 in new business. Ask what made those deals work and how you can help replicate that success with similar accounts in their pipeline.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90" name="Shape 7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1" name="Google Shape;7091;p43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2" name="Google Shape;7092;p43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Sunstar Insurance Group Llc Dba Bulldog Insurance</a:t>
            </a:r>
            <a:endParaRPr/>
          </a:p>
        </p:txBody>
      </p:sp>
      <p:sp>
        <p:nvSpPr>
          <p:cNvPr id="7093" name="Google Shape;7093;p4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4B5F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Tier: Tier 2  |  Region: Southeast  |  State: Georgia  |  City: Forest Park</a:t>
            </a:r>
            <a:endParaRPr/>
          </a:p>
        </p:txBody>
      </p:sp>
      <p:sp>
        <p:nvSpPr>
          <p:cNvPr id="7094" name="Google Shape;7094;p43"/>
          <p:cNvSpPr/>
          <p:nvPr/>
        </p:nvSpPr>
        <p:spPr>
          <a:xfrm>
            <a:off x="22860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$17,658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YTD GWP</a:t>
            </a:r>
            <a:endParaRPr/>
          </a:p>
        </p:txBody>
      </p:sp>
      <p:sp>
        <p:nvSpPr>
          <p:cNvPr id="7095" name="Google Shape;7095;p43"/>
          <p:cNvSpPr/>
          <p:nvPr/>
        </p:nvSpPr>
        <p:spPr>
          <a:xfrm>
            <a:off x="256032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7096" name="Google Shape;7096;p43"/>
          <p:cNvSpPr/>
          <p:nvPr/>
        </p:nvSpPr>
        <p:spPr>
          <a:xfrm>
            <a:off x="489204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$20,248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7097" name="Google Shape;7097;p43"/>
          <p:cNvSpPr/>
          <p:nvPr/>
        </p:nvSpPr>
        <p:spPr>
          <a:xfrm>
            <a:off x="7223759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$-2,590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7098" name="Google Shape;7098;p43"/>
          <p:cNvSpPr/>
          <p:nvPr/>
        </p:nvSpPr>
        <p:spPr>
          <a:xfrm>
            <a:off x="955548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$-36,773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7099" name="Google Shape;7099;p43"/>
          <p:cNvSpPr/>
          <p:nvPr/>
        </p:nvSpPr>
        <p:spPr>
          <a:xfrm>
            <a:off x="137160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$565,991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2025 Full Year GWP</a:t>
            </a:r>
            <a:endParaRPr/>
          </a:p>
        </p:txBody>
      </p:sp>
      <p:sp>
        <p:nvSpPr>
          <p:cNvPr id="7100" name="Google Shape;7100;p43"/>
          <p:cNvSpPr/>
          <p:nvPr/>
        </p:nvSpPr>
        <p:spPr>
          <a:xfrm>
            <a:off x="1627631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$149,873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Rolling 12M GWP</a:t>
            </a:r>
            <a:endParaRPr/>
          </a:p>
        </p:txBody>
      </p:sp>
      <p:sp>
        <p:nvSpPr>
          <p:cNvPr id="7101" name="Google Shape;7101;p43"/>
          <p:cNvSpPr/>
          <p:nvPr/>
        </p:nvSpPr>
        <p:spPr>
          <a:xfrm>
            <a:off x="3118103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% to Goal</a:t>
            </a:r>
            <a:endParaRPr/>
          </a:p>
        </p:txBody>
      </p:sp>
      <p:sp>
        <p:nvSpPr>
          <p:cNvPr id="7102" name="Google Shape;7102;p43"/>
          <p:cNvSpPr/>
          <p:nvPr/>
        </p:nvSpPr>
        <p:spPr>
          <a:xfrm>
            <a:off x="4608576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7103" name="Google Shape;7103;p43"/>
          <p:cNvSpPr/>
          <p:nvPr/>
        </p:nvSpPr>
        <p:spPr>
          <a:xfrm>
            <a:off x="6099048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7104" name="Google Shape;7104;p43"/>
          <p:cNvSpPr/>
          <p:nvPr/>
        </p:nvSpPr>
        <p:spPr>
          <a:xfrm>
            <a:off x="7589519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13.6%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7105" name="Google Shape;7105;p43"/>
          <p:cNvSpPr/>
          <p:nvPr/>
        </p:nvSpPr>
        <p:spPr>
          <a:xfrm>
            <a:off x="9079992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 Bound Prem</a:t>
            </a:r>
            <a:endParaRPr/>
          </a:p>
        </p:txBody>
      </p:sp>
      <p:sp>
        <p:nvSpPr>
          <p:cNvPr id="7106" name="Google Shape;7106;p43"/>
          <p:cNvSpPr/>
          <p:nvPr/>
        </p:nvSpPr>
        <p:spPr>
          <a:xfrm>
            <a:off x="10570464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$60,084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NF Bound Prem</a:t>
            </a:r>
            <a:endParaRPr/>
          </a:p>
        </p:txBody>
      </p:sp>
      <p:sp>
        <p:nvSpPr>
          <p:cNvPr id="7107" name="Google Shape;7107;p43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8" name="Google Shape;7108;p43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PRODUCTION BY MONTH</a:t>
            </a:r>
            <a:endParaRPr/>
          </a:p>
        </p:txBody>
      </p:sp>
      <p:sp>
        <p:nvSpPr>
          <p:cNvPr id="7109" name="Google Shape;7109;p43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7110" name="Google Shape;7110;p43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Written Premium</a:t>
            </a:r>
            <a:endParaRPr/>
          </a:p>
        </p:txBody>
      </p:sp>
      <p:sp>
        <p:nvSpPr>
          <p:cNvPr id="7111" name="Google Shape;7111;p43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7112" name="Google Shape;7112;p43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7113" name="Google Shape;7113;p4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7114" name="Google Shape;7114;p43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7115" name="Google Shape;7115;p43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6" name="Google Shape;7116;p43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7117" name="Google Shape;7117;p43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$-6,411</a:t>
            </a:r>
            <a:endParaRPr/>
          </a:p>
        </p:txBody>
      </p:sp>
      <p:sp>
        <p:nvSpPr>
          <p:cNvPr id="7118" name="Google Shape;7118;p43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119" name="Google Shape;7119;p43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120" name="Google Shape;7120;p43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$-6,411</a:t>
            </a:r>
            <a:endParaRPr/>
          </a:p>
        </p:txBody>
      </p:sp>
      <p:sp>
        <p:nvSpPr>
          <p:cNvPr id="7121" name="Google Shape;7121;p43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122" name="Google Shape;7122;p43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3" name="Google Shape;7123;p4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7124" name="Google Shape;7124;p43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125" name="Google Shape;7125;p43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126" name="Google Shape;7126;p43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127" name="Google Shape;7127;p43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128" name="Google Shape;7128;p43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$-31,337</a:t>
            </a:r>
            <a:endParaRPr/>
          </a:p>
        </p:txBody>
      </p:sp>
      <p:sp>
        <p:nvSpPr>
          <p:cNvPr id="7129" name="Google Shape;7129;p43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0" name="Google Shape;7130;p43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7131" name="Google Shape;7131;p43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$3,853</a:t>
            </a:r>
            <a:endParaRPr/>
          </a:p>
        </p:txBody>
      </p:sp>
      <p:sp>
        <p:nvSpPr>
          <p:cNvPr id="7132" name="Google Shape;7132;p43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133" name="Google Shape;7133;p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134" name="Google Shape;7134;p43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$3,853</a:t>
            </a:r>
            <a:endParaRPr/>
          </a:p>
        </p:txBody>
      </p:sp>
      <p:sp>
        <p:nvSpPr>
          <p:cNvPr id="7135" name="Google Shape;7135;p43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$-3,853</a:t>
            </a:r>
            <a:endParaRPr/>
          </a:p>
        </p:txBody>
      </p:sp>
      <p:sp>
        <p:nvSpPr>
          <p:cNvPr id="7136" name="Google Shape;7136;p43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7" name="Google Shape;7137;p43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7138" name="Google Shape;7138;p43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$-31</a:t>
            </a:r>
            <a:endParaRPr/>
          </a:p>
        </p:txBody>
      </p:sp>
      <p:sp>
        <p:nvSpPr>
          <p:cNvPr id="7139" name="Google Shape;7139;p43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140" name="Google Shape;7140;p43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141" name="Google Shape;7141;p43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$-31</a:t>
            </a:r>
            <a:endParaRPr/>
          </a:p>
        </p:txBody>
      </p:sp>
      <p:sp>
        <p:nvSpPr>
          <p:cNvPr id="7142" name="Google Shape;7142;p43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143" name="Google Shape;7143;p4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4" name="Google Shape;7144;p43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7145" name="Google Shape;7145;p43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$20,248</a:t>
            </a:r>
            <a:endParaRPr/>
          </a:p>
        </p:txBody>
      </p:sp>
      <p:sp>
        <p:nvSpPr>
          <p:cNvPr id="7146" name="Google Shape;7146;p43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147" name="Google Shape;7147;p43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$20,248</a:t>
            </a:r>
            <a:endParaRPr/>
          </a:p>
        </p:txBody>
      </p:sp>
      <p:sp>
        <p:nvSpPr>
          <p:cNvPr id="7148" name="Google Shape;7148;p43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149" name="Google Shape;7149;p43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$-1,583</a:t>
            </a:r>
            <a:endParaRPr/>
          </a:p>
        </p:txBody>
      </p:sp>
      <p:sp>
        <p:nvSpPr>
          <p:cNvPr id="7150" name="Google Shape;7150;p43"/>
          <p:cNvSpPr/>
          <p:nvPr/>
        </p:nvSpPr>
        <p:spPr>
          <a:xfrm>
            <a:off x="365760" y="4123944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1" name="Google Shape;7151;p43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7152" name="Google Shape;7152;p43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153" name="Google Shape;7153;p4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154" name="Google Shape;7154;p43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155" name="Google Shape;7155;p43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156" name="Google Shape;7156;p43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157" name="Google Shape;7157;p43"/>
          <p:cNvSpPr/>
          <p:nvPr/>
        </p:nvSpPr>
        <p:spPr>
          <a:xfrm>
            <a:off x="365760" y="4425696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8" name="Google Shape;7158;p43"/>
          <p:cNvSpPr txBox="1"/>
          <p:nvPr/>
        </p:nvSpPr>
        <p:spPr>
          <a:xfrm>
            <a:off x="3657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7159" name="Google Shape;7159;p43"/>
          <p:cNvSpPr txBox="1"/>
          <p:nvPr/>
        </p:nvSpPr>
        <p:spPr>
          <a:xfrm>
            <a:off x="1280160" y="446227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$17,658</a:t>
            </a:r>
            <a:endParaRPr/>
          </a:p>
        </p:txBody>
      </p:sp>
      <p:sp>
        <p:nvSpPr>
          <p:cNvPr id="7160" name="Google Shape;7160;p43"/>
          <p:cNvSpPr txBox="1"/>
          <p:nvPr/>
        </p:nvSpPr>
        <p:spPr>
          <a:xfrm>
            <a:off x="2377439" y="446227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161" name="Google Shape;7161;p43"/>
          <p:cNvSpPr txBox="1"/>
          <p:nvPr/>
        </p:nvSpPr>
        <p:spPr>
          <a:xfrm>
            <a:off x="33832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$20,248</a:t>
            </a:r>
            <a:endParaRPr/>
          </a:p>
        </p:txBody>
      </p:sp>
      <p:sp>
        <p:nvSpPr>
          <p:cNvPr id="7162" name="Google Shape;7162;p43"/>
          <p:cNvSpPr txBox="1"/>
          <p:nvPr/>
        </p:nvSpPr>
        <p:spPr>
          <a:xfrm>
            <a:off x="42976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$-2,590</a:t>
            </a:r>
            <a:endParaRPr/>
          </a:p>
        </p:txBody>
      </p:sp>
      <p:sp>
        <p:nvSpPr>
          <p:cNvPr id="7163" name="Google Shape;7163;p43"/>
          <p:cNvSpPr txBox="1"/>
          <p:nvPr/>
        </p:nvSpPr>
        <p:spPr>
          <a:xfrm>
            <a:off x="52120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$-36,773</a:t>
            </a:r>
            <a:endParaRPr/>
          </a:p>
        </p:txBody>
      </p:sp>
      <p:sp>
        <p:nvSpPr>
          <p:cNvPr id="7164" name="Google Shape;7164;p43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5" name="Google Shape;7165;p43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 &amp; PIPELINE</a:t>
            </a:r>
            <a:endParaRPr/>
          </a:p>
        </p:txBody>
      </p:sp>
      <p:sp>
        <p:nvSpPr>
          <p:cNvPr id="7166" name="Google Shape;7166;p43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7167" name="Google Shape;7167;p43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Subs</a:t>
            </a:r>
            <a:endParaRPr/>
          </a:p>
        </p:txBody>
      </p:sp>
      <p:sp>
        <p:nvSpPr>
          <p:cNvPr id="7168" name="Google Shape;7168;p43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</a:t>
            </a:r>
            <a:endParaRPr/>
          </a:p>
        </p:txBody>
      </p:sp>
      <p:sp>
        <p:nvSpPr>
          <p:cNvPr id="7169" name="Google Shape;7169;p43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Non-Fleet</a:t>
            </a:r>
            <a:endParaRPr/>
          </a:p>
        </p:txBody>
      </p:sp>
      <p:sp>
        <p:nvSpPr>
          <p:cNvPr id="7170" name="Google Shape;7170;p4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7171" name="Google Shape;7171;p43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7172" name="Google Shape;7172;p43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3" name="Google Shape;7173;p43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7174" name="Google Shape;7174;p43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7175" name="Google Shape;7175;p43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7176" name="Google Shape;7176;p43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7177" name="Google Shape;7177;p43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7178" name="Google Shape;7178;p43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40.0%</a:t>
            </a:r>
            <a:endParaRPr/>
          </a:p>
        </p:txBody>
      </p:sp>
      <p:sp>
        <p:nvSpPr>
          <p:cNvPr id="7179" name="Google Shape;7179;p43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0" name="Google Shape;7180;p4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7181" name="Google Shape;7181;p43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7182" name="Google Shape;7182;p43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183" name="Google Shape;7183;p43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7184" name="Google Shape;7184;p43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7185" name="Google Shape;7185;p43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20.0%</a:t>
            </a:r>
            <a:endParaRPr/>
          </a:p>
        </p:txBody>
      </p:sp>
      <p:sp>
        <p:nvSpPr>
          <p:cNvPr id="7186" name="Google Shape;7186;p43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7" name="Google Shape;7187;p43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7188" name="Google Shape;7188;p43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</a:t>
            </a:r>
            <a:endParaRPr/>
          </a:p>
        </p:txBody>
      </p:sp>
      <p:sp>
        <p:nvSpPr>
          <p:cNvPr id="7189" name="Google Shape;7189;p43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7190" name="Google Shape;7190;p4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/>
          </a:p>
        </p:txBody>
      </p:sp>
      <p:sp>
        <p:nvSpPr>
          <p:cNvPr id="7191" name="Google Shape;7191;p43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192" name="Google Shape;7192;p43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7193" name="Google Shape;7193;p43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4" name="Google Shape;7194;p43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7195" name="Google Shape;7195;p43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/>
          </a:p>
        </p:txBody>
      </p:sp>
      <p:sp>
        <p:nvSpPr>
          <p:cNvPr id="7196" name="Google Shape;7196;p43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197" name="Google Shape;7197;p43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/>
          </a:p>
        </p:txBody>
      </p:sp>
      <p:sp>
        <p:nvSpPr>
          <p:cNvPr id="7198" name="Google Shape;7198;p43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7199" name="Google Shape;7199;p43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14.3%</a:t>
            </a:r>
            <a:endParaRPr/>
          </a:p>
        </p:txBody>
      </p:sp>
      <p:sp>
        <p:nvSpPr>
          <p:cNvPr id="7200" name="Google Shape;7200;p4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1" name="Google Shape;7201;p43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7202" name="Google Shape;7202;p43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7203" name="Google Shape;7203;p43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204" name="Google Shape;7204;p43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7205" name="Google Shape;7205;p43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206" name="Google Shape;7206;p43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7207" name="Google Shape;7207;p43"/>
          <p:cNvSpPr/>
          <p:nvPr/>
        </p:nvSpPr>
        <p:spPr>
          <a:xfrm>
            <a:off x="6309360" y="4123944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8" name="Google Shape;7208;p43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7209" name="Google Shape;7209;p43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210" name="Google Shape;7210;p4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211" name="Google Shape;7211;p43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212" name="Google Shape;7212;p43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213" name="Google Shape;7213;p43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7214" name="Google Shape;7214;p43"/>
          <p:cNvSpPr/>
          <p:nvPr/>
        </p:nvSpPr>
        <p:spPr>
          <a:xfrm>
            <a:off x="6309360" y="4425696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5" name="Google Shape;7215;p43"/>
          <p:cNvSpPr txBox="1"/>
          <p:nvPr/>
        </p:nvSpPr>
        <p:spPr>
          <a:xfrm>
            <a:off x="63093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7216" name="Google Shape;7216;p43"/>
          <p:cNvSpPr txBox="1"/>
          <p:nvPr/>
        </p:nvSpPr>
        <p:spPr>
          <a:xfrm>
            <a:off x="722376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22</a:t>
            </a:r>
            <a:endParaRPr/>
          </a:p>
        </p:txBody>
      </p:sp>
      <p:sp>
        <p:nvSpPr>
          <p:cNvPr id="7217" name="Google Shape;7217;p43"/>
          <p:cNvSpPr txBox="1"/>
          <p:nvPr/>
        </p:nvSpPr>
        <p:spPr>
          <a:xfrm>
            <a:off x="804672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7218" name="Google Shape;7218;p43"/>
          <p:cNvSpPr txBox="1"/>
          <p:nvPr/>
        </p:nvSpPr>
        <p:spPr>
          <a:xfrm>
            <a:off x="886968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</a:t>
            </a:r>
            <a:endParaRPr/>
          </a:p>
        </p:txBody>
      </p:sp>
      <p:sp>
        <p:nvSpPr>
          <p:cNvPr id="7219" name="Google Shape;7219;p43"/>
          <p:cNvSpPr txBox="1"/>
          <p:nvPr/>
        </p:nvSpPr>
        <p:spPr>
          <a:xfrm>
            <a:off x="978408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7220" name="Google Shape;7220;p43"/>
          <p:cNvSpPr txBox="1"/>
          <p:nvPr/>
        </p:nvSpPr>
        <p:spPr>
          <a:xfrm>
            <a:off x="1060704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13.6%</a:t>
            </a:r>
            <a:endParaRPr/>
          </a:p>
        </p:txBody>
      </p:sp>
      <p:sp>
        <p:nvSpPr>
          <p:cNvPr id="7221" name="Google Shape;7221;p43"/>
          <p:cNvSpPr/>
          <p:nvPr/>
        </p:nvSpPr>
        <p:spPr>
          <a:xfrm>
            <a:off x="365760" y="4782312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2" name="Google Shape;7222;p43"/>
          <p:cNvSpPr txBox="1"/>
          <p:nvPr/>
        </p:nvSpPr>
        <p:spPr>
          <a:xfrm>
            <a:off x="457200" y="4800599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YOY COMPARISON — Jan–Jun 2025 vs Jan–Jun 2026</a:t>
            </a:r>
            <a:endParaRPr/>
          </a:p>
        </p:txBody>
      </p:sp>
      <p:sp>
        <p:nvSpPr>
          <p:cNvPr id="7223" name="Google Shape;7223;p43"/>
          <p:cNvSpPr txBox="1"/>
          <p:nvPr/>
        </p:nvSpPr>
        <p:spPr>
          <a:xfrm>
            <a:off x="365760" y="5056631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00" u="none" cap="none" strike="noStrike">
              <a:solidFill>
                <a:srgbClr val="6B728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224" name="Google Shape;7224;p43"/>
          <p:cNvSpPr txBox="1"/>
          <p:nvPr/>
        </p:nvSpPr>
        <p:spPr>
          <a:xfrm>
            <a:off x="1463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'25</a:t>
            </a:r>
            <a:endParaRPr/>
          </a:p>
        </p:txBody>
      </p:sp>
      <p:sp>
        <p:nvSpPr>
          <p:cNvPr id="7225" name="Google Shape;7225;p43"/>
          <p:cNvSpPr txBox="1"/>
          <p:nvPr/>
        </p:nvSpPr>
        <p:spPr>
          <a:xfrm>
            <a:off x="2148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'26</a:t>
            </a:r>
            <a:endParaRPr/>
          </a:p>
        </p:txBody>
      </p:sp>
      <p:sp>
        <p:nvSpPr>
          <p:cNvPr id="7226" name="Google Shape;7226;p43"/>
          <p:cNvSpPr txBox="1"/>
          <p:nvPr/>
        </p:nvSpPr>
        <p:spPr>
          <a:xfrm>
            <a:off x="2834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'25</a:t>
            </a:r>
            <a:endParaRPr/>
          </a:p>
        </p:txBody>
      </p:sp>
      <p:sp>
        <p:nvSpPr>
          <p:cNvPr id="7227" name="Google Shape;7227;p43"/>
          <p:cNvSpPr txBox="1"/>
          <p:nvPr/>
        </p:nvSpPr>
        <p:spPr>
          <a:xfrm>
            <a:off x="3520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'26</a:t>
            </a:r>
            <a:endParaRPr/>
          </a:p>
        </p:txBody>
      </p:sp>
      <p:sp>
        <p:nvSpPr>
          <p:cNvPr id="7228" name="Google Shape;7228;p43"/>
          <p:cNvSpPr txBox="1"/>
          <p:nvPr/>
        </p:nvSpPr>
        <p:spPr>
          <a:xfrm>
            <a:off x="4206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'25</a:t>
            </a:r>
            <a:endParaRPr/>
          </a:p>
        </p:txBody>
      </p:sp>
      <p:sp>
        <p:nvSpPr>
          <p:cNvPr id="7229" name="Google Shape;7229;p43"/>
          <p:cNvSpPr txBox="1"/>
          <p:nvPr/>
        </p:nvSpPr>
        <p:spPr>
          <a:xfrm>
            <a:off x="4892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'26</a:t>
            </a:r>
            <a:endParaRPr/>
          </a:p>
        </p:txBody>
      </p:sp>
      <p:sp>
        <p:nvSpPr>
          <p:cNvPr id="7230" name="Google Shape;7230;p43"/>
          <p:cNvSpPr txBox="1"/>
          <p:nvPr/>
        </p:nvSpPr>
        <p:spPr>
          <a:xfrm>
            <a:off x="5577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'25</a:t>
            </a:r>
            <a:endParaRPr/>
          </a:p>
        </p:txBody>
      </p:sp>
      <p:sp>
        <p:nvSpPr>
          <p:cNvPr id="7231" name="Google Shape;7231;p43"/>
          <p:cNvSpPr txBox="1"/>
          <p:nvPr/>
        </p:nvSpPr>
        <p:spPr>
          <a:xfrm>
            <a:off x="6263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'26</a:t>
            </a:r>
            <a:endParaRPr/>
          </a:p>
        </p:txBody>
      </p:sp>
      <p:sp>
        <p:nvSpPr>
          <p:cNvPr id="7232" name="Google Shape;7232;p43"/>
          <p:cNvSpPr txBox="1"/>
          <p:nvPr/>
        </p:nvSpPr>
        <p:spPr>
          <a:xfrm>
            <a:off x="6949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'25</a:t>
            </a:r>
            <a:endParaRPr/>
          </a:p>
        </p:txBody>
      </p:sp>
      <p:sp>
        <p:nvSpPr>
          <p:cNvPr id="7233" name="Google Shape;7233;p43"/>
          <p:cNvSpPr txBox="1"/>
          <p:nvPr/>
        </p:nvSpPr>
        <p:spPr>
          <a:xfrm>
            <a:off x="7635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'26</a:t>
            </a:r>
            <a:endParaRPr/>
          </a:p>
        </p:txBody>
      </p:sp>
      <p:sp>
        <p:nvSpPr>
          <p:cNvPr id="7234" name="Google Shape;7234;p43"/>
          <p:cNvSpPr txBox="1"/>
          <p:nvPr/>
        </p:nvSpPr>
        <p:spPr>
          <a:xfrm>
            <a:off x="8321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'25</a:t>
            </a:r>
            <a:endParaRPr/>
          </a:p>
        </p:txBody>
      </p:sp>
      <p:sp>
        <p:nvSpPr>
          <p:cNvPr id="7235" name="Google Shape;7235;p43"/>
          <p:cNvSpPr txBox="1"/>
          <p:nvPr/>
        </p:nvSpPr>
        <p:spPr>
          <a:xfrm>
            <a:off x="9006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'26</a:t>
            </a:r>
            <a:endParaRPr/>
          </a:p>
        </p:txBody>
      </p:sp>
      <p:sp>
        <p:nvSpPr>
          <p:cNvPr id="7236" name="Google Shape;7236;p43"/>
          <p:cNvSpPr txBox="1"/>
          <p:nvPr/>
        </p:nvSpPr>
        <p:spPr>
          <a:xfrm>
            <a:off x="969264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'25 Tot</a:t>
            </a:r>
            <a:endParaRPr/>
          </a:p>
        </p:txBody>
      </p:sp>
      <p:sp>
        <p:nvSpPr>
          <p:cNvPr id="7237" name="Google Shape;7237;p43"/>
          <p:cNvSpPr txBox="1"/>
          <p:nvPr/>
        </p:nvSpPr>
        <p:spPr>
          <a:xfrm>
            <a:off x="1088136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'26 Tot</a:t>
            </a:r>
            <a:endParaRPr/>
          </a:p>
        </p:txBody>
      </p:sp>
      <p:sp>
        <p:nvSpPr>
          <p:cNvPr id="7238" name="Google Shape;7238;p43"/>
          <p:cNvSpPr txBox="1"/>
          <p:nvPr/>
        </p:nvSpPr>
        <p:spPr>
          <a:xfrm>
            <a:off x="365760" y="523951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7239" name="Google Shape;7239;p43"/>
          <p:cNvSpPr txBox="1"/>
          <p:nvPr/>
        </p:nvSpPr>
        <p:spPr>
          <a:xfrm>
            <a:off x="1463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76</a:t>
            </a:r>
            <a:endParaRPr/>
          </a:p>
        </p:txBody>
      </p:sp>
      <p:sp>
        <p:nvSpPr>
          <p:cNvPr id="7240" name="Google Shape;7240;p43"/>
          <p:cNvSpPr txBox="1"/>
          <p:nvPr/>
        </p:nvSpPr>
        <p:spPr>
          <a:xfrm>
            <a:off x="2148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7241" name="Google Shape;7241;p43"/>
          <p:cNvSpPr txBox="1"/>
          <p:nvPr/>
        </p:nvSpPr>
        <p:spPr>
          <a:xfrm>
            <a:off x="2834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71</a:t>
            </a:r>
            <a:endParaRPr/>
          </a:p>
        </p:txBody>
      </p:sp>
      <p:sp>
        <p:nvSpPr>
          <p:cNvPr id="7242" name="Google Shape;7242;p43"/>
          <p:cNvSpPr txBox="1"/>
          <p:nvPr/>
        </p:nvSpPr>
        <p:spPr>
          <a:xfrm>
            <a:off x="3520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7243" name="Google Shape;7243;p43"/>
          <p:cNvSpPr txBox="1"/>
          <p:nvPr/>
        </p:nvSpPr>
        <p:spPr>
          <a:xfrm>
            <a:off x="4206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75</a:t>
            </a:r>
            <a:endParaRPr/>
          </a:p>
        </p:txBody>
      </p:sp>
      <p:sp>
        <p:nvSpPr>
          <p:cNvPr id="7244" name="Google Shape;7244;p43"/>
          <p:cNvSpPr txBox="1"/>
          <p:nvPr/>
        </p:nvSpPr>
        <p:spPr>
          <a:xfrm>
            <a:off x="4892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</a:t>
            </a:r>
            <a:endParaRPr/>
          </a:p>
        </p:txBody>
      </p:sp>
      <p:sp>
        <p:nvSpPr>
          <p:cNvPr id="7245" name="Google Shape;7245;p43"/>
          <p:cNvSpPr txBox="1"/>
          <p:nvPr/>
        </p:nvSpPr>
        <p:spPr>
          <a:xfrm>
            <a:off x="5577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49</a:t>
            </a:r>
            <a:endParaRPr/>
          </a:p>
        </p:txBody>
      </p:sp>
      <p:sp>
        <p:nvSpPr>
          <p:cNvPr id="7246" name="Google Shape;7246;p43"/>
          <p:cNvSpPr txBox="1"/>
          <p:nvPr/>
        </p:nvSpPr>
        <p:spPr>
          <a:xfrm>
            <a:off x="6263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/>
          </a:p>
        </p:txBody>
      </p:sp>
      <p:sp>
        <p:nvSpPr>
          <p:cNvPr id="7247" name="Google Shape;7247;p43"/>
          <p:cNvSpPr txBox="1"/>
          <p:nvPr/>
        </p:nvSpPr>
        <p:spPr>
          <a:xfrm>
            <a:off x="6949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80</a:t>
            </a:r>
            <a:endParaRPr/>
          </a:p>
        </p:txBody>
      </p:sp>
      <p:sp>
        <p:nvSpPr>
          <p:cNvPr id="7248" name="Google Shape;7248;p43"/>
          <p:cNvSpPr txBox="1"/>
          <p:nvPr/>
        </p:nvSpPr>
        <p:spPr>
          <a:xfrm>
            <a:off x="7635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7249" name="Google Shape;7249;p43"/>
          <p:cNvSpPr txBox="1"/>
          <p:nvPr/>
        </p:nvSpPr>
        <p:spPr>
          <a:xfrm>
            <a:off x="8321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48</a:t>
            </a:r>
            <a:endParaRPr/>
          </a:p>
        </p:txBody>
      </p:sp>
      <p:sp>
        <p:nvSpPr>
          <p:cNvPr id="7250" name="Google Shape;7250;p43"/>
          <p:cNvSpPr txBox="1"/>
          <p:nvPr/>
        </p:nvSpPr>
        <p:spPr>
          <a:xfrm>
            <a:off x="9006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251" name="Google Shape;7251;p43"/>
          <p:cNvSpPr txBox="1"/>
          <p:nvPr/>
        </p:nvSpPr>
        <p:spPr>
          <a:xfrm>
            <a:off x="969264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399</a:t>
            </a:r>
            <a:endParaRPr/>
          </a:p>
        </p:txBody>
      </p:sp>
      <p:sp>
        <p:nvSpPr>
          <p:cNvPr id="7252" name="Google Shape;7252;p43"/>
          <p:cNvSpPr txBox="1"/>
          <p:nvPr/>
        </p:nvSpPr>
        <p:spPr>
          <a:xfrm>
            <a:off x="1088136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28</a:t>
            </a:r>
            <a:endParaRPr/>
          </a:p>
        </p:txBody>
      </p:sp>
      <p:sp>
        <p:nvSpPr>
          <p:cNvPr id="7253" name="Google Shape;7253;p43"/>
          <p:cNvSpPr txBox="1"/>
          <p:nvPr/>
        </p:nvSpPr>
        <p:spPr>
          <a:xfrm>
            <a:off x="365760" y="542239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Bound Premium</a:t>
            </a:r>
            <a:endParaRPr/>
          </a:p>
        </p:txBody>
      </p:sp>
      <p:sp>
        <p:nvSpPr>
          <p:cNvPr id="7254" name="Google Shape;7254;p43"/>
          <p:cNvSpPr txBox="1"/>
          <p:nvPr/>
        </p:nvSpPr>
        <p:spPr>
          <a:xfrm>
            <a:off x="1463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$85K</a:t>
            </a:r>
            <a:endParaRPr/>
          </a:p>
        </p:txBody>
      </p:sp>
      <p:sp>
        <p:nvSpPr>
          <p:cNvPr id="7255" name="Google Shape;7255;p43"/>
          <p:cNvSpPr txBox="1"/>
          <p:nvPr/>
        </p:nvSpPr>
        <p:spPr>
          <a:xfrm>
            <a:off x="2148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$-6,411</a:t>
            </a:r>
            <a:endParaRPr/>
          </a:p>
        </p:txBody>
      </p:sp>
      <p:sp>
        <p:nvSpPr>
          <p:cNvPr id="7256" name="Google Shape;7256;p43"/>
          <p:cNvSpPr txBox="1"/>
          <p:nvPr/>
        </p:nvSpPr>
        <p:spPr>
          <a:xfrm>
            <a:off x="2834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$6K</a:t>
            </a:r>
            <a:endParaRPr/>
          </a:p>
        </p:txBody>
      </p:sp>
      <p:sp>
        <p:nvSpPr>
          <p:cNvPr id="7257" name="Google Shape;7257;p43"/>
          <p:cNvSpPr txBox="1"/>
          <p:nvPr/>
        </p:nvSpPr>
        <p:spPr>
          <a:xfrm>
            <a:off x="3520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258" name="Google Shape;7258;p43"/>
          <p:cNvSpPr txBox="1"/>
          <p:nvPr/>
        </p:nvSpPr>
        <p:spPr>
          <a:xfrm>
            <a:off x="4206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$69K</a:t>
            </a:r>
            <a:endParaRPr/>
          </a:p>
        </p:txBody>
      </p:sp>
      <p:sp>
        <p:nvSpPr>
          <p:cNvPr id="7259" name="Google Shape;7259;p43"/>
          <p:cNvSpPr txBox="1"/>
          <p:nvPr/>
        </p:nvSpPr>
        <p:spPr>
          <a:xfrm>
            <a:off x="4892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$4K</a:t>
            </a:r>
            <a:endParaRPr/>
          </a:p>
        </p:txBody>
      </p:sp>
      <p:sp>
        <p:nvSpPr>
          <p:cNvPr id="7260" name="Google Shape;7260;p43"/>
          <p:cNvSpPr txBox="1"/>
          <p:nvPr/>
        </p:nvSpPr>
        <p:spPr>
          <a:xfrm>
            <a:off x="5577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$83K</a:t>
            </a:r>
            <a:endParaRPr/>
          </a:p>
        </p:txBody>
      </p:sp>
      <p:sp>
        <p:nvSpPr>
          <p:cNvPr id="7261" name="Google Shape;7261;p43"/>
          <p:cNvSpPr txBox="1"/>
          <p:nvPr/>
        </p:nvSpPr>
        <p:spPr>
          <a:xfrm>
            <a:off x="6263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$-31</a:t>
            </a:r>
            <a:endParaRPr/>
          </a:p>
        </p:txBody>
      </p:sp>
      <p:sp>
        <p:nvSpPr>
          <p:cNvPr id="7262" name="Google Shape;7262;p43"/>
          <p:cNvSpPr txBox="1"/>
          <p:nvPr/>
        </p:nvSpPr>
        <p:spPr>
          <a:xfrm>
            <a:off x="6949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$52K</a:t>
            </a:r>
            <a:endParaRPr/>
          </a:p>
        </p:txBody>
      </p:sp>
      <p:sp>
        <p:nvSpPr>
          <p:cNvPr id="7263" name="Google Shape;7263;p43"/>
          <p:cNvSpPr txBox="1"/>
          <p:nvPr/>
        </p:nvSpPr>
        <p:spPr>
          <a:xfrm>
            <a:off x="7635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$20K</a:t>
            </a:r>
            <a:endParaRPr/>
          </a:p>
        </p:txBody>
      </p:sp>
      <p:sp>
        <p:nvSpPr>
          <p:cNvPr id="7264" name="Google Shape;7264;p43"/>
          <p:cNvSpPr txBox="1"/>
          <p:nvPr/>
        </p:nvSpPr>
        <p:spPr>
          <a:xfrm>
            <a:off x="8321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$139K</a:t>
            </a:r>
            <a:endParaRPr/>
          </a:p>
        </p:txBody>
      </p:sp>
      <p:sp>
        <p:nvSpPr>
          <p:cNvPr id="7265" name="Google Shape;7265;p43"/>
          <p:cNvSpPr txBox="1"/>
          <p:nvPr/>
        </p:nvSpPr>
        <p:spPr>
          <a:xfrm>
            <a:off x="9006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266" name="Google Shape;7266;p43"/>
          <p:cNvSpPr txBox="1"/>
          <p:nvPr/>
        </p:nvSpPr>
        <p:spPr>
          <a:xfrm>
            <a:off x="969264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$434K</a:t>
            </a:r>
            <a:endParaRPr/>
          </a:p>
        </p:txBody>
      </p:sp>
      <p:sp>
        <p:nvSpPr>
          <p:cNvPr id="7267" name="Google Shape;7267;p43"/>
          <p:cNvSpPr txBox="1"/>
          <p:nvPr/>
        </p:nvSpPr>
        <p:spPr>
          <a:xfrm>
            <a:off x="1088136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$18K</a:t>
            </a:r>
            <a:endParaRPr/>
          </a:p>
        </p:txBody>
      </p:sp>
      <p:sp>
        <p:nvSpPr>
          <p:cNvPr id="7268" name="Google Shape;7268;p43"/>
          <p:cNvSpPr/>
          <p:nvPr/>
        </p:nvSpPr>
        <p:spPr>
          <a:xfrm>
            <a:off x="365760" y="5678423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9" name="Google Shape;7269;p43"/>
          <p:cNvSpPr txBox="1"/>
          <p:nvPr/>
        </p:nvSpPr>
        <p:spPr>
          <a:xfrm>
            <a:off x="4572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65F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STRENGTHS - What's Working</a:t>
            </a:r>
            <a:endParaRPr/>
          </a:p>
        </p:txBody>
      </p:sp>
      <p:sp>
        <p:nvSpPr>
          <p:cNvPr id="7270" name="Google Shape;7270;p43"/>
          <p:cNvSpPr txBox="1"/>
          <p:nvPr/>
        </p:nvSpPr>
        <p:spPr>
          <a:xfrm>
            <a:off x="4572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7271" name="Google Shape;7271;p43"/>
          <p:cNvSpPr txBox="1"/>
          <p:nvPr/>
        </p:nvSpPr>
        <p:spPr>
          <a:xfrm>
            <a:off x="685800" y="5952743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$17,658 YTD gross written premium</a:t>
            </a:r>
            <a:endParaRPr/>
          </a:p>
        </p:txBody>
      </p:sp>
      <p:sp>
        <p:nvSpPr>
          <p:cNvPr id="7272" name="Google Shape;7272;p43"/>
          <p:cNvSpPr txBox="1"/>
          <p:nvPr/>
        </p:nvSpPr>
        <p:spPr>
          <a:xfrm>
            <a:off x="457200" y="6153911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7273" name="Google Shape;7273;p43"/>
          <p:cNvSpPr txBox="1"/>
          <p:nvPr/>
        </p:nvSpPr>
        <p:spPr>
          <a:xfrm>
            <a:off x="685800" y="6153911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$20,248 in renewals - strong retention</a:t>
            </a:r>
            <a:endParaRPr/>
          </a:p>
        </p:txBody>
      </p:sp>
      <p:sp>
        <p:nvSpPr>
          <p:cNvPr id="7274" name="Google Shape;7274;p43"/>
          <p:cNvSpPr/>
          <p:nvPr/>
        </p:nvSpPr>
        <p:spPr>
          <a:xfrm>
            <a:off x="6309360" y="5678423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5" name="Google Shape;7275;p43"/>
          <p:cNvSpPr txBox="1"/>
          <p:nvPr/>
        </p:nvSpPr>
        <p:spPr>
          <a:xfrm>
            <a:off x="64008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NEEDS ATTENTION</a:t>
            </a:r>
            <a:endParaRPr/>
          </a:p>
        </p:txBody>
      </p:sp>
      <p:sp>
        <p:nvSpPr>
          <p:cNvPr id="7276" name="Google Shape;7276;p43"/>
          <p:cNvSpPr txBox="1"/>
          <p:nvPr/>
        </p:nvSpPr>
        <p:spPr>
          <a:xfrm>
            <a:off x="64008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7277" name="Google Shape;7277;p43"/>
          <p:cNvSpPr txBox="1"/>
          <p:nvPr/>
        </p:nvSpPr>
        <p:spPr>
          <a:xfrm>
            <a:off x="6629400" y="5952743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 volume dropped from 7 to 3 MoM</a:t>
            </a:r>
            <a:endParaRPr/>
          </a:p>
        </p:txBody>
      </p:sp>
      <p:sp>
        <p:nvSpPr>
          <p:cNvPr id="7278" name="Google Shape;7278;p43"/>
          <p:cNvSpPr txBox="1"/>
          <p:nvPr/>
        </p:nvSpPr>
        <p:spPr>
          <a:xfrm>
            <a:off x="6400800" y="6153911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7279" name="Google Shape;7279;p43"/>
          <p:cNvSpPr txBox="1"/>
          <p:nvPr/>
        </p:nvSpPr>
        <p:spPr>
          <a:xfrm>
            <a:off x="6629400" y="6153911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new business - all premium from renewals/endorsements only</a:t>
            </a:r>
            <a:endParaRPr/>
          </a:p>
        </p:txBody>
      </p:sp>
      <p:sp>
        <p:nvSpPr>
          <p:cNvPr id="7280" name="Google Shape;7280;p43"/>
          <p:cNvSpPr/>
          <p:nvPr/>
        </p:nvSpPr>
        <p:spPr>
          <a:xfrm>
            <a:off x="365760" y="6455663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1" name="Google Shape;7281;p43"/>
          <p:cNvSpPr txBox="1"/>
          <p:nvPr/>
        </p:nvSpPr>
        <p:spPr>
          <a:xfrm>
            <a:off x="457200" y="6464807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STRATEGIC SALES TIPS - Conversation Starters</a:t>
            </a:r>
            <a:endParaRPr/>
          </a:p>
        </p:txBody>
      </p:sp>
      <p:sp>
        <p:nvSpPr>
          <p:cNvPr id="7282" name="Google Shape;7282;p43"/>
          <p:cNvSpPr txBox="1"/>
          <p:nvPr/>
        </p:nvSpPr>
        <p:spPr>
          <a:xfrm>
            <a:off x="457200" y="6711695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endParaRPr/>
          </a:p>
        </p:txBody>
      </p:sp>
      <p:sp>
        <p:nvSpPr>
          <p:cNvPr id="7283" name="Google Shape;7283;p43"/>
          <p:cNvSpPr txBox="1"/>
          <p:nvPr/>
        </p:nvSpPr>
        <p:spPr>
          <a:xfrm>
            <a:off x="777240" y="6711695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Open with a value-add: share a recent market update or new appetite expansion relevant to their book. Position yourself as a resource, not just a follow-up call.</a:t>
            </a:r>
            <a:endParaRPr/>
          </a:p>
        </p:txBody>
      </p:sp>
      <p:sp>
        <p:nvSpPr>
          <p:cNvPr id="7284" name="Google Shape;7284;p43"/>
          <p:cNvSpPr txBox="1"/>
          <p:nvPr/>
        </p:nvSpPr>
        <p:spPr>
          <a:xfrm>
            <a:off x="457200" y="6949439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endParaRPr/>
          </a:p>
        </p:txBody>
      </p:sp>
      <p:sp>
        <p:nvSpPr>
          <p:cNvPr id="7285" name="Google Shape;7285;p43"/>
          <p:cNvSpPr txBox="1"/>
          <p:nvPr/>
        </p:nvSpPr>
        <p:spPr>
          <a:xfrm>
            <a:off x="777240" y="6949439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Ask: "What's the biggest challenge in your trucking book right now?" Use their answer to tailor your next outreach with specific solutions.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89" name="Shape 7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0" name="Google Shape;7290;p44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1" name="Google Shape;7291;p44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Prominent Services Inc</a:t>
            </a:r>
            <a:endParaRPr/>
          </a:p>
        </p:txBody>
      </p:sp>
      <p:sp>
        <p:nvSpPr>
          <p:cNvPr id="7292" name="Google Shape;7292;p44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4B5F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Tier: Tier 2  |  Region: Southeast  |  State: FL  |  City: Miami</a:t>
            </a:r>
            <a:endParaRPr/>
          </a:p>
        </p:txBody>
      </p:sp>
      <p:sp>
        <p:nvSpPr>
          <p:cNvPr id="7293" name="Google Shape;7293;p44"/>
          <p:cNvSpPr/>
          <p:nvPr/>
        </p:nvSpPr>
        <p:spPr>
          <a:xfrm>
            <a:off x="22860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$9,734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YTD GWP</a:t>
            </a:r>
            <a:endParaRPr/>
          </a:p>
        </p:txBody>
      </p:sp>
      <p:sp>
        <p:nvSpPr>
          <p:cNvPr id="7294" name="Google Shape;7294;p44"/>
          <p:cNvSpPr/>
          <p:nvPr/>
        </p:nvSpPr>
        <p:spPr>
          <a:xfrm>
            <a:off x="256032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7295" name="Google Shape;7295;p44"/>
          <p:cNvSpPr/>
          <p:nvPr/>
        </p:nvSpPr>
        <p:spPr>
          <a:xfrm>
            <a:off x="489204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7296" name="Google Shape;7296;p44"/>
          <p:cNvSpPr/>
          <p:nvPr/>
        </p:nvSpPr>
        <p:spPr>
          <a:xfrm>
            <a:off x="7223759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$9,734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7297" name="Google Shape;7297;p44"/>
          <p:cNvSpPr/>
          <p:nvPr/>
        </p:nvSpPr>
        <p:spPr>
          <a:xfrm>
            <a:off x="955548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$-5,656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7298" name="Google Shape;7298;p44"/>
          <p:cNvSpPr/>
          <p:nvPr/>
        </p:nvSpPr>
        <p:spPr>
          <a:xfrm>
            <a:off x="137160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$454,398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2025 Full Year GWP</a:t>
            </a:r>
            <a:endParaRPr/>
          </a:p>
        </p:txBody>
      </p:sp>
      <p:sp>
        <p:nvSpPr>
          <p:cNvPr id="7299" name="Google Shape;7299;p44"/>
          <p:cNvSpPr/>
          <p:nvPr/>
        </p:nvSpPr>
        <p:spPr>
          <a:xfrm>
            <a:off x="1627631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$159,706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Rolling 12M GWP</a:t>
            </a:r>
            <a:endParaRPr/>
          </a:p>
        </p:txBody>
      </p:sp>
      <p:sp>
        <p:nvSpPr>
          <p:cNvPr id="7300" name="Google Shape;7300;p44"/>
          <p:cNvSpPr/>
          <p:nvPr/>
        </p:nvSpPr>
        <p:spPr>
          <a:xfrm>
            <a:off x="3118103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% to Goal</a:t>
            </a:r>
            <a:endParaRPr/>
          </a:p>
        </p:txBody>
      </p:sp>
      <p:sp>
        <p:nvSpPr>
          <p:cNvPr id="7301" name="Google Shape;7301;p44"/>
          <p:cNvSpPr/>
          <p:nvPr/>
        </p:nvSpPr>
        <p:spPr>
          <a:xfrm>
            <a:off x="4608576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57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7302" name="Google Shape;7302;p44"/>
          <p:cNvSpPr/>
          <p:nvPr/>
        </p:nvSpPr>
        <p:spPr>
          <a:xfrm>
            <a:off x="6099048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7303" name="Google Shape;7303;p44"/>
          <p:cNvSpPr/>
          <p:nvPr/>
        </p:nvSpPr>
        <p:spPr>
          <a:xfrm>
            <a:off x="7589519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3.5%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7304" name="Google Shape;7304;p44"/>
          <p:cNvSpPr/>
          <p:nvPr/>
        </p:nvSpPr>
        <p:spPr>
          <a:xfrm>
            <a:off x="9079992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 Bound Prem</a:t>
            </a:r>
            <a:endParaRPr/>
          </a:p>
        </p:txBody>
      </p:sp>
      <p:sp>
        <p:nvSpPr>
          <p:cNvPr id="7305" name="Google Shape;7305;p44"/>
          <p:cNvSpPr/>
          <p:nvPr/>
        </p:nvSpPr>
        <p:spPr>
          <a:xfrm>
            <a:off x="10570464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$66,413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NF Bound Prem</a:t>
            </a:r>
            <a:endParaRPr/>
          </a:p>
        </p:txBody>
      </p:sp>
      <p:sp>
        <p:nvSpPr>
          <p:cNvPr id="7306" name="Google Shape;7306;p44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7" name="Google Shape;7307;p44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PRODUCTION BY MONTH</a:t>
            </a:r>
            <a:endParaRPr/>
          </a:p>
        </p:txBody>
      </p:sp>
      <p:sp>
        <p:nvSpPr>
          <p:cNvPr id="7308" name="Google Shape;7308;p44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7309" name="Google Shape;7309;p44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Written Premium</a:t>
            </a:r>
            <a:endParaRPr/>
          </a:p>
        </p:txBody>
      </p:sp>
      <p:sp>
        <p:nvSpPr>
          <p:cNvPr id="7310" name="Google Shape;7310;p44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7311" name="Google Shape;7311;p44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7312" name="Google Shape;7312;p44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7313" name="Google Shape;7313;p4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7314" name="Google Shape;7314;p44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5" name="Google Shape;7315;p44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7316" name="Google Shape;7316;p44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$1,054</a:t>
            </a:r>
            <a:endParaRPr/>
          </a:p>
        </p:txBody>
      </p:sp>
      <p:sp>
        <p:nvSpPr>
          <p:cNvPr id="7317" name="Google Shape;7317;p44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318" name="Google Shape;7318;p44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319" name="Google Shape;7319;p44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$1,054</a:t>
            </a:r>
            <a:endParaRPr/>
          </a:p>
        </p:txBody>
      </p:sp>
      <p:sp>
        <p:nvSpPr>
          <p:cNvPr id="7320" name="Google Shape;7320;p44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321" name="Google Shape;7321;p44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2" name="Google Shape;7322;p44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7323" name="Google Shape;7323;p4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$5,656</a:t>
            </a:r>
            <a:endParaRPr/>
          </a:p>
        </p:txBody>
      </p:sp>
      <p:sp>
        <p:nvSpPr>
          <p:cNvPr id="7324" name="Google Shape;7324;p44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325" name="Google Shape;7325;p44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326" name="Google Shape;7326;p44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$5,656</a:t>
            </a:r>
            <a:endParaRPr/>
          </a:p>
        </p:txBody>
      </p:sp>
      <p:sp>
        <p:nvSpPr>
          <p:cNvPr id="7327" name="Google Shape;7327;p44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$-5,656</a:t>
            </a:r>
            <a:endParaRPr/>
          </a:p>
        </p:txBody>
      </p:sp>
      <p:sp>
        <p:nvSpPr>
          <p:cNvPr id="7328" name="Google Shape;7328;p44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9" name="Google Shape;7329;p44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7330" name="Google Shape;7330;p44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331" name="Google Shape;7331;p44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332" name="Google Shape;7332;p44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333" name="Google Shape;7333;p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334" name="Google Shape;7334;p44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335" name="Google Shape;7335;p44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6" name="Google Shape;7336;p44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7337" name="Google Shape;7337;p44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$2,527</a:t>
            </a:r>
            <a:endParaRPr/>
          </a:p>
        </p:txBody>
      </p:sp>
      <p:sp>
        <p:nvSpPr>
          <p:cNvPr id="7338" name="Google Shape;7338;p44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339" name="Google Shape;7339;p44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340" name="Google Shape;7340;p44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$2,527</a:t>
            </a:r>
            <a:endParaRPr/>
          </a:p>
        </p:txBody>
      </p:sp>
      <p:sp>
        <p:nvSpPr>
          <p:cNvPr id="7341" name="Google Shape;7341;p44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342" name="Google Shape;7342;p44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3" name="Google Shape;7343;p4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7344" name="Google Shape;7344;p44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$498</a:t>
            </a:r>
            <a:endParaRPr/>
          </a:p>
        </p:txBody>
      </p:sp>
      <p:sp>
        <p:nvSpPr>
          <p:cNvPr id="7345" name="Google Shape;7345;p44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346" name="Google Shape;7346;p44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347" name="Google Shape;7347;p44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$498</a:t>
            </a:r>
            <a:endParaRPr/>
          </a:p>
        </p:txBody>
      </p:sp>
      <p:sp>
        <p:nvSpPr>
          <p:cNvPr id="7348" name="Google Shape;7348;p44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349" name="Google Shape;7349;p44"/>
          <p:cNvSpPr/>
          <p:nvPr/>
        </p:nvSpPr>
        <p:spPr>
          <a:xfrm>
            <a:off x="365760" y="4123944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0" name="Google Shape;7350;p44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7351" name="Google Shape;7351;p44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352" name="Google Shape;7352;p44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353" name="Google Shape;7353;p4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354" name="Google Shape;7354;p44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355" name="Google Shape;7355;p44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356" name="Google Shape;7356;p44"/>
          <p:cNvSpPr/>
          <p:nvPr/>
        </p:nvSpPr>
        <p:spPr>
          <a:xfrm>
            <a:off x="365760" y="4425696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7" name="Google Shape;7357;p44"/>
          <p:cNvSpPr txBox="1"/>
          <p:nvPr/>
        </p:nvSpPr>
        <p:spPr>
          <a:xfrm>
            <a:off x="3657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7358" name="Google Shape;7358;p44"/>
          <p:cNvSpPr txBox="1"/>
          <p:nvPr/>
        </p:nvSpPr>
        <p:spPr>
          <a:xfrm>
            <a:off x="1280160" y="446227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$9,734</a:t>
            </a:r>
            <a:endParaRPr/>
          </a:p>
        </p:txBody>
      </p:sp>
      <p:sp>
        <p:nvSpPr>
          <p:cNvPr id="7359" name="Google Shape;7359;p44"/>
          <p:cNvSpPr txBox="1"/>
          <p:nvPr/>
        </p:nvSpPr>
        <p:spPr>
          <a:xfrm>
            <a:off x="2377439" y="446227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360" name="Google Shape;7360;p44"/>
          <p:cNvSpPr txBox="1"/>
          <p:nvPr/>
        </p:nvSpPr>
        <p:spPr>
          <a:xfrm>
            <a:off x="33832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361" name="Google Shape;7361;p44"/>
          <p:cNvSpPr txBox="1"/>
          <p:nvPr/>
        </p:nvSpPr>
        <p:spPr>
          <a:xfrm>
            <a:off x="42976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$9,734</a:t>
            </a:r>
            <a:endParaRPr/>
          </a:p>
        </p:txBody>
      </p:sp>
      <p:sp>
        <p:nvSpPr>
          <p:cNvPr id="7362" name="Google Shape;7362;p44"/>
          <p:cNvSpPr txBox="1"/>
          <p:nvPr/>
        </p:nvSpPr>
        <p:spPr>
          <a:xfrm>
            <a:off x="52120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$-5,656</a:t>
            </a:r>
            <a:endParaRPr/>
          </a:p>
        </p:txBody>
      </p:sp>
      <p:sp>
        <p:nvSpPr>
          <p:cNvPr id="7363" name="Google Shape;7363;p44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4" name="Google Shape;7364;p44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 &amp; PIPELINE</a:t>
            </a:r>
            <a:endParaRPr/>
          </a:p>
        </p:txBody>
      </p:sp>
      <p:sp>
        <p:nvSpPr>
          <p:cNvPr id="7365" name="Google Shape;7365;p44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7366" name="Google Shape;7366;p44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Subs</a:t>
            </a:r>
            <a:endParaRPr/>
          </a:p>
        </p:txBody>
      </p:sp>
      <p:sp>
        <p:nvSpPr>
          <p:cNvPr id="7367" name="Google Shape;7367;p44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</a:t>
            </a:r>
            <a:endParaRPr/>
          </a:p>
        </p:txBody>
      </p:sp>
      <p:sp>
        <p:nvSpPr>
          <p:cNvPr id="7368" name="Google Shape;7368;p44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Non-Fleet</a:t>
            </a:r>
            <a:endParaRPr/>
          </a:p>
        </p:txBody>
      </p:sp>
      <p:sp>
        <p:nvSpPr>
          <p:cNvPr id="7369" name="Google Shape;7369;p44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7370" name="Google Shape;7370;p4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7371" name="Google Shape;7371;p44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2" name="Google Shape;7372;p44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7373" name="Google Shape;7373;p44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7374" name="Google Shape;7374;p44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375" name="Google Shape;7375;p44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7376" name="Google Shape;7376;p44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7377" name="Google Shape;7377;p44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33.3%</a:t>
            </a:r>
            <a:endParaRPr/>
          </a:p>
        </p:txBody>
      </p:sp>
      <p:sp>
        <p:nvSpPr>
          <p:cNvPr id="7378" name="Google Shape;7378;p44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9" name="Google Shape;7379;p44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7380" name="Google Shape;7380;p4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7381" name="Google Shape;7381;p44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382" name="Google Shape;7382;p44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7383" name="Google Shape;7383;p44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7384" name="Google Shape;7384;p44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20.0%</a:t>
            </a:r>
            <a:endParaRPr/>
          </a:p>
        </p:txBody>
      </p:sp>
      <p:sp>
        <p:nvSpPr>
          <p:cNvPr id="7385" name="Google Shape;7385;p44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6" name="Google Shape;7386;p44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7387" name="Google Shape;7387;p44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</a:t>
            </a:r>
            <a:endParaRPr/>
          </a:p>
        </p:txBody>
      </p:sp>
      <p:sp>
        <p:nvSpPr>
          <p:cNvPr id="7388" name="Google Shape;7388;p44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7389" name="Google Shape;7389;p44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</a:t>
            </a:r>
            <a:endParaRPr/>
          </a:p>
        </p:txBody>
      </p:sp>
      <p:sp>
        <p:nvSpPr>
          <p:cNvPr id="7390" name="Google Shape;7390;p4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391" name="Google Shape;7391;p44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7392" name="Google Shape;7392;p44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3" name="Google Shape;7393;p44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7394" name="Google Shape;7394;p44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</a:t>
            </a:r>
            <a:endParaRPr/>
          </a:p>
        </p:txBody>
      </p:sp>
      <p:sp>
        <p:nvSpPr>
          <p:cNvPr id="7395" name="Google Shape;7395;p44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7396" name="Google Shape;7396;p44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</a:t>
            </a:r>
            <a:endParaRPr/>
          </a:p>
        </p:txBody>
      </p:sp>
      <p:sp>
        <p:nvSpPr>
          <p:cNvPr id="7397" name="Google Shape;7397;p44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7398" name="Google Shape;7398;p44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5.3%</a:t>
            </a:r>
            <a:endParaRPr/>
          </a:p>
        </p:txBody>
      </p:sp>
      <p:sp>
        <p:nvSpPr>
          <p:cNvPr id="7399" name="Google Shape;7399;p44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0" name="Google Shape;7400;p4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7401" name="Google Shape;7401;p44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</a:t>
            </a:r>
            <a:endParaRPr/>
          </a:p>
        </p:txBody>
      </p:sp>
      <p:sp>
        <p:nvSpPr>
          <p:cNvPr id="7402" name="Google Shape;7402;p44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7403" name="Google Shape;7403;p44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</a:t>
            </a:r>
            <a:endParaRPr/>
          </a:p>
        </p:txBody>
      </p:sp>
      <p:sp>
        <p:nvSpPr>
          <p:cNvPr id="7404" name="Google Shape;7404;p44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7405" name="Google Shape;7405;p44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9.1%</a:t>
            </a:r>
            <a:endParaRPr/>
          </a:p>
        </p:txBody>
      </p:sp>
      <p:sp>
        <p:nvSpPr>
          <p:cNvPr id="7406" name="Google Shape;7406;p44"/>
          <p:cNvSpPr/>
          <p:nvPr/>
        </p:nvSpPr>
        <p:spPr>
          <a:xfrm>
            <a:off x="6309360" y="4123944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7" name="Google Shape;7407;p44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7408" name="Google Shape;7408;p44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409" name="Google Shape;7409;p44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410" name="Google Shape;7410;p4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411" name="Google Shape;7411;p44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412" name="Google Shape;7412;p44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7413" name="Google Shape;7413;p44"/>
          <p:cNvSpPr/>
          <p:nvPr/>
        </p:nvSpPr>
        <p:spPr>
          <a:xfrm>
            <a:off x="6309360" y="4425696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4" name="Google Shape;7414;p44"/>
          <p:cNvSpPr txBox="1"/>
          <p:nvPr/>
        </p:nvSpPr>
        <p:spPr>
          <a:xfrm>
            <a:off x="63093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7415" name="Google Shape;7415;p44"/>
          <p:cNvSpPr txBox="1"/>
          <p:nvPr/>
        </p:nvSpPr>
        <p:spPr>
          <a:xfrm>
            <a:off x="722376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57</a:t>
            </a:r>
            <a:endParaRPr/>
          </a:p>
        </p:txBody>
      </p:sp>
      <p:sp>
        <p:nvSpPr>
          <p:cNvPr id="7416" name="Google Shape;7416;p44"/>
          <p:cNvSpPr txBox="1"/>
          <p:nvPr/>
        </p:nvSpPr>
        <p:spPr>
          <a:xfrm>
            <a:off x="804672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/>
          </a:p>
        </p:txBody>
      </p:sp>
      <p:sp>
        <p:nvSpPr>
          <p:cNvPr id="7417" name="Google Shape;7417;p44"/>
          <p:cNvSpPr txBox="1"/>
          <p:nvPr/>
        </p:nvSpPr>
        <p:spPr>
          <a:xfrm>
            <a:off x="886968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50</a:t>
            </a:r>
            <a:endParaRPr/>
          </a:p>
        </p:txBody>
      </p:sp>
      <p:sp>
        <p:nvSpPr>
          <p:cNvPr id="7418" name="Google Shape;7418;p44"/>
          <p:cNvSpPr txBox="1"/>
          <p:nvPr/>
        </p:nvSpPr>
        <p:spPr>
          <a:xfrm>
            <a:off x="978408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7419" name="Google Shape;7419;p44"/>
          <p:cNvSpPr txBox="1"/>
          <p:nvPr/>
        </p:nvSpPr>
        <p:spPr>
          <a:xfrm>
            <a:off x="1060704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3.5%</a:t>
            </a:r>
            <a:endParaRPr/>
          </a:p>
        </p:txBody>
      </p:sp>
      <p:sp>
        <p:nvSpPr>
          <p:cNvPr id="7420" name="Google Shape;7420;p44"/>
          <p:cNvSpPr/>
          <p:nvPr/>
        </p:nvSpPr>
        <p:spPr>
          <a:xfrm>
            <a:off x="365760" y="4782312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1" name="Google Shape;7421;p44"/>
          <p:cNvSpPr txBox="1"/>
          <p:nvPr/>
        </p:nvSpPr>
        <p:spPr>
          <a:xfrm>
            <a:off x="457200" y="4800599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YOY COMPARISON — Jan–Jun 2025 vs Jan–Jun 2026</a:t>
            </a:r>
            <a:endParaRPr/>
          </a:p>
        </p:txBody>
      </p:sp>
      <p:sp>
        <p:nvSpPr>
          <p:cNvPr id="7422" name="Google Shape;7422;p44"/>
          <p:cNvSpPr txBox="1"/>
          <p:nvPr/>
        </p:nvSpPr>
        <p:spPr>
          <a:xfrm>
            <a:off x="365760" y="5056631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00" u="none" cap="none" strike="noStrike">
              <a:solidFill>
                <a:srgbClr val="6B728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423" name="Google Shape;7423;p44"/>
          <p:cNvSpPr txBox="1"/>
          <p:nvPr/>
        </p:nvSpPr>
        <p:spPr>
          <a:xfrm>
            <a:off x="1463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'25</a:t>
            </a:r>
            <a:endParaRPr/>
          </a:p>
        </p:txBody>
      </p:sp>
      <p:sp>
        <p:nvSpPr>
          <p:cNvPr id="7424" name="Google Shape;7424;p44"/>
          <p:cNvSpPr txBox="1"/>
          <p:nvPr/>
        </p:nvSpPr>
        <p:spPr>
          <a:xfrm>
            <a:off x="2148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'26</a:t>
            </a:r>
            <a:endParaRPr/>
          </a:p>
        </p:txBody>
      </p:sp>
      <p:sp>
        <p:nvSpPr>
          <p:cNvPr id="7425" name="Google Shape;7425;p44"/>
          <p:cNvSpPr txBox="1"/>
          <p:nvPr/>
        </p:nvSpPr>
        <p:spPr>
          <a:xfrm>
            <a:off x="2834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'25</a:t>
            </a:r>
            <a:endParaRPr/>
          </a:p>
        </p:txBody>
      </p:sp>
      <p:sp>
        <p:nvSpPr>
          <p:cNvPr id="7426" name="Google Shape;7426;p44"/>
          <p:cNvSpPr txBox="1"/>
          <p:nvPr/>
        </p:nvSpPr>
        <p:spPr>
          <a:xfrm>
            <a:off x="3520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'26</a:t>
            </a:r>
            <a:endParaRPr/>
          </a:p>
        </p:txBody>
      </p:sp>
      <p:sp>
        <p:nvSpPr>
          <p:cNvPr id="7427" name="Google Shape;7427;p44"/>
          <p:cNvSpPr txBox="1"/>
          <p:nvPr/>
        </p:nvSpPr>
        <p:spPr>
          <a:xfrm>
            <a:off x="4206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'25</a:t>
            </a:r>
            <a:endParaRPr/>
          </a:p>
        </p:txBody>
      </p:sp>
      <p:sp>
        <p:nvSpPr>
          <p:cNvPr id="7428" name="Google Shape;7428;p44"/>
          <p:cNvSpPr txBox="1"/>
          <p:nvPr/>
        </p:nvSpPr>
        <p:spPr>
          <a:xfrm>
            <a:off x="4892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'26</a:t>
            </a:r>
            <a:endParaRPr/>
          </a:p>
        </p:txBody>
      </p:sp>
      <p:sp>
        <p:nvSpPr>
          <p:cNvPr id="7429" name="Google Shape;7429;p44"/>
          <p:cNvSpPr txBox="1"/>
          <p:nvPr/>
        </p:nvSpPr>
        <p:spPr>
          <a:xfrm>
            <a:off x="5577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'25</a:t>
            </a:r>
            <a:endParaRPr/>
          </a:p>
        </p:txBody>
      </p:sp>
      <p:sp>
        <p:nvSpPr>
          <p:cNvPr id="7430" name="Google Shape;7430;p44"/>
          <p:cNvSpPr txBox="1"/>
          <p:nvPr/>
        </p:nvSpPr>
        <p:spPr>
          <a:xfrm>
            <a:off x="6263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'26</a:t>
            </a:r>
            <a:endParaRPr/>
          </a:p>
        </p:txBody>
      </p:sp>
      <p:sp>
        <p:nvSpPr>
          <p:cNvPr id="7431" name="Google Shape;7431;p44"/>
          <p:cNvSpPr txBox="1"/>
          <p:nvPr/>
        </p:nvSpPr>
        <p:spPr>
          <a:xfrm>
            <a:off x="6949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'25</a:t>
            </a:r>
            <a:endParaRPr/>
          </a:p>
        </p:txBody>
      </p:sp>
      <p:sp>
        <p:nvSpPr>
          <p:cNvPr id="7432" name="Google Shape;7432;p44"/>
          <p:cNvSpPr txBox="1"/>
          <p:nvPr/>
        </p:nvSpPr>
        <p:spPr>
          <a:xfrm>
            <a:off x="7635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'26</a:t>
            </a:r>
            <a:endParaRPr/>
          </a:p>
        </p:txBody>
      </p:sp>
      <p:sp>
        <p:nvSpPr>
          <p:cNvPr id="7433" name="Google Shape;7433;p44"/>
          <p:cNvSpPr txBox="1"/>
          <p:nvPr/>
        </p:nvSpPr>
        <p:spPr>
          <a:xfrm>
            <a:off x="8321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'25</a:t>
            </a:r>
            <a:endParaRPr/>
          </a:p>
        </p:txBody>
      </p:sp>
      <p:sp>
        <p:nvSpPr>
          <p:cNvPr id="7434" name="Google Shape;7434;p44"/>
          <p:cNvSpPr txBox="1"/>
          <p:nvPr/>
        </p:nvSpPr>
        <p:spPr>
          <a:xfrm>
            <a:off x="9006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'26</a:t>
            </a:r>
            <a:endParaRPr/>
          </a:p>
        </p:txBody>
      </p:sp>
      <p:sp>
        <p:nvSpPr>
          <p:cNvPr id="7435" name="Google Shape;7435;p44"/>
          <p:cNvSpPr txBox="1"/>
          <p:nvPr/>
        </p:nvSpPr>
        <p:spPr>
          <a:xfrm>
            <a:off x="969264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'25 Tot</a:t>
            </a:r>
            <a:endParaRPr/>
          </a:p>
        </p:txBody>
      </p:sp>
      <p:sp>
        <p:nvSpPr>
          <p:cNvPr id="7436" name="Google Shape;7436;p44"/>
          <p:cNvSpPr txBox="1"/>
          <p:nvPr/>
        </p:nvSpPr>
        <p:spPr>
          <a:xfrm>
            <a:off x="1088136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'26 Tot</a:t>
            </a:r>
            <a:endParaRPr/>
          </a:p>
        </p:txBody>
      </p:sp>
      <p:sp>
        <p:nvSpPr>
          <p:cNvPr id="7437" name="Google Shape;7437;p44"/>
          <p:cNvSpPr txBox="1"/>
          <p:nvPr/>
        </p:nvSpPr>
        <p:spPr>
          <a:xfrm>
            <a:off x="365760" y="523951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7438" name="Google Shape;7438;p44"/>
          <p:cNvSpPr txBox="1"/>
          <p:nvPr/>
        </p:nvSpPr>
        <p:spPr>
          <a:xfrm>
            <a:off x="1463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</a:t>
            </a:r>
            <a:endParaRPr/>
          </a:p>
        </p:txBody>
      </p:sp>
      <p:sp>
        <p:nvSpPr>
          <p:cNvPr id="7439" name="Google Shape;7439;p44"/>
          <p:cNvSpPr txBox="1"/>
          <p:nvPr/>
        </p:nvSpPr>
        <p:spPr>
          <a:xfrm>
            <a:off x="2148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7440" name="Google Shape;7440;p44"/>
          <p:cNvSpPr txBox="1"/>
          <p:nvPr/>
        </p:nvSpPr>
        <p:spPr>
          <a:xfrm>
            <a:off x="2834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</a:t>
            </a:r>
            <a:endParaRPr/>
          </a:p>
        </p:txBody>
      </p:sp>
      <p:sp>
        <p:nvSpPr>
          <p:cNvPr id="7441" name="Google Shape;7441;p44"/>
          <p:cNvSpPr txBox="1"/>
          <p:nvPr/>
        </p:nvSpPr>
        <p:spPr>
          <a:xfrm>
            <a:off x="3520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7442" name="Google Shape;7442;p44"/>
          <p:cNvSpPr txBox="1"/>
          <p:nvPr/>
        </p:nvSpPr>
        <p:spPr>
          <a:xfrm>
            <a:off x="4206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</a:t>
            </a:r>
            <a:endParaRPr/>
          </a:p>
        </p:txBody>
      </p:sp>
      <p:sp>
        <p:nvSpPr>
          <p:cNvPr id="7443" name="Google Shape;7443;p44"/>
          <p:cNvSpPr txBox="1"/>
          <p:nvPr/>
        </p:nvSpPr>
        <p:spPr>
          <a:xfrm>
            <a:off x="4892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</a:t>
            </a:r>
            <a:endParaRPr/>
          </a:p>
        </p:txBody>
      </p:sp>
      <p:sp>
        <p:nvSpPr>
          <p:cNvPr id="7444" name="Google Shape;7444;p44"/>
          <p:cNvSpPr txBox="1"/>
          <p:nvPr/>
        </p:nvSpPr>
        <p:spPr>
          <a:xfrm>
            <a:off x="5577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</a:t>
            </a:r>
            <a:endParaRPr/>
          </a:p>
        </p:txBody>
      </p:sp>
      <p:sp>
        <p:nvSpPr>
          <p:cNvPr id="7445" name="Google Shape;7445;p44"/>
          <p:cNvSpPr txBox="1"/>
          <p:nvPr/>
        </p:nvSpPr>
        <p:spPr>
          <a:xfrm>
            <a:off x="6263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</a:t>
            </a:r>
            <a:endParaRPr/>
          </a:p>
        </p:txBody>
      </p:sp>
      <p:sp>
        <p:nvSpPr>
          <p:cNvPr id="7446" name="Google Shape;7446;p44"/>
          <p:cNvSpPr txBox="1"/>
          <p:nvPr/>
        </p:nvSpPr>
        <p:spPr>
          <a:xfrm>
            <a:off x="6949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</a:t>
            </a:r>
            <a:endParaRPr/>
          </a:p>
        </p:txBody>
      </p:sp>
      <p:sp>
        <p:nvSpPr>
          <p:cNvPr id="7447" name="Google Shape;7447;p44"/>
          <p:cNvSpPr txBox="1"/>
          <p:nvPr/>
        </p:nvSpPr>
        <p:spPr>
          <a:xfrm>
            <a:off x="7635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</a:t>
            </a:r>
            <a:endParaRPr/>
          </a:p>
        </p:txBody>
      </p:sp>
      <p:sp>
        <p:nvSpPr>
          <p:cNvPr id="7448" name="Google Shape;7448;p44"/>
          <p:cNvSpPr txBox="1"/>
          <p:nvPr/>
        </p:nvSpPr>
        <p:spPr>
          <a:xfrm>
            <a:off x="8321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27</a:t>
            </a:r>
            <a:endParaRPr/>
          </a:p>
        </p:txBody>
      </p:sp>
      <p:sp>
        <p:nvSpPr>
          <p:cNvPr id="7449" name="Google Shape;7449;p44"/>
          <p:cNvSpPr txBox="1"/>
          <p:nvPr/>
        </p:nvSpPr>
        <p:spPr>
          <a:xfrm>
            <a:off x="9006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450" name="Google Shape;7450;p44"/>
          <p:cNvSpPr txBox="1"/>
          <p:nvPr/>
        </p:nvSpPr>
        <p:spPr>
          <a:xfrm>
            <a:off x="969264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132</a:t>
            </a:r>
            <a:endParaRPr/>
          </a:p>
        </p:txBody>
      </p:sp>
      <p:sp>
        <p:nvSpPr>
          <p:cNvPr id="7451" name="Google Shape;7451;p44"/>
          <p:cNvSpPr txBox="1"/>
          <p:nvPr/>
        </p:nvSpPr>
        <p:spPr>
          <a:xfrm>
            <a:off x="1088136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59</a:t>
            </a:r>
            <a:endParaRPr/>
          </a:p>
        </p:txBody>
      </p:sp>
      <p:sp>
        <p:nvSpPr>
          <p:cNvPr id="7452" name="Google Shape;7452;p44"/>
          <p:cNvSpPr txBox="1"/>
          <p:nvPr/>
        </p:nvSpPr>
        <p:spPr>
          <a:xfrm>
            <a:off x="365760" y="542239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Bound Premium</a:t>
            </a:r>
            <a:endParaRPr/>
          </a:p>
        </p:txBody>
      </p:sp>
      <p:sp>
        <p:nvSpPr>
          <p:cNvPr id="7453" name="Google Shape;7453;p44"/>
          <p:cNvSpPr txBox="1"/>
          <p:nvPr/>
        </p:nvSpPr>
        <p:spPr>
          <a:xfrm>
            <a:off x="1463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$91K</a:t>
            </a:r>
            <a:endParaRPr/>
          </a:p>
        </p:txBody>
      </p:sp>
      <p:sp>
        <p:nvSpPr>
          <p:cNvPr id="7454" name="Google Shape;7454;p44"/>
          <p:cNvSpPr txBox="1"/>
          <p:nvPr/>
        </p:nvSpPr>
        <p:spPr>
          <a:xfrm>
            <a:off x="2148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$1K</a:t>
            </a:r>
            <a:endParaRPr/>
          </a:p>
        </p:txBody>
      </p:sp>
      <p:sp>
        <p:nvSpPr>
          <p:cNvPr id="7455" name="Google Shape;7455;p44"/>
          <p:cNvSpPr txBox="1"/>
          <p:nvPr/>
        </p:nvSpPr>
        <p:spPr>
          <a:xfrm>
            <a:off x="2834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$6K</a:t>
            </a:r>
            <a:endParaRPr/>
          </a:p>
        </p:txBody>
      </p:sp>
      <p:sp>
        <p:nvSpPr>
          <p:cNvPr id="7456" name="Google Shape;7456;p44"/>
          <p:cNvSpPr txBox="1"/>
          <p:nvPr/>
        </p:nvSpPr>
        <p:spPr>
          <a:xfrm>
            <a:off x="3520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$6K</a:t>
            </a:r>
            <a:endParaRPr/>
          </a:p>
        </p:txBody>
      </p:sp>
      <p:sp>
        <p:nvSpPr>
          <p:cNvPr id="7457" name="Google Shape;7457;p44"/>
          <p:cNvSpPr txBox="1"/>
          <p:nvPr/>
        </p:nvSpPr>
        <p:spPr>
          <a:xfrm>
            <a:off x="4206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$59K</a:t>
            </a:r>
            <a:endParaRPr/>
          </a:p>
        </p:txBody>
      </p:sp>
      <p:sp>
        <p:nvSpPr>
          <p:cNvPr id="7458" name="Google Shape;7458;p44"/>
          <p:cNvSpPr txBox="1"/>
          <p:nvPr/>
        </p:nvSpPr>
        <p:spPr>
          <a:xfrm>
            <a:off x="4892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459" name="Google Shape;7459;p44"/>
          <p:cNvSpPr txBox="1"/>
          <p:nvPr/>
        </p:nvSpPr>
        <p:spPr>
          <a:xfrm>
            <a:off x="5577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$41K</a:t>
            </a:r>
            <a:endParaRPr/>
          </a:p>
        </p:txBody>
      </p:sp>
      <p:sp>
        <p:nvSpPr>
          <p:cNvPr id="7460" name="Google Shape;7460;p44"/>
          <p:cNvSpPr txBox="1"/>
          <p:nvPr/>
        </p:nvSpPr>
        <p:spPr>
          <a:xfrm>
            <a:off x="6263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$3K</a:t>
            </a:r>
            <a:endParaRPr/>
          </a:p>
        </p:txBody>
      </p:sp>
      <p:sp>
        <p:nvSpPr>
          <p:cNvPr id="7461" name="Google Shape;7461;p44"/>
          <p:cNvSpPr txBox="1"/>
          <p:nvPr/>
        </p:nvSpPr>
        <p:spPr>
          <a:xfrm>
            <a:off x="6949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$69K</a:t>
            </a:r>
            <a:endParaRPr/>
          </a:p>
        </p:txBody>
      </p:sp>
      <p:sp>
        <p:nvSpPr>
          <p:cNvPr id="7462" name="Google Shape;7462;p44"/>
          <p:cNvSpPr txBox="1"/>
          <p:nvPr/>
        </p:nvSpPr>
        <p:spPr>
          <a:xfrm>
            <a:off x="7635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$498</a:t>
            </a:r>
            <a:endParaRPr/>
          </a:p>
        </p:txBody>
      </p:sp>
      <p:sp>
        <p:nvSpPr>
          <p:cNvPr id="7463" name="Google Shape;7463;p44"/>
          <p:cNvSpPr txBox="1"/>
          <p:nvPr/>
        </p:nvSpPr>
        <p:spPr>
          <a:xfrm>
            <a:off x="8321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$40K</a:t>
            </a:r>
            <a:endParaRPr/>
          </a:p>
        </p:txBody>
      </p:sp>
      <p:sp>
        <p:nvSpPr>
          <p:cNvPr id="7464" name="Google Shape;7464;p44"/>
          <p:cNvSpPr txBox="1"/>
          <p:nvPr/>
        </p:nvSpPr>
        <p:spPr>
          <a:xfrm>
            <a:off x="9006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465" name="Google Shape;7465;p44"/>
          <p:cNvSpPr txBox="1"/>
          <p:nvPr/>
        </p:nvSpPr>
        <p:spPr>
          <a:xfrm>
            <a:off x="969264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$304K</a:t>
            </a:r>
            <a:endParaRPr/>
          </a:p>
        </p:txBody>
      </p:sp>
      <p:sp>
        <p:nvSpPr>
          <p:cNvPr id="7466" name="Google Shape;7466;p44"/>
          <p:cNvSpPr txBox="1"/>
          <p:nvPr/>
        </p:nvSpPr>
        <p:spPr>
          <a:xfrm>
            <a:off x="1088136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$10K</a:t>
            </a:r>
            <a:endParaRPr/>
          </a:p>
        </p:txBody>
      </p:sp>
      <p:sp>
        <p:nvSpPr>
          <p:cNvPr id="7467" name="Google Shape;7467;p44"/>
          <p:cNvSpPr/>
          <p:nvPr/>
        </p:nvSpPr>
        <p:spPr>
          <a:xfrm>
            <a:off x="365760" y="5678423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8" name="Google Shape;7468;p44"/>
          <p:cNvSpPr txBox="1"/>
          <p:nvPr/>
        </p:nvSpPr>
        <p:spPr>
          <a:xfrm>
            <a:off x="4572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65F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STRENGTHS - What's Working</a:t>
            </a:r>
            <a:endParaRPr/>
          </a:p>
        </p:txBody>
      </p:sp>
      <p:sp>
        <p:nvSpPr>
          <p:cNvPr id="7469" name="Google Shape;7469;p44"/>
          <p:cNvSpPr txBox="1"/>
          <p:nvPr/>
        </p:nvSpPr>
        <p:spPr>
          <a:xfrm>
            <a:off x="4572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7470" name="Google Shape;7470;p44"/>
          <p:cNvSpPr txBox="1"/>
          <p:nvPr/>
        </p:nvSpPr>
        <p:spPr>
          <a:xfrm>
            <a:off x="685800" y="5952743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$9,734 YTD gross written premium</a:t>
            </a:r>
            <a:endParaRPr/>
          </a:p>
        </p:txBody>
      </p:sp>
      <p:sp>
        <p:nvSpPr>
          <p:cNvPr id="7471" name="Google Shape;7471;p44"/>
          <p:cNvSpPr txBox="1"/>
          <p:nvPr/>
        </p:nvSpPr>
        <p:spPr>
          <a:xfrm>
            <a:off x="457200" y="6153911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7472" name="Google Shape;7472;p44"/>
          <p:cNvSpPr txBox="1"/>
          <p:nvPr/>
        </p:nvSpPr>
        <p:spPr>
          <a:xfrm>
            <a:off x="685800" y="6153911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57 submissions - highly active agency</a:t>
            </a:r>
            <a:endParaRPr/>
          </a:p>
        </p:txBody>
      </p:sp>
      <p:sp>
        <p:nvSpPr>
          <p:cNvPr id="7473" name="Google Shape;7473;p44"/>
          <p:cNvSpPr/>
          <p:nvPr/>
        </p:nvSpPr>
        <p:spPr>
          <a:xfrm>
            <a:off x="6309360" y="5678423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4" name="Google Shape;7474;p44"/>
          <p:cNvSpPr txBox="1"/>
          <p:nvPr/>
        </p:nvSpPr>
        <p:spPr>
          <a:xfrm>
            <a:off x="64008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NEEDS ATTENTION</a:t>
            </a:r>
            <a:endParaRPr/>
          </a:p>
        </p:txBody>
      </p:sp>
      <p:sp>
        <p:nvSpPr>
          <p:cNvPr id="7475" name="Google Shape;7475;p44"/>
          <p:cNvSpPr txBox="1"/>
          <p:nvPr/>
        </p:nvSpPr>
        <p:spPr>
          <a:xfrm>
            <a:off x="64008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7476" name="Google Shape;7476;p44"/>
          <p:cNvSpPr txBox="1"/>
          <p:nvPr/>
        </p:nvSpPr>
        <p:spPr>
          <a:xfrm>
            <a:off x="6629400" y="5952743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Written premium dropped 80% month-over-month</a:t>
            </a:r>
            <a:endParaRPr/>
          </a:p>
        </p:txBody>
      </p:sp>
      <p:sp>
        <p:nvSpPr>
          <p:cNvPr id="7477" name="Google Shape;7477;p44"/>
          <p:cNvSpPr txBox="1"/>
          <p:nvPr/>
        </p:nvSpPr>
        <p:spPr>
          <a:xfrm>
            <a:off x="6400800" y="6153911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7478" name="Google Shape;7478;p44"/>
          <p:cNvSpPr txBox="1"/>
          <p:nvPr/>
        </p:nvSpPr>
        <p:spPr>
          <a:xfrm>
            <a:off x="6629400" y="6153911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new business - all premium from renewals/endorsements only</a:t>
            </a:r>
            <a:endParaRPr/>
          </a:p>
        </p:txBody>
      </p:sp>
      <p:sp>
        <p:nvSpPr>
          <p:cNvPr id="7479" name="Google Shape;7479;p44"/>
          <p:cNvSpPr/>
          <p:nvPr/>
        </p:nvSpPr>
        <p:spPr>
          <a:xfrm>
            <a:off x="365760" y="6455663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0" name="Google Shape;7480;p44"/>
          <p:cNvSpPr txBox="1"/>
          <p:nvPr/>
        </p:nvSpPr>
        <p:spPr>
          <a:xfrm>
            <a:off x="457200" y="6464807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STRATEGIC SALES TIPS - Conversation Starters</a:t>
            </a:r>
            <a:endParaRPr/>
          </a:p>
        </p:txBody>
      </p:sp>
      <p:sp>
        <p:nvSpPr>
          <p:cNvPr id="7481" name="Google Shape;7481;p44"/>
          <p:cNvSpPr txBox="1"/>
          <p:nvPr/>
        </p:nvSpPr>
        <p:spPr>
          <a:xfrm>
            <a:off x="457200" y="6711695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endParaRPr/>
          </a:p>
        </p:txBody>
      </p:sp>
      <p:sp>
        <p:nvSpPr>
          <p:cNvPr id="7482" name="Google Shape;7482;p44"/>
          <p:cNvSpPr txBox="1"/>
          <p:nvPr/>
        </p:nvSpPr>
        <p:spPr>
          <a:xfrm>
            <a:off x="777240" y="6711695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Volume dropped significantly last month. Lead with curiosity, not concern: "I noticed things slowed down - anything going on I can help with?" Identify if it's seasonal, competitive, or operational.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86" name="Shape 7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7" name="Google Shape;7487;p4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8" name="Google Shape;7488;p45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Durham Specialty Insurance LLC</a:t>
            </a:r>
            <a:endParaRPr/>
          </a:p>
        </p:txBody>
      </p:sp>
      <p:sp>
        <p:nvSpPr>
          <p:cNvPr id="7489" name="Google Shape;7489;p45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4B5F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Tier: Tier 2  |  Region: Southeast  |  State: South Carolina  |  City: Florence</a:t>
            </a:r>
            <a:endParaRPr/>
          </a:p>
        </p:txBody>
      </p:sp>
      <p:sp>
        <p:nvSpPr>
          <p:cNvPr id="7490" name="Google Shape;7490;p45"/>
          <p:cNvSpPr/>
          <p:nvPr/>
        </p:nvSpPr>
        <p:spPr>
          <a:xfrm>
            <a:off x="22860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$9,109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YTD GWP</a:t>
            </a:r>
            <a:endParaRPr/>
          </a:p>
        </p:txBody>
      </p:sp>
      <p:sp>
        <p:nvSpPr>
          <p:cNvPr id="7491" name="Google Shape;7491;p45"/>
          <p:cNvSpPr/>
          <p:nvPr/>
        </p:nvSpPr>
        <p:spPr>
          <a:xfrm>
            <a:off x="256032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7492" name="Google Shape;7492;p45"/>
          <p:cNvSpPr/>
          <p:nvPr/>
        </p:nvSpPr>
        <p:spPr>
          <a:xfrm>
            <a:off x="489204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7493" name="Google Shape;7493;p45"/>
          <p:cNvSpPr/>
          <p:nvPr/>
        </p:nvSpPr>
        <p:spPr>
          <a:xfrm>
            <a:off x="7223759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$9,109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7494" name="Google Shape;7494;p45"/>
          <p:cNvSpPr/>
          <p:nvPr/>
        </p:nvSpPr>
        <p:spPr>
          <a:xfrm>
            <a:off x="955548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$-15,386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7495" name="Google Shape;7495;p45"/>
          <p:cNvSpPr/>
          <p:nvPr/>
        </p:nvSpPr>
        <p:spPr>
          <a:xfrm>
            <a:off x="137160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$293,173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2025 Full Year GWP</a:t>
            </a:r>
            <a:endParaRPr/>
          </a:p>
        </p:txBody>
      </p:sp>
      <p:sp>
        <p:nvSpPr>
          <p:cNvPr id="7496" name="Google Shape;7496;p45"/>
          <p:cNvSpPr/>
          <p:nvPr/>
        </p:nvSpPr>
        <p:spPr>
          <a:xfrm>
            <a:off x="1627631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$91,308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Rolling 12M GWP</a:t>
            </a:r>
            <a:endParaRPr/>
          </a:p>
        </p:txBody>
      </p:sp>
      <p:sp>
        <p:nvSpPr>
          <p:cNvPr id="7497" name="Google Shape;7497;p45"/>
          <p:cNvSpPr/>
          <p:nvPr/>
        </p:nvSpPr>
        <p:spPr>
          <a:xfrm>
            <a:off x="3118103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% to Goal</a:t>
            </a:r>
            <a:endParaRPr/>
          </a:p>
        </p:txBody>
      </p:sp>
      <p:sp>
        <p:nvSpPr>
          <p:cNvPr id="7498" name="Google Shape;7498;p45"/>
          <p:cNvSpPr/>
          <p:nvPr/>
        </p:nvSpPr>
        <p:spPr>
          <a:xfrm>
            <a:off x="4608576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7499" name="Google Shape;7499;p45"/>
          <p:cNvSpPr/>
          <p:nvPr/>
        </p:nvSpPr>
        <p:spPr>
          <a:xfrm>
            <a:off x="6099048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7500" name="Google Shape;7500;p45"/>
          <p:cNvSpPr/>
          <p:nvPr/>
        </p:nvSpPr>
        <p:spPr>
          <a:xfrm>
            <a:off x="7589519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7501" name="Google Shape;7501;p45"/>
          <p:cNvSpPr/>
          <p:nvPr/>
        </p:nvSpPr>
        <p:spPr>
          <a:xfrm>
            <a:off x="9079992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 Bound Prem</a:t>
            </a:r>
            <a:endParaRPr/>
          </a:p>
        </p:txBody>
      </p:sp>
      <p:sp>
        <p:nvSpPr>
          <p:cNvPr id="7502" name="Google Shape;7502;p45"/>
          <p:cNvSpPr/>
          <p:nvPr/>
        </p:nvSpPr>
        <p:spPr>
          <a:xfrm>
            <a:off x="10570464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NF Bound Prem</a:t>
            </a:r>
            <a:endParaRPr/>
          </a:p>
        </p:txBody>
      </p:sp>
      <p:sp>
        <p:nvSpPr>
          <p:cNvPr id="7503" name="Google Shape;7503;p45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4" name="Google Shape;7504;p45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PRODUCTION BY MONTH</a:t>
            </a:r>
            <a:endParaRPr/>
          </a:p>
        </p:txBody>
      </p:sp>
      <p:sp>
        <p:nvSpPr>
          <p:cNvPr id="7505" name="Google Shape;7505;p45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7506" name="Google Shape;7506;p45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Written Premium</a:t>
            </a:r>
            <a:endParaRPr/>
          </a:p>
        </p:txBody>
      </p:sp>
      <p:sp>
        <p:nvSpPr>
          <p:cNvPr id="7507" name="Google Shape;7507;p45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7508" name="Google Shape;7508;p45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7509" name="Google Shape;7509;p45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7510" name="Google Shape;7510;p45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7511" name="Google Shape;7511;p4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2" name="Google Shape;7512;p45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7513" name="Google Shape;7513;p45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514" name="Google Shape;7514;p45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515" name="Google Shape;7515;p45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516" name="Google Shape;7516;p45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517" name="Google Shape;7517;p45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518" name="Google Shape;7518;p45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9" name="Google Shape;7519;p45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7520" name="Google Shape;7520;p45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$9,109</a:t>
            </a:r>
            <a:endParaRPr/>
          </a:p>
        </p:txBody>
      </p:sp>
      <p:sp>
        <p:nvSpPr>
          <p:cNvPr id="7521" name="Google Shape;7521;p4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522" name="Google Shape;7522;p45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523" name="Google Shape;7523;p45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$9,109</a:t>
            </a:r>
            <a:endParaRPr/>
          </a:p>
        </p:txBody>
      </p:sp>
      <p:sp>
        <p:nvSpPr>
          <p:cNvPr id="7524" name="Google Shape;7524;p45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$-9,109</a:t>
            </a:r>
            <a:endParaRPr/>
          </a:p>
        </p:txBody>
      </p:sp>
      <p:sp>
        <p:nvSpPr>
          <p:cNvPr id="7525" name="Google Shape;7525;p45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6" name="Google Shape;7526;p45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7527" name="Google Shape;7527;p45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528" name="Google Shape;7528;p45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529" name="Google Shape;7529;p45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530" name="Google Shape;7530;p45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531" name="Google Shape;7531;p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532" name="Google Shape;7532;p45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3" name="Google Shape;7533;p45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7534" name="Google Shape;7534;p45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535" name="Google Shape;7535;p45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536" name="Google Shape;7536;p45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537" name="Google Shape;7537;p45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538" name="Google Shape;7538;p45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$-6,277</a:t>
            </a:r>
            <a:endParaRPr/>
          </a:p>
        </p:txBody>
      </p:sp>
      <p:sp>
        <p:nvSpPr>
          <p:cNvPr id="7539" name="Google Shape;7539;p45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0" name="Google Shape;7540;p45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7541" name="Google Shape;7541;p4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542" name="Google Shape;7542;p45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543" name="Google Shape;7543;p45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544" name="Google Shape;7544;p45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545" name="Google Shape;7545;p45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546" name="Google Shape;7546;p45"/>
          <p:cNvSpPr/>
          <p:nvPr/>
        </p:nvSpPr>
        <p:spPr>
          <a:xfrm>
            <a:off x="365760" y="4123944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7" name="Google Shape;7547;p45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7548" name="Google Shape;7548;p45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549" name="Google Shape;7549;p45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550" name="Google Shape;7550;p45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551" name="Google Shape;7551;p4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552" name="Google Shape;7552;p45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553" name="Google Shape;7553;p45"/>
          <p:cNvSpPr/>
          <p:nvPr/>
        </p:nvSpPr>
        <p:spPr>
          <a:xfrm>
            <a:off x="365760" y="4425696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4" name="Google Shape;7554;p45"/>
          <p:cNvSpPr txBox="1"/>
          <p:nvPr/>
        </p:nvSpPr>
        <p:spPr>
          <a:xfrm>
            <a:off x="3657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7555" name="Google Shape;7555;p45"/>
          <p:cNvSpPr txBox="1"/>
          <p:nvPr/>
        </p:nvSpPr>
        <p:spPr>
          <a:xfrm>
            <a:off x="1280160" y="446227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$9,109</a:t>
            </a:r>
            <a:endParaRPr/>
          </a:p>
        </p:txBody>
      </p:sp>
      <p:sp>
        <p:nvSpPr>
          <p:cNvPr id="7556" name="Google Shape;7556;p45"/>
          <p:cNvSpPr txBox="1"/>
          <p:nvPr/>
        </p:nvSpPr>
        <p:spPr>
          <a:xfrm>
            <a:off x="2377439" y="446227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557" name="Google Shape;7557;p45"/>
          <p:cNvSpPr txBox="1"/>
          <p:nvPr/>
        </p:nvSpPr>
        <p:spPr>
          <a:xfrm>
            <a:off x="33832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558" name="Google Shape;7558;p45"/>
          <p:cNvSpPr txBox="1"/>
          <p:nvPr/>
        </p:nvSpPr>
        <p:spPr>
          <a:xfrm>
            <a:off x="42976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$9,109</a:t>
            </a:r>
            <a:endParaRPr/>
          </a:p>
        </p:txBody>
      </p:sp>
      <p:sp>
        <p:nvSpPr>
          <p:cNvPr id="7559" name="Google Shape;7559;p45"/>
          <p:cNvSpPr txBox="1"/>
          <p:nvPr/>
        </p:nvSpPr>
        <p:spPr>
          <a:xfrm>
            <a:off x="52120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$-15,386</a:t>
            </a:r>
            <a:endParaRPr/>
          </a:p>
        </p:txBody>
      </p:sp>
      <p:sp>
        <p:nvSpPr>
          <p:cNvPr id="7560" name="Google Shape;7560;p45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1" name="Google Shape;7561;p45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 &amp; PIPELINE</a:t>
            </a:r>
            <a:endParaRPr/>
          </a:p>
        </p:txBody>
      </p:sp>
      <p:sp>
        <p:nvSpPr>
          <p:cNvPr id="7562" name="Google Shape;7562;p45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7563" name="Google Shape;7563;p45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Subs</a:t>
            </a:r>
            <a:endParaRPr/>
          </a:p>
        </p:txBody>
      </p:sp>
      <p:sp>
        <p:nvSpPr>
          <p:cNvPr id="7564" name="Google Shape;7564;p45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</a:t>
            </a:r>
            <a:endParaRPr/>
          </a:p>
        </p:txBody>
      </p:sp>
      <p:sp>
        <p:nvSpPr>
          <p:cNvPr id="7565" name="Google Shape;7565;p45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Non-Fleet</a:t>
            </a:r>
            <a:endParaRPr/>
          </a:p>
        </p:txBody>
      </p:sp>
      <p:sp>
        <p:nvSpPr>
          <p:cNvPr id="7566" name="Google Shape;7566;p45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7567" name="Google Shape;7567;p45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7568" name="Google Shape;7568;p4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9" name="Google Shape;7569;p45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7570" name="Google Shape;7570;p45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571" name="Google Shape;7571;p45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572" name="Google Shape;7572;p45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573" name="Google Shape;7573;p45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574" name="Google Shape;7574;p45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7575" name="Google Shape;7575;p45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6" name="Google Shape;7576;p45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7577" name="Google Shape;7577;p45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7578" name="Google Shape;7578;p4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579" name="Google Shape;7579;p45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7580" name="Google Shape;7580;p45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7581" name="Google Shape;7581;p45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33.3%</a:t>
            </a:r>
            <a:endParaRPr/>
          </a:p>
        </p:txBody>
      </p:sp>
      <p:sp>
        <p:nvSpPr>
          <p:cNvPr id="7582" name="Google Shape;7582;p45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3" name="Google Shape;7583;p45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7584" name="Google Shape;7584;p45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7585" name="Google Shape;7585;p45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586" name="Google Shape;7586;p45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7587" name="Google Shape;7587;p45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588" name="Google Shape;7588;p4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7589" name="Google Shape;7589;p45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0" name="Google Shape;7590;p45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7591" name="Google Shape;7591;p45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7592" name="Google Shape;7592;p45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593" name="Google Shape;7593;p45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7594" name="Google Shape;7594;p45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595" name="Google Shape;7595;p45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7596" name="Google Shape;7596;p45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7" name="Google Shape;7597;p45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7598" name="Google Shape;7598;p4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</a:t>
            </a:r>
            <a:endParaRPr/>
          </a:p>
        </p:txBody>
      </p:sp>
      <p:sp>
        <p:nvSpPr>
          <p:cNvPr id="7599" name="Google Shape;7599;p45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600" name="Google Shape;7600;p45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</a:t>
            </a:r>
            <a:endParaRPr/>
          </a:p>
        </p:txBody>
      </p:sp>
      <p:sp>
        <p:nvSpPr>
          <p:cNvPr id="7601" name="Google Shape;7601;p45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602" name="Google Shape;7602;p45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7603" name="Google Shape;7603;p45"/>
          <p:cNvSpPr/>
          <p:nvPr/>
        </p:nvSpPr>
        <p:spPr>
          <a:xfrm>
            <a:off x="6309360" y="4123944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4" name="Google Shape;7604;p45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7605" name="Google Shape;7605;p45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606" name="Google Shape;7606;p45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607" name="Google Shape;7607;p45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608" name="Google Shape;7608;p4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609" name="Google Shape;7609;p45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7610" name="Google Shape;7610;p45"/>
          <p:cNvSpPr/>
          <p:nvPr/>
        </p:nvSpPr>
        <p:spPr>
          <a:xfrm>
            <a:off x="6309360" y="4425696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1" name="Google Shape;7611;p45"/>
          <p:cNvSpPr txBox="1"/>
          <p:nvPr/>
        </p:nvSpPr>
        <p:spPr>
          <a:xfrm>
            <a:off x="63093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7612" name="Google Shape;7612;p45"/>
          <p:cNvSpPr txBox="1"/>
          <p:nvPr/>
        </p:nvSpPr>
        <p:spPr>
          <a:xfrm>
            <a:off x="722376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</a:t>
            </a:r>
            <a:endParaRPr/>
          </a:p>
        </p:txBody>
      </p:sp>
      <p:sp>
        <p:nvSpPr>
          <p:cNvPr id="7613" name="Google Shape;7613;p45"/>
          <p:cNvSpPr txBox="1"/>
          <p:nvPr/>
        </p:nvSpPr>
        <p:spPr>
          <a:xfrm>
            <a:off x="804672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614" name="Google Shape;7614;p45"/>
          <p:cNvSpPr txBox="1"/>
          <p:nvPr/>
        </p:nvSpPr>
        <p:spPr>
          <a:xfrm>
            <a:off x="886968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</a:t>
            </a:r>
            <a:endParaRPr/>
          </a:p>
        </p:txBody>
      </p:sp>
      <p:sp>
        <p:nvSpPr>
          <p:cNvPr id="7615" name="Google Shape;7615;p45"/>
          <p:cNvSpPr txBox="1"/>
          <p:nvPr/>
        </p:nvSpPr>
        <p:spPr>
          <a:xfrm>
            <a:off x="978408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616" name="Google Shape;7616;p45"/>
          <p:cNvSpPr txBox="1"/>
          <p:nvPr/>
        </p:nvSpPr>
        <p:spPr>
          <a:xfrm>
            <a:off x="1060704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7617" name="Google Shape;7617;p45"/>
          <p:cNvSpPr/>
          <p:nvPr/>
        </p:nvSpPr>
        <p:spPr>
          <a:xfrm>
            <a:off x="365760" y="4782312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8" name="Google Shape;7618;p45"/>
          <p:cNvSpPr txBox="1"/>
          <p:nvPr/>
        </p:nvSpPr>
        <p:spPr>
          <a:xfrm>
            <a:off x="457200" y="4800599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YOY COMPARISON — Jan–Jun 2025 vs Jan–Jun 2026</a:t>
            </a:r>
            <a:endParaRPr/>
          </a:p>
        </p:txBody>
      </p:sp>
      <p:sp>
        <p:nvSpPr>
          <p:cNvPr id="7619" name="Google Shape;7619;p45"/>
          <p:cNvSpPr txBox="1"/>
          <p:nvPr/>
        </p:nvSpPr>
        <p:spPr>
          <a:xfrm>
            <a:off x="365760" y="5056631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00" u="none" cap="none" strike="noStrike">
              <a:solidFill>
                <a:srgbClr val="6B728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620" name="Google Shape;7620;p45"/>
          <p:cNvSpPr txBox="1"/>
          <p:nvPr/>
        </p:nvSpPr>
        <p:spPr>
          <a:xfrm>
            <a:off x="1463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'25</a:t>
            </a:r>
            <a:endParaRPr/>
          </a:p>
        </p:txBody>
      </p:sp>
      <p:sp>
        <p:nvSpPr>
          <p:cNvPr id="7621" name="Google Shape;7621;p45"/>
          <p:cNvSpPr txBox="1"/>
          <p:nvPr/>
        </p:nvSpPr>
        <p:spPr>
          <a:xfrm>
            <a:off x="2148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'26</a:t>
            </a:r>
            <a:endParaRPr/>
          </a:p>
        </p:txBody>
      </p:sp>
      <p:sp>
        <p:nvSpPr>
          <p:cNvPr id="7622" name="Google Shape;7622;p45"/>
          <p:cNvSpPr txBox="1"/>
          <p:nvPr/>
        </p:nvSpPr>
        <p:spPr>
          <a:xfrm>
            <a:off x="2834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'25</a:t>
            </a:r>
            <a:endParaRPr/>
          </a:p>
        </p:txBody>
      </p:sp>
      <p:sp>
        <p:nvSpPr>
          <p:cNvPr id="7623" name="Google Shape;7623;p45"/>
          <p:cNvSpPr txBox="1"/>
          <p:nvPr/>
        </p:nvSpPr>
        <p:spPr>
          <a:xfrm>
            <a:off x="3520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'26</a:t>
            </a:r>
            <a:endParaRPr/>
          </a:p>
        </p:txBody>
      </p:sp>
      <p:sp>
        <p:nvSpPr>
          <p:cNvPr id="7624" name="Google Shape;7624;p45"/>
          <p:cNvSpPr txBox="1"/>
          <p:nvPr/>
        </p:nvSpPr>
        <p:spPr>
          <a:xfrm>
            <a:off x="4206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'25</a:t>
            </a:r>
            <a:endParaRPr/>
          </a:p>
        </p:txBody>
      </p:sp>
      <p:sp>
        <p:nvSpPr>
          <p:cNvPr id="7625" name="Google Shape;7625;p45"/>
          <p:cNvSpPr txBox="1"/>
          <p:nvPr/>
        </p:nvSpPr>
        <p:spPr>
          <a:xfrm>
            <a:off x="4892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'26</a:t>
            </a:r>
            <a:endParaRPr/>
          </a:p>
        </p:txBody>
      </p:sp>
      <p:sp>
        <p:nvSpPr>
          <p:cNvPr id="7626" name="Google Shape;7626;p45"/>
          <p:cNvSpPr txBox="1"/>
          <p:nvPr/>
        </p:nvSpPr>
        <p:spPr>
          <a:xfrm>
            <a:off x="5577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'25</a:t>
            </a:r>
            <a:endParaRPr/>
          </a:p>
        </p:txBody>
      </p:sp>
      <p:sp>
        <p:nvSpPr>
          <p:cNvPr id="7627" name="Google Shape;7627;p45"/>
          <p:cNvSpPr txBox="1"/>
          <p:nvPr/>
        </p:nvSpPr>
        <p:spPr>
          <a:xfrm>
            <a:off x="6263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'26</a:t>
            </a:r>
            <a:endParaRPr/>
          </a:p>
        </p:txBody>
      </p:sp>
      <p:sp>
        <p:nvSpPr>
          <p:cNvPr id="7628" name="Google Shape;7628;p45"/>
          <p:cNvSpPr txBox="1"/>
          <p:nvPr/>
        </p:nvSpPr>
        <p:spPr>
          <a:xfrm>
            <a:off x="6949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'25</a:t>
            </a:r>
            <a:endParaRPr/>
          </a:p>
        </p:txBody>
      </p:sp>
      <p:sp>
        <p:nvSpPr>
          <p:cNvPr id="7629" name="Google Shape;7629;p45"/>
          <p:cNvSpPr txBox="1"/>
          <p:nvPr/>
        </p:nvSpPr>
        <p:spPr>
          <a:xfrm>
            <a:off x="7635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'26</a:t>
            </a:r>
            <a:endParaRPr/>
          </a:p>
        </p:txBody>
      </p:sp>
      <p:sp>
        <p:nvSpPr>
          <p:cNvPr id="7630" name="Google Shape;7630;p45"/>
          <p:cNvSpPr txBox="1"/>
          <p:nvPr/>
        </p:nvSpPr>
        <p:spPr>
          <a:xfrm>
            <a:off x="8321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'25</a:t>
            </a:r>
            <a:endParaRPr/>
          </a:p>
        </p:txBody>
      </p:sp>
      <p:sp>
        <p:nvSpPr>
          <p:cNvPr id="7631" name="Google Shape;7631;p45"/>
          <p:cNvSpPr txBox="1"/>
          <p:nvPr/>
        </p:nvSpPr>
        <p:spPr>
          <a:xfrm>
            <a:off x="9006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'26</a:t>
            </a:r>
            <a:endParaRPr/>
          </a:p>
        </p:txBody>
      </p:sp>
      <p:sp>
        <p:nvSpPr>
          <p:cNvPr id="7632" name="Google Shape;7632;p45"/>
          <p:cNvSpPr txBox="1"/>
          <p:nvPr/>
        </p:nvSpPr>
        <p:spPr>
          <a:xfrm>
            <a:off x="969264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'25 Tot</a:t>
            </a:r>
            <a:endParaRPr/>
          </a:p>
        </p:txBody>
      </p:sp>
      <p:sp>
        <p:nvSpPr>
          <p:cNvPr id="7633" name="Google Shape;7633;p45"/>
          <p:cNvSpPr txBox="1"/>
          <p:nvPr/>
        </p:nvSpPr>
        <p:spPr>
          <a:xfrm>
            <a:off x="1088136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'26 Tot</a:t>
            </a:r>
            <a:endParaRPr/>
          </a:p>
        </p:txBody>
      </p:sp>
      <p:sp>
        <p:nvSpPr>
          <p:cNvPr id="7634" name="Google Shape;7634;p45"/>
          <p:cNvSpPr txBox="1"/>
          <p:nvPr/>
        </p:nvSpPr>
        <p:spPr>
          <a:xfrm>
            <a:off x="365760" y="523951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7635" name="Google Shape;7635;p45"/>
          <p:cNvSpPr txBox="1"/>
          <p:nvPr/>
        </p:nvSpPr>
        <p:spPr>
          <a:xfrm>
            <a:off x="1463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</a:t>
            </a:r>
            <a:endParaRPr/>
          </a:p>
        </p:txBody>
      </p:sp>
      <p:sp>
        <p:nvSpPr>
          <p:cNvPr id="7636" name="Google Shape;7636;p45"/>
          <p:cNvSpPr txBox="1"/>
          <p:nvPr/>
        </p:nvSpPr>
        <p:spPr>
          <a:xfrm>
            <a:off x="2148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637" name="Google Shape;7637;p45"/>
          <p:cNvSpPr txBox="1"/>
          <p:nvPr/>
        </p:nvSpPr>
        <p:spPr>
          <a:xfrm>
            <a:off x="2834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28</a:t>
            </a:r>
            <a:endParaRPr/>
          </a:p>
        </p:txBody>
      </p:sp>
      <p:sp>
        <p:nvSpPr>
          <p:cNvPr id="7638" name="Google Shape;7638;p45"/>
          <p:cNvSpPr txBox="1"/>
          <p:nvPr/>
        </p:nvSpPr>
        <p:spPr>
          <a:xfrm>
            <a:off x="3520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7639" name="Google Shape;7639;p45"/>
          <p:cNvSpPr txBox="1"/>
          <p:nvPr/>
        </p:nvSpPr>
        <p:spPr>
          <a:xfrm>
            <a:off x="4206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49</a:t>
            </a:r>
            <a:endParaRPr/>
          </a:p>
        </p:txBody>
      </p:sp>
      <p:sp>
        <p:nvSpPr>
          <p:cNvPr id="7640" name="Google Shape;7640;p45"/>
          <p:cNvSpPr txBox="1"/>
          <p:nvPr/>
        </p:nvSpPr>
        <p:spPr>
          <a:xfrm>
            <a:off x="4892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7641" name="Google Shape;7641;p45"/>
          <p:cNvSpPr txBox="1"/>
          <p:nvPr/>
        </p:nvSpPr>
        <p:spPr>
          <a:xfrm>
            <a:off x="5577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45</a:t>
            </a:r>
            <a:endParaRPr/>
          </a:p>
        </p:txBody>
      </p:sp>
      <p:sp>
        <p:nvSpPr>
          <p:cNvPr id="7642" name="Google Shape;7642;p45"/>
          <p:cNvSpPr txBox="1"/>
          <p:nvPr/>
        </p:nvSpPr>
        <p:spPr>
          <a:xfrm>
            <a:off x="6263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7643" name="Google Shape;7643;p45"/>
          <p:cNvSpPr txBox="1"/>
          <p:nvPr/>
        </p:nvSpPr>
        <p:spPr>
          <a:xfrm>
            <a:off x="6949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40</a:t>
            </a:r>
            <a:endParaRPr/>
          </a:p>
        </p:txBody>
      </p:sp>
      <p:sp>
        <p:nvSpPr>
          <p:cNvPr id="7644" name="Google Shape;7644;p45"/>
          <p:cNvSpPr txBox="1"/>
          <p:nvPr/>
        </p:nvSpPr>
        <p:spPr>
          <a:xfrm>
            <a:off x="7635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</a:t>
            </a:r>
            <a:endParaRPr/>
          </a:p>
        </p:txBody>
      </p:sp>
      <p:sp>
        <p:nvSpPr>
          <p:cNvPr id="7645" name="Google Shape;7645;p45"/>
          <p:cNvSpPr txBox="1"/>
          <p:nvPr/>
        </p:nvSpPr>
        <p:spPr>
          <a:xfrm>
            <a:off x="8321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69</a:t>
            </a:r>
            <a:endParaRPr/>
          </a:p>
        </p:txBody>
      </p:sp>
      <p:sp>
        <p:nvSpPr>
          <p:cNvPr id="7646" name="Google Shape;7646;p45"/>
          <p:cNvSpPr txBox="1"/>
          <p:nvPr/>
        </p:nvSpPr>
        <p:spPr>
          <a:xfrm>
            <a:off x="9006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647" name="Google Shape;7647;p45"/>
          <p:cNvSpPr txBox="1"/>
          <p:nvPr/>
        </p:nvSpPr>
        <p:spPr>
          <a:xfrm>
            <a:off x="969264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256</a:t>
            </a:r>
            <a:endParaRPr/>
          </a:p>
        </p:txBody>
      </p:sp>
      <p:sp>
        <p:nvSpPr>
          <p:cNvPr id="7648" name="Google Shape;7648;p45"/>
          <p:cNvSpPr txBox="1"/>
          <p:nvPr/>
        </p:nvSpPr>
        <p:spPr>
          <a:xfrm>
            <a:off x="1088136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</a:t>
            </a:r>
            <a:endParaRPr/>
          </a:p>
        </p:txBody>
      </p:sp>
      <p:sp>
        <p:nvSpPr>
          <p:cNvPr id="7649" name="Google Shape;7649;p45"/>
          <p:cNvSpPr txBox="1"/>
          <p:nvPr/>
        </p:nvSpPr>
        <p:spPr>
          <a:xfrm>
            <a:off x="365760" y="542239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Bound Premium</a:t>
            </a:r>
            <a:endParaRPr/>
          </a:p>
        </p:txBody>
      </p:sp>
      <p:sp>
        <p:nvSpPr>
          <p:cNvPr id="7650" name="Google Shape;7650;p45"/>
          <p:cNvSpPr txBox="1"/>
          <p:nvPr/>
        </p:nvSpPr>
        <p:spPr>
          <a:xfrm>
            <a:off x="1463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$46K</a:t>
            </a:r>
            <a:endParaRPr/>
          </a:p>
        </p:txBody>
      </p:sp>
      <p:sp>
        <p:nvSpPr>
          <p:cNvPr id="7651" name="Google Shape;7651;p45"/>
          <p:cNvSpPr txBox="1"/>
          <p:nvPr/>
        </p:nvSpPr>
        <p:spPr>
          <a:xfrm>
            <a:off x="2148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652" name="Google Shape;7652;p45"/>
          <p:cNvSpPr txBox="1"/>
          <p:nvPr/>
        </p:nvSpPr>
        <p:spPr>
          <a:xfrm>
            <a:off x="2834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$2K</a:t>
            </a:r>
            <a:endParaRPr/>
          </a:p>
        </p:txBody>
      </p:sp>
      <p:sp>
        <p:nvSpPr>
          <p:cNvPr id="7653" name="Google Shape;7653;p45"/>
          <p:cNvSpPr txBox="1"/>
          <p:nvPr/>
        </p:nvSpPr>
        <p:spPr>
          <a:xfrm>
            <a:off x="3520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$9K</a:t>
            </a:r>
            <a:endParaRPr/>
          </a:p>
        </p:txBody>
      </p:sp>
      <p:sp>
        <p:nvSpPr>
          <p:cNvPr id="7654" name="Google Shape;7654;p45"/>
          <p:cNvSpPr txBox="1"/>
          <p:nvPr/>
        </p:nvSpPr>
        <p:spPr>
          <a:xfrm>
            <a:off x="4206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$18K</a:t>
            </a:r>
            <a:endParaRPr/>
          </a:p>
        </p:txBody>
      </p:sp>
      <p:sp>
        <p:nvSpPr>
          <p:cNvPr id="7655" name="Google Shape;7655;p45"/>
          <p:cNvSpPr txBox="1"/>
          <p:nvPr/>
        </p:nvSpPr>
        <p:spPr>
          <a:xfrm>
            <a:off x="4892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656" name="Google Shape;7656;p45"/>
          <p:cNvSpPr txBox="1"/>
          <p:nvPr/>
        </p:nvSpPr>
        <p:spPr>
          <a:xfrm>
            <a:off x="5577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$16K</a:t>
            </a:r>
            <a:endParaRPr/>
          </a:p>
        </p:txBody>
      </p:sp>
      <p:sp>
        <p:nvSpPr>
          <p:cNvPr id="7657" name="Google Shape;7657;p45"/>
          <p:cNvSpPr txBox="1"/>
          <p:nvPr/>
        </p:nvSpPr>
        <p:spPr>
          <a:xfrm>
            <a:off x="6263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658" name="Google Shape;7658;p45"/>
          <p:cNvSpPr txBox="1"/>
          <p:nvPr/>
        </p:nvSpPr>
        <p:spPr>
          <a:xfrm>
            <a:off x="6949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$107K</a:t>
            </a:r>
            <a:endParaRPr/>
          </a:p>
        </p:txBody>
      </p:sp>
      <p:sp>
        <p:nvSpPr>
          <p:cNvPr id="7659" name="Google Shape;7659;p45"/>
          <p:cNvSpPr txBox="1"/>
          <p:nvPr/>
        </p:nvSpPr>
        <p:spPr>
          <a:xfrm>
            <a:off x="7635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660" name="Google Shape;7660;p45"/>
          <p:cNvSpPr txBox="1"/>
          <p:nvPr/>
        </p:nvSpPr>
        <p:spPr>
          <a:xfrm>
            <a:off x="8321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$21K</a:t>
            </a:r>
            <a:endParaRPr/>
          </a:p>
        </p:txBody>
      </p:sp>
      <p:sp>
        <p:nvSpPr>
          <p:cNvPr id="7661" name="Google Shape;7661;p45"/>
          <p:cNvSpPr txBox="1"/>
          <p:nvPr/>
        </p:nvSpPr>
        <p:spPr>
          <a:xfrm>
            <a:off x="9006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662" name="Google Shape;7662;p45"/>
          <p:cNvSpPr txBox="1"/>
          <p:nvPr/>
        </p:nvSpPr>
        <p:spPr>
          <a:xfrm>
            <a:off x="969264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$211K</a:t>
            </a:r>
            <a:endParaRPr/>
          </a:p>
        </p:txBody>
      </p:sp>
      <p:sp>
        <p:nvSpPr>
          <p:cNvPr id="7663" name="Google Shape;7663;p45"/>
          <p:cNvSpPr txBox="1"/>
          <p:nvPr/>
        </p:nvSpPr>
        <p:spPr>
          <a:xfrm>
            <a:off x="1088136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$9K</a:t>
            </a:r>
            <a:endParaRPr/>
          </a:p>
        </p:txBody>
      </p:sp>
      <p:sp>
        <p:nvSpPr>
          <p:cNvPr id="7664" name="Google Shape;7664;p45"/>
          <p:cNvSpPr/>
          <p:nvPr/>
        </p:nvSpPr>
        <p:spPr>
          <a:xfrm>
            <a:off x="365760" y="5678423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5" name="Google Shape;7665;p45"/>
          <p:cNvSpPr txBox="1"/>
          <p:nvPr/>
        </p:nvSpPr>
        <p:spPr>
          <a:xfrm>
            <a:off x="4572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65F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STRENGTHS - What's Working</a:t>
            </a:r>
            <a:endParaRPr/>
          </a:p>
        </p:txBody>
      </p:sp>
      <p:sp>
        <p:nvSpPr>
          <p:cNvPr id="7666" name="Google Shape;7666;p45"/>
          <p:cNvSpPr txBox="1"/>
          <p:nvPr/>
        </p:nvSpPr>
        <p:spPr>
          <a:xfrm>
            <a:off x="4572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7667" name="Google Shape;7667;p45"/>
          <p:cNvSpPr txBox="1"/>
          <p:nvPr/>
        </p:nvSpPr>
        <p:spPr>
          <a:xfrm>
            <a:off x="685800" y="5952743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$9,109 YTD gross written premium</a:t>
            </a:r>
            <a:endParaRPr/>
          </a:p>
        </p:txBody>
      </p:sp>
      <p:sp>
        <p:nvSpPr>
          <p:cNvPr id="7668" name="Google Shape;7668;p45"/>
          <p:cNvSpPr txBox="1"/>
          <p:nvPr/>
        </p:nvSpPr>
        <p:spPr>
          <a:xfrm>
            <a:off x="457200" y="6153911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7669" name="Google Shape;7669;p45"/>
          <p:cNvSpPr txBox="1"/>
          <p:nvPr/>
        </p:nvSpPr>
        <p:spPr>
          <a:xfrm>
            <a:off x="685800" y="6153911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 quotes generated - active in pipeline</a:t>
            </a:r>
            <a:endParaRPr/>
          </a:p>
        </p:txBody>
      </p:sp>
      <p:sp>
        <p:nvSpPr>
          <p:cNvPr id="7670" name="Google Shape;7670;p45"/>
          <p:cNvSpPr/>
          <p:nvPr/>
        </p:nvSpPr>
        <p:spPr>
          <a:xfrm>
            <a:off x="6309360" y="5678423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1" name="Google Shape;7671;p45"/>
          <p:cNvSpPr txBox="1"/>
          <p:nvPr/>
        </p:nvSpPr>
        <p:spPr>
          <a:xfrm>
            <a:off x="64008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NEEDS ATTENTION</a:t>
            </a:r>
            <a:endParaRPr/>
          </a:p>
        </p:txBody>
      </p:sp>
      <p:sp>
        <p:nvSpPr>
          <p:cNvPr id="7672" name="Google Shape;7672;p45"/>
          <p:cNvSpPr txBox="1"/>
          <p:nvPr/>
        </p:nvSpPr>
        <p:spPr>
          <a:xfrm>
            <a:off x="64008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7673" name="Google Shape;7673;p45"/>
          <p:cNvSpPr txBox="1"/>
          <p:nvPr/>
        </p:nvSpPr>
        <p:spPr>
          <a:xfrm>
            <a:off x="6629400" y="5952743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 submissions with zero binds - zero conversion</a:t>
            </a:r>
            <a:endParaRPr/>
          </a:p>
        </p:txBody>
      </p:sp>
      <p:sp>
        <p:nvSpPr>
          <p:cNvPr id="7674" name="Google Shape;7674;p45"/>
          <p:cNvSpPr txBox="1"/>
          <p:nvPr/>
        </p:nvSpPr>
        <p:spPr>
          <a:xfrm>
            <a:off x="6400800" y="6153911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7675" name="Google Shape;7675;p45"/>
          <p:cNvSpPr txBox="1"/>
          <p:nvPr/>
        </p:nvSpPr>
        <p:spPr>
          <a:xfrm>
            <a:off x="6629400" y="6153911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Written premium dropped 100% month-over-month</a:t>
            </a:r>
            <a:endParaRPr/>
          </a:p>
        </p:txBody>
      </p:sp>
      <p:sp>
        <p:nvSpPr>
          <p:cNvPr id="7676" name="Google Shape;7676;p45"/>
          <p:cNvSpPr/>
          <p:nvPr/>
        </p:nvSpPr>
        <p:spPr>
          <a:xfrm>
            <a:off x="365760" y="6455663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7" name="Google Shape;7677;p45"/>
          <p:cNvSpPr txBox="1"/>
          <p:nvPr/>
        </p:nvSpPr>
        <p:spPr>
          <a:xfrm>
            <a:off x="457200" y="6464807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STRATEGIC SALES TIPS - Conversation Starters</a:t>
            </a:r>
            <a:endParaRPr/>
          </a:p>
        </p:txBody>
      </p:sp>
      <p:sp>
        <p:nvSpPr>
          <p:cNvPr id="7678" name="Google Shape;7678;p45"/>
          <p:cNvSpPr txBox="1"/>
          <p:nvPr/>
        </p:nvSpPr>
        <p:spPr>
          <a:xfrm>
            <a:off x="457200" y="6711695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endParaRPr/>
          </a:p>
        </p:txBody>
      </p:sp>
      <p:sp>
        <p:nvSpPr>
          <p:cNvPr id="7679" name="Google Shape;7679;p45"/>
          <p:cNvSpPr txBox="1"/>
          <p:nvPr/>
        </p:nvSpPr>
        <p:spPr>
          <a:xfrm>
            <a:off x="777240" y="6711695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Review their 19 quoted-not-bound submissions together. Ask which quotes were close and what competitors offered - identifies specific pricing or appetite gaps to escalate internally.</a:t>
            </a:r>
            <a:endParaRPr/>
          </a:p>
        </p:txBody>
      </p:sp>
      <p:sp>
        <p:nvSpPr>
          <p:cNvPr id="7680" name="Google Shape;7680;p45"/>
          <p:cNvSpPr txBox="1"/>
          <p:nvPr/>
        </p:nvSpPr>
        <p:spPr>
          <a:xfrm>
            <a:off x="457200" y="6949439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endParaRPr/>
          </a:p>
        </p:txBody>
      </p:sp>
      <p:sp>
        <p:nvSpPr>
          <p:cNvPr id="7681" name="Google Shape;7681;p45"/>
          <p:cNvSpPr txBox="1"/>
          <p:nvPr/>
        </p:nvSpPr>
        <p:spPr>
          <a:xfrm>
            <a:off x="777240" y="6949439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Pull up their 15 recent quotes and review together. Ask: "Which of these were closest to binding?" Offer to re-quote or adjust terms on the most promising ones.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85" name="Shape 7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6" name="Google Shape;7686;p46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7" name="Google Shape;7687;p46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Interglobal Insurance Company</a:t>
            </a:r>
            <a:endParaRPr/>
          </a:p>
        </p:txBody>
      </p:sp>
      <p:sp>
        <p:nvSpPr>
          <p:cNvPr id="7688" name="Google Shape;7688;p46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4B5F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Tier: Tier 2  |  Region: Southeast  |  State: FL  |  City: Homestead</a:t>
            </a:r>
            <a:endParaRPr/>
          </a:p>
        </p:txBody>
      </p:sp>
      <p:sp>
        <p:nvSpPr>
          <p:cNvPr id="7689" name="Google Shape;7689;p46"/>
          <p:cNvSpPr/>
          <p:nvPr/>
        </p:nvSpPr>
        <p:spPr>
          <a:xfrm>
            <a:off x="22860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$915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YTD GWP</a:t>
            </a:r>
            <a:endParaRPr/>
          </a:p>
        </p:txBody>
      </p:sp>
      <p:sp>
        <p:nvSpPr>
          <p:cNvPr id="7690" name="Google Shape;7690;p46"/>
          <p:cNvSpPr/>
          <p:nvPr/>
        </p:nvSpPr>
        <p:spPr>
          <a:xfrm>
            <a:off x="256032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7691" name="Google Shape;7691;p46"/>
          <p:cNvSpPr/>
          <p:nvPr/>
        </p:nvSpPr>
        <p:spPr>
          <a:xfrm>
            <a:off x="489204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7692" name="Google Shape;7692;p46"/>
          <p:cNvSpPr/>
          <p:nvPr/>
        </p:nvSpPr>
        <p:spPr>
          <a:xfrm>
            <a:off x="7223759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$915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7693" name="Google Shape;7693;p46"/>
          <p:cNvSpPr/>
          <p:nvPr/>
        </p:nvSpPr>
        <p:spPr>
          <a:xfrm>
            <a:off x="955548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7694" name="Google Shape;7694;p46"/>
          <p:cNvSpPr/>
          <p:nvPr/>
        </p:nvSpPr>
        <p:spPr>
          <a:xfrm>
            <a:off x="137160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$373,424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2025 Full Year GWP</a:t>
            </a:r>
            <a:endParaRPr/>
          </a:p>
        </p:txBody>
      </p:sp>
      <p:sp>
        <p:nvSpPr>
          <p:cNvPr id="7695" name="Google Shape;7695;p46"/>
          <p:cNvSpPr/>
          <p:nvPr/>
        </p:nvSpPr>
        <p:spPr>
          <a:xfrm>
            <a:off x="1627631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$160,349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Rolling 12M GWP</a:t>
            </a:r>
            <a:endParaRPr/>
          </a:p>
        </p:txBody>
      </p:sp>
      <p:sp>
        <p:nvSpPr>
          <p:cNvPr id="7696" name="Google Shape;7696;p46"/>
          <p:cNvSpPr/>
          <p:nvPr/>
        </p:nvSpPr>
        <p:spPr>
          <a:xfrm>
            <a:off x="3118103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% to Goal</a:t>
            </a:r>
            <a:endParaRPr/>
          </a:p>
        </p:txBody>
      </p:sp>
      <p:sp>
        <p:nvSpPr>
          <p:cNvPr id="7697" name="Google Shape;7697;p46"/>
          <p:cNvSpPr/>
          <p:nvPr/>
        </p:nvSpPr>
        <p:spPr>
          <a:xfrm>
            <a:off x="4608576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186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7698" name="Google Shape;7698;p46"/>
          <p:cNvSpPr/>
          <p:nvPr/>
        </p:nvSpPr>
        <p:spPr>
          <a:xfrm>
            <a:off x="6099048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7699" name="Google Shape;7699;p46"/>
          <p:cNvSpPr/>
          <p:nvPr/>
        </p:nvSpPr>
        <p:spPr>
          <a:xfrm>
            <a:off x="7589519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0.5%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7700" name="Google Shape;7700;p46"/>
          <p:cNvSpPr/>
          <p:nvPr/>
        </p:nvSpPr>
        <p:spPr>
          <a:xfrm>
            <a:off x="9079992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$15,670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 Bound Prem</a:t>
            </a:r>
            <a:endParaRPr/>
          </a:p>
        </p:txBody>
      </p:sp>
      <p:sp>
        <p:nvSpPr>
          <p:cNvPr id="7701" name="Google Shape;7701;p46"/>
          <p:cNvSpPr/>
          <p:nvPr/>
        </p:nvSpPr>
        <p:spPr>
          <a:xfrm>
            <a:off x="10570464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NF Bound Prem</a:t>
            </a:r>
            <a:endParaRPr/>
          </a:p>
        </p:txBody>
      </p:sp>
      <p:sp>
        <p:nvSpPr>
          <p:cNvPr id="7702" name="Google Shape;7702;p46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3" name="Google Shape;7703;p46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PRODUCTION BY MONTH</a:t>
            </a:r>
            <a:endParaRPr/>
          </a:p>
        </p:txBody>
      </p:sp>
      <p:sp>
        <p:nvSpPr>
          <p:cNvPr id="7704" name="Google Shape;7704;p46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7705" name="Google Shape;7705;p46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Written Premium</a:t>
            </a:r>
            <a:endParaRPr/>
          </a:p>
        </p:txBody>
      </p:sp>
      <p:sp>
        <p:nvSpPr>
          <p:cNvPr id="7706" name="Google Shape;7706;p46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7707" name="Google Shape;7707;p46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7708" name="Google Shape;7708;p46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7709" name="Google Shape;7709;p46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7710" name="Google Shape;7710;p46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1" name="Google Shape;7711;p4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7712" name="Google Shape;7712;p46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$915</a:t>
            </a:r>
            <a:endParaRPr/>
          </a:p>
        </p:txBody>
      </p:sp>
      <p:sp>
        <p:nvSpPr>
          <p:cNvPr id="7713" name="Google Shape;7713;p46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714" name="Google Shape;7714;p46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715" name="Google Shape;7715;p46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$915</a:t>
            </a:r>
            <a:endParaRPr/>
          </a:p>
        </p:txBody>
      </p:sp>
      <p:sp>
        <p:nvSpPr>
          <p:cNvPr id="7716" name="Google Shape;7716;p46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717" name="Google Shape;7717;p46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8" name="Google Shape;7718;p46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7719" name="Google Shape;7719;p46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720" name="Google Shape;7720;p46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721" name="Google Shape;7721;p4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722" name="Google Shape;7722;p46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723" name="Google Shape;7723;p46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724" name="Google Shape;7724;p46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5" name="Google Shape;7725;p46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7726" name="Google Shape;7726;p46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727" name="Google Shape;7727;p46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728" name="Google Shape;7728;p46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729" name="Google Shape;7729;p46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730" name="Google Shape;7730;p46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731" name="Google Shape;7731;p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2" name="Google Shape;7732;p46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7733" name="Google Shape;7733;p46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734" name="Google Shape;7734;p46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735" name="Google Shape;7735;p46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736" name="Google Shape;7736;p46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737" name="Google Shape;7737;p46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738" name="Google Shape;7738;p46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9" name="Google Shape;7739;p46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7740" name="Google Shape;7740;p46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741" name="Google Shape;7741;p4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742" name="Google Shape;7742;p46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743" name="Google Shape;7743;p46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744" name="Google Shape;7744;p46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745" name="Google Shape;7745;p46"/>
          <p:cNvSpPr/>
          <p:nvPr/>
        </p:nvSpPr>
        <p:spPr>
          <a:xfrm>
            <a:off x="365760" y="4123944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6" name="Google Shape;7746;p46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7747" name="Google Shape;7747;p46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748" name="Google Shape;7748;p46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749" name="Google Shape;7749;p46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750" name="Google Shape;7750;p46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751" name="Google Shape;7751;p4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752" name="Google Shape;7752;p46"/>
          <p:cNvSpPr/>
          <p:nvPr/>
        </p:nvSpPr>
        <p:spPr>
          <a:xfrm>
            <a:off x="365760" y="4425696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3" name="Google Shape;7753;p46"/>
          <p:cNvSpPr txBox="1"/>
          <p:nvPr/>
        </p:nvSpPr>
        <p:spPr>
          <a:xfrm>
            <a:off x="3657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7754" name="Google Shape;7754;p46"/>
          <p:cNvSpPr txBox="1"/>
          <p:nvPr/>
        </p:nvSpPr>
        <p:spPr>
          <a:xfrm>
            <a:off x="1280160" y="446227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$915</a:t>
            </a:r>
            <a:endParaRPr/>
          </a:p>
        </p:txBody>
      </p:sp>
      <p:sp>
        <p:nvSpPr>
          <p:cNvPr id="7755" name="Google Shape;7755;p46"/>
          <p:cNvSpPr txBox="1"/>
          <p:nvPr/>
        </p:nvSpPr>
        <p:spPr>
          <a:xfrm>
            <a:off x="2377439" y="446227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756" name="Google Shape;7756;p46"/>
          <p:cNvSpPr txBox="1"/>
          <p:nvPr/>
        </p:nvSpPr>
        <p:spPr>
          <a:xfrm>
            <a:off x="33832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757" name="Google Shape;7757;p46"/>
          <p:cNvSpPr txBox="1"/>
          <p:nvPr/>
        </p:nvSpPr>
        <p:spPr>
          <a:xfrm>
            <a:off x="42976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$915</a:t>
            </a:r>
            <a:endParaRPr/>
          </a:p>
        </p:txBody>
      </p:sp>
      <p:sp>
        <p:nvSpPr>
          <p:cNvPr id="7758" name="Google Shape;7758;p46"/>
          <p:cNvSpPr txBox="1"/>
          <p:nvPr/>
        </p:nvSpPr>
        <p:spPr>
          <a:xfrm>
            <a:off x="52120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759" name="Google Shape;7759;p46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0" name="Google Shape;7760;p46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 &amp; PIPELINE</a:t>
            </a:r>
            <a:endParaRPr/>
          </a:p>
        </p:txBody>
      </p:sp>
      <p:sp>
        <p:nvSpPr>
          <p:cNvPr id="7761" name="Google Shape;7761;p46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7762" name="Google Shape;7762;p46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Subs</a:t>
            </a:r>
            <a:endParaRPr/>
          </a:p>
        </p:txBody>
      </p:sp>
      <p:sp>
        <p:nvSpPr>
          <p:cNvPr id="7763" name="Google Shape;7763;p46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</a:t>
            </a:r>
            <a:endParaRPr/>
          </a:p>
        </p:txBody>
      </p:sp>
      <p:sp>
        <p:nvSpPr>
          <p:cNvPr id="7764" name="Google Shape;7764;p46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Non-Fleet</a:t>
            </a:r>
            <a:endParaRPr/>
          </a:p>
        </p:txBody>
      </p:sp>
      <p:sp>
        <p:nvSpPr>
          <p:cNvPr id="7765" name="Google Shape;7765;p46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7766" name="Google Shape;7766;p46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7767" name="Google Shape;7767;p46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8" name="Google Shape;7768;p4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7769" name="Google Shape;7769;p46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28</a:t>
            </a:r>
            <a:endParaRPr/>
          </a:p>
        </p:txBody>
      </p:sp>
      <p:sp>
        <p:nvSpPr>
          <p:cNvPr id="7770" name="Google Shape;7770;p46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7771" name="Google Shape;7771;p46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27</a:t>
            </a:r>
            <a:endParaRPr/>
          </a:p>
        </p:txBody>
      </p:sp>
      <p:sp>
        <p:nvSpPr>
          <p:cNvPr id="7772" name="Google Shape;7772;p46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7773" name="Google Shape;7773;p46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7.1%</a:t>
            </a:r>
            <a:endParaRPr/>
          </a:p>
        </p:txBody>
      </p:sp>
      <p:sp>
        <p:nvSpPr>
          <p:cNvPr id="7774" name="Google Shape;7774;p46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5" name="Google Shape;7775;p46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7776" name="Google Shape;7776;p46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28</a:t>
            </a:r>
            <a:endParaRPr/>
          </a:p>
        </p:txBody>
      </p:sp>
      <p:sp>
        <p:nvSpPr>
          <p:cNvPr id="7777" name="Google Shape;7777;p46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778" name="Google Shape;7778;p4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28</a:t>
            </a:r>
            <a:endParaRPr/>
          </a:p>
        </p:txBody>
      </p:sp>
      <p:sp>
        <p:nvSpPr>
          <p:cNvPr id="7779" name="Google Shape;7779;p46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780" name="Google Shape;7780;p46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7781" name="Google Shape;7781;p46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2" name="Google Shape;7782;p46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7783" name="Google Shape;7783;p46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35</a:t>
            </a:r>
            <a:endParaRPr/>
          </a:p>
        </p:txBody>
      </p:sp>
      <p:sp>
        <p:nvSpPr>
          <p:cNvPr id="7784" name="Google Shape;7784;p46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785" name="Google Shape;7785;p46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35</a:t>
            </a:r>
            <a:endParaRPr/>
          </a:p>
        </p:txBody>
      </p:sp>
      <p:sp>
        <p:nvSpPr>
          <p:cNvPr id="7786" name="Google Shape;7786;p46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787" name="Google Shape;7787;p46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7788" name="Google Shape;7788;p4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9" name="Google Shape;7789;p46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7790" name="Google Shape;7790;p46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55</a:t>
            </a:r>
            <a:endParaRPr/>
          </a:p>
        </p:txBody>
      </p:sp>
      <p:sp>
        <p:nvSpPr>
          <p:cNvPr id="7791" name="Google Shape;7791;p46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7792" name="Google Shape;7792;p46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53</a:t>
            </a:r>
            <a:endParaRPr/>
          </a:p>
        </p:txBody>
      </p:sp>
      <p:sp>
        <p:nvSpPr>
          <p:cNvPr id="7793" name="Google Shape;7793;p46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794" name="Google Shape;7794;p46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7795" name="Google Shape;7795;p46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6" name="Google Shape;7796;p46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7797" name="Google Shape;7797;p46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41</a:t>
            </a:r>
            <a:endParaRPr/>
          </a:p>
        </p:txBody>
      </p:sp>
      <p:sp>
        <p:nvSpPr>
          <p:cNvPr id="7798" name="Google Shape;7798;p4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7799" name="Google Shape;7799;p46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38</a:t>
            </a:r>
            <a:endParaRPr/>
          </a:p>
        </p:txBody>
      </p:sp>
      <p:sp>
        <p:nvSpPr>
          <p:cNvPr id="7800" name="Google Shape;7800;p46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801" name="Google Shape;7801;p46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7802" name="Google Shape;7802;p46"/>
          <p:cNvSpPr/>
          <p:nvPr/>
        </p:nvSpPr>
        <p:spPr>
          <a:xfrm>
            <a:off x="6309360" y="4123944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3" name="Google Shape;7803;p46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7804" name="Google Shape;7804;p46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805" name="Google Shape;7805;p46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806" name="Google Shape;7806;p46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807" name="Google Shape;7807;p46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808" name="Google Shape;7808;p4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7809" name="Google Shape;7809;p46"/>
          <p:cNvSpPr/>
          <p:nvPr/>
        </p:nvSpPr>
        <p:spPr>
          <a:xfrm>
            <a:off x="6309360" y="4425696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0" name="Google Shape;7810;p46"/>
          <p:cNvSpPr txBox="1"/>
          <p:nvPr/>
        </p:nvSpPr>
        <p:spPr>
          <a:xfrm>
            <a:off x="63093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7811" name="Google Shape;7811;p46"/>
          <p:cNvSpPr txBox="1"/>
          <p:nvPr/>
        </p:nvSpPr>
        <p:spPr>
          <a:xfrm>
            <a:off x="722376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186</a:t>
            </a:r>
            <a:endParaRPr/>
          </a:p>
        </p:txBody>
      </p:sp>
      <p:sp>
        <p:nvSpPr>
          <p:cNvPr id="7812" name="Google Shape;7812;p46"/>
          <p:cNvSpPr txBox="1"/>
          <p:nvPr/>
        </p:nvSpPr>
        <p:spPr>
          <a:xfrm>
            <a:off x="804672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/>
          </a:p>
        </p:txBody>
      </p:sp>
      <p:sp>
        <p:nvSpPr>
          <p:cNvPr id="7813" name="Google Shape;7813;p46"/>
          <p:cNvSpPr txBox="1"/>
          <p:nvPr/>
        </p:nvSpPr>
        <p:spPr>
          <a:xfrm>
            <a:off x="886968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180</a:t>
            </a:r>
            <a:endParaRPr/>
          </a:p>
        </p:txBody>
      </p:sp>
      <p:sp>
        <p:nvSpPr>
          <p:cNvPr id="7814" name="Google Shape;7814;p46"/>
          <p:cNvSpPr txBox="1"/>
          <p:nvPr/>
        </p:nvSpPr>
        <p:spPr>
          <a:xfrm>
            <a:off x="978408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7815" name="Google Shape;7815;p46"/>
          <p:cNvSpPr txBox="1"/>
          <p:nvPr/>
        </p:nvSpPr>
        <p:spPr>
          <a:xfrm>
            <a:off x="1060704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0.5%</a:t>
            </a:r>
            <a:endParaRPr/>
          </a:p>
        </p:txBody>
      </p:sp>
      <p:sp>
        <p:nvSpPr>
          <p:cNvPr id="7816" name="Google Shape;7816;p46"/>
          <p:cNvSpPr/>
          <p:nvPr/>
        </p:nvSpPr>
        <p:spPr>
          <a:xfrm>
            <a:off x="365760" y="4782312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7" name="Google Shape;7817;p46"/>
          <p:cNvSpPr txBox="1"/>
          <p:nvPr/>
        </p:nvSpPr>
        <p:spPr>
          <a:xfrm>
            <a:off x="457200" y="4800599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YOY COMPARISON — Jan–Jun 2025 vs Jan–Jun 2026</a:t>
            </a:r>
            <a:endParaRPr/>
          </a:p>
        </p:txBody>
      </p:sp>
      <p:sp>
        <p:nvSpPr>
          <p:cNvPr id="7818" name="Google Shape;7818;p46"/>
          <p:cNvSpPr txBox="1"/>
          <p:nvPr/>
        </p:nvSpPr>
        <p:spPr>
          <a:xfrm>
            <a:off x="365760" y="5056631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00" u="none" cap="none" strike="noStrike">
              <a:solidFill>
                <a:srgbClr val="6B728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819" name="Google Shape;7819;p46"/>
          <p:cNvSpPr txBox="1"/>
          <p:nvPr/>
        </p:nvSpPr>
        <p:spPr>
          <a:xfrm>
            <a:off x="1463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'25</a:t>
            </a:r>
            <a:endParaRPr/>
          </a:p>
        </p:txBody>
      </p:sp>
      <p:sp>
        <p:nvSpPr>
          <p:cNvPr id="7820" name="Google Shape;7820;p46"/>
          <p:cNvSpPr txBox="1"/>
          <p:nvPr/>
        </p:nvSpPr>
        <p:spPr>
          <a:xfrm>
            <a:off x="2148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'26</a:t>
            </a:r>
            <a:endParaRPr/>
          </a:p>
        </p:txBody>
      </p:sp>
      <p:sp>
        <p:nvSpPr>
          <p:cNvPr id="7821" name="Google Shape;7821;p46"/>
          <p:cNvSpPr txBox="1"/>
          <p:nvPr/>
        </p:nvSpPr>
        <p:spPr>
          <a:xfrm>
            <a:off x="2834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'25</a:t>
            </a:r>
            <a:endParaRPr/>
          </a:p>
        </p:txBody>
      </p:sp>
      <p:sp>
        <p:nvSpPr>
          <p:cNvPr id="7822" name="Google Shape;7822;p46"/>
          <p:cNvSpPr txBox="1"/>
          <p:nvPr/>
        </p:nvSpPr>
        <p:spPr>
          <a:xfrm>
            <a:off x="3520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'26</a:t>
            </a:r>
            <a:endParaRPr/>
          </a:p>
        </p:txBody>
      </p:sp>
      <p:sp>
        <p:nvSpPr>
          <p:cNvPr id="7823" name="Google Shape;7823;p46"/>
          <p:cNvSpPr txBox="1"/>
          <p:nvPr/>
        </p:nvSpPr>
        <p:spPr>
          <a:xfrm>
            <a:off x="4206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'25</a:t>
            </a:r>
            <a:endParaRPr/>
          </a:p>
        </p:txBody>
      </p:sp>
      <p:sp>
        <p:nvSpPr>
          <p:cNvPr id="7824" name="Google Shape;7824;p46"/>
          <p:cNvSpPr txBox="1"/>
          <p:nvPr/>
        </p:nvSpPr>
        <p:spPr>
          <a:xfrm>
            <a:off x="4892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'26</a:t>
            </a:r>
            <a:endParaRPr/>
          </a:p>
        </p:txBody>
      </p:sp>
      <p:sp>
        <p:nvSpPr>
          <p:cNvPr id="7825" name="Google Shape;7825;p46"/>
          <p:cNvSpPr txBox="1"/>
          <p:nvPr/>
        </p:nvSpPr>
        <p:spPr>
          <a:xfrm>
            <a:off x="5577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'25</a:t>
            </a:r>
            <a:endParaRPr/>
          </a:p>
        </p:txBody>
      </p:sp>
      <p:sp>
        <p:nvSpPr>
          <p:cNvPr id="7826" name="Google Shape;7826;p46"/>
          <p:cNvSpPr txBox="1"/>
          <p:nvPr/>
        </p:nvSpPr>
        <p:spPr>
          <a:xfrm>
            <a:off x="6263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'26</a:t>
            </a:r>
            <a:endParaRPr/>
          </a:p>
        </p:txBody>
      </p:sp>
      <p:sp>
        <p:nvSpPr>
          <p:cNvPr id="7827" name="Google Shape;7827;p46"/>
          <p:cNvSpPr txBox="1"/>
          <p:nvPr/>
        </p:nvSpPr>
        <p:spPr>
          <a:xfrm>
            <a:off x="6949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'25</a:t>
            </a:r>
            <a:endParaRPr/>
          </a:p>
        </p:txBody>
      </p:sp>
      <p:sp>
        <p:nvSpPr>
          <p:cNvPr id="7828" name="Google Shape;7828;p46"/>
          <p:cNvSpPr txBox="1"/>
          <p:nvPr/>
        </p:nvSpPr>
        <p:spPr>
          <a:xfrm>
            <a:off x="7635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'26</a:t>
            </a:r>
            <a:endParaRPr/>
          </a:p>
        </p:txBody>
      </p:sp>
      <p:sp>
        <p:nvSpPr>
          <p:cNvPr id="7829" name="Google Shape;7829;p46"/>
          <p:cNvSpPr txBox="1"/>
          <p:nvPr/>
        </p:nvSpPr>
        <p:spPr>
          <a:xfrm>
            <a:off x="8321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'25</a:t>
            </a:r>
            <a:endParaRPr/>
          </a:p>
        </p:txBody>
      </p:sp>
      <p:sp>
        <p:nvSpPr>
          <p:cNvPr id="7830" name="Google Shape;7830;p46"/>
          <p:cNvSpPr txBox="1"/>
          <p:nvPr/>
        </p:nvSpPr>
        <p:spPr>
          <a:xfrm>
            <a:off x="9006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'26</a:t>
            </a:r>
            <a:endParaRPr/>
          </a:p>
        </p:txBody>
      </p:sp>
      <p:sp>
        <p:nvSpPr>
          <p:cNvPr id="7831" name="Google Shape;7831;p46"/>
          <p:cNvSpPr txBox="1"/>
          <p:nvPr/>
        </p:nvSpPr>
        <p:spPr>
          <a:xfrm>
            <a:off x="969264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'25 Tot</a:t>
            </a:r>
            <a:endParaRPr/>
          </a:p>
        </p:txBody>
      </p:sp>
      <p:sp>
        <p:nvSpPr>
          <p:cNvPr id="7832" name="Google Shape;7832;p46"/>
          <p:cNvSpPr txBox="1"/>
          <p:nvPr/>
        </p:nvSpPr>
        <p:spPr>
          <a:xfrm>
            <a:off x="1088136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'26 Tot</a:t>
            </a:r>
            <a:endParaRPr/>
          </a:p>
        </p:txBody>
      </p:sp>
      <p:sp>
        <p:nvSpPr>
          <p:cNvPr id="7833" name="Google Shape;7833;p46"/>
          <p:cNvSpPr txBox="1"/>
          <p:nvPr/>
        </p:nvSpPr>
        <p:spPr>
          <a:xfrm>
            <a:off x="365760" y="523951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7834" name="Google Shape;7834;p46"/>
          <p:cNvSpPr txBox="1"/>
          <p:nvPr/>
        </p:nvSpPr>
        <p:spPr>
          <a:xfrm>
            <a:off x="1463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47</a:t>
            </a:r>
            <a:endParaRPr/>
          </a:p>
        </p:txBody>
      </p:sp>
      <p:sp>
        <p:nvSpPr>
          <p:cNvPr id="7835" name="Google Shape;7835;p46"/>
          <p:cNvSpPr txBox="1"/>
          <p:nvPr/>
        </p:nvSpPr>
        <p:spPr>
          <a:xfrm>
            <a:off x="2148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28</a:t>
            </a:r>
            <a:endParaRPr/>
          </a:p>
        </p:txBody>
      </p:sp>
      <p:sp>
        <p:nvSpPr>
          <p:cNvPr id="7836" name="Google Shape;7836;p46"/>
          <p:cNvSpPr txBox="1"/>
          <p:nvPr/>
        </p:nvSpPr>
        <p:spPr>
          <a:xfrm>
            <a:off x="2834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43</a:t>
            </a:r>
            <a:endParaRPr/>
          </a:p>
        </p:txBody>
      </p:sp>
      <p:sp>
        <p:nvSpPr>
          <p:cNvPr id="7837" name="Google Shape;7837;p46"/>
          <p:cNvSpPr txBox="1"/>
          <p:nvPr/>
        </p:nvSpPr>
        <p:spPr>
          <a:xfrm>
            <a:off x="3520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28</a:t>
            </a:r>
            <a:endParaRPr/>
          </a:p>
        </p:txBody>
      </p:sp>
      <p:sp>
        <p:nvSpPr>
          <p:cNvPr id="7838" name="Google Shape;7838;p46"/>
          <p:cNvSpPr txBox="1"/>
          <p:nvPr/>
        </p:nvSpPr>
        <p:spPr>
          <a:xfrm>
            <a:off x="4206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49</a:t>
            </a:r>
            <a:endParaRPr/>
          </a:p>
        </p:txBody>
      </p:sp>
      <p:sp>
        <p:nvSpPr>
          <p:cNvPr id="7839" name="Google Shape;7839;p46"/>
          <p:cNvSpPr txBox="1"/>
          <p:nvPr/>
        </p:nvSpPr>
        <p:spPr>
          <a:xfrm>
            <a:off x="4892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35</a:t>
            </a:r>
            <a:endParaRPr/>
          </a:p>
        </p:txBody>
      </p:sp>
      <p:sp>
        <p:nvSpPr>
          <p:cNvPr id="7840" name="Google Shape;7840;p46"/>
          <p:cNvSpPr txBox="1"/>
          <p:nvPr/>
        </p:nvSpPr>
        <p:spPr>
          <a:xfrm>
            <a:off x="5577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47</a:t>
            </a:r>
            <a:endParaRPr/>
          </a:p>
        </p:txBody>
      </p:sp>
      <p:sp>
        <p:nvSpPr>
          <p:cNvPr id="7841" name="Google Shape;7841;p46"/>
          <p:cNvSpPr txBox="1"/>
          <p:nvPr/>
        </p:nvSpPr>
        <p:spPr>
          <a:xfrm>
            <a:off x="6263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55</a:t>
            </a:r>
            <a:endParaRPr/>
          </a:p>
        </p:txBody>
      </p:sp>
      <p:sp>
        <p:nvSpPr>
          <p:cNvPr id="7842" name="Google Shape;7842;p46"/>
          <p:cNvSpPr txBox="1"/>
          <p:nvPr/>
        </p:nvSpPr>
        <p:spPr>
          <a:xfrm>
            <a:off x="6949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41</a:t>
            </a:r>
            <a:endParaRPr/>
          </a:p>
        </p:txBody>
      </p:sp>
      <p:sp>
        <p:nvSpPr>
          <p:cNvPr id="7843" name="Google Shape;7843;p46"/>
          <p:cNvSpPr txBox="1"/>
          <p:nvPr/>
        </p:nvSpPr>
        <p:spPr>
          <a:xfrm>
            <a:off x="7635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41</a:t>
            </a:r>
            <a:endParaRPr/>
          </a:p>
        </p:txBody>
      </p:sp>
      <p:sp>
        <p:nvSpPr>
          <p:cNvPr id="7844" name="Google Shape;7844;p46"/>
          <p:cNvSpPr txBox="1"/>
          <p:nvPr/>
        </p:nvSpPr>
        <p:spPr>
          <a:xfrm>
            <a:off x="8321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44</a:t>
            </a:r>
            <a:endParaRPr/>
          </a:p>
        </p:txBody>
      </p:sp>
      <p:sp>
        <p:nvSpPr>
          <p:cNvPr id="7845" name="Google Shape;7845;p46"/>
          <p:cNvSpPr txBox="1"/>
          <p:nvPr/>
        </p:nvSpPr>
        <p:spPr>
          <a:xfrm>
            <a:off x="9006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846" name="Google Shape;7846;p46"/>
          <p:cNvSpPr txBox="1"/>
          <p:nvPr/>
        </p:nvSpPr>
        <p:spPr>
          <a:xfrm>
            <a:off x="969264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271</a:t>
            </a:r>
            <a:endParaRPr/>
          </a:p>
        </p:txBody>
      </p:sp>
      <p:sp>
        <p:nvSpPr>
          <p:cNvPr id="7847" name="Google Shape;7847;p46"/>
          <p:cNvSpPr txBox="1"/>
          <p:nvPr/>
        </p:nvSpPr>
        <p:spPr>
          <a:xfrm>
            <a:off x="1088136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187</a:t>
            </a:r>
            <a:endParaRPr/>
          </a:p>
        </p:txBody>
      </p:sp>
      <p:sp>
        <p:nvSpPr>
          <p:cNvPr id="7848" name="Google Shape;7848;p46"/>
          <p:cNvSpPr txBox="1"/>
          <p:nvPr/>
        </p:nvSpPr>
        <p:spPr>
          <a:xfrm>
            <a:off x="365760" y="542239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Bound Premium</a:t>
            </a:r>
            <a:endParaRPr/>
          </a:p>
        </p:txBody>
      </p:sp>
      <p:sp>
        <p:nvSpPr>
          <p:cNvPr id="7849" name="Google Shape;7849;p46"/>
          <p:cNvSpPr txBox="1"/>
          <p:nvPr/>
        </p:nvSpPr>
        <p:spPr>
          <a:xfrm>
            <a:off x="1463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$15K</a:t>
            </a:r>
            <a:endParaRPr/>
          </a:p>
        </p:txBody>
      </p:sp>
      <p:sp>
        <p:nvSpPr>
          <p:cNvPr id="7850" name="Google Shape;7850;p46"/>
          <p:cNvSpPr txBox="1"/>
          <p:nvPr/>
        </p:nvSpPr>
        <p:spPr>
          <a:xfrm>
            <a:off x="2148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$915</a:t>
            </a:r>
            <a:endParaRPr/>
          </a:p>
        </p:txBody>
      </p:sp>
      <p:sp>
        <p:nvSpPr>
          <p:cNvPr id="7851" name="Google Shape;7851;p46"/>
          <p:cNvSpPr txBox="1"/>
          <p:nvPr/>
        </p:nvSpPr>
        <p:spPr>
          <a:xfrm>
            <a:off x="2834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$20K</a:t>
            </a:r>
            <a:endParaRPr/>
          </a:p>
        </p:txBody>
      </p:sp>
      <p:sp>
        <p:nvSpPr>
          <p:cNvPr id="7852" name="Google Shape;7852;p46"/>
          <p:cNvSpPr txBox="1"/>
          <p:nvPr/>
        </p:nvSpPr>
        <p:spPr>
          <a:xfrm>
            <a:off x="3520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853" name="Google Shape;7853;p46"/>
          <p:cNvSpPr txBox="1"/>
          <p:nvPr/>
        </p:nvSpPr>
        <p:spPr>
          <a:xfrm>
            <a:off x="4206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$73K</a:t>
            </a:r>
            <a:endParaRPr/>
          </a:p>
        </p:txBody>
      </p:sp>
      <p:sp>
        <p:nvSpPr>
          <p:cNvPr id="7854" name="Google Shape;7854;p46"/>
          <p:cNvSpPr txBox="1"/>
          <p:nvPr/>
        </p:nvSpPr>
        <p:spPr>
          <a:xfrm>
            <a:off x="4892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855" name="Google Shape;7855;p46"/>
          <p:cNvSpPr txBox="1"/>
          <p:nvPr/>
        </p:nvSpPr>
        <p:spPr>
          <a:xfrm>
            <a:off x="5577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$28K</a:t>
            </a:r>
            <a:endParaRPr/>
          </a:p>
        </p:txBody>
      </p:sp>
      <p:sp>
        <p:nvSpPr>
          <p:cNvPr id="7856" name="Google Shape;7856;p46"/>
          <p:cNvSpPr txBox="1"/>
          <p:nvPr/>
        </p:nvSpPr>
        <p:spPr>
          <a:xfrm>
            <a:off x="6263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857" name="Google Shape;7857;p46"/>
          <p:cNvSpPr txBox="1"/>
          <p:nvPr/>
        </p:nvSpPr>
        <p:spPr>
          <a:xfrm>
            <a:off x="6949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$48K</a:t>
            </a:r>
            <a:endParaRPr/>
          </a:p>
        </p:txBody>
      </p:sp>
      <p:sp>
        <p:nvSpPr>
          <p:cNvPr id="7858" name="Google Shape;7858;p46"/>
          <p:cNvSpPr txBox="1"/>
          <p:nvPr/>
        </p:nvSpPr>
        <p:spPr>
          <a:xfrm>
            <a:off x="7635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859" name="Google Shape;7859;p46"/>
          <p:cNvSpPr txBox="1"/>
          <p:nvPr/>
        </p:nvSpPr>
        <p:spPr>
          <a:xfrm>
            <a:off x="8321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$30K</a:t>
            </a:r>
            <a:endParaRPr/>
          </a:p>
        </p:txBody>
      </p:sp>
      <p:sp>
        <p:nvSpPr>
          <p:cNvPr id="7860" name="Google Shape;7860;p46"/>
          <p:cNvSpPr txBox="1"/>
          <p:nvPr/>
        </p:nvSpPr>
        <p:spPr>
          <a:xfrm>
            <a:off x="9006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861" name="Google Shape;7861;p46"/>
          <p:cNvSpPr txBox="1"/>
          <p:nvPr/>
        </p:nvSpPr>
        <p:spPr>
          <a:xfrm>
            <a:off x="969264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$214K</a:t>
            </a:r>
            <a:endParaRPr/>
          </a:p>
        </p:txBody>
      </p:sp>
      <p:sp>
        <p:nvSpPr>
          <p:cNvPr id="7862" name="Google Shape;7862;p46"/>
          <p:cNvSpPr txBox="1"/>
          <p:nvPr/>
        </p:nvSpPr>
        <p:spPr>
          <a:xfrm>
            <a:off x="1088136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$915</a:t>
            </a:r>
            <a:endParaRPr/>
          </a:p>
        </p:txBody>
      </p:sp>
      <p:sp>
        <p:nvSpPr>
          <p:cNvPr id="7863" name="Google Shape;7863;p46"/>
          <p:cNvSpPr/>
          <p:nvPr/>
        </p:nvSpPr>
        <p:spPr>
          <a:xfrm>
            <a:off x="365760" y="5678423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4" name="Google Shape;7864;p46"/>
          <p:cNvSpPr txBox="1"/>
          <p:nvPr/>
        </p:nvSpPr>
        <p:spPr>
          <a:xfrm>
            <a:off x="4572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65F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STRENGTHS - What's Working</a:t>
            </a:r>
            <a:endParaRPr/>
          </a:p>
        </p:txBody>
      </p:sp>
      <p:sp>
        <p:nvSpPr>
          <p:cNvPr id="7865" name="Google Shape;7865;p46"/>
          <p:cNvSpPr txBox="1"/>
          <p:nvPr/>
        </p:nvSpPr>
        <p:spPr>
          <a:xfrm>
            <a:off x="4572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7866" name="Google Shape;7866;p46"/>
          <p:cNvSpPr txBox="1"/>
          <p:nvPr/>
        </p:nvSpPr>
        <p:spPr>
          <a:xfrm>
            <a:off x="685800" y="5952743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$915 YTD gross written premium</a:t>
            </a:r>
            <a:endParaRPr/>
          </a:p>
        </p:txBody>
      </p:sp>
      <p:sp>
        <p:nvSpPr>
          <p:cNvPr id="7867" name="Google Shape;7867;p46"/>
          <p:cNvSpPr txBox="1"/>
          <p:nvPr/>
        </p:nvSpPr>
        <p:spPr>
          <a:xfrm>
            <a:off x="457200" y="6153911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7868" name="Google Shape;7868;p46"/>
          <p:cNvSpPr txBox="1"/>
          <p:nvPr/>
        </p:nvSpPr>
        <p:spPr>
          <a:xfrm>
            <a:off x="685800" y="6153911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186 submissions - highly active agency</a:t>
            </a:r>
            <a:endParaRPr/>
          </a:p>
        </p:txBody>
      </p:sp>
      <p:sp>
        <p:nvSpPr>
          <p:cNvPr id="7869" name="Google Shape;7869;p46"/>
          <p:cNvSpPr/>
          <p:nvPr/>
        </p:nvSpPr>
        <p:spPr>
          <a:xfrm>
            <a:off x="6309360" y="5678423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0" name="Google Shape;7870;p46"/>
          <p:cNvSpPr txBox="1"/>
          <p:nvPr/>
        </p:nvSpPr>
        <p:spPr>
          <a:xfrm>
            <a:off x="64008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NEEDS ATTENTION</a:t>
            </a:r>
            <a:endParaRPr/>
          </a:p>
        </p:txBody>
      </p:sp>
      <p:sp>
        <p:nvSpPr>
          <p:cNvPr id="7871" name="Google Shape;7871;p46"/>
          <p:cNvSpPr txBox="1"/>
          <p:nvPr/>
        </p:nvSpPr>
        <p:spPr>
          <a:xfrm>
            <a:off x="64008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7872" name="Google Shape;7872;p46"/>
          <p:cNvSpPr txBox="1"/>
          <p:nvPr/>
        </p:nvSpPr>
        <p:spPr>
          <a:xfrm>
            <a:off x="6629400" y="5952743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Low 0.5% hit ratio on 186 subs - needs coaching</a:t>
            </a:r>
            <a:endParaRPr/>
          </a:p>
        </p:txBody>
      </p:sp>
      <p:sp>
        <p:nvSpPr>
          <p:cNvPr id="7873" name="Google Shape;7873;p46"/>
          <p:cNvSpPr txBox="1"/>
          <p:nvPr/>
        </p:nvSpPr>
        <p:spPr>
          <a:xfrm>
            <a:off x="6400800" y="6153911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7874" name="Google Shape;7874;p46"/>
          <p:cNvSpPr txBox="1"/>
          <p:nvPr/>
        </p:nvSpPr>
        <p:spPr>
          <a:xfrm>
            <a:off x="6629400" y="6153911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new business - all premium from renewals/endorsements only</a:t>
            </a:r>
            <a:endParaRPr/>
          </a:p>
        </p:txBody>
      </p:sp>
      <p:sp>
        <p:nvSpPr>
          <p:cNvPr id="7875" name="Google Shape;7875;p46"/>
          <p:cNvSpPr/>
          <p:nvPr/>
        </p:nvSpPr>
        <p:spPr>
          <a:xfrm>
            <a:off x="365760" y="6455663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6" name="Google Shape;7876;p46"/>
          <p:cNvSpPr txBox="1"/>
          <p:nvPr/>
        </p:nvSpPr>
        <p:spPr>
          <a:xfrm>
            <a:off x="457200" y="6464807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STRATEGIC SALES TIPS - Conversation Starters</a:t>
            </a:r>
            <a:endParaRPr/>
          </a:p>
        </p:txBody>
      </p:sp>
      <p:sp>
        <p:nvSpPr>
          <p:cNvPr id="7877" name="Google Shape;7877;p46"/>
          <p:cNvSpPr txBox="1"/>
          <p:nvPr/>
        </p:nvSpPr>
        <p:spPr>
          <a:xfrm>
            <a:off x="457200" y="6711695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endParaRPr/>
          </a:p>
        </p:txBody>
      </p:sp>
      <p:sp>
        <p:nvSpPr>
          <p:cNvPr id="7878" name="Google Shape;7878;p46"/>
          <p:cNvSpPr txBox="1"/>
          <p:nvPr/>
        </p:nvSpPr>
        <p:spPr>
          <a:xfrm>
            <a:off x="777240" y="6711695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Walk through recent lost quotes (186 subs, only 1 binds). Ask: "What are the top 2 reasons your clients go elsewhere?" Use answers to tailor appetite and pricing discussions.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82" name="Shape 7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3" name="Google Shape;7883;p47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4" name="Google Shape;7884;p47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Assurance Group Of America, Inc.</a:t>
            </a:r>
            <a:endParaRPr/>
          </a:p>
        </p:txBody>
      </p:sp>
      <p:sp>
        <p:nvSpPr>
          <p:cNvPr id="7885" name="Google Shape;7885;p47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4B5F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Tier: Tier 2  |  Region: Southeast  |  State: FL  |  City: Port St Lucie</a:t>
            </a:r>
            <a:endParaRPr/>
          </a:p>
        </p:txBody>
      </p:sp>
      <p:sp>
        <p:nvSpPr>
          <p:cNvPr id="7886" name="Google Shape;7886;p47"/>
          <p:cNvSpPr/>
          <p:nvPr/>
        </p:nvSpPr>
        <p:spPr>
          <a:xfrm>
            <a:off x="22860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$-4,582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YTD GWP</a:t>
            </a:r>
            <a:endParaRPr/>
          </a:p>
        </p:txBody>
      </p:sp>
      <p:sp>
        <p:nvSpPr>
          <p:cNvPr id="7887" name="Google Shape;7887;p47"/>
          <p:cNvSpPr/>
          <p:nvPr/>
        </p:nvSpPr>
        <p:spPr>
          <a:xfrm>
            <a:off x="256032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7888" name="Google Shape;7888;p47"/>
          <p:cNvSpPr/>
          <p:nvPr/>
        </p:nvSpPr>
        <p:spPr>
          <a:xfrm>
            <a:off x="489204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7889" name="Google Shape;7889;p47"/>
          <p:cNvSpPr/>
          <p:nvPr/>
        </p:nvSpPr>
        <p:spPr>
          <a:xfrm>
            <a:off x="7223759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$-4,582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7890" name="Google Shape;7890;p47"/>
          <p:cNvSpPr/>
          <p:nvPr/>
        </p:nvSpPr>
        <p:spPr>
          <a:xfrm>
            <a:off x="955548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$-5,583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7891" name="Google Shape;7891;p47"/>
          <p:cNvSpPr/>
          <p:nvPr/>
        </p:nvSpPr>
        <p:spPr>
          <a:xfrm>
            <a:off x="137160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$204,734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2025 Full Year GWP</a:t>
            </a:r>
            <a:endParaRPr/>
          </a:p>
        </p:txBody>
      </p:sp>
      <p:sp>
        <p:nvSpPr>
          <p:cNvPr id="7892" name="Google Shape;7892;p47"/>
          <p:cNvSpPr/>
          <p:nvPr/>
        </p:nvSpPr>
        <p:spPr>
          <a:xfrm>
            <a:off x="1627631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$69,390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Rolling 12M GWP</a:t>
            </a:r>
            <a:endParaRPr/>
          </a:p>
        </p:txBody>
      </p:sp>
      <p:sp>
        <p:nvSpPr>
          <p:cNvPr id="7893" name="Google Shape;7893;p47"/>
          <p:cNvSpPr/>
          <p:nvPr/>
        </p:nvSpPr>
        <p:spPr>
          <a:xfrm>
            <a:off x="3118103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-2%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% to Goal</a:t>
            </a:r>
            <a:endParaRPr/>
          </a:p>
        </p:txBody>
      </p:sp>
      <p:sp>
        <p:nvSpPr>
          <p:cNvPr id="7894" name="Google Shape;7894;p47"/>
          <p:cNvSpPr/>
          <p:nvPr/>
        </p:nvSpPr>
        <p:spPr>
          <a:xfrm>
            <a:off x="4608576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53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7895" name="Google Shape;7895;p47"/>
          <p:cNvSpPr/>
          <p:nvPr/>
        </p:nvSpPr>
        <p:spPr>
          <a:xfrm>
            <a:off x="6099048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7896" name="Google Shape;7896;p47"/>
          <p:cNvSpPr/>
          <p:nvPr/>
        </p:nvSpPr>
        <p:spPr>
          <a:xfrm>
            <a:off x="7589519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3.8%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7897" name="Google Shape;7897;p47"/>
          <p:cNvSpPr/>
          <p:nvPr/>
        </p:nvSpPr>
        <p:spPr>
          <a:xfrm>
            <a:off x="9079992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 Bound Prem</a:t>
            </a:r>
            <a:endParaRPr/>
          </a:p>
        </p:txBody>
      </p:sp>
      <p:sp>
        <p:nvSpPr>
          <p:cNvPr id="7898" name="Google Shape;7898;p47"/>
          <p:cNvSpPr/>
          <p:nvPr/>
        </p:nvSpPr>
        <p:spPr>
          <a:xfrm>
            <a:off x="10570464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$75,192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NF Bound Prem</a:t>
            </a:r>
            <a:endParaRPr/>
          </a:p>
        </p:txBody>
      </p:sp>
      <p:sp>
        <p:nvSpPr>
          <p:cNvPr id="7899" name="Google Shape;7899;p4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0" name="Google Shape;7900;p47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PRODUCTION BY MONTH</a:t>
            </a:r>
            <a:endParaRPr/>
          </a:p>
        </p:txBody>
      </p:sp>
      <p:sp>
        <p:nvSpPr>
          <p:cNvPr id="7901" name="Google Shape;7901;p47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7902" name="Google Shape;7902;p47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Written Premium</a:t>
            </a:r>
            <a:endParaRPr/>
          </a:p>
        </p:txBody>
      </p:sp>
      <p:sp>
        <p:nvSpPr>
          <p:cNvPr id="7903" name="Google Shape;7903;p47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7904" name="Google Shape;7904;p47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7905" name="Google Shape;7905;p47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7906" name="Google Shape;7906;p47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7907" name="Google Shape;7907;p47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8" name="Google Shape;7908;p47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7909" name="Google Shape;7909;p4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$-10,959</a:t>
            </a:r>
            <a:endParaRPr/>
          </a:p>
        </p:txBody>
      </p:sp>
      <p:sp>
        <p:nvSpPr>
          <p:cNvPr id="7910" name="Google Shape;7910;p47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911" name="Google Shape;7911;p47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912" name="Google Shape;7912;p47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$-10,959</a:t>
            </a:r>
            <a:endParaRPr/>
          </a:p>
        </p:txBody>
      </p:sp>
      <p:sp>
        <p:nvSpPr>
          <p:cNvPr id="7913" name="Google Shape;7913;p47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914" name="Google Shape;7914;p47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5" name="Google Shape;7915;p47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7916" name="Google Shape;7916;p47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$3,168</a:t>
            </a:r>
            <a:endParaRPr/>
          </a:p>
        </p:txBody>
      </p:sp>
      <p:sp>
        <p:nvSpPr>
          <p:cNvPr id="7917" name="Google Shape;7917;p47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918" name="Google Shape;7918;p47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919" name="Google Shape;7919;p4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$3,168</a:t>
            </a:r>
            <a:endParaRPr/>
          </a:p>
        </p:txBody>
      </p:sp>
      <p:sp>
        <p:nvSpPr>
          <p:cNvPr id="7920" name="Google Shape;7920;p47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921" name="Google Shape;7921;p47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2" name="Google Shape;7922;p47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7923" name="Google Shape;7923;p47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$3,209</a:t>
            </a:r>
            <a:endParaRPr/>
          </a:p>
        </p:txBody>
      </p:sp>
      <p:sp>
        <p:nvSpPr>
          <p:cNvPr id="7924" name="Google Shape;7924;p47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925" name="Google Shape;7925;p47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926" name="Google Shape;7926;p47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$3,209</a:t>
            </a:r>
            <a:endParaRPr/>
          </a:p>
        </p:txBody>
      </p:sp>
      <p:sp>
        <p:nvSpPr>
          <p:cNvPr id="7927" name="Google Shape;7927;p47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928" name="Google Shape;7928;p47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9" name="Google Shape;7929;p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7930" name="Google Shape;7930;p47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931" name="Google Shape;7931;p47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932" name="Google Shape;7932;p47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933" name="Google Shape;7933;p47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934" name="Google Shape;7934;p47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$-5,583</a:t>
            </a:r>
            <a:endParaRPr/>
          </a:p>
        </p:txBody>
      </p:sp>
      <p:sp>
        <p:nvSpPr>
          <p:cNvPr id="7935" name="Google Shape;7935;p47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6" name="Google Shape;7936;p47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7937" name="Google Shape;7937;p47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938" name="Google Shape;7938;p47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939" name="Google Shape;7939;p4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940" name="Google Shape;7940;p47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941" name="Google Shape;7941;p47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942" name="Google Shape;7942;p47"/>
          <p:cNvSpPr/>
          <p:nvPr/>
        </p:nvSpPr>
        <p:spPr>
          <a:xfrm>
            <a:off x="365760" y="4123944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3" name="Google Shape;7943;p47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7944" name="Google Shape;7944;p47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945" name="Google Shape;7945;p47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946" name="Google Shape;7946;p47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947" name="Google Shape;7947;p47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948" name="Google Shape;7948;p47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949" name="Google Shape;7949;p47"/>
          <p:cNvSpPr/>
          <p:nvPr/>
        </p:nvSpPr>
        <p:spPr>
          <a:xfrm>
            <a:off x="365760" y="4425696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0" name="Google Shape;7950;p47"/>
          <p:cNvSpPr txBox="1"/>
          <p:nvPr/>
        </p:nvSpPr>
        <p:spPr>
          <a:xfrm>
            <a:off x="3657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7951" name="Google Shape;7951;p47"/>
          <p:cNvSpPr txBox="1"/>
          <p:nvPr/>
        </p:nvSpPr>
        <p:spPr>
          <a:xfrm>
            <a:off x="1280160" y="446227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$-4,582</a:t>
            </a:r>
            <a:endParaRPr/>
          </a:p>
        </p:txBody>
      </p:sp>
      <p:sp>
        <p:nvSpPr>
          <p:cNvPr id="7952" name="Google Shape;7952;p47"/>
          <p:cNvSpPr txBox="1"/>
          <p:nvPr/>
        </p:nvSpPr>
        <p:spPr>
          <a:xfrm>
            <a:off x="2377439" y="446227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953" name="Google Shape;7953;p47"/>
          <p:cNvSpPr txBox="1"/>
          <p:nvPr/>
        </p:nvSpPr>
        <p:spPr>
          <a:xfrm>
            <a:off x="33832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7954" name="Google Shape;7954;p47"/>
          <p:cNvSpPr txBox="1"/>
          <p:nvPr/>
        </p:nvSpPr>
        <p:spPr>
          <a:xfrm>
            <a:off x="42976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$-4,582</a:t>
            </a:r>
            <a:endParaRPr/>
          </a:p>
        </p:txBody>
      </p:sp>
      <p:sp>
        <p:nvSpPr>
          <p:cNvPr id="7955" name="Google Shape;7955;p47"/>
          <p:cNvSpPr txBox="1"/>
          <p:nvPr/>
        </p:nvSpPr>
        <p:spPr>
          <a:xfrm>
            <a:off x="52120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$-5,583</a:t>
            </a:r>
            <a:endParaRPr/>
          </a:p>
        </p:txBody>
      </p:sp>
      <p:sp>
        <p:nvSpPr>
          <p:cNvPr id="7956" name="Google Shape;7956;p4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7" name="Google Shape;7957;p47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 &amp; PIPELINE</a:t>
            </a:r>
            <a:endParaRPr/>
          </a:p>
        </p:txBody>
      </p:sp>
      <p:sp>
        <p:nvSpPr>
          <p:cNvPr id="7958" name="Google Shape;7958;p47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7959" name="Google Shape;7959;p47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Subs</a:t>
            </a:r>
            <a:endParaRPr/>
          </a:p>
        </p:txBody>
      </p:sp>
      <p:sp>
        <p:nvSpPr>
          <p:cNvPr id="7960" name="Google Shape;7960;p47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</a:t>
            </a:r>
            <a:endParaRPr/>
          </a:p>
        </p:txBody>
      </p:sp>
      <p:sp>
        <p:nvSpPr>
          <p:cNvPr id="7961" name="Google Shape;7961;p47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Non-Fleet</a:t>
            </a:r>
            <a:endParaRPr/>
          </a:p>
        </p:txBody>
      </p:sp>
      <p:sp>
        <p:nvSpPr>
          <p:cNvPr id="7962" name="Google Shape;7962;p47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7963" name="Google Shape;7963;p47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7964" name="Google Shape;7964;p47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5" name="Google Shape;7965;p47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7966" name="Google Shape;7966;p4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7967" name="Google Shape;7967;p47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968" name="Google Shape;7968;p47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7969" name="Google Shape;7969;p47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7970" name="Google Shape;7970;p47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25.0%</a:t>
            </a:r>
            <a:endParaRPr/>
          </a:p>
        </p:txBody>
      </p:sp>
      <p:sp>
        <p:nvSpPr>
          <p:cNvPr id="7971" name="Google Shape;7971;p47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2" name="Google Shape;7972;p47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7973" name="Google Shape;7973;p47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17</a:t>
            </a:r>
            <a:endParaRPr/>
          </a:p>
        </p:txBody>
      </p:sp>
      <p:sp>
        <p:nvSpPr>
          <p:cNvPr id="7974" name="Google Shape;7974;p47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975" name="Google Shape;7975;p47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17</a:t>
            </a:r>
            <a:endParaRPr/>
          </a:p>
        </p:txBody>
      </p:sp>
      <p:sp>
        <p:nvSpPr>
          <p:cNvPr id="7976" name="Google Shape;7976;p4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7977" name="Google Shape;7977;p47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17.6%</a:t>
            </a:r>
            <a:endParaRPr/>
          </a:p>
        </p:txBody>
      </p:sp>
      <p:sp>
        <p:nvSpPr>
          <p:cNvPr id="7978" name="Google Shape;7978;p47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9" name="Google Shape;7979;p47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7980" name="Google Shape;7980;p47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</a:t>
            </a:r>
            <a:endParaRPr/>
          </a:p>
        </p:txBody>
      </p:sp>
      <p:sp>
        <p:nvSpPr>
          <p:cNvPr id="7981" name="Google Shape;7981;p47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7982" name="Google Shape;7982;p47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</a:t>
            </a:r>
            <a:endParaRPr/>
          </a:p>
        </p:txBody>
      </p:sp>
      <p:sp>
        <p:nvSpPr>
          <p:cNvPr id="7983" name="Google Shape;7983;p47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7984" name="Google Shape;7984;p47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13.3%</a:t>
            </a:r>
            <a:endParaRPr/>
          </a:p>
        </p:txBody>
      </p:sp>
      <p:sp>
        <p:nvSpPr>
          <p:cNvPr id="7985" name="Google Shape;7985;p47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6" name="Google Shape;7986;p4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7987" name="Google Shape;7987;p47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/>
          </a:p>
        </p:txBody>
      </p:sp>
      <p:sp>
        <p:nvSpPr>
          <p:cNvPr id="7988" name="Google Shape;7988;p47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989" name="Google Shape;7989;p47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/>
          </a:p>
        </p:txBody>
      </p:sp>
      <p:sp>
        <p:nvSpPr>
          <p:cNvPr id="7990" name="Google Shape;7990;p47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991" name="Google Shape;7991;p47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7992" name="Google Shape;7992;p47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3" name="Google Shape;7993;p47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7994" name="Google Shape;7994;p47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</a:t>
            </a:r>
            <a:endParaRPr/>
          </a:p>
        </p:txBody>
      </p:sp>
      <p:sp>
        <p:nvSpPr>
          <p:cNvPr id="7995" name="Google Shape;7995;p47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996" name="Google Shape;7996;p4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</a:t>
            </a:r>
            <a:endParaRPr/>
          </a:p>
        </p:txBody>
      </p:sp>
      <p:sp>
        <p:nvSpPr>
          <p:cNvPr id="7997" name="Google Shape;7997;p47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7998" name="Google Shape;7998;p47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7999" name="Google Shape;7999;p47"/>
          <p:cNvSpPr/>
          <p:nvPr/>
        </p:nvSpPr>
        <p:spPr>
          <a:xfrm>
            <a:off x="6309360" y="4123944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0" name="Google Shape;8000;p47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8001" name="Google Shape;8001;p47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8002" name="Google Shape;8002;p47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8003" name="Google Shape;8003;p47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8004" name="Google Shape;8004;p47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8005" name="Google Shape;8005;p47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8006" name="Google Shape;8006;p47"/>
          <p:cNvSpPr/>
          <p:nvPr/>
        </p:nvSpPr>
        <p:spPr>
          <a:xfrm>
            <a:off x="6309360" y="4425696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7" name="Google Shape;8007;p47"/>
          <p:cNvSpPr txBox="1"/>
          <p:nvPr/>
        </p:nvSpPr>
        <p:spPr>
          <a:xfrm>
            <a:off x="63093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8008" name="Google Shape;8008;p47"/>
          <p:cNvSpPr txBox="1"/>
          <p:nvPr/>
        </p:nvSpPr>
        <p:spPr>
          <a:xfrm>
            <a:off x="722376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53</a:t>
            </a:r>
            <a:endParaRPr/>
          </a:p>
        </p:txBody>
      </p:sp>
      <p:sp>
        <p:nvSpPr>
          <p:cNvPr id="8009" name="Google Shape;8009;p47"/>
          <p:cNvSpPr txBox="1"/>
          <p:nvPr/>
        </p:nvSpPr>
        <p:spPr>
          <a:xfrm>
            <a:off x="804672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8010" name="Google Shape;8010;p47"/>
          <p:cNvSpPr txBox="1"/>
          <p:nvPr/>
        </p:nvSpPr>
        <p:spPr>
          <a:xfrm>
            <a:off x="886968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52</a:t>
            </a:r>
            <a:endParaRPr/>
          </a:p>
        </p:txBody>
      </p:sp>
      <p:sp>
        <p:nvSpPr>
          <p:cNvPr id="8011" name="Google Shape;8011;p47"/>
          <p:cNvSpPr txBox="1"/>
          <p:nvPr/>
        </p:nvSpPr>
        <p:spPr>
          <a:xfrm>
            <a:off x="978408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8012" name="Google Shape;8012;p47"/>
          <p:cNvSpPr txBox="1"/>
          <p:nvPr/>
        </p:nvSpPr>
        <p:spPr>
          <a:xfrm>
            <a:off x="1060704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3.8%</a:t>
            </a:r>
            <a:endParaRPr/>
          </a:p>
        </p:txBody>
      </p:sp>
      <p:sp>
        <p:nvSpPr>
          <p:cNvPr id="8013" name="Google Shape;8013;p47"/>
          <p:cNvSpPr/>
          <p:nvPr/>
        </p:nvSpPr>
        <p:spPr>
          <a:xfrm>
            <a:off x="365760" y="4782312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4" name="Google Shape;8014;p47"/>
          <p:cNvSpPr txBox="1"/>
          <p:nvPr/>
        </p:nvSpPr>
        <p:spPr>
          <a:xfrm>
            <a:off x="457200" y="4800599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YOY COMPARISON — Jan–Jun 2025 vs Jan–Jun 2026</a:t>
            </a:r>
            <a:endParaRPr/>
          </a:p>
        </p:txBody>
      </p:sp>
      <p:sp>
        <p:nvSpPr>
          <p:cNvPr id="8015" name="Google Shape;8015;p47"/>
          <p:cNvSpPr txBox="1"/>
          <p:nvPr/>
        </p:nvSpPr>
        <p:spPr>
          <a:xfrm>
            <a:off x="365760" y="5056631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00" u="none" cap="none" strike="noStrike">
              <a:solidFill>
                <a:srgbClr val="6B728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016" name="Google Shape;8016;p47"/>
          <p:cNvSpPr txBox="1"/>
          <p:nvPr/>
        </p:nvSpPr>
        <p:spPr>
          <a:xfrm>
            <a:off x="1463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'25</a:t>
            </a:r>
            <a:endParaRPr/>
          </a:p>
        </p:txBody>
      </p:sp>
      <p:sp>
        <p:nvSpPr>
          <p:cNvPr id="8017" name="Google Shape;8017;p47"/>
          <p:cNvSpPr txBox="1"/>
          <p:nvPr/>
        </p:nvSpPr>
        <p:spPr>
          <a:xfrm>
            <a:off x="2148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'26</a:t>
            </a:r>
            <a:endParaRPr/>
          </a:p>
        </p:txBody>
      </p:sp>
      <p:sp>
        <p:nvSpPr>
          <p:cNvPr id="8018" name="Google Shape;8018;p47"/>
          <p:cNvSpPr txBox="1"/>
          <p:nvPr/>
        </p:nvSpPr>
        <p:spPr>
          <a:xfrm>
            <a:off x="2834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'25</a:t>
            </a:r>
            <a:endParaRPr/>
          </a:p>
        </p:txBody>
      </p:sp>
      <p:sp>
        <p:nvSpPr>
          <p:cNvPr id="8019" name="Google Shape;8019;p47"/>
          <p:cNvSpPr txBox="1"/>
          <p:nvPr/>
        </p:nvSpPr>
        <p:spPr>
          <a:xfrm>
            <a:off x="3520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'26</a:t>
            </a:r>
            <a:endParaRPr/>
          </a:p>
        </p:txBody>
      </p:sp>
      <p:sp>
        <p:nvSpPr>
          <p:cNvPr id="8020" name="Google Shape;8020;p47"/>
          <p:cNvSpPr txBox="1"/>
          <p:nvPr/>
        </p:nvSpPr>
        <p:spPr>
          <a:xfrm>
            <a:off x="4206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'25</a:t>
            </a:r>
            <a:endParaRPr/>
          </a:p>
        </p:txBody>
      </p:sp>
      <p:sp>
        <p:nvSpPr>
          <p:cNvPr id="8021" name="Google Shape;8021;p47"/>
          <p:cNvSpPr txBox="1"/>
          <p:nvPr/>
        </p:nvSpPr>
        <p:spPr>
          <a:xfrm>
            <a:off x="4892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'26</a:t>
            </a:r>
            <a:endParaRPr/>
          </a:p>
        </p:txBody>
      </p:sp>
      <p:sp>
        <p:nvSpPr>
          <p:cNvPr id="8022" name="Google Shape;8022;p47"/>
          <p:cNvSpPr txBox="1"/>
          <p:nvPr/>
        </p:nvSpPr>
        <p:spPr>
          <a:xfrm>
            <a:off x="5577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'25</a:t>
            </a:r>
            <a:endParaRPr/>
          </a:p>
        </p:txBody>
      </p:sp>
      <p:sp>
        <p:nvSpPr>
          <p:cNvPr id="8023" name="Google Shape;8023;p47"/>
          <p:cNvSpPr txBox="1"/>
          <p:nvPr/>
        </p:nvSpPr>
        <p:spPr>
          <a:xfrm>
            <a:off x="6263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'26</a:t>
            </a:r>
            <a:endParaRPr/>
          </a:p>
        </p:txBody>
      </p:sp>
      <p:sp>
        <p:nvSpPr>
          <p:cNvPr id="8024" name="Google Shape;8024;p47"/>
          <p:cNvSpPr txBox="1"/>
          <p:nvPr/>
        </p:nvSpPr>
        <p:spPr>
          <a:xfrm>
            <a:off x="6949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'25</a:t>
            </a:r>
            <a:endParaRPr/>
          </a:p>
        </p:txBody>
      </p:sp>
      <p:sp>
        <p:nvSpPr>
          <p:cNvPr id="8025" name="Google Shape;8025;p47"/>
          <p:cNvSpPr txBox="1"/>
          <p:nvPr/>
        </p:nvSpPr>
        <p:spPr>
          <a:xfrm>
            <a:off x="7635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'26</a:t>
            </a:r>
            <a:endParaRPr/>
          </a:p>
        </p:txBody>
      </p:sp>
      <p:sp>
        <p:nvSpPr>
          <p:cNvPr id="8026" name="Google Shape;8026;p47"/>
          <p:cNvSpPr txBox="1"/>
          <p:nvPr/>
        </p:nvSpPr>
        <p:spPr>
          <a:xfrm>
            <a:off x="8321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'25</a:t>
            </a:r>
            <a:endParaRPr/>
          </a:p>
        </p:txBody>
      </p:sp>
      <p:sp>
        <p:nvSpPr>
          <p:cNvPr id="8027" name="Google Shape;8027;p47"/>
          <p:cNvSpPr txBox="1"/>
          <p:nvPr/>
        </p:nvSpPr>
        <p:spPr>
          <a:xfrm>
            <a:off x="9006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'26</a:t>
            </a:r>
            <a:endParaRPr/>
          </a:p>
        </p:txBody>
      </p:sp>
      <p:sp>
        <p:nvSpPr>
          <p:cNvPr id="8028" name="Google Shape;8028;p47"/>
          <p:cNvSpPr txBox="1"/>
          <p:nvPr/>
        </p:nvSpPr>
        <p:spPr>
          <a:xfrm>
            <a:off x="969264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'25 Tot</a:t>
            </a:r>
            <a:endParaRPr/>
          </a:p>
        </p:txBody>
      </p:sp>
      <p:sp>
        <p:nvSpPr>
          <p:cNvPr id="8029" name="Google Shape;8029;p47"/>
          <p:cNvSpPr txBox="1"/>
          <p:nvPr/>
        </p:nvSpPr>
        <p:spPr>
          <a:xfrm>
            <a:off x="1088136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'26 Tot</a:t>
            </a:r>
            <a:endParaRPr/>
          </a:p>
        </p:txBody>
      </p:sp>
      <p:sp>
        <p:nvSpPr>
          <p:cNvPr id="8030" name="Google Shape;8030;p47"/>
          <p:cNvSpPr txBox="1"/>
          <p:nvPr/>
        </p:nvSpPr>
        <p:spPr>
          <a:xfrm>
            <a:off x="365760" y="523951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8031" name="Google Shape;8031;p47"/>
          <p:cNvSpPr txBox="1"/>
          <p:nvPr/>
        </p:nvSpPr>
        <p:spPr>
          <a:xfrm>
            <a:off x="1463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18</a:t>
            </a:r>
            <a:endParaRPr/>
          </a:p>
        </p:txBody>
      </p:sp>
      <p:sp>
        <p:nvSpPr>
          <p:cNvPr id="8032" name="Google Shape;8032;p47"/>
          <p:cNvSpPr txBox="1"/>
          <p:nvPr/>
        </p:nvSpPr>
        <p:spPr>
          <a:xfrm>
            <a:off x="2148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8033" name="Google Shape;8033;p47"/>
          <p:cNvSpPr txBox="1"/>
          <p:nvPr/>
        </p:nvSpPr>
        <p:spPr>
          <a:xfrm>
            <a:off x="2834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</a:t>
            </a:r>
            <a:endParaRPr/>
          </a:p>
        </p:txBody>
      </p:sp>
      <p:sp>
        <p:nvSpPr>
          <p:cNvPr id="8034" name="Google Shape;8034;p47"/>
          <p:cNvSpPr txBox="1"/>
          <p:nvPr/>
        </p:nvSpPr>
        <p:spPr>
          <a:xfrm>
            <a:off x="3520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17</a:t>
            </a:r>
            <a:endParaRPr/>
          </a:p>
        </p:txBody>
      </p:sp>
      <p:sp>
        <p:nvSpPr>
          <p:cNvPr id="8035" name="Google Shape;8035;p47"/>
          <p:cNvSpPr txBox="1"/>
          <p:nvPr/>
        </p:nvSpPr>
        <p:spPr>
          <a:xfrm>
            <a:off x="4206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</a:t>
            </a:r>
            <a:endParaRPr/>
          </a:p>
        </p:txBody>
      </p:sp>
      <p:sp>
        <p:nvSpPr>
          <p:cNvPr id="8036" name="Google Shape;8036;p47"/>
          <p:cNvSpPr txBox="1"/>
          <p:nvPr/>
        </p:nvSpPr>
        <p:spPr>
          <a:xfrm>
            <a:off x="4892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</a:t>
            </a:r>
            <a:endParaRPr/>
          </a:p>
        </p:txBody>
      </p:sp>
      <p:sp>
        <p:nvSpPr>
          <p:cNvPr id="8037" name="Google Shape;8037;p47"/>
          <p:cNvSpPr txBox="1"/>
          <p:nvPr/>
        </p:nvSpPr>
        <p:spPr>
          <a:xfrm>
            <a:off x="5577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</a:t>
            </a:r>
            <a:endParaRPr/>
          </a:p>
        </p:txBody>
      </p:sp>
      <p:sp>
        <p:nvSpPr>
          <p:cNvPr id="8038" name="Google Shape;8038;p47"/>
          <p:cNvSpPr txBox="1"/>
          <p:nvPr/>
        </p:nvSpPr>
        <p:spPr>
          <a:xfrm>
            <a:off x="6263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/>
          </a:p>
        </p:txBody>
      </p:sp>
      <p:sp>
        <p:nvSpPr>
          <p:cNvPr id="8039" name="Google Shape;8039;p47"/>
          <p:cNvSpPr txBox="1"/>
          <p:nvPr/>
        </p:nvSpPr>
        <p:spPr>
          <a:xfrm>
            <a:off x="6949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</a:t>
            </a:r>
            <a:endParaRPr/>
          </a:p>
        </p:txBody>
      </p:sp>
      <p:sp>
        <p:nvSpPr>
          <p:cNvPr id="8040" name="Google Shape;8040;p47"/>
          <p:cNvSpPr txBox="1"/>
          <p:nvPr/>
        </p:nvSpPr>
        <p:spPr>
          <a:xfrm>
            <a:off x="7635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</a:t>
            </a:r>
            <a:endParaRPr/>
          </a:p>
        </p:txBody>
      </p:sp>
      <p:sp>
        <p:nvSpPr>
          <p:cNvPr id="8041" name="Google Shape;8041;p47"/>
          <p:cNvSpPr txBox="1"/>
          <p:nvPr/>
        </p:nvSpPr>
        <p:spPr>
          <a:xfrm>
            <a:off x="8321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</a:t>
            </a:r>
            <a:endParaRPr/>
          </a:p>
        </p:txBody>
      </p:sp>
      <p:sp>
        <p:nvSpPr>
          <p:cNvPr id="8042" name="Google Shape;8042;p47"/>
          <p:cNvSpPr txBox="1"/>
          <p:nvPr/>
        </p:nvSpPr>
        <p:spPr>
          <a:xfrm>
            <a:off x="9006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8043" name="Google Shape;8043;p47"/>
          <p:cNvSpPr txBox="1"/>
          <p:nvPr/>
        </p:nvSpPr>
        <p:spPr>
          <a:xfrm>
            <a:off x="969264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68</a:t>
            </a:r>
            <a:endParaRPr/>
          </a:p>
        </p:txBody>
      </p:sp>
      <p:sp>
        <p:nvSpPr>
          <p:cNvPr id="8044" name="Google Shape;8044;p47"/>
          <p:cNvSpPr txBox="1"/>
          <p:nvPr/>
        </p:nvSpPr>
        <p:spPr>
          <a:xfrm>
            <a:off x="1088136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59</a:t>
            </a:r>
            <a:endParaRPr/>
          </a:p>
        </p:txBody>
      </p:sp>
      <p:sp>
        <p:nvSpPr>
          <p:cNvPr id="8045" name="Google Shape;8045;p47"/>
          <p:cNvSpPr txBox="1"/>
          <p:nvPr/>
        </p:nvSpPr>
        <p:spPr>
          <a:xfrm>
            <a:off x="365760" y="542239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Bound Premium</a:t>
            </a:r>
            <a:endParaRPr/>
          </a:p>
        </p:txBody>
      </p:sp>
      <p:sp>
        <p:nvSpPr>
          <p:cNvPr id="8046" name="Google Shape;8046;p47"/>
          <p:cNvSpPr txBox="1"/>
          <p:nvPr/>
        </p:nvSpPr>
        <p:spPr>
          <a:xfrm>
            <a:off x="1463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$163</a:t>
            </a:r>
            <a:endParaRPr/>
          </a:p>
        </p:txBody>
      </p:sp>
      <p:sp>
        <p:nvSpPr>
          <p:cNvPr id="8047" name="Google Shape;8047;p47"/>
          <p:cNvSpPr txBox="1"/>
          <p:nvPr/>
        </p:nvSpPr>
        <p:spPr>
          <a:xfrm>
            <a:off x="2148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$-10,959</a:t>
            </a:r>
            <a:endParaRPr/>
          </a:p>
        </p:txBody>
      </p:sp>
      <p:sp>
        <p:nvSpPr>
          <p:cNvPr id="8048" name="Google Shape;8048;p47"/>
          <p:cNvSpPr txBox="1"/>
          <p:nvPr/>
        </p:nvSpPr>
        <p:spPr>
          <a:xfrm>
            <a:off x="2834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049" name="Google Shape;8049;p47"/>
          <p:cNvSpPr txBox="1"/>
          <p:nvPr/>
        </p:nvSpPr>
        <p:spPr>
          <a:xfrm>
            <a:off x="3520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$3K</a:t>
            </a:r>
            <a:endParaRPr/>
          </a:p>
        </p:txBody>
      </p:sp>
      <p:sp>
        <p:nvSpPr>
          <p:cNvPr id="8050" name="Google Shape;8050;p47"/>
          <p:cNvSpPr txBox="1"/>
          <p:nvPr/>
        </p:nvSpPr>
        <p:spPr>
          <a:xfrm>
            <a:off x="4206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051" name="Google Shape;8051;p47"/>
          <p:cNvSpPr txBox="1"/>
          <p:nvPr/>
        </p:nvSpPr>
        <p:spPr>
          <a:xfrm>
            <a:off x="4892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$3K</a:t>
            </a:r>
            <a:endParaRPr/>
          </a:p>
        </p:txBody>
      </p:sp>
      <p:sp>
        <p:nvSpPr>
          <p:cNvPr id="8052" name="Google Shape;8052;p47"/>
          <p:cNvSpPr txBox="1"/>
          <p:nvPr/>
        </p:nvSpPr>
        <p:spPr>
          <a:xfrm>
            <a:off x="5577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$19K</a:t>
            </a:r>
            <a:endParaRPr/>
          </a:p>
        </p:txBody>
      </p:sp>
      <p:sp>
        <p:nvSpPr>
          <p:cNvPr id="8053" name="Google Shape;8053;p47"/>
          <p:cNvSpPr txBox="1"/>
          <p:nvPr/>
        </p:nvSpPr>
        <p:spPr>
          <a:xfrm>
            <a:off x="6263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054" name="Google Shape;8054;p47"/>
          <p:cNvSpPr txBox="1"/>
          <p:nvPr/>
        </p:nvSpPr>
        <p:spPr>
          <a:xfrm>
            <a:off x="6949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$45K</a:t>
            </a:r>
            <a:endParaRPr/>
          </a:p>
        </p:txBody>
      </p:sp>
      <p:sp>
        <p:nvSpPr>
          <p:cNvPr id="8055" name="Google Shape;8055;p47"/>
          <p:cNvSpPr txBox="1"/>
          <p:nvPr/>
        </p:nvSpPr>
        <p:spPr>
          <a:xfrm>
            <a:off x="7635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056" name="Google Shape;8056;p47"/>
          <p:cNvSpPr txBox="1"/>
          <p:nvPr/>
        </p:nvSpPr>
        <p:spPr>
          <a:xfrm>
            <a:off x="8321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$67K</a:t>
            </a:r>
            <a:endParaRPr/>
          </a:p>
        </p:txBody>
      </p:sp>
      <p:sp>
        <p:nvSpPr>
          <p:cNvPr id="8057" name="Google Shape;8057;p47"/>
          <p:cNvSpPr txBox="1"/>
          <p:nvPr/>
        </p:nvSpPr>
        <p:spPr>
          <a:xfrm>
            <a:off x="9006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058" name="Google Shape;8058;p47"/>
          <p:cNvSpPr txBox="1"/>
          <p:nvPr/>
        </p:nvSpPr>
        <p:spPr>
          <a:xfrm>
            <a:off x="969264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$131K</a:t>
            </a:r>
            <a:endParaRPr/>
          </a:p>
        </p:txBody>
      </p:sp>
      <p:sp>
        <p:nvSpPr>
          <p:cNvPr id="8059" name="Google Shape;8059;p47"/>
          <p:cNvSpPr txBox="1"/>
          <p:nvPr/>
        </p:nvSpPr>
        <p:spPr>
          <a:xfrm>
            <a:off x="1088136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$-4,582</a:t>
            </a:r>
            <a:endParaRPr/>
          </a:p>
        </p:txBody>
      </p:sp>
      <p:sp>
        <p:nvSpPr>
          <p:cNvPr id="8060" name="Google Shape;8060;p47"/>
          <p:cNvSpPr/>
          <p:nvPr/>
        </p:nvSpPr>
        <p:spPr>
          <a:xfrm>
            <a:off x="365760" y="5678423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1" name="Google Shape;8061;p47"/>
          <p:cNvSpPr txBox="1"/>
          <p:nvPr/>
        </p:nvSpPr>
        <p:spPr>
          <a:xfrm>
            <a:off x="4572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65F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STRENGTHS - What's Working</a:t>
            </a:r>
            <a:endParaRPr/>
          </a:p>
        </p:txBody>
      </p:sp>
      <p:sp>
        <p:nvSpPr>
          <p:cNvPr id="8062" name="Google Shape;8062;p47"/>
          <p:cNvSpPr txBox="1"/>
          <p:nvPr/>
        </p:nvSpPr>
        <p:spPr>
          <a:xfrm>
            <a:off x="4572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8063" name="Google Shape;8063;p47"/>
          <p:cNvSpPr txBox="1"/>
          <p:nvPr/>
        </p:nvSpPr>
        <p:spPr>
          <a:xfrm>
            <a:off x="685800" y="5952743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53 submissions - highly active agency</a:t>
            </a:r>
            <a:endParaRPr/>
          </a:p>
        </p:txBody>
      </p:sp>
      <p:sp>
        <p:nvSpPr>
          <p:cNvPr id="8064" name="Google Shape;8064;p47"/>
          <p:cNvSpPr txBox="1"/>
          <p:nvPr/>
        </p:nvSpPr>
        <p:spPr>
          <a:xfrm>
            <a:off x="457200" y="6153911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8065" name="Google Shape;8065;p47"/>
          <p:cNvSpPr txBox="1"/>
          <p:nvPr/>
        </p:nvSpPr>
        <p:spPr>
          <a:xfrm>
            <a:off x="685800" y="6153911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 bind(s) - converting submissions to business</a:t>
            </a:r>
            <a:endParaRPr/>
          </a:p>
        </p:txBody>
      </p:sp>
      <p:sp>
        <p:nvSpPr>
          <p:cNvPr id="8066" name="Google Shape;8066;p47"/>
          <p:cNvSpPr/>
          <p:nvPr/>
        </p:nvSpPr>
        <p:spPr>
          <a:xfrm>
            <a:off x="6309360" y="5678423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7" name="Google Shape;8067;p47"/>
          <p:cNvSpPr txBox="1"/>
          <p:nvPr/>
        </p:nvSpPr>
        <p:spPr>
          <a:xfrm>
            <a:off x="64008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NEEDS ATTENTION</a:t>
            </a:r>
            <a:endParaRPr/>
          </a:p>
        </p:txBody>
      </p:sp>
      <p:sp>
        <p:nvSpPr>
          <p:cNvPr id="8068" name="Google Shape;8068;p47"/>
          <p:cNvSpPr txBox="1"/>
          <p:nvPr/>
        </p:nvSpPr>
        <p:spPr>
          <a:xfrm>
            <a:off x="64008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8069" name="Google Shape;8069;p47"/>
          <p:cNvSpPr txBox="1"/>
          <p:nvPr/>
        </p:nvSpPr>
        <p:spPr>
          <a:xfrm>
            <a:off x="6629400" y="5952743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Negative written premium ($-4,582) - cancellations exceed production</a:t>
            </a:r>
            <a:endParaRPr/>
          </a:p>
        </p:txBody>
      </p:sp>
      <p:sp>
        <p:nvSpPr>
          <p:cNvPr id="8070" name="Google Shape;8070;p47"/>
          <p:cNvSpPr txBox="1"/>
          <p:nvPr/>
        </p:nvSpPr>
        <p:spPr>
          <a:xfrm>
            <a:off x="6400800" y="6153911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8071" name="Google Shape;8071;p47"/>
          <p:cNvSpPr txBox="1"/>
          <p:nvPr/>
        </p:nvSpPr>
        <p:spPr>
          <a:xfrm>
            <a:off x="6629400" y="6153911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Written premium dropped 100% month-over-month</a:t>
            </a:r>
            <a:endParaRPr/>
          </a:p>
        </p:txBody>
      </p:sp>
      <p:sp>
        <p:nvSpPr>
          <p:cNvPr id="8072" name="Google Shape;8072;p47"/>
          <p:cNvSpPr/>
          <p:nvPr/>
        </p:nvSpPr>
        <p:spPr>
          <a:xfrm>
            <a:off x="365760" y="6455663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3" name="Google Shape;8073;p47"/>
          <p:cNvSpPr txBox="1"/>
          <p:nvPr/>
        </p:nvSpPr>
        <p:spPr>
          <a:xfrm>
            <a:off x="457200" y="6464807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STRATEGIC SALES TIPS - Conversation Starters</a:t>
            </a:r>
            <a:endParaRPr/>
          </a:p>
        </p:txBody>
      </p:sp>
      <p:sp>
        <p:nvSpPr>
          <p:cNvPr id="8074" name="Google Shape;8074;p47"/>
          <p:cNvSpPr txBox="1"/>
          <p:nvPr/>
        </p:nvSpPr>
        <p:spPr>
          <a:xfrm>
            <a:off x="457200" y="6711695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endParaRPr/>
          </a:p>
        </p:txBody>
      </p:sp>
      <p:sp>
        <p:nvSpPr>
          <p:cNvPr id="8075" name="Google Shape;8075;p47"/>
          <p:cNvSpPr txBox="1"/>
          <p:nvPr/>
        </p:nvSpPr>
        <p:spPr>
          <a:xfrm>
            <a:off x="777240" y="6711695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Volume dropped significantly last month. Lead with curiosity, not concern: "I noticed things slowed down - anything going on I can help with?" Identify if it's seasonal, competitive, or operational.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79" name="Shape 8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0" name="Google Shape;8080;p48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1" name="Google Shape;8081;p48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Risk Management Group, Inc</a:t>
            </a:r>
            <a:endParaRPr/>
          </a:p>
        </p:txBody>
      </p:sp>
      <p:sp>
        <p:nvSpPr>
          <p:cNvPr id="8082" name="Google Shape;8082;p48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4B5F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Tier: Tier 2  |  Region: Southeast  |  State: FL  |  City: Miami</a:t>
            </a:r>
            <a:endParaRPr/>
          </a:p>
        </p:txBody>
      </p:sp>
      <p:sp>
        <p:nvSpPr>
          <p:cNvPr id="8083" name="Google Shape;8083;p48"/>
          <p:cNvSpPr/>
          <p:nvPr/>
        </p:nvSpPr>
        <p:spPr>
          <a:xfrm>
            <a:off x="22860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$-6,605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YTD GWP</a:t>
            </a:r>
            <a:endParaRPr/>
          </a:p>
        </p:txBody>
      </p:sp>
      <p:sp>
        <p:nvSpPr>
          <p:cNvPr id="8084" name="Google Shape;8084;p48"/>
          <p:cNvSpPr/>
          <p:nvPr/>
        </p:nvSpPr>
        <p:spPr>
          <a:xfrm>
            <a:off x="256032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8085" name="Google Shape;8085;p48"/>
          <p:cNvSpPr/>
          <p:nvPr/>
        </p:nvSpPr>
        <p:spPr>
          <a:xfrm>
            <a:off x="489204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8086" name="Google Shape;8086;p48"/>
          <p:cNvSpPr/>
          <p:nvPr/>
        </p:nvSpPr>
        <p:spPr>
          <a:xfrm>
            <a:off x="7223759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$-6,605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8087" name="Google Shape;8087;p48"/>
          <p:cNvSpPr/>
          <p:nvPr/>
        </p:nvSpPr>
        <p:spPr>
          <a:xfrm>
            <a:off x="955548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8088" name="Google Shape;8088;p48"/>
          <p:cNvSpPr/>
          <p:nvPr/>
        </p:nvSpPr>
        <p:spPr>
          <a:xfrm>
            <a:off x="137160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$310,940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2025 Full Year GWP</a:t>
            </a:r>
            <a:endParaRPr/>
          </a:p>
        </p:txBody>
      </p:sp>
      <p:sp>
        <p:nvSpPr>
          <p:cNvPr id="8089" name="Google Shape;8089;p48"/>
          <p:cNvSpPr/>
          <p:nvPr/>
        </p:nvSpPr>
        <p:spPr>
          <a:xfrm>
            <a:off x="1627631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$229,392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Rolling 12M GWP</a:t>
            </a:r>
            <a:endParaRPr/>
          </a:p>
        </p:txBody>
      </p:sp>
      <p:sp>
        <p:nvSpPr>
          <p:cNvPr id="8090" name="Google Shape;8090;p48"/>
          <p:cNvSpPr/>
          <p:nvPr/>
        </p:nvSpPr>
        <p:spPr>
          <a:xfrm>
            <a:off x="3118103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-2%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% to Goal</a:t>
            </a:r>
            <a:endParaRPr/>
          </a:p>
        </p:txBody>
      </p:sp>
      <p:sp>
        <p:nvSpPr>
          <p:cNvPr id="8091" name="Google Shape;8091;p48"/>
          <p:cNvSpPr/>
          <p:nvPr/>
        </p:nvSpPr>
        <p:spPr>
          <a:xfrm>
            <a:off x="4608576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8092" name="Google Shape;8092;p48"/>
          <p:cNvSpPr/>
          <p:nvPr/>
        </p:nvSpPr>
        <p:spPr>
          <a:xfrm>
            <a:off x="6099048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8093" name="Google Shape;8093;p48"/>
          <p:cNvSpPr/>
          <p:nvPr/>
        </p:nvSpPr>
        <p:spPr>
          <a:xfrm>
            <a:off x="7589519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8094" name="Google Shape;8094;p48"/>
          <p:cNvSpPr/>
          <p:nvPr/>
        </p:nvSpPr>
        <p:spPr>
          <a:xfrm>
            <a:off x="9079992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 Bound Prem</a:t>
            </a:r>
            <a:endParaRPr/>
          </a:p>
        </p:txBody>
      </p:sp>
      <p:sp>
        <p:nvSpPr>
          <p:cNvPr id="8095" name="Google Shape;8095;p48"/>
          <p:cNvSpPr/>
          <p:nvPr/>
        </p:nvSpPr>
        <p:spPr>
          <a:xfrm>
            <a:off x="10570464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NF Bound Prem</a:t>
            </a:r>
            <a:endParaRPr/>
          </a:p>
        </p:txBody>
      </p:sp>
      <p:sp>
        <p:nvSpPr>
          <p:cNvPr id="8096" name="Google Shape;8096;p48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7" name="Google Shape;8097;p4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PRODUCTION BY MONTH</a:t>
            </a:r>
            <a:endParaRPr/>
          </a:p>
        </p:txBody>
      </p:sp>
      <p:sp>
        <p:nvSpPr>
          <p:cNvPr id="8098" name="Google Shape;8098;p48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8099" name="Google Shape;8099;p48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Written Premium</a:t>
            </a:r>
            <a:endParaRPr/>
          </a:p>
        </p:txBody>
      </p:sp>
      <p:sp>
        <p:nvSpPr>
          <p:cNvPr id="8100" name="Google Shape;8100;p48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8101" name="Google Shape;8101;p48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8102" name="Google Shape;8102;p48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8103" name="Google Shape;8103;p48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8104" name="Google Shape;8104;p48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5" name="Google Shape;8105;p48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8106" name="Google Shape;8106;p48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107" name="Google Shape;8107;p4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108" name="Google Shape;8108;p48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109" name="Google Shape;8109;p48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110" name="Google Shape;8110;p48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111" name="Google Shape;8111;p48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2" name="Google Shape;8112;p48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8113" name="Google Shape;8113;p48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$13,671</a:t>
            </a:r>
            <a:endParaRPr/>
          </a:p>
        </p:txBody>
      </p:sp>
      <p:sp>
        <p:nvSpPr>
          <p:cNvPr id="8114" name="Google Shape;8114;p48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115" name="Google Shape;8115;p48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116" name="Google Shape;8116;p48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$13,671</a:t>
            </a:r>
            <a:endParaRPr/>
          </a:p>
        </p:txBody>
      </p:sp>
      <p:sp>
        <p:nvSpPr>
          <p:cNvPr id="8117" name="Google Shape;8117;p4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118" name="Google Shape;8118;p48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9" name="Google Shape;8119;p48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8120" name="Google Shape;8120;p48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$-3,513</a:t>
            </a:r>
            <a:endParaRPr/>
          </a:p>
        </p:txBody>
      </p:sp>
      <p:sp>
        <p:nvSpPr>
          <p:cNvPr id="8121" name="Google Shape;8121;p48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122" name="Google Shape;8122;p48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123" name="Google Shape;8123;p48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$-3,513</a:t>
            </a:r>
            <a:endParaRPr/>
          </a:p>
        </p:txBody>
      </p:sp>
      <p:sp>
        <p:nvSpPr>
          <p:cNvPr id="8124" name="Google Shape;8124;p48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125" name="Google Shape;8125;p48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6" name="Google Shape;8126;p48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8127" name="Google Shape;8127;p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$-16,764</a:t>
            </a:r>
            <a:endParaRPr/>
          </a:p>
        </p:txBody>
      </p:sp>
      <p:sp>
        <p:nvSpPr>
          <p:cNvPr id="8128" name="Google Shape;8128;p48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129" name="Google Shape;8129;p48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130" name="Google Shape;8130;p48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$-16,764</a:t>
            </a:r>
            <a:endParaRPr/>
          </a:p>
        </p:txBody>
      </p:sp>
      <p:sp>
        <p:nvSpPr>
          <p:cNvPr id="8131" name="Google Shape;8131;p48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132" name="Google Shape;8132;p48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3" name="Google Shape;8133;p48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8134" name="Google Shape;8134;p48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135" name="Google Shape;8135;p48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136" name="Google Shape;8136;p48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137" name="Google Shape;8137;p4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138" name="Google Shape;8138;p48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139" name="Google Shape;8139;p48"/>
          <p:cNvSpPr/>
          <p:nvPr/>
        </p:nvSpPr>
        <p:spPr>
          <a:xfrm>
            <a:off x="365760" y="4123944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0" name="Google Shape;8140;p48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8141" name="Google Shape;8141;p48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142" name="Google Shape;8142;p48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143" name="Google Shape;8143;p48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144" name="Google Shape;8144;p48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145" name="Google Shape;8145;p48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146" name="Google Shape;8146;p48"/>
          <p:cNvSpPr/>
          <p:nvPr/>
        </p:nvSpPr>
        <p:spPr>
          <a:xfrm>
            <a:off x="365760" y="4425696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7" name="Google Shape;8147;p48"/>
          <p:cNvSpPr txBox="1"/>
          <p:nvPr/>
        </p:nvSpPr>
        <p:spPr>
          <a:xfrm>
            <a:off x="3657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8148" name="Google Shape;8148;p48"/>
          <p:cNvSpPr txBox="1"/>
          <p:nvPr/>
        </p:nvSpPr>
        <p:spPr>
          <a:xfrm>
            <a:off x="1280160" y="446227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$-6,605</a:t>
            </a:r>
            <a:endParaRPr/>
          </a:p>
        </p:txBody>
      </p:sp>
      <p:sp>
        <p:nvSpPr>
          <p:cNvPr id="8149" name="Google Shape;8149;p48"/>
          <p:cNvSpPr txBox="1"/>
          <p:nvPr/>
        </p:nvSpPr>
        <p:spPr>
          <a:xfrm>
            <a:off x="2377439" y="446227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150" name="Google Shape;8150;p48"/>
          <p:cNvSpPr txBox="1"/>
          <p:nvPr/>
        </p:nvSpPr>
        <p:spPr>
          <a:xfrm>
            <a:off x="33832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151" name="Google Shape;8151;p48"/>
          <p:cNvSpPr txBox="1"/>
          <p:nvPr/>
        </p:nvSpPr>
        <p:spPr>
          <a:xfrm>
            <a:off x="42976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$-6,605</a:t>
            </a:r>
            <a:endParaRPr/>
          </a:p>
        </p:txBody>
      </p:sp>
      <p:sp>
        <p:nvSpPr>
          <p:cNvPr id="8152" name="Google Shape;8152;p48"/>
          <p:cNvSpPr txBox="1"/>
          <p:nvPr/>
        </p:nvSpPr>
        <p:spPr>
          <a:xfrm>
            <a:off x="52120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153" name="Google Shape;8153;p48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4" name="Google Shape;8154;p4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 &amp; PIPELINE</a:t>
            </a:r>
            <a:endParaRPr/>
          </a:p>
        </p:txBody>
      </p:sp>
      <p:sp>
        <p:nvSpPr>
          <p:cNvPr id="8155" name="Google Shape;8155;p48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8156" name="Google Shape;8156;p48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Subs</a:t>
            </a:r>
            <a:endParaRPr/>
          </a:p>
        </p:txBody>
      </p:sp>
      <p:sp>
        <p:nvSpPr>
          <p:cNvPr id="8157" name="Google Shape;8157;p48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</a:t>
            </a:r>
            <a:endParaRPr/>
          </a:p>
        </p:txBody>
      </p:sp>
      <p:sp>
        <p:nvSpPr>
          <p:cNvPr id="8158" name="Google Shape;8158;p48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Non-Fleet</a:t>
            </a:r>
            <a:endParaRPr/>
          </a:p>
        </p:txBody>
      </p:sp>
      <p:sp>
        <p:nvSpPr>
          <p:cNvPr id="8159" name="Google Shape;8159;p48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8160" name="Google Shape;8160;p48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8161" name="Google Shape;8161;p48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2" name="Google Shape;8162;p48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8163" name="Google Shape;8163;p48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8164" name="Google Shape;8164;p4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8165" name="Google Shape;8165;p48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8166" name="Google Shape;8166;p48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8167" name="Google Shape;8167;p48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8168" name="Google Shape;8168;p48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9" name="Google Shape;8169;p48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8170" name="Google Shape;8170;p48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8171" name="Google Shape;8171;p48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8172" name="Google Shape;8172;p48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8173" name="Google Shape;8173;p48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8174" name="Google Shape;8174;p4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50.0%</a:t>
            </a:r>
            <a:endParaRPr/>
          </a:p>
        </p:txBody>
      </p:sp>
      <p:sp>
        <p:nvSpPr>
          <p:cNvPr id="8175" name="Google Shape;8175;p48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6" name="Google Shape;8176;p48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8177" name="Google Shape;8177;p48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8178" name="Google Shape;8178;p48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8179" name="Google Shape;8179;p48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8180" name="Google Shape;8180;p48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8181" name="Google Shape;8181;p48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8182" name="Google Shape;8182;p48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3" name="Google Shape;8183;p48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8184" name="Google Shape;8184;p4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/>
          </a:p>
        </p:txBody>
      </p:sp>
      <p:sp>
        <p:nvSpPr>
          <p:cNvPr id="8185" name="Google Shape;8185;p48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8186" name="Google Shape;8186;p48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/>
          </a:p>
        </p:txBody>
      </p:sp>
      <p:sp>
        <p:nvSpPr>
          <p:cNvPr id="8187" name="Google Shape;8187;p48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8188" name="Google Shape;8188;p48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8189" name="Google Shape;8189;p48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0" name="Google Shape;8190;p48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8191" name="Google Shape;8191;p48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8192" name="Google Shape;8192;p48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8193" name="Google Shape;8193;p48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8194" name="Google Shape;8194;p4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8195" name="Google Shape;8195;p48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8196" name="Google Shape;8196;p48"/>
          <p:cNvSpPr/>
          <p:nvPr/>
        </p:nvSpPr>
        <p:spPr>
          <a:xfrm>
            <a:off x="6309360" y="4123944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7" name="Google Shape;8197;p48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8198" name="Google Shape;8198;p48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8199" name="Google Shape;8199;p48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8200" name="Google Shape;8200;p48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8201" name="Google Shape;8201;p48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8202" name="Google Shape;8202;p48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8203" name="Google Shape;8203;p48"/>
          <p:cNvSpPr/>
          <p:nvPr/>
        </p:nvSpPr>
        <p:spPr>
          <a:xfrm>
            <a:off x="6309360" y="4425696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4" name="Google Shape;8204;p48"/>
          <p:cNvSpPr txBox="1"/>
          <p:nvPr/>
        </p:nvSpPr>
        <p:spPr>
          <a:xfrm>
            <a:off x="63093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8205" name="Google Shape;8205;p48"/>
          <p:cNvSpPr txBox="1"/>
          <p:nvPr/>
        </p:nvSpPr>
        <p:spPr>
          <a:xfrm>
            <a:off x="722376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</a:t>
            </a:r>
            <a:endParaRPr/>
          </a:p>
        </p:txBody>
      </p:sp>
      <p:sp>
        <p:nvSpPr>
          <p:cNvPr id="8206" name="Google Shape;8206;p48"/>
          <p:cNvSpPr txBox="1"/>
          <p:nvPr/>
        </p:nvSpPr>
        <p:spPr>
          <a:xfrm>
            <a:off x="804672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8207" name="Google Shape;8207;p48"/>
          <p:cNvSpPr txBox="1"/>
          <p:nvPr/>
        </p:nvSpPr>
        <p:spPr>
          <a:xfrm>
            <a:off x="886968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</a:t>
            </a:r>
            <a:endParaRPr/>
          </a:p>
        </p:txBody>
      </p:sp>
      <p:sp>
        <p:nvSpPr>
          <p:cNvPr id="8208" name="Google Shape;8208;p48"/>
          <p:cNvSpPr txBox="1"/>
          <p:nvPr/>
        </p:nvSpPr>
        <p:spPr>
          <a:xfrm>
            <a:off x="978408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8209" name="Google Shape;8209;p48"/>
          <p:cNvSpPr txBox="1"/>
          <p:nvPr/>
        </p:nvSpPr>
        <p:spPr>
          <a:xfrm>
            <a:off x="1060704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8210" name="Google Shape;8210;p48"/>
          <p:cNvSpPr/>
          <p:nvPr/>
        </p:nvSpPr>
        <p:spPr>
          <a:xfrm>
            <a:off x="365760" y="4782312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1" name="Google Shape;8211;p48"/>
          <p:cNvSpPr txBox="1"/>
          <p:nvPr/>
        </p:nvSpPr>
        <p:spPr>
          <a:xfrm>
            <a:off x="457200" y="4800599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YOY COMPARISON — Jan–Jun 2025 vs Jan–Jun 2026</a:t>
            </a:r>
            <a:endParaRPr/>
          </a:p>
        </p:txBody>
      </p:sp>
      <p:sp>
        <p:nvSpPr>
          <p:cNvPr id="8212" name="Google Shape;8212;p48"/>
          <p:cNvSpPr txBox="1"/>
          <p:nvPr/>
        </p:nvSpPr>
        <p:spPr>
          <a:xfrm>
            <a:off x="365760" y="5056631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00" u="none" cap="none" strike="noStrike">
              <a:solidFill>
                <a:srgbClr val="6B728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213" name="Google Shape;8213;p48"/>
          <p:cNvSpPr txBox="1"/>
          <p:nvPr/>
        </p:nvSpPr>
        <p:spPr>
          <a:xfrm>
            <a:off x="1463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'25</a:t>
            </a:r>
            <a:endParaRPr/>
          </a:p>
        </p:txBody>
      </p:sp>
      <p:sp>
        <p:nvSpPr>
          <p:cNvPr id="8214" name="Google Shape;8214;p48"/>
          <p:cNvSpPr txBox="1"/>
          <p:nvPr/>
        </p:nvSpPr>
        <p:spPr>
          <a:xfrm>
            <a:off x="2148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'26</a:t>
            </a:r>
            <a:endParaRPr/>
          </a:p>
        </p:txBody>
      </p:sp>
      <p:sp>
        <p:nvSpPr>
          <p:cNvPr id="8215" name="Google Shape;8215;p48"/>
          <p:cNvSpPr txBox="1"/>
          <p:nvPr/>
        </p:nvSpPr>
        <p:spPr>
          <a:xfrm>
            <a:off x="2834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'25</a:t>
            </a:r>
            <a:endParaRPr/>
          </a:p>
        </p:txBody>
      </p:sp>
      <p:sp>
        <p:nvSpPr>
          <p:cNvPr id="8216" name="Google Shape;8216;p48"/>
          <p:cNvSpPr txBox="1"/>
          <p:nvPr/>
        </p:nvSpPr>
        <p:spPr>
          <a:xfrm>
            <a:off x="3520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'26</a:t>
            </a:r>
            <a:endParaRPr/>
          </a:p>
        </p:txBody>
      </p:sp>
      <p:sp>
        <p:nvSpPr>
          <p:cNvPr id="8217" name="Google Shape;8217;p48"/>
          <p:cNvSpPr txBox="1"/>
          <p:nvPr/>
        </p:nvSpPr>
        <p:spPr>
          <a:xfrm>
            <a:off x="4206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'25</a:t>
            </a:r>
            <a:endParaRPr/>
          </a:p>
        </p:txBody>
      </p:sp>
      <p:sp>
        <p:nvSpPr>
          <p:cNvPr id="8218" name="Google Shape;8218;p48"/>
          <p:cNvSpPr txBox="1"/>
          <p:nvPr/>
        </p:nvSpPr>
        <p:spPr>
          <a:xfrm>
            <a:off x="4892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'26</a:t>
            </a:r>
            <a:endParaRPr/>
          </a:p>
        </p:txBody>
      </p:sp>
      <p:sp>
        <p:nvSpPr>
          <p:cNvPr id="8219" name="Google Shape;8219;p48"/>
          <p:cNvSpPr txBox="1"/>
          <p:nvPr/>
        </p:nvSpPr>
        <p:spPr>
          <a:xfrm>
            <a:off x="5577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'25</a:t>
            </a:r>
            <a:endParaRPr/>
          </a:p>
        </p:txBody>
      </p:sp>
      <p:sp>
        <p:nvSpPr>
          <p:cNvPr id="8220" name="Google Shape;8220;p48"/>
          <p:cNvSpPr txBox="1"/>
          <p:nvPr/>
        </p:nvSpPr>
        <p:spPr>
          <a:xfrm>
            <a:off x="6263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'26</a:t>
            </a:r>
            <a:endParaRPr/>
          </a:p>
        </p:txBody>
      </p:sp>
      <p:sp>
        <p:nvSpPr>
          <p:cNvPr id="8221" name="Google Shape;8221;p48"/>
          <p:cNvSpPr txBox="1"/>
          <p:nvPr/>
        </p:nvSpPr>
        <p:spPr>
          <a:xfrm>
            <a:off x="6949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'25</a:t>
            </a:r>
            <a:endParaRPr/>
          </a:p>
        </p:txBody>
      </p:sp>
      <p:sp>
        <p:nvSpPr>
          <p:cNvPr id="8222" name="Google Shape;8222;p48"/>
          <p:cNvSpPr txBox="1"/>
          <p:nvPr/>
        </p:nvSpPr>
        <p:spPr>
          <a:xfrm>
            <a:off x="7635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'26</a:t>
            </a:r>
            <a:endParaRPr/>
          </a:p>
        </p:txBody>
      </p:sp>
      <p:sp>
        <p:nvSpPr>
          <p:cNvPr id="8223" name="Google Shape;8223;p48"/>
          <p:cNvSpPr txBox="1"/>
          <p:nvPr/>
        </p:nvSpPr>
        <p:spPr>
          <a:xfrm>
            <a:off x="8321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'25</a:t>
            </a:r>
            <a:endParaRPr/>
          </a:p>
        </p:txBody>
      </p:sp>
      <p:sp>
        <p:nvSpPr>
          <p:cNvPr id="8224" name="Google Shape;8224;p48"/>
          <p:cNvSpPr txBox="1"/>
          <p:nvPr/>
        </p:nvSpPr>
        <p:spPr>
          <a:xfrm>
            <a:off x="9006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'26</a:t>
            </a:r>
            <a:endParaRPr/>
          </a:p>
        </p:txBody>
      </p:sp>
      <p:sp>
        <p:nvSpPr>
          <p:cNvPr id="8225" name="Google Shape;8225;p48"/>
          <p:cNvSpPr txBox="1"/>
          <p:nvPr/>
        </p:nvSpPr>
        <p:spPr>
          <a:xfrm>
            <a:off x="969264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'25 Tot</a:t>
            </a:r>
            <a:endParaRPr/>
          </a:p>
        </p:txBody>
      </p:sp>
      <p:sp>
        <p:nvSpPr>
          <p:cNvPr id="8226" name="Google Shape;8226;p48"/>
          <p:cNvSpPr txBox="1"/>
          <p:nvPr/>
        </p:nvSpPr>
        <p:spPr>
          <a:xfrm>
            <a:off x="1088136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'26 Tot</a:t>
            </a:r>
            <a:endParaRPr/>
          </a:p>
        </p:txBody>
      </p:sp>
      <p:sp>
        <p:nvSpPr>
          <p:cNvPr id="8227" name="Google Shape;8227;p48"/>
          <p:cNvSpPr txBox="1"/>
          <p:nvPr/>
        </p:nvSpPr>
        <p:spPr>
          <a:xfrm>
            <a:off x="365760" y="523951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8228" name="Google Shape;8228;p48"/>
          <p:cNvSpPr txBox="1"/>
          <p:nvPr/>
        </p:nvSpPr>
        <p:spPr>
          <a:xfrm>
            <a:off x="1463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8229" name="Google Shape;8229;p48"/>
          <p:cNvSpPr txBox="1"/>
          <p:nvPr/>
        </p:nvSpPr>
        <p:spPr>
          <a:xfrm>
            <a:off x="2148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8230" name="Google Shape;8230;p48"/>
          <p:cNvSpPr txBox="1"/>
          <p:nvPr/>
        </p:nvSpPr>
        <p:spPr>
          <a:xfrm>
            <a:off x="2834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8231" name="Google Shape;8231;p48"/>
          <p:cNvSpPr txBox="1"/>
          <p:nvPr/>
        </p:nvSpPr>
        <p:spPr>
          <a:xfrm>
            <a:off x="3520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8232" name="Google Shape;8232;p48"/>
          <p:cNvSpPr txBox="1"/>
          <p:nvPr/>
        </p:nvSpPr>
        <p:spPr>
          <a:xfrm>
            <a:off x="4206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8233" name="Google Shape;8233;p48"/>
          <p:cNvSpPr txBox="1"/>
          <p:nvPr/>
        </p:nvSpPr>
        <p:spPr>
          <a:xfrm>
            <a:off x="4892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8234" name="Google Shape;8234;p48"/>
          <p:cNvSpPr txBox="1"/>
          <p:nvPr/>
        </p:nvSpPr>
        <p:spPr>
          <a:xfrm>
            <a:off x="5577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8235" name="Google Shape;8235;p48"/>
          <p:cNvSpPr txBox="1"/>
          <p:nvPr/>
        </p:nvSpPr>
        <p:spPr>
          <a:xfrm>
            <a:off x="6263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/>
          </a:p>
        </p:txBody>
      </p:sp>
      <p:sp>
        <p:nvSpPr>
          <p:cNvPr id="8236" name="Google Shape;8236;p48"/>
          <p:cNvSpPr txBox="1"/>
          <p:nvPr/>
        </p:nvSpPr>
        <p:spPr>
          <a:xfrm>
            <a:off x="6949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8237" name="Google Shape;8237;p48"/>
          <p:cNvSpPr txBox="1"/>
          <p:nvPr/>
        </p:nvSpPr>
        <p:spPr>
          <a:xfrm>
            <a:off x="7635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8238" name="Google Shape;8238;p48"/>
          <p:cNvSpPr txBox="1"/>
          <p:nvPr/>
        </p:nvSpPr>
        <p:spPr>
          <a:xfrm>
            <a:off x="8321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8239" name="Google Shape;8239;p48"/>
          <p:cNvSpPr txBox="1"/>
          <p:nvPr/>
        </p:nvSpPr>
        <p:spPr>
          <a:xfrm>
            <a:off x="9006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8240" name="Google Shape;8240;p48"/>
          <p:cNvSpPr txBox="1"/>
          <p:nvPr/>
        </p:nvSpPr>
        <p:spPr>
          <a:xfrm>
            <a:off x="969264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</a:t>
            </a:r>
            <a:endParaRPr/>
          </a:p>
        </p:txBody>
      </p:sp>
      <p:sp>
        <p:nvSpPr>
          <p:cNvPr id="8241" name="Google Shape;8241;p48"/>
          <p:cNvSpPr txBox="1"/>
          <p:nvPr/>
        </p:nvSpPr>
        <p:spPr>
          <a:xfrm>
            <a:off x="1088136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17</a:t>
            </a:r>
            <a:endParaRPr/>
          </a:p>
        </p:txBody>
      </p:sp>
      <p:sp>
        <p:nvSpPr>
          <p:cNvPr id="8242" name="Google Shape;8242;p48"/>
          <p:cNvSpPr txBox="1"/>
          <p:nvPr/>
        </p:nvSpPr>
        <p:spPr>
          <a:xfrm>
            <a:off x="365760" y="542239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Bound Premium</a:t>
            </a:r>
            <a:endParaRPr/>
          </a:p>
        </p:txBody>
      </p:sp>
      <p:sp>
        <p:nvSpPr>
          <p:cNvPr id="8243" name="Google Shape;8243;p48"/>
          <p:cNvSpPr txBox="1"/>
          <p:nvPr/>
        </p:nvSpPr>
        <p:spPr>
          <a:xfrm>
            <a:off x="1463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$46K</a:t>
            </a:r>
            <a:endParaRPr/>
          </a:p>
        </p:txBody>
      </p:sp>
      <p:sp>
        <p:nvSpPr>
          <p:cNvPr id="8244" name="Google Shape;8244;p48"/>
          <p:cNvSpPr txBox="1"/>
          <p:nvPr/>
        </p:nvSpPr>
        <p:spPr>
          <a:xfrm>
            <a:off x="2148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245" name="Google Shape;8245;p48"/>
          <p:cNvSpPr txBox="1"/>
          <p:nvPr/>
        </p:nvSpPr>
        <p:spPr>
          <a:xfrm>
            <a:off x="2834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246" name="Google Shape;8246;p48"/>
          <p:cNvSpPr txBox="1"/>
          <p:nvPr/>
        </p:nvSpPr>
        <p:spPr>
          <a:xfrm>
            <a:off x="3520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$14K</a:t>
            </a:r>
            <a:endParaRPr/>
          </a:p>
        </p:txBody>
      </p:sp>
      <p:sp>
        <p:nvSpPr>
          <p:cNvPr id="8247" name="Google Shape;8247;p48"/>
          <p:cNvSpPr txBox="1"/>
          <p:nvPr/>
        </p:nvSpPr>
        <p:spPr>
          <a:xfrm>
            <a:off x="4206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$47K</a:t>
            </a:r>
            <a:endParaRPr/>
          </a:p>
        </p:txBody>
      </p:sp>
      <p:sp>
        <p:nvSpPr>
          <p:cNvPr id="8248" name="Google Shape;8248;p48"/>
          <p:cNvSpPr txBox="1"/>
          <p:nvPr/>
        </p:nvSpPr>
        <p:spPr>
          <a:xfrm>
            <a:off x="4892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$-3,513</a:t>
            </a:r>
            <a:endParaRPr/>
          </a:p>
        </p:txBody>
      </p:sp>
      <p:sp>
        <p:nvSpPr>
          <p:cNvPr id="8249" name="Google Shape;8249;p48"/>
          <p:cNvSpPr txBox="1"/>
          <p:nvPr/>
        </p:nvSpPr>
        <p:spPr>
          <a:xfrm>
            <a:off x="5577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$38K</a:t>
            </a:r>
            <a:endParaRPr/>
          </a:p>
        </p:txBody>
      </p:sp>
      <p:sp>
        <p:nvSpPr>
          <p:cNvPr id="8250" name="Google Shape;8250;p48"/>
          <p:cNvSpPr txBox="1"/>
          <p:nvPr/>
        </p:nvSpPr>
        <p:spPr>
          <a:xfrm>
            <a:off x="6263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$-16,764</a:t>
            </a:r>
            <a:endParaRPr/>
          </a:p>
        </p:txBody>
      </p:sp>
      <p:sp>
        <p:nvSpPr>
          <p:cNvPr id="8251" name="Google Shape;8251;p48"/>
          <p:cNvSpPr txBox="1"/>
          <p:nvPr/>
        </p:nvSpPr>
        <p:spPr>
          <a:xfrm>
            <a:off x="6949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$-56,770</a:t>
            </a:r>
            <a:endParaRPr/>
          </a:p>
        </p:txBody>
      </p:sp>
      <p:sp>
        <p:nvSpPr>
          <p:cNvPr id="8252" name="Google Shape;8252;p48"/>
          <p:cNvSpPr txBox="1"/>
          <p:nvPr/>
        </p:nvSpPr>
        <p:spPr>
          <a:xfrm>
            <a:off x="7635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253" name="Google Shape;8253;p48"/>
          <p:cNvSpPr txBox="1"/>
          <p:nvPr/>
        </p:nvSpPr>
        <p:spPr>
          <a:xfrm>
            <a:off x="8321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254" name="Google Shape;8254;p48"/>
          <p:cNvSpPr txBox="1"/>
          <p:nvPr/>
        </p:nvSpPr>
        <p:spPr>
          <a:xfrm>
            <a:off x="9006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255" name="Google Shape;8255;p48"/>
          <p:cNvSpPr txBox="1"/>
          <p:nvPr/>
        </p:nvSpPr>
        <p:spPr>
          <a:xfrm>
            <a:off x="969264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$75K</a:t>
            </a:r>
            <a:endParaRPr/>
          </a:p>
        </p:txBody>
      </p:sp>
      <p:sp>
        <p:nvSpPr>
          <p:cNvPr id="8256" name="Google Shape;8256;p48"/>
          <p:cNvSpPr txBox="1"/>
          <p:nvPr/>
        </p:nvSpPr>
        <p:spPr>
          <a:xfrm>
            <a:off x="1088136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$-6,605</a:t>
            </a:r>
            <a:endParaRPr/>
          </a:p>
        </p:txBody>
      </p:sp>
      <p:sp>
        <p:nvSpPr>
          <p:cNvPr id="8257" name="Google Shape;8257;p48"/>
          <p:cNvSpPr/>
          <p:nvPr/>
        </p:nvSpPr>
        <p:spPr>
          <a:xfrm>
            <a:off x="365760" y="5678423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8" name="Google Shape;8258;p48"/>
          <p:cNvSpPr txBox="1"/>
          <p:nvPr/>
        </p:nvSpPr>
        <p:spPr>
          <a:xfrm>
            <a:off x="4572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65F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STRENGTHS - What's Working</a:t>
            </a:r>
            <a:endParaRPr/>
          </a:p>
        </p:txBody>
      </p:sp>
      <p:sp>
        <p:nvSpPr>
          <p:cNvPr id="8259" name="Google Shape;8259;p48"/>
          <p:cNvSpPr txBox="1"/>
          <p:nvPr/>
        </p:nvSpPr>
        <p:spPr>
          <a:xfrm>
            <a:off x="4572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8260" name="Google Shape;8260;p48"/>
          <p:cNvSpPr txBox="1"/>
          <p:nvPr/>
        </p:nvSpPr>
        <p:spPr>
          <a:xfrm>
            <a:off x="685800" y="5952743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 quotes generated - active in pipeline</a:t>
            </a:r>
            <a:endParaRPr/>
          </a:p>
        </p:txBody>
      </p:sp>
      <p:sp>
        <p:nvSpPr>
          <p:cNvPr id="8261" name="Google Shape;8261;p48"/>
          <p:cNvSpPr/>
          <p:nvPr/>
        </p:nvSpPr>
        <p:spPr>
          <a:xfrm>
            <a:off x="6309360" y="5678423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2" name="Google Shape;8262;p48"/>
          <p:cNvSpPr txBox="1"/>
          <p:nvPr/>
        </p:nvSpPr>
        <p:spPr>
          <a:xfrm>
            <a:off x="64008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NEEDS ATTENTION</a:t>
            </a:r>
            <a:endParaRPr/>
          </a:p>
        </p:txBody>
      </p:sp>
      <p:sp>
        <p:nvSpPr>
          <p:cNvPr id="8263" name="Google Shape;8263;p48"/>
          <p:cNvSpPr txBox="1"/>
          <p:nvPr/>
        </p:nvSpPr>
        <p:spPr>
          <a:xfrm>
            <a:off x="64008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8264" name="Google Shape;8264;p48"/>
          <p:cNvSpPr txBox="1"/>
          <p:nvPr/>
        </p:nvSpPr>
        <p:spPr>
          <a:xfrm>
            <a:off x="6629400" y="5952743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Negative written premium ($-6,605) - cancellations exceed production</a:t>
            </a:r>
            <a:endParaRPr/>
          </a:p>
        </p:txBody>
      </p:sp>
      <p:sp>
        <p:nvSpPr>
          <p:cNvPr id="8265" name="Google Shape;8265;p48"/>
          <p:cNvSpPr txBox="1"/>
          <p:nvPr/>
        </p:nvSpPr>
        <p:spPr>
          <a:xfrm>
            <a:off x="6400800" y="6153911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8266" name="Google Shape;8266;p48"/>
          <p:cNvSpPr txBox="1"/>
          <p:nvPr/>
        </p:nvSpPr>
        <p:spPr>
          <a:xfrm>
            <a:off x="6629400" y="6153911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 submissions with zero binds - zero conversion</a:t>
            </a:r>
            <a:endParaRPr/>
          </a:p>
        </p:txBody>
      </p:sp>
      <p:sp>
        <p:nvSpPr>
          <p:cNvPr id="8267" name="Google Shape;8267;p48"/>
          <p:cNvSpPr/>
          <p:nvPr/>
        </p:nvSpPr>
        <p:spPr>
          <a:xfrm>
            <a:off x="365760" y="6455663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8" name="Google Shape;8268;p48"/>
          <p:cNvSpPr txBox="1"/>
          <p:nvPr/>
        </p:nvSpPr>
        <p:spPr>
          <a:xfrm>
            <a:off x="457200" y="6464807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STRATEGIC SALES TIPS - Conversation Starters</a:t>
            </a:r>
            <a:endParaRPr/>
          </a:p>
        </p:txBody>
      </p:sp>
      <p:sp>
        <p:nvSpPr>
          <p:cNvPr id="8269" name="Google Shape;8269;p48"/>
          <p:cNvSpPr txBox="1"/>
          <p:nvPr/>
        </p:nvSpPr>
        <p:spPr>
          <a:xfrm>
            <a:off x="457200" y="6711695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endParaRPr/>
          </a:p>
        </p:txBody>
      </p:sp>
      <p:sp>
        <p:nvSpPr>
          <p:cNvPr id="8270" name="Google Shape;8270;p48"/>
          <p:cNvSpPr txBox="1"/>
          <p:nvPr/>
        </p:nvSpPr>
        <p:spPr>
          <a:xfrm>
            <a:off x="777240" y="6711695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Review their 14 quoted-not-bound submissions together. Ask which quotes were close and what competitors offered - identifies specific pricing or appetite gaps to escalate internally.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74" name="Shape 8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5" name="Google Shape;8275;p49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6" name="Google Shape;8276;p49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Martin Noone Agency, Llc</a:t>
            </a:r>
            <a:endParaRPr/>
          </a:p>
        </p:txBody>
      </p:sp>
      <p:sp>
        <p:nvSpPr>
          <p:cNvPr id="8277" name="Google Shape;8277;p49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4B5F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Tier: Tier 2  |  Region: Southeast  |  State: MS  |  City: N/A</a:t>
            </a:r>
            <a:endParaRPr/>
          </a:p>
        </p:txBody>
      </p:sp>
      <p:sp>
        <p:nvSpPr>
          <p:cNvPr id="8278" name="Google Shape;8278;p49"/>
          <p:cNvSpPr/>
          <p:nvPr/>
        </p:nvSpPr>
        <p:spPr>
          <a:xfrm>
            <a:off x="22860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$-11,875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YTD GWP</a:t>
            </a:r>
            <a:endParaRPr/>
          </a:p>
        </p:txBody>
      </p:sp>
      <p:sp>
        <p:nvSpPr>
          <p:cNvPr id="8279" name="Google Shape;8279;p49"/>
          <p:cNvSpPr/>
          <p:nvPr/>
        </p:nvSpPr>
        <p:spPr>
          <a:xfrm>
            <a:off x="256032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8280" name="Google Shape;8280;p49"/>
          <p:cNvSpPr/>
          <p:nvPr/>
        </p:nvSpPr>
        <p:spPr>
          <a:xfrm>
            <a:off x="489204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8281" name="Google Shape;8281;p49"/>
          <p:cNvSpPr/>
          <p:nvPr/>
        </p:nvSpPr>
        <p:spPr>
          <a:xfrm>
            <a:off x="7223759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$-11,875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8282" name="Google Shape;8282;p49"/>
          <p:cNvSpPr/>
          <p:nvPr/>
        </p:nvSpPr>
        <p:spPr>
          <a:xfrm>
            <a:off x="9555480" y="914400"/>
            <a:ext cx="2212848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8283" name="Google Shape;8283;p49"/>
          <p:cNvSpPr/>
          <p:nvPr/>
        </p:nvSpPr>
        <p:spPr>
          <a:xfrm>
            <a:off x="137160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$243,578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2025 Full Year GWP</a:t>
            </a:r>
            <a:endParaRPr/>
          </a:p>
        </p:txBody>
      </p:sp>
      <p:sp>
        <p:nvSpPr>
          <p:cNvPr id="8284" name="Google Shape;8284;p49"/>
          <p:cNvSpPr/>
          <p:nvPr/>
        </p:nvSpPr>
        <p:spPr>
          <a:xfrm>
            <a:off x="1627631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$139,068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Rolling 12M GWP</a:t>
            </a:r>
            <a:endParaRPr/>
          </a:p>
        </p:txBody>
      </p:sp>
      <p:sp>
        <p:nvSpPr>
          <p:cNvPr id="8285" name="Google Shape;8285;p49"/>
          <p:cNvSpPr/>
          <p:nvPr/>
        </p:nvSpPr>
        <p:spPr>
          <a:xfrm>
            <a:off x="3118103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-4%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% to Goal</a:t>
            </a:r>
            <a:endParaRPr/>
          </a:p>
        </p:txBody>
      </p:sp>
      <p:sp>
        <p:nvSpPr>
          <p:cNvPr id="8286" name="Google Shape;8286;p49"/>
          <p:cNvSpPr/>
          <p:nvPr/>
        </p:nvSpPr>
        <p:spPr>
          <a:xfrm>
            <a:off x="4608576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8287" name="Google Shape;8287;p49"/>
          <p:cNvSpPr/>
          <p:nvPr/>
        </p:nvSpPr>
        <p:spPr>
          <a:xfrm>
            <a:off x="6099048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8288" name="Google Shape;8288;p49"/>
          <p:cNvSpPr/>
          <p:nvPr/>
        </p:nvSpPr>
        <p:spPr>
          <a:xfrm>
            <a:off x="7589519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4.8%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8289" name="Google Shape;8289;p49"/>
          <p:cNvSpPr/>
          <p:nvPr/>
        </p:nvSpPr>
        <p:spPr>
          <a:xfrm>
            <a:off x="9079992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$102,534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 Bound Prem</a:t>
            </a:r>
            <a:endParaRPr/>
          </a:p>
        </p:txBody>
      </p:sp>
      <p:sp>
        <p:nvSpPr>
          <p:cNvPr id="8290" name="Google Shape;8290;p49"/>
          <p:cNvSpPr/>
          <p:nvPr/>
        </p:nvSpPr>
        <p:spPr>
          <a:xfrm>
            <a:off x="10570464" y="1463040"/>
            <a:ext cx="1417320" cy="50292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NF Bound Prem</a:t>
            </a:r>
            <a:endParaRPr/>
          </a:p>
        </p:txBody>
      </p:sp>
      <p:sp>
        <p:nvSpPr>
          <p:cNvPr id="8291" name="Google Shape;8291;p49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2" name="Google Shape;8292;p49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PRODUCTION BY MONTH</a:t>
            </a:r>
            <a:endParaRPr/>
          </a:p>
        </p:txBody>
      </p:sp>
      <p:sp>
        <p:nvSpPr>
          <p:cNvPr id="8293" name="Google Shape;8293;p4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8294" name="Google Shape;8294;p49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Written Premium</a:t>
            </a:r>
            <a:endParaRPr/>
          </a:p>
        </p:txBody>
      </p:sp>
      <p:sp>
        <p:nvSpPr>
          <p:cNvPr id="8295" name="Google Shape;8295;p49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Business</a:t>
            </a:r>
            <a:endParaRPr/>
          </a:p>
        </p:txBody>
      </p:sp>
      <p:sp>
        <p:nvSpPr>
          <p:cNvPr id="8296" name="Google Shape;8296;p49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Renewals</a:t>
            </a:r>
            <a:endParaRPr/>
          </a:p>
        </p:txBody>
      </p:sp>
      <p:sp>
        <p:nvSpPr>
          <p:cNvPr id="8297" name="Google Shape;8297;p49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Endorsements</a:t>
            </a:r>
            <a:endParaRPr/>
          </a:p>
        </p:txBody>
      </p:sp>
      <p:sp>
        <p:nvSpPr>
          <p:cNvPr id="8298" name="Google Shape;8298;p49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Cancellations</a:t>
            </a:r>
            <a:endParaRPr/>
          </a:p>
        </p:txBody>
      </p:sp>
      <p:sp>
        <p:nvSpPr>
          <p:cNvPr id="8299" name="Google Shape;8299;p49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0" name="Google Shape;8300;p49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8301" name="Google Shape;8301;p49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$-7,850</a:t>
            </a:r>
            <a:endParaRPr/>
          </a:p>
        </p:txBody>
      </p:sp>
      <p:sp>
        <p:nvSpPr>
          <p:cNvPr id="8302" name="Google Shape;8302;p49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303" name="Google Shape;8303;p4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304" name="Google Shape;8304;p49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$-7,850</a:t>
            </a:r>
            <a:endParaRPr/>
          </a:p>
        </p:txBody>
      </p:sp>
      <p:sp>
        <p:nvSpPr>
          <p:cNvPr id="8305" name="Google Shape;8305;p49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306" name="Google Shape;8306;p49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7" name="Google Shape;8307;p49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8308" name="Google Shape;8308;p49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$-720</a:t>
            </a:r>
            <a:endParaRPr/>
          </a:p>
        </p:txBody>
      </p:sp>
      <p:sp>
        <p:nvSpPr>
          <p:cNvPr id="8309" name="Google Shape;8309;p49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310" name="Google Shape;8310;p49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311" name="Google Shape;8311;p49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$-720</a:t>
            </a:r>
            <a:endParaRPr/>
          </a:p>
        </p:txBody>
      </p:sp>
      <p:sp>
        <p:nvSpPr>
          <p:cNvPr id="8312" name="Google Shape;8312;p49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313" name="Google Shape;8313;p4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4" name="Google Shape;8314;p49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8315" name="Google Shape;8315;p49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$188</a:t>
            </a:r>
            <a:endParaRPr/>
          </a:p>
        </p:txBody>
      </p:sp>
      <p:sp>
        <p:nvSpPr>
          <p:cNvPr id="8316" name="Google Shape;8316;p49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317" name="Google Shape;8317;p49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318" name="Google Shape;8318;p49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$188</a:t>
            </a:r>
            <a:endParaRPr/>
          </a:p>
        </p:txBody>
      </p:sp>
      <p:sp>
        <p:nvSpPr>
          <p:cNvPr id="8319" name="Google Shape;8319;p49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320" name="Google Shape;8320;p49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1" name="Google Shape;8321;p49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8322" name="Google Shape;8322;p49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323" name="Google Shape;8323;p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324" name="Google Shape;8324;p49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325" name="Google Shape;8325;p49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326" name="Google Shape;8326;p49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327" name="Google Shape;8327;p49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8" name="Google Shape;8328;p49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8329" name="Google Shape;8329;p49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$-3,492</a:t>
            </a:r>
            <a:endParaRPr/>
          </a:p>
        </p:txBody>
      </p:sp>
      <p:sp>
        <p:nvSpPr>
          <p:cNvPr id="8330" name="Google Shape;8330;p49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331" name="Google Shape;8331;p49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332" name="Google Shape;8332;p49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$-3,492</a:t>
            </a:r>
            <a:endParaRPr/>
          </a:p>
        </p:txBody>
      </p:sp>
      <p:sp>
        <p:nvSpPr>
          <p:cNvPr id="8333" name="Google Shape;8333;p4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334" name="Google Shape;8334;p49"/>
          <p:cNvSpPr/>
          <p:nvPr/>
        </p:nvSpPr>
        <p:spPr>
          <a:xfrm>
            <a:off x="365760" y="4123944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5" name="Google Shape;8335;p49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8336" name="Google Shape;8336;p49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337" name="Google Shape;8337;p49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338" name="Google Shape;8338;p49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339" name="Google Shape;8339;p49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340" name="Google Shape;8340;p49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341" name="Google Shape;8341;p49"/>
          <p:cNvSpPr/>
          <p:nvPr/>
        </p:nvSpPr>
        <p:spPr>
          <a:xfrm>
            <a:off x="365760" y="4425696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2" name="Google Shape;8342;p49"/>
          <p:cNvSpPr txBox="1"/>
          <p:nvPr/>
        </p:nvSpPr>
        <p:spPr>
          <a:xfrm>
            <a:off x="3657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8343" name="Google Shape;8343;p49"/>
          <p:cNvSpPr txBox="1"/>
          <p:nvPr/>
        </p:nvSpPr>
        <p:spPr>
          <a:xfrm>
            <a:off x="1280160" y="446227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$-11,875</a:t>
            </a:r>
            <a:endParaRPr/>
          </a:p>
        </p:txBody>
      </p:sp>
      <p:sp>
        <p:nvSpPr>
          <p:cNvPr id="8344" name="Google Shape;8344;p49"/>
          <p:cNvSpPr txBox="1"/>
          <p:nvPr/>
        </p:nvSpPr>
        <p:spPr>
          <a:xfrm>
            <a:off x="2377439" y="446227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345" name="Google Shape;8345;p49"/>
          <p:cNvSpPr txBox="1"/>
          <p:nvPr/>
        </p:nvSpPr>
        <p:spPr>
          <a:xfrm>
            <a:off x="33832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346" name="Google Shape;8346;p49"/>
          <p:cNvSpPr txBox="1"/>
          <p:nvPr/>
        </p:nvSpPr>
        <p:spPr>
          <a:xfrm>
            <a:off x="42976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$-11,875</a:t>
            </a:r>
            <a:endParaRPr/>
          </a:p>
        </p:txBody>
      </p:sp>
      <p:sp>
        <p:nvSpPr>
          <p:cNvPr id="8347" name="Google Shape;8347;p49"/>
          <p:cNvSpPr txBox="1"/>
          <p:nvPr/>
        </p:nvSpPr>
        <p:spPr>
          <a:xfrm>
            <a:off x="5212079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348" name="Google Shape;8348;p49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9" name="Google Shape;8349;p49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 &amp; PIPELINE</a:t>
            </a:r>
            <a:endParaRPr/>
          </a:p>
        </p:txBody>
      </p:sp>
      <p:sp>
        <p:nvSpPr>
          <p:cNvPr id="8350" name="Google Shape;8350;p4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/>
          </a:p>
        </p:txBody>
      </p:sp>
      <p:sp>
        <p:nvSpPr>
          <p:cNvPr id="8351" name="Google Shape;8351;p49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Subs</a:t>
            </a:r>
            <a:endParaRPr/>
          </a:p>
        </p:txBody>
      </p:sp>
      <p:sp>
        <p:nvSpPr>
          <p:cNvPr id="8352" name="Google Shape;8352;p49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Fleet</a:t>
            </a:r>
            <a:endParaRPr/>
          </a:p>
        </p:txBody>
      </p:sp>
      <p:sp>
        <p:nvSpPr>
          <p:cNvPr id="8353" name="Google Shape;8353;p49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Non-Fleet</a:t>
            </a:r>
            <a:endParaRPr/>
          </a:p>
        </p:txBody>
      </p:sp>
      <p:sp>
        <p:nvSpPr>
          <p:cNvPr id="8354" name="Google Shape;8354;p49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Binds</a:t>
            </a:r>
            <a:endParaRPr/>
          </a:p>
        </p:txBody>
      </p:sp>
      <p:sp>
        <p:nvSpPr>
          <p:cNvPr id="8355" name="Google Shape;8355;p49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 Ratio</a:t>
            </a:r>
            <a:endParaRPr/>
          </a:p>
        </p:txBody>
      </p:sp>
      <p:sp>
        <p:nvSpPr>
          <p:cNvPr id="8356" name="Google Shape;8356;p49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7" name="Google Shape;8357;p49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January</a:t>
            </a:r>
            <a:endParaRPr/>
          </a:p>
        </p:txBody>
      </p:sp>
      <p:sp>
        <p:nvSpPr>
          <p:cNvPr id="8358" name="Google Shape;8358;p49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8359" name="Google Shape;8359;p49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8360" name="Google Shape;8360;p4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8361" name="Google Shape;8361;p49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8362" name="Google Shape;8362;p49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8363" name="Google Shape;8363;p49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4" name="Google Shape;8364;p49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February</a:t>
            </a:r>
            <a:endParaRPr/>
          </a:p>
        </p:txBody>
      </p:sp>
      <p:sp>
        <p:nvSpPr>
          <p:cNvPr id="8365" name="Google Shape;8365;p49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8366" name="Google Shape;8366;p49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8367" name="Google Shape;8367;p49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8368" name="Google Shape;8368;p49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8369" name="Google Shape;8369;p49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8370" name="Google Shape;8370;p4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1" name="Google Shape;8371;p49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March</a:t>
            </a:r>
            <a:endParaRPr/>
          </a:p>
        </p:txBody>
      </p:sp>
      <p:sp>
        <p:nvSpPr>
          <p:cNvPr id="8372" name="Google Shape;8372;p49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/>
          </a:p>
        </p:txBody>
      </p:sp>
      <p:sp>
        <p:nvSpPr>
          <p:cNvPr id="8373" name="Google Shape;8373;p49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8374" name="Google Shape;8374;p49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8375" name="Google Shape;8375;p49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8376" name="Google Shape;8376;p49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8377" name="Google Shape;8377;p49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8" name="Google Shape;8378;p49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</a:t>
            </a:r>
            <a:endParaRPr/>
          </a:p>
        </p:txBody>
      </p:sp>
      <p:sp>
        <p:nvSpPr>
          <p:cNvPr id="8379" name="Google Shape;8379;p49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8380" name="Google Shape;8380;p4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8381" name="Google Shape;8381;p49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8382" name="Google Shape;8382;p49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8383" name="Google Shape;8383;p49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8384" name="Google Shape;8384;p49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5" name="Google Shape;8385;p49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</a:t>
            </a:r>
            <a:endParaRPr/>
          </a:p>
        </p:txBody>
      </p:sp>
      <p:sp>
        <p:nvSpPr>
          <p:cNvPr id="8386" name="Google Shape;8386;p49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</a:t>
            </a:r>
            <a:endParaRPr/>
          </a:p>
        </p:txBody>
      </p:sp>
      <p:sp>
        <p:nvSpPr>
          <p:cNvPr id="8387" name="Google Shape;8387;p49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8388" name="Google Shape;8388;p49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</a:t>
            </a:r>
            <a:endParaRPr/>
          </a:p>
        </p:txBody>
      </p:sp>
      <p:sp>
        <p:nvSpPr>
          <p:cNvPr id="8389" name="Google Shape;8389;p49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8390" name="Google Shape;8390;p4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9.1%</a:t>
            </a:r>
            <a:endParaRPr/>
          </a:p>
        </p:txBody>
      </p:sp>
      <p:sp>
        <p:nvSpPr>
          <p:cNvPr id="8391" name="Google Shape;8391;p49"/>
          <p:cNvSpPr/>
          <p:nvPr/>
        </p:nvSpPr>
        <p:spPr>
          <a:xfrm>
            <a:off x="6309360" y="4123944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2" name="Google Shape;8392;p49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June</a:t>
            </a:r>
            <a:endParaRPr/>
          </a:p>
        </p:txBody>
      </p:sp>
      <p:sp>
        <p:nvSpPr>
          <p:cNvPr id="8393" name="Google Shape;8393;p49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8394" name="Google Shape;8394;p49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8395" name="Google Shape;8395;p49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8396" name="Google Shape;8396;p49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8397" name="Google Shape;8397;p49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</a:t>
            </a:r>
            <a:endParaRPr/>
          </a:p>
        </p:txBody>
      </p:sp>
      <p:sp>
        <p:nvSpPr>
          <p:cNvPr id="8398" name="Google Shape;8398;p49"/>
          <p:cNvSpPr/>
          <p:nvPr/>
        </p:nvSpPr>
        <p:spPr>
          <a:xfrm>
            <a:off x="6309360" y="4425696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9" name="Google Shape;8399;p49"/>
          <p:cNvSpPr txBox="1"/>
          <p:nvPr/>
        </p:nvSpPr>
        <p:spPr>
          <a:xfrm>
            <a:off x="630936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TOTAL</a:t>
            </a:r>
            <a:endParaRPr/>
          </a:p>
        </p:txBody>
      </p:sp>
      <p:sp>
        <p:nvSpPr>
          <p:cNvPr id="8400" name="Google Shape;8400;p49"/>
          <p:cNvSpPr txBox="1"/>
          <p:nvPr/>
        </p:nvSpPr>
        <p:spPr>
          <a:xfrm>
            <a:off x="722376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</a:t>
            </a:r>
            <a:endParaRPr/>
          </a:p>
        </p:txBody>
      </p:sp>
      <p:sp>
        <p:nvSpPr>
          <p:cNvPr id="8401" name="Google Shape;8401;p49"/>
          <p:cNvSpPr txBox="1"/>
          <p:nvPr/>
        </p:nvSpPr>
        <p:spPr>
          <a:xfrm>
            <a:off x="804672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</a:t>
            </a:r>
            <a:endParaRPr/>
          </a:p>
        </p:txBody>
      </p:sp>
      <p:sp>
        <p:nvSpPr>
          <p:cNvPr id="8402" name="Google Shape;8402;p49"/>
          <p:cNvSpPr txBox="1"/>
          <p:nvPr/>
        </p:nvSpPr>
        <p:spPr>
          <a:xfrm>
            <a:off x="886968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</a:t>
            </a:r>
            <a:endParaRPr/>
          </a:p>
        </p:txBody>
      </p:sp>
      <p:sp>
        <p:nvSpPr>
          <p:cNvPr id="8403" name="Google Shape;8403;p49"/>
          <p:cNvSpPr txBox="1"/>
          <p:nvPr/>
        </p:nvSpPr>
        <p:spPr>
          <a:xfrm>
            <a:off x="9784080" y="446227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8404" name="Google Shape;8404;p49"/>
          <p:cNvSpPr txBox="1"/>
          <p:nvPr/>
        </p:nvSpPr>
        <p:spPr>
          <a:xfrm>
            <a:off x="10607040" y="44622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4.8%</a:t>
            </a:r>
            <a:endParaRPr/>
          </a:p>
        </p:txBody>
      </p:sp>
      <p:sp>
        <p:nvSpPr>
          <p:cNvPr id="8405" name="Google Shape;8405;p49"/>
          <p:cNvSpPr/>
          <p:nvPr/>
        </p:nvSpPr>
        <p:spPr>
          <a:xfrm>
            <a:off x="365760" y="4782312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6" name="Google Shape;8406;p49"/>
          <p:cNvSpPr txBox="1"/>
          <p:nvPr/>
        </p:nvSpPr>
        <p:spPr>
          <a:xfrm>
            <a:off x="457200" y="4800599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YOY COMPARISON — Jan–Jun 2025 vs Jan–Jun 2026</a:t>
            </a:r>
            <a:endParaRPr/>
          </a:p>
        </p:txBody>
      </p:sp>
      <p:sp>
        <p:nvSpPr>
          <p:cNvPr id="8407" name="Google Shape;8407;p49"/>
          <p:cNvSpPr txBox="1"/>
          <p:nvPr/>
        </p:nvSpPr>
        <p:spPr>
          <a:xfrm>
            <a:off x="365760" y="5056631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00" u="none" cap="none" strike="noStrike">
              <a:solidFill>
                <a:srgbClr val="6B728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408" name="Google Shape;8408;p49"/>
          <p:cNvSpPr txBox="1"/>
          <p:nvPr/>
        </p:nvSpPr>
        <p:spPr>
          <a:xfrm>
            <a:off x="1463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'25</a:t>
            </a:r>
            <a:endParaRPr/>
          </a:p>
        </p:txBody>
      </p:sp>
      <p:sp>
        <p:nvSpPr>
          <p:cNvPr id="8409" name="Google Shape;8409;p49"/>
          <p:cNvSpPr txBox="1"/>
          <p:nvPr/>
        </p:nvSpPr>
        <p:spPr>
          <a:xfrm>
            <a:off x="2148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'26</a:t>
            </a:r>
            <a:endParaRPr/>
          </a:p>
        </p:txBody>
      </p:sp>
      <p:sp>
        <p:nvSpPr>
          <p:cNvPr id="8410" name="Google Shape;8410;p49"/>
          <p:cNvSpPr txBox="1"/>
          <p:nvPr/>
        </p:nvSpPr>
        <p:spPr>
          <a:xfrm>
            <a:off x="2834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'25</a:t>
            </a:r>
            <a:endParaRPr/>
          </a:p>
        </p:txBody>
      </p:sp>
      <p:sp>
        <p:nvSpPr>
          <p:cNvPr id="8411" name="Google Shape;8411;p49"/>
          <p:cNvSpPr txBox="1"/>
          <p:nvPr/>
        </p:nvSpPr>
        <p:spPr>
          <a:xfrm>
            <a:off x="3520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Feb '26</a:t>
            </a:r>
            <a:endParaRPr/>
          </a:p>
        </p:txBody>
      </p:sp>
      <p:sp>
        <p:nvSpPr>
          <p:cNvPr id="8412" name="Google Shape;8412;p49"/>
          <p:cNvSpPr txBox="1"/>
          <p:nvPr/>
        </p:nvSpPr>
        <p:spPr>
          <a:xfrm>
            <a:off x="4206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'25</a:t>
            </a:r>
            <a:endParaRPr/>
          </a:p>
        </p:txBody>
      </p:sp>
      <p:sp>
        <p:nvSpPr>
          <p:cNvPr id="8413" name="Google Shape;8413;p49"/>
          <p:cNvSpPr txBox="1"/>
          <p:nvPr/>
        </p:nvSpPr>
        <p:spPr>
          <a:xfrm>
            <a:off x="4892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 '26</a:t>
            </a:r>
            <a:endParaRPr/>
          </a:p>
        </p:txBody>
      </p:sp>
      <p:sp>
        <p:nvSpPr>
          <p:cNvPr id="8414" name="Google Shape;8414;p49"/>
          <p:cNvSpPr txBox="1"/>
          <p:nvPr/>
        </p:nvSpPr>
        <p:spPr>
          <a:xfrm>
            <a:off x="5577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'25</a:t>
            </a:r>
            <a:endParaRPr/>
          </a:p>
        </p:txBody>
      </p:sp>
      <p:sp>
        <p:nvSpPr>
          <p:cNvPr id="8415" name="Google Shape;8415;p49"/>
          <p:cNvSpPr txBox="1"/>
          <p:nvPr/>
        </p:nvSpPr>
        <p:spPr>
          <a:xfrm>
            <a:off x="62636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 '26</a:t>
            </a:r>
            <a:endParaRPr/>
          </a:p>
        </p:txBody>
      </p:sp>
      <p:sp>
        <p:nvSpPr>
          <p:cNvPr id="8416" name="Google Shape;8416;p49"/>
          <p:cNvSpPr txBox="1"/>
          <p:nvPr/>
        </p:nvSpPr>
        <p:spPr>
          <a:xfrm>
            <a:off x="69494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'25</a:t>
            </a:r>
            <a:endParaRPr/>
          </a:p>
        </p:txBody>
      </p:sp>
      <p:sp>
        <p:nvSpPr>
          <p:cNvPr id="8417" name="Google Shape;8417;p49"/>
          <p:cNvSpPr txBox="1"/>
          <p:nvPr/>
        </p:nvSpPr>
        <p:spPr>
          <a:xfrm>
            <a:off x="76352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'26</a:t>
            </a:r>
            <a:endParaRPr/>
          </a:p>
        </p:txBody>
      </p:sp>
      <p:sp>
        <p:nvSpPr>
          <p:cNvPr id="8418" name="Google Shape;8418;p49"/>
          <p:cNvSpPr txBox="1"/>
          <p:nvPr/>
        </p:nvSpPr>
        <p:spPr>
          <a:xfrm>
            <a:off x="83210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'25</a:t>
            </a:r>
            <a:endParaRPr/>
          </a:p>
        </p:txBody>
      </p:sp>
      <p:sp>
        <p:nvSpPr>
          <p:cNvPr id="8419" name="Google Shape;8419;p49"/>
          <p:cNvSpPr txBox="1"/>
          <p:nvPr/>
        </p:nvSpPr>
        <p:spPr>
          <a:xfrm>
            <a:off x="9006840" y="5056631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 '26</a:t>
            </a:r>
            <a:endParaRPr/>
          </a:p>
        </p:txBody>
      </p:sp>
      <p:sp>
        <p:nvSpPr>
          <p:cNvPr id="8420" name="Google Shape;8420;p49"/>
          <p:cNvSpPr txBox="1"/>
          <p:nvPr/>
        </p:nvSpPr>
        <p:spPr>
          <a:xfrm>
            <a:off x="969264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'25 Tot</a:t>
            </a:r>
            <a:endParaRPr/>
          </a:p>
        </p:txBody>
      </p:sp>
      <p:sp>
        <p:nvSpPr>
          <p:cNvPr id="8421" name="Google Shape;8421;p49"/>
          <p:cNvSpPr txBox="1"/>
          <p:nvPr/>
        </p:nvSpPr>
        <p:spPr>
          <a:xfrm>
            <a:off x="10881360" y="5056631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Jan–Ju '26 Tot</a:t>
            </a:r>
            <a:endParaRPr/>
          </a:p>
        </p:txBody>
      </p:sp>
      <p:sp>
        <p:nvSpPr>
          <p:cNvPr id="8422" name="Google Shape;8422;p49"/>
          <p:cNvSpPr txBox="1"/>
          <p:nvPr/>
        </p:nvSpPr>
        <p:spPr>
          <a:xfrm>
            <a:off x="365760" y="523951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Submissions</a:t>
            </a:r>
            <a:endParaRPr/>
          </a:p>
        </p:txBody>
      </p:sp>
      <p:sp>
        <p:nvSpPr>
          <p:cNvPr id="8423" name="Google Shape;8423;p49"/>
          <p:cNvSpPr txBox="1"/>
          <p:nvPr/>
        </p:nvSpPr>
        <p:spPr>
          <a:xfrm>
            <a:off x="1463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8424" name="Google Shape;8424;p49"/>
          <p:cNvSpPr txBox="1"/>
          <p:nvPr/>
        </p:nvSpPr>
        <p:spPr>
          <a:xfrm>
            <a:off x="2148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8425" name="Google Shape;8425;p49"/>
          <p:cNvSpPr txBox="1"/>
          <p:nvPr/>
        </p:nvSpPr>
        <p:spPr>
          <a:xfrm>
            <a:off x="2834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8426" name="Google Shape;8426;p49"/>
          <p:cNvSpPr txBox="1"/>
          <p:nvPr/>
        </p:nvSpPr>
        <p:spPr>
          <a:xfrm>
            <a:off x="3520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8427" name="Google Shape;8427;p49"/>
          <p:cNvSpPr txBox="1"/>
          <p:nvPr/>
        </p:nvSpPr>
        <p:spPr>
          <a:xfrm>
            <a:off x="4206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8428" name="Google Shape;8428;p49"/>
          <p:cNvSpPr txBox="1"/>
          <p:nvPr/>
        </p:nvSpPr>
        <p:spPr>
          <a:xfrm>
            <a:off x="4892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/>
          </a:p>
        </p:txBody>
      </p:sp>
      <p:sp>
        <p:nvSpPr>
          <p:cNvPr id="8429" name="Google Shape;8429;p49"/>
          <p:cNvSpPr txBox="1"/>
          <p:nvPr/>
        </p:nvSpPr>
        <p:spPr>
          <a:xfrm>
            <a:off x="5577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8430" name="Google Shape;8430;p49"/>
          <p:cNvSpPr txBox="1"/>
          <p:nvPr/>
        </p:nvSpPr>
        <p:spPr>
          <a:xfrm>
            <a:off x="62636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8431" name="Google Shape;8431;p49"/>
          <p:cNvSpPr txBox="1"/>
          <p:nvPr/>
        </p:nvSpPr>
        <p:spPr>
          <a:xfrm>
            <a:off x="69494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8432" name="Google Shape;8432;p49"/>
          <p:cNvSpPr txBox="1"/>
          <p:nvPr/>
        </p:nvSpPr>
        <p:spPr>
          <a:xfrm>
            <a:off x="76352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</a:t>
            </a:r>
            <a:endParaRPr/>
          </a:p>
        </p:txBody>
      </p:sp>
      <p:sp>
        <p:nvSpPr>
          <p:cNvPr id="8433" name="Google Shape;8433;p49"/>
          <p:cNvSpPr txBox="1"/>
          <p:nvPr/>
        </p:nvSpPr>
        <p:spPr>
          <a:xfrm>
            <a:off x="83210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8434" name="Google Shape;8434;p49"/>
          <p:cNvSpPr txBox="1"/>
          <p:nvPr/>
        </p:nvSpPr>
        <p:spPr>
          <a:xfrm>
            <a:off x="9006840" y="523951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/>
          </a:p>
        </p:txBody>
      </p:sp>
      <p:sp>
        <p:nvSpPr>
          <p:cNvPr id="8435" name="Google Shape;8435;p49"/>
          <p:cNvSpPr txBox="1"/>
          <p:nvPr/>
        </p:nvSpPr>
        <p:spPr>
          <a:xfrm>
            <a:off x="969264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/>
          </a:p>
        </p:txBody>
      </p:sp>
      <p:sp>
        <p:nvSpPr>
          <p:cNvPr id="8436" name="Google Shape;8436;p49"/>
          <p:cNvSpPr txBox="1"/>
          <p:nvPr/>
        </p:nvSpPr>
        <p:spPr>
          <a:xfrm>
            <a:off x="10881360" y="523951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</a:t>
            </a:r>
            <a:endParaRPr/>
          </a:p>
        </p:txBody>
      </p:sp>
      <p:sp>
        <p:nvSpPr>
          <p:cNvPr id="8437" name="Google Shape;8437;p49"/>
          <p:cNvSpPr txBox="1"/>
          <p:nvPr/>
        </p:nvSpPr>
        <p:spPr>
          <a:xfrm>
            <a:off x="365760" y="542239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Bound Premium</a:t>
            </a:r>
            <a:endParaRPr/>
          </a:p>
        </p:txBody>
      </p:sp>
      <p:sp>
        <p:nvSpPr>
          <p:cNvPr id="8438" name="Google Shape;8438;p49"/>
          <p:cNvSpPr txBox="1"/>
          <p:nvPr/>
        </p:nvSpPr>
        <p:spPr>
          <a:xfrm>
            <a:off x="1463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439" name="Google Shape;8439;p49"/>
          <p:cNvSpPr txBox="1"/>
          <p:nvPr/>
        </p:nvSpPr>
        <p:spPr>
          <a:xfrm>
            <a:off x="2148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$-7,850</a:t>
            </a:r>
            <a:endParaRPr/>
          </a:p>
        </p:txBody>
      </p:sp>
      <p:sp>
        <p:nvSpPr>
          <p:cNvPr id="8440" name="Google Shape;8440;p49"/>
          <p:cNvSpPr txBox="1"/>
          <p:nvPr/>
        </p:nvSpPr>
        <p:spPr>
          <a:xfrm>
            <a:off x="2834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441" name="Google Shape;8441;p49"/>
          <p:cNvSpPr txBox="1"/>
          <p:nvPr/>
        </p:nvSpPr>
        <p:spPr>
          <a:xfrm>
            <a:off x="3520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$-720</a:t>
            </a:r>
            <a:endParaRPr/>
          </a:p>
        </p:txBody>
      </p:sp>
      <p:sp>
        <p:nvSpPr>
          <p:cNvPr id="8442" name="Google Shape;8442;p49"/>
          <p:cNvSpPr txBox="1"/>
          <p:nvPr/>
        </p:nvSpPr>
        <p:spPr>
          <a:xfrm>
            <a:off x="4206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443" name="Google Shape;8443;p49"/>
          <p:cNvSpPr txBox="1"/>
          <p:nvPr/>
        </p:nvSpPr>
        <p:spPr>
          <a:xfrm>
            <a:off x="4892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$188</a:t>
            </a:r>
            <a:endParaRPr/>
          </a:p>
        </p:txBody>
      </p:sp>
      <p:sp>
        <p:nvSpPr>
          <p:cNvPr id="8444" name="Google Shape;8444;p49"/>
          <p:cNvSpPr txBox="1"/>
          <p:nvPr/>
        </p:nvSpPr>
        <p:spPr>
          <a:xfrm>
            <a:off x="5577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445" name="Google Shape;8445;p49"/>
          <p:cNvSpPr txBox="1"/>
          <p:nvPr/>
        </p:nvSpPr>
        <p:spPr>
          <a:xfrm>
            <a:off x="62636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446" name="Google Shape;8446;p49"/>
          <p:cNvSpPr txBox="1"/>
          <p:nvPr/>
        </p:nvSpPr>
        <p:spPr>
          <a:xfrm>
            <a:off x="69494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447" name="Google Shape;8447;p49"/>
          <p:cNvSpPr txBox="1"/>
          <p:nvPr/>
        </p:nvSpPr>
        <p:spPr>
          <a:xfrm>
            <a:off x="76352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$-3,492</a:t>
            </a:r>
            <a:endParaRPr/>
          </a:p>
        </p:txBody>
      </p:sp>
      <p:sp>
        <p:nvSpPr>
          <p:cNvPr id="8448" name="Google Shape;8448;p49"/>
          <p:cNvSpPr txBox="1"/>
          <p:nvPr/>
        </p:nvSpPr>
        <p:spPr>
          <a:xfrm>
            <a:off x="83210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$93K</a:t>
            </a:r>
            <a:endParaRPr/>
          </a:p>
        </p:txBody>
      </p:sp>
      <p:sp>
        <p:nvSpPr>
          <p:cNvPr id="8449" name="Google Shape;8449;p49"/>
          <p:cNvSpPr txBox="1"/>
          <p:nvPr/>
        </p:nvSpPr>
        <p:spPr>
          <a:xfrm>
            <a:off x="9006840" y="5422392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C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$0</a:t>
            </a:r>
            <a:endParaRPr/>
          </a:p>
        </p:txBody>
      </p:sp>
      <p:sp>
        <p:nvSpPr>
          <p:cNvPr id="8450" name="Google Shape;8450;p49"/>
          <p:cNvSpPr txBox="1"/>
          <p:nvPr/>
        </p:nvSpPr>
        <p:spPr>
          <a:xfrm>
            <a:off x="969264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$93K</a:t>
            </a:r>
            <a:endParaRPr/>
          </a:p>
        </p:txBody>
      </p:sp>
      <p:sp>
        <p:nvSpPr>
          <p:cNvPr id="8451" name="Google Shape;8451;p49"/>
          <p:cNvSpPr txBox="1"/>
          <p:nvPr/>
        </p:nvSpPr>
        <p:spPr>
          <a:xfrm>
            <a:off x="10881360" y="542239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$-11,875</a:t>
            </a:r>
            <a:endParaRPr/>
          </a:p>
        </p:txBody>
      </p:sp>
      <p:sp>
        <p:nvSpPr>
          <p:cNvPr id="8452" name="Google Shape;8452;p49"/>
          <p:cNvSpPr/>
          <p:nvPr/>
        </p:nvSpPr>
        <p:spPr>
          <a:xfrm>
            <a:off x="365760" y="5678423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3" name="Google Shape;8453;p49"/>
          <p:cNvSpPr txBox="1"/>
          <p:nvPr/>
        </p:nvSpPr>
        <p:spPr>
          <a:xfrm>
            <a:off x="4572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65F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STRENGTHS - What's Working</a:t>
            </a:r>
            <a:endParaRPr/>
          </a:p>
        </p:txBody>
      </p:sp>
      <p:sp>
        <p:nvSpPr>
          <p:cNvPr id="8454" name="Google Shape;8454;p49"/>
          <p:cNvSpPr txBox="1"/>
          <p:nvPr/>
        </p:nvSpPr>
        <p:spPr>
          <a:xfrm>
            <a:off x="4572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8455" name="Google Shape;8455;p49"/>
          <p:cNvSpPr txBox="1"/>
          <p:nvPr/>
        </p:nvSpPr>
        <p:spPr>
          <a:xfrm>
            <a:off x="685800" y="5952743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 submissions - highly active agency</a:t>
            </a:r>
            <a:endParaRPr/>
          </a:p>
        </p:txBody>
      </p:sp>
      <p:sp>
        <p:nvSpPr>
          <p:cNvPr id="8456" name="Google Shape;8456;p49"/>
          <p:cNvSpPr txBox="1"/>
          <p:nvPr/>
        </p:nvSpPr>
        <p:spPr>
          <a:xfrm>
            <a:off x="457200" y="6153911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/>
          </a:p>
        </p:txBody>
      </p:sp>
      <p:sp>
        <p:nvSpPr>
          <p:cNvPr id="8457" name="Google Shape;8457;p49"/>
          <p:cNvSpPr txBox="1"/>
          <p:nvPr/>
        </p:nvSpPr>
        <p:spPr>
          <a:xfrm>
            <a:off x="685800" y="6153911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 bind(s) - converting submissions to business</a:t>
            </a:r>
            <a:endParaRPr/>
          </a:p>
        </p:txBody>
      </p:sp>
      <p:sp>
        <p:nvSpPr>
          <p:cNvPr id="8458" name="Google Shape;8458;p49"/>
          <p:cNvSpPr/>
          <p:nvPr/>
        </p:nvSpPr>
        <p:spPr>
          <a:xfrm>
            <a:off x="6309360" y="5678423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9" name="Google Shape;8459;p49"/>
          <p:cNvSpPr txBox="1"/>
          <p:nvPr/>
        </p:nvSpPr>
        <p:spPr>
          <a:xfrm>
            <a:off x="6400800" y="5696711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91B1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NEEDS ATTENTION</a:t>
            </a:r>
            <a:endParaRPr/>
          </a:p>
        </p:txBody>
      </p:sp>
      <p:sp>
        <p:nvSpPr>
          <p:cNvPr id="8460" name="Google Shape;8460;p49"/>
          <p:cNvSpPr txBox="1"/>
          <p:nvPr/>
        </p:nvSpPr>
        <p:spPr>
          <a:xfrm>
            <a:off x="6400800" y="5952743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8461" name="Google Shape;8461;p49"/>
          <p:cNvSpPr txBox="1"/>
          <p:nvPr/>
        </p:nvSpPr>
        <p:spPr>
          <a:xfrm>
            <a:off x="6629400" y="5952743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Negative written premium ($-11,875) - cancellations exceed production</a:t>
            </a:r>
            <a:endParaRPr/>
          </a:p>
        </p:txBody>
      </p:sp>
      <p:sp>
        <p:nvSpPr>
          <p:cNvPr id="8462" name="Google Shape;8462;p49"/>
          <p:cNvSpPr txBox="1"/>
          <p:nvPr/>
        </p:nvSpPr>
        <p:spPr>
          <a:xfrm>
            <a:off x="6400800" y="6153911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8463" name="Google Shape;8463;p49"/>
          <p:cNvSpPr txBox="1"/>
          <p:nvPr/>
        </p:nvSpPr>
        <p:spPr>
          <a:xfrm>
            <a:off x="6629400" y="6153911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Written premium dropped 1960% month-over-month</a:t>
            </a:r>
            <a:endParaRPr/>
          </a:p>
        </p:txBody>
      </p:sp>
      <p:sp>
        <p:nvSpPr>
          <p:cNvPr id="8464" name="Google Shape;8464;p49"/>
          <p:cNvSpPr/>
          <p:nvPr/>
        </p:nvSpPr>
        <p:spPr>
          <a:xfrm>
            <a:off x="365760" y="6455663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5" name="Google Shape;8465;p49"/>
          <p:cNvSpPr txBox="1"/>
          <p:nvPr/>
        </p:nvSpPr>
        <p:spPr>
          <a:xfrm>
            <a:off x="457200" y="6464807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STRATEGIC SALES TIPS - Conversation Starters</a:t>
            </a:r>
            <a:endParaRPr/>
          </a:p>
        </p:txBody>
      </p:sp>
      <p:sp>
        <p:nvSpPr>
          <p:cNvPr id="8466" name="Google Shape;8466;p49"/>
          <p:cNvSpPr txBox="1"/>
          <p:nvPr/>
        </p:nvSpPr>
        <p:spPr>
          <a:xfrm>
            <a:off x="457200" y="6711695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endParaRPr/>
          </a:p>
        </p:txBody>
      </p:sp>
      <p:sp>
        <p:nvSpPr>
          <p:cNvPr id="8467" name="Google Shape;8467;p49"/>
          <p:cNvSpPr txBox="1"/>
          <p:nvPr/>
        </p:nvSpPr>
        <p:spPr>
          <a:xfrm>
            <a:off x="777240" y="6711695"/>
            <a:ext cx="10881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Volume dropped significantly last month. Lead with curiosity, not concern: "I noticed things slowed down - anything going on I can help with?" Identify if it's seasonal, competitive, or operational.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