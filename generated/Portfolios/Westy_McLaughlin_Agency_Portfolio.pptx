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07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645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8B5CF6"/>
                </a:solidFill>
                <a:latin typeface="Segoe UI"/>
              </a:defRPr>
            </a:pPr>
            <a:r>
              <a:t>COVER WHALE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5603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  <a:latin typeface="Segoe UI"/>
              </a:defRPr>
            </a:pPr>
            <a:r>
              <a:t>Westy McLaughlin - Agency Portfolio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747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C4B5FD"/>
                </a:solidFill>
                <a:latin typeface="Segoe UI"/>
              </a:defRPr>
            </a:pPr>
            <a:r>
              <a:t>Jan–May 2026  |  Generated May 23, 2026  |  16 Agencies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Westy McLaughlin - Portfolio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16 Total Agencies  |  13 Active  |  3 Inactive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Agencies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847088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Active (YTD)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557016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$371,138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266944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$371,767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976872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$59,183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0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DC2626"/>
                </a:solidFill>
                <a:latin typeface="Segoe UI"/>
              </a:defRPr>
            </a:pPr>
            <a:r>
              <a:t>$-36,531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396728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DC2626"/>
                </a:solidFill>
                <a:latin typeface="Segoe UI"/>
              </a:defRPr>
            </a:pPr>
            <a:r>
              <a:t>$-214,104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37160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466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Submissions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847088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Binds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557016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4.9%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266944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Subs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976872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Binds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86800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355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Subs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396728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Binds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37160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$1,522,189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847088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$1,326,907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557016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$1,826,626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Annual Goal (40%)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266944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DC2626"/>
                </a:solidFill>
                <a:latin typeface="Segoe UI"/>
              </a:defRPr>
            </a:pPr>
            <a:r>
              <a:t>20%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976872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$456,184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686800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$604,450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Bound Prem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396728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21.7%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Retention Rate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" y="2514600"/>
            <a:ext cx="7863840" cy="292608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532888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TOP AGENCIES BY YTD GWP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2862072"/>
            <a:ext cx="25603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926079" y="2862072"/>
            <a:ext cx="10058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931920" y="2862072"/>
            <a:ext cx="914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New Biz $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46320" y="2862072"/>
            <a:ext cx="8229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Renewals $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0" y="2862072"/>
            <a:ext cx="5486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17920" y="2862072"/>
            <a:ext cx="594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Quotes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1228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0" y="2862072"/>
            <a:ext cx="594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HR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65760" y="3026664"/>
            <a:ext cx="7498079" cy="7315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65760" y="308152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Acrisure, Llc Dba Mf Block Insuranc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926079" y="3081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$119,846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931920" y="3081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$175,209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846320" y="308152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669280" y="308152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193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17920" y="308152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12280" y="308152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315200" y="308152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5.2%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65760" y="3273552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65760" y="328269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Acrisure Llc Dba Clg Insurance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926079" y="328269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$106,410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931920" y="328269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$106,410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846320" y="328269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669280" y="328269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217920" y="328269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812280" y="328269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315200" y="328269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3.1%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5760" y="3483864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Assuredpartners Of Nj Llc Dba Encom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926079" y="3483864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$94,065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931920" y="3483864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$49,469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846320" y="3483864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$21,646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669280" y="3483864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217920" y="348386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812280" y="3483864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315200" y="348386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16.0%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65760" y="3675888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65760" y="3685032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Acrisure Llc, Dba South Atlantic In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926079" y="368503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$30,145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931920" y="368503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846320" y="368503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$14,849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669280" y="3685032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157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217920" y="368503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118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812280" y="3685032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315200" y="368503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3.8%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65760" y="3886200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Usi Insurance Services, Llc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926079" y="3886200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$22,687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931920" y="3886200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846320" y="3886200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$22,687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669280" y="3886200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217920" y="388620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812280" y="3886200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315200" y="388620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79" name="Rectangle 78"/>
          <p:cNvSpPr/>
          <p:nvPr/>
        </p:nvSpPr>
        <p:spPr>
          <a:xfrm>
            <a:off x="365760" y="4078224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365760" y="408736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Acrisure Llc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926079" y="408736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931920" y="408736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846320" y="408736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669280" y="408736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217920" y="408736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812280" y="408736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7315200" y="408736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65760" y="428853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Acrisure Llc Dba A To Z Insurance G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2926079" y="428853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3931920" y="428853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846320" y="428853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669280" y="428853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217920" y="428853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812280" y="428853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7315200" y="428853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365760" y="4480560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365760" y="4489704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Acrisure LLC dba Rig Stop Insurance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926079" y="4489704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931920" y="4489704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4846320" y="4489704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5669280" y="4489704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6217920" y="448970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6812280" y="4489704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7315200" y="448970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365760" y="4690872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Acrisure, LLC dba Forerunner Insura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2926079" y="469087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3931920" y="469087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4846320" y="469087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669280" y="4690872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6217920" y="469087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6812280" y="4690872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7315200" y="469087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365760" y="4882896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365760" y="4892040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Howden Us Specialty Llc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2926079" y="4892040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3931920" y="4892040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4846320" y="4892040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5669280" y="4892040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6217920" y="489204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6812280" y="4892040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7315200" y="489204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365760" y="509320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Patriot Growth Insurance Services, 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926079" y="509320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931920" y="509320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846320" y="509320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5669280" y="509320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6217920" y="509320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812280" y="509320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7315200" y="509320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365760" y="5285232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365760" y="529437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RRL Insurance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2926079" y="529437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931920" y="529437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$40,679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4846320" y="529437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5669280" y="529437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6217920" y="529437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6812280" y="529437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7315200" y="529437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-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8229600" y="2514600"/>
            <a:ext cx="3749039" cy="292608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8321040" y="2532888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MONTHLY SUMMARY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8275320" y="2862072"/>
            <a:ext cx="457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8732520" y="2862072"/>
            <a:ext cx="7772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9509760" y="2862072"/>
            <a:ext cx="7315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New Biz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1024128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10744200" y="2862072"/>
            <a:ext cx="457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120140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HR</a:t>
            </a:r>
          </a:p>
        </p:txBody>
      </p:sp>
      <p:sp>
        <p:nvSpPr>
          <p:cNvPr id="147" name="Rectangle 146"/>
          <p:cNvSpPr/>
          <p:nvPr/>
        </p:nvSpPr>
        <p:spPr>
          <a:xfrm>
            <a:off x="8275320" y="3026664"/>
            <a:ext cx="3566160" cy="7315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8275320" y="308152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8732520" y="3081528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$607,374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9509760" y="3081528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0241280" y="308152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10744200" y="308152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1201400" y="308152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15.2%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8275320" y="3337560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8732520" y="3337560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$615,294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9509760" y="3337560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$107,786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0241280" y="3337560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84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0744200" y="3337560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11201400" y="3337560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275320" y="3593592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8732520" y="3593592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$319,505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509760" y="3593592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$125,288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241280" y="3593592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121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0744200" y="3593592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1201400" y="3593592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4.1%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8275320" y="3849624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8732520" y="3849624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$559,387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9509760" y="3849624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$39,303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0241280" y="3849624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115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0744200" y="3849624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11201400" y="3849624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7.0%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8275320" y="4105656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8732520" y="4105656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$482,796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9509760" y="4105656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$99,390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0241280" y="4105656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103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744200" y="4105656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201400" y="4105656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4.9%</a:t>
            </a:r>
          </a:p>
        </p:txBody>
      </p:sp>
      <p:sp>
        <p:nvSpPr>
          <p:cNvPr id="178" name="Rectangle 177"/>
          <p:cNvSpPr/>
          <p:nvPr/>
        </p:nvSpPr>
        <p:spPr>
          <a:xfrm>
            <a:off x="8275320" y="4325112"/>
            <a:ext cx="3566160" cy="10972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8275320" y="4361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8732520" y="4361688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$371,138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9509760" y="4361688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$371,767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0241280" y="436168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466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0744200" y="4361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11201400" y="436168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4.9%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8229600" y="4773168"/>
            <a:ext cx="3749039" cy="292608"/>
          </a:xfrm>
          <a:prstGeom prst="rect">
            <a:avLst/>
          </a:prstGeom>
          <a:solidFill>
            <a:srgbClr val="FE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8321040" y="4791456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DC2626"/>
                </a:solidFill>
                <a:latin typeface="Segoe UI"/>
              </a:defRPr>
            </a:pPr>
            <a:r>
              <a:t>INACTIVE AGENCIES (3)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8321040" y="5120640"/>
            <a:ext cx="3474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Robertson Ryan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8321040" y="5303520"/>
            <a:ext cx="3474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Rsi Insurance Brokers (Gain)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8321040" y="5486400"/>
            <a:ext cx="3474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Service Insurance Agency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OKR Scoreboard — Westy McLaughlin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BDM OKRs  |  Q2 measure (paced where applicable)  |  Matches BD Rep Scoreboard numbers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0" y="960120"/>
            <a:ext cx="3200400" cy="1371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0" y="1033271"/>
            <a:ext cx="3200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D97706"/>
                </a:solidFill>
                <a:latin typeface="Segoe UI"/>
              </a:defRPr>
            </a:pPr>
            <a:r>
              <a:t>62.5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0" y="1591056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6B7280"/>
                </a:solidFill>
                <a:latin typeface="Segoe UI"/>
              </a:defRPr>
            </a:pPr>
            <a:r>
              <a:t>COMPOSITE SCORE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1865376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6B7280"/>
                </a:solidFill>
                <a:latin typeface="Segoe UI"/>
              </a:defRPr>
            </a:pPr>
            <a:r>
              <a:t>Green ≥ 70  |  Amber 45-69  |  Red &lt; 45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960120"/>
            <a:ext cx="8138160" cy="11887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" y="960120"/>
            <a:ext cx="91440" cy="118872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30759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Subs YoY 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167335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Goal ≥+100%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0" y="114300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D97706"/>
                </a:solidFill>
                <a:latin typeface="Segoe UI"/>
              </a:defRPr>
            </a:pPr>
            <a:r>
              <a:t>+87%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2240280"/>
            <a:ext cx="8138160" cy="11887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65760" y="2240280"/>
            <a:ext cx="91440" cy="118872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23317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258775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Activity Compliance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295351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Goal ≥ 100% (40/wk)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242316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D97706"/>
                </a:solidFill>
                <a:latin typeface="Segoe UI"/>
              </a:defRPr>
            </a:pPr>
            <a:r>
              <a:t>88%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3520440"/>
            <a:ext cx="8138160" cy="11887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65760" y="3520440"/>
            <a:ext cx="91440" cy="118872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361188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386791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Portfolio Active 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423367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12 of 16 agencies  |  Goal 100%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60" y="370332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D97706"/>
                </a:solidFill>
                <a:latin typeface="Segoe UI"/>
              </a:defRPr>
            </a:pPr>
            <a:r>
              <a:t>75%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65760" y="4800600"/>
            <a:ext cx="8138160" cy="11887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65760" y="4800600"/>
            <a:ext cx="91440" cy="118872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94360" y="48920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94360" y="514807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New Producing Agencies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94360" y="551383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Q2 Activated Won  |  Goal ≥ 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09360" y="498348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DC2626"/>
                </a:solidFill>
                <a:latin typeface="Segoe UI"/>
              </a:defRPr>
            </a:pPr>
            <a:r>
              <a:t>0 of 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65760" y="6492240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OKR 1: Q2 paced subs YoY — current Q2-YTD subs ÷ days-elapsed × 91 vs prior full Q2 (Apr–Jun 2025)  |  OKR 2: Q2 avg weekly calls + meetings vs 40/wk goal (outbound calls + meetings only, matches scoreboard)  |  OKR 3: % of HubSpot book with ≥1 submission in 2026  |  OKR 4: Q2 Activated-Won NNA deals with `Appointed - ` prefix, owned by this BDM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Segoe UI"/>
              </a:defRPr>
            </a:pPr>
            <a:r>
              <a:t>BD Activity  —  Westy McLaughlin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5720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Jan–May 2026  |  Calls + Meetings  |  Weekly goal: 40 activities  |  Colored arrow = month-over-month trend vs prior complete month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487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Calls</a:t>
            </a:r>
          </a:p>
        </p:txBody>
      </p:sp>
      <p:sp>
        <p:nvSpPr>
          <p:cNvPr id="6" name="Rectangle 5"/>
          <p:cNvSpPr/>
          <p:nvPr/>
        </p:nvSpPr>
        <p:spPr>
          <a:xfrm>
            <a:off x="254258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40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Meetings</a:t>
            </a:r>
          </a:p>
        </p:txBody>
      </p:sp>
      <p:sp>
        <p:nvSpPr>
          <p:cNvPr id="7" name="Rectangle 6"/>
          <p:cNvSpPr/>
          <p:nvPr/>
        </p:nvSpPr>
        <p:spPr>
          <a:xfrm>
            <a:off x="494800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527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Activity</a:t>
            </a:r>
          </a:p>
        </p:txBody>
      </p:sp>
      <p:sp>
        <p:nvSpPr>
          <p:cNvPr id="8" name="Rectangle 7"/>
          <p:cNvSpPr/>
          <p:nvPr/>
        </p:nvSpPr>
        <p:spPr>
          <a:xfrm>
            <a:off x="735342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25.9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/ Week</a:t>
            </a:r>
          </a:p>
        </p:txBody>
      </p:sp>
      <p:sp>
        <p:nvSpPr>
          <p:cNvPr id="9" name="Rectangle 8"/>
          <p:cNvSpPr/>
          <p:nvPr/>
        </p:nvSpPr>
        <p:spPr>
          <a:xfrm>
            <a:off x="9758842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65%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 (40/wk)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600200"/>
            <a:ext cx="58521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636776"/>
            <a:ext cx="5669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WEEKS 1–10  (Jan–Mar)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938528"/>
            <a:ext cx="1645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Week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9280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Calls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24328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Meetings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9300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Total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24528" y="1938528"/>
            <a:ext cx="777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% Goal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01768" y="1938528"/>
            <a:ext cx="10515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Status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112264"/>
            <a:ext cx="583387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6712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37160" y="216712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46888" y="218541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1/5–1/11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92808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24328" y="218541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93008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24528" y="218541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15%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01768" y="218541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37160" y="240944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37160" y="240944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46888" y="242773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1/12–1/18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92808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624328" y="242773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93008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224528" y="242773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42%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01768" y="242773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37160" y="265176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37160" y="265176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46888" y="267004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1/19–1/25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892808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624328" y="267004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493008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224528" y="267004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10%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001768" y="267004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37160" y="2894076"/>
            <a:ext cx="5852160" cy="242316"/>
          </a:xfrm>
          <a:prstGeom prst="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37160" y="2894076"/>
            <a:ext cx="50292" cy="24231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46888" y="291236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1/26–2/1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892808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624328" y="291236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493008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224528" y="291236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82%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001768" y="291236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~ Near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37160" y="3136392"/>
            <a:ext cx="5852160" cy="242316"/>
          </a:xfrm>
          <a:prstGeom prst="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137160" y="3136392"/>
            <a:ext cx="50292" cy="24231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46888" y="315468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2/2–2/8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892808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624328" y="315468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493008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224528" y="315468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75%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001768" y="315468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~ Near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37160" y="337870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137160" y="337870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46888" y="339699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2/9–2/15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892808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624328" y="339699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493008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224528" y="339699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48%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001768" y="339699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67" name="Rectangle 66"/>
          <p:cNvSpPr/>
          <p:nvPr/>
        </p:nvSpPr>
        <p:spPr>
          <a:xfrm>
            <a:off x="137160" y="362102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137160" y="362102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246888" y="363931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2/16–2/22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892808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624328" y="363931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493008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24528" y="363931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57%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001768" y="363931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75" name="Rectangle 74"/>
          <p:cNvSpPr/>
          <p:nvPr/>
        </p:nvSpPr>
        <p:spPr>
          <a:xfrm>
            <a:off x="137160" y="3863340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137160" y="3863340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246888" y="388162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2/23–3/1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892808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624328" y="388162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493008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224528" y="388162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118%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001768" y="388162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83" name="Rectangle 82"/>
          <p:cNvSpPr/>
          <p:nvPr/>
        </p:nvSpPr>
        <p:spPr>
          <a:xfrm>
            <a:off x="137160" y="4105656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137160" y="4105656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246888" y="412394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3/2–3/8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892808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2624328" y="412394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493008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224528" y="412394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45%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001768" y="412394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91" name="Rectangle 90"/>
          <p:cNvSpPr/>
          <p:nvPr/>
        </p:nvSpPr>
        <p:spPr>
          <a:xfrm>
            <a:off x="137160" y="434797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37160" y="434797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246888" y="436626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3/9–3/15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892808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2624328" y="436626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3493008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4224528" y="436626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57%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5001768" y="436626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99" name="Rectangle 98"/>
          <p:cNvSpPr/>
          <p:nvPr/>
        </p:nvSpPr>
        <p:spPr>
          <a:xfrm>
            <a:off x="6199632" y="1600200"/>
            <a:ext cx="58521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6309360" y="1636776"/>
            <a:ext cx="5669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WEEKS 11–20  (Mar–May)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6309360" y="1938528"/>
            <a:ext cx="1645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Week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7955280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Calls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8686800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Meetings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9555480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Total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0287000" y="1938528"/>
            <a:ext cx="777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% Goal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1064240" y="1938528"/>
            <a:ext cx="10515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Status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6245352" y="2112264"/>
            <a:ext cx="583387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6199632" y="216712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6199632" y="216712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6309360" y="218541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3/16–3/22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7955280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8686800" y="218541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9555480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10287000" y="218541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45%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1064240" y="218541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6199632" y="240944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6199632" y="240944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6309360" y="242773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3/23–3/29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7955280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8686800" y="242773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9555480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10287000" y="242773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55%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1064240" y="242773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6199632" y="265176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6199632" y="265176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267004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3/30–4/5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955280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686800" y="267004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555480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0287000" y="267004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50%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1064240" y="267004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6199632" y="2894076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6199632" y="2894076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6309360" y="291236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4/6–4/12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7955280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8686800" y="291236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9555480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287000" y="291236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115%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1064240" y="291236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6199632" y="313639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ectangle 140"/>
          <p:cNvSpPr/>
          <p:nvPr/>
        </p:nvSpPr>
        <p:spPr>
          <a:xfrm>
            <a:off x="6199632" y="313639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6309360" y="315468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4/13–4/19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955280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686800" y="315468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55480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0287000" y="315468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72%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1064240" y="315468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6199632" y="337870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Rectangle 148"/>
          <p:cNvSpPr/>
          <p:nvPr/>
        </p:nvSpPr>
        <p:spPr>
          <a:xfrm>
            <a:off x="6199632" y="337870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6309360" y="339699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4/20–4/26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7955280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8686800" y="339699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9555480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0287000" y="339699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70%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1064240" y="339699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6199632" y="3621024"/>
            <a:ext cx="5852160" cy="242316"/>
          </a:xfrm>
          <a:prstGeom prst="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Rectangle 156"/>
          <p:cNvSpPr/>
          <p:nvPr/>
        </p:nvSpPr>
        <p:spPr>
          <a:xfrm>
            <a:off x="6199632" y="3621024"/>
            <a:ext cx="50292" cy="24231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TextBox 157"/>
          <p:cNvSpPr txBox="1"/>
          <p:nvPr/>
        </p:nvSpPr>
        <p:spPr>
          <a:xfrm>
            <a:off x="6309360" y="363931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4/27–5/3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955280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686800" y="363931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555480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0287000" y="363931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98%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1064240" y="363931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~ Near</a:t>
            </a:r>
          </a:p>
        </p:txBody>
      </p:sp>
      <p:sp>
        <p:nvSpPr>
          <p:cNvPr id="164" name="Rectangle 163"/>
          <p:cNvSpPr/>
          <p:nvPr/>
        </p:nvSpPr>
        <p:spPr>
          <a:xfrm>
            <a:off x="6199632" y="386334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Rectangle 164"/>
          <p:cNvSpPr/>
          <p:nvPr/>
        </p:nvSpPr>
        <p:spPr>
          <a:xfrm>
            <a:off x="6199632" y="386334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309360" y="388162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5/4–5/10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7955280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8686800" y="388162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9555480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0287000" y="388162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62%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11064240" y="388162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72" name="Rectangle 171"/>
          <p:cNvSpPr/>
          <p:nvPr/>
        </p:nvSpPr>
        <p:spPr>
          <a:xfrm>
            <a:off x="6199632" y="4105656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Rectangle 172"/>
          <p:cNvSpPr/>
          <p:nvPr/>
        </p:nvSpPr>
        <p:spPr>
          <a:xfrm>
            <a:off x="6199632" y="4105656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TextBox 173"/>
          <p:cNvSpPr txBox="1"/>
          <p:nvPr/>
        </p:nvSpPr>
        <p:spPr>
          <a:xfrm>
            <a:off x="6309360" y="412394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5/11–5/17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7955280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8686800" y="412394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555480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287000" y="412394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112%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11064240" y="412394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80" name="Rectangle 179"/>
          <p:cNvSpPr/>
          <p:nvPr/>
        </p:nvSpPr>
        <p:spPr>
          <a:xfrm>
            <a:off x="6199632" y="4347972"/>
            <a:ext cx="5852160" cy="242316"/>
          </a:xfrm>
          <a:prstGeom prst="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Rectangle 180"/>
          <p:cNvSpPr/>
          <p:nvPr/>
        </p:nvSpPr>
        <p:spPr>
          <a:xfrm>
            <a:off x="6199632" y="4347972"/>
            <a:ext cx="50292" cy="24231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TextBox 181"/>
          <p:cNvSpPr txBox="1"/>
          <p:nvPr/>
        </p:nvSpPr>
        <p:spPr>
          <a:xfrm>
            <a:off x="6309360" y="436626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5/18–5/23*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7955280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8686800" y="436626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9555480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10287000" y="436626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88%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11064240" y="436626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~ Near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37160" y="6528816"/>
            <a:ext cx="117957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HubSpot CRM  |  Calls + meetings only (emails excluded)  |  * = current/partial week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Segoe UI"/>
              </a:defRPr>
            </a:pPr>
            <a:r>
              <a:t>Submission Growth  —  Westy McLaughlin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5720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Jan–May 2026 vs 2025  |  Green = growth  |  Red = decline  |  Hit ratio = binds / submissions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B7280"/>
                </a:solidFill>
                <a:latin typeface="Segoe UI"/>
              </a:defRPr>
            </a:pPr>
            <a:r>
              <a:t>466 →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Submissions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254258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23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Binds</a:t>
            </a:r>
          </a:p>
        </p:txBody>
      </p:sp>
      <p:sp>
        <p:nvSpPr>
          <p:cNvPr id="7" name="Rectangle 6"/>
          <p:cNvSpPr/>
          <p:nvPr/>
        </p:nvSpPr>
        <p:spPr>
          <a:xfrm>
            <a:off x="494800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4.9%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" name="Rectangle 7"/>
          <p:cNvSpPr/>
          <p:nvPr/>
        </p:nvSpPr>
        <p:spPr>
          <a:xfrm>
            <a:off x="735342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+8.9%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Subs YOY vs 2025</a:t>
            </a:r>
          </a:p>
        </p:txBody>
      </p:sp>
      <p:sp>
        <p:nvSpPr>
          <p:cNvPr id="9" name="Rectangle 8"/>
          <p:cNvSpPr/>
          <p:nvPr/>
        </p:nvSpPr>
        <p:spPr>
          <a:xfrm>
            <a:off x="9758842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-57.4%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 YOY vs 2025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600200"/>
            <a:ext cx="521208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636776"/>
            <a:ext cx="5029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MONTHLY BREAKDOWN  —  2026 vs 2025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938528"/>
            <a:ext cx="56692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3816" y="1938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2026 Subs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19656" y="1938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2026 Binds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34056" y="1938528"/>
            <a:ext cx="62179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55848" y="1938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2025 Subs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70248" y="1938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YoY %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112264"/>
            <a:ext cx="505663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57984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6888" y="2203704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3816" y="220370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19656" y="2203704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34056" y="2203704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10.1%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55848" y="2203704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70248" y="220370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+21%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6888" y="2519172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3816" y="251917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19656" y="251917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734056" y="2519172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5.3%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55848" y="251917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72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70248" y="251917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+4%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37160" y="2788920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46888" y="2834640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3816" y="283464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819656" y="2834640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734056" y="2834640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1.8%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55848" y="2834640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106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70248" y="283464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+6%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6888" y="3150108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13816" y="315010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819656" y="315010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734056" y="3150108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4.5%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355848" y="315010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90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270248" y="315010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+22%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37160" y="3419856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46888" y="3465576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3816" y="346557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819656" y="3465576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734056" y="3465576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5.0%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355848" y="3465576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103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270248" y="346557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-3%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82880" y="3717036"/>
            <a:ext cx="5120640" cy="9144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46888" y="3762756"/>
            <a:ext cx="5669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YTD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13816" y="3762756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466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819656" y="3762756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734056" y="3762756"/>
            <a:ext cx="6217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4.9%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355848" y="3762756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428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270248" y="3762756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+9%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623560" y="1600200"/>
            <a:ext cx="64008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733288" y="1636776"/>
            <a:ext cx="6217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TOP AGENCIES BY SUBMISSION VOLUME  —  YTD Ranked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733288" y="1938528"/>
            <a:ext cx="2834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567928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YTD Subs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436608" y="193852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25956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991088" y="1938528"/>
            <a:ext cx="685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YOY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669280" y="2112264"/>
            <a:ext cx="597103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5623560" y="2167128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733288" y="218541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Acrisure, Llc Dba Mf Block Insurance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567928" y="218541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193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436608" y="218541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259568" y="218541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5.2%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991088" y="218541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+117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733288" y="244144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Acrisure Llc, Dba South Atlantic Insur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567928" y="244144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157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436608" y="244144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0259568" y="244144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3.8%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0991088" y="244144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-31</a:t>
            </a:r>
          </a:p>
        </p:txBody>
      </p:sp>
      <p:sp>
        <p:nvSpPr>
          <p:cNvPr id="78" name="Rectangle 77"/>
          <p:cNvSpPr/>
          <p:nvPr/>
        </p:nvSpPr>
        <p:spPr>
          <a:xfrm>
            <a:off x="5623560" y="2679192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5733288" y="269748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Acrisure Llc Dba Clg Insurance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567928" y="269748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436608" y="269748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259568" y="269748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3.1%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0991088" y="269748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+24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733288" y="295351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Assuredpartners Of Nj Llc Dba Encompas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567928" y="295351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436608" y="295351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259568" y="295351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16.0%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0991088" y="295351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-49</a:t>
            </a:r>
          </a:p>
        </p:txBody>
      </p:sp>
      <p:sp>
        <p:nvSpPr>
          <p:cNvPr id="89" name="Rectangle 88"/>
          <p:cNvSpPr/>
          <p:nvPr/>
        </p:nvSpPr>
        <p:spPr>
          <a:xfrm>
            <a:off x="5623560" y="3191256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5733288" y="320954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Howden Us Specialty Llc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8567928" y="320954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9436608" y="320954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259568" y="320954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0991088" y="320954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+18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5733288" y="346557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Usi Insurance Services, Llc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8567928" y="346557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436608" y="346557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0259568" y="346557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0991088" y="346557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-22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5623560" y="3703320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5733288" y="372160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Acrisure Llc Dba A To Z Insurance Grou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567928" y="372160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436608" y="372160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0259568" y="372160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0991088" y="372160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+10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5733288" y="397764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Patriot Growth Insurance Services, Llc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567928" y="397764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9436608" y="397764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0259568" y="397764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991088" y="397764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+9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5623560" y="4215384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5733288" y="423367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Acrisure, LLC dba Forerunner Insurance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8567928" y="423367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9436608" y="423367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0259568" y="423367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0991088" y="423367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5733288" y="448970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Acrisure Llc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8567928" y="448970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9436608" y="448970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0259568" y="448970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0991088" y="448970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+2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5623560" y="4727448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5733288" y="474573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Acrisure LLC dba Rig Stop Insurance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8567928" y="474573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9436608" y="474573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10259568" y="474573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10991088" y="474573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-23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5733288" y="500176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Risk Strategies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567928" y="500176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436608" y="500176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259568" y="500176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100.0%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0991088" y="500176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-15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137160" y="6528816"/>
            <a:ext cx="117957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Metabase  |  Totals match Sales Scoreboard: Q1 → Q1 owner, Q2+ → current owner, 2025 baseline → current owner  |  Hit ratio = binds / submissions  |  Right-panel agency table shows current portfolio  |  Green ≥ 8%  Red &lt; 5%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Monthly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Westy McLaughlin  |  16 Total Agencies  |  Jan–May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10424160" cy="329184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14300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1143000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37560" y="1143000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New Biz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63440" y="1143000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97879" y="114300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Cancel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865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009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Quotes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153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29799" y="114300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1499616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20240" y="1499616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$607,374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37560" y="1499616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1499616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97879" y="149961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$-111,893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865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009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153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29799" y="1499616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15.2%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1773936"/>
            <a:ext cx="10424160" cy="329184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182880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920240" y="1828800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$615,294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337560" y="1828800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$107,786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63440" y="1828800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$21,646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897879" y="182880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$-31,099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865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84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009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9153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29799" y="182880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2157984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920240" y="2157984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$319,505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337560" y="2157984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$125,288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63440" y="2157984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$22,687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897879" y="215798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$-10,977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0865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121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0009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82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9153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829799" y="2157984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4.1%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65760" y="2432303"/>
            <a:ext cx="10424160" cy="329184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57200" y="248716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920240" y="2487168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$559,387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337560" y="2487168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$39,303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663440" y="2487168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$14,849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897879" y="248716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$-44,044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0865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115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0009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72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9153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829799" y="2487168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7.0%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57200" y="2816351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920240" y="2816351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$482,796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337560" y="2816351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$99,390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663440" y="2816351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897879" y="2816351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$-16,091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0865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103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0009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70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9153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829799" y="2816351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4.9%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65760" y="3090671"/>
            <a:ext cx="10424160" cy="36576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7200" y="3163823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YTD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920240" y="3163823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$2,584,355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37560" y="3163823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$371,767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663440" y="3163823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$59,183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897879" y="3163823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$-214,104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0865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502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0009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334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9153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829799" y="3163823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7.4%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65760" y="3611879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Green = up vs prior month  |  Red = down vs prior month or negative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DSG In My Portfolio — Westy McLaughlin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13232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Dirt, Sand &amp; Gravel program performance across this bdm's agencies  |  2026 YTD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30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DSG SUBMISSIONS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3756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BOUND ACCOUNTS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GROSS WRITTEN PREM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1540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 RATE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286000"/>
            <a:ext cx="113385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2322576"/>
            <a:ext cx="111556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DSG ACTIVITY BY AGENCY (top 8 by submissions)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670048"/>
            <a:ext cx="4206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Declined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2376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Bound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2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84080" y="2670048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2944368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2980944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Acrisure, LLC DBA MF Block Insurance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2376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0392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784080" y="2980944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3291839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Patriot Growth Insurance Services, LLC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6344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2376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784080" y="3291839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3566159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7200" y="3602735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Acrisure LLC, DBA South Atlantic Insurance Services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6344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4360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22376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0392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784080" y="3602735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3913631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USI Insurance Services, LLC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6344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94360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22376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50392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784080" y="3913631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7200" y="4187951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57200" y="4224527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AssuredPartners of NJ LLC dba Encompass Risk Solutions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6344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94360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22376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50392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784080" y="4224527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57200" y="594360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Segoe UI"/>
              </a:defRPr>
            </a:pPr>
            <a:r>
              <a:t>States with DSG bound business in this book: no bound activity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Fleet In My Portfolio — Westy McLaughlin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13232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Fleet business (4+ power units) across this bdm's agencies  |  2026 YTD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165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SUBMISSIONS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3756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$6,685,454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GWP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1540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UNITS / SUB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286000"/>
            <a:ext cx="694944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2322576"/>
            <a:ext cx="676655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FLEET BY AGENCY (top 8)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670048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49039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Bound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778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944368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2980944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Acrisure LLC DBA RRL Insurance Agency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49039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5778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27.1%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$6,685,454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3291839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Acrisure LLC, DBA South Atlantic Insurance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49039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634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5778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3566159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3602735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USI Insurance Services, LLC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49039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634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5778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922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3913631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Patriot Growth Insurance Services, LLC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749039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634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5778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922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57200" y="4187951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57200" y="4224527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AssuredPartners of NJ LLC dba Encompass Ri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749039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6634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5778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922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7200" y="4535423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Howden US Specialty LLC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749039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6634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5778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922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589520" y="2286000"/>
            <a:ext cx="420624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699248" y="2322576"/>
            <a:ext cx="402335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FLEET SIZE MIX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680960" y="267004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4-5 units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098280" y="267004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104120" y="267004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(28%)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680960" y="303580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6-10 units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098280" y="303580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104120" y="303580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(22%)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680960" y="340156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11-25 units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098280" y="340156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78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104120" y="340156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(47%)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680960" y="376732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26-50 units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098280" y="376732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104120" y="376732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(2%)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680960" y="4133087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51+ units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098280" y="413308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104120" y="4133087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(1%)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57200" y="612648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Segoe UI"/>
              </a:defRPr>
            </a:pPr>
            <a:r>
              <a:t>Bind rate on fleet: 21.8%  ·  Declined: 51  ·  Source: cw_rep.transportation_submissions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Agency Producers — Westy McLaughlin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Individual agents ranked by YTD submissions  |  Agent = broker_contact on submission  |  Trend = MoM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82880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466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YTD Subs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9464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YTD Binds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56048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4.9%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Portfolio Hit Ratio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42631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Active Agents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729215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38%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Top 5 Agent Share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536192"/>
            <a:ext cx="576072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572768"/>
            <a:ext cx="5577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TOP AGENTS BY SUBMISSIONS  —  Ranked 1–18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874519"/>
            <a:ext cx="1554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Agent Name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01368" y="1874519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3016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2452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1888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13248" y="1874519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048255"/>
            <a:ext cx="565099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03120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6888" y="21214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Dennis Dacosta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01368" y="21214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Acrisure Llc, Dba South Atlant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3016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2452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1888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7.4%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13248" y="21214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6888" y="236098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Virginija Akelaityte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801368" y="236098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Acrisure, Llc Dba Mf Block Ins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3016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2452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1888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13248" y="236098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37160" y="2582265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46888" y="260055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Aleksander Turko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801368" y="260055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Acrisure, Llc Dba Mf Block Ins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3016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22452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81888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6.9%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13248" y="260055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6888" y="284012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Claudyne Morgan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801368" y="284012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Acrisure Llc, Dba South Atlant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63016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22452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81888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4.0%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413248" y="284012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37160" y="3061411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46888" y="3079699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Lorenne Maloney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801368" y="3079699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Acrisure Llc, Dba South Atlant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63016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22452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81888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413248" y="3079699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46888" y="33192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Tatiana Castro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801368" y="33192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Acrisure Llc, Dba South Atlant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3016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22452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81888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413248" y="33192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37160" y="3540556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246888" y="355884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Tina Hines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801368" y="355884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Acrisure, Llc Dba Mf Block Ins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63016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22452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81888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4.5%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413248" y="355884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46888" y="379841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Philip W Love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801368" y="379841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Acrisure, Llc Dba Mf Block Ins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63016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22452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81888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413248" y="379841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71" name="Rectangle 70"/>
          <p:cNvSpPr/>
          <p:nvPr/>
        </p:nvSpPr>
        <p:spPr>
          <a:xfrm>
            <a:off x="137160" y="4019702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246888" y="403799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Andrew Corbin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801368" y="403799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Acrisure Llc, Dba South Atlant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63016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22452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81888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413248" y="403799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246888" y="427756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Norma Rodriguez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801368" y="427756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Assuredpartners Of Nj Llc Dba 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63016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22452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81888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6.7%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413248" y="427756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84" name="Rectangle 83"/>
          <p:cNvSpPr/>
          <p:nvPr/>
        </p:nvSpPr>
        <p:spPr>
          <a:xfrm>
            <a:off x="137160" y="4498848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246888" y="451713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Rod Alvarez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801368" y="451713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Acrisure, Llc Dba Mf Block Ins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63016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22452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81888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413248" y="451713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246888" y="47567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Jeffrey Jackson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801368" y="47567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Acrisure, Llc Dba Mf Block Ins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363016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422452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481888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5413248" y="47567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97" name="Rectangle 96"/>
          <p:cNvSpPr/>
          <p:nvPr/>
        </p:nvSpPr>
        <p:spPr>
          <a:xfrm>
            <a:off x="137160" y="4977993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246888" y="4996281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Courtney Kolenda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801368" y="4996281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Howden Us Specialty Llc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363016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422452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481888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413248" y="4996281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246888" y="523585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Phillip David Greer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801368" y="523585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Acrisure, Llc Dba Mf Block Ins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363016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422452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481888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413248" y="523585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137160" y="5457139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246888" y="547542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Christopher Earl Powers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1801368" y="547542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Acrisure, Llc Dba Mf Block Ins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363016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422452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481888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5413248" y="547542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246888" y="571500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Randy Adams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1801368" y="571500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Acrisure, Llc Dba Mf Block Ins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363016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422452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481888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5413248" y="571500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137160" y="5936284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246888" y="59545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Robert Guerra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1801368" y="59545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Acrisure, Llc Dba Mf Block Ins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363016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422452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481888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5413248" y="59545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246888" y="6194145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Kayla St Clair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801368" y="6194145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Acrisure Llc Dba Clg Insurance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363016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422452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481888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5413248" y="6194145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6245352" y="1536192"/>
            <a:ext cx="576072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6355080" y="1572768"/>
            <a:ext cx="5577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CONTINUED  —  Ranked 19–36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6355080" y="1874519"/>
            <a:ext cx="1554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Agent Name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7909560" y="1874519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973836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1033272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092708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1521440" y="1874519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MoM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6291072" y="2048255"/>
            <a:ext cx="565099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6245352" y="2103120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6355080" y="21214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Rick Tamez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7909560" y="21214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Acrisure Llc Dba A To Z Insura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973836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033272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092708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1521440" y="21214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6355080" y="236098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Yana Salerno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7909560" y="236098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Acrisure Llc Dba Clg Insurance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973836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033272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1092708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1521440" y="236098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6245352" y="2582265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6355080" y="260055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Kim Harris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7909560" y="260055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Patriot Growth Insurance Servi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73836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033272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92708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1521440" y="260055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355080" y="284012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Russell Stough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7909560" y="284012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Acrisure, Llc Dba Mf Block Ins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973836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033272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092708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1521440" y="284012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6245352" y="3061411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6355080" y="3079699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Zubin Nuggud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7909560" y="3079699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Acrisure, Llc Dba Mf Block Ins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973836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033272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92708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521440" y="3079699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6355080" y="33192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Thomas Quinn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7909560" y="33192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Assuredpartners Of Nj Llc Dba 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973836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1033272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092708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1521440" y="33192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6245352" y="3540556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6355080" y="355884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Rosalba Sessa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7909560" y="355884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Acrisure, Llc Dba Mf Block Ins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973836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033272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1092708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11521440" y="355884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6355080" y="379841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Morgan Woodcock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7909560" y="379841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Acrisure Llc Dba Clg Insurance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973836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1033272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092708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11521440" y="379841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97" name="Rectangle 196"/>
          <p:cNvSpPr/>
          <p:nvPr/>
        </p:nvSpPr>
        <p:spPr>
          <a:xfrm>
            <a:off x="6245352" y="4019702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TextBox 197"/>
          <p:cNvSpPr txBox="1"/>
          <p:nvPr/>
        </p:nvSpPr>
        <p:spPr>
          <a:xfrm>
            <a:off x="6355080" y="403799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Jordan Shapiro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7909560" y="403799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Acrisure, LLC dba Forerunner I</a:t>
            </a:r>
          </a:p>
        </p:txBody>
      </p:sp>
      <p:sp>
        <p:nvSpPr>
          <p:cNvPr id="200" name="TextBox 199"/>
          <p:cNvSpPr txBox="1"/>
          <p:nvPr/>
        </p:nvSpPr>
        <p:spPr>
          <a:xfrm>
            <a:off x="973836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201" name="TextBox 200"/>
          <p:cNvSpPr txBox="1"/>
          <p:nvPr/>
        </p:nvSpPr>
        <p:spPr>
          <a:xfrm>
            <a:off x="1033272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1092708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11521440" y="403799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04" name="TextBox 203"/>
          <p:cNvSpPr txBox="1"/>
          <p:nvPr/>
        </p:nvSpPr>
        <p:spPr>
          <a:xfrm>
            <a:off x="6355080" y="427756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Kelly Magruder</a:t>
            </a:r>
          </a:p>
        </p:txBody>
      </p:sp>
      <p:sp>
        <p:nvSpPr>
          <p:cNvPr id="205" name="TextBox 204"/>
          <p:cNvSpPr txBox="1"/>
          <p:nvPr/>
        </p:nvSpPr>
        <p:spPr>
          <a:xfrm>
            <a:off x="7909560" y="427756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Howden Us Specialty Llc</a:t>
            </a:r>
          </a:p>
        </p:txBody>
      </p:sp>
      <p:sp>
        <p:nvSpPr>
          <p:cNvPr id="206" name="TextBox 205"/>
          <p:cNvSpPr txBox="1"/>
          <p:nvPr/>
        </p:nvSpPr>
        <p:spPr>
          <a:xfrm>
            <a:off x="973836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207" name="TextBox 206"/>
          <p:cNvSpPr txBox="1"/>
          <p:nvPr/>
        </p:nvSpPr>
        <p:spPr>
          <a:xfrm>
            <a:off x="1033272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08" name="TextBox 207"/>
          <p:cNvSpPr txBox="1"/>
          <p:nvPr/>
        </p:nvSpPr>
        <p:spPr>
          <a:xfrm>
            <a:off x="1092708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09" name="TextBox 208"/>
          <p:cNvSpPr txBox="1"/>
          <p:nvPr/>
        </p:nvSpPr>
        <p:spPr>
          <a:xfrm>
            <a:off x="11521440" y="427756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210" name="Rectangle 209"/>
          <p:cNvSpPr/>
          <p:nvPr/>
        </p:nvSpPr>
        <p:spPr>
          <a:xfrm>
            <a:off x="6245352" y="4498848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TextBox 210"/>
          <p:cNvSpPr txBox="1"/>
          <p:nvPr/>
        </p:nvSpPr>
        <p:spPr>
          <a:xfrm>
            <a:off x="6355080" y="451713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Jeff Teufel</a:t>
            </a:r>
          </a:p>
        </p:txBody>
      </p:sp>
      <p:sp>
        <p:nvSpPr>
          <p:cNvPr id="212" name="TextBox 211"/>
          <p:cNvSpPr txBox="1"/>
          <p:nvPr/>
        </p:nvSpPr>
        <p:spPr>
          <a:xfrm>
            <a:off x="7909560" y="451713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Assuredpartners Of Nj Llc Dba </a:t>
            </a:r>
          </a:p>
        </p:txBody>
      </p:sp>
      <p:sp>
        <p:nvSpPr>
          <p:cNvPr id="213" name="TextBox 212"/>
          <p:cNvSpPr txBox="1"/>
          <p:nvPr/>
        </p:nvSpPr>
        <p:spPr>
          <a:xfrm>
            <a:off x="973836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214" name="TextBox 213"/>
          <p:cNvSpPr txBox="1"/>
          <p:nvPr/>
        </p:nvSpPr>
        <p:spPr>
          <a:xfrm>
            <a:off x="1033272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15" name="TextBox 214"/>
          <p:cNvSpPr txBox="1"/>
          <p:nvPr/>
        </p:nvSpPr>
        <p:spPr>
          <a:xfrm>
            <a:off x="1092708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216" name="TextBox 215"/>
          <p:cNvSpPr txBox="1"/>
          <p:nvPr/>
        </p:nvSpPr>
        <p:spPr>
          <a:xfrm>
            <a:off x="11521440" y="451713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217" name="TextBox 216"/>
          <p:cNvSpPr txBox="1"/>
          <p:nvPr/>
        </p:nvSpPr>
        <p:spPr>
          <a:xfrm>
            <a:off x="6355080" y="47567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Margaret Holt</a:t>
            </a:r>
          </a:p>
        </p:txBody>
      </p:sp>
      <p:sp>
        <p:nvSpPr>
          <p:cNvPr id="218" name="TextBox 217"/>
          <p:cNvSpPr txBox="1"/>
          <p:nvPr/>
        </p:nvSpPr>
        <p:spPr>
          <a:xfrm>
            <a:off x="7909560" y="47567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Acrisure, Llc Dba Mf Block Ins</a:t>
            </a:r>
          </a:p>
        </p:txBody>
      </p:sp>
      <p:sp>
        <p:nvSpPr>
          <p:cNvPr id="219" name="TextBox 218"/>
          <p:cNvSpPr txBox="1"/>
          <p:nvPr/>
        </p:nvSpPr>
        <p:spPr>
          <a:xfrm>
            <a:off x="973836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220" name="TextBox 219"/>
          <p:cNvSpPr txBox="1"/>
          <p:nvPr/>
        </p:nvSpPr>
        <p:spPr>
          <a:xfrm>
            <a:off x="1033272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21" name="TextBox 220"/>
          <p:cNvSpPr txBox="1"/>
          <p:nvPr/>
        </p:nvSpPr>
        <p:spPr>
          <a:xfrm>
            <a:off x="1092708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22" name="TextBox 221"/>
          <p:cNvSpPr txBox="1"/>
          <p:nvPr/>
        </p:nvSpPr>
        <p:spPr>
          <a:xfrm>
            <a:off x="11521440" y="47567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23" name="Rectangle 222"/>
          <p:cNvSpPr/>
          <p:nvPr/>
        </p:nvSpPr>
        <p:spPr>
          <a:xfrm>
            <a:off x="6245352" y="4977993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TextBox 223"/>
          <p:cNvSpPr txBox="1"/>
          <p:nvPr/>
        </p:nvSpPr>
        <p:spPr>
          <a:xfrm>
            <a:off x="6355080" y="4996281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Rick Matos</a:t>
            </a:r>
          </a:p>
        </p:txBody>
      </p:sp>
      <p:sp>
        <p:nvSpPr>
          <p:cNvPr id="225" name="TextBox 224"/>
          <p:cNvSpPr txBox="1"/>
          <p:nvPr/>
        </p:nvSpPr>
        <p:spPr>
          <a:xfrm>
            <a:off x="7909560" y="4996281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Acrisure, Llc Dba Mf Block Ins</a:t>
            </a:r>
          </a:p>
        </p:txBody>
      </p:sp>
      <p:sp>
        <p:nvSpPr>
          <p:cNvPr id="226" name="TextBox 225"/>
          <p:cNvSpPr txBox="1"/>
          <p:nvPr/>
        </p:nvSpPr>
        <p:spPr>
          <a:xfrm>
            <a:off x="973836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27" name="TextBox 226"/>
          <p:cNvSpPr txBox="1"/>
          <p:nvPr/>
        </p:nvSpPr>
        <p:spPr>
          <a:xfrm>
            <a:off x="1033272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28" name="TextBox 227"/>
          <p:cNvSpPr txBox="1"/>
          <p:nvPr/>
        </p:nvSpPr>
        <p:spPr>
          <a:xfrm>
            <a:off x="1092708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29" name="TextBox 228"/>
          <p:cNvSpPr txBox="1"/>
          <p:nvPr/>
        </p:nvSpPr>
        <p:spPr>
          <a:xfrm>
            <a:off x="11521440" y="4996281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230" name="TextBox 229"/>
          <p:cNvSpPr txBox="1"/>
          <p:nvPr/>
        </p:nvSpPr>
        <p:spPr>
          <a:xfrm>
            <a:off x="6355080" y="523585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Dane Baar</a:t>
            </a:r>
          </a:p>
        </p:txBody>
      </p:sp>
      <p:sp>
        <p:nvSpPr>
          <p:cNvPr id="231" name="TextBox 230"/>
          <p:cNvSpPr txBox="1"/>
          <p:nvPr/>
        </p:nvSpPr>
        <p:spPr>
          <a:xfrm>
            <a:off x="7909560" y="523585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Acrisure LLC dba Rig Stop Insu</a:t>
            </a:r>
          </a:p>
        </p:txBody>
      </p:sp>
      <p:sp>
        <p:nvSpPr>
          <p:cNvPr id="232" name="TextBox 231"/>
          <p:cNvSpPr txBox="1"/>
          <p:nvPr/>
        </p:nvSpPr>
        <p:spPr>
          <a:xfrm>
            <a:off x="973836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33" name="TextBox 232"/>
          <p:cNvSpPr txBox="1"/>
          <p:nvPr/>
        </p:nvSpPr>
        <p:spPr>
          <a:xfrm>
            <a:off x="1033272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34" name="TextBox 233"/>
          <p:cNvSpPr txBox="1"/>
          <p:nvPr/>
        </p:nvSpPr>
        <p:spPr>
          <a:xfrm>
            <a:off x="1092708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35" name="TextBox 234"/>
          <p:cNvSpPr txBox="1"/>
          <p:nvPr/>
        </p:nvSpPr>
        <p:spPr>
          <a:xfrm>
            <a:off x="11521440" y="523585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36" name="Rectangle 235"/>
          <p:cNvSpPr/>
          <p:nvPr/>
        </p:nvSpPr>
        <p:spPr>
          <a:xfrm>
            <a:off x="6245352" y="5457139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TextBox 236"/>
          <p:cNvSpPr txBox="1"/>
          <p:nvPr/>
        </p:nvSpPr>
        <p:spPr>
          <a:xfrm>
            <a:off x="6355080" y="547542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Donna Jones</a:t>
            </a:r>
          </a:p>
        </p:txBody>
      </p:sp>
      <p:sp>
        <p:nvSpPr>
          <p:cNvPr id="238" name="TextBox 237"/>
          <p:cNvSpPr txBox="1"/>
          <p:nvPr/>
        </p:nvSpPr>
        <p:spPr>
          <a:xfrm>
            <a:off x="7909560" y="547542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Usi Insurance Services, Llc</a:t>
            </a:r>
          </a:p>
        </p:txBody>
      </p:sp>
      <p:sp>
        <p:nvSpPr>
          <p:cNvPr id="239" name="TextBox 238"/>
          <p:cNvSpPr txBox="1"/>
          <p:nvPr/>
        </p:nvSpPr>
        <p:spPr>
          <a:xfrm>
            <a:off x="973836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40" name="TextBox 239"/>
          <p:cNvSpPr txBox="1"/>
          <p:nvPr/>
        </p:nvSpPr>
        <p:spPr>
          <a:xfrm>
            <a:off x="1033272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41" name="TextBox 240"/>
          <p:cNvSpPr txBox="1"/>
          <p:nvPr/>
        </p:nvSpPr>
        <p:spPr>
          <a:xfrm>
            <a:off x="1092708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242" name="TextBox 241"/>
          <p:cNvSpPr txBox="1"/>
          <p:nvPr/>
        </p:nvSpPr>
        <p:spPr>
          <a:xfrm>
            <a:off x="11521440" y="547542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243" name="TextBox 242"/>
          <p:cNvSpPr txBox="1"/>
          <p:nvPr/>
        </p:nvSpPr>
        <p:spPr>
          <a:xfrm>
            <a:off x="6355080" y="571500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Judy Fernandez</a:t>
            </a:r>
          </a:p>
        </p:txBody>
      </p:sp>
      <p:sp>
        <p:nvSpPr>
          <p:cNvPr id="244" name="TextBox 243"/>
          <p:cNvSpPr txBox="1"/>
          <p:nvPr/>
        </p:nvSpPr>
        <p:spPr>
          <a:xfrm>
            <a:off x="7909560" y="571500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Usi Insurance Services, Llc</a:t>
            </a:r>
          </a:p>
        </p:txBody>
      </p:sp>
      <p:sp>
        <p:nvSpPr>
          <p:cNvPr id="245" name="TextBox 244"/>
          <p:cNvSpPr txBox="1"/>
          <p:nvPr/>
        </p:nvSpPr>
        <p:spPr>
          <a:xfrm>
            <a:off x="973836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46" name="TextBox 245"/>
          <p:cNvSpPr txBox="1"/>
          <p:nvPr/>
        </p:nvSpPr>
        <p:spPr>
          <a:xfrm>
            <a:off x="1033272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47" name="TextBox 246"/>
          <p:cNvSpPr txBox="1"/>
          <p:nvPr/>
        </p:nvSpPr>
        <p:spPr>
          <a:xfrm>
            <a:off x="1092708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48" name="TextBox 247"/>
          <p:cNvSpPr txBox="1"/>
          <p:nvPr/>
        </p:nvSpPr>
        <p:spPr>
          <a:xfrm>
            <a:off x="11521440" y="571500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249" name="Rectangle 248"/>
          <p:cNvSpPr/>
          <p:nvPr/>
        </p:nvSpPr>
        <p:spPr>
          <a:xfrm>
            <a:off x="6245352" y="5936284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TextBox 249"/>
          <p:cNvSpPr txBox="1"/>
          <p:nvPr/>
        </p:nvSpPr>
        <p:spPr>
          <a:xfrm>
            <a:off x="6355080" y="59545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Josh Bailey</a:t>
            </a:r>
          </a:p>
        </p:txBody>
      </p:sp>
      <p:sp>
        <p:nvSpPr>
          <p:cNvPr id="251" name="TextBox 250"/>
          <p:cNvSpPr txBox="1"/>
          <p:nvPr/>
        </p:nvSpPr>
        <p:spPr>
          <a:xfrm>
            <a:off x="7909560" y="59545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Usi Insurance Services, Llc</a:t>
            </a:r>
          </a:p>
        </p:txBody>
      </p:sp>
      <p:sp>
        <p:nvSpPr>
          <p:cNvPr id="252" name="TextBox 251"/>
          <p:cNvSpPr txBox="1"/>
          <p:nvPr/>
        </p:nvSpPr>
        <p:spPr>
          <a:xfrm>
            <a:off x="973836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53" name="TextBox 252"/>
          <p:cNvSpPr txBox="1"/>
          <p:nvPr/>
        </p:nvSpPr>
        <p:spPr>
          <a:xfrm>
            <a:off x="1033272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54" name="TextBox 253"/>
          <p:cNvSpPr txBox="1"/>
          <p:nvPr/>
        </p:nvSpPr>
        <p:spPr>
          <a:xfrm>
            <a:off x="1092708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55" name="TextBox 254"/>
          <p:cNvSpPr txBox="1"/>
          <p:nvPr/>
        </p:nvSpPr>
        <p:spPr>
          <a:xfrm>
            <a:off x="11521440" y="59545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256" name="TextBox 255"/>
          <p:cNvSpPr txBox="1"/>
          <p:nvPr/>
        </p:nvSpPr>
        <p:spPr>
          <a:xfrm>
            <a:off x="6355080" y="6194145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Dominick Vetica</a:t>
            </a:r>
          </a:p>
        </p:txBody>
      </p:sp>
      <p:sp>
        <p:nvSpPr>
          <p:cNvPr id="257" name="TextBox 256"/>
          <p:cNvSpPr txBox="1"/>
          <p:nvPr/>
        </p:nvSpPr>
        <p:spPr>
          <a:xfrm>
            <a:off x="7909560" y="6194145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Usi Insurance Services, Llc</a:t>
            </a:r>
          </a:p>
        </p:txBody>
      </p:sp>
      <p:sp>
        <p:nvSpPr>
          <p:cNvPr id="258" name="TextBox 257"/>
          <p:cNvSpPr txBox="1"/>
          <p:nvPr/>
        </p:nvSpPr>
        <p:spPr>
          <a:xfrm>
            <a:off x="973836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59" name="TextBox 258"/>
          <p:cNvSpPr txBox="1"/>
          <p:nvPr/>
        </p:nvSpPr>
        <p:spPr>
          <a:xfrm>
            <a:off x="1033272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60" name="TextBox 259"/>
          <p:cNvSpPr txBox="1"/>
          <p:nvPr/>
        </p:nvSpPr>
        <p:spPr>
          <a:xfrm>
            <a:off x="1092708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61" name="TextBox 260"/>
          <p:cNvSpPr txBox="1"/>
          <p:nvPr/>
        </p:nvSpPr>
        <p:spPr>
          <a:xfrm>
            <a:off x="11521440" y="6194145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262" name="TextBox 261"/>
          <p:cNvSpPr txBox="1"/>
          <p:nvPr/>
        </p:nvSpPr>
        <p:spPr>
          <a:xfrm>
            <a:off x="274320" y="6510528"/>
            <a:ext cx="11704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Metabase  |  Agent = broker_contact_user_id on submission record  |  Hit ratio = binds / subs  |  MoM = month-over-month  |  1 subs had no agent mapped (broker_contact_user_id not set)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Top Performers vs Underperformers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Standouts and agencies needing attention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5486400" cy="329184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960120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65F46"/>
                </a:solidFill>
                <a:latin typeface="Segoe UI"/>
              </a:defRPr>
            </a:pPr>
            <a:r>
              <a:t>EXCEEDING — Top 5</a:t>
            </a:r>
          </a:p>
        </p:txBody>
      </p:sp>
      <p:sp>
        <p:nvSpPr>
          <p:cNvPr id="7" name="Rectangle 6"/>
          <p:cNvSpPr/>
          <p:nvPr/>
        </p:nvSpPr>
        <p:spPr>
          <a:xfrm>
            <a:off x="6336792" y="914400"/>
            <a:ext cx="5486400" cy="329184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73952" y="960120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991B1B"/>
                </a:solidFill>
                <a:latin typeface="Segoe UI"/>
              </a:defRPr>
            </a:pPr>
            <a:r>
              <a:t>NEEDS ATTENTION — Bottom 5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37160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135331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Howden Us Specialty Llc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155448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$0  |  Subs 18  |  Binds 0  |  HR 0.0%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179222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Submission volume up 1600% MoM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237744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235915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Acrisure, Llc Dba Mf Block Insurance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256032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$119,846  |  Subs 193  |  Binds 10  |  HR 5.2%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279806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5.2% (portfolio avg: 4.9%)  |  $119,846 YTD GWP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338328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336499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Usi Insurance Services, Llc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356616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$22,687  |  Subs 13  |  Binds 1  |  HR 7.7%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380390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7.7% (portfolio avg: 4.9%)  |  Submission volume up 300% MoM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1480" y="438912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437083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Assuredpartners Of Nj Llc Dba Encompass Ri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457200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$94,065  |  Subs 25  |  Binds 4  |  HR 16.0%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" y="480974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16.0% (portfolio avg: 4.9%)  |  4 binds in Q1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1480" y="539496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" y="537667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Acrisure Llc, Dba South Atlantic Insurance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8680" y="557784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$30,145  |  Subs 157  |  Binds 6  |  HR 3.8%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8680" y="581558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6 binds in Q1  |  157 submissions - highly active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82512" y="137160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39712" y="135331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Howden Us Specialty Llc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39712" y="155448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$0  |  Subs 18  |  Binds 0  |  HR 0.0%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39712" y="179222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18 submissions with 0 binds - zero conversion  |  15 quotes generated but 0 converted to binds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382512" y="237744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39712" y="235915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RRL Insurance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39712" y="256032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$0  |  Subs 0  |  Binds 0  |  HR -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39712" y="279806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Cancellations are 279% of new business ($113,460 vs $40,679)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382512" y="338328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839712" y="336499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Acrisure Llc Dba A To Z Insurance Group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839712" y="356616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$0  |  Subs 10  |  Binds 0  |  HR 0.0%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839712" y="380390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10 submissions with 0 binds - zero conversion  |  7 quotes generated but 0 converted to binds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382512" y="438912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839712" y="437083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Patriot Growth Insurance Services, Llc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39712" y="457200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$0  |  Subs 9  |  Binds 0  |  HR 0.0%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839712" y="480974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9 submissions with 0 binds - zero conversion  |  6 quotes generated but 0 converted to binds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382512" y="539496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839712" y="537667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Acrisure Llc Dba Clg Insurance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839712" y="557784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$106,410  |  Subs 32  |  Binds 1  |  HR 3.1%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839712" y="581558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Submissions dropped 62% MoM (8 -&gt; 3)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Agencies I Appointed — Westy McLaughlin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OKR 4 progress  |  Q2 goal: 4 new producing agencies  |  Source: HubSpot Net New Agency / Activated Won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DC2626"/>
                </a:solidFill>
                <a:latin typeface="Segoe UI"/>
              </a:defRPr>
            </a:pPr>
            <a:r>
              <a:t>0 of 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Q2 OKR 4 PROGRESS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APPOINTED YTD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—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TIME TO 1ST SUB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—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TIME TO 1ST BIND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SUBS POST-APPT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920240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11827"/>
                </a:solidFill>
                <a:latin typeface="Segoe UI"/>
              </a:defRPr>
            </a:pPr>
            <a:r>
              <a:t>Activation: 0/0 appointed agencies have submitted (0%)  •  0/0 have bound (0%)  •  Total bound: 0  •  Total GWP: $0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2240280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227685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APPOINTED AGENCIES (newest first)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2606040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0" y="2606040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Appointed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80" y="260604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23560" y="260604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 to 1st Sub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03720" y="260604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0" y="260604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 to 1st Bind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0" y="260604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3657600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6B7280"/>
                </a:solidFill>
                <a:latin typeface="Segoe UI"/>
              </a:defRPr>
            </a:pPr>
            <a:r>
              <a:t>No Activated Won appointments in this book year-to-date.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6492240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OKR 4 source: HubSpot Net New Agency Prospect Pipeline · Activated Won stage · only 'Appointed - ' prefix deals count (matches BD Rep Scoreboard). BDMs scored on count vs goal of 4/quarter.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Strategic Assessment &amp; Priorities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Westy McLaughlin Portfolio  |  Jan–May 2026  |  Strengths, gaps, and ranked action items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5486400" cy="365760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9601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37160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7160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Top 3 (Acrisure, Llc Dba Mf Bloc, Acrisure Llc Dba Clg Insu, Assuredpartners Of Nj Llc) drive $320,321 (86%) of portfolio YTD GWP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682496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682496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Strong hit ratios: Risk Strategies (100.0%), Assuredpartners Of N (16.0%), Usi Insurance Servic (7.7%)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993392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1993392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 agencies converting submissions to bound business in Jan–May 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304288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2304288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466 total submissions across 12 active agencies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914400"/>
            <a:ext cx="5486400" cy="365760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55080" y="9601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991B1B"/>
                </a:solidFill>
                <a:latin typeface="Segoe UI"/>
              </a:defRPr>
            </a:pPr>
            <a:r>
              <a:t>NEEDS ATTENTION - Areas for Improvement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59" y="137160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137160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 agencies with zero Jan–May 2026 activity: Robertson Ryan, Rsi Insurance Broker, Service Insurance Ag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59" y="1682496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1682496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 agencies submitting but 0 binds (37 subs): Howden Us Specialty  (18), Acrisure Llc Dba A T (10)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59" y="1993392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1993392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Overall portfolio hit ratio 4.9% — below 5-8% target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59" y="2304288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2304288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Concentration risk: top 3 agencies = 86% of YTD GWP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2926080"/>
            <a:ext cx="1143000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8640" y="2971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Segoe UI"/>
              </a:defRPr>
            </a:pPr>
            <a:r>
              <a:t>TOP STRATEGIC PRIORITIES — Ranked by Estimated Impact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74320" y="342900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341071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Reactivate Dormant Agencies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" y="363931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3 agencies (19%) have zero Q1 activity: Robertson Ryan, Rsi Insurance Broker, Service Insurance Ag. Schedule outreach.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74320" y="406908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7240" y="405079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Reduce Cancellation Rates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7240" y="42793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2 agencies with cancellations &gt;40% of new biz: RRL Insurance, Assuredpartners Of Nj Llc. $141,170 total cancellations - investigate retention.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74320" y="470916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7240" y="469087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Close Quote-to-Bind Gap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7240" y="491947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3 agencies have 28 quotes but 0 binds: Howden Us Specialty Llc (15q), Acrisure Llc Dba A To Z I (7q), Patriot Growth Insurance  (6q). Follow up on pricing, coverage, response time gaps.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74320" y="534924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7240" y="533095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Develop High-Volume Growth Candidates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77240" y="555955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2 agencies with 30+ subs and some binds but &lt;5% HR: Acrisure Llc, Dba So (157s/6b), Acrisure Llc Dba Clg (32s/1b). Small HR improvements on large volume = significant premium lift.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74320" y="598932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77240" y="597103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Diversify Revenue Base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77240" y="619963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Top 3 agencies drive 86% of premium. Develop mid-tier: Acrisure Llc, Dba South A, Usi Insurance Services, L. Target 25-50% growth each.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Recently Bound Submissions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Westy McLaughlin  |  Last 23 Bound Submissions  |  23 Total Bound in Portfolio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3657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#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005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1005840"/>
            <a:ext cx="2971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00600" y="1005840"/>
            <a:ext cx="28346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 (Account)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1005840"/>
            <a:ext cx="23774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12680" y="1005840"/>
            <a:ext cx="1325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Premium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59" y="1005840"/>
            <a:ext cx="1325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Date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1207008"/>
            <a:ext cx="111556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128016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128016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259765219364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128016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Acrisure, Llc Dba Mf Block Insuran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0600" y="128016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QUALITY LOGISTICS VA LLC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35240" y="128016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Aleksander Turko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12680" y="128016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$184,322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338559" y="128016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21, 2026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146304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148132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148132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265111802195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0" y="148132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Acrisure, Llc Dba Mf Block Insuran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00600" y="148132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Perez Martinez Transport LLC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35240" y="148132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Virginija Akelaityte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12680" y="148132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338559" y="148132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19, 2026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168249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168249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259612868766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28800" y="168249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Acrisure, Llc Dba Mf Block Insuran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00600" y="168249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SIKORA TRANSPORT INC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635240" y="168249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Philip W Love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012680" y="168249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$174,221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338559" y="168249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18, 2026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200" y="186537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48640" y="188366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4400" y="188366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261014968292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828800" y="188366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Acrisure, Llc Dba Mf Block Insuran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800600" y="188366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KLM GROUP LLC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635240" y="188366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Virginija Akelaityte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012680" y="188366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$97,640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338559" y="188366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14, 2026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48640" y="208483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14400" y="208483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251972182612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828800" y="208483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Acrisure Llc, Dba South Atlantic I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800600" y="208483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TONBE TRUCKER TRANSPORTATION LLC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635240" y="208483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Dennis Dacosta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012680" y="208483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$26,062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338559" y="208483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12, 2026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57200" y="2267712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48640" y="228600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14400" y="228600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259886674546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828800" y="228600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Acrisure, Llc Dba Mf Block Insuran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800600" y="228600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K &amp; H TRANS INC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635240" y="228600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Tina Hines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012680" y="228600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$24,905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1338559" y="228600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23, 2026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48640" y="248716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14400" y="248716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259696380485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828800" y="248716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Acrisure Llc, Dba South Atlantic I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800600" y="248716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SAFARI VENTURES LLC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635240" y="248716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Dennis Dacosta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012680" y="248716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$30,317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1338559" y="248716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17, 2026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57200" y="2670048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548640" y="268833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14400" y="268833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258148016082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828800" y="268833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Assuredpartners Of Nj Llc Dba Enco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800600" y="268833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JP &amp; SONS TRUCKING INC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635240" y="268833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Jeff Teufel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012680" y="268833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$20,721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1338559" y="268833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14, 2026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48640" y="288950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14400" y="288950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267790955195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828800" y="288950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Acrisure, Llc Dba Mf Block Insuran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800600" y="288950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M3 HAULAGE EXPRESS COMPANY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635240" y="288950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Zubin Nuggud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0012680" y="288950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$22,612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1338559" y="288950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10, 2026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57200" y="3072384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548640" y="309067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14400" y="309067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258693546423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828800" y="309067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Acrisure, Llc Dba Mf Block Insuran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800600" y="309067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UGET LLC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635240" y="309067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Philip W Love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0012680" y="309067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$46,859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1338559" y="309067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09, 2026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48640" y="329184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914400" y="329184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261912201128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828800" y="329184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Assuredpartners Of Nj Llc Dba Enco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800600" y="329184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Y &amp; Z EXPRESS SHIPPING CORP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635240" y="329184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Norma Rodriguez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012680" y="329184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$45,019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1338559" y="329184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Mar 04, 2026</a:t>
            </a:r>
          </a:p>
        </p:txBody>
      </p:sp>
      <p:sp>
        <p:nvSpPr>
          <p:cNvPr id="95" name="Rectangle 94"/>
          <p:cNvSpPr/>
          <p:nvPr/>
        </p:nvSpPr>
        <p:spPr>
          <a:xfrm>
            <a:off x="457200" y="347472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548640" y="349300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14400" y="349300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259502427166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828800" y="349300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Acrisure, Llc Dba Mf Block Insuran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4800600" y="349300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RED TRANSPORTATION INC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7635240" y="349300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Virginija Akelaityte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10012680" y="349300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$15,154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1338559" y="349300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Mar 03, 2026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48640" y="369417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914400" y="369417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255439882052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828800" y="369417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Acrisure Llc, Dba South Atlantic I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4800600" y="369417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MULTI WORKS LLC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7635240" y="369417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Dennis Dacosta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0012680" y="369417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$26,590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1338559" y="369417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Feb 13, 2026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457200" y="387705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548640" y="389534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14400" y="389534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268257461961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828800" y="389534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Acrisure Llc Dba Clg Insurance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4800600" y="389534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GARDEN GROUP NJ INC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7635240" y="389534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Morgan Woodcock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0012680" y="389534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$106,410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1338559" y="389534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Feb 10, 2026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548640" y="409651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914400" y="409651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250104355721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828800" y="409651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Assuredpartners Of Nj Llc Dba Enco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4800600" y="409651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JP &amp; SONS TRUCKING INC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7635240" y="409651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Thomas Quinn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0012680" y="409651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$58,549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1338559" y="409651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Feb 05, 2026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457200" y="4279392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548640" y="429768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914400" y="429768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255551735335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1828800" y="429768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Acrisure Llc, Dba South Atlantic I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4800600" y="429768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MUHIDIN TRANSPORT LLC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29768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Dennis Dacosta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012680" y="429768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$22,949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1338559" y="429768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Feb 05, 2026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548640" y="449884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914400" y="449884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256718774225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1828800" y="449884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Usi Insurance Services, Llc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4800600" y="449884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BASE CARRIERS TRANSPORT LLC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7635240" y="449884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Donna Jones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012680" y="449884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$18,771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1338559" y="449884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Jan 28, 2026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457200" y="4681728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548640" y="470001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914400" y="470001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260945865018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828800" y="470001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Acrisure, Llc Dba Mf Block Insuran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4800600" y="470001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BARKAN BOYS SOLUTIONS LLC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7635240" y="470001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Virginija Akelaityte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0012680" y="470001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$1,500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1338559" y="470001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Jan 23, 2026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548640" y="490118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914400" y="490118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255671711389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828800" y="490118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Acrisure Llc, Dba South Atlantic I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800600" y="490118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TAMARIS DIAMOND CONSULTANTS LLC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7635240" y="490118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Dennis Dacosta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0012680" y="490118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$18,813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1338559" y="490118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Jan 22, 2026</a:t>
            </a:r>
          </a:p>
        </p:txBody>
      </p:sp>
      <p:sp>
        <p:nvSpPr>
          <p:cNvPr id="155" name="Rectangle 154"/>
          <p:cNvSpPr/>
          <p:nvPr/>
        </p:nvSpPr>
        <p:spPr>
          <a:xfrm>
            <a:off x="457200" y="5084064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548640" y="510235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914400" y="510235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247691496666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828800" y="510235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Assuredpartners Of Nj Llc Dba Enco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4800600" y="510235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CASTLE &amp; BROTHERS LOGISTICS LIMI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7635240" y="510235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Michelle Guinta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10012680" y="510235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$53,038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1338559" y="510235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Jan 15, 2026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548640" y="530352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914400" y="530352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256417764971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828800" y="530352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Acrisure, Llc Dba Mf Block Insuran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4800600" y="530352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PRINCE CARRIERS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7635240" y="530352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Aleksander Turko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0012680" y="530352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$28,794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1338559" y="530352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Jan 09, 2026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457200" y="548640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548640" y="550468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914400" y="550468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250407727021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1828800" y="550468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Risk Strategies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4800600" y="550468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ALL ENERGY TRANSPORTATION LLC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7635240" y="550468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Brian Van Amburgh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012680" y="550468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$22,213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338559" y="550468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Jan 06, 2026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548640" y="570585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914400" y="570585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265119919390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1828800" y="570585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Acrisure Llc, Dba South Atlantic I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800600" y="570585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TAYLOR HAULING LLC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7635240" y="570585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Claudyne Morgan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0012680" y="570585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$14,624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11338559" y="570585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Jan 03, 2026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548640" y="5943600"/>
            <a:ext cx="11155680" cy="10972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548640" y="5998464"/>
            <a:ext cx="7863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Total (Last 23 Submissions)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8412480" y="5998464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$1,060,634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Renewal Watch — Next 90 Days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Westy McLaughlin  |  Active in-force policies expiring through Aug 21, 2026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POLICIES UP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$338,997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PREMIUM AT RISK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F59E0B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EXPIRE ≤30 DAYS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31-60 DAYS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61-90 DAYS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993392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" y="2029968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POLICIES EXPIRING (sorted by date — earliest first)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359152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0" y="2359152"/>
            <a:ext cx="1188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31920" y="2359152"/>
            <a:ext cx="3017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9440" y="235915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Exp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55279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58200" y="2359152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Coverage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555480" y="2359152"/>
            <a:ext cx="1325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81359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State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2633472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2670048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Acrisure Llc, Dba South Atlant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43200" y="2670048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259696380485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31920" y="2670048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SAFARI VENTURES LLC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9440" y="2670048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55279" y="2670048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12d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58200" y="267004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555480" y="2670048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$2,628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881359" y="2670048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AZ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" y="2980944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Assuredpartners Of Nj Llc Dba 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43200" y="2980944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252552496459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931920" y="2980944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NIGHT RYDER TRANSPORT LLC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49440" y="2980944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955279" y="2980944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14d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58200" y="2980944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555480" y="2980944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$12,450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881359" y="2980944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65760" y="3255263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65760" y="329183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Acrisure Llc, Dba South Atlant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743200" y="329183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251972182612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931920" y="329183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TONBE TRUCKER TRANSPORTATION LLC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949440" y="329183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2026-06-23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955279" y="329183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59E0B"/>
                </a:solidFill>
                <a:latin typeface="Segoe UI"/>
              </a:defRPr>
            </a:pPr>
            <a:r>
              <a:t>31d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458200" y="329183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555480" y="329183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$19,060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881359" y="329183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FL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65760" y="3602735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Acrisure, Llc Dba Mf Block Ins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743200" y="3602735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259612868766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931920" y="3602735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SIKORA TRANSPORT INC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949440" y="3602735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2026-06-24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955279" y="360273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59E0B"/>
                </a:solidFill>
                <a:latin typeface="Segoe UI"/>
              </a:defRPr>
            </a:pPr>
            <a:r>
              <a:t>32d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458200" y="3602735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555480" y="3602735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$134,482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881359" y="360273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IL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77055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913631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RRL Insurance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743200" y="3913631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255394033204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931920" y="3913631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H&amp;H TRUCKING LLC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949440" y="3913631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2026-07-14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955279" y="391363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59E0B"/>
                </a:solidFill>
                <a:latin typeface="Segoe UI"/>
              </a:defRPr>
            </a:pPr>
            <a:r>
              <a:t>52d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458200" y="3913631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555480" y="3913631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$136,634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881359" y="391363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TX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65760" y="4224527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RRL Insurance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743200" y="4224527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256553296530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931920" y="4224527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INSPIRA LOGISTICS LLC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949440" y="4224527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2026-08-02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955279" y="422452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111827"/>
                </a:solidFill>
                <a:latin typeface="Segoe UI"/>
              </a:defRPr>
            </a:pPr>
            <a:r>
              <a:t>71d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458200" y="4224527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555480" y="4224527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$16,141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881359" y="422452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VA</a:t>
            </a:r>
          </a:p>
        </p:txBody>
      </p:sp>
      <p:sp>
        <p:nvSpPr>
          <p:cNvPr id="71" name="Rectangle 70"/>
          <p:cNvSpPr/>
          <p:nvPr/>
        </p:nvSpPr>
        <p:spPr>
          <a:xfrm>
            <a:off x="365760" y="4498847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365760" y="4535423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RRL Insurance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743200" y="4535423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255878451432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931920" y="4535423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ARAL TRANS INC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949440" y="4535423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2026-08-07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955279" y="453542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111827"/>
                </a:solidFill>
                <a:latin typeface="Segoe UI"/>
              </a:defRPr>
            </a:pPr>
            <a:r>
              <a:t>76d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458200" y="4535423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9555480" y="4535423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$2,071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881359" y="453542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OH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65760" y="484631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Usi Insurance Services, Llc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743200" y="484631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256196603216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931920" y="484631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NWI TRANSPORT INC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949440" y="484631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2026-08-10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7955279" y="484631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111827"/>
                </a:solidFill>
                <a:latin typeface="Segoe UI"/>
              </a:defRPr>
            </a:pPr>
            <a:r>
              <a:t>79d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458200" y="484631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TGL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555480" y="484631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$650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881359" y="484631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IN</a:t>
            </a:r>
          </a:p>
        </p:txBody>
      </p:sp>
      <p:sp>
        <p:nvSpPr>
          <p:cNvPr id="88" name="Rectangle 87"/>
          <p:cNvSpPr/>
          <p:nvPr/>
        </p:nvSpPr>
        <p:spPr>
          <a:xfrm>
            <a:off x="365760" y="5120639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365760" y="5157215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Acrisure Llc, Dba South Atlant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2743200" y="5157215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255614246497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3931920" y="5157215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WINDSON RENTAL LLC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949440" y="5157215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2026-08-14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955279" y="515721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111827"/>
                </a:solidFill>
                <a:latin typeface="Segoe UI"/>
              </a:defRPr>
            </a:pPr>
            <a:r>
              <a:t>83d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458200" y="5157215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555480" y="5157215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$12,919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881359" y="515721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IN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365760" y="5468111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Acrisure Llc, Dba South Atlant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743200" y="5468111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255773613569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931920" y="5468111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BEAST MODE BOX TRUCK TRANSPORTATION LLC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6949440" y="5468111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2026-08-21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7955279" y="546811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111827"/>
                </a:solidFill>
                <a:latin typeface="Segoe UI"/>
              </a:defRPr>
            </a:pPr>
            <a:r>
              <a:t>90d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458200" y="5468111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555480" y="5468111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$1,962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0881359" y="546811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GA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365760" y="6492240"/>
            <a:ext cx="11430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Showing 10 of 10 upcoming renewals  |  Source: dw_reader.policy_premium  |  Active in-force only  |  Sorted by expiration date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Pending Cancellations — Save List — Next 90 Days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Westy McLaughlin  |  Policies with cancellation_date on or before Aug 21, 2026  |  Sorted by urgency — call these agencies first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POLICIES PENDING CANCEL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PREMIUM AT RISK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05966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≤30 DAYS (URGENT)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≤30 DAY PREMIUM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6D28D9"/>
                </a:solidFill>
                <a:latin typeface="Segoe UI"/>
              </a:defRPr>
            </a:pPr>
            <a:r>
              <a:t>—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TOP REASON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993392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" y="2029968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PENDING CANCELS (sorted by cancel date — earliest first)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35915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Cancel Date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83080" y="235915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88920" y="2359152"/>
            <a:ext cx="2606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94960" y="2359152"/>
            <a:ext cx="2057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52360" y="2359152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LOB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09560" y="2359152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State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66760" y="2359152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18320" y="2359152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Reason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3657600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59669"/>
                </a:solidFill>
                <a:latin typeface="Segoe UI"/>
              </a:defRPr>
            </a:pPr>
            <a:r>
              <a:t>No pending cancellations in the next 90 days for this book. 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6492240"/>
            <a:ext cx="11430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Showing 0 of 0 pending cancels  |  Source: dw_reader.policy_premium  |  Non-payment = green (most savable), Insured-requested = red, Days ≤14 = red  |  Action: contact agency, confirm reinstatement plan, escalate non-payment cases for billing fix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Acrisure, Llc Dba Mf Block Insurance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AR  |  City: Paragould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$119,846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$175,209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$-55,363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$-37,385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$119,846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193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$456,184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$140,374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$75,819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$75,819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$-7,229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$-7,229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$-24,412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$51,256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$99,390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$-48,135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$-12,973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$119,846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$175,209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$-55,363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$-37,385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13.2%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4.9%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8.2%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5.2%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218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$76K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$-7,229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$51K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$120K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$119,846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$175,209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$175,209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Acrisure Llc Dba Clg Insurance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NY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$106,410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$106,410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$47,735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$106,410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186%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$106,410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$106,410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$106,410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$106,410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$106,410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$47K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$106K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$367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$48K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$106K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$106,410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$106,410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8 to 3 MoM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$106,410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Assuredpartners Of Nj Llc Dba Encompass Risk Solutions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NJ  |  City: Cranford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$94,065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$49,469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$21,646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$22,950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$-27,710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$290,400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$153,973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16.0%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$177,327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$-1,632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$-1,632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$21,680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$21,646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$55,320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$49,469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$5,851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$-5,851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$18,696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$18,696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$-18,740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$-3,118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$94,065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$49,469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$21,646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$22,950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$-27,710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$-1,632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$69K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$55K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$132K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$230K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$94,065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$49,469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56% of new business ($27,710)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$49,469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$27,710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Acrisure Llc, Dba South Atlantic Insurance Services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Southeast  |  State: FL  |  City: Coral Springs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$30,145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$14,849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$15,296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$-14,920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$395,340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$329,842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157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$139,355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$14,862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$14,862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$-14,920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$14,828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$14,849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$455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$455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$30,145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$14,849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$15,296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$-14,920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15.8%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6.9%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2.2%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188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162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$40K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$37K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$455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$30K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$30,145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$14,849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97% month-over-month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Usi Insurance Services,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Southeast  |  State: FL  |  City: Tampa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$22,687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$22,687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$354,617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$223,875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$18,771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$22,687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$22,687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$22,687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$22,687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$84K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$53K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$153K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$22,687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$22,687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Acrisure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MI  |  City: Grand Rapids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$-892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$2,276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$2,276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$-892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$-892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2 submissions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Acrisure Llc Dba A To Z Insurance Group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5  |  Region: South Central  |  State: TX  |  City: Corpus Christi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10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10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7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Acrisure LLC dba Rig Stop Insurance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TX  |  City: Corpus Christi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$-9,218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$56,763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$59,110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$-9,218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$-9,218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$-1,480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$-9,260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$-4,502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$-1,138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$-2,347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2 submissions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Acrisure, LLC dba Forerunner Insurance Group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5  |  Region: Southeast  |  State: FL  |  City: Longwood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4 submissions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Howden Us Specialty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West  |  State: N/A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18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18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15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Patriot Growth Insurance Services,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N/A  |  Region: East  |  State: California  |  City: Sacramento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9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6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RRL Insurance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Southeast  |  State: FL  |  City: Melbourne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$40,679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$-17,398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$-113,460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$7,715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$7,715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$-96,973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$4,058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$1,376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$2,682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$-11,361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$-29,688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$-29,688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$-5,126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$41,196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$39,303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$1,894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$23,280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$40,679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$-17,398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$-113,460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457200" y="4764024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685800" y="4764024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$40,679 in new business production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6309360" y="4489704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6400800" y="4507992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6400800" y="4764024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6629400" y="4764024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279% of new business ($113,460)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6400800" y="4965192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6629400" y="4965192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submissions tracked - verify data or encourage new business pipeline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365760" y="5266944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457200" y="5276088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457200" y="5522976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777240" y="5522976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$40,679 in new business. Ask what made those deals work and how you can help replicate that success with similar accounts in their pipeline.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457200" y="5760720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777240" y="5760720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Schedule a re-introduction call. Lead with: "I wanted to share what's changed in our appetite and pricing since we last connected" - give them a reason to start submitting again.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Risk Strategies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NY  |  City: Boston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$-2,015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$-2,015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$-10,520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$375,057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$331,575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-0%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$22,213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$-2,015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$-2,015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$-10,520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$-2,015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$-2,015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$-10,520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$-2,015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$42K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$-527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$41K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$-2,015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 bind(s) - converting submissions to business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 quotes generated - active in pipeline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Negative written premium ($-2,015) - cancellations exceed production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