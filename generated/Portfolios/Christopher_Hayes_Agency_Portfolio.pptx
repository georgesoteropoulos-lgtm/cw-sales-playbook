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Christopher Hayes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22,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Christopher Hayes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45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$18,907,786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$12,835,755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$3,030,142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$3,041,889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$-7,391,688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$42,276,318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$44,420,591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$50,731,581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$4,809,756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$13,505,867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$4,096,310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$1,135,520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$1,792,841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26.2%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$3,498,102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$3,100,183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1132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$2,062,936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$2,295,871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$1,044,437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$800,334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$849,324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$473,081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$784,764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$573,246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$749,652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$569,738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$502,135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$334,396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$291,216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$289,507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$206,186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$9,818,803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$8,341,088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$9,381,949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2071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$9,473,117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2104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$5,635,293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$2,408,350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$18,907,786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$12,835,755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8054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76.7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+71%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 of 45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2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393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421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20.3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5/18–5/22*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7119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705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9.9%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1,260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1,290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1,461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1,701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7,119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7,701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1,527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Trucking Insurance Agency 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26.2%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-580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Specialty Coverage Insurance Agency, 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19.3%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$9,818,803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$498,689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$-1,317,535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1,668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1,253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17.3%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$8,341,088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$509,155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$-1,137,238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1,375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$9,381,949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$675,775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$-2,083,943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2,071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1,428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$9,473,117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$606,274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$-1,789,801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2,104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$5,635,293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$2,408,350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$740,249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$-1,063,170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1,511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1,121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$42,650,250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$12,835,755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$3,030,142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$-7,391,688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9,245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6,722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1,335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$248,338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$158,292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$15,577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LA, MD, MO, PA,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$40,777,355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$14,888,624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$1,304,322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$2,634,609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$3,201,353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$1,425,673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$2,354,409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$521,934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$63,256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590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(32%)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(12%)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33.3%  ·  Declined: 162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26.2%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Poller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Keller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Cornerstone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Zebo Karim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Jake Ferrara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Kovinatsky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Ramon Tamarez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Goldberg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Samer Alzayed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DMITRY ZHERNOVSKY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Sergio Bolanos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Bolanos Commercial Enterprise,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Freddie Tabares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Curmi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Angle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Trevor Murgio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Pavneet Singh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Diamante Insurance Brokerage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Clara Wojtuszkiewicz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Kai Strategic Insurance Partne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Danielle Moore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Teresa Sanchez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12.3%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Igor Sekuloski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ZHIBEK MARALOVA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Victor Lange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XIOMARA CEDENO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Partlow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Shannon Lair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Alba Ruiz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30.4%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Gus Campisano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Hilb Group of New Jersey, 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Hanadi Tubal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$4,096,310  |  Subs 546  |  Binds 143  |  HR 26.2%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26.2% (portfolio avg: 9.2%)  |  $4,096,310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$3,498,102  |  Subs 1527  |  Binds 120  |  HR 7.9%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$3,498,102 YTD GWP  |  120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$2,062,936  |  Subs 270  |  Binds 52  |  HR 19.3%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19.3% (portfolio avg: 9.2%)  |  $2,062,936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$1,044,437  |  Subs 528  |  Binds 60  |  HR 11.4%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11.4% (portfolio avg: 9.2%)  |  $1,044,437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$749,652  |  Subs 664  |  Binds 51  |  HR 7.7%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$749,652 YTD GWP  |  51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$20,388  |  Subs 328  |  Binds 11  |  HR 3.4%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1142% of new business ($203,053 vs $17,780)  |  Submissions dropped 70% MoM (94 -&gt; 28)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$80,746  |  Subs 60  |  Binds 6  |  HR 10.0%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616% of new business ($168,970 vs $27,450)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$40,445  |  Subs 129  |  Binds 4  |  HR 3.1%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378% of new business ($57,376 vs $15,160)  |  Submissions dropped 67% MoM (45 -&gt; 15)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$147,884  |  Subs 200  |  Binds 4  |  HR 2.0%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2.0% on 200 subs  |  Cancellations are 251% of new business ($289,370 vs $115,496)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$44,175  |  Subs 26  |  Binds 2  |  HR 7.7%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372% of new business ($117,995 vs $31,735)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2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0/6 appointed agencies have submitted (0%)  •  0/6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HGC Group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Kentucky Insurance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Fronts Insurance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Brokers of Maryland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 Inc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Seubert &amp; Associates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(Commercial Trucking Insur, Dnis Inc., Velocity Insurance Multis) drive $9,657,348 (51%)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V Insurance Professi (30.4%), Maximus Insurance Br (29.7%), Commercial Trucking  (26.2%)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8,054 total submissions across 45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Insurox Group, Inc (1.6%), Rpk Professional Gro (2.0%), Merit Insurance Serv (2.8%)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51% of premium. Develop mid-tier: Specialty Coverage Insura, Safer Haul Inc, Get Logan Inc. Target 25-50% growth each.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24 agencies with cancellations &gt;40% of new biz: Commercial Trucking Insur, Safer Haul Inc, Cover Me Insurance Agency. $5,307,208 total cancellations - investigate retention.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Commercial Trucking Insur, Dnis Inc., Velocity Insurance Multis. Increase submission volume 20% through marketing support and referral incentives.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30+ subs and some binds but &lt;5% HR: Streetsmart Risk Man (360s/12b), Cornerstone Insuranc (328s/11b), Get Logan Inc (286s/12b). Small HR improvements on large volume = significant premium lift.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$3,030,142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Last 25 Bound Submissions  |  739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265680734402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ANASHE CORP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268994313351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HAGREEN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$16,792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260302902232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GREEN DIAMOND LOGISTICS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$64,810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259264168462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KAYILI M GROUP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Zebo Karim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262500155035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CROCODILE CARGO CORP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Shelly Walther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$48,232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252296277535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DVS EXPRESS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$58,945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258409608722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DEEP STAR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268883876992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ONWAY FREIGHTLINES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257456185771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FAST LANE EXPRESS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$13,077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263559403302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BG SERVICES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$15,369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269349331818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BLACK EAGLE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267046669460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RHODES TO GLORY TRANSPORTATION L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265949553679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NACARTRUCKING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$10,068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254026108709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ARYANA FREIGHT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Tina Harwood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$60,905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265669782624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Maximus Insurance Brokerage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JCC EXPRESS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Jay Lin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$18,797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257599425262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ACE FREIGHTWAY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$232,330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252932534865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CORDERO LOGISTICS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$25,563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259872379081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EVANS CORE SOLUTIONS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265696661362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J&amp;J ON THE WAY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$19,847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268551021478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TEXAS SUNSHINE TRUCKING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$11,270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263623615583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JBM CARGO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266612950147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R&amp;N LOGISTICS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$24,001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269275129684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BRIEL TRUCKING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$63,822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253186059622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TSE LOGISTICS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ZHIBEK MARALOVA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$23,215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254847859166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CDL Associates Insurance Agency LL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NILE LOGISTICS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Victor Lange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$32,587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$837,957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Active in-force policies expiring through Aug 20,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$2,527,341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Hilb Group of New Jersey,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255491216589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Xander Enterprise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252223848477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GREEN HORIZON TRANSPORTATION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253552567773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REVIVE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$13,563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258965332197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ASSEGIE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253302581561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HAWA LOGISTICS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$3,963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250989637595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NITYA FREIGHT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$14,563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252954331889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MALWA TRANSPORTATION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253629531143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GUARANTEED CARRIERS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257360720892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RANA TRANSPORTS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$15,583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258912949173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BEDI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$4,354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257303483366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FOREVER YOUNG MANAGEMENT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247019825976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COAST TO COAST TRUCKING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255174397762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ALX TRANSPORT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$25,443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Policies with cancellation_date on or before Aug 20,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$20,014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$20,014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260194949610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BINI EXPRESS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266551505194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RUBIKON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256079935495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 A H TRUCKING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263860170127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THAILAND TRANSPORT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260194949610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BINI EXPRESS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266551505194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RUBIKON GROUP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$2,489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266551505194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RUBIKON GROUP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$1,008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260194949610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BINI EXPRESS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260194949610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BINI EXPRESS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8680" y="546811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8308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256079935495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46811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 A H TRUCKING LLC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94960" y="546811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523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9095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366760" y="546811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1832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742431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8680" y="577900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8308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256079935495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88920" y="577900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 A H TRUCKING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577900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523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095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66760" y="577900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$1,156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1832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5760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8680" y="608990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78308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263860170127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88920" y="608990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THAILAND TRANSPORT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94960" y="608990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523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095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08990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41832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12 of 12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$4,096,310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$1,135,520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$1,792,841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$1,167,949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$-1,602,874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$13,030,311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$11,318,640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$1,550,704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$3,064,831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$926,740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$174,111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$373,806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$378,824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$-321,911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$838,984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$211,094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$357,916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$269,974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$-341,788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$880,757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$196,942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$374,286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$309,529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$-436,578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$860,554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$260,354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$403,491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$196,709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$-423,082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$589,275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$293,019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$283,342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$-79,516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$4,096,310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$1,135,520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$1,792,841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$1,167,949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$-1,602,874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$589K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$4,096,310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$1,135,520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141% of new business ($1,602,874)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$1,135,520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$1,602,874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$3,498,102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$3,100,183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$397,919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$-757,958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$812,791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$4,265,016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$358,540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$2,244,763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$309,420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$268,873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$40,547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$-58,465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$385,999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$351,246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$-63,926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$1,070,919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$949,793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$121,126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$-178,588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$848,606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$702,314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$-262,852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$883,158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$827,958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$-194,126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$3,498,102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$3,100,183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$397,919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$-757,958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$883K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$3,498,102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$3,100,183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$3,100,183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$2,062,936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$2,295,871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$-246,694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$-674,944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$1,640,288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$3,235,519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$1,379,977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$1,234,267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$1,205,301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$28,966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$468,255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$428,031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$-66,282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$124,159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$304,031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$-179,871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$-228,044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$192,478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$-199,310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$175,728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$-131,951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$-131,358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$2,062,936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$2,295,871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$-246,694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$-674,944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$2,062,936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$2,295,871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$2,295,871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CT  |  City: Mystic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$1,044,437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$800,334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$-253,306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$3,498,767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$2,968,298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$891,296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$175,369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$158,417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$-55,174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$166,559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$88,736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$76,671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$244,482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$184,345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$-61,907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$339,087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$-59,540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$118,939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$110,385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$1,044,437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$800,334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$94,755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$-253,306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$1,044,437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$800,334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$800,334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$253,306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DE  |  City: Claymont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$849,324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$-540,799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$1,436,230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$1,936,915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$535,790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$169,912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$84,845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$-102,689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$170,446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$160,734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$228,897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$90,924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$191,762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$118,383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$-144,221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$88,306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$65,982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$-113,003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$849,324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$473,081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$349,226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$-540,799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$849,324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$473,081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114% of new business ($540,799)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$473,081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$540,799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$784,764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$498,086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$1,260,550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$300,718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$195,089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$140,631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$54,458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$-126,804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$123,048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$66,034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$-74,435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$130,400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$33,299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$-81,763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$266,129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$224,870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$-25,939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$20,332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$784,764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$573,246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$784,764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55% of new business ($313,820)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$573,246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$313,820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Linden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$749,652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$569,738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$-525,620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$2,245,198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$2,444,514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$721,540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$152,273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$79,631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$-55,985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$204,288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$152,883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$82,303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$-179,730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$70,244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$62,965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$-10,314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$-43,736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$749,652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$569,738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$162,321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$-525,620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$749,652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$569,738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92% of new business ($525,620)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$569,738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$525,620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Hauppauge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$502,135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$141,062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$967,950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$49,622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$272,523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$38,330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$122,291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$96,375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$177,632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$119,661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$-78,849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$113,629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$49,622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$69,628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$502,135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$141,062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$502,135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($168,091)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$251,327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$168,091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$621,124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$226,508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$55,132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$-41,517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$154,614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$-64,898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$334,396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($179,144)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$296,384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$179,144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Elmsford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$424,928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$524,577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$-293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$283,908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$-143,819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$423,425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$558,805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$107,900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$67,912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$8,816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$291,216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$74,034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$-143,819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$291,216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($143,819)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$217,183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$143,819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Virginia  |  City: Winchester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$289,507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$206,186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$842,178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$760,527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$107,655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$44,528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$23,277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$34,809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$16,727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$289,507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$206,186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$30,414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$289,507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$206,186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$206,186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$52,907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Garfield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$-12,714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$273,967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61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(61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$275,035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Grand Prairie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$271,689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$716,025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$9,625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$172,488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$153,122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$22,315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$271,689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$52,766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$271,689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$176,578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$176,578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New Jersey  |  City: Freehold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$1,382,794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$1,044,629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$352,715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$70,734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$50,157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$-9,875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$112,010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$111,599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$226,902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$260,293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$226,902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$226,902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$70,918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$-133,203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$794,732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$42,760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$-60,447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$62,077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$42,670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$-62,077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$-10,678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$-133,203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$231,384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139% of new business ($133,203)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$133,203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Brokerage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$509,533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$-21,615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$75,761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$24,067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$226,670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$36,332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$226,670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$162,057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$162,057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Northville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$105,372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$20,796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$-18,798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$215,060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$215,060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$213,450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$199,426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$93,871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$36,353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$7,934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$14,794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$199,426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$93,871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$199,426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$105,555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($70,222)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$105,555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$70,222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Kai Strategic Insurance Partners Llc Dba Strategic Insurance Partners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Nutley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$-16,585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$168,835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$168,835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$167,511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$61,864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$60,267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$-70,165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$192,645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$114,224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($154,757)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$114,224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$154,757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Burlington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$191,031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$323,654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$462,625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$6,914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$62,785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$6,216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$-20,988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$191,031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$-1,185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$191,031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$161,601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$161,601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Astoria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$-35,981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$-11,888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$177,241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$127,294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($73,817)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$127,294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$73,817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$122,721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$317,777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$367,105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$75,560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$18,887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$20,359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$34,332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$-20,646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$-32,891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$168,217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$122,721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$45,496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$-6,949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$168,217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$122,721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151%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$122,721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$166,069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$861,891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$959,320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$187,682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$64,892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$18,573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$-51,601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$166,069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$40,286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$-7,923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$-12,614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$166,069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$98,131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155% of new business ($152,584)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$98,131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$152,584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$1,332,358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$922,221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$43,526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$-32,787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$119,469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$18,457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$-165,549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$-50,677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$147,884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200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251% of new business ($289,370)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(200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$115,496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Bolanos Commercial Enterprise,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MD  |  City: Frederick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$1,014,499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$657,439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$44,214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$32,156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$-15,459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$37,861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$134,803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$134,803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$89,017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125% of new business ($110,906)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$89,017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$256,248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$-53,635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$129,294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$25,670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$-70,672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$129,294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68% of new business ($70,672)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$103,624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$70,672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Hackensack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$518,680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$337,221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$-13,196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$-51,521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$114,979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$35,480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326% of new business ($115,524)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$35,480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$115,524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Hilb Group of New Jersey,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$65,061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$106,541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$106,541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$181,770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$37,649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$33,625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($22,858)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$24,467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$22,858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Namarta Tirath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Upper Darby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$337,302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$40,889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$81,474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$81,474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($39,714)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$39,714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$670,132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$651,043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$65,291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$37,841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$-35,289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$-85,711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$80,746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616% of new business ($168,970)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$27,450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$168,970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MD  |  City: Glen Burnie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$-3,997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$3,305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$44,616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$79,100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$73,258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$79,100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$73,258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$73,258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Jezaj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$262,759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$-20,850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$76,867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$76,867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ASAP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$72,222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$72,222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Merit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Marlton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$3,466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108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(108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$-88,700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$-15,606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$14,317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$31,735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372% of new business ($117,995)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$31,735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$117,995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Edgewater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$313,656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$3,657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$-14,666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$-38,975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$-57,376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378% of new business ($57,376)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$15,160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$57,376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Huntington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$388,331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$249,226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$12,406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$-5,099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$5,151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$37,885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$30,204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($28,385)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$30,204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$28,385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Compass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New York  |  City: Bohemia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$34,940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Lincoln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$1,353,382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$893,695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$-6,869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$-26,090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$-167,362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$17,780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1142% of new business ($203,053)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94 to 28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$17,780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$203,053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Clifton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$46,731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$-23,209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$10,401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$8,862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267% of new business ($23,636)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$8,862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$23,636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Dorfman Organization, Ltd.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$308,047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$21,377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229%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Virginia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$-3,919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9.5%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($-9,291)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